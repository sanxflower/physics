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5adb6ba4944dcf" /><Relationship Type="http://schemas.openxmlformats.org/officeDocument/2006/relationships/extended-properties" Target="/docProps/app.xml" Id="R989b51309a584b0b" /><Relationship Type="http://schemas.openxmlformats.org/officeDocument/2006/relationships/officeDocument" Target="/ppt/presentation.xml" Id="Rc858da0ef70b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9ede662004505"/>
  </p:sldMasterIdLst>
  <p:notesMasterIdLst>
    <p:notesMasterId xmlns:r="http://schemas.openxmlformats.org/officeDocument/2006/relationships" r:id="R70d2983f9fa6460d"/>
  </p:notesMasterIdLst>
  <p:sldIdLst>
    <p:sldId xmlns:r="http://schemas.openxmlformats.org/officeDocument/2006/relationships" id="256" r:id="R8dee0f1e293147e8"/>
    <p:sldId xmlns:r="http://schemas.openxmlformats.org/officeDocument/2006/relationships" id="257" r:id="R947c53b2029d43a4"/>
    <p:sldId xmlns:r="http://schemas.openxmlformats.org/officeDocument/2006/relationships" id="258" r:id="Rf5748acf03ee427a"/>
    <p:sldId xmlns:r="http://schemas.openxmlformats.org/officeDocument/2006/relationships" id="259" r:id="R86938c382e1744a7"/>
    <p:sldId xmlns:r="http://schemas.openxmlformats.org/officeDocument/2006/relationships" id="260" r:id="R4f9959bb6f3d46ab"/>
    <p:sldId xmlns:r="http://schemas.openxmlformats.org/officeDocument/2006/relationships" id="261" r:id="R9f238ddc8a8a47a5"/>
    <p:sldId xmlns:r="http://schemas.openxmlformats.org/officeDocument/2006/relationships" id="262" r:id="Rf4d74990caee4867"/>
    <p:sldId xmlns:r="http://schemas.openxmlformats.org/officeDocument/2006/relationships" id="263" r:id="R71b24f6245944a5f"/>
    <p:sldId xmlns:r="http://schemas.openxmlformats.org/officeDocument/2006/relationships" id="264" r:id="Rda520d46da0d4bb0"/>
    <p:sldId xmlns:r="http://schemas.openxmlformats.org/officeDocument/2006/relationships" id="265" r:id="Rc71236a6bfed4634"/>
    <p:sldId xmlns:r="http://schemas.openxmlformats.org/officeDocument/2006/relationships" id="266" r:id="Rbb52134bd3f54ad1"/>
    <p:sldId xmlns:r="http://schemas.openxmlformats.org/officeDocument/2006/relationships" id="267" r:id="Rc3e75a9b07ed4265"/>
    <p:sldId xmlns:r="http://schemas.openxmlformats.org/officeDocument/2006/relationships" id="268" r:id="R7dcdd75c547341da"/>
    <p:sldId xmlns:r="http://schemas.openxmlformats.org/officeDocument/2006/relationships" id="269" r:id="Ra4b23631e9d44055"/>
    <p:sldId xmlns:r="http://schemas.openxmlformats.org/officeDocument/2006/relationships" id="270" r:id="R658cd5dc473240ed"/>
    <p:sldId xmlns:r="http://schemas.openxmlformats.org/officeDocument/2006/relationships" id="271" r:id="R37eaed73af894a47"/>
    <p:sldId xmlns:r="http://schemas.openxmlformats.org/officeDocument/2006/relationships" id="272" r:id="R73799e01ded1494a"/>
    <p:sldId xmlns:r="http://schemas.openxmlformats.org/officeDocument/2006/relationships" id="273" r:id="Rd9f8ea2783e14798"/>
    <p:sldId xmlns:r="http://schemas.openxmlformats.org/officeDocument/2006/relationships" id="274" r:id="R721c54e9bd184748"/>
    <p:sldId xmlns:r="http://schemas.openxmlformats.org/officeDocument/2006/relationships" id="275" r:id="R07bc69d5627d4ccf"/>
    <p:sldId xmlns:r="http://schemas.openxmlformats.org/officeDocument/2006/relationships" id="276" r:id="Rd21dba329c1f491a"/>
    <p:sldId xmlns:r="http://schemas.openxmlformats.org/officeDocument/2006/relationships" id="277" r:id="R54d4b9dc7c2848e4"/>
    <p:sldId xmlns:r="http://schemas.openxmlformats.org/officeDocument/2006/relationships" id="278" r:id="R11fda0ec3047460d"/>
    <p:sldId xmlns:r="http://schemas.openxmlformats.org/officeDocument/2006/relationships" id="279" r:id="Red06ebdc4d10405d"/>
    <p:sldId xmlns:r="http://schemas.openxmlformats.org/officeDocument/2006/relationships" id="280" r:id="R66a1c22e399d4854"/>
    <p:sldId xmlns:r="http://schemas.openxmlformats.org/officeDocument/2006/relationships" id="281" r:id="Rec8072bd8a224857"/>
    <p:sldId xmlns:r="http://schemas.openxmlformats.org/officeDocument/2006/relationships" id="282" r:id="Rc19205fe2f174438"/>
    <p:sldId xmlns:r="http://schemas.openxmlformats.org/officeDocument/2006/relationships" id="283" r:id="R7aad42c915ca439d"/>
    <p:sldId xmlns:r="http://schemas.openxmlformats.org/officeDocument/2006/relationships" id="284" r:id="Rf25bd1340e3a46ae"/>
    <p:sldId xmlns:r="http://schemas.openxmlformats.org/officeDocument/2006/relationships" id="285" r:id="R0c76da6f775546da"/>
    <p:sldId xmlns:r="http://schemas.openxmlformats.org/officeDocument/2006/relationships" id="286" r:id="R49268a01bba8404f"/>
    <p:sldId xmlns:r="http://schemas.openxmlformats.org/officeDocument/2006/relationships" id="287" r:id="Rff77040a99334a66"/>
    <p:sldId xmlns:r="http://schemas.openxmlformats.org/officeDocument/2006/relationships" id="288" r:id="Re08cb89077584150"/>
    <p:sldId xmlns:r="http://schemas.openxmlformats.org/officeDocument/2006/relationships" id="289" r:id="Rb1468d101aaa4316"/>
    <p:sldId xmlns:r="http://schemas.openxmlformats.org/officeDocument/2006/relationships" id="290" r:id="R5110ac62bbba4987"/>
    <p:sldId xmlns:r="http://schemas.openxmlformats.org/officeDocument/2006/relationships" id="291" r:id="R2d11a3f94ca24906"/>
    <p:sldId xmlns:r="http://schemas.openxmlformats.org/officeDocument/2006/relationships" id="292" r:id="Rdc97091b289d4660"/>
    <p:sldId xmlns:r="http://schemas.openxmlformats.org/officeDocument/2006/relationships" id="293" r:id="Rf2ed34c67c9e4e26"/>
    <p:sldId xmlns:r="http://schemas.openxmlformats.org/officeDocument/2006/relationships" id="294" r:id="Rf7e6d000830b4f72"/>
    <p:sldId xmlns:r="http://schemas.openxmlformats.org/officeDocument/2006/relationships" id="295" r:id="Rdc29a1d1910046c3"/>
    <p:sldId xmlns:r="http://schemas.openxmlformats.org/officeDocument/2006/relationships" id="296" r:id="Rc21c99dc591e4844"/>
    <p:sldId xmlns:r="http://schemas.openxmlformats.org/officeDocument/2006/relationships" id="297" r:id="Rf0ccac6e72364893"/>
    <p:sldId xmlns:r="http://schemas.openxmlformats.org/officeDocument/2006/relationships" id="298" r:id="Rb3d8b55047db465d"/>
    <p:sldId xmlns:r="http://schemas.openxmlformats.org/officeDocument/2006/relationships" id="299" r:id="R519ec43701414bb9"/>
    <p:sldId xmlns:r="http://schemas.openxmlformats.org/officeDocument/2006/relationships" id="300" r:id="R59ee861c1fc64960"/>
    <p:sldId xmlns:r="http://schemas.openxmlformats.org/officeDocument/2006/relationships" id="301" r:id="R70e8d757e6de4586"/>
    <p:sldId xmlns:r="http://schemas.openxmlformats.org/officeDocument/2006/relationships" id="302" r:id="R17fd597aa5274a75"/>
    <p:sldId xmlns:r="http://schemas.openxmlformats.org/officeDocument/2006/relationships" id="303" r:id="R1efce34d61f14c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b804096914650" /><Relationship Type="http://schemas.openxmlformats.org/officeDocument/2006/relationships/slideMaster" Target="/ppt/slideMasters/slideMaster1.xml" Id="R8c19ede662004505" /><Relationship Type="http://schemas.openxmlformats.org/officeDocument/2006/relationships/notesMaster" Target="/ppt/notesMasters/notesMaster1.xml" Id="R70d2983f9fa6460d" /><Relationship Type="http://schemas.openxmlformats.org/officeDocument/2006/relationships/presProps" Target="/ppt/presProps.xml" Id="R72eafa29840e4ab8" /><Relationship Type="http://schemas.openxmlformats.org/officeDocument/2006/relationships/viewProps" Target="/ppt/viewProps.xml" Id="R73f33e4250a24a3d" /><Relationship Type="http://schemas.openxmlformats.org/officeDocument/2006/relationships/tableStyles" Target="/ppt/tableStyles.xml" Id="R04be502db1014b3c" /><Relationship Type="http://schemas.openxmlformats.org/officeDocument/2006/relationships/slide" Target="/ppt/slides/slide1.xml" Id="R8dee0f1e293147e8" /><Relationship Type="http://schemas.openxmlformats.org/officeDocument/2006/relationships/slide" Target="/ppt/slides/slide2.xml" Id="R947c53b2029d43a4" /><Relationship Type="http://schemas.openxmlformats.org/officeDocument/2006/relationships/slide" Target="/ppt/slides/slide3.xml" Id="Rf5748acf03ee427a" /><Relationship Type="http://schemas.openxmlformats.org/officeDocument/2006/relationships/slide" Target="/ppt/slides/slide4.xml" Id="R86938c382e1744a7" /><Relationship Type="http://schemas.openxmlformats.org/officeDocument/2006/relationships/slide" Target="/ppt/slides/slide5.xml" Id="R4f9959bb6f3d46ab" /><Relationship Type="http://schemas.openxmlformats.org/officeDocument/2006/relationships/slide" Target="/ppt/slides/slide6.xml" Id="R9f238ddc8a8a47a5" /><Relationship Type="http://schemas.openxmlformats.org/officeDocument/2006/relationships/slide" Target="/ppt/slides/slide7.xml" Id="Rf4d74990caee4867" /><Relationship Type="http://schemas.openxmlformats.org/officeDocument/2006/relationships/slide" Target="/ppt/slides/slide8.xml" Id="R71b24f6245944a5f" /><Relationship Type="http://schemas.openxmlformats.org/officeDocument/2006/relationships/slide" Target="/ppt/slides/slide9.xml" Id="Rda520d46da0d4bb0" /><Relationship Type="http://schemas.openxmlformats.org/officeDocument/2006/relationships/slide" Target="/ppt/slides/slide10.xml" Id="Rc71236a6bfed4634" /><Relationship Type="http://schemas.openxmlformats.org/officeDocument/2006/relationships/slide" Target="/ppt/slides/slide11.xml" Id="Rbb52134bd3f54ad1" /><Relationship Type="http://schemas.openxmlformats.org/officeDocument/2006/relationships/slide" Target="/ppt/slides/slide12.xml" Id="Rc3e75a9b07ed4265" /><Relationship Type="http://schemas.openxmlformats.org/officeDocument/2006/relationships/slide" Target="/ppt/slides/slide13.xml" Id="R7dcdd75c547341da" /><Relationship Type="http://schemas.openxmlformats.org/officeDocument/2006/relationships/slide" Target="/ppt/slides/slide14.xml" Id="Ra4b23631e9d44055" /><Relationship Type="http://schemas.openxmlformats.org/officeDocument/2006/relationships/slide" Target="/ppt/slides/slide15.xml" Id="R658cd5dc473240ed" /><Relationship Type="http://schemas.openxmlformats.org/officeDocument/2006/relationships/slide" Target="/ppt/slides/slide16.xml" Id="R37eaed73af894a47" /><Relationship Type="http://schemas.openxmlformats.org/officeDocument/2006/relationships/slide" Target="/ppt/slides/slide17.xml" Id="R73799e01ded1494a" /><Relationship Type="http://schemas.openxmlformats.org/officeDocument/2006/relationships/slide" Target="/ppt/slides/slide18.xml" Id="Rd9f8ea2783e14798" /><Relationship Type="http://schemas.openxmlformats.org/officeDocument/2006/relationships/slide" Target="/ppt/slides/slide19.xml" Id="R721c54e9bd184748" /><Relationship Type="http://schemas.openxmlformats.org/officeDocument/2006/relationships/slide" Target="/ppt/slides/slide20.xml" Id="R07bc69d5627d4ccf" /><Relationship Type="http://schemas.openxmlformats.org/officeDocument/2006/relationships/slide" Target="/ppt/slides/slide21.xml" Id="Rd21dba329c1f491a" /><Relationship Type="http://schemas.openxmlformats.org/officeDocument/2006/relationships/slide" Target="/ppt/slides/slide22.xml" Id="R54d4b9dc7c2848e4" /><Relationship Type="http://schemas.openxmlformats.org/officeDocument/2006/relationships/slide" Target="/ppt/slides/slide23.xml" Id="R11fda0ec3047460d" /><Relationship Type="http://schemas.openxmlformats.org/officeDocument/2006/relationships/slide" Target="/ppt/slides/slide24.xml" Id="Red06ebdc4d10405d" /><Relationship Type="http://schemas.openxmlformats.org/officeDocument/2006/relationships/slide" Target="/ppt/slides/slide25.xml" Id="R66a1c22e399d4854" /><Relationship Type="http://schemas.openxmlformats.org/officeDocument/2006/relationships/slide" Target="/ppt/slides/slide26.xml" Id="Rec8072bd8a224857" /><Relationship Type="http://schemas.openxmlformats.org/officeDocument/2006/relationships/slide" Target="/ppt/slides/slide27.xml" Id="Rc19205fe2f174438" /><Relationship Type="http://schemas.openxmlformats.org/officeDocument/2006/relationships/slide" Target="/ppt/slides/slide28.xml" Id="R7aad42c915ca439d" /><Relationship Type="http://schemas.openxmlformats.org/officeDocument/2006/relationships/slide" Target="/ppt/slides/slide29.xml" Id="Rf25bd1340e3a46ae" /><Relationship Type="http://schemas.openxmlformats.org/officeDocument/2006/relationships/slide" Target="/ppt/slides/slide30.xml" Id="R0c76da6f775546da" /><Relationship Type="http://schemas.openxmlformats.org/officeDocument/2006/relationships/slide" Target="/ppt/slides/slide31.xml" Id="R49268a01bba8404f" /><Relationship Type="http://schemas.openxmlformats.org/officeDocument/2006/relationships/slide" Target="/ppt/slides/slide32.xml" Id="Rff77040a99334a66" /><Relationship Type="http://schemas.openxmlformats.org/officeDocument/2006/relationships/slide" Target="/ppt/slides/slide33.xml" Id="Re08cb89077584150" /><Relationship Type="http://schemas.openxmlformats.org/officeDocument/2006/relationships/slide" Target="/ppt/slides/slide34.xml" Id="Rb1468d101aaa4316" /><Relationship Type="http://schemas.openxmlformats.org/officeDocument/2006/relationships/slide" Target="/ppt/slides/slide35.xml" Id="R5110ac62bbba4987" /><Relationship Type="http://schemas.openxmlformats.org/officeDocument/2006/relationships/slide" Target="/ppt/slides/slide36.xml" Id="R2d11a3f94ca24906" /><Relationship Type="http://schemas.openxmlformats.org/officeDocument/2006/relationships/slide" Target="/ppt/slides/slide37.xml" Id="Rdc97091b289d4660" /><Relationship Type="http://schemas.openxmlformats.org/officeDocument/2006/relationships/slide" Target="/ppt/slides/slide38.xml" Id="Rf2ed34c67c9e4e26" /><Relationship Type="http://schemas.openxmlformats.org/officeDocument/2006/relationships/slide" Target="/ppt/slides/slide39.xml" Id="Rf7e6d000830b4f72" /><Relationship Type="http://schemas.openxmlformats.org/officeDocument/2006/relationships/slide" Target="/ppt/slides/slide40.xml" Id="Rdc29a1d1910046c3" /><Relationship Type="http://schemas.openxmlformats.org/officeDocument/2006/relationships/slide" Target="/ppt/slides/slide41.xml" Id="Rc21c99dc591e4844" /><Relationship Type="http://schemas.openxmlformats.org/officeDocument/2006/relationships/slide" Target="/ppt/slides/slide42.xml" Id="Rf0ccac6e72364893" /><Relationship Type="http://schemas.openxmlformats.org/officeDocument/2006/relationships/slide" Target="/ppt/slides/slide43.xml" Id="Rb3d8b55047db465d" /><Relationship Type="http://schemas.openxmlformats.org/officeDocument/2006/relationships/slide" Target="/ppt/slides/slide44.xml" Id="R519ec43701414bb9" /><Relationship Type="http://schemas.openxmlformats.org/officeDocument/2006/relationships/slide" Target="/ppt/slides/slide45.xml" Id="R59ee861c1fc64960" /><Relationship Type="http://schemas.openxmlformats.org/officeDocument/2006/relationships/slide" Target="/ppt/slides/slide46.xml" Id="R70e8d757e6de4586" /><Relationship Type="http://schemas.openxmlformats.org/officeDocument/2006/relationships/slide" Target="/ppt/slides/slide47.xml" Id="R17fd597aa5274a75" /><Relationship Type="http://schemas.openxmlformats.org/officeDocument/2006/relationships/slide" Target="/ppt/slides/slide48.xml" Id="R1efce34d61f14c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fa344e0d9b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ef447fc6c14e1c" /><Relationship Type="http://schemas.openxmlformats.org/officeDocument/2006/relationships/notesMaster" Target="/ppt/notesMasters/notesMaster1.xml" Id="R7e9d96828ee248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a5a0059a043a4" /><Relationship Type="http://schemas.openxmlformats.org/officeDocument/2006/relationships/notesMaster" Target="/ppt/notesMasters/notesMaster1.xml" Id="R2f444dac4fae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a014708bb416f" /><Relationship Type="http://schemas.openxmlformats.org/officeDocument/2006/relationships/notesMaster" Target="/ppt/notesMasters/notesMaster1.xml" Id="Rd6f980282a034a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5c47c617004705" /><Relationship Type="http://schemas.openxmlformats.org/officeDocument/2006/relationships/notesMaster" Target="/ppt/notesMasters/notesMaster1.xml" Id="Rdb5e0db6eaf8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d7907670694619" /><Relationship Type="http://schemas.openxmlformats.org/officeDocument/2006/relationships/notesMaster" Target="/ppt/notesMasters/notesMaster1.xml" Id="R910558f7bd95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780702b84448f6" /><Relationship Type="http://schemas.openxmlformats.org/officeDocument/2006/relationships/notesMaster" Target="/ppt/notesMasters/notesMaster1.xml" Id="Rf1dcef606bf242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9ec3d29dc4233" /><Relationship Type="http://schemas.openxmlformats.org/officeDocument/2006/relationships/notesMaster" Target="/ppt/notesMasters/notesMaster1.xml" Id="Ra026b416e2614c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e9607ad8bb4d3b" /><Relationship Type="http://schemas.openxmlformats.org/officeDocument/2006/relationships/notesMaster" Target="/ppt/notesMasters/notesMaster1.xml" Id="Rc460bf3f2198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47361964e4346" /><Relationship Type="http://schemas.openxmlformats.org/officeDocument/2006/relationships/notesMaster" Target="/ppt/notesMasters/notesMaster1.xml" Id="R2b01a7fb847a4a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87082b207d4a25" /><Relationship Type="http://schemas.openxmlformats.org/officeDocument/2006/relationships/notesMaster" Target="/ppt/notesMasters/notesMaster1.xml" Id="R29158dcdbaf243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b8336616a04a6a" /><Relationship Type="http://schemas.openxmlformats.org/officeDocument/2006/relationships/notesMaster" Target="/ppt/notesMasters/notesMaster1.xml" Id="Ra9236157a5ea41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1d1d48078c49a7" /><Relationship Type="http://schemas.openxmlformats.org/officeDocument/2006/relationships/notesMaster" Target="/ppt/notesMasters/notesMaster1.xml" Id="Rdb210b4f6d8e4a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401751cdb64ef8" /><Relationship Type="http://schemas.openxmlformats.org/officeDocument/2006/relationships/notesMaster" Target="/ppt/notesMasters/notesMaster1.xml" Id="R86a391ba974242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0845ddf1f64cc1" /><Relationship Type="http://schemas.openxmlformats.org/officeDocument/2006/relationships/notesMaster" Target="/ppt/notesMasters/notesMaster1.xml" Id="R330d2e6340cb44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c7c109894945e1" /><Relationship Type="http://schemas.openxmlformats.org/officeDocument/2006/relationships/notesMaster" Target="/ppt/notesMasters/notesMaster1.xml" Id="R99239b31d3134c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c016d831c94811" /><Relationship Type="http://schemas.openxmlformats.org/officeDocument/2006/relationships/notesMaster" Target="/ppt/notesMasters/notesMaster1.xml" Id="R2a53a1074bc345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c606e1d8204658" /><Relationship Type="http://schemas.openxmlformats.org/officeDocument/2006/relationships/notesMaster" Target="/ppt/notesMasters/notesMaster1.xml" Id="R7d0bb857823f47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15b21e917a44ca" /><Relationship Type="http://schemas.openxmlformats.org/officeDocument/2006/relationships/notesMaster" Target="/ppt/notesMasters/notesMaster1.xml" Id="R2c62c1c96ebc48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d487dc93924012" /><Relationship Type="http://schemas.openxmlformats.org/officeDocument/2006/relationships/notesMaster" Target="/ppt/notesMasters/notesMaster1.xml" Id="R7b7f35c322d445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88a14ad8704d8e" /><Relationship Type="http://schemas.openxmlformats.org/officeDocument/2006/relationships/notesMaster" Target="/ppt/notesMasters/notesMaster1.xml" Id="R773960e23dff46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ebfcbd40034d18" /><Relationship Type="http://schemas.openxmlformats.org/officeDocument/2006/relationships/notesMaster" Target="/ppt/notesMasters/notesMaster1.xml" Id="R05805ca3972348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8fc3be4e9045c5" /><Relationship Type="http://schemas.openxmlformats.org/officeDocument/2006/relationships/notesMaster" Target="/ppt/notesMasters/notesMaster1.xml" Id="R72cce6cca8e448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fcc5c3fad964220" /><Relationship Type="http://schemas.openxmlformats.org/officeDocument/2006/relationships/notesMaster" Target="/ppt/notesMasters/notesMaster1.xml" Id="R1c8078f4a79349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81fd14b9fd4b1e" /><Relationship Type="http://schemas.openxmlformats.org/officeDocument/2006/relationships/notesMaster" Target="/ppt/notesMasters/notesMaster1.xml" Id="Rc86634819bb64e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41e68ea70e84661" /><Relationship Type="http://schemas.openxmlformats.org/officeDocument/2006/relationships/notesMaster" Target="/ppt/notesMasters/notesMaster1.xml" Id="R1d3fdd5eca4942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1f7afe33c940aa" /><Relationship Type="http://schemas.openxmlformats.org/officeDocument/2006/relationships/notesMaster" Target="/ppt/notesMasters/notesMaster1.xml" Id="R570c97c7e96b4e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9b6b1868fb4ddb" /><Relationship Type="http://schemas.openxmlformats.org/officeDocument/2006/relationships/notesMaster" Target="/ppt/notesMasters/notesMaster1.xml" Id="R59384903728649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9f0c4ca616488d" /><Relationship Type="http://schemas.openxmlformats.org/officeDocument/2006/relationships/notesMaster" Target="/ppt/notesMasters/notesMaster1.xml" Id="Rc1d391d5a76744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13c199332c04dcd" /><Relationship Type="http://schemas.openxmlformats.org/officeDocument/2006/relationships/notesMaster" Target="/ppt/notesMasters/notesMaster1.xml" Id="Rceff36ccda9347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28dc86a72c4b78" /><Relationship Type="http://schemas.openxmlformats.org/officeDocument/2006/relationships/notesMaster" Target="/ppt/notesMasters/notesMaster1.xml" Id="Rad1105922ad74a5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c9e9ec5e8f94809" /><Relationship Type="http://schemas.openxmlformats.org/officeDocument/2006/relationships/notesMaster" Target="/ppt/notesMasters/notesMaster1.xml" Id="Rf59ff3e72df543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8470b626c144d8" /><Relationship Type="http://schemas.openxmlformats.org/officeDocument/2006/relationships/notesMaster" Target="/ppt/notesMasters/notesMaster1.xml" Id="R625613ea1dbb4b5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8b1c6af34c4fa1" /><Relationship Type="http://schemas.openxmlformats.org/officeDocument/2006/relationships/notesMaster" Target="/ppt/notesMasters/notesMaster1.xml" Id="R43ddfe87a5f0481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c4353d724b40a4" /><Relationship Type="http://schemas.openxmlformats.org/officeDocument/2006/relationships/notesMaster" Target="/ppt/notesMasters/notesMaster1.xml" Id="R4c7398e0867c43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ca7a803aeee46f1" /><Relationship Type="http://schemas.openxmlformats.org/officeDocument/2006/relationships/notesMaster" Target="/ppt/notesMasters/notesMaster1.xml" Id="R771238526d98405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984934ee7cb4585" /><Relationship Type="http://schemas.openxmlformats.org/officeDocument/2006/relationships/notesMaster" Target="/ppt/notesMasters/notesMaster1.xml" Id="R8c16f972aeaa4e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78ab63cc5884ae8" /><Relationship Type="http://schemas.openxmlformats.org/officeDocument/2006/relationships/notesMaster" Target="/ppt/notesMasters/notesMaster1.xml" Id="Rab005bb1d3cc422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d430512836f4c21" /><Relationship Type="http://schemas.openxmlformats.org/officeDocument/2006/relationships/notesMaster" Target="/ppt/notesMasters/notesMaster1.xml" Id="Re16b39ff8d484f7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a8c71be13dc406f" /><Relationship Type="http://schemas.openxmlformats.org/officeDocument/2006/relationships/notesMaster" Target="/ppt/notesMasters/notesMaster1.xml" Id="R7148b67865314de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42bdc25eee43fa" /><Relationship Type="http://schemas.openxmlformats.org/officeDocument/2006/relationships/notesMaster" Target="/ppt/notesMasters/notesMaster1.xml" Id="R8164db22d066483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4ac32a158a74d3f" /><Relationship Type="http://schemas.openxmlformats.org/officeDocument/2006/relationships/notesMaster" Target="/ppt/notesMasters/notesMaster1.xml" Id="R693c4dbc5be0426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768ea468f334ed2" /><Relationship Type="http://schemas.openxmlformats.org/officeDocument/2006/relationships/notesMaster" Target="/ppt/notesMasters/notesMaster1.xml" Id="R8a57c5eb7e0c41c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b638130a6404ff1" /><Relationship Type="http://schemas.openxmlformats.org/officeDocument/2006/relationships/notesMaster" Target="/ppt/notesMasters/notesMaster1.xml" Id="Rec41cb82bc2f4c0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19affcc982e43f2" /><Relationship Type="http://schemas.openxmlformats.org/officeDocument/2006/relationships/notesMaster" Target="/ppt/notesMasters/notesMaster1.xml" Id="Rde6ef3dc690143a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d387d3be0914363" /><Relationship Type="http://schemas.openxmlformats.org/officeDocument/2006/relationships/notesMaster" Target="/ppt/notesMasters/notesMaster1.xml" Id="R627ea4ef0a5349c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53dfa51a84a413f" /><Relationship Type="http://schemas.openxmlformats.org/officeDocument/2006/relationships/notesMaster" Target="/ppt/notesMasters/notesMaster1.xml" Id="R6dd88bc2aca64e7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4bf8f5ac200413a" /><Relationship Type="http://schemas.openxmlformats.org/officeDocument/2006/relationships/notesMaster" Target="/ppt/notesMasters/notesMaster1.xml" Id="R0d730320b375404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f10ba0b239f4d0f" /><Relationship Type="http://schemas.openxmlformats.org/officeDocument/2006/relationships/notesMaster" Target="/ppt/notesMasters/notesMaster1.xml" Id="R37cc9fe487b3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fe75611534d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0f31f23964c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beb11ee8c4b7a" /><Relationship Type="http://schemas.openxmlformats.org/officeDocument/2006/relationships/image" Target="/ppt/media/image.png" Id="Re425d02dfe1b4e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708c9f9614bed" /><Relationship Type="http://schemas.openxmlformats.org/officeDocument/2006/relationships/image" Target="/ppt/media/image2.png" Id="R66692d38d33142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631c89be44033" /><Relationship Type="http://schemas.openxmlformats.org/officeDocument/2006/relationships/image" Target="/ppt/media/image3.png" Id="R6d732186fce444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bc7b86ae94004" /><Relationship Type="http://schemas.openxmlformats.org/officeDocument/2006/relationships/image" Target="/ppt/media/image4.png" Id="Rc6ff2a142f4940f2" /><Relationship Type="http://schemas.openxmlformats.org/officeDocument/2006/relationships/image" Target="/ppt/media/image5.png" Id="R2231804278a94f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d7528f6d44f02" /><Relationship Type="http://schemas.openxmlformats.org/officeDocument/2006/relationships/image" Target="/ppt/media/image6.png" Id="Rd2b2ec64188e44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35e0b82514682" /><Relationship Type="http://schemas.openxmlformats.org/officeDocument/2006/relationships/image" Target="/ppt/media/image4.png" Id="R7776b3bdeb36410b" /><Relationship Type="http://schemas.openxmlformats.org/officeDocument/2006/relationships/image" Target="/ppt/media/image5.png" Id="Rc84281b36ccd4f1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hexin?subject=physics#pid=6a0d1e829b2d2ba91f04ee84#tid=6a13c062736a60ac3496b210#sourcefrom=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>
  <p:cSld name="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MasterShapeN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5d02dfe1b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3F902327-0E3C-49B5-8E0D-F0007131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078992"/>
            <a:ext cx="719632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考点同步解读</a:t>
            </a:r>
            <a:endParaRPr sz="8800"/>
          </a:p>
        </p:txBody>
      </p:sp>
      <p:sp>
        <p:nvSpPr>
          <p:cNvPr id="4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39AE42F1-A1EF-4A9C-82C7-CF36C35F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2770632"/>
            <a:ext cx="68397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高中物理 必修 第一册 RJ</a:t>
            </a:r>
            <a:endParaRPr sz="3400"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标题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MasterShapeN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92d38d33142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D7357B4C-1E9B-4F23-AE72-EB922461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36576"/>
            <a:ext cx="191109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考点同步解读</a:t>
            </a:r>
            <a:endParaRPr sz="2400"/>
          </a:p>
        </p:txBody>
      </p:sp>
      <p:sp>
        <p:nvSpPr>
          <p:cNvPr id="4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92C4A79D-D278-466B-8B1A-A869FAE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46304"/>
            <a:ext cx="360273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高中物理 必修 第一册 RJ</a:t>
            </a:r>
            <a:endParaRPr sz="1600"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MasterShapeN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32186fce444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MasterShapeN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f2a142f4940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MasterShapeName?linknodeid=back_to_first_catalo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1804278a94f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0040" y="6409944"/>
            <a:ext cx="448056" cy="448056"/>
          </a:xfrm>
          <a:prstGeom xmlns:a="http://schemas.openxmlformats.org/drawingml/2006/main" prst="rect">
            <a:avLst/>
          </a:prstGeom>
        </p:spPr>
      </p:pic>
      <p:sp>
        <p:nvSpPr>
          <p:cNvPr id="4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27C496E6-20E4-4BA6-9336-2D5A9899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54864"/>
            <a:ext cx="611733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《考点同步解读 高中物理 必修 第一册 RJ》</a:t>
            </a:r>
            <a:endParaRPr sz="1800"/>
          </a:p>
        </p:txBody>
      </p:sp>
      <p:sp>
        <p:nvSpPr>
          <p:cNvPr id="5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599951CC-081C-48D1-BDBC-D53544DE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4864"/>
            <a:ext cx="611733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Back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MasterShapeN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2ec64188e4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>
  <p:cSld name="内容#df=c13ff7c30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MasterShapeN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6b3bdeb36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MasterShapeName?linknodeid=back_to_first_catalo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281b36ccd4f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0040" y="6409944"/>
            <a:ext cx="448056" cy="448056"/>
          </a:xfrm>
          <a:prstGeom xmlns:a="http://schemas.openxmlformats.org/drawingml/2006/main" prst="rect">
            <a:avLst/>
          </a:prstGeom>
        </p:spPr>
      </p:pic>
      <p:sp>
        <p:nvSpPr>
          <p:cNvPr id="4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06F3643E-C231-464E-826B-D456C86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54864"/>
            <a:ext cx="611733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《考点同步解读 高中物理 必修 第一册 RJ》</a:t>
            </a:r>
            <a:endParaRPr sz="1800"/>
          </a:p>
        </p:txBody>
      </p:sp>
      <p:sp>
        <p:nvSpPr>
          <p:cNvPr id="5" name="MasterShapeName">
            <a:extLst xmlns:a="http://schemas.openxmlformats.org/drawingml/2006/main">
              <a:ext uri="{FF2B5EF4-FFF2-40B4-BE49-F238E27FC236}">
                <a16:creationId xmlns:a16="http://schemas.microsoft.com/office/drawing/2014/main" id="{12AED340-F9D0-4971-858C-2BA9E6DB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4864"/>
            <a:ext cx="6117336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8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第3讲 位置变化快慢的描述——速度</a:t>
            </a:r>
            <a:endParaRPr sz="18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ef53eed2b647f4" /><Relationship Type="http://schemas.openxmlformats.org/officeDocument/2006/relationships/slideLayout" Target="/ppt/slideLayouts/slideLayout1.xml" Id="R0f56f6dce4e348b6" /><Relationship Type="http://schemas.openxmlformats.org/officeDocument/2006/relationships/slideLayout" Target="/ppt/slideLayouts/slideLayout2.xml" Id="Rfd49d9cb86464c0e" /><Relationship Type="http://schemas.openxmlformats.org/officeDocument/2006/relationships/slideLayout" Target="/ppt/slideLayouts/slideLayout3.xml" Id="R7c54fa3cec3045f3" /><Relationship Type="http://schemas.openxmlformats.org/officeDocument/2006/relationships/slideLayout" Target="/ppt/slideLayouts/slideLayout4.xml" Id="R3d6585e24a9f465f" /><Relationship Type="http://schemas.openxmlformats.org/officeDocument/2006/relationships/slideLayout" Target="/ppt/slideLayouts/slideLayout5.xml" Id="Raf2368b15c1c48b9" /><Relationship Type="http://schemas.openxmlformats.org/officeDocument/2006/relationships/slideLayout" Target="/ppt/slideLayouts/slideLayout6.xml" Id="Rdc327f2186364da1" /><Relationship Type="http://schemas.openxmlformats.org/officeDocument/2006/relationships/slideLayout" Target="/ppt/slideLayouts/slideLayout7.xml" Id="R6d3208a56f094935" /><Relationship Type="http://schemas.openxmlformats.org/officeDocument/2006/relationships/slideLayout" Target="/ppt/slideLayouts/slideLayout8.xml" Id="Rb2c8d81519b74c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6f6dce4e348b6"/>
    <p:sldLayoutId xmlns:r="http://schemas.openxmlformats.org/officeDocument/2006/relationships" id="2147483650" r:id="Rfd49d9cb86464c0e"/>
    <p:sldLayoutId xmlns:r="http://schemas.openxmlformats.org/officeDocument/2006/relationships" id="2147483651" r:id="R7c54fa3cec3045f3"/>
    <p:sldLayoutId xmlns:r="http://schemas.openxmlformats.org/officeDocument/2006/relationships" id="2147483652" r:id="R3d6585e24a9f465f"/>
    <p:sldLayoutId xmlns:r="http://schemas.openxmlformats.org/officeDocument/2006/relationships" id="2147483653" r:id="Raf2368b15c1c48b9"/>
    <p:sldLayoutId xmlns:r="http://schemas.openxmlformats.org/officeDocument/2006/relationships" id="2147483654" r:id="Rdc327f2186364da1"/>
    <p:sldLayoutId xmlns:r="http://schemas.openxmlformats.org/officeDocument/2006/relationships" id="2147483655" r:id="R6d3208a56f094935"/>
    <p:sldLayoutId xmlns:r="http://schemas.openxmlformats.org/officeDocument/2006/relationships" id="2147483656" r:id="Rb2c8d81519b74c3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42cc8c1c284574" /><Relationship Type="http://schemas.openxmlformats.org/officeDocument/2006/relationships/notesSlide" Target="/ppt/notesSlides/notesSlide1.xml" Id="R82a2ad2cb95e46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e9e6030f9324204" /><Relationship Type="http://schemas.openxmlformats.org/officeDocument/2006/relationships/notesSlide" Target="/ppt/notesSlides/notesSlide2.xml" Id="R3bc2d2eda3814e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6fed620d1e04620" /><Relationship Type="http://schemas.openxmlformats.org/officeDocument/2006/relationships/hyperlink" Target="/ppt/slides/slide4.xml" Id="R6696e9f87a054ca8" /><Relationship Type="http://schemas.openxmlformats.org/officeDocument/2006/relationships/hyperlink" Target="/ppt/slides/slide5.xml" Id="R560289797c814013" /><Relationship Type="http://schemas.openxmlformats.org/officeDocument/2006/relationships/notesSlide" Target="/ppt/notesSlides/notesSlide3.xml" Id="Rac5a4452dbdf41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2f4c3a590244779" /><Relationship Type="http://schemas.openxmlformats.org/officeDocument/2006/relationships/image" Target="/ppt/media/image7.png" Id="R04eb48e7c70b417b" /><Relationship Type="http://schemas.openxmlformats.org/officeDocument/2006/relationships/image" Target="/ppt/media/image8.png" Id="Rb1ef226e254e4ff5" /><Relationship Type="http://schemas.openxmlformats.org/officeDocument/2006/relationships/notesSlide" Target="/ppt/notesSlides/notesSlide4.xml" Id="R8acbfcf0e518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e50131e0d404b" /><Relationship Type="http://schemas.openxmlformats.org/officeDocument/2006/relationships/image" Target="/ppt/media/image9.png" Id="R4c31b61ad4234ef2" /><Relationship Type="http://schemas.openxmlformats.org/officeDocument/2006/relationships/notesSlide" Target="/ppt/notesSlides/notesSlide5.xml" Id="R7460406b31d14f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9f9558ec6c14048" /><Relationship Type="http://schemas.openxmlformats.org/officeDocument/2006/relationships/image" Target="/ppt/media/image10.png" Id="R248d5b11b0304d28" /><Relationship Type="http://schemas.openxmlformats.org/officeDocument/2006/relationships/image" Target="/ppt/media/image11.png" Id="R7204902cd462436f" /><Relationship Type="http://schemas.openxmlformats.org/officeDocument/2006/relationships/notesSlide" Target="/ppt/notesSlides/notesSlide6.xml" Id="R099cbc1932f0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09297f9950047b1" /><Relationship Type="http://schemas.openxmlformats.org/officeDocument/2006/relationships/notesSlide" Target="/ppt/notesSlides/notesSlide7.xml" Id="Rb7d74b7d879749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b9c7db409bf4a0b" /><Relationship Type="http://schemas.openxmlformats.org/officeDocument/2006/relationships/notesSlide" Target="/ppt/notesSlides/notesSlide8.xml" Id="R74fcf371dc9d4f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acd0f127fdf4e4f" /><Relationship Type="http://schemas.openxmlformats.org/officeDocument/2006/relationships/notesSlide" Target="/ppt/notesSlides/notesSlide9.xml" Id="Rdd0efe916bc241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fb0a34f777c4f1a" /><Relationship Type="http://schemas.openxmlformats.org/officeDocument/2006/relationships/notesSlide" Target="/ppt/notesSlides/notesSlide10.xml" Id="Rd126e2babf9e42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e03092d8248f5" /><Relationship Type="http://schemas.openxmlformats.org/officeDocument/2006/relationships/image" Target="/ppt/media/image12.png" Id="Rc2d4a3c8b25f4efc" /><Relationship Type="http://schemas.openxmlformats.org/officeDocument/2006/relationships/notesSlide" Target="/ppt/notesSlides/notesSlide11.xml" Id="R04f2c0ef62a546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7f01c90f74356" /><Relationship Type="http://schemas.openxmlformats.org/officeDocument/2006/relationships/image" Target="/ppt/media/image13.png" Id="R7c92f1b2a13241ae" /><Relationship Type="http://schemas.openxmlformats.org/officeDocument/2006/relationships/notesSlide" Target="/ppt/notesSlides/notesSlide12.xml" Id="R07a1f421338b42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6354d62e014c2f" /><Relationship Type="http://schemas.openxmlformats.org/officeDocument/2006/relationships/image" Target="/ppt/media/image11.png" Id="R107306fece6540f5" /><Relationship Type="http://schemas.openxmlformats.org/officeDocument/2006/relationships/notesSlide" Target="/ppt/notesSlides/notesSlide13.xml" Id="R334cca357b9841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dfda49ea5c948a0" /><Relationship Type="http://schemas.openxmlformats.org/officeDocument/2006/relationships/notesSlide" Target="/ppt/notesSlides/notesSlide14.xml" Id="R1b51c4a8f48948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cc919a0c24c4920" /><Relationship Type="http://schemas.openxmlformats.org/officeDocument/2006/relationships/image" Target="/ppt/media/image14.png" Id="Ra2e07b13d52f41dd" /><Relationship Type="http://schemas.openxmlformats.org/officeDocument/2006/relationships/notesSlide" Target="/ppt/notesSlides/notesSlide15.xml" Id="R6e38d443d18145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4e633598d78405b" /><Relationship Type="http://schemas.openxmlformats.org/officeDocument/2006/relationships/notesSlide" Target="/ppt/notesSlides/notesSlide16.xml" Id="R32448771e2784b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9852fd282ac40ef" /><Relationship Type="http://schemas.openxmlformats.org/officeDocument/2006/relationships/notesSlide" Target="/ppt/notesSlides/notesSlide17.xml" Id="R289bda80421648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3051f63d274e2e" /><Relationship Type="http://schemas.openxmlformats.org/officeDocument/2006/relationships/notesSlide" Target="/ppt/notesSlides/notesSlide18.xml" Id="R8cd893635c6147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b651d46c634843" /><Relationship Type="http://schemas.openxmlformats.org/officeDocument/2006/relationships/notesSlide" Target="/ppt/notesSlides/notesSlide19.xml" Id="R99ba8ebeb4fd40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a741dfb2f4312" /><Relationship Type="http://schemas.openxmlformats.org/officeDocument/2006/relationships/notesSlide" Target="/ppt/notesSlides/notesSlide20.xml" Id="R4307e28f84d54e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d959fa5e75e4d5f" /><Relationship Type="http://schemas.openxmlformats.org/officeDocument/2006/relationships/image" Target="/ppt/media/image11.png" Id="R830104410fa34d9e" /><Relationship Type="http://schemas.openxmlformats.org/officeDocument/2006/relationships/notesSlide" Target="/ppt/notesSlides/notesSlide21.xml" Id="R4c2b7fe6e4d34d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bf95053aaf24edd" /><Relationship Type="http://schemas.openxmlformats.org/officeDocument/2006/relationships/image" Target="/ppt/media/image15.png" Id="R28e1726b61d14e20" /><Relationship Type="http://schemas.openxmlformats.org/officeDocument/2006/relationships/notesSlide" Target="/ppt/notesSlides/notesSlide22.xml" Id="R618c7a4f236d48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4b03b548b2f4d1e" /><Relationship Type="http://schemas.openxmlformats.org/officeDocument/2006/relationships/notesSlide" Target="/ppt/notesSlides/notesSlide23.xml" Id="R75837b28d15d4d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6067ce1a7d54edf" /><Relationship Type="http://schemas.openxmlformats.org/officeDocument/2006/relationships/notesSlide" Target="/ppt/notesSlides/notesSlide24.xml" Id="R6778a13b947648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e6b41c77add4610" /><Relationship Type="http://schemas.openxmlformats.org/officeDocument/2006/relationships/notesSlide" Target="/ppt/notesSlides/notesSlide25.xml" Id="R8486fccb14f244b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d16386c7e1d4c11" /><Relationship Type="http://schemas.openxmlformats.org/officeDocument/2006/relationships/image" Target="/ppt/media/image16.png" Id="R12b9b14e86854c58" /><Relationship Type="http://schemas.openxmlformats.org/officeDocument/2006/relationships/notesSlide" Target="/ppt/notesSlides/notesSlide26.xml" Id="R538d3138752240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3df00bc84195" /><Relationship Type="http://schemas.openxmlformats.org/officeDocument/2006/relationships/image" Target="/ppt/media/image17.png" Id="R4426e2e39dcf4728" /><Relationship Type="http://schemas.openxmlformats.org/officeDocument/2006/relationships/image" Target="/ppt/media/image18.png" Id="R55ed4232db214300" /><Relationship Type="http://schemas.openxmlformats.org/officeDocument/2006/relationships/image" Target="/ppt/media/image19.png" Id="Rfe79959ded794674" /><Relationship Type="http://schemas.openxmlformats.org/officeDocument/2006/relationships/notesSlide" Target="/ppt/notesSlides/notesSlide27.xml" Id="Rf71d508efc644a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c2ed5e90e443d" /><Relationship Type="http://schemas.openxmlformats.org/officeDocument/2006/relationships/image" Target="/ppt/media/image20.png" Id="Rc3d6d47ce2c64e10" /><Relationship Type="http://schemas.openxmlformats.org/officeDocument/2006/relationships/image" Target="/ppt/media/image21.png" Id="R7f2bfab35ea54c64" /><Relationship Type="http://schemas.openxmlformats.org/officeDocument/2006/relationships/image" Target="/ppt/media/image22.png" Id="R281a2d943c0142e1" /><Relationship Type="http://schemas.openxmlformats.org/officeDocument/2006/relationships/notesSlide" Target="/ppt/notesSlides/notesSlide28.xml" Id="Rcc29579a8d5946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cc4633a7044f8a" /><Relationship Type="http://schemas.openxmlformats.org/officeDocument/2006/relationships/image" Target="/ppt/media/image11.png" Id="R4f001d0a6fe544b7" /><Relationship Type="http://schemas.openxmlformats.org/officeDocument/2006/relationships/image" Target="/ppt/media/image23.png" Id="Rbf5a76da9b9546eb" /><Relationship Type="http://schemas.openxmlformats.org/officeDocument/2006/relationships/notesSlide" Target="/ppt/notesSlides/notesSlide29.xml" Id="Rffded6a510e94a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a85a91d88ea4a12" /><Relationship Type="http://schemas.openxmlformats.org/officeDocument/2006/relationships/image" Target="/ppt/media/image24.png" Id="R1864d7a035cd43e1" /><Relationship Type="http://schemas.openxmlformats.org/officeDocument/2006/relationships/notesSlide" Target="/ppt/notesSlides/notesSlide30.xml" Id="R9a083fa62f894b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4fae0fd2163465e" /><Relationship Type="http://schemas.openxmlformats.org/officeDocument/2006/relationships/notesSlide" Target="/ppt/notesSlides/notesSlide31.xml" Id="R8d553316a8134ab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cb19399ac494d26" /><Relationship Type="http://schemas.openxmlformats.org/officeDocument/2006/relationships/image" Target="/ppt/media/image25.png" Id="R5ba266ae9204477c" /><Relationship Type="http://schemas.openxmlformats.org/officeDocument/2006/relationships/notesSlide" Target="/ppt/notesSlides/notesSlide32.xml" Id="Rfe1f856be53741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df522065c3046a4" /><Relationship Type="http://schemas.openxmlformats.org/officeDocument/2006/relationships/image" Target="/ppt/media/image26.png" Id="Rc67e08414bc54dd1" /><Relationship Type="http://schemas.openxmlformats.org/officeDocument/2006/relationships/notesSlide" Target="/ppt/notesSlides/notesSlide33.xml" Id="R388c963d1d01463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6f5f4be2317424f" /><Relationship Type="http://schemas.openxmlformats.org/officeDocument/2006/relationships/notesSlide" Target="/ppt/notesSlides/notesSlide34.xml" Id="R18b62c128e944ed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b02b20377f04784" /><Relationship Type="http://schemas.openxmlformats.org/officeDocument/2006/relationships/notesSlide" Target="/ppt/notesSlides/notesSlide35.xml" Id="R4dc124795b9f46a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4bfec8308c74c9c" /><Relationship Type="http://schemas.openxmlformats.org/officeDocument/2006/relationships/image" Target="/ppt/media/image27.png" Id="R732ba689b7c94e3b" /><Relationship Type="http://schemas.openxmlformats.org/officeDocument/2006/relationships/notesSlide" Target="/ppt/notesSlides/notesSlide36.xml" Id="Rea5e3663beb345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841b17a3af4cfd" /><Relationship Type="http://schemas.openxmlformats.org/officeDocument/2006/relationships/image" Target="/ppt/media/image28.png" Id="R24ca60828b294339" /><Relationship Type="http://schemas.openxmlformats.org/officeDocument/2006/relationships/notesSlide" Target="/ppt/notesSlides/notesSlide37.xml" Id="R5c64b6f13b984e4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eeb9c9ed94395" /><Relationship Type="http://schemas.openxmlformats.org/officeDocument/2006/relationships/image" Target="/ppt/media/image29.png" Id="Rfff6721b89ca49f1" /><Relationship Type="http://schemas.openxmlformats.org/officeDocument/2006/relationships/notesSlide" Target="/ppt/notesSlides/notesSlide38.xml" Id="R56f3a4bd57064ff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b0c1a0980480e" /><Relationship Type="http://schemas.openxmlformats.org/officeDocument/2006/relationships/image" Target="/ppt/media/image30.png" Id="R90f257f6cf644f83" /><Relationship Type="http://schemas.openxmlformats.org/officeDocument/2006/relationships/image" Target="/ppt/media/image31.png" Id="R5b61dc4f5c974bc9" /><Relationship Type="http://schemas.openxmlformats.org/officeDocument/2006/relationships/notesSlide" Target="/ppt/notesSlides/notesSlide39.xml" Id="Rd2e7b4769d44424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16bf1c48b4202" /><Relationship Type="http://schemas.openxmlformats.org/officeDocument/2006/relationships/image" Target="/ppt/media/image32.png" Id="Rcadf60bb3a614ce5" /><Relationship Type="http://schemas.openxmlformats.org/officeDocument/2006/relationships/notesSlide" Target="/ppt/notesSlides/notesSlide40.xml" Id="R4f0bced0f4bd410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15e89d82e6d4b74" /><Relationship Type="http://schemas.openxmlformats.org/officeDocument/2006/relationships/image" Target="/ppt/media/image11.png" Id="R573f51d68c9e4003" /><Relationship Type="http://schemas.openxmlformats.org/officeDocument/2006/relationships/image" Target="/ppt/media/image33.png" Id="Re22a2f607c3c40ce" /><Relationship Type="http://schemas.openxmlformats.org/officeDocument/2006/relationships/notesSlide" Target="/ppt/notesSlides/notesSlide41.xml" Id="Rcdd0e2b6beb248b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0fbb7fddce44bd2" /><Relationship Type="http://schemas.openxmlformats.org/officeDocument/2006/relationships/notesSlide" Target="/ppt/notesSlides/notesSlide42.xml" Id="Reb84e21c10ce4f2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c60341d7c094b22" /><Relationship Type="http://schemas.openxmlformats.org/officeDocument/2006/relationships/image" Target="/ppt/media/image34.png" Id="R0090b151e76a4106" /><Relationship Type="http://schemas.openxmlformats.org/officeDocument/2006/relationships/notesSlide" Target="/ppt/notesSlides/notesSlide43.xml" Id="R90880d8c6290472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f1a705cfa94848" /><Relationship Type="http://schemas.openxmlformats.org/officeDocument/2006/relationships/notesSlide" Target="/ppt/notesSlides/notesSlide44.xml" Id="R673e005e9960437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13c632a81b74b3a" /><Relationship Type="http://schemas.openxmlformats.org/officeDocument/2006/relationships/image" Target="/ppt/media/image35.png" Id="R7812d4f2ad4c405a" /><Relationship Type="http://schemas.openxmlformats.org/officeDocument/2006/relationships/notesSlide" Target="/ppt/notesSlides/notesSlide45.xml" Id="R01e21e12b3364f0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949a6e72965416e" /><Relationship Type="http://schemas.openxmlformats.org/officeDocument/2006/relationships/image" Target="/ppt/media/image36.png" Id="Rf73c120f8c4e4b77" /><Relationship Type="http://schemas.openxmlformats.org/officeDocument/2006/relationships/notesSlide" Target="/ppt/notesSlides/notesSlide46.xml" Id="R5d34bbdf8255472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311ad9720b0400c" /><Relationship Type="http://schemas.openxmlformats.org/officeDocument/2006/relationships/notesSlide" Target="/ppt/notesSlides/notesSlide47.xml" Id="R67d25bd612be474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c358f54d93464e" /><Relationship Type="http://schemas.openxmlformats.org/officeDocument/2006/relationships/notesSlide" Target="/ppt/notesSlides/notesSlide48.xml" Id="R1b1a8db40b584d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7E249-C479-4047-A2CB-AE7E02D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7673991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_2#c13ff7c30.fixed?vcp=1&amp;pid=dbb013986&amp;color=0,112,192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64D07ADC-ACA3-420E-A757-DDC18454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7984"/>
            <a:ext cx="12188952" cy="795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000"/>
              </a:lnSpc>
              <a:buNone/>
            </a:pPr>
            <a:r>
              <a:rPr sz="4800" b="1" i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第一章</a:t>
            </a:r>
            <a:r>
              <a:rPr sz="48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4800" b="1" i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运动的描述</a:t>
            </a:r>
            <a:endParaRPr sz="4800"/>
          </a:p>
        </p:txBody>
      </p:sp>
      <p:sp>
        <p:nvSpPr>
          <p:cNvPr id="3" name="C_2_BD#c13ff7c30.fixed?vcp=1&amp;pid=dbb013986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716D9EC0-3B65-442E-8F17-56DF656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" y="3602736"/>
            <a:ext cx="11521440" cy="1281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5400"/>
              </a:lnSpc>
              <a:buNone/>
            </a:pPr>
            <a:r>
              <a:rPr sz="4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第3讲</a:t>
            </a:r>
            <a:r>
              <a:rPr sz="4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位置变化快慢的描述——速度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12532385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_1#目录1:c13ff7c30?lid=aa9e116af&amp;cid=aa9e116af&amp;vtp=1&amp;bt=1&amp;bbb=1">
            <a:hlinkClick xmlns:r="http://schemas.openxmlformats.org/officeDocument/2006/relationships" xmlns:a="http://schemas.openxmlformats.org/drawingml/2006/main" r:id="R6696e9f87a054ca8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7B460CE-4CF7-49CC-9E02-B40881EA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587752"/>
            <a:ext cx="6117336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000"/>
              </a:lnSpc>
              <a:buNone/>
            </a:pP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高考要求</a:t>
            </a:r>
            <a:r>
              <a:rPr sz="32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学业标准·考情分析</a:t>
            </a:r>
            <a:endParaRPr sz="3200"/>
          </a:p>
        </p:txBody>
      </p:sp>
      <p:sp>
        <p:nvSpPr>
          <p:cNvPr id="3" name="C_1#目录1:c13ff7c30?lid=043674d11&amp;cid=043674d11&amp;vtp=1&amp;bbb=1">
            <a:hlinkClick xmlns:r="http://schemas.openxmlformats.org/officeDocument/2006/relationships" xmlns:a="http://schemas.openxmlformats.org/drawingml/2006/main" r:id="R560289797c81401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7FB955B-E765-433F-841D-C58875D1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419856"/>
            <a:ext cx="6117336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000"/>
              </a:lnSpc>
              <a:buNone/>
            </a:pP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考点分类</a:t>
            </a:r>
            <a:r>
              <a:rPr sz="32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考点透析·典例剖析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561616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C_3_BD#aa9e116af?vcp=1&amp;pid=c13ff7c30&amp;color=0,112,192&amp;tib=255,255,255&amp;vtp=1&amp;bt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b48e7c70b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92" y="502920"/>
            <a:ext cx="4727448" cy="54864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P_4_BD#b37da9409?colgroup=17,5,13&amp;vcp=1&amp;pid=aa9e116af&amp;color=0,0,0&amp;vtp=1&amp;bbb=1&amp;hb=1"/>
          <p:cNvGraphicFramePr/>
          <p:nvPr/>
        </p:nvGraphicFramePr>
        <p:xfrm>
          <a:off xmlns:a="http://schemas.openxmlformats.org/drawingml/2006/main" x="393192" y="1181100"/>
          <a:ext xmlns:a="http://schemas.openxmlformats.org/drawingml/2006/main" cx="11400625" cy="32180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51768"/>
                <a:gridCol w="1726377"/>
                <a:gridCol w="4225080"/>
                <a:gridCol w="97400"/>
              </a:tblGrid>
              <a:tr h="492633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考点分析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核心素养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知识图解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125222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1.速度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、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平均速度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、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瞬时速度的概念及</a:t>
                      </a:r>
                    </a:p>
                    <a:p>
                      <a:pPr marL="0" lvl="0" indent="0" algn="l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其区别与联系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.（★★）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物理观念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ctr">
                        <a:lnSpc>
                          <a:spcPts val="22200"/>
                        </a:lnSpc>
                        <a:buNone/>
                      </a:pPr>
                      <a:endParaRPr sz="900" spc="0">
                        <a:solidFill>
                          <a:srgbClr val="FFFFFF">
                            <a:alpha val="0"/>
                          </a:srgbClr>
                        </a:solidFill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498856">
                <a:tc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2.直线运动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𝑣</m:t>
                            </m:r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 </m:t>
                            </m:r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</m:oMath>
                        </m:oMathPara>
                      </a14:m>
                      <a:r>
                        <a:rPr sz="100" b="0" i="0" kern="0" spc="-999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图像.（★★）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科学思维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97434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测量纸带的平均速度和瞬时速度.</a:t>
                      </a:r>
                    </a:p>
                    <a:p>
                      <a:pPr marL="0" lvl="0" indent="0" algn="l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（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★）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科学探究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6" name="P_4_BD#b37da9409.table_image?tii=1&amp;vcp=1&amp;pid=aa9e116af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f226e254e4ff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0100" y="1758417"/>
            <a:ext cx="3602818" cy="25417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348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FE36C-B96F-457D-953D-245D6A8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090BB-AD3A-4F1D-833E-FC7A8011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1AD7C-AD91-4A21-8BCB-B507E78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0596-3767-40A1-AB1C-4D14FB8E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BA219-ECA8-4EFF-910A-C6105F71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5C8DB-0AA7-4B05-9012-763972E1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概念导入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4BDB6-654B-46D3-8F39-6168EE18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1885E-E680-4E4B-8A2F-C2E9663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两名同学在相同时间内走过不同位移，谁更快？请用“位移 ÷ 时间”说明。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14617-42CA-41DB-AF38-68CD17A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1b61ad4234ef2"/>
          <a:stretch xmlns:a="http://schemas.openxmlformats.org/drawingml/2006/main"/>
        </p:blipFill>
        <p:spPr>
          <a:xfrm xmlns:a="http://schemas.openxmlformats.org/drawingml/2006/main">
            <a:off x="3381375" y="1867370"/>
            <a:ext cx="5429250" cy="45710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04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C_3_BD#043674d11?vcp=1&amp;pid=c13ff7c30&amp;color=0,112,192&amp;tib=255,255,255&amp;vtp=1&amp;bt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d5b11b0304d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92" y="502920"/>
            <a:ext cx="4727448" cy="548640"/>
          </a:xfrm>
          <a:prstGeom xmlns:a="http://schemas.openxmlformats.org/drawingml/2006/main" prst="rect">
            <a:avLst/>
          </a:prstGeom>
        </p:spPr>
      </p:pic>
      <p:pic>
        <p:nvPicPr>
          <p:cNvPr id="10" name="C_4#977b043b1?vcp=1&amp;pid=043674d11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4902cd46243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181100"/>
            <a:ext cx="11320272" cy="457200"/>
          </a:xfrm>
          <a:prstGeom xmlns:a="http://schemas.openxmlformats.org/drawingml/2006/main" prst="rect">
            <a:avLst/>
          </a:prstGeom>
        </p:spPr>
      </p:pic>
      <p:sp>
        <p:nvSpPr>
          <p:cNvPr id="4" name="C_4_BD#977b043b1?vcp=1&amp;pid=043674d11&amp;color=255,255,255&amp;vtp=1">
            <a:extLst xmlns:a="http://schemas.openxmlformats.org/drawingml/2006/main">
              <a:ext uri="{FF2B5EF4-FFF2-40B4-BE49-F238E27FC236}">
                <a16:creationId xmlns:a16="http://schemas.microsoft.com/office/drawing/2014/main" id="{E9163CDD-04D7-45DB-814B-C021E6B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181100"/>
            <a:ext cx="3566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1</a:t>
            </a:r>
            <a:endParaRPr sz="2800"/>
          </a:p>
        </p:txBody>
      </p:sp>
      <p:sp>
        <p:nvSpPr>
          <p:cNvPr id="5" name="C_4_BD#977b043b1?vcp=1&amp;pid=043674d1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A08B5001-2C40-4F6C-8AA9-5665F242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1181100"/>
            <a:ext cx="99395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回归教材</a:t>
            </a:r>
            <a:endParaRPr sz="2600"/>
          </a:p>
        </p:txBody>
      </p:sp>
      <p:sp>
        <p:nvSpPr>
          <p:cNvPr id="6" name="P_5_BD#e8ee1fd1e?vcp=1&amp;pid=977b043b1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13F656FC-5B5A-4BA9-AF2A-E24F3FD4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778000"/>
            <a:ext cx="11402568" cy="2735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 xmlns:a="http://schemas.openxmlformats.org/drawingml/2006/main">
            <a:pPr>
              <a:lnSpc>
                <a:spcPts val="46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.公式: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.物理意义：速度是描述物体运动快慢的物理量.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.单位：米每秒，符号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或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⋅</m:t>
                  </m:r>
                  <m:sSup>
                    <m:e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e>
                    <m:sup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−1</m:t>
                      </m:r>
                    </m:sup>
                  </m:sSup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.矢量性：速度不但有大小，而且有方向，是矢量.物体的运动方向就是速度的方向.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772255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1_1#0830f2e09?vcp=1&amp;pid=977b043b1&amp;color=0,0,0&amp;vtp=1&amp;bt=1&amp;bbb=1">
            <a:extLst xmlns:a="http://schemas.openxmlformats.org/drawingml/2006/main">
              <a:ext uri="{FF2B5EF4-FFF2-40B4-BE49-F238E27FC236}">
                <a16:creationId xmlns:a16="http://schemas.microsoft.com/office/drawing/2014/main" id="{10DCD056-E9B0-4968-BEA0-B4EB2493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782987"/>
            <a:ext cx="11402568" cy="723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62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考题1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（多选题）关于速度的定义式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下列叙述中正确的是(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3" name="QC_5_AN.2_1#0830f2e09.bracket?vcp=1&amp;pid=977b043b1&amp;color=0,0,0&amp;vpa=1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069DCC55-8A5D-4064-8F57-5DFF4F2F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62" y="1076546"/>
            <a:ext cx="865188" cy="36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30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BCD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4" name="QC_5_BD.1_2#0830f2e09.choices?vcp=1&amp;pid=977b043b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A172D9A9-26B5-4631-A684-7709DA4E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506568"/>
            <a:ext cx="11402568" cy="215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A.物体做匀速直线运动时，速度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与运动的位移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成正比，与运动的时间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成反比</a:t>
            </a:r>
            <a:endParaRPr sz="2400">
              <a:solidFill>
                <a:srgbClr val="000000"/>
              </a:solidFill>
            </a:endParaRP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的大小与运动的位移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都无关</a:t>
            </a:r>
            <a:endParaRPr sz="2400">
              <a:solidFill>
                <a:srgbClr val="000000"/>
              </a:solidFill>
            </a:endParaRP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.此速度定义式适用于任何运动</a:t>
            </a:r>
            <a:endParaRPr sz="2400">
              <a:solidFill>
                <a:srgbClr val="000000"/>
              </a:solidFill>
            </a:endParaRP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.速度是表示物体运动快慢及方向的物理量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5" name="QC_5_AS.3_1#0830f2e09?vcp=1&amp;pid=977b043b1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009E01A4-A480-4622-9801-6DD193F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652868"/>
            <a:ext cx="11402568" cy="218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速度的定义式只说明速度可用位移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𝒙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除以时间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𝒕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来计算，并不是说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𝒗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𝒙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成正</a:t>
            </a:r>
          </a:p>
          <a:p xmlns:a="http://schemas.openxmlformats.org/drawingml/2006/main">
            <a:pPr>
              <a:lnSpc>
                <a:spcPts val="46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比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𝒕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成反比，故A错误，B正确；对于任何运动，速度的定义式都是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𝒗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den>
                  </m:f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故C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正确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；速度是一个矢量，其大小表示物体运动的快慢，方向表示物体的运动方向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，故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正确.</a:t>
            </a:r>
            <a:endParaRPr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625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4_1#cf58c9140?vcp=1&amp;pid=977b043b1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2AB0D799-1C67-45B9-99D2-6001DE4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827689"/>
            <a:ext cx="11402568" cy="1033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变式1-1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（多选题）甲、乙两质点在同一直线上做匀速运动，取向右为正方向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，甲的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，乙的速度为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−4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则可知(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5_1#cf58c9140.bracket?vcp=1&amp;pid=977b043b1&amp;color=0,0,0&amp;vpa=2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0B783CE9-B79C-492B-8E17-2B67EBD3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749" y="2375059"/>
            <a:ext cx="882650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ACD</a:t>
            </a:r>
            <a:endParaRPr sz="2400"/>
          </a:p>
        </p:txBody>
      </p:sp>
      <p:sp>
        <p:nvSpPr>
          <p:cNvPr id="4" name="QC_5_BD.4_2#cf58c9140.choices?vcp=1&amp;pid=977b043b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ABB5DF49-3A84-4BBC-A615-CDCF346B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861214"/>
            <a:ext cx="11402568" cy="21583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A.乙的速度大于甲的速度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.因为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+2&gt;−4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，所以甲的速度大于乙的速度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.这里正、负号的物理意义是表示质点的运动方向</a:t>
            </a:r>
            <a:endParaRPr sz="2400"/>
          </a:p>
          <a:p xmlns:a="http://schemas.openxmlformats.org/drawingml/2006/main">
            <a:pPr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.若甲、乙两质点同时由同一位置出发，则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后甲、乙相距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60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712435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612b0d290?vcp=1&amp;pid=977b043b1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6F592474-E210-4649-B644-19C3D088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035620"/>
            <a:ext cx="11402568" cy="276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难点突破</a:t>
            </a:r>
            <a:endParaRPr sz="2400"/>
          </a:p>
          <a:p xmlns:a="http://schemas.openxmlformats.org/drawingml/2006/main">
            <a:pPr algn="ctr">
              <a:lnSpc>
                <a:spcPts val="46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对定义式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的理解</a:t>
            </a:r>
            <a:endParaRPr sz="2400"/>
          </a:p>
          <a:p xmlns:a="http://schemas.openxmlformats.org/drawingml/2006/main">
            <a:pPr>
              <a:lnSpc>
                <a:spcPts val="46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.速度的定义采用比值定义法，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不表示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之间的数量关系，即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大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，表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示物体位置变化快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不一定大，二者不成正比关系.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.式中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是位移，不是路程，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具有同一性和对应性.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555685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612b0d290?vcp=1&amp;pid=977b043b1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EC401719-262B-4675-B53E-6F4BD96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227646"/>
            <a:ext cx="11402568" cy="4386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易错警示</a:t>
            </a:r>
            <a:endParaRPr sz="2400"/>
          </a:p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关于速度的几个易错点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.速度既有大小又有方向,是矢量.分析物体的运动速度时,既要计算速度的大小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,又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要确定速度的方向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,不可只关注速度的大小.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.比较两个速度是否相同时,既要比较其大小是否相等，又要比较其方向是否相同.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.路程与速度的关系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1）路程为0时，位移必为0，则速度亦为0；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2）路程不为0时，若位移为0，则速度为0；若位移不为0，则速度不为0.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444049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D2A87-CFC8-4FAB-8686-E46FD52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6E010-DBCF-41DC-AE90-5C1F979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453A8-4305-4D0B-AB10-8AD91A24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7DE7F-1D3C-4624-B0FB-50544599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13DB5-4F57-40B0-B39F-ADE5AB77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4A79E-D48C-4B93-A9F4-E010A0B3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概念辨析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8169C-807C-4019-9B38-746B5BAD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7D574-05D4-4961-BB5E-43E0127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判断：描述一段时间内运动快慢时，使用哪一种速度？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3DE64-EF76-4411-8278-148902AC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4a3c8b25f4efc"/>
          <a:stretch xmlns:a="http://schemas.openxmlformats.org/drawingml/2006/main"/>
        </p:blipFill>
        <p:spPr>
          <a:xfrm xmlns:a="http://schemas.openxmlformats.org/drawingml/2006/main">
            <a:off x="1259581" y="1981200"/>
            <a:ext cx="9672839" cy="3752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06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176C5-7C29-4756-A420-6AA5195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1BF8A-2CC3-4645-B29D-8979034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D8955-F8D1-405E-B970-7E8C84AD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EE1EE-EFE7-428D-A9FA-9C1B61C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A180E-C0D9-4DB9-AFD3-CA44CCCD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F24C-8FD0-45F5-B5DF-A37DDDE1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概念辨析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A9538-7EC7-43D8-AE79-43823261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A0FF9-91AF-43E7-B79C-F185C96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汽车速度表显示的是平均速度还是瞬时速度？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F5C24-267A-481D-A528-B751D5A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2f1b2a13241ae"/>
          <a:stretch xmlns:a="http://schemas.openxmlformats.org/drawingml/2006/main"/>
        </p:blipFill>
        <p:spPr>
          <a:xfrm xmlns:a="http://schemas.openxmlformats.org/drawingml/2006/main">
            <a:off x="704850" y="1898556"/>
            <a:ext cx="10782300" cy="40514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143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C_4#2b747e435?vcp=1&amp;pid=043674d11&amp;color=0,0,0&amp;tib=255,255,255&amp;vtp=1&amp;bt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306fece65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502920"/>
            <a:ext cx="11320272" cy="457200"/>
          </a:xfrm>
          <a:prstGeom xmlns:a="http://schemas.openxmlformats.org/drawingml/2006/main" prst="rect">
            <a:avLst/>
          </a:prstGeom>
        </p:spPr>
      </p:pic>
      <p:sp>
        <p:nvSpPr>
          <p:cNvPr id="3" name="C_4_BD#2b747e435?vcp=1&amp;pid=043674d11&amp;color=255,255,255&amp;vtp=1">
            <a:extLst xmlns:a="http://schemas.openxmlformats.org/drawingml/2006/main">
              <a:ext uri="{FF2B5EF4-FFF2-40B4-BE49-F238E27FC236}">
                <a16:creationId xmlns:a16="http://schemas.microsoft.com/office/drawing/2014/main" id="{912AE404-7484-4D84-BCD1-B04432CE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02920"/>
            <a:ext cx="3566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2</a:t>
            </a:r>
            <a:endParaRPr sz="2800"/>
          </a:p>
        </p:txBody>
      </p:sp>
      <p:sp>
        <p:nvSpPr>
          <p:cNvPr id="4" name="C_4_BD#2b747e435?vcp=1&amp;pid=043674d1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3C17F4E0-56A4-426B-A057-7CF41DB1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502920"/>
            <a:ext cx="99395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平均速度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易错点</a:t>
            </a:r>
            <a:endParaRPr sz="2600"/>
          </a:p>
        </p:txBody>
      </p:sp>
      <p:sp>
        <p:nvSpPr>
          <p:cNvPr id="5" name="P_5_BD#883bdc15c?vcp=1&amp;pid=2b747e435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342776E2-7059-42C6-97D8-C33F4104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092200"/>
            <a:ext cx="11402568" cy="2735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 xmlns:a="http://schemas.openxmlformats.org/drawingml/2006/main">
            <a:pPr>
              <a:lnSpc>
                <a:spcPts val="46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.定义式：</a:t>
            </a:r>
            <a14:m xmlns:a14="http://schemas.microsoft.com/office/drawing/2010/main">
              <m:oMathPara xmlns:m="http://schemas.openxmlformats.org/officeDocument/2006/math">
                <m:oMath>
                  <m:bar>
                    <m:barPr>
                      <m:pos m:val="top"/>
                    </m:barPr>
                    <m:e>
                      <m:r>
                        <a:rPr xmlns:a="http://schemas.openxmlformats.org/drawingml/2006/main" lang="en-US" sz="240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𝑣</m:t>
                      </m:r>
                    </m:e>
                  </m:ba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.矢量性：平均速度是矢量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，某一段时间内的平均速度方向和该段时间内的位移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方向相同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.意义:粗略表征在某段时间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或某段位移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内运动的快慢.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738090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6_1#7d0ac2ba3?vcp=1&amp;pid=2b747e43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4042F71D-11F3-4C47-AEEB-A28ED6D3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710629"/>
            <a:ext cx="11402568" cy="1592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考题2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一质点沿直线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𝑂𝑥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方向做变速运动，它离开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𝑂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点的距离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随时间变化的关系为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=5+2</m:t>
                  </m:r>
                  <m:sSup>
                    <m:e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e>
                    <m:sup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sup>
                  </m:sSup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，它的速度随时间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变化的关系为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=6</m:t>
                  </m:r>
                  <m:sSup>
                    <m:e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e>
                    <m:sup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sup>
                  </m:sSup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，该质点在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=0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到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间的平均速度和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到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=3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间的平均速度的大小分别为(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7_1#7d0ac2ba3.bracket?vcp=1&amp;pid=2b747e435&amp;color=0,0,0&amp;vpa=3&amp;vtp=1">
            <a:extLst xmlns:a="http://schemas.openxmlformats.org/drawingml/2006/main">
              <a:ext uri="{FF2B5EF4-FFF2-40B4-BE49-F238E27FC236}">
                <a16:creationId xmlns:a16="http://schemas.microsoft.com/office/drawing/2014/main" id="{83F6DC88-BB48-44C3-9E74-79BA9C66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747" y="1816799"/>
            <a:ext cx="423863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2400"/>
          </a:p>
        </p:txBody>
      </p:sp>
      <p:sp>
        <p:nvSpPr>
          <p:cNvPr id="4" name="QC_5_BD.6_2#7d0ac2ba3.choices?vcp=1&amp;pid=2b747e435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170B76EA-D3CA-4426-BF82-1D829A0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304224"/>
            <a:ext cx="11402568" cy="1027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  <a:tabLst>
                <a:tab pos="5807954" algn="l"/>
              </a:tabLst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39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 spc="-1030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	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8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38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  <a:tabLst>
                <a:tab pos="5807954" algn="l"/>
              </a:tabLst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19.5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 spc="-1030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	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8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13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</p:txBody>
      </p:sp>
      <p:sp>
        <p:nvSpPr>
          <p:cNvPr id="5" name="QC_5_AS.8_1#7d0ac2ba3?vcp=1&amp;pid=2b747e435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B3AB86B7-E1F1-4092-A2A7-C70021F2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344354"/>
            <a:ext cx="11402568" cy="279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内的位移为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=(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×</m:t>
                  </m:r>
                  <m:sSup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e>
                    <m:sup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sup>
                  </m:sSup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−(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×</m:t>
                  </m:r>
                  <m:sSup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</m:e>
                    <m:sup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sup>
                  </m:sSup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</m:oMath>
              </m:oMathPara>
            </a14:m>
            <a:r>
              <a:rPr sz="2400" b="1" i="0" ker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内的位移为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=(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p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e>
                    <m:sup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sup>
                  </m:sSup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−(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×</m:t>
                  </m:r>
                  <m:sSup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e>
                    <m:sup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sup>
                  </m:sSup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𝟑𝟖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时间间隔为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，平</a:t>
            </a:r>
          </a:p>
          <a:p xmlns:a="http://schemas.openxmlformats.org/drawingml/2006/main">
            <a:pPr>
              <a:lnSpc>
                <a:spcPts val="50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均速度为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bar>
                        <m:barPr>
                          <m:pos m:val="top"/>
                        </m:barPr>
                        <m:e>
                          <m:r>
                            <a:rPr xmlns:a="http://schemas.openxmlformats.org/drawingml/2006/main" lang="en-US" sz="240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𝒗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𝒙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</m:t>
                          </m:r>
                        </m:sub>
                      </m:sSub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𝟖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时间间隔为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，平均速度为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bar>
                        <m:barPr>
                          <m:pos m:val="top"/>
                        </m:barPr>
                        <m:e>
                          <m:r>
                            <a:rPr xmlns:a="http://schemas.openxmlformats.org/drawingml/2006/main" lang="en-US" sz="240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𝒗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𝒙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𝟐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𝟐</m:t>
                          </m:r>
                        </m:sub>
                      </m:sSub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𝟑𝟖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故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B正确.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273044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9_1#ad8b9e90c?vcp=1&amp;pid=2b747e43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5FB1F988-595C-4914-9531-402AE9FA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275239"/>
            <a:ext cx="11402568" cy="2150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变式2-1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（国防安全）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如图所示为我国海警开展的巡航活动路线图，某日上午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7：25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我国海警船从大陆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港出发先向东直线行驶一段距离到达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𝐵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处，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然后向北行驶一段距离，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于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11：25到达小岛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𝐶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处，共历时4小时.已知小岛在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港北偏东距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100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处，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𝐶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连线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与正北方向的夹角为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60</m:t>
                      </m:r>
                    </m:e>
                    <m:sup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∘</m:t>
                      </m:r>
                    </m:sup>
                  </m:sSup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则下列说法正确的是(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10_1#ad8b9e90c.bracket?vcp=1&amp;pid=2b747e435&amp;color=0,0,0&amp;vpa=4&amp;vtp=1">
            <a:extLst xmlns:a="http://schemas.openxmlformats.org/drawingml/2006/main">
              <a:ext uri="{FF2B5EF4-FFF2-40B4-BE49-F238E27FC236}">
                <a16:creationId xmlns:a16="http://schemas.microsoft.com/office/drawing/2014/main" id="{8E1AB807-AB94-4AFE-B8A0-7B92ADD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972" y="2940209"/>
            <a:ext cx="441325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</a:t>
            </a:r>
            <a:endParaRPr sz="2400"/>
          </a:p>
        </p:txBody>
      </p:sp>
      <p:pic>
        <p:nvPicPr>
          <p:cNvPr id="9" name="QC_5_BD.9_2#ad8b9e90c?htil=1&amp;vcp=1&amp;pid=2b747e435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07b13d52f41dd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1316" y="3460654"/>
            <a:ext cx="2130552" cy="1600200"/>
          </a:xfrm>
          <a:prstGeom xmlns:a="http://schemas.openxmlformats.org/drawingml/2006/main" prst="rect">
            <a:avLst/>
          </a:prstGeom>
        </p:spPr>
      </p:pic>
      <p:sp>
        <p:nvSpPr>
          <p:cNvPr id="5" name="QC_5_BD.9_3#ad8b9e90c.choices?htil=1&amp;vcp=1&amp;pid=2b747e435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094B4DE2-B459-4996-9C65-A3B8260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414934"/>
            <a:ext cx="9134856" cy="21583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A.7：25指的是时间间隔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.该过程海警船的路程小于位移的大小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.该过程中海警船的平均速率为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25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  <a:p xmlns:a="http://schemas.openxmlformats.org/drawingml/2006/main">
            <a:pPr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.该过程中海警船的平均速度大小为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25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903943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AS.11_1#ad8b9e90c?vcp=1&amp;pid=2b747e43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9CC72171-9FDF-4269-94AA-D037906A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870901"/>
            <a:ext cx="11402568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：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𝟐𝟓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对应时间轴上的一个点，指的是时刻，故A错误；海警船由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港运动到小</a:t>
            </a:r>
          </a:p>
          <a:p xmlns:a="http://schemas.openxmlformats.org/drawingml/2006/main">
            <a:pPr>
              <a:lnSpc>
                <a:spcPts val="51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𝑪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，通过的路程为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𝑨𝑩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𝑩𝑪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=(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×</m:t>
                  </m:r>
                  <m:f>
                    <m:num>
                      <m:rad>
                        <m:radPr>
                          <m:degHide m:val="on"/>
                        </m:radPr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𝟑</m:t>
                          </m:r>
                        </m:e>
                      </m:rad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×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𝟓𝟎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rad>
                    <m:radPr>
                      <m:degHide m:val="on"/>
                    </m:radPr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</m:e>
                  </m:rad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，位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移大小为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𝒙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𝑨𝑪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，可知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&gt;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𝒙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，故B错误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；该过程中海警船的平均速率为</a:t>
            </a:r>
          </a:p>
          <a:p xmlns:a="http://schemas.openxmlformats.org/drawingml/2006/main">
            <a:pPr>
              <a:lnSpc>
                <a:spcPts val="51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𝒗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𝟓𝟎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ad>
                        <m:radPr>
                          <m:degHide m:val="on"/>
                        </m:radPr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𝟑</m:t>
                          </m:r>
                        </m:e>
                      </m:rad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𝟒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𝟐𝟓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ad>
                        <m:radPr>
                          <m:degHide m:val="on"/>
                        </m:radPr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𝟑</m:t>
                          </m:r>
                        </m:e>
                      </m:rad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，平均速度大小为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bar>
                    <m:barPr>
                      <m:pos m:val="top"/>
                    </m:barPr>
                    <m:e>
                      <m:r>
                        <a:rPr xmlns:a="http://schemas.openxmlformats.org/drawingml/2006/main" lang="en-US" sz="240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𝒗</m:t>
                      </m:r>
                    </m:e>
                  </m:ba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𝟏𝟎𝟎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𝟒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，故C错误，D正确.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378492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713163753?vcp=1&amp;pid=2b747e43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3CCE886E-684F-4578-AB4F-999A8B10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793335"/>
            <a:ext cx="11402568" cy="327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易错警示</a:t>
            </a:r>
            <a:endParaRPr sz="2400"/>
          </a:p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关于平均速度的几个易错点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.计算平均速度时，切勿将速度的平均值误认为是平均速度，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两者是不同的概念，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且通常是不相等的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.平均速度是矢量,其方向与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方向一致,而与物体的运动方向（即速度方向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）没有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必然关系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40980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713163753?vcp=1&amp;pid=2b747e435&amp;color=0,0,0&amp;vtp=1&amp;bt=1&amp;bbb=1">
            <a:extLst xmlns:a="http://schemas.openxmlformats.org/drawingml/2006/main">
              <a:ext uri="{FF2B5EF4-FFF2-40B4-BE49-F238E27FC236}">
                <a16:creationId xmlns:a16="http://schemas.microsoft.com/office/drawing/2014/main" id="{8319F063-4642-4C5F-99AB-2C040B9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782636"/>
            <a:ext cx="11402568" cy="3268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方法梳理</a:t>
            </a:r>
            <a:endParaRPr sz="2400"/>
          </a:p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求平均速度的步骤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.确定物体运动的过程.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.确定该运动过程对应的位移和时间.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.根据平均速度的定义，求平均速度的大小.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.根据位移来确定平均速度的方向.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780277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713163753?vcp=1&amp;pid=2b747e435&amp;color=0,0,0&amp;vtp=1&amp;bt=1&amp;bbb=1">
            <a:extLst xmlns:a="http://schemas.openxmlformats.org/drawingml/2006/main">
              <a:ext uri="{FF2B5EF4-FFF2-40B4-BE49-F238E27FC236}">
                <a16:creationId xmlns:a16="http://schemas.microsoft.com/office/drawing/2014/main" id="{299B6E63-610A-4387-B946-FE7AEE7D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910304"/>
            <a:ext cx="11402568" cy="1037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易错警示</a:t>
            </a:r>
            <a:endParaRPr sz="2400"/>
          </a:p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平均速度和平均速率的比较</a:t>
            </a:r>
            <a:endParaRPr sz="2400"/>
          </a:p>
        </p:txBody>
      </p:sp>
      <p:graphicFrame>
        <p:nvGraphicFramePr>
          <p:cNvPr id="5" name="P_5_BD#713163753?colgroup=6,14,14&amp;vcp=1&amp;pid=2b747e435&amp;color=0,0,0&amp;vtp=1&amp;bbb=1&amp;hb=1"/>
          <p:cNvGraphicFramePr/>
          <p:nvPr/>
        </p:nvGraphicFramePr>
        <p:xfrm>
          <a:off xmlns:a="http://schemas.openxmlformats.org/drawingml/2006/main" x="393192" y="2083530"/>
          <a:ext xmlns:a="http://schemas.openxmlformats.org/drawingml/2006/main" cx="11402718" cy="385019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5111"/>
                <a:gridCol w="1586962"/>
                <a:gridCol w="4508414"/>
                <a:gridCol w="97400"/>
                <a:gridCol w="4517431"/>
                <a:gridCol w="97400"/>
              </a:tblGrid>
              <a:tr h="492633">
                <a:tc gridSpan="2">
                  <a:txBody>
                    <a:bodyPr/>
                    <a:lstStyle/>
                    <a:p>
                      <a:pPr algn="ctr">
                        <a:lnSpc>
                          <a:spcPts val="100"/>
                        </a:lnSpc>
                        <a:buNone/>
                      </a:pP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平均速度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平均速率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910019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ts val="38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区</a:t>
                      </a:r>
                    </a:p>
                    <a:p>
                      <a:pPr marL="0" lvl="0" indent="0" algn="ctr">
                        <a:lnSpc>
                          <a:spcPts val="37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别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定义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60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平均速度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num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位移</m:t>
                                </m:r>
                              </m:num>
                              <m:den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时间</m:t>
                                </m:r>
                              </m:den>
                            </m:f>
                          </m:oMath>
                        </m:oMathPara>
                      </a14:m>
                      <a:r>
                        <a:rPr sz="100" b="0" i="0" kern="0" spc="-999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60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平均速率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num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路程</m:t>
                                </m:r>
                              </m:num>
                              <m:den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时间</m:t>
                                </m:r>
                              </m:den>
                            </m:f>
                          </m:oMath>
                        </m:oMathPara>
                      </a14:m>
                      <a:r>
                        <a:rPr sz="100" b="0" i="0" kern="0" spc="-999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4988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标矢性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矢量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标量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974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物理意义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描述一段时间内物体位置变化的</a:t>
                      </a:r>
                    </a:p>
                    <a:p>
                      <a:pPr marL="0" lvl="0" indent="0" algn="l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快慢和方向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描述一段时间内物体运动的快慢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  <a:tr h="974344">
                <a:tc gridSpan="2"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联系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平均速度的大小一般小于平均速率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，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只有在单方向直线运动中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，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</a:t>
                      </a:r>
                    </a:p>
                    <a:p>
                      <a:pPr marL="0" lvl="0" indent="0" algn="l">
                        <a:lnSpc>
                          <a:spcPts val="37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均速度的大小才等于平均速率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1146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138D1-EEAA-4791-8D3B-D837294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18745-8A16-4AF9-80A1-A2C987AB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30033-9795-45D0-8A79-C08092D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D593D-D130-4598-B28A-A5E5EBDF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5FCD3-C83F-412B-8EBC-4ADC166D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E1B5B-7B44-499C-9AA9-C4714FF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课堂互动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410A7-F2F1-4B85-9B33-7904D59A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读速度表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84F59-EE03-452F-9689-8D3FA89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抢答：速度表从 40 km/h 变到 60 km/h，能否据此确定两分钟内的平均速度？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0E7F8-3EC7-451D-A538-6EA3257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6CCBF-64D6-4FC6-A6E4-3242AACA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14625"/>
            <a:ext cx="8686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rPr>
              <a:t>举牌选择：能 / 不能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rPr>
              <a:t>说出你的理由：平均速度需要知道这段时间内的位移和所用时间。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F05C0-853E-4C45-BADE-AC9C5E8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D96B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D96B16"/>
                </a:solidFill>
                <a:latin typeface="Microsoft YaHei"/>
                <a:ea typeface="Microsoft YaHei"/>
                <a:cs typeface="Microsoft YaHei"/>
              </a:rPr>
              <a:t>提示：速度表在某一时刻的读数反映瞬时速度。</a:t>
            </a:r>
          </a:p>
        </p:txBody>
      </p:sp>
    </p:spTree>
    <p:extLst>
      <p:ext uri="{BB962C8B-B14F-4D97-AF65-F5344CB8AC3E}">
        <p14:creationId xmlns:p14="http://schemas.microsoft.com/office/powerpoint/2010/main" val="9739845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C_4#6b0fb1775?vcp=1&amp;pid=043674d11&amp;color=0,0,0&amp;tib=255,255,255&amp;vtp=1&amp;bt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104410fa34d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502920"/>
            <a:ext cx="11320272" cy="457200"/>
          </a:xfrm>
          <a:prstGeom xmlns:a="http://schemas.openxmlformats.org/drawingml/2006/main" prst="rect">
            <a:avLst/>
          </a:prstGeom>
        </p:spPr>
      </p:pic>
      <p:sp>
        <p:nvSpPr>
          <p:cNvPr id="3" name="C_4_BD#6b0fb1775?vcp=1&amp;pid=043674d11&amp;color=255,255,255&amp;vtp=1">
            <a:extLst xmlns:a="http://schemas.openxmlformats.org/drawingml/2006/main">
              <a:ext uri="{FF2B5EF4-FFF2-40B4-BE49-F238E27FC236}">
                <a16:creationId xmlns:a16="http://schemas.microsoft.com/office/drawing/2014/main" id="{81196915-B39E-415C-9A83-9C62E10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02920"/>
            <a:ext cx="3566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3</a:t>
            </a:r>
            <a:endParaRPr sz="2800"/>
          </a:p>
        </p:txBody>
      </p:sp>
      <p:sp>
        <p:nvSpPr>
          <p:cNvPr id="4" name="C_4_BD#6b0fb1775?vcp=1&amp;pid=043674d1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DE1E178E-AE40-484D-B3F3-65C6147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502920"/>
            <a:ext cx="99395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瞬时速度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易错点</a:t>
            </a:r>
            <a:endParaRPr sz="2600"/>
          </a:p>
        </p:txBody>
      </p:sp>
      <p:sp>
        <p:nvSpPr>
          <p:cNvPr id="5" name="P_5_BD#af06df6f5?vcp=1&amp;pid=6b0fb1775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B8763A14-19D1-4102-9304-4390280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092200"/>
            <a:ext cx="11402568" cy="847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35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 xmlns:a="http://schemas.openxmlformats.org/drawingml/2006/main">
            <a:pPr algn="ctr">
              <a:lnSpc>
                <a:spcPts val="3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平均速度和瞬时速度的比较</a:t>
            </a:r>
            <a:endParaRPr sz="2400"/>
          </a:p>
        </p:txBody>
      </p:sp>
      <p:graphicFrame>
        <p:nvGraphicFramePr>
          <p:cNvPr id="12" name="P_5_BD#af06df6f5?colgroup=4,16,15&amp;vcp=1&amp;pid=6b0fb1775&amp;color=0,0,0&amp;vtp=1&amp;bbb=1&amp;hb=1"/>
          <p:cNvGraphicFramePr/>
          <p:nvPr/>
        </p:nvGraphicFramePr>
        <p:xfrm>
          <a:off xmlns:a="http://schemas.openxmlformats.org/drawingml/2006/main" x="393192" y="2070100"/>
          <a:ext xmlns:a="http://schemas.openxmlformats.org/drawingml/2006/main" cx="11356848" cy="431596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5488"/>
                <a:gridCol w="905256"/>
                <a:gridCol w="5093208"/>
                <a:gridCol w="4882896"/>
              </a:tblGrid>
              <a:tr h="465201">
                <a:tc gridSpan="2">
                  <a:txBody>
                    <a:bodyPr/>
                    <a:lstStyle/>
                    <a:p>
                      <a:pPr algn="ctr">
                        <a:lnSpc>
                          <a:spcPts val="100"/>
                        </a:lnSpc>
                        <a:buNone/>
                      </a:pP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平均速度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瞬时速度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0336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ts val="35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区</a:t>
                      </a:r>
                    </a:p>
                    <a:p>
                      <a:pPr marL="0" lvl="0" indent="0" algn="ctr">
                        <a:lnSpc>
                          <a:spcPts val="34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别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35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对应</a:t>
                      </a:r>
                    </a:p>
                    <a:p>
                      <a:pPr marL="0" lvl="0" indent="0" algn="ctr">
                        <a:lnSpc>
                          <a:spcPts val="33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关系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5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与某一过程中的一段位移或一段时间</a:t>
                      </a:r>
                    </a:p>
                    <a:p>
                      <a:pPr marL="0" lvl="0" indent="0"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对应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5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与运动过程中的某一位置或某一时</a:t>
                      </a:r>
                    </a:p>
                    <a:p>
                      <a:pPr marL="0" lvl="0" indent="0"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刻对应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03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35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物理</a:t>
                      </a:r>
                    </a:p>
                    <a:p>
                      <a:pPr marL="0" lvl="0" indent="0" algn="ctr">
                        <a:lnSpc>
                          <a:spcPts val="33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意义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5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描述物体在一段位移或一段时间内运</a:t>
                      </a:r>
                    </a:p>
                    <a:p>
                      <a:pPr marL="0" lvl="0" indent="0"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动的快慢和方向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5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描述物体在某一位置或某一时刻运</a:t>
                      </a:r>
                    </a:p>
                    <a:p>
                      <a:pPr marL="0" lvl="0" indent="0"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动的快慢和方向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4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方向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与对应时间内物体的位移方向相同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与物体所在位置的运动方向相同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8671">
                <a:tc gridSpan="2">
                  <a:txBody>
                    <a:bodyPr/>
                    <a:lstStyle/>
                    <a:p>
                      <a:pPr algn="ctr">
                        <a:lnSpc>
                          <a:spcPts val="3300"/>
                        </a:lnSpc>
                        <a:buNone/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联系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35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（1）在公式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𝑣</m:t>
                            </m:r>
                            <m:r>
                              <a:rPr xmlns:a="http://schemas.openxmlformats.org/drawingml/2006/main" lang="en-US" sz="2400" b="0" i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num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𝑡</m:t>
                                </m:r>
                              </m:den>
                            </m:f>
                          </m:oMath>
                        </m:oMathPara>
                      </a14:m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中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，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d>
                              <m:dPr>
                                <m:grow m:val="off"/>
                              </m:dPr>
                              <m:e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𝑡</m:t>
                                </m:r>
                                <m:r>
                                  <a:rPr xmlns:a="http://schemas.openxmlformats.org/drawingml/2006/main" lang="en-US" sz="2400" b="0" i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→0</m:t>
                                </m:r>
                              </m:e>
                            </m:d>
                          </m:oMath>
                        </m:oMathPara>
                      </a14:m>
                      <a:r>
                        <a:rPr sz="100" b="0" i="0" kern="0" spc="-999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时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，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平均速度即瞬时速度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；</a:t>
                      </a:r>
                      <a:endParaRPr sz="1200" spc="-100"/>
                    </a:p>
                    <a:p>
                      <a:pPr marL="0" indent="0" algn="l">
                        <a:lnSpc>
                          <a:spcPts val="35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（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2）在匀速直线运动中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，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各时刻的瞬时速度都相等</a:t>
                      </a:r>
                      <a:r>
                        <a:rPr sz="2400" b="0" i="0" spc="-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，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所以任意一段时间</a:t>
                      </a:r>
                    </a:p>
                    <a:p>
                      <a:pPr marL="0" lvl="0" indent="0" algn="l">
                        <a:lnSpc>
                          <a:spcPts val="3400"/>
                        </a:lnSpc>
                        <a:buNone/>
                      </a:pPr>
                      <a:r>
                        <a:rPr sz="2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内的平均速度等于任一时刻的瞬时速度</a:t>
                      </a:r>
                      <a:endParaRPr sz="1200"/>
                    </a:p>
                  </a:txBody>
                  <a:tcPr marL="72000" marR="7200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04377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QC_5_BD.12_1#e1c176c6d?htil=2&amp;vcp=1&amp;pid=6b0fb1775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1726b61d14e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9528" y="1317846"/>
            <a:ext cx="1837944" cy="2203704"/>
          </a:xfrm>
          <a:prstGeom xmlns:a="http://schemas.openxmlformats.org/drawingml/2006/main" prst="rect">
            <a:avLst/>
          </a:prstGeom>
        </p:spPr>
      </p:pic>
      <p:sp>
        <p:nvSpPr>
          <p:cNvPr id="3" name="QC_5_BD.12_2#e1c176c6d?htil=2&amp;vcp=1&amp;pid=6b0fb177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A8209203-FAC1-4531-95E5-1909A941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272127"/>
            <a:ext cx="9427464" cy="2150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考题3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（交通安全）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如图所示为公路上的指示牌，圆牌上的数字为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方牌上标有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“前方区间测速，长度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66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”.一辆汽车通过监测起点和终点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的速度分别为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98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90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，通过测速区间的时间为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30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min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.下列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判断正确的是(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4" name="QC_5_AN.13_1#e1c176c6d.bracket?vcp=1&amp;pid=6b0fb1775&amp;color=0,0,0&amp;vpa=5&amp;vtp=1">
            <a:extLst xmlns:a="http://schemas.openxmlformats.org/drawingml/2006/main">
              <a:ext uri="{FF2B5EF4-FFF2-40B4-BE49-F238E27FC236}">
                <a16:creationId xmlns:a16="http://schemas.microsoft.com/office/drawing/2014/main" id="{5C0DF787-CDCE-4216-B15F-7779E2BF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561" y="2937097"/>
            <a:ext cx="441325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2400"/>
          </a:p>
        </p:txBody>
      </p:sp>
      <p:sp>
        <p:nvSpPr>
          <p:cNvPr id="5" name="QC_5_BD.12_3#e1c176c6d.choices?htil=2&amp;vcp=1&amp;pid=6b0fb1775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912EFE0A-1E9D-443B-BE6D-A01B0C4E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411822"/>
            <a:ext cx="9427464" cy="215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A.全长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66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属于位移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.该汽车通过测速区的平均速度大小是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132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.起点速度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98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km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属于瞬时速度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.该汽车在测速区间内没有超速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515231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AS.14_1#e1c176c6d?vcp=1&amp;pid=6b0fb177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00EDB109-B1FC-489A-A4F2-870C6CED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067370"/>
            <a:ext cx="11402568" cy="2751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全长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𝟔𝟔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是区间测速路段的实际长度，全长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𝟔𝟔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属于路程，故A错误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；平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均速度是位移与时间的比值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，由于不知道汽车在该测速区间的位移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，所以无法计算平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均速度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，故B错误；起点速度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𝟗𝟖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属于瞬时速度，故C正确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；该汽车在测速区间</a:t>
            </a:r>
          </a:p>
          <a:p xmlns:a="http://schemas.openxmlformats.org/drawingml/2006/main">
            <a:pPr>
              <a:lnSpc>
                <a:spcPts val="47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内的平均速率</a:t>
            </a:r>
            <a14:m xmlns:a14="http://schemas.microsoft.com/office/drawing/2010/main">
              <m:oMathPara xmlns:m="http://schemas.openxmlformats.org/officeDocument/2006/math">
                <m:oMath>
                  <m:bar>
                    <m:barPr>
                      <m:pos m:val="top"/>
                    </m:barPr>
                    <m:e>
                      <m:r>
                        <a:rPr xmlns:a="http://schemas.openxmlformats.org/drawingml/2006/main" lang="en-US" sz="240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𝒗</m:t>
                      </m:r>
                    </m:e>
                  </m:ba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𝟔𝟔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𝐤𝐦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𝟓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𝐡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𝟏𝟑𝟐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，测速区间的整段限速为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𝐤𝐦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𝐡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，所以该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汽车在测速区间内超速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，故D错误.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1666468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15_1#dfd994bc4?vcp=1&amp;pid=6b0fb177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AA547D0D-6E75-4BD5-B350-EEEBDA28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504000"/>
            <a:ext cx="11402568" cy="1557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变式3-1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（体育竞技）</a:t>
            </a:r>
            <a:r>
              <a:rPr sz="2400" b="0" i="0">
                <a:solidFill>
                  <a:srgbClr val="1E5A99"/>
                </a:solidFill>
                <a:latin typeface="KaiTi"/>
                <a:ea typeface="KaiTi"/>
                <a:cs typeface="KaiTi"/>
              </a:rPr>
              <a:t>（2026·江西九江一中检测）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为提高运动员百米赛跑的成绩，</a:t>
            </a:r>
          </a:p>
          <a:p xmlns:a="http://schemas.openxmlformats.org/drawingml/2006/main">
            <a:pPr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教练员分析了运动员跑百米全程的录像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，测得运动员在前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内跑了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49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末到</a:t>
            </a:r>
          </a:p>
          <a:p xmlns:a="http://schemas.openxmlformats.org/drawingml/2006/main">
            <a:pPr>
              <a:lnSpc>
                <a:spcPts val="41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7.1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末跑了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0.92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，全程共用时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下列说法正确的是(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16_1#dfd994bc4.bracket?vcp=1&amp;pid=6b0fb1775&amp;color=0,0,0&amp;vpa=6&amp;vtp=1">
            <a:extLst xmlns:a="http://schemas.openxmlformats.org/drawingml/2006/main">
              <a:ext uri="{FF2B5EF4-FFF2-40B4-BE49-F238E27FC236}">
                <a16:creationId xmlns:a16="http://schemas.microsoft.com/office/drawing/2014/main" id="{6B68BD91-D31B-46B9-A1D2-01C51152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661" y="1580706"/>
            <a:ext cx="441325" cy="469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1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2400"/>
          </a:p>
        </p:txBody>
      </p:sp>
      <p:sp>
        <p:nvSpPr>
          <p:cNvPr id="4" name="QC_5_BD.15_2#dfd994bc4.choices?vcp=1&amp;pid=6b0fb1775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91079E43-7A80-42DC-9481-B70A0773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066226"/>
            <a:ext cx="11402568" cy="2116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A.运动员在百米赛跑全过程的平均速度大小是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  <a:p xmlns:a="http://schemas.openxmlformats.org/drawingml/2006/main">
            <a:pPr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.运动员在前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内的平均速度大小是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  <a:p xmlns:a="http://schemas.openxmlformats.org/drawingml/2006/main">
            <a:pPr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.运动员在第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末的瞬时速度大小约为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9.2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.根据本题已知条件，无法估算运动员在第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末的瞬时速度</a:t>
            </a:r>
            <a:endParaRPr sz="2400"/>
          </a:p>
        </p:txBody>
      </p:sp>
      <p:sp>
        <p:nvSpPr>
          <p:cNvPr id="5" name="QC_5_AS.17_1#dfd994bc4?vcp=1&amp;pid=6b0fb1775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506A9227-D22E-4462-9271-E8C07AB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187126"/>
            <a:ext cx="11402568" cy="207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运动员在百米赛跑全过程的平均速度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𝒗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𝟏𝟎𝟎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𝟏𝟎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，A错误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；运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动员在前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内的平均速度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𝒗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′=</m:t>
                  </m:r>
                  <m:f>
                    <m:num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′</m:t>
                      </m:r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′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𝟒𝟗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𝟕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，B错误；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末到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的时间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，运动员在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𝒕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内的平均速度</a:t>
            </a:r>
            <a14:m xmlns:a14="http://schemas.microsoft.com/office/drawing/2010/main">
              <m:oMathPara xmlns:m="http://schemas.openxmlformats.org/officeDocument/2006/math">
                <m:oMath>
                  <m:bar>
                    <m:barPr>
                      <m:pos m:val="top"/>
                    </m:barPr>
                    <m:e>
                      <m:r>
                        <a:rPr xmlns:a="http://schemas.openxmlformats.org/drawingml/2006/main" lang="en-US" sz="240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𝒗</m:t>
                      </m:r>
                    </m:e>
                  </m:ba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𝟗𝟐</m:t>
                      </m:r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𝟗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，因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𝒕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较小，故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末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的瞬时速度近似等于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𝚫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𝒕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内的平均速度，D错误，C正确.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361702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0fc1e0ecb?vcp=1&amp;pid=6b0fb177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3AD767D4-B332-4F5B-8F32-5FB7A636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83355"/>
            <a:ext cx="11402568" cy="550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难点突破</a:t>
            </a:r>
            <a:endParaRPr sz="2400"/>
          </a:p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用极限思想理解瞬时速度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为了精确地描述做变速直线运动的质点运动的快慢和方向，我们可采用无限取微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逐渐逼近的方法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，具体如下：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.从质点经过某点起在后面取一小段位移，求出质点在该段位移上的平均速度.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.从该点起所取的位移越小，质点在该段时间内的速度变化就越小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，即质点在该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段时间内的运动越趋于匀速直线运动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.当位移足够小（或时间足够短）时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，质点在这段时间内的运动可以认为是匀速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，求得的平均速度就等于质点通过该点时的速度，即瞬时速度.对变速直线运动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，各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点的瞬时速度是变化的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090295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0fc1e0ecb?vcp=1&amp;pid=6b0fb1775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8E83C3B7-D461-4850-9DE3-FD426905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185988"/>
            <a:ext cx="11402568" cy="111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如图所示，当时间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足够小时，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时刻的瞬时速度等于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时间内的平均速度.即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刻的瞬时速度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  <p:pic>
        <p:nvPicPr>
          <p:cNvPr id="7" name="P_5_BD#0fc1e0ecb?vcp=1&amp;pid=6b0fb1775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9b14e86854c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7176" y="3442335"/>
            <a:ext cx="2514600" cy="448056"/>
          </a:xfrm>
          <a:prstGeom xmlns:a="http://schemas.openxmlformats.org/drawingml/2006/main" prst="rect">
            <a:avLst/>
          </a:prstGeom>
        </p:spPr>
      </p:pic>
      <p:sp>
        <p:nvSpPr>
          <p:cNvPr id="4" name="P_5_BD#0fc1e0ecb?vcp=1&amp;pid=6b0fb1775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ACED4534-289F-47BA-B02E-8C68E2F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026535"/>
            <a:ext cx="11402568" cy="4841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［注意］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所谓的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足够小就是根据具体的实际问题在要求的精度范围内即可.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378548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7947E-2C74-442A-8CB2-7C2B671B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D61D3-C712-4750-BF32-7062A991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B6427-7DE5-4EF4-B87F-A49B92E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E748F-79E2-4A39-A9E0-9EF92C6C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DF622-0853-4084-821C-8625DCE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33563-D9A5-4922-B83F-75F1813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实验探究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1DA4E-61E7-454D-9ABE-97C1334E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测量平均速度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7B9DA-D096-4296-A584-2C6E4BD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操作挑战：先确认哪两个量，再计算纸带上 D 到 G 的平均速度？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1AE40-0CE7-4805-8399-31BA9029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7C6BD-2A4F-4D18-8F41-041ADDF4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测量总思路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6e2e39dcf4728"/>
          <a:stretch xmlns:a="http://schemas.openxmlformats.org/drawingml/2006/main"/>
        </p:blipFill>
        <p:spPr>
          <a:xfrm xmlns:a="http://schemas.openxmlformats.org/drawingml/2006/main">
            <a:off x="2761975" y="2009775"/>
            <a:ext cx="6668049" cy="1924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9D536-3987-440A-94EE-AFD22A0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计算关系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d4232db214300"/>
          <a:stretch xmlns:a="http://schemas.openxmlformats.org/drawingml/2006/main"/>
        </p:blipFill>
        <p:spPr>
          <a:xfrm xmlns:a="http://schemas.openxmlformats.org/drawingml/2006/main">
            <a:off x="781050" y="4411120"/>
            <a:ext cx="5200650" cy="158858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210D5-3C38-4BFE-AEC7-925969E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时间的测量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9959ded794674"/>
          <a:stretch xmlns:a="http://schemas.openxmlformats.org/drawingml/2006/main"/>
        </p:blipFill>
        <p:spPr>
          <a:xfrm xmlns:a="http://schemas.openxmlformats.org/drawingml/2006/main">
            <a:off x="6238875" y="4486526"/>
            <a:ext cx="5238750" cy="7233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082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65AB8-4910-4290-A03C-20C2DAC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96E37-4017-45D5-B2EB-904385B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10851-BAE8-4652-8F37-0928674C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8766A-ABCE-4BE2-A967-400C9F75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5712C-128F-494D-B79B-BCF3046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FBBE1-3C7F-4644-93FB-4A7A919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实验探究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9E2C6-5070-486C-A43E-EF6BA706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测量瞬时速度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7F118-44F8-4A4D-833F-21A21025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比较 DF 和 DG 两个时间间隔，哪一个更适合近似 E 点瞬时速度？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7FE95-D0A4-4EBB-A72C-A4125442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22AA8-4356-491B-AED4-92862606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测量思路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6d47ce2c64e10"/>
          <a:stretch xmlns:a="http://schemas.openxmlformats.org/drawingml/2006/main"/>
        </p:blipFill>
        <p:spPr>
          <a:xfrm xmlns:a="http://schemas.openxmlformats.org/drawingml/2006/main">
            <a:off x="2518030" y="1971675"/>
            <a:ext cx="7155939" cy="19716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CD29B-4BE5-40FE-A23C-3A0083B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近似条件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bfab35ea54c64"/>
          <a:stretch xmlns:a="http://schemas.openxmlformats.org/drawingml/2006/main"/>
        </p:blipFill>
        <p:spPr>
          <a:xfrm xmlns:a="http://schemas.openxmlformats.org/drawingml/2006/main">
            <a:off x="1441835" y="4410075"/>
            <a:ext cx="3840979" cy="1857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F5EA8-1C4C-4DAE-990F-6B180C7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时间的测量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a2d943c0142e1"/>
          <a:stretch xmlns:a="http://schemas.openxmlformats.org/drawingml/2006/main"/>
        </p:blipFill>
        <p:spPr>
          <a:xfrm xmlns:a="http://schemas.openxmlformats.org/drawingml/2006/main">
            <a:off x="6219825" y="4610920"/>
            <a:ext cx="5219700" cy="12366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5270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C_4#f3b076dfc?vcp=1&amp;pid=043674d11&amp;color=0,0,0&amp;tib=255,255,255&amp;vtp=1&amp;bt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01d0a6fe544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502920"/>
            <a:ext cx="11320272" cy="457200"/>
          </a:xfrm>
          <a:prstGeom xmlns:a="http://schemas.openxmlformats.org/drawingml/2006/main" prst="rect">
            <a:avLst/>
          </a:prstGeom>
        </p:spPr>
      </p:pic>
      <p:sp>
        <p:nvSpPr>
          <p:cNvPr id="3" name="C_4_BD#f3b076dfc?vcp=1&amp;pid=043674d11&amp;color=255,255,255&amp;vtp=1">
            <a:extLst xmlns:a="http://schemas.openxmlformats.org/drawingml/2006/main">
              <a:ext uri="{FF2B5EF4-FFF2-40B4-BE49-F238E27FC236}">
                <a16:creationId xmlns:a16="http://schemas.microsoft.com/office/drawing/2014/main" id="{5EBFC01B-5CA3-4410-B81A-2BC01175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02920"/>
            <a:ext cx="3566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4</a:t>
            </a:r>
            <a:endParaRPr sz="2800"/>
          </a:p>
        </p:txBody>
      </p:sp>
      <p:sp>
        <p:nvSpPr>
          <p:cNvPr id="4" name="C_4_BD#f3b076dfc?vcp=1&amp;pid=043674d1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C286A78C-048E-4758-AD53-6CDFA4F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502920"/>
            <a:ext cx="99395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实验：测量纸带的平均速度和瞬时速度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</a:t>
            </a:r>
            <a:endParaRPr sz="2600"/>
          </a:p>
        </p:txBody>
      </p:sp>
      <p:pic>
        <p:nvPicPr>
          <p:cNvPr id="13" name="P_5_BD#a1e091604?htil=3&amp;vcp=1&amp;pid=f3b076dfc&amp;color=0,0,0&amp;tib=255,255,255&amp;vtp=1&amp;hs=1&amp;hs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a76da9b9546eb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9289" y="1079501"/>
            <a:ext cx="3576892" cy="1021969"/>
          </a:xfrm>
          <a:prstGeom xmlns:a="http://schemas.openxmlformats.org/drawingml/2006/main" prst="rect">
            <a:avLst/>
          </a:prstGeom>
        </p:spPr>
      </p:pic>
      <p:sp>
        <p:nvSpPr>
          <p:cNvPr id="6" name="P_5_BD#a1e091604?htil=3&amp;vcp=1&amp;pid=f3b076dfc&amp;color=0,0,0&amp;vtp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B861B8C3-205D-4D79-A7D6-75F83BC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092200"/>
            <a:ext cx="7616952" cy="1033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1.测量平均速度</a:t>
            </a:r>
            <a:endParaRPr sz="2400"/>
          </a:p>
        </p:txBody>
      </p:sp>
      <p:sp>
        <p:nvSpPr>
          <p:cNvPr id="7" name="P_5_BD#a1e091604?htil=3&amp;vcp=1&amp;pid=f3b076dfc&amp;color=0,0,0&amp;vtp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9590196F-8CAE-6A15-AF76-1519B2E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6" y="2125599"/>
            <a:ext cx="11400008" cy="111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</a:t>
            </a:r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图所示是打点计时器打出的一条纸带.若想计算实验时运动的纸带在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𝐷</m:t>
                  </m:r>
                </m:oMath>
              </m:oMathPara>
            </a14:m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𝐹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两点间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的平均速度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,只需测出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𝐷</m:t>
                  </m:r>
                </m:oMath>
              </m:oMathPara>
            </a14:m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𝐹</m:t>
                  </m:r>
                </m:oMath>
              </m:oMathPara>
            </a14:m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间的位移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和所用的时间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,就可以算出平均速度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spc="-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spc="-50"/>
          </a:p>
        </p:txBody>
      </p:sp>
    </p:spTree>
    <p:extLst>
      <p:ext uri="{BB962C8B-B14F-4D97-AF65-F5344CB8AC3E}">
        <p14:creationId xmlns:p14="http://schemas.microsoft.com/office/powerpoint/2010/main" val="72459872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a1e091604?vcp=1&amp;pid=f3b076dfc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507C11F7-6834-48C9-BD08-97626422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835912"/>
            <a:ext cx="11402568" cy="159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2.测量瞬时速度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1）实验原理：如图所示，当要测量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𝐸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点的瞬时速度时，以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𝐷𝐹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线段所对应的时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间间隔为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，则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𝐷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𝐹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两点离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𝐸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点越近，算出的平均速度越接近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𝐸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点的瞬时速度.</a:t>
            </a:r>
            <a:endParaRPr sz="2400"/>
          </a:p>
        </p:txBody>
      </p:sp>
      <p:pic>
        <p:nvPicPr>
          <p:cNvPr id="5" name="P_5_BD#a1e091604?vcp=1&amp;pid=f3b076dfc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4d7a035cd43e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9464" y="3555492"/>
            <a:ext cx="7050024" cy="14538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615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a1e091604?vcp=1&amp;pid=f3b076dfc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A66B1BC5-F08F-4C6C-8ADC-D846B6EB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786985"/>
            <a:ext cx="11402568" cy="327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（2）实验步骤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①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从纸带起始点0算起，后面每五个点取一个计数点.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②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测量各计数点到起始点0的距离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，记录在下面表格中.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③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计算两相邻计数点间的位移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，同时记录对应时间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④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根据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算出的速度可以代表在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这一区间内任意一点的瞬时速度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.将算出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的各计数点的速度值记录在表格中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3414476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QB_5_BD.18_1#b8be922cd?htil=4&amp;vcp=1&amp;pid=f3b076dfc&amp;color=0,0,0&amp;tib=255,255,255&amp;vtp=1&amp;hs=1&amp;hs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266ae9204477c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4214" y="949674"/>
            <a:ext cx="2632957" cy="1557909"/>
          </a:xfrm>
          <a:prstGeom xmlns:a="http://schemas.openxmlformats.org/drawingml/2006/main" prst="rect">
            <a:avLst/>
          </a:prstGeom>
        </p:spPr>
      </p:pic>
      <p:sp>
        <p:nvSpPr>
          <p:cNvPr id="3" name="QB_5_BD.18_2#b8be922cd?htil=4&amp;vcp=1&amp;pid=f3b076dfc&amp;color=0,0,0&amp;vtp=1&amp;bt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B3AA65C3-1F62-4912-82DA-B8AC585F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962374"/>
            <a:ext cx="8622792" cy="1592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考题4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1E5A99"/>
                </a:solidFill>
                <a:latin typeface="KaiTi"/>
                <a:ea typeface="KaiTi"/>
                <a:cs typeface="KaiTi"/>
              </a:rPr>
              <a:t>（2026·湖北武汉一中检测）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如图所示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，打点计时器所用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电源的频率为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50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Hz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，某次实验中得到一条纸带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，用毫米刻度尺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测出各点间的距离如图所示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，则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𝐴𝐶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</m:oMath>
              </m:oMathPara>
            </a14:m>
            <a:r>
              <a:rPr sz="240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_____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mm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.那么由此可以算</a:t>
            </a:r>
            <a:endParaRPr sz="2400"/>
          </a:p>
        </p:txBody>
      </p:sp>
      <p:sp>
        <p:nvSpPr>
          <p:cNvPr id="4" name="QB_5_AN.19_1#b8be922cd.blank?vcp=1&amp;pid=f3b076dfc&amp;color=0,0,0&amp;vpa=7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20E46F10-B0D4-49B6-A54E-0255964C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54" y="2030443"/>
            <a:ext cx="754063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14.0</a:t>
            </a:r>
            <a:endParaRPr sz="2400"/>
          </a:p>
        </p:txBody>
      </p:sp>
      <p:sp>
        <p:nvSpPr>
          <p:cNvPr id="5" name="QB_5_AN.20_1#b8be922cd.blank?vcp=1&amp;pid=f3b076dfc&amp;color=0,0,0&amp;vpa=8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FE2B8A08-C91A-43B5-AF5E-6AADEFF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981" y="2517743"/>
            <a:ext cx="754063" cy="49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0.35</a:t>
            </a:r>
            <a:endParaRPr sz="2400"/>
          </a:p>
        </p:txBody>
      </p:sp>
      <p:sp>
        <p:nvSpPr>
          <p:cNvPr id="6" name="QB_5_AN.21_1#b8be922cd.blank?vcp=1&amp;pid=f3b076dfc&amp;color=0,0,0&amp;vpa=9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559E59AB-FB56-45F8-8EE3-95C59D8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320" y="2517743"/>
            <a:ext cx="754063" cy="49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0.42</a:t>
            </a:r>
            <a:endParaRPr sz="2400"/>
          </a:p>
        </p:txBody>
      </p:sp>
      <p:sp>
        <p:nvSpPr>
          <p:cNvPr id="7" name="QB_5_AN.22_1#b8be922cd.blank?vcp=1&amp;pid=f3b076dfc&amp;color=0,0,0&amp;vpa=1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FCBE775B-EC5E-4507-908B-790075E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760" y="3054952"/>
            <a:ext cx="754063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0.35</a:t>
            </a:r>
            <a:endParaRPr sz="2400"/>
          </a:p>
        </p:txBody>
      </p:sp>
      <p:sp>
        <p:nvSpPr>
          <p:cNvPr id="8" name="QB_5_AS.23_1#b8be922cd?vcp=1&amp;pid=f3b076dfc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70D9913F-5D6D-45D2-B22F-803D7644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585813"/>
            <a:ext cx="11402568" cy="2332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𝑨𝑪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𝟏𝟒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𝐦𝐦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，可算得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𝑪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间的平均速度为</a:t>
            </a:r>
          </a:p>
          <a:p xmlns:a="http://schemas.openxmlformats.org/drawingml/2006/main">
            <a:pPr>
              <a:lnSpc>
                <a:spcPts val="51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f>
                    <m:num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𝒙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𝑨𝑪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𝟏𝟒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𝟏𝟎</m:t>
                          </m:r>
                        </m:e>
                        <m:sup>
                          <m:r>
                            <a:rPr xmlns:a="http://schemas.openxmlformats.org/drawingml/2006/main" lang="en-US" sz="2400" b="1" i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𝟑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𝟎𝟐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 ker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𝑨𝑫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𝟐𝟓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𝐦𝐦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𝑫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间的平均速度为</a:t>
            </a:r>
          </a:p>
          <a:p xmlns:a="http://schemas.openxmlformats.org/drawingml/2006/main">
            <a:pPr>
              <a:lnSpc>
                <a:spcPts val="51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f>
                    <m:num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𝒙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𝑨𝑫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𝟐𝟓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𝟏𝟎</m:t>
                          </m:r>
                        </m:e>
                        <m:sup>
                          <m:r>
                            <a:rPr xmlns:a="http://schemas.openxmlformats.org/drawingml/2006/main" lang="en-US" sz="2400" b="1" i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𝟑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𝟎𝟐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𝟒𝟐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.对于描述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𝑩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点的瞬时速度来说，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𝑨𝑪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段所取的位移间隔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更小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，更能接近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𝑩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点的真实速度，即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𝑩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点的瞬时速度更接近于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𝟑𝟓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  <p:sp>
        <p:nvSpPr>
          <p:cNvPr id="9" name="QB_5_BD.18_2#b8be922cd?htil=4&amp;vcp=1&amp;pid=f3b076dfc&amp;color=0,0,0&amp;vtp=1&amp;bt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C5A23D81-3C70-644F-BCCB-3D4BE8A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545683"/>
            <a:ext cx="11400008" cy="1033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出纸带在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𝐶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间的平均速度为</a:t>
            </a:r>
            <a:r>
              <a:rPr sz="240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_____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，纸带在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𝐴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𝐷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间的平均速度为</a:t>
            </a:r>
            <a:r>
              <a:rPr sz="240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_____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𝐵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00" b="0" i="0" kern="0" spc="-9990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点的瞬时速度更接近于</a:t>
            </a:r>
            <a:r>
              <a:rPr sz="240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_____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（计算结果均保留两位小数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56499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O_5_BD.24_1#16ba2d2a2?vcp=1&amp;pid=f3b076dfc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5DF13F81-0708-4DA3-85AE-76E5C57C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172210"/>
            <a:ext cx="11402568" cy="2713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变式4-1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用气垫导轨和数字计时器能精确地测量物体的瞬时速度.如图所示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，滑块在钩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码的牵引作用下先后通过两个光电门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1、2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，配套的数字计时器记录了遮光条通过第一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个光电门的时间为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sSub>
                    <m:e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e>
                    <m:sub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</m:sSub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=0.29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，通过第二个光电门的时间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sSub>
                    <m:e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e>
                    <m:sub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sub>
                  </m:sSub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=0.11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.已知遮光条的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宽度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𝑑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3.0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cm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分别求出滑块通过第一个光电门和第二个光电门的速度大小.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计算结果保留两位有效数字）</a:t>
            </a:r>
            <a:endParaRPr sz="2400"/>
          </a:p>
        </p:txBody>
      </p:sp>
      <p:pic>
        <p:nvPicPr>
          <p:cNvPr id="5" name="QO_5_BD.24_2#16ba2d2a2?vcp=1&amp;pid=f3b076dfc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e08414bc54d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5072" y="3985006"/>
            <a:ext cx="4178808" cy="17007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2181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O_5_AN.25_1#16ba2d2a2?vcp=1&amp;pid=f3b076dfc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DB6D55B0-6023-4493-89DA-1D431B2A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617028"/>
            <a:ext cx="11402568" cy="3632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[答案]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由于滑块经过光电门时遮光条的挡光时间较短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，所以滑块经过光电门时的速度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近似等于遮光条遮光时间内的平均速度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滑块经过第一个光电门的速度大小</a:t>
            </a:r>
            <a:endParaRPr sz="2400"/>
          </a:p>
          <a:p xmlns:a="http://schemas.openxmlformats.org/drawingml/2006/main">
            <a:pPr>
              <a:lnSpc>
                <a:spcPts val="55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𝒗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</m:t>
                          </m:r>
                        </m:sub>
                      </m:sSub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𝟏𝟎</m:t>
                          </m:r>
                        </m:e>
                        <m:sup>
                          <m:r>
                            <a:rPr xmlns:a="http://schemas.openxmlformats.org/drawingml/2006/main" lang="en-US" sz="2400" b="1" i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𝟐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𝟐𝟗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≈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滑块经过第二个光电门的速度大小</a:t>
            </a:r>
            <a:endParaRPr sz="2400"/>
          </a:p>
          <a:p xmlns:a="http://schemas.openxmlformats.org/drawingml/2006/main">
            <a:pPr>
              <a:lnSpc>
                <a:spcPts val="55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𝒗</m:t>
                      </m:r>
                    </m:e>
                    <m:sub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</m:num>
                    <m:den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𝚫</m:t>
                      </m:r>
                      <m:sSub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e>
                        <m:sub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𝟐</m:t>
                          </m:r>
                        </m:sub>
                      </m:sSub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𝟑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𝟏𝟎</m:t>
                          </m:r>
                        </m:e>
                        <m:sup>
                          <m:r>
                            <a:rPr xmlns:a="http://schemas.openxmlformats.org/drawingml/2006/main" lang="en-US" sz="2400" b="1" i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xmlns:a="http://schemas.openxmlformats.org/drawingml/2006/main"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𝟐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𝟎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xmlns:a="http://schemas.openxmlformats.org/drawingml/2006/main"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𝟏𝟏</m:t>
                      </m:r>
                    </m:den>
                  </m:f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≈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𝟎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.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3420403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1e030ffc2?vcp=1&amp;pid=f3b076dfc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DFC4F62C-4EEC-4684-B477-D3865A8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512665"/>
            <a:ext cx="11402568" cy="3831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名师点拨</a:t>
            </a:r>
            <a:endParaRPr sz="2400"/>
          </a:p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进行实验数据处理时的注意点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.单位的确定，应将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cm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转化为国际单位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进行求解.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.相邻计数点间的时间间隔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𝑇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的确定，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一般在纸带上每五个计时点取一个计数点，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此时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𝑇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=0.02×5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=0.1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.结果是保留几位有效数字还是保留几位小数，若题目中没有明确说明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，一般保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留到小数点后两位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3203731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_5_BD#1e030ffc2?htil=5&amp;vcp=1&amp;pid=f3b076dfc&amp;color=0,0,0&amp;tib=255,255,255&amp;vtp=1&amp;hs=1&amp;hs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ba689b7c94e3b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0394" y="952055"/>
            <a:ext cx="3493008" cy="804672"/>
          </a:xfrm>
          <a:prstGeom xmlns:a="http://schemas.openxmlformats.org/drawingml/2006/main" prst="rect">
            <a:avLst/>
          </a:prstGeom>
        </p:spPr>
      </p:pic>
      <p:sp>
        <p:nvSpPr>
          <p:cNvPr id="3" name="P_5_BD#1e030ffc2?htil=5&amp;vcp=1&amp;pid=f3b076dfc&amp;color=0,0,0&amp;vtp=1&amp;bt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6CD1D8D7-167C-442A-8700-DB136DE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906335"/>
            <a:ext cx="7781544" cy="1037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名师点拨</a:t>
            </a:r>
            <a:endParaRPr sz="2400"/>
          </a:p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实验方案拓展</a:t>
            </a:r>
            <a:endParaRPr sz="2400"/>
          </a:p>
        </p:txBody>
      </p:sp>
      <p:sp>
        <p:nvSpPr>
          <p:cNvPr id="4" name="P_5_BD#1e030ffc2?vcp=1&amp;pid=f3b076dfc&amp;color=0,0,0&amp;vtp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0324402F-52CA-49D3-A1D9-E8DCD3EB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748657"/>
            <a:ext cx="11402568" cy="1033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1.工字钢底座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2.底座调节螺丝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3.定滑轮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4.光电门（连数字计时器）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5.气垫导轨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.遮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光条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7.滑块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8.缓冲弹簧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9.连气源</a:t>
            </a:r>
            <a:endParaRPr sz="2400"/>
          </a:p>
        </p:txBody>
      </p:sp>
      <p:sp>
        <p:nvSpPr>
          <p:cNvPr id="5" name="P_5_BD#1e030ffc2?htil=5&amp;vcp=1&amp;pid=f3b076dfc&amp;color=0,0,0&amp;vtp=1&amp;bt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EF4F7DE2-6989-5FB4-82B8-C9AFB49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943926"/>
            <a:ext cx="11400008" cy="279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.利用光电门测速度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如图所示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，当滑块通过光电门时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，光电门的数字计时器记录了遮光条通过光电门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的遮光时间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，而遮光条的宽度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𝑑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已知，且非常小，因此遮光时间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非常短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，所以可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认为遮光条通过光电门的瞬时速度等于其通过光电门的平均速度，也等于滑块的瞬时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，即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𝑑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7689559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_5_BD#1e030ffc2?htil=6&amp;vcp=1&amp;pid=f3b076dfc&amp;color=0,0,0&amp;tib=255,255,255&amp;vtp=1&amp;hs=1&amp;hs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a60828b2943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7332" y="1730788"/>
            <a:ext cx="2313432" cy="1883664"/>
          </a:xfrm>
          <a:prstGeom xmlns:a="http://schemas.openxmlformats.org/drawingml/2006/main" prst="rect">
            <a:avLst/>
          </a:prstGeom>
        </p:spPr>
      </p:pic>
      <p:sp>
        <p:nvSpPr>
          <p:cNvPr id="3" name="P_5_BD#1e030ffc2?htil=6&amp;vcp=1&amp;pid=f3b076dfc&amp;color=0,0,0&amp;vtp=1&amp;bt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7E68837B-8932-413C-8C57-0BEF6F94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685067"/>
            <a:ext cx="8951976" cy="2155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2.利用频闪照相法测速度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在频闪照相中会用到频闪灯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，它每隔相等时间闪光一次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，例如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每隔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0.1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闪光一次，即每秒闪光10次.当物体运动时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，利用频闪灯照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明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，照相机可以拍摄出该物体每隔相等时间所到达的位置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，如下图</a:t>
            </a:r>
            <a:endParaRPr sz="2400"/>
          </a:p>
        </p:txBody>
      </p:sp>
      <p:sp>
        <p:nvSpPr>
          <p:cNvPr id="4" name="P_5_BD#1e030ffc2?htil=6&amp;vcp=1&amp;pid=f3b076dfc&amp;color=0,0,0&amp;vtp=1&amp;bt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8862F90F-4E08-F3B6-5985-34A9FFC8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6" y="3883184"/>
            <a:ext cx="11400008" cy="111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.通过这种方法拍摄的照片称为频闪照片.根据拍摄的照片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，测量物体运动的位移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𝑥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，再根据时间间隔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Δ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计算得到物体的速度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num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num>
                    <m:den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xmlns:a="http://schemas.openxmlformats.org/drawingml/2006/main" lang="en-US" sz="2400" b="0" i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den>
                  </m:f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4011341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D989E-D1B6-4443-8388-EAB4CFB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A9971-A106-46DC-86F5-350FB06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1A955-2567-466C-BE73-59056DE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45771-4DC9-4A43-AA7F-E61EF9A9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984EF-164C-44EF-A799-D9DE264F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70C02-B399-49D1-BE09-7E1C6919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拓展实验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2AEF7-0671-44C1-9C9A-16AC7ED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位移传感器测速度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9184E-B4C2-47AD-8B55-6E5D7BD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设备探秘：传感器怎样把小车的位置变化记录到计算机中？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7D5DD-C37C-4AF9-A14F-07F8C60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6721b89ca49f1"/>
          <a:stretch xmlns:a="http://schemas.openxmlformats.org/drawingml/2006/main"/>
        </p:blipFill>
        <p:spPr>
          <a:xfrm xmlns:a="http://schemas.openxmlformats.org/drawingml/2006/main">
            <a:off x="2838450" y="1744467"/>
            <a:ext cx="6515100" cy="48073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9821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71376-F055-4AFB-9B04-CE59BC0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2B015-DB61-4863-B9D8-25019CE6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723E4-9A8A-45E6-B27F-8DFF6F79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59B73-99F3-43D3-B910-1FD3F424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12C50-D4F4-4EBA-B651-7278F316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AB65-04F6-431C-97C5-5900CC2F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拓展实验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00E23-5DDE-4157-8FB0-DEA4F243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位移传感器的工作原理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B45D0-F811-4D03-AFF2-B4C86FE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观察 P 与 Q：小车移动时，哪一段对应位移 Δx？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A2BCF-63F5-4CFC-9E59-6EE7DA02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4CF86-DCE0-47B6-A3BB-DAE2415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红外线位移传感器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30504-0D2F-476D-83F8-117AB581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超声波位移传感器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257f6cf644f83"/>
          <a:stretch xmlns:a="http://schemas.openxmlformats.org/drawingml/2006/main"/>
        </p:blipFill>
        <p:spPr>
          <a:xfrm xmlns:a="http://schemas.openxmlformats.org/drawingml/2006/main">
            <a:off x="535110" y="2095500"/>
            <a:ext cx="5292480" cy="27908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1dc4f5c974bc9"/>
          <a:stretch xmlns:a="http://schemas.openxmlformats.org/drawingml/2006/main"/>
        </p:blipFill>
        <p:spPr>
          <a:xfrm xmlns:a="http://schemas.openxmlformats.org/drawingml/2006/main">
            <a:off x="6286500" y="2098753"/>
            <a:ext cx="5295900" cy="25271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8575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C7D96-8FB5-47F5-95EB-2425C5F2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DF"/>
          </a:solidFill>
          <a:ln xmlns:a="http://schemas.openxmlformats.org/drawingml/2006/main" w="0">
            <a:solidFill>
              <a:srgbClr val="00A7D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6E104-EBAA-4A1E-BDCA-73CB8DC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79F8D-1D01-4EB9-9BCA-8F7ED259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47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FE553-C744-41CA-9192-8E2277C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3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B"/>
          </a:solidFill>
          <a:ln xmlns:a="http://schemas.openxmlformats.org/drawingml/2006/main" w="0">
            <a:solidFill>
              <a:srgbClr val="E5F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9B3B8-B9B3-4D36-8DC1-D4BC09E1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E91"/>
          </a:solidFill>
          <a:ln xmlns:a="http://schemas.openxmlformats.org/drawingml/2006/main" w="0">
            <a:solidFill>
              <a:srgbClr val="1AAE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0BB46-5E30-4D35-9B2E-7B812FCD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图像建模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FDE5C-D353-4C60-8A96-F564313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9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速度—时间图像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BC75C-7589-42CB-82B7-699995C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051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画图任务：横轴和纵轴各表示什么？先描点，再判断速度变化规律。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E9855-D8FC-418B-A491-C9935FA3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f60bb3a614ce5"/>
          <a:stretch xmlns:a="http://schemas.openxmlformats.org/drawingml/2006/main"/>
        </p:blipFill>
        <p:spPr>
          <a:xfrm xmlns:a="http://schemas.openxmlformats.org/drawingml/2006/main">
            <a:off x="2639566" y="1714500"/>
            <a:ext cx="6912868" cy="464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2921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C_4#9431d32a3?vcp=1&amp;pid=043674d11&amp;color=0,0,0&amp;tib=255,255,255&amp;vtp=1&amp;bt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f51d68c9e40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502920"/>
            <a:ext cx="11320272" cy="457200"/>
          </a:xfrm>
          <a:prstGeom xmlns:a="http://schemas.openxmlformats.org/drawingml/2006/main" prst="rect">
            <a:avLst/>
          </a:prstGeom>
        </p:spPr>
      </p:pic>
      <p:sp>
        <p:nvSpPr>
          <p:cNvPr id="3" name="C_4_BD#9431d32a3?vcp=1&amp;pid=043674d11&amp;color=255,255,255&amp;vtp=1">
            <a:extLst xmlns:a="http://schemas.openxmlformats.org/drawingml/2006/main">
              <a:ext uri="{FF2B5EF4-FFF2-40B4-BE49-F238E27FC236}">
                <a16:creationId xmlns:a16="http://schemas.microsoft.com/office/drawing/2014/main" id="{97CE6B78-791B-4E6F-96E2-06251B12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02920"/>
            <a:ext cx="3566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5</a:t>
            </a:r>
            <a:endParaRPr sz="2800"/>
          </a:p>
        </p:txBody>
      </p:sp>
      <p:sp>
        <p:nvSpPr>
          <p:cNvPr id="4" name="C_4_BD#9431d32a3?vcp=1&amp;pid=043674d11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C905D9EA-F784-4669-A2BA-0B744FB7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502920"/>
            <a:ext cx="99395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速度—时间图像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</a:t>
            </a:r>
            <a:endParaRPr sz="2600"/>
          </a:p>
        </p:txBody>
      </p:sp>
      <p:sp>
        <p:nvSpPr>
          <p:cNvPr id="5" name="P_5_BD#c347f6bbe?vcp=1&amp;pid=9431d32a3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C703F9BC-0822-4744-9CC5-BB4C908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092200"/>
            <a:ext cx="11402568" cy="1592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图像的物理意义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反映物体运动的速度随时间变化的规律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  <p:pic>
        <p:nvPicPr>
          <p:cNvPr id="12" name="P_5_BD#c347f6bbe?vcp=1&amp;pid=9431d32a3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a2f607c3c40ce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5776" y="2806700"/>
            <a:ext cx="2057400" cy="2020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7381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c347f6bbe?vcp=1&amp;pid=9431d32a3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674C8F02-FE31-4BBE-BD16-B2C911A9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691706"/>
            <a:ext cx="11402568" cy="5503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图像的应用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1）从图像能看出每一时刻对应的瞬时速度，瞬时速度为正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，说明物体沿选定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的正方向运动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，如图中的1、4、5图线；瞬时速度为负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，说明物体沿与选定的正方向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相反的方向运动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，如图中的2、3图线.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2）根据图线形状判断物体的运动性质：若图线平行于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轴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，则表示物体做匀速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运动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，如图中的1、2图线；若图线不平行于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轴，则表示物体做变速运动，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如图中的3、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4、5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图线，且倾斜程度越大，表示速度变化越快.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3）截距：纵轴截距表示初始时刻物体的瞬时速度；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横轴截距表示物体速度为0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的时刻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4）图像交点：表示两物体的瞬时速度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相同.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2516007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26_1#fad00e9fd?vcp=1&amp;pid=9431d32a3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761FE185-15AA-418B-98BE-92050925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545177"/>
            <a:ext cx="11402568" cy="1592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考题5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1E5A99"/>
                </a:solidFill>
                <a:latin typeface="KaiTi"/>
                <a:ea typeface="KaiTi"/>
                <a:cs typeface="KaiTi"/>
              </a:rPr>
              <a:t>（2026·湖北襄阳四中检测）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（多选题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）一可视为质点的物体沿东西方向的水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平线做直线运动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，取向东为正方向，其速度—时间图像如图所示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，下列说法正确的是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27_1#fad00e9fd.bracket?vcp=1&amp;pid=9431d32a3&amp;color=0,0,0&amp;vpa=11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B1C03456-A8C8-4EF1-B9CB-9519374F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60" y="2651347"/>
            <a:ext cx="661988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</a:t>
            </a:r>
            <a:endParaRPr sz="2400"/>
          </a:p>
        </p:txBody>
      </p:sp>
      <p:pic>
        <p:nvPicPr>
          <p:cNvPr id="9" name="QC_5_BD.26_2#fad00e9fd?htil=7&amp;vcp=1&amp;pid=9431d32a3&amp;color=0,0,0&amp;tib=255,255,255&amp;vtp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0b151e76a410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6995" y="3184492"/>
            <a:ext cx="3127248" cy="1911096"/>
          </a:xfrm>
          <a:prstGeom xmlns:a="http://schemas.openxmlformats.org/drawingml/2006/main" prst="rect">
            <a:avLst/>
          </a:prstGeom>
        </p:spPr>
      </p:pic>
      <p:sp>
        <p:nvSpPr>
          <p:cNvPr id="5" name="QC_5_BD.26_3#fad00e9fd.choices?htil=7&amp;vcp=1&amp;pid=9431d32a3&amp;color=0,0,0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341E6105-BAB7-4288-ADBC-E1BF6F0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138772"/>
            <a:ext cx="8138160" cy="215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8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末，物体的速度大小为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6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，方向向西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2∼4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内，物体处于静止状态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6∼7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内，物体速度方向向西，做加速运动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10∼12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内，物体速度方向向东，做加速运动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78013066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AS.28_1#fad00e9fd?vcp=1&amp;pid=9431d32a3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32B393F0-19CE-47DE-B1A1-CEAE785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086705"/>
            <a:ext cx="11402568" cy="2713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由题图知，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𝟖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末，物体的速度为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，则速度大小为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方向向西，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选项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A正确；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𝟒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内，物体做匀速直线运动，速度不为0，选项B错误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；向东为正方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向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内，物体的速度为负值，且绝对值在增大，可知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𝟔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𝟕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，物体速度方向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向西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，做加速运动，选项C正确；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内，物体的速度为负值，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且绝对值在减小，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则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𝟏𝟎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∼</m:t>
                  </m:r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𝟏𝟐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内，物体速度方向向西，做减速运动，选项D错误.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9970656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C_5_BD.29_1#821495581?vcp=1&amp;pid=9431d32a3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BCD9633C-79D7-45E7-B5C3-7F29734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026255"/>
            <a:ext cx="11402568" cy="1033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变式5-1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（多选题）做直线运动的物体的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图像如图所示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，下列判断正确的是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30_1#821495581.bracket?vcp=1&amp;pid=9431d32a3&amp;color=0,0,0&amp;vpa=12&amp;vtp=1&amp;bbb=1">
            <a:extLst xmlns:a="http://schemas.openxmlformats.org/drawingml/2006/main">
              <a:ext uri="{FF2B5EF4-FFF2-40B4-BE49-F238E27FC236}">
                <a16:creationId xmlns:a16="http://schemas.microsoft.com/office/drawing/2014/main" id="{93956769-8701-4E7F-A442-E23022BE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0" y="1573625"/>
            <a:ext cx="865188" cy="47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BCD</a:t>
            </a:r>
            <a:endParaRPr sz="2400"/>
          </a:p>
        </p:txBody>
      </p:sp>
      <p:pic>
        <p:nvPicPr>
          <p:cNvPr id="10" name="QC_5_BD.29_2#821495581?htil=8&amp;vcp=1&amp;pid=9431d32a3&amp;color=0,0,0&amp;tib=255,255,255&amp;vtp=1&amp;hs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2d4f2ad4c405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7062" y="2117184"/>
            <a:ext cx="2441448" cy="1938528"/>
          </a:xfrm>
          <a:prstGeom xmlns:a="http://schemas.openxmlformats.org/drawingml/2006/main" prst="rect">
            <a:avLst/>
          </a:prstGeom>
        </p:spPr>
      </p:pic>
      <p:sp>
        <p:nvSpPr>
          <p:cNvPr id="5" name="QC_5_BD.29_3#821495581.choices?htil=8&amp;vcp=1&amp;pid=9431d32a3&amp;color=0,0,0&amp;vtp=1&amp;bbb=1&amp;hs=1">
            <a:extLst xmlns:a="http://schemas.openxmlformats.org/drawingml/2006/main">
              <a:ext uri="{FF2B5EF4-FFF2-40B4-BE49-F238E27FC236}">
                <a16:creationId xmlns:a16="http://schemas.microsoft.com/office/drawing/2014/main" id="{FC073295-B02B-412B-8C57-2409267F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071465"/>
            <a:ext cx="8823960" cy="21583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A.物体在第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1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末改变运动方向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.物体在前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3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内运动方向不变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.物体在第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3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末运动方向改变</a:t>
            </a:r>
            <a:endParaRPr sz="2400"/>
          </a:p>
          <a:p xmlns:a="http://schemas.openxmlformats.org/drawingml/2006/main">
            <a:pPr>
              <a:lnSpc>
                <a:spcPts val="43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.物体在第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末的速度大小为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2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m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/>
          </a:p>
        </p:txBody>
      </p:sp>
      <p:sp>
        <p:nvSpPr>
          <p:cNvPr id="6" name="QC_5_AS.31_1#821495581?vcp=1&amp;pid=9431d32a3&amp;color=0,0,0&amp;vtp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3702B391-6BAF-445E-B3A7-29B2163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205064"/>
            <a:ext cx="11402568" cy="159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[解析]</a:t>
            </a:r>
            <a:r>
              <a:rPr sz="2400" b="1" i="0">
                <a:solidFill>
                  <a:srgbClr val="FF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前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内物体的速度方向均为正方向，运动方向没有改变，选项A错误，B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正确；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由题图可知物体在第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𝟑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末后速度为负，说明物体改变了运动方向，选项C正确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；从题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图中可以看出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，物体在第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末的速度大小为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𝟐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𝐦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/</m:t>
                  </m:r>
                  <m:r>
                    <a:rPr xmlns:a="http://schemas.openxmlformats.org/drawingml/2006/main" lang="en-US" sz="2400" b="1" i="0">
                      <a:solidFill>
                        <a:srgbClr val="FF0000"/>
                      </a:solidFill>
                      <a:latin typeface="Cambria Math"/>
                      <a:ea typeface="Cambria Math"/>
                      <a:cs typeface="Cambria Math"/>
                    </a:rPr>
                    <m:t>𝐬</m:t>
                  </m:r>
                </m:oMath>
              </m:oMathPara>
            </a14:m>
            <a:r>
              <a:rPr sz="100" b="1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，选项D正确.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044532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f49838d58?vcp=1&amp;pid=9431d32a3&amp;color=0,0,0&amp;vtp=1&amp;bt=1&amp;bbb=1&amp;hb=1">
            <a:extLst xmlns:a="http://schemas.openxmlformats.org/drawingml/2006/main">
              <a:ext uri="{FF2B5EF4-FFF2-40B4-BE49-F238E27FC236}">
                <a16:creationId xmlns:a16="http://schemas.microsoft.com/office/drawing/2014/main" id="{DFA16D25-44E4-4AE8-94ED-88248B49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715867"/>
            <a:ext cx="11402568" cy="2713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名师点拨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.确定坐标系横轴、纵轴的单位长度时，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要根据数据的最大值及最小值合理选取，</a:t>
            </a:r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使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图像能充满坐标系大部分空间.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.在坐标中根据测量的实验数据描点.如果有些点难以落在曲线上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，应该使它们大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致均匀地分布在曲线两侧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  <p:pic>
        <p:nvPicPr>
          <p:cNvPr id="8" name="P_5_BD#f49838d58?htil=9&amp;vcp=1&amp;pid=9431d32a3&amp;color=0,0,0&amp;tib=255,255,255&amp;vtp=1&amp;hs=1&amp;hs=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c120f8c4e4b7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73337" y="3515136"/>
            <a:ext cx="2194560" cy="1527048"/>
          </a:xfrm>
          <a:prstGeom xmlns:a="http://schemas.openxmlformats.org/drawingml/2006/main" prst="rect">
            <a:avLst/>
          </a:prstGeom>
        </p:spPr>
      </p:pic>
      <p:sp>
        <p:nvSpPr>
          <p:cNvPr id="4" name="P_5_BD#f49838d58?htil=9&amp;vcp=1&amp;pid=9431d32a3&amp;color=0,0,0&amp;vtp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574956F0-A658-4617-99F4-8DF609B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3460273"/>
            <a:ext cx="9070848" cy="1592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拓展延伸</a:t>
            </a:r>
            <a:endParaRPr sz="2400"/>
          </a:p>
          <a:p xmlns:a="http://schemas.openxmlformats.org/drawingml/2006/main"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根据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图像求位移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物体在某段时间内的位移可以用其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图线与时间轴所夹的面</a:t>
            </a:r>
            <a:endParaRPr sz="2400"/>
          </a:p>
        </p:txBody>
      </p:sp>
      <p:sp>
        <p:nvSpPr>
          <p:cNvPr id="5" name="P_5_BD#f49838d58?htil=9&amp;vcp=1&amp;pid=9431d32a3&amp;color=0,0,0&amp;vtp=1&amp;bbb=1&amp;hb=1&amp;hs=1">
            <a:extLst xmlns:a="http://schemas.openxmlformats.org/drawingml/2006/main">
              <a:ext uri="{FF2B5EF4-FFF2-40B4-BE49-F238E27FC236}">
                <a16:creationId xmlns:a16="http://schemas.microsoft.com/office/drawing/2014/main" id="{750902D2-FCF8-AFDB-5D4A-6CBEB19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5052663"/>
            <a:ext cx="11400008" cy="103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积来表示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（如图中阴影所示）,若包围面积在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轴上面,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对应正向位移；若包围面积在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轴</a:t>
            </a:r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下面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,则对应负向位移（第二章会再学习）.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9597242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_5_BD#f49838d58?vcp=1&amp;pid=9431d32a3&amp;color=0,0,0&amp;vtp=1&amp;bt=1&amp;bbb=1">
            <a:extLst xmlns:a="http://schemas.openxmlformats.org/drawingml/2006/main">
              <a:ext uri="{FF2B5EF4-FFF2-40B4-BE49-F238E27FC236}">
                <a16:creationId xmlns:a16="http://schemas.microsoft.com/office/drawing/2014/main" id="{D2337DA9-BF18-4229-BF62-7959437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2063305"/>
            <a:ext cx="11402568" cy="2709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名师点拨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图像只能用来描述直线运动.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图像描述的是速度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𝑣</m:t>
                  </m:r>
                </m:oMath>
              </m:oMathPara>
            </a14:m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随时间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0" i="0">
                      <a:solidFill>
                        <a:srgbClr val="000000"/>
                      </a:solidFill>
                      <a:latin typeface="Cambria Math"/>
                      <a:ea typeface="Cambria Math"/>
                      <a:cs typeface="Cambria Math"/>
                    </a:rPr>
                    <m:t>𝑡</m:t>
                  </m:r>
                </m:oMath>
              </m:oMathPara>
            </a14:m>
            <a:r>
              <a:rPr sz="100" b="0" i="0" kern="0" spc="-99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的变化情况，而不是物体的运动轨迹.</a:t>
            </a:r>
            <a:endParaRPr sz="2400"/>
          </a:p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.图线上某点切线的斜率大小表示物体加速度（下一讲将学到）大小.</a:t>
            </a:r>
            <a:endParaRPr sz="2400"/>
          </a:p>
          <a:p xmlns:a="http://schemas.openxmlformats.org/drawingml/2006/main"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.图线上某点切线斜率的正负表示物体加速度的方向.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52512510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0A30A-65C4-4786-B8AD-2790D0B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</p:spTree>
    <p:extLst>
      <p:ext uri="{BB962C8B-B14F-4D97-AF65-F5344CB8AC3E}">
        <p14:creationId xmlns:p14="http://schemas.microsoft.com/office/powerpoint/2010/main" val="487586797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2026-09-08T05:02:04.8970000Z</dcterms:created>
  <dcterms:modified xsi:type="dcterms:W3CDTF">2026-09-08T05:02:04.8970000Z</dcterms:modified>
</coreProperties>
</file>