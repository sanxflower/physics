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2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165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20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16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3231679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第10讲 摩擦力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323167933.fixed?vcp=1&amp;pid=46eb467af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323167933.fixed?vcp=1&amp;pid=46eb467af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第10讲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摩擦力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323167933?lid=cc54cf3b6&amp;cid=cc54cf3b6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323167933?lid=cd3bd4c02&amp;cid=cd3bd4c02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cc54cf3b6?vcp=1&amp;pid=323167933&amp;color=0,112,192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004a51dfb?colgroup=16,5,12&amp;vcp=1&amp;pid=cc54cf3b6&amp;color=0,0,0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388488"/>
              </p:ext>
            </p:extLst>
          </p:nvPr>
        </p:nvGraphicFramePr>
        <p:xfrm>
          <a:off x="393192" y="1181100"/>
          <a:ext cx="11384280" cy="2395093"/>
        </p:xfrm>
        <a:graphic>
          <a:graphicData uri="http://schemas.openxmlformats.org/drawingml/2006/table">
            <a:tbl>
              <a:tblPr/>
              <a:tblGrid>
                <a:gridCol w="5312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5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748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1.滑动摩擦力.（★★）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 hangingPunct="0">
                        <a:lnSpc>
                          <a:spcPct val="150000"/>
                        </a:lnSpc>
                      </a:pPr>
                      <a:endParaRPr lang="en-US" altLang="zh-CN" sz="900" spc="0" dirty="0"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2.静摩擦力.（★★）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85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3.动摩擦因数的测量.（★）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科学探究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_4_BD#004a51dfb.table_image?tii=1&amp;vcp=1&amp;pid=cc54cf3b6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2490" y="1762823"/>
            <a:ext cx="3019701" cy="1796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cd3bd4c02?vcp=1&amp;pid=323167933&amp;color=0,112,192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4727448" cy="548640"/>
          </a:xfrm>
          <a:prstGeom prst="rect">
            <a:avLst/>
          </a:prstGeom>
        </p:spPr>
      </p:pic>
      <p:pic>
        <p:nvPicPr>
          <p:cNvPr id="3" name="C_4#161be4739?vcp=1&amp;pid=cd3bd4c02&amp;color=0,0,0&amp;tib=255,255,25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181100"/>
            <a:ext cx="11356848" cy="457200"/>
          </a:xfrm>
          <a:prstGeom prst="rect">
            <a:avLst/>
          </a:prstGeom>
        </p:spPr>
      </p:pic>
      <p:sp>
        <p:nvSpPr>
          <p:cNvPr id="4" name="C_4_BD#161be4739?vcp=1&amp;pid=cd3bd4c02&amp;color=255,255,255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161be4739?vcp=1&amp;pid=cd3bd4c02&amp;color=0,0,0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摩擦力产生的条件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p:sp>
        <p:nvSpPr>
          <p:cNvPr id="6" name="P_5_BD#7dc63c535?vcp=1&amp;pid=161be4739&amp;color=0,0,0&amp;bbb=1&amp;hb=1"/>
          <p:cNvSpPr/>
          <p:nvPr/>
        </p:nvSpPr>
        <p:spPr>
          <a:xfrm>
            <a:off x="393192" y="1778000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.摩擦力的定义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两个相互接触的物体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，当它们发生相对运动或具有相对运动的趋势时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，就会在接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触面上产生一种阻碍相对运动或相对运动趋势的力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，这种力叫作摩擦力.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7dc63c535?vcp=1&amp;pid=161be4739&amp;color=0,0,0&amp;bt=1&amp;bbb=1&amp;hb=1"/>
          <p:cNvSpPr/>
          <p:nvPr/>
        </p:nvSpPr>
        <p:spPr>
          <a:xfrm>
            <a:off x="393192" y="1508315"/>
            <a:ext cx="11402568" cy="382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2.摩擦力产生的条件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摩擦力可分为两种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，一种是滑动摩擦力（物体间发生相对滑动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），另一种是静摩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擦力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（物体间相对静止但有相对运动的趋势）.产生摩擦力的条件为：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1）两物体直接接触.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2）两接触面不光滑（粗糙）.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3）两接触的物体必须相互挤压，发生弹性形变，有弹力产生.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4）两物体间发生了相对滑动或者有相对运动的趋势.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_1#7d61073a2?vcp=1&amp;pid=161be4739&amp;color=0,0,0&amp;bt=1&amp;bbb=1"/>
          <p:cNvSpPr/>
          <p:nvPr/>
        </p:nvSpPr>
        <p:spPr>
          <a:xfrm>
            <a:off x="393192" y="96393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_1#7d61073a2.bracket?vcp=1&amp;pid=161be4739&amp;color=0,0,0&amp;vpa=1&amp;bbb=1"/>
          <p:cNvSpPr/>
          <p:nvPr/>
        </p:nvSpPr>
        <p:spPr>
          <a:xfrm>
            <a:off x="5554949" y="962026"/>
            <a:ext cx="66198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sp>
        <p:nvSpPr>
          <p:cNvPr id="4" name="QC_5_BD.1_2#7d61073a2.choices?vcp=1&amp;pid=161be4739&amp;color=0,0,0&amp;bbb=1"/>
          <p:cNvSpPr/>
          <p:nvPr/>
        </p:nvSpPr>
        <p:spPr>
          <a:xfrm>
            <a:off x="393192" y="15123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A.如果两物体之间存在摩擦力，则两物体之间一定有弹力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.运动的物体一定不受静摩擦力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.存在相对运动趋势两物体间一定存在摩擦力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.发生相对运动的两物体间可能不存在摩擦力</a:t>
            </a:r>
            <a:endParaRPr lang="en-US" altLang="zh-CN" sz="2400" dirty="0"/>
          </a:p>
        </p:txBody>
      </p:sp>
      <p:sp>
        <p:nvSpPr>
          <p:cNvPr id="5" name="QC_5_AS.3_1#7d61073a2?vcp=1&amp;pid=161be4739&amp;color=0,0,0&amp;bbb=1&amp;hb=1"/>
          <p:cNvSpPr/>
          <p:nvPr/>
        </p:nvSpPr>
        <p:spPr>
          <a:xfrm>
            <a:off x="393192" y="3718114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产生摩擦力的条件是接触面粗糙，两物体相互接触并挤压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，且有相对运动或相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对运动的趋势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，如果两物体间存在摩擦力，则两物体之间一定有弹力，A正确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；静摩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擦力与物体是否运动没有直接关系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，B错误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；存在相对运动趋势或发生相对运动的两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物体间不一定存在摩擦力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，C错误，D正确.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4_1#c90641078?vcp=1&amp;pid=161be4739&amp;color=0,0,0&amp;bt=1&amp;bbb=1"/>
          <p:cNvSpPr/>
          <p:nvPr/>
        </p:nvSpPr>
        <p:spPr>
          <a:xfrm>
            <a:off x="393192" y="96393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（多选题）关于弹力和摩擦力，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5_1#c90641078.bracket?vcp=1&amp;pid=161be4739&amp;color=0,0,0&amp;vpa=2&amp;bbb=1"/>
          <p:cNvSpPr/>
          <p:nvPr/>
        </p:nvSpPr>
        <p:spPr>
          <a:xfrm>
            <a:off x="8514048" y="962026"/>
            <a:ext cx="882650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ACD</a:t>
            </a:r>
            <a:endParaRPr lang="en-US" altLang="zh-CN" sz="2400" dirty="0"/>
          </a:p>
        </p:txBody>
      </p:sp>
      <p:sp>
        <p:nvSpPr>
          <p:cNvPr id="4" name="QC_5_BD.4_2#c90641078.choices?vcp=1&amp;pid=161be4739&amp;color=0,0,0&amp;bbb=1"/>
          <p:cNvSpPr/>
          <p:nvPr/>
        </p:nvSpPr>
        <p:spPr>
          <a:xfrm>
            <a:off x="393192" y="15123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A.有摩擦力的接触面上一定有弹力，且摩擦力的方向总是跟支持力的方向垂直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.有弹力的接触面上一定有摩擦力，摩擦力大小跟支持力大小成正比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.摩擦力的方向可能与物体的运动方向相同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.摩擦力的方向与物体间相对运动或相对运动趋势方向相反</a:t>
            </a:r>
            <a:endParaRPr lang="en-US" altLang="zh-CN" sz="2400" dirty="0"/>
          </a:p>
        </p:txBody>
      </p:sp>
      <p:sp>
        <p:nvSpPr>
          <p:cNvPr id="5" name="QC_5_AS.6_1#c90641078?vcp=1&amp;pid=161be4739&amp;color=0,0,0&amp;bbb=1&amp;hb=1"/>
          <p:cNvSpPr/>
          <p:nvPr/>
        </p:nvSpPr>
        <p:spPr>
          <a:xfrm>
            <a:off x="393192" y="3718114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有摩擦力的接触面上一定有弹力，摩擦力方向与接触面相切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，与接触面上的支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持力垂直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，与两物体相对运动或相对运动趋势方向相反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，与物体的运动方向没有直接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联系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，滑动摩擦力的大小与支持力大小成正比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，静摩擦力的大小不一定与支持力的大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小成正比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，A、C、D正确.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8c905f37?vcp=1&amp;pid=161be4739&amp;color=0,0,0&amp;bt=1&amp;bbb=1&amp;hb=1"/>
          <p:cNvSpPr/>
          <p:nvPr/>
        </p:nvSpPr>
        <p:spPr>
          <a:xfrm>
            <a:off x="393192" y="504000"/>
            <a:ext cx="11402568" cy="578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.摩擦力不一定是阻力，也可以充当动力.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.摩擦力的方向不能说成与运动方向（或运动趋势方向）相反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，而是与相对运动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（或相对运动趋势方向）相反.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拓展延伸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一个物体在另一个物体表面上滚动时会产生滚动摩擦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；当压力相同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、接触面的粗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糙程度相同时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，滚动摩擦力比滑动摩擦力小很多.中学物理一般不考虑滚动摩擦力.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.接触不一定有摩擦，但是有摩擦一定接触.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.相对运动不一定有摩擦（未接触），有摩擦不一定相对运动（静摩擦力）.</a:t>
            </a:r>
            <a:endParaRPr lang="en-US" altLang="zh-CN" sz="2400" dirty="0"/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.有弹力不一定有摩擦力，有摩擦力一定有弹力.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1a5146884?vcp=1&amp;pid=cd3bd4c02&amp;color=0,0,0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11356848" cy="457200"/>
          </a:xfrm>
          <a:prstGeom prst="rect">
            <a:avLst/>
          </a:prstGeom>
        </p:spPr>
      </p:pic>
      <p:sp>
        <p:nvSpPr>
          <p:cNvPr id="3" name="C_4_BD#1a5146884?vcp=1&amp;pid=cd3bd4c02&amp;color=255,255,255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1a5146884?vcp=1&amp;pid=cd3bd4c02&amp;color=0,0,0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滑动摩擦力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_BD#9c763cb4c?vcp=1&amp;pid=1a5146884&amp;color=0,0,0&amp;bbb=1"/>
          <p:cNvSpPr/>
          <p:nvPr/>
        </p:nvSpPr>
        <p:spPr>
          <a:xfrm>
            <a:off x="393192" y="1092200"/>
            <a:ext cx="11402568" cy="488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P_5_BD#9c763cb4c?colgroup=10,25&amp;vcp=1&amp;pid=1a5146884&amp;color=0,0,0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8182189"/>
                  </p:ext>
                </p:extLst>
              </p:nvPr>
            </p:nvGraphicFramePr>
            <p:xfrm>
              <a:off x="393192" y="1712595"/>
              <a:ext cx="11393424" cy="2963355"/>
            </p:xfrm>
            <a:graphic>
              <a:graphicData uri="http://schemas.openxmlformats.org/drawingml/2006/table">
                <a:tbl>
                  <a:tblPr/>
                  <a:tblGrid>
                    <a:gridCol w="33375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558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7415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一个物体在另一个物体表面滑动时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受到的另一个物体阻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碍它相对滑动的力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,这种力叫作滑动摩擦力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产生条件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必要条件）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①接触面粗糙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②接触处有弹力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③两物体间有相对滑动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N</m:t>
                                  </m:r>
                                </m:sub>
                              </m:sSub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(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为动摩擦因数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N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为正压力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沿接触面与受力物体相对运动的方向相反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作用效果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总是阻碍物体间的相对运动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P_5_BD#9c763cb4c?colgroup=10,25&amp;vcp=1&amp;pid=1a5146884&amp;color=0,0,0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8182189"/>
                  </p:ext>
                </p:extLst>
              </p:nvPr>
            </p:nvGraphicFramePr>
            <p:xfrm>
              <a:off x="393192" y="1712595"/>
              <a:ext cx="11393424" cy="2963355"/>
            </p:xfrm>
            <a:graphic>
              <a:graphicData uri="http://schemas.openxmlformats.org/drawingml/2006/table">
                <a:tbl>
                  <a:tblPr/>
                  <a:tblGrid>
                    <a:gridCol w="33375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0558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97415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一个物体在另一个物体表面滑动时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受到的另一个物体阻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碍它相对滑动的力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,这种力叫作滑动摩擦力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产生条件</a:t>
                          </a:r>
                          <a:r>
                            <a:rPr lang="en-US" altLang="zh-CN" sz="2400" b="1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必要条件）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①接触面粗糙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②接触处有弹力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③两物体间有相对滑动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528" t="-300000" r="-151" b="-2308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沿接触面与受力物体相对运动的方向相反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作用效果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总是阻碍物体间的相对运动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O_5_BD.7_1#c961c303d?htil=1&amp;vcp=1&amp;pid=1a5146884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57685" y="773049"/>
            <a:ext cx="2286000" cy="1325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5_BD.7_2#c961c303d?htil=1&amp;vcp=1&amp;pid=1a5146884&amp;color=0,0,0&amp;bt=1&amp;bbb=1&amp;hb=1&amp;hs=1"/>
              <p:cNvSpPr/>
              <p:nvPr/>
            </p:nvSpPr>
            <p:spPr>
              <a:xfrm>
                <a:off x="393192" y="727329"/>
                <a:ext cx="9015984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与地面间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的动摩擦因数相同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用细绳系在竖直墙面上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，当水平力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=32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时，才能将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匀速拉出.求：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5_BD.7_2#c961c303d?htil=1&amp;vcp=1&amp;pid=1a5146884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27329"/>
                <a:ext cx="9015984" cy="1596200"/>
              </a:xfrm>
              <a:prstGeom prst="rect">
                <a:avLst/>
              </a:prstGeom>
              <a:blipFill>
                <a:blip r:embed="rId4"/>
                <a:stretch>
                  <a:fillRect l="-2096" r="-1014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QO_5_BD.7_3#c961c303d?vcp=1&amp;pid=1a5146884&amp;color=0,0,0&amp;bbb=1&amp;hs=1"/>
              <p:cNvSpPr/>
              <p:nvPr/>
            </p:nvSpPr>
            <p:spPr>
              <a:xfrm>
                <a:off x="393192" y="2314639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（1）接触面间的动摩擦因数.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的摩擦力的大小和方向.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3）物体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所受地面的摩擦力的大小和方向.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O_5_BD.7_3#c961c303d?vcp=1&amp;pid=1a5146884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14639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O_5_AS.8_1#c961c303d?vcp=1&amp;pid=1a5146884&amp;color=0,0,0&amp;bbb=1&amp;hb=1"/>
              <p:cNvSpPr/>
              <p:nvPr/>
            </p:nvSpPr>
            <p:spPr>
              <a:xfrm>
                <a:off x="393192" y="3902139"/>
                <a:ext cx="11402568" cy="218186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根据滑动摩擦力总是阻碍物体间的相对运动，知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的滑动摩擦力向左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的滑动摩擦力也向左，其大小分别为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地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②,且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𝑮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④,由于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匀速抽出，有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地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⑤.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联立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①②③④⑤式，解得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地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O_5_AS.8_1#c961c303d?vcp=1&amp;pid=1a5146884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02139"/>
                <a:ext cx="11402568" cy="2181860"/>
              </a:xfrm>
              <a:prstGeom prst="rect">
                <a:avLst/>
              </a:prstGeom>
              <a:blipFill>
                <a:blip r:embed="rId6"/>
                <a:stretch>
                  <a:fillRect l="-1658" r="-428" b="-810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9_1#c7185a65a?vcp=1&amp;pid=1a5146884&amp;color=0,0,0&amp;bt=1&amp;bbb=1&amp;hb=1"/>
              <p:cNvSpPr/>
              <p:nvPr/>
            </p:nvSpPr>
            <p:spPr>
              <a:xfrm>
                <a:off x="393192" y="127466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如图所示，在动摩擦因数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的水平面上有一向右运动的物体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，质量为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,在运动过程中，还受到一个水平向左的大小为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的拉力作用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，则物体受到的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滑动摩擦力为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取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9_1#c7185a65a?vcp=1&amp;pid=1a5146884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7466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10_1#c7185a65a.bracket?vcp=1&amp;pid=1a5146884&amp;color=0,0,0&amp;vpa=3"/>
          <p:cNvSpPr/>
          <p:nvPr/>
        </p:nvSpPr>
        <p:spPr>
          <a:xfrm>
            <a:off x="4275867" y="238083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9_2#c7185a65a?vcp=1&amp;pid=1a5146884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10912" y="2995263"/>
            <a:ext cx="217627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9_3#c7185a65a.choices?vcp=1&amp;pid=1a5146884&amp;color=0,0,0&amp;bbb=1"/>
              <p:cNvSpPr/>
              <p:nvPr/>
            </p:nvSpPr>
            <p:spPr>
              <a:xfrm>
                <a:off x="393192" y="4049363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802377" algn="l"/>
                    <a:tab pos="5807954" algn="l"/>
                    <a:tab pos="85849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,向右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，向左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,向右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，向左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9_3#c7185a65a.choices?vcp=1&amp;pid=1a5146884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49363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11_1#c7185a65a?vcp=1&amp;pid=1a5146884&amp;color=0,0,0&amp;bbb=1&amp;hb=1"/>
              <p:cNvSpPr/>
              <p:nvPr/>
            </p:nvSpPr>
            <p:spPr>
              <a:xfrm>
                <a:off x="393192" y="4542758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物体受滑动摩擦力，其大小为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𝐍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方向与相对运动方向相反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，即方向向左.故D正确.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11_1#c7185a65a?vcp=1&amp;pid=1a5146884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42758"/>
                <a:ext cx="11402568" cy="1037400"/>
              </a:xfrm>
              <a:prstGeom prst="rect">
                <a:avLst/>
              </a:prstGeom>
              <a:blipFill>
                <a:blip r:embed="rId6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P_5_BD#74785944e?vcp=1&amp;pid=1a5146884&amp;color=0,0,0&amp;bt=1&amp;bbb=1&amp;hb=1"/>
              <p:cNvSpPr/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对滑动摩擦力的理解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.“相对运动方向”指的是滑动摩擦力的受力物体相对于施力物体的运动方向.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.“与相对运动方向相反”不能等同于“与运动方向相反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”,滑动摩擦力的方向可能与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运动方向相同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、相反,还可能成任意角度.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.滑动摩擦力可以作动力,也可以作阻力.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.滑动摩擦力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,只跟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有关,跟外力和相对运动的速度大小无关.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.动摩擦因数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是两个力的比值,没有单位,是标量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.它的数值跟相互接触的两个物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体的材料有关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，还跟接触面的粗糙程度有关，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与接触面的面积无关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，与物体间是否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发生相对运动以及运动速度都无关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是正压力,即垂直于接触面的压力,与重力没有必然的联系.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P_5_BD#74785944e?vcp=1&amp;pid=1a5146884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blipFill>
                <a:blip r:embed="rId3"/>
                <a:stretch>
                  <a:fillRect l="-1658" r="-749" b="-32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d19414959?vcp=1&amp;pid=cd3bd4c02&amp;color=0,0,0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11356848" cy="457200"/>
          </a:xfrm>
          <a:prstGeom prst="rect">
            <a:avLst/>
          </a:prstGeom>
        </p:spPr>
      </p:pic>
      <p:sp>
        <p:nvSpPr>
          <p:cNvPr id="3" name="C_4_BD#d19414959?vcp=1&amp;pid=cd3bd4c02&amp;color=255,255,255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d19414959?vcp=1&amp;pid=cd3bd4c02&amp;color=0,0,0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静摩擦力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_BD#43ab4501d?vcp=1&amp;pid=d19414959&amp;color=0,0,0&amp;bbb=1"/>
          <p:cNvSpPr/>
          <p:nvPr/>
        </p:nvSpPr>
        <p:spPr>
          <a:xfrm>
            <a:off x="393192" y="1092200"/>
            <a:ext cx="11402568" cy="42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6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P_5_BD#43ab4501d?colgroup=6,29&amp;vcp=1&amp;pid=d19414959&amp;color=0,0,0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8222846"/>
                  </p:ext>
                </p:extLst>
              </p:nvPr>
            </p:nvGraphicFramePr>
            <p:xfrm>
              <a:off x="393192" y="1651000"/>
              <a:ext cx="11393424" cy="4752150"/>
            </p:xfrm>
            <a:graphic>
              <a:graphicData uri="http://schemas.openxmlformats.org/drawingml/2006/table">
                <a:tbl>
                  <a:tblPr/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903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51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两个相互接触的物体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在接触面上产生的阻碍相对运动趋势的力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42340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产生条件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（必要条件）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①接触面粗糙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②接触处有弹力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③两物体间有相对运动趋势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仍保持相对静止）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50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①静摩擦力为被动力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与正压力无关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满足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0&lt;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𝐹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max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endParaRPr lang="en-US" altLang="zh-CN" sz="1200" spc="-100" dirty="0"/>
                        </a:p>
                        <a:p>
                          <a:pPr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最大静摩擦力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max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大小与正压力大小成正比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51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沿接触面与受力物体相对运动趋势的方向相反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51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作用效果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总是阻碍物体间的相对运动趋势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3993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静摩擦力的大小随外力的变化而变化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必须结合物体的运动状态和受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力情况来确定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.最大静摩擦力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max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是物体刚要发生相对运动时所受的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静摩擦力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,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max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略大于滑动摩擦力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f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但通常认为二者相等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P_5_BD#43ab4501d?colgroup=6,29&amp;vcp=1&amp;pid=d19414959&amp;color=0,0,0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8222846"/>
                  </p:ext>
                </p:extLst>
              </p:nvPr>
            </p:nvGraphicFramePr>
            <p:xfrm>
              <a:off x="393192" y="1651000"/>
              <a:ext cx="11393424" cy="4752150"/>
            </p:xfrm>
            <a:graphic>
              <a:graphicData uri="http://schemas.openxmlformats.org/drawingml/2006/table">
                <a:tbl>
                  <a:tblPr/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2903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851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定义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两个相互接触的物体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在接触面上产生的阻碍相对运动趋势的力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42340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产生条件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（必要条件）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①接触面粗糙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②接触处有弹力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③两物体间有相对运动趋势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（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仍保持相对静止）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50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大小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689" t="-150955" r="-131" b="-2624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851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方向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沿接触面与受力物体相对运动趋势的方向相反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8514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作用效果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总是阻碍物体间的相对运动趋势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399350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689" t="-240435" r="-131" b="-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>
    <p:split dir="in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BD.12_1#40b48d49c?vcp=1&amp;pid=d19414959&amp;color=0,0,0&amp;bt=1&amp;bbb=1&amp;hb=1"/>
              <p:cNvSpPr/>
              <p:nvPr/>
            </p:nvSpPr>
            <p:spPr>
              <a:xfrm>
                <a:off x="393192" y="504000"/>
                <a:ext cx="11402568" cy="15358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的物体放在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的粗糙水平面上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，用一条质量不计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的细绳绕过定滑轮和一只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的小桶相连.已知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与水平面间的最大静摩擦力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=4.5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，滑轮的摩擦不计，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𝑔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,求在以下情况中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受到的摩擦力的大小.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BD.12_1#40b48d49c?vcp=1&amp;pid=d19414959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535875"/>
              </a:xfrm>
              <a:prstGeom prst="rect">
                <a:avLst/>
              </a:prstGeom>
              <a:blipFill>
                <a:blip r:embed="rId3"/>
                <a:stretch>
                  <a:fillRect l="-1658" r="-909" b="-1150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BD.12_2#40b48d49c?vcp=1&amp;pid=d19414959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56632" y="2172653"/>
            <a:ext cx="2075688" cy="94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QO_6_BD.13_1#423b0b69e?vcp=1&amp;pid=40b48d49c&amp;color=0,0,0&amp;bbb=1"/>
              <p:cNvSpPr/>
              <p:nvPr/>
            </p:nvSpPr>
            <p:spPr>
              <a:xfrm>
                <a:off x="393192" y="3252153"/>
                <a:ext cx="11402568" cy="4690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（1）只挂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，物体处于静止状态时.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QO_6_BD.13_1#423b0b69e?vcp=1&amp;pid=40b48d49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52153"/>
                <a:ext cx="11402568" cy="469075"/>
              </a:xfrm>
              <a:prstGeom prst="rect">
                <a:avLst/>
              </a:prstGeom>
              <a:blipFill>
                <a:blip r:embed="rId5"/>
                <a:stretch>
                  <a:fillRect l="-1658" b="-3896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QO_6_AS.14_1#423b0b69e?vcp=1&amp;pid=40b48d49c&amp;color=0,0,0&amp;bbb=1"/>
              <p:cNvSpPr/>
              <p:nvPr/>
            </p:nvSpPr>
            <p:spPr>
              <a:xfrm>
                <a:off x="393192" y="3727514"/>
                <a:ext cx="11402568" cy="1002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处于静止状态，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所以受静摩擦力作用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，由二力平衡得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O_6_AS.14_1#423b0b69e?vcp=1&amp;pid=40b48d49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7514"/>
                <a:ext cx="11402568" cy="1002475"/>
              </a:xfrm>
              <a:prstGeom prst="rect">
                <a:avLst/>
              </a:prstGeom>
              <a:blipFill>
                <a:blip r:embed="rId6"/>
                <a:stretch>
                  <a:fillRect l="-1658" b="-181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O_6_BD.15_1#0397036ef?vcp=1&amp;pid=40b48d49c&amp;color=0,0,0&amp;bbb=1"/>
              <p:cNvSpPr/>
              <p:nvPr/>
            </p:nvSpPr>
            <p:spPr>
              <a:xfrm>
                <a:off x="393192" y="4795266"/>
                <a:ext cx="11402568" cy="4690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（2）只挂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,但在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上再放一个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的物体时.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O_6_BD.15_1#0397036ef?vcp=1&amp;pid=40b48d49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95266"/>
                <a:ext cx="11402568" cy="469075"/>
              </a:xfrm>
              <a:prstGeom prst="rect">
                <a:avLst/>
              </a:prstGeom>
              <a:blipFill>
                <a:blip r:embed="rId7"/>
                <a:stretch>
                  <a:fillRect l="-1658" b="-376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QO_6_AS.16_1#0397036ef?vcp=1&amp;pid=40b48d49c&amp;color=0,0,0&amp;bbb=1"/>
              <p:cNvSpPr/>
              <p:nvPr/>
            </p:nvSpPr>
            <p:spPr>
              <a:xfrm>
                <a:off x="393192" y="5265484"/>
                <a:ext cx="11402568" cy="10024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上再放一个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𝐤𝐠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仍静止，</a:t>
                </a:r>
                <a:endParaRPr lang="en-US" altLang="zh-CN" sz="2400" dirty="0"/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故受静摩擦力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QO_6_AS.16_1#0397036ef?vcp=1&amp;pid=40b48d49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265484"/>
                <a:ext cx="11402568" cy="1002475"/>
              </a:xfrm>
              <a:prstGeom prst="rect">
                <a:avLst/>
              </a:prstGeom>
              <a:blipFill>
                <a:blip r:embed="rId8"/>
                <a:stretch>
                  <a:fillRect l="-1658" b="-182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6_BD.17_1#885aad295?vcp=1&amp;pid=40b48d49c&amp;color=0,0,0&amp;bt=1&amp;bbb=1"/>
              <p:cNvSpPr/>
              <p:nvPr/>
            </p:nvSpPr>
            <p:spPr>
              <a:xfrm>
                <a:off x="393192" y="2652617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（3）只在桶内加入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=0.33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的沙子时.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6_BD.17_1#885aad295?vcp=1&amp;pid=40b48d49c&amp;color=0,0,0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52617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QO_6_AS.18_1#885aad295?vcp=1&amp;pid=40b48d49c&amp;color=0,0,0&amp;bbb=1"/>
              <p:cNvSpPr/>
              <p:nvPr/>
            </p:nvSpPr>
            <p:spPr>
              <a:xfrm>
                <a:off x="393192" y="3152108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处于静止状态，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所受静摩擦力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QO_6_AS.18_1#885aad295?vcp=1&amp;pid=40b48d49c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52108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19_1#9aca60340?vcp=1&amp;pid=d19414959&amp;color=0,0,0&amp;bt=1&amp;bbb=1&amp;hb=1"/>
              <p:cNvSpPr/>
              <p:nvPr/>
            </p:nvSpPr>
            <p:spPr>
              <a:xfrm>
                <a:off x="393192" y="1738916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如图所示，一质量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=0.20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kg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的物体，在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两水平力作用下静止在粗糙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的水平面上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.物体与水平面间的最大静摩擦力为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不可能是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19_1#9aca60340?vcp=1&amp;pid=d19414959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38916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35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0_1#9aca60340.bracket?vcp=1&amp;pid=d19414959&amp;color=0,0,0&amp;vpa=4"/>
          <p:cNvSpPr/>
          <p:nvPr/>
        </p:nvSpPr>
        <p:spPr>
          <a:xfrm>
            <a:off x="625760" y="2845086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5_BD.19_2#9aca60340?vcp=1&amp;pid=d19414959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37760" y="3459512"/>
            <a:ext cx="2322576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19_3#9aca60340.choices?vcp=1&amp;pid=d19414959&amp;color=0,0,0&amp;bbb=1"/>
              <p:cNvSpPr/>
              <p:nvPr/>
            </p:nvSpPr>
            <p:spPr>
              <a:xfrm>
                <a:off x="393192" y="4094512"/>
                <a:ext cx="11402568" cy="4773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916677" algn="l"/>
                    <a:tab pos="5807954" algn="l"/>
                    <a:tab pos="86992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19_3#9aca60340.choices?vcp=1&amp;pid=d19414959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94512"/>
                <a:ext cx="11402568" cy="477330"/>
              </a:xfrm>
              <a:prstGeom prst="rect">
                <a:avLst/>
              </a:prstGeom>
              <a:blipFill>
                <a:blip r:embed="rId5"/>
                <a:stretch>
                  <a:fillRect l="-165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21_1#9aca60340?vcp=1&amp;pid=d19414959&amp;color=0,0,0&amp;bbb=1"/>
              <p:cNvSpPr/>
              <p:nvPr/>
            </p:nvSpPr>
            <p:spPr>
              <a:xfrm>
                <a:off x="393192" y="4631150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由题意可知，拉力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最大可为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，最小可为0，故D不可能.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21_1#9aca60340?vcp=1&amp;pid=d19414959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31150"/>
                <a:ext cx="11402568" cy="484124"/>
              </a:xfrm>
              <a:prstGeom prst="rect">
                <a:avLst/>
              </a:prstGeom>
              <a:blipFill>
                <a:blip r:embed="rId6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C_5_BD.22_1#fea6baf88?vcp=1&amp;pid=d19414959&amp;color=0,0,0&amp;bt=1&amp;bbb=1&amp;hb=1"/>
              <p:cNvSpPr/>
              <p:nvPr/>
            </p:nvSpPr>
            <p:spPr>
              <a:xfrm>
                <a:off x="393192" y="50400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如图所示为某新型夹砖机,它能用两支巨大的“手臂”将几吨砖夹起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,大大提高了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工作效率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.已知该新型夹砖机能夹起质量为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的砖,两支“手臂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”对砖产生的最大压力为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（设最大静摩擦力等于滑动摩擦力），则“手臂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”与砖之间的动摩擦因数至少为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C_5_BD.22_1#fea6baf88?vcp=1&amp;pid=d19414959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123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23_1#fea6baf88.bracket?vcp=1&amp;pid=d19414959&amp;color=0,0,0&amp;vpa=5"/>
          <p:cNvSpPr/>
          <p:nvPr/>
        </p:nvSpPr>
        <p:spPr>
          <a:xfrm>
            <a:off x="638460" y="2168970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5_BD.22_2#fea6baf88?vcp=1&amp;pid=d19414959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10328" y="2770695"/>
            <a:ext cx="2368296" cy="1472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C_5_BD.22_3#fea6baf88.choices?vcp=1&amp;pid=d19414959&amp;color=0,0,0&amp;bbb=1"/>
              <p:cNvSpPr/>
              <p:nvPr/>
            </p:nvSpPr>
            <p:spPr>
              <a:xfrm>
                <a:off x="393192" y="4370895"/>
                <a:ext cx="11402568" cy="78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  <a:tabLst>
                    <a:tab pos="2888102" algn="l"/>
                    <a:tab pos="5877804" algn="l"/>
                    <a:tab pos="87278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C_5_BD.22_3#fea6baf88.choices?vcp=1&amp;pid=d19414959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370895"/>
                <a:ext cx="11402568" cy="787400"/>
              </a:xfrm>
              <a:prstGeom prst="rect">
                <a:avLst/>
              </a:prstGeom>
              <a:blipFill>
                <a:blip r:embed="rId5"/>
                <a:stretch>
                  <a:fillRect l="-1658" b="-77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QC_5_AS.24_1#fea6baf88?vcp=1&amp;pid=d19414959&amp;color=0,0,0&amp;bbb=1&amp;hb=1"/>
              <p:cNvSpPr/>
              <p:nvPr/>
            </p:nvSpPr>
            <p:spPr>
              <a:xfrm>
                <a:off x="393192" y="5158295"/>
                <a:ext cx="11402568" cy="11557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对砖进行受力分析，根据平衡条件得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𝐟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𝐦𝐚𝐱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,解得</a:t>
                </a:r>
              </a:p>
              <a:p>
                <a:pPr latinLnBrk="1">
                  <a:lnSpc>
                    <a:spcPts val="47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𝐦𝐚𝐱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,故B正确.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" name="QC_5_AS.24_1#fea6baf88?vcp=1&amp;pid=d19414959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158295"/>
                <a:ext cx="11402568" cy="1155700"/>
              </a:xfrm>
              <a:prstGeom prst="rect">
                <a:avLst/>
              </a:prstGeom>
              <a:blipFill>
                <a:blip r:embed="rId6"/>
                <a:stretch>
                  <a:fillRect l="-1658" b="-52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0bcad1dc?vcp=1&amp;pid=d19414959&amp;color=0,0,0&amp;bt=1&amp;bbb=1&amp;hb=1"/>
          <p:cNvSpPr/>
          <p:nvPr/>
        </p:nvSpPr>
        <p:spPr>
          <a:xfrm>
            <a:off x="393192" y="504000"/>
            <a:ext cx="11402568" cy="5803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.静摩擦力产生的三个条件必须同时具备，缺一不可.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有静摩擦力就一定有弹力；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反之则未必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.对“相对”二字的理解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静摩擦力和滑动摩擦力中的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“静”和“动”都是相对的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，指的是相互接触的物体之间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的相对静止和相对运动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，而不是物体相对地面的静止和运动.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1）有静摩擦力作用的两个物体是“相对”静止的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，但相对于其他物体来说并不一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定静止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，所以受到静摩擦力作用的物体并不一定静止，也有可能是运动的.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2）存在滑动摩擦力作用的两物体间有“相对”运动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，但并不意味着这两个物体相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对于其他物体都是运动的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，所以受到滑动摩擦力作用的物体不一定运动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.例如擦黑板时</a:t>
            </a:r>
          </a:p>
          <a:p>
            <a:pPr latinLnBrk="1">
              <a:lnSpc>
                <a:spcPts val="41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静止的黑板受到的是板擦对它的滑动摩擦力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0bcad1dc?vcp=1&amp;pid=d19414959&amp;color=0,0,0&amp;bt=1&amp;bbb=1&amp;hb=1"/>
          <p:cNvSpPr/>
          <p:nvPr/>
        </p:nvSpPr>
        <p:spPr>
          <a:xfrm>
            <a:off x="393192" y="1238345"/>
            <a:ext cx="11402568" cy="439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方法梳理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静摩擦力方向的判断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.状态法：当物体受力且处于平衡状态时，根据平衡条件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，判断出静摩擦力的大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小与方向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.力的作用效果法：相互接触的物体间存在静摩擦力时，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必有相应的作用效果，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或平衡其他作用力或改变受力物体的运动状态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.可利用作用效果确定静摩擦力的方向.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.力的相互性：若甲、乙两物体间有静摩擦力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，并且能判断出甲对乙的静摩擦力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的方向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，则乙对甲的静摩擦力的方向与甲对乙的静摩擦力的方向相反.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20bcad1dc?vcp=1&amp;pid=d19414959&amp;color=0,0,0&amp;bt=1&amp;bbb=1&amp;hb=1"/>
          <p:cNvSpPr/>
          <p:nvPr/>
        </p:nvSpPr>
        <p:spPr>
          <a:xfrm>
            <a:off x="393192" y="178698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有关摩擦力的注意事项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.不论物体是静止还是运动，都可能受静摩擦力或滑动摩擦力作用.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.摩擦力并不总是阻碍物体的运动，它既可作动力，又可作阻力.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.摩擦力的方向可以与物体的运动方向相反，也可以与运动方向相同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，甚至可能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与运动方向不在同一直线上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603ddc97a?vcp=1&amp;pid=cd3bd4c02&amp;color=0,0,0&amp;tib=255,255,255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11356848" cy="457200"/>
          </a:xfrm>
          <a:prstGeom prst="rect">
            <a:avLst/>
          </a:prstGeom>
        </p:spPr>
      </p:pic>
      <p:sp>
        <p:nvSpPr>
          <p:cNvPr id="3" name="C_4_BD#603ddc97a?vcp=1&amp;pid=cd3bd4c02&amp;color=255,255,255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603ddc97a?vcp=1&amp;pid=cd3bd4c02&amp;color=0,0,0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动摩擦因数的测定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e67362651?vcp=1&amp;pid=603ddc97a&amp;color=0,0,0&amp;bbb=1"/>
              <p:cNvSpPr/>
              <p:nvPr/>
            </p:nvSpPr>
            <p:spPr>
              <a:xfrm>
                <a:off x="393192" y="1092200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.利用砝码和弹簧测力计测定；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.用弹簧测力计匀速拉动铁块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测定；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.用外力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拉动木板测定.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e67362651?vcp=1&amp;pid=603ddc97a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2150999"/>
              </a:xfrm>
              <a:prstGeom prst="rect">
                <a:avLst/>
              </a:prstGeom>
              <a:blipFill>
                <a:blip r:embed="rId4"/>
                <a:stretch>
                  <a:fillRect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O_5_BD.25_1#d9bb47abf?vcp=1&amp;pid=603ddc97a&amp;color=0,0,0&amp;bbb=1&amp;hb=1"/>
          <p:cNvSpPr/>
          <p:nvPr/>
        </p:nvSpPr>
        <p:spPr>
          <a:xfrm>
            <a:off x="393192" y="3225800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考题4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（2026·湖北荆州中学检测）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给你一把直尺、一根橡皮筋、细线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、一个木块和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一块长木板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,请设计一个实验测定木块和长木板间的动摩擦因数（要求原理简单）.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AS.26_1#d9bb47abf?vcp=1&amp;pid=603ddc97a&amp;color=0,0,0&amp;bt=1&amp;bbb=1&amp;hb=1"/>
              <p:cNvSpPr/>
              <p:nvPr/>
            </p:nvSpPr>
            <p:spPr>
              <a:xfrm>
                <a:off x="393192" y="504000"/>
                <a:ext cx="11402568" cy="17359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实验原理:二力平衡.</a:t>
                </a:r>
                <a:endParaRPr lang="en-US" altLang="zh-CN" sz="2400" dirty="0"/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实验方法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:（1）将橡皮筋的两端拴上两条细线,并用直尺测出橡皮筋的原长为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2）将橡皮筋的一端与木块连接,另一端竖直悬挂起来,如图甲所示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,测出此时橡皮筋的</a:t>
                </a:r>
              </a:p>
              <a:p>
                <a:pPr latinLnBrk="1">
                  <a:lnSpc>
                    <a:spcPts val="3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AS.26_1#d9bb47abf?vcp=1&amp;pid=603ddc97a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735900"/>
              </a:xfrm>
              <a:prstGeom prst="rect">
                <a:avLst/>
              </a:prstGeom>
              <a:blipFill>
                <a:blip r:embed="rId3"/>
                <a:stretch>
                  <a:fillRect l="-1658" t="-3169" r="-1283" b="-105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AS.26_3#d9bb47abf?iti=1&amp;htil=1&amp;vcp=1&amp;pid=603ddc97a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54096" y="2374583"/>
            <a:ext cx="384048" cy="94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QO_5_AS.26_4#d9bb47abf?iti=2&amp;htil=1&amp;vcp=1&amp;pid=603ddc97a&amp;color=0,0,0&amp;tib=255,255,255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99832" y="2438591"/>
            <a:ext cx="2286000" cy="87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O_5_AS.26_5#d9bb47abf?iti=1&amp;htil=1&amp;vcp=1&amp;pid=603ddc97a&amp;color=0,0,0"/>
          <p:cNvSpPr/>
          <p:nvPr/>
        </p:nvSpPr>
        <p:spPr>
          <a:xfrm>
            <a:off x="3059589" y="3443415"/>
            <a:ext cx="373062" cy="41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21000"/>
              </a:lnSpc>
            </a:pPr>
            <a:r>
              <a:rPr lang="en-US" altLang="zh-CN" sz="2400" b="0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甲</a:t>
            </a:r>
            <a:endParaRPr lang="en-US" altLang="zh-CN" sz="2400" dirty="0"/>
          </a:p>
        </p:txBody>
      </p:sp>
      <p:sp>
        <p:nvSpPr>
          <p:cNvPr id="6" name="QO_5_AS.26_6#d9bb47abf?iti=2&amp;htil=1&amp;vcp=1&amp;pid=603ddc97a&amp;color=0,0,0"/>
          <p:cNvSpPr/>
          <p:nvPr/>
        </p:nvSpPr>
        <p:spPr>
          <a:xfrm>
            <a:off x="8756300" y="3443415"/>
            <a:ext cx="373062" cy="41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latinLnBrk="1">
              <a:lnSpc>
                <a:spcPct val="121000"/>
              </a:lnSpc>
            </a:pPr>
            <a:r>
              <a:rPr lang="en-US" altLang="zh-CN" sz="2400" b="0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乙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QO_5_AS.26_7#d9bb47abf?vcp=1&amp;pid=603ddc97a&amp;color=0,0,0&amp;bbb=1&amp;hb=1"/>
              <p:cNvSpPr/>
              <p:nvPr/>
            </p:nvSpPr>
            <p:spPr>
              <a:xfrm>
                <a:off x="393192" y="3892360"/>
                <a:ext cx="11402568" cy="235134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（3）将橡皮筋的一端固定于竖直墙上,将木块放在长木板上,如图乙所示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,用水平力使长</a:t>
                </a:r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木板在木块下滑动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,测出此时橡皮筋的长度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3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4）根据二力平衡原理,得</a:t>
                </a:r>
                <a:endParaRPr lang="en-US" altLang="zh-CN" sz="2400" dirty="0"/>
              </a:p>
              <a:p>
                <a:pPr algn="ctr" latinLnBrk="1">
                  <a:lnSpc>
                    <a:spcPts val="3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由此可得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𝒍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7" name="QO_5_AS.26_7#d9bb47abf?vcp=1&amp;pid=603ddc97a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92360"/>
                <a:ext cx="11402568" cy="2351342"/>
              </a:xfrm>
              <a:prstGeom prst="rect">
                <a:avLst/>
              </a:prstGeom>
              <a:blipFill>
                <a:blip r:embed="rId6"/>
                <a:stretch>
                  <a:fillRect l="-1658" t="-2338" r="-1283" b="-259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5" grpId="0" build="p" animBg="1"/>
      <p:bldP spid="6" grpId="0" build="p" animBg="1"/>
      <p:bldP spid="7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QO_5_EX.27_1#d9bb47abf?vcp=1&amp;pid=603ddc97a&amp;color=0,0,0&amp;bt=1&amp;bbb=1"/>
              <p:cNvSpPr/>
              <p:nvPr/>
            </p:nvSpPr>
            <p:spPr>
              <a:xfrm>
                <a:off x="393192" y="2114137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900" b="0" i="0" kern="0">
                    <a:solidFill>
                      <a:srgbClr val="FFFFFF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还可以利用斜面借助平衡法测定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值.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2" name="QO_5_EX.27_1#d9bb47abf?vcp=1&amp;pid=603ddc97a&amp;color=0,0,0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14137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EX.27_1#d9bb47abf?vcp=1&amp;pid=603ddc97a&amp;color=0,0,0&amp;tib=255,255,255&amp;ii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6253" y="2236375"/>
            <a:ext cx="621792" cy="310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QO_5_EX.27_2#d9bb47abf?htil=3&amp;vcp=1&amp;pid=603ddc97a&amp;color=0,0,0&amp;tib=255,255,255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78087" y="2651728"/>
            <a:ext cx="1865376" cy="122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QO_5_EX.27_3#d9bb47abf?htil=3&amp;vcp=1&amp;pid=603ddc97a&amp;color=0,0,0&amp;bbb=1&amp;hb=1"/>
              <p:cNvSpPr/>
              <p:nvPr/>
            </p:nvSpPr>
            <p:spPr>
              <a:xfrm>
                <a:off x="393192" y="2606008"/>
                <a:ext cx="9445752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如图所示，当物块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沿倾角为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的斜面匀速下滑时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（将在第13讲中学习），此时必有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.其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中测定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的方法之一是查数学用表直接获得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；方法二是测量斜面的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高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与底边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L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即可.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QO_5_EX.27_3#d9bb47abf?htil=3&amp;vcp=1&amp;pid=603ddc97a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06008"/>
                <a:ext cx="9445752" cy="2155000"/>
              </a:xfrm>
              <a:prstGeom prst="rect">
                <a:avLst/>
              </a:prstGeom>
              <a:blipFill>
                <a:blip r:embed="rId6"/>
                <a:stretch>
                  <a:fillRect l="-2001" r="-1033" b="-84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5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O_5_BD.28_1#8e957902a?vcp=1&amp;pid=603ddc97a&amp;color=0,0,0&amp;bt=1&amp;bbb=1"/>
          <p:cNvSpPr/>
          <p:nvPr/>
        </p:nvSpPr>
        <p:spPr>
          <a:xfrm>
            <a:off x="393192" y="167182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变式4-1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如图是“测量滑动摩擦力大小”的实验装置示意图.</a:t>
            </a:r>
            <a:endParaRPr lang="en-US" altLang="zh-CN" sz="2400" dirty="0"/>
          </a:p>
        </p:txBody>
      </p:sp>
      <p:pic>
        <p:nvPicPr>
          <p:cNvPr id="3" name="QO_5_BD.28_2#8e957902a?vcp=1&amp;pid=603ddc97a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1136" y="2285619"/>
            <a:ext cx="7726680" cy="289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B_6_BD.29_1#d2b0a32cf?vcp=1&amp;pid=8e957902a&amp;color=0,0,0&amp;bt=1&amp;bbb=1&amp;hb=1"/>
          <p:cNvSpPr/>
          <p:nvPr/>
        </p:nvSpPr>
        <p:spPr>
          <a:xfrm>
            <a:off x="393192" y="735617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（1）图甲中，将木板固定，水平拉动木块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，木块受到的滑动摩擦力与其受到的水平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拉力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大小相等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；图乙中，水平拉动木板，待测力计示数稳定后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，木块受到的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滑动摩擦力与其受到的水平拉力</a:t>
            </a:r>
            <a:r>
              <a:rPr lang="en-US" altLang="zh-CN" sz="240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______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大小相等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.（以上两空均填“一定”或“不一定”）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3" name="QB_6_AN.30_1#d2b0a32cf.blank?vcp=1&amp;pid=8e957902a&amp;color=0,0,0&amp;vpa=6&amp;bbb=1"/>
          <p:cNvSpPr/>
          <p:nvPr/>
        </p:nvSpPr>
        <p:spPr>
          <a:xfrm>
            <a:off x="1019460" y="1266476"/>
            <a:ext cx="1135063" cy="49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不一定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4" name="QB_6_AN.31_1#d2b0a32cf.blank?vcp=1&amp;pid=8e957902a&amp;color=0,0,0&amp;vpa=7&amp;bbb=1"/>
          <p:cNvSpPr/>
          <p:nvPr/>
        </p:nvSpPr>
        <p:spPr>
          <a:xfrm>
            <a:off x="4677060" y="1803686"/>
            <a:ext cx="830263" cy="47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一定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5" name="QB_6_AS.32_1#d2b0a32cf?vcp=1&amp;pid=8e957902a&amp;color=0,0,0&amp;bbb=1&amp;hb=1"/>
          <p:cNvSpPr/>
          <p:nvPr/>
        </p:nvSpPr>
        <p:spPr>
          <a:xfrm>
            <a:off x="393192" y="2391822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题图甲中用测力计水平拉动木块，木块水平方向受到两个力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，即滑动摩擦力与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拉力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.由于没有明确木块做匀速直线运动，则滑动摩擦力与拉力可能相等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，也可能不相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等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.题图乙中木块在水平方向只受两个力，且木块静止，所以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,木块受到的滑动摩擦力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与其受到的水平向左的推力一定相等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QB_6_BD.33_1#bcc0f8e84?vcp=1&amp;pid=8e957902a&amp;color=0,0,0&amp;bbb=1&amp;hb=1"/>
              <p:cNvSpPr/>
              <p:nvPr/>
            </p:nvSpPr>
            <p:spPr>
              <a:xfrm>
                <a:off x="393192" y="4539011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（2）图丙中，水平拉动木板，待测力计示数稳定后，测力计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的示数为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4.0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,测力计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的示数为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2.5</m:t>
                    </m:r>
                    <m:r>
                      <m:rPr>
                        <m:nor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,木块受到的滑动摩擦力大小为</a:t>
                </a:r>
                <a:r>
                  <a:rPr lang="en-US" altLang="zh-CN" sz="240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_____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QB_6_BD.33_1#bcc0f8e84?vcp=1&amp;pid=8e957902a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39011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r="-535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QB_6_AN.34_1#bcc0f8e84.blank?vcp=1&amp;pid=8e957902a&amp;color=0,0,0&amp;vpa=8&amp;bbb=1"/>
              <p:cNvSpPr/>
              <p:nvPr/>
            </p:nvSpPr>
            <p:spPr>
              <a:xfrm>
                <a:off x="6398704" y="5158072"/>
                <a:ext cx="633413" cy="35344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dirty="0"/>
              </a:p>
            </p:txBody>
          </p:sp>
        </mc:Choice>
        <mc:Fallback xmlns="">
          <p:sp>
            <p:nvSpPr>
              <p:cNvPr id="7" name="QB_6_AN.34_1#bcc0f8e84.blank?vcp=1&amp;pid=8e957902a&amp;color=0,0,0&amp;vpa=8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704" y="5158072"/>
                <a:ext cx="633413" cy="353441"/>
              </a:xfrm>
              <a:prstGeom prst="rect">
                <a:avLst/>
              </a:prstGeom>
              <a:blipFill>
                <a:blip r:embed="rId4"/>
                <a:stretch>
                  <a:fillRect l="-4808" r="-4808" b="-1379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QB_6_AS.35_1#bcc0f8e84?vcp=1&amp;pid=8e957902a&amp;color=0,0,0&amp;bbb=1"/>
              <p:cNvSpPr/>
              <p:nvPr/>
            </p:nvSpPr>
            <p:spPr>
              <a:xfrm>
                <a:off x="393192" y="5635084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根据木块受到二力平衡知，木块受到的滑动摩擦力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QB_6_AS.35_1#bcc0f8e84?vcp=1&amp;pid=8e957902a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635084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5" grpId="0" build="p" animBg="1"/>
      <p:bldP spid="7" grpId="0" build="p" animBg="1"/>
      <p:bldP spid="8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71af3b339?htil=4&amp;vcp=1&amp;pid=603ddc97a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23961" y="844994"/>
            <a:ext cx="2953973" cy="213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71af3b339?htil=4&amp;vcp=1&amp;pid=603ddc97a&amp;color=0,0,0&amp;bt=1&amp;bbb=1&amp;hb=1&amp;hs=1"/>
              <p:cNvSpPr/>
              <p:nvPr/>
            </p:nvSpPr>
            <p:spPr>
              <a:xfrm>
                <a:off x="393192" y="857694"/>
                <a:ext cx="833018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难点突破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几种方案均是借助平衡法进行测定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.基本原理解读如下：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.如图甲所示，向砝码盘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内放入砝码，使铁块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恰能在水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上向左匀速滑动.利用弹簧测力计测出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包括砝码）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71af3b339?htil=4&amp;vcp=1&amp;pid=603ddc97a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57694"/>
                <a:ext cx="8330184" cy="2155000"/>
              </a:xfrm>
              <a:prstGeom prst="rect">
                <a:avLst/>
              </a:prstGeom>
              <a:blipFill>
                <a:blip r:embed="rId4"/>
                <a:stretch>
                  <a:fillRect l="-2269" r="-5490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_5_BD#71af3b339?htil=5&amp;vcp=1&amp;pid=603ddc97a&amp;color=0,0,0&amp;tib=255,255,255&amp;hs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25128" y="3835908"/>
            <a:ext cx="2779776" cy="1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P_5_BD#71af3b339?htil=5&amp;vcp=1&amp;pid=603ddc97a&amp;color=0,0,0&amp;bbb=1&amp;hb=1"/>
              <p:cNvSpPr/>
              <p:nvPr/>
            </p:nvSpPr>
            <p:spPr>
              <a:xfrm>
                <a:off x="393192" y="3781044"/>
                <a:ext cx="8531352" cy="22186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2.如图乙所示，用手通过弹簧测力计向右匀速拉铁块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出此时弹簧测力计的示数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,测出铁块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，由二力平衡可</a:t>
                </a:r>
              </a:p>
              <a:p>
                <a:pPr latinLnBrk="1">
                  <a:lnSpc>
                    <a:spcPts val="49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.（缺点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：实际操作中很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难保证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匀速运动）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5" name="P_5_BD#71af3b339?htil=5&amp;vcp=1&amp;pid=603ddc97a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81044"/>
                <a:ext cx="8531352" cy="2218690"/>
              </a:xfrm>
              <a:prstGeom prst="rect">
                <a:avLst/>
              </a:prstGeom>
              <a:blipFill>
                <a:blip r:embed="rId6"/>
                <a:stretch>
                  <a:fillRect l="-2216" r="-1644" b="-82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_5_BD#71af3b339?htil=4&amp;vcp=1&amp;pid=603ddc97a&amp;color=0,0,0&amp;bt=1&amp;bbb=1&amp;hb=1&amp;hs=1">
                <a:extLst>
                  <a:ext uri="{FF2B5EF4-FFF2-40B4-BE49-F238E27FC236}">
                    <a16:creationId xmlns:a16="http://schemas.microsoft.com/office/drawing/2014/main" id="{2CACA074-5D25-17AE-FB49-F08E12083807}"/>
                  </a:ext>
                </a:extLst>
              </p:cNvPr>
              <p:cNvSpPr/>
              <p:nvPr/>
            </p:nvSpPr>
            <p:spPr>
              <a:xfrm>
                <a:off x="393192" y="2993644"/>
                <a:ext cx="11400008" cy="78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6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到的重力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所受的滑动摩擦力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0" spc="-5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间的动摩擦因数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spc="-5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f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pc="-5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N</m:t>
                            </m:r>
                          </m:sub>
                        </m:sSub>
                      </m:den>
                    </m:f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spc="-5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spc="-5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spc="-50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400" b="0" i="0" spc="-5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𝑃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spc="-50" dirty="0"/>
              </a:p>
            </p:txBody>
          </p:sp>
        </mc:Choice>
        <mc:Fallback xmlns="">
          <p:sp>
            <p:nvSpPr>
              <p:cNvPr id="6" name="P_5_BD#71af3b339?htil=4&amp;vcp=1&amp;pid=603ddc97a&amp;color=0,0,0&amp;bt=1&amp;bbb=1&amp;hb=1&amp;hs=1">
                <a:extLst>
                  <a:ext uri="{FF2B5EF4-FFF2-40B4-BE49-F238E27FC236}">
                    <a16:creationId xmlns:a16="http://schemas.microsoft.com/office/drawing/2014/main" id="{2CACA074-5D25-17AE-FB49-F08E12083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93644"/>
                <a:ext cx="11400008" cy="787400"/>
              </a:xfrm>
              <a:prstGeom prst="rect">
                <a:avLst/>
              </a:prstGeom>
              <a:blipFill>
                <a:blip r:embed="rId7"/>
                <a:stretch>
                  <a:fillRect l="-1658" r="-1016" b="-77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71af3b339?htil=6&amp;vcp=1&amp;pid=603ddc97a&amp;color=0,0,0&amp;tib=255,255,255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55623" y="2069592"/>
            <a:ext cx="3246120" cy="170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P_5_BD#71af3b339?htil=6&amp;vcp=1&amp;pid=603ddc97a&amp;color=0,0,0&amp;bt=1&amp;bbb=1&amp;hb=1&amp;hs=1"/>
              <p:cNvSpPr/>
              <p:nvPr/>
            </p:nvSpPr>
            <p:spPr>
              <a:xfrm>
                <a:off x="393192" y="2023872"/>
                <a:ext cx="8055864" cy="1765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3.如图丙所示，在水平力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作用下，木板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右滑动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，读出弹簧测力计的示数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示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aseline="-10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示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,再用弹簧测</a:t>
                </a:r>
              </a:p>
              <a:p>
                <a:pPr latinLnBrk="1">
                  <a:lnSpc>
                    <a:spcPts val="5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力计测出木块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受到的重力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𝐺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，即可由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f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N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aseline="-10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求出动摩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P_5_BD#71af3b339?htil=6&amp;vcp=1&amp;pid=603ddc97a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23872"/>
                <a:ext cx="8055864" cy="1765300"/>
              </a:xfrm>
              <a:prstGeom prst="rect">
                <a:avLst/>
              </a:prstGeom>
              <a:blipFill>
                <a:blip r:embed="rId4"/>
                <a:stretch>
                  <a:fillRect l="-2347" r="-1211" b="-310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_5_BD#71af3b339?htil=6&amp;vcp=1&amp;pid=603ddc97a&amp;color=0,0,0&amp;bt=1&amp;bbb=1&amp;hb=1&amp;hs=1">
                <a:extLst>
                  <a:ext uri="{FF2B5EF4-FFF2-40B4-BE49-F238E27FC236}">
                    <a16:creationId xmlns:a16="http://schemas.microsoft.com/office/drawing/2014/main" id="{BB6BD0DD-715A-276E-902B-39F4C11CA71F}"/>
                  </a:ext>
                </a:extLst>
              </p:cNvPr>
              <p:cNvSpPr/>
              <p:nvPr/>
            </p:nvSpPr>
            <p:spPr>
              <a:xfrm>
                <a:off x="393192" y="3795268"/>
                <a:ext cx="11400008" cy="10375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擦因数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𝜇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.（优点：此方案不要求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做匀速直线运动，只要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沿直线滑动即可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切实可行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P_5_BD#71af3b339?htil=6&amp;vcp=1&amp;pid=603ddc97a&amp;color=0,0,0&amp;bt=1&amp;bbb=1&amp;hb=1&amp;hs=1">
                <a:extLst>
                  <a:ext uri="{FF2B5EF4-FFF2-40B4-BE49-F238E27FC236}">
                    <a16:creationId xmlns:a16="http://schemas.microsoft.com/office/drawing/2014/main" id="{BB6BD0DD-715A-276E-902B-39F4C11CA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95268"/>
                <a:ext cx="11400008" cy="1037590"/>
              </a:xfrm>
              <a:prstGeom prst="rect">
                <a:avLst/>
              </a:prstGeom>
              <a:blipFill>
                <a:blip r:embed="rId5"/>
                <a:stretch>
                  <a:fillRect l="-1658" r="-1337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&amp;si=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1519</Words>
  <Application>Microsoft Office PowerPoint</Application>
  <PresentationFormat>宽屏</PresentationFormat>
  <Paragraphs>251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3</cp:revision>
  <dcterms:created xsi:type="dcterms:W3CDTF">2026-05-25T07:03:21Z</dcterms:created>
  <dcterms:modified xsi:type="dcterms:W3CDTF">2026-05-25T08:32:52Z</dcterms:modified>
  <cp:category/>
  <cp:contentStatus/>
</cp:coreProperties>
</file>