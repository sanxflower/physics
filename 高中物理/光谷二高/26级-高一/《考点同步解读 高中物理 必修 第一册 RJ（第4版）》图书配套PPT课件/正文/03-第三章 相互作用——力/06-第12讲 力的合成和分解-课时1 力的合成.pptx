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11"/>
    <p:restoredTop sz="94610"/>
  </p:normalViewPr>
  <p:slideViewPr>
    <p:cSldViewPr snapToGrid="0" snapToObjects="1">
      <p:cViewPr varScale="1">
        <p:scale>
          <a:sx n="114" d="100"/>
          <a:sy n="114" d="100"/>
        </p:scale>
        <p:origin x="234" y="108"/>
      </p:cViewPr>
      <p:guideLst/>
    </p:cSldViewPr>
  </p:slideViewPr>
  <p:notesTextViewPr>
    <p:cViewPr>
      <p:scale>
        <a:sx n="1" d="1"/>
        <a:sy n="1" d="1"/>
      </p:scale>
      <p:origin x="0" y="0"/>
    </p:cViewPr>
  </p:notesTextViewPr>
  <p:sorterViewPr>
    <p:cViewPr>
      <p:scale>
        <a:sx n="170" d="100"/>
        <a:sy n="170" d="100"/>
      </p:scale>
      <p:origin x="0" y="-165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1514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9b2d2ba91f04ee84#tid=6a13c063a54e5c3696ff3982#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4681728" y="54864"/>
            <a:ext cx="7196328"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df=b941c3c07">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课时1 力的合成</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5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59.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1#目录1:7275a4f91?lid=b7aca7b9b&amp;cid=b7aca7b9b&amp;vtp=1&amp;bt=1&amp;bbb=1">
            <a:hlinkClick r:id="rId3" action="ppaction://hlinksldjump"/>
          </p:cNvPr>
          <p:cNvSpPr/>
          <p:nvPr/>
        </p:nvSpPr>
        <p:spPr>
          <a:xfrm>
            <a:off x="5577840" y="2587752"/>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高考要求</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学业标准·考情分析</a:t>
            </a:r>
            <a:endParaRPr lang="en-US" altLang="zh-CN" sz="3200" dirty="0"/>
          </a:p>
        </p:txBody>
      </p:sp>
      <p:sp>
        <p:nvSpPr>
          <p:cNvPr id="3" name="C_1#目录1:7275a4f91?lid=09eab9a21&amp;cid=09eab9a21&amp;vtp=1&amp;bbb=1">
            <a:hlinkClick r:id="rId4" action="ppaction://hlinksldjump"/>
          </p:cNvPr>
          <p:cNvSpPr/>
          <p:nvPr/>
        </p:nvSpPr>
        <p:spPr>
          <a:xfrm>
            <a:off x="5577840" y="3419856"/>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考点分类</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考点透析·典例剖析</a:t>
            </a:r>
            <a:endParaRPr lang="en-US" altLang="zh-CN" sz="32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3#b941c3c07.fixed?vcp=1&amp;pid=7275a4f91&amp;color=0,112,192&amp;vtp=1&amp;bbb=1"/>
          <p:cNvSpPr/>
          <p:nvPr/>
        </p:nvSpPr>
        <p:spPr>
          <a:xfrm>
            <a:off x="0" y="1801368"/>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第三章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相互作用——力</a:t>
            </a:r>
            <a:endParaRPr lang="en-US" altLang="zh-CN" sz="4800" dirty="0"/>
          </a:p>
        </p:txBody>
      </p:sp>
      <p:sp>
        <p:nvSpPr>
          <p:cNvPr id="3" name="C_3#b941c3c07.fixed?vcp=1&amp;pid=7275a4f91&amp;color=0,0,0&amp;vtp=1&amp;bbb=1"/>
          <p:cNvSpPr/>
          <p:nvPr/>
        </p:nvSpPr>
        <p:spPr>
          <a:xfrm>
            <a:off x="265176" y="3063240"/>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第12讲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力的合成和分解</a:t>
            </a:r>
            <a:endParaRPr lang="en-US" altLang="zh-CN" sz="4400" dirty="0"/>
          </a:p>
        </p:txBody>
      </p:sp>
      <p:sp>
        <p:nvSpPr>
          <p:cNvPr id="4" name="C_3_BD#b941c3c07.fixed?vcp=1&amp;pid=7275a4f91&amp;color=0,0,0&amp;vtp=1&amp;bbb=1"/>
          <p:cNvSpPr/>
          <p:nvPr/>
        </p:nvSpPr>
        <p:spPr>
          <a:xfrm>
            <a:off x="265176" y="4142232"/>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课时1</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力的合成</a:t>
            </a:r>
            <a:endParaRPr lang="en-US" altLang="zh-CN" sz="4400" dirty="0"/>
          </a:p>
        </p:txBody>
      </p:sp>
    </p:spTree>
  </p:cSld>
  <p:clrMapOvr>
    <a:masterClrMapping/>
  </p:clrMapOvr>
  <p:transition>
    <p:split dir="in"/>
  </p:transition>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pic>
        <p:nvPicPr>
          <p:cNvPr id="2" name="C_4_BD#b7aca7b9b?vcp=1&amp;pid=b941c3c07&amp;color=0,112,192&amp;tib=255,255,255&amp;vtp=1&amp;bt=1" descr="preencoded.png"/>
          <p:cNvPicPr>
            <a:picLocks noChangeAspect="1"/>
          </p:cNvPicPr>
          <p:nvPr/>
        </p:nvPicPr>
        <p:blipFill>
          <a:blip r:embed="rId3"/>
          <a:stretch>
            <a:fillRect/>
          </a:stretch>
        </p:blipFill>
        <p:spPr>
          <a:xfrm>
            <a:off x="393192" y="502920"/>
            <a:ext cx="4727448" cy="548640"/>
          </a:xfrm>
          <a:prstGeom prst="rect">
            <a:avLst/>
          </a:prstGeom>
        </p:spPr>
      </p:pic>
      <p:graphicFrame>
        <p:nvGraphicFramePr>
          <p:cNvPr id="5" name="P_5_BD#a911b8c4e?colgroup=17,4,14&amp;vcp=1&amp;pid=b7aca7b9b&amp;color=0,0,0&amp;vtp=1&amp;bbb=1"/>
          <p:cNvGraphicFramePr>
            <a:graphicFrameLocks noGrp="1"/>
          </p:cNvGraphicFramePr>
          <p:nvPr>
            <p:extLst>
              <p:ext uri="{D42A27DB-BD31-4B8C-83A1-F6EECF244321}">
                <p14:modId xmlns:p14="http://schemas.microsoft.com/office/powerpoint/2010/main" val="191332192"/>
              </p:ext>
            </p:extLst>
          </p:nvPr>
        </p:nvGraphicFramePr>
        <p:xfrm>
          <a:off x="393192" y="1181100"/>
          <a:ext cx="11400469" cy="2331085"/>
        </p:xfrm>
        <a:graphic>
          <a:graphicData uri="http://schemas.openxmlformats.org/drawingml/2006/table">
            <a:tbl>
              <a:tblPr/>
              <a:tblGrid>
                <a:gridCol w="5333010">
                  <a:extLst>
                    <a:ext uri="{9D8B030D-6E8A-4147-A177-3AD203B41FA5}">
                      <a16:colId xmlns:a16="http://schemas.microsoft.com/office/drawing/2014/main" val="20000"/>
                    </a:ext>
                  </a:extLst>
                </a:gridCol>
                <a:gridCol w="1565320">
                  <a:extLst>
                    <a:ext uri="{9D8B030D-6E8A-4147-A177-3AD203B41FA5}">
                      <a16:colId xmlns:a16="http://schemas.microsoft.com/office/drawing/2014/main" val="20001"/>
                    </a:ext>
                  </a:extLst>
                </a:gridCol>
                <a:gridCol w="4404739">
                  <a:extLst>
                    <a:ext uri="{9D8B030D-6E8A-4147-A177-3AD203B41FA5}">
                      <a16:colId xmlns:a16="http://schemas.microsoft.com/office/drawing/2014/main" val="20002"/>
                    </a:ext>
                  </a:extLst>
                </a:gridCol>
                <a:gridCol w="97400">
                  <a:extLst>
                    <a:ext uri="{9D8B030D-6E8A-4147-A177-3AD203B41FA5}">
                      <a16:colId xmlns:a16="http://schemas.microsoft.com/office/drawing/2014/main" val="20003"/>
                    </a:ext>
                  </a:extLst>
                </a:gridCol>
              </a:tblGrid>
              <a:tr h="492633">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考点分析</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核心素养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知识图解</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840740">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1.合力与分力的概念及性质.（★）</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gridSpan="2">
                  <a:txBody>
                    <a:bodyPr/>
                    <a:lstStyle/>
                    <a:p>
                      <a:pPr algn="ctr" latinLnBrk="1" hangingPunct="0">
                        <a:lnSpc>
                          <a:spcPts val="171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hMerge="1">
                  <a:txBody>
                    <a:bodyPr/>
                    <a:lstStyle/>
                    <a:p>
                      <a:endParaRPr lang="zh-CN"/>
                    </a:p>
                  </a:txBody>
                  <a:tcPr/>
                </a:tc>
                <a:extLst>
                  <a:ext uri="{0D108BD9-81ED-4DB2-BD59-A6C34878D82A}">
                    <a16:rowId xmlns:a16="http://schemas.microsoft.com/office/drawing/2014/main" val="10001"/>
                  </a:ext>
                </a:extLst>
              </a:tr>
              <a:tr h="498856">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2.力合成的方法.（★★）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vMerge="1">
                  <a:txBody>
                    <a:bodyPr/>
                    <a:lstStyle/>
                    <a:p>
                      <a:endParaRPr lang="zh-CN"/>
                    </a:p>
                  </a:txBody>
                  <a:tcPr/>
                </a:tc>
                <a:tc hMerge="1" vMerge="1">
                  <a:txBody>
                    <a:bodyPr/>
                    <a:lstStyle/>
                    <a:p>
                      <a:endParaRPr lang="zh-CN"/>
                    </a:p>
                  </a:txBody>
                  <a:tcPr/>
                </a:tc>
                <a:extLst>
                  <a:ext uri="{0D108BD9-81ED-4DB2-BD59-A6C34878D82A}">
                    <a16:rowId xmlns:a16="http://schemas.microsoft.com/office/drawing/2014/main" val="10002"/>
                  </a:ext>
                </a:extLst>
              </a:tr>
              <a:tr h="498856">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3.合力范围的确定.（★）</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科学思维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vMerge="1">
                  <a:txBody>
                    <a:bodyPr/>
                    <a:lstStyle/>
                    <a:p>
                      <a:endParaRPr lang="zh-CN"/>
                    </a:p>
                  </a:txBody>
                  <a:tcPr/>
                </a:tc>
                <a:tc hMerge="1" vMerge="1">
                  <a:txBody>
                    <a:bodyPr/>
                    <a:lstStyle/>
                    <a:p>
                      <a:endParaRPr lang="zh-CN"/>
                    </a:p>
                  </a:txBody>
                  <a:tcPr/>
                </a:tc>
                <a:extLst>
                  <a:ext uri="{0D108BD9-81ED-4DB2-BD59-A6C34878D82A}">
                    <a16:rowId xmlns:a16="http://schemas.microsoft.com/office/drawing/2014/main" val="10003"/>
                  </a:ext>
                </a:extLst>
              </a:tr>
            </a:tbl>
          </a:graphicData>
        </a:graphic>
      </p:graphicFrame>
      <p:pic>
        <p:nvPicPr>
          <p:cNvPr id="4" name="P_5_BD#a911b8c4e.table_image?tii=1&amp;vcp=1&amp;pid=b7aca7b9b&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051658" y="1697589"/>
            <a:ext cx="2946308" cy="1731411"/>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pic>
        <p:nvPicPr>
          <p:cNvPr id="2" name="C_4_BD#09eab9a21?vcp=1&amp;pid=b941c3c07&amp;color=0,112,192&amp;tib=255,255,255&amp;vtp=1&amp;bt=1" descr="preencoded.png"/>
          <p:cNvPicPr>
            <a:picLocks noChangeAspect="1"/>
          </p:cNvPicPr>
          <p:nvPr/>
        </p:nvPicPr>
        <p:blipFill>
          <a:blip r:embed="rId3"/>
          <a:stretch>
            <a:fillRect/>
          </a:stretch>
        </p:blipFill>
        <p:spPr>
          <a:xfrm>
            <a:off x="393192" y="502920"/>
            <a:ext cx="4727448" cy="548640"/>
          </a:xfrm>
          <a:prstGeom prst="rect">
            <a:avLst/>
          </a:prstGeom>
        </p:spPr>
      </p:pic>
      <p:pic>
        <p:nvPicPr>
          <p:cNvPr id="3" name="C_5#168b35990?vcp=1&amp;pid=09eab9a21&amp;color=0,0,0&amp;tib=255,255,255&amp;vtp=1" descr="preencoded.png"/>
          <p:cNvPicPr>
            <a:picLocks noChangeAspect="1"/>
          </p:cNvPicPr>
          <p:nvPr/>
        </p:nvPicPr>
        <p:blipFill>
          <a:blip r:embed="rId4"/>
          <a:stretch>
            <a:fillRect/>
          </a:stretch>
        </p:blipFill>
        <p:spPr>
          <a:xfrm>
            <a:off x="411480" y="1181100"/>
            <a:ext cx="11320272" cy="457200"/>
          </a:xfrm>
          <a:prstGeom prst="rect">
            <a:avLst/>
          </a:prstGeom>
        </p:spPr>
      </p:pic>
      <p:sp>
        <p:nvSpPr>
          <p:cNvPr id="4" name="C_5_BD#168b35990?vcp=1&amp;pid=09eab9a21&amp;color=255,255,255&amp;vtp=1"/>
          <p:cNvSpPr/>
          <p:nvPr/>
        </p:nvSpPr>
        <p:spPr>
          <a:xfrm>
            <a:off x="1225296" y="118110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1</a:t>
            </a:r>
            <a:endParaRPr lang="en-US" altLang="zh-CN" sz="2800" dirty="0"/>
          </a:p>
        </p:txBody>
      </p:sp>
      <p:sp>
        <p:nvSpPr>
          <p:cNvPr id="5" name="C_5_BD#168b35990?vcp=1&amp;pid=09eab9a21&amp;color=0,0,0&amp;vtp=1&amp;bbb=1"/>
          <p:cNvSpPr/>
          <p:nvPr/>
        </p:nvSpPr>
        <p:spPr>
          <a:xfrm>
            <a:off x="1837944" y="118110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合力和分力</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回归教材</a:t>
            </a:r>
            <a:endParaRPr lang="en-US" altLang="zh-CN" sz="2600" dirty="0"/>
          </a:p>
        </p:txBody>
      </p:sp>
      <p:sp>
        <p:nvSpPr>
          <p:cNvPr id="6" name="P_6_BD#0b63e40d5?vcp=1&amp;pid=168b35990&amp;color=0,0,0&amp;vtp=1&amp;bbb=1"/>
          <p:cNvSpPr/>
          <p:nvPr/>
        </p:nvSpPr>
        <p:spPr>
          <a:xfrm>
            <a:off x="393192" y="1778000"/>
            <a:ext cx="11402568" cy="1037400"/>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algn="ctr" latinLnBrk="1">
              <a:lnSpc>
                <a:spcPts val="4200"/>
              </a:lnSpc>
            </a:pPr>
            <a:r>
              <a:rPr lang="en-US" altLang="zh-CN" sz="2400" b="1" i="0">
                <a:solidFill>
                  <a:srgbClr val="000000"/>
                </a:solidFill>
                <a:latin typeface="Times New Roman" pitchFamily="34" charset="0"/>
                <a:ea typeface="微软雅黑" pitchFamily="34" charset="-122"/>
                <a:cs typeface="Times New Roman" pitchFamily="34" charset="-120"/>
              </a:rPr>
              <a:t>合力与分力的</a:t>
            </a:r>
            <a:r>
              <a:rPr lang="en-US" altLang="zh-CN" sz="2400" b="1" i="0" dirty="0">
                <a:solidFill>
                  <a:srgbClr val="000000"/>
                </a:solidFill>
                <a:latin typeface="Times New Roman" pitchFamily="34" charset="0"/>
                <a:ea typeface="微软雅黑" pitchFamily="34" charset="-122"/>
                <a:cs typeface="Times New Roman" pitchFamily="34" charset="-120"/>
              </a:rPr>
              <a:t>“三性”</a:t>
            </a:r>
            <a:endParaRPr lang="en-US" altLang="zh-CN" sz="2400" dirty="0"/>
          </a:p>
        </p:txBody>
      </p:sp>
      <p:pic>
        <p:nvPicPr>
          <p:cNvPr id="7" name="P_6_BD#0b63e40d5?vcp=1&amp;pid=168b35990&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2916936" y="2945130"/>
            <a:ext cx="6355080" cy="2459736"/>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C_6_BD.1_1#00ef725df?vcp=1&amp;pid=168b35990&amp;color=0,0,0&amp;vtp=1&amp;bt=1&amp;bbb=1"/>
              <p:cNvSpPr/>
              <p:nvPr/>
            </p:nvSpPr>
            <p:spPr>
              <a:xfrm>
                <a:off x="393192" y="1024985"/>
                <a:ext cx="11402568" cy="484124"/>
              </a:xfrm>
              <a:prstGeom prst="rect">
                <a:avLst/>
              </a:prstGeom>
              <a:noFill/>
              <a:ln/>
            </p:spPr>
            <p:txBody>
              <a:bodyPr wrap="none" lIns="0" tIns="0" rIns="0" bIns="0" rtlCol="0" anchor="t"/>
              <a:lstStyle/>
              <a:p>
                <a:pPr algn="l" latinLnBrk="1">
                  <a:lnSpc>
                    <a:spcPts val="4300"/>
                  </a:lnSpc>
                </a:pPr>
                <a:r>
                  <a:rPr lang="en-US" altLang="zh-CN" sz="2400" b="1" i="0" dirty="0">
                    <a:solidFill>
                      <a:srgbClr val="0070C0"/>
                    </a:solidFill>
                    <a:latin typeface="Times New Roman" pitchFamily="34" charset="0"/>
                    <a:ea typeface="微软雅黑" pitchFamily="34" charset="-122"/>
                    <a:cs typeface="Times New Roman" pitchFamily="34" charset="-120"/>
                  </a:rPr>
                  <a:t>考题1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（多选题）关于</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及它们的合力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下列说法中正确的是(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QC_6_BD.1_1#00ef725df?vcp=1&amp;pid=168b35990&amp;color=0,0,0&amp;vtp=1&amp;bt=1&amp;bbb=1"/>
              <p:cNvSpPr>
                <a:spLocks noRot="1" noChangeAspect="1" noMove="1" noResize="1" noEditPoints="1" noAdjustHandles="1" noChangeArrowheads="1" noChangeShapeType="1" noTextEdit="1"/>
              </p:cNvSpPr>
              <p:nvPr/>
            </p:nvSpPr>
            <p:spPr>
              <a:xfrm>
                <a:off x="393192" y="1024985"/>
                <a:ext cx="11402568" cy="484124"/>
              </a:xfrm>
              <a:prstGeom prst="rect">
                <a:avLst/>
              </a:prstGeom>
              <a:blipFill>
                <a:blip r:embed="rId3"/>
                <a:stretch>
                  <a:fillRect l="-1658" b="-37500"/>
                </a:stretch>
              </a:blipFill>
              <a:ln/>
            </p:spPr>
            <p:txBody>
              <a:bodyPr/>
              <a:lstStyle/>
              <a:p>
                <a:r>
                  <a:rPr lang="zh-CN" altLang="en-US">
                    <a:noFill/>
                  </a:rPr>
                  <a:t> </a:t>
                </a:r>
              </a:p>
            </p:txBody>
          </p:sp>
        </mc:Fallback>
      </mc:AlternateContent>
      <p:sp>
        <p:nvSpPr>
          <p:cNvPr id="3" name="QC_6_AN.2_1#00ef725df.bracket?vcp=1&amp;pid=168b35990&amp;color=0,0,0&amp;vpa=1&amp;vtp=1&amp;bbb=1"/>
          <p:cNvSpPr/>
          <p:nvPr/>
        </p:nvSpPr>
        <p:spPr>
          <a:xfrm>
            <a:off x="9457023" y="1023080"/>
            <a:ext cx="661988"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AC</a:t>
            </a:r>
            <a:endParaRPr lang="en-US" altLang="zh-CN" sz="2400" dirty="0"/>
          </a:p>
        </p:txBody>
      </p:sp>
      <mc:AlternateContent xmlns:mc="http://schemas.openxmlformats.org/markup-compatibility/2006" xmlns:a14="http://schemas.microsoft.com/office/drawing/2010/main">
        <mc:Choice Requires="a14">
          <p:sp>
            <p:nvSpPr>
              <p:cNvPr id="4" name="QC_6_BD.1_2#00ef725df.choices?vcp=1&amp;pid=168b35990&amp;color=0,0,0&amp;vtp=1&amp;bbb=1"/>
              <p:cNvSpPr/>
              <p:nvPr/>
            </p:nvSpPr>
            <p:spPr>
              <a:xfrm>
                <a:off x="393192" y="1510759"/>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一定与</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共同作用产生的效果相同</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.两力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一定是同种性质的力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.两力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一定是同一个物体受到的力</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.两力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是物体同时受到的三个力</a:t>
                </a:r>
                <a:endParaRPr lang="en-US" altLang="zh-CN" sz="2400" dirty="0"/>
              </a:p>
            </p:txBody>
          </p:sp>
        </mc:Choice>
        <mc:Fallback xmlns="">
          <p:sp>
            <p:nvSpPr>
              <p:cNvPr id="4" name="QC_6_BD.1_2#00ef725df.choices?vcp=1&amp;pid=168b35990&amp;color=0,0,0&amp;vtp=1&amp;bbb=1"/>
              <p:cNvSpPr>
                <a:spLocks noRot="1" noChangeAspect="1" noMove="1" noResize="1" noEditPoints="1" noAdjustHandles="1" noChangeArrowheads="1" noChangeShapeType="1" noTextEdit="1"/>
              </p:cNvSpPr>
              <p:nvPr/>
            </p:nvSpPr>
            <p:spPr>
              <a:xfrm>
                <a:off x="393192" y="1510759"/>
                <a:ext cx="11402568" cy="2155000"/>
              </a:xfrm>
              <a:prstGeom prst="rect">
                <a:avLst/>
              </a:prstGeom>
              <a:blipFill>
                <a:blip r:embed="rId4"/>
                <a:stretch>
                  <a:fillRect l="-1658" b="-8499"/>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QC_6_AS.3_1#00ef725df?vcp=1&amp;pid=168b35990&amp;color=0,0,0&amp;vtp=1&amp;bbb=1&amp;hb=1"/>
              <p:cNvSpPr/>
              <p:nvPr/>
            </p:nvSpPr>
            <p:spPr>
              <a:xfrm>
                <a:off x="393192" y="3657059"/>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合力与分力是“等效替代”的关系</a:t>
                </a:r>
                <a:r>
                  <a:rPr lang="en-US" altLang="zh-CN" sz="2400" b="1" i="0">
                    <a:solidFill>
                      <a:srgbClr val="FF0000"/>
                    </a:solidFill>
                    <a:latin typeface="Times New Roman" pitchFamily="34" charset="0"/>
                    <a:ea typeface="微软雅黑" pitchFamily="34" charset="-122"/>
                    <a:cs typeface="Times New Roman" pitchFamily="34" charset="-120"/>
                  </a:rPr>
                  <a:t>,即合力的作用效果与几个分力共同作用时的</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作用效果相同</a:t>
                </a:r>
                <a:r>
                  <a:rPr lang="en-US" altLang="zh-CN" sz="2400" b="1" i="0" dirty="0">
                    <a:solidFill>
                      <a:srgbClr val="FF0000"/>
                    </a:solidFill>
                    <a:latin typeface="Times New Roman" pitchFamily="34" charset="0"/>
                    <a:ea typeface="微软雅黑" pitchFamily="34" charset="-122"/>
                    <a:cs typeface="Times New Roman" pitchFamily="34" charset="-120"/>
                  </a:rPr>
                  <a:t>,合力的作用效果可以替代这几个分力的作用效果</a:t>
                </a:r>
                <a:r>
                  <a:rPr lang="en-US" altLang="zh-CN" sz="2400" b="1" i="0">
                    <a:solidFill>
                      <a:srgbClr val="FF0000"/>
                    </a:solidFill>
                    <a:latin typeface="Times New Roman" pitchFamily="34" charset="0"/>
                    <a:ea typeface="微软雅黑" pitchFamily="34" charset="-122"/>
                    <a:cs typeface="Times New Roman" pitchFamily="34" charset="-120"/>
                  </a:rPr>
                  <a:t>,不能认为合力与分力</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同时作用在物体上</a:t>
                </a:r>
                <a:r>
                  <a:rPr lang="en-US" altLang="zh-CN" sz="2400" b="1" i="0" dirty="0">
                    <a:solidFill>
                      <a:srgbClr val="FF0000"/>
                    </a:solidFill>
                    <a:latin typeface="Times New Roman" pitchFamily="34" charset="0"/>
                    <a:ea typeface="微软雅黑" pitchFamily="34" charset="-122"/>
                    <a:cs typeface="Times New Roman" pitchFamily="34" charset="-120"/>
                  </a:rPr>
                  <a:t>,所以选项A正确,D错误.</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两个力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不一定是同一性质的力</a:t>
                </a:r>
                <a:r>
                  <a:rPr lang="en-US" altLang="zh-CN" sz="2400" b="1" i="0">
                    <a:solidFill>
                      <a:srgbClr val="FF0000"/>
                    </a:solidFill>
                    <a:latin typeface="Times New Roman" pitchFamily="34" charset="0"/>
                    <a:ea typeface="微软雅黑" pitchFamily="34" charset="-122"/>
                    <a:cs typeface="Times New Roman" pitchFamily="34" charset="-120"/>
                  </a:rPr>
                  <a:t>,但一</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定是同一个物体受到的力</a:t>
                </a:r>
                <a:r>
                  <a:rPr lang="en-US" altLang="zh-CN" sz="2400" b="1" i="0" dirty="0">
                    <a:solidFill>
                      <a:srgbClr val="FF0000"/>
                    </a:solidFill>
                    <a:latin typeface="Times New Roman" pitchFamily="34" charset="0"/>
                    <a:ea typeface="微软雅黑" pitchFamily="34" charset="-122"/>
                    <a:cs typeface="Times New Roman" pitchFamily="34" charset="-120"/>
                  </a:rPr>
                  <a:t>,所以选项B错误,C正确.</a:t>
                </a:r>
                <a:endParaRPr lang="en-US" altLang="zh-CN" sz="2400" dirty="0"/>
              </a:p>
            </p:txBody>
          </p:sp>
        </mc:Choice>
        <mc:Fallback xmlns="">
          <p:sp>
            <p:nvSpPr>
              <p:cNvPr id="5" name="QC_6_AS.3_1#00ef725df?vcp=1&amp;pid=168b35990&amp;color=0,0,0&amp;vtp=1&amp;bbb=1&amp;hb=1"/>
              <p:cNvSpPr>
                <a:spLocks noRot="1" noChangeAspect="1" noMove="1" noResize="1" noEditPoints="1" noAdjustHandles="1" noChangeArrowheads="1" noChangeShapeType="1" noTextEdit="1"/>
              </p:cNvSpPr>
              <p:nvPr/>
            </p:nvSpPr>
            <p:spPr>
              <a:xfrm>
                <a:off x="393192" y="3657059"/>
                <a:ext cx="11402568" cy="2155000"/>
              </a:xfrm>
              <a:prstGeom prst="rect">
                <a:avLst/>
              </a:prstGeom>
              <a:blipFill>
                <a:blip r:embed="rId5"/>
                <a:stretch>
                  <a:fillRect l="-1658" r="-1070"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C_6_BD.4_1#d8a1e7017?vcp=1&amp;pid=168b35990&amp;color=0,0,0&amp;vtp=1&amp;bt=1&amp;bbb=1&amp;hb=1"/>
              <p:cNvSpPr/>
              <p:nvPr/>
            </p:nvSpPr>
            <p:spPr>
              <a:xfrm>
                <a:off x="393192" y="1824577"/>
                <a:ext cx="11402568"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变式1-1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（多选题）一件行李重为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𝐺</m:t>
                    </m:r>
                  </m:oMath>
                </a14:m>
                <a:r>
                  <a:rPr lang="en-US" altLang="zh-CN" sz="2400" b="0" i="0" dirty="0">
                    <a:solidFill>
                      <a:srgbClr val="000000"/>
                    </a:solidFill>
                    <a:latin typeface="Times New Roman" pitchFamily="34" charset="0"/>
                    <a:ea typeface="微软雅黑" pitchFamily="34" charset="-122"/>
                    <a:cs typeface="Times New Roman" pitchFamily="34" charset="-120"/>
                  </a:rPr>
                  <a:t>,被轻绳</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𝑂𝐵</m:t>
                    </m:r>
                  </m:oMath>
                </a14:m>
                <a:r>
                  <a:rPr lang="en-US" altLang="zh-CN" sz="2400" b="0" i="0" dirty="0">
                    <a:solidFill>
                      <a:srgbClr val="000000"/>
                    </a:solidFill>
                    <a:latin typeface="Times New Roman" pitchFamily="34" charset="0"/>
                    <a:ea typeface="微软雅黑" pitchFamily="34" charset="-122"/>
                    <a:cs typeface="Times New Roman" pitchFamily="34" charset="-120"/>
                  </a:rPr>
                  <a:t>吊在空中,</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绳和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绳的拉力分别</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a:t>
                </a:r>
                <a:r>
                  <a:rPr lang="en-US" altLang="zh-CN" sz="2400" b="0" i="0">
                    <a:solidFill>
                      <a:srgbClr val="000000"/>
                    </a:solidFill>
                    <a:latin typeface="Times New Roman" pitchFamily="34" charset="0"/>
                    <a:ea typeface="微软雅黑" pitchFamily="34" charset="-122"/>
                    <a:cs typeface="Times New Roman" pitchFamily="34" charset="-120"/>
                  </a:rPr>
                  <a:t>则(</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QC_6_BD.4_1#d8a1e7017?vcp=1&amp;pid=168b35990&amp;color=0,0,0&amp;vtp=1&amp;bt=1&amp;bbb=1&amp;hb=1"/>
              <p:cNvSpPr>
                <a:spLocks noRot="1" noChangeAspect="1" noMove="1" noResize="1" noEditPoints="1" noAdjustHandles="1" noChangeArrowheads="1" noChangeShapeType="1" noTextEdit="1"/>
              </p:cNvSpPr>
              <p:nvPr/>
            </p:nvSpPr>
            <p:spPr>
              <a:xfrm>
                <a:off x="393192" y="1824577"/>
                <a:ext cx="11402568" cy="1033399"/>
              </a:xfrm>
              <a:prstGeom prst="rect">
                <a:avLst/>
              </a:prstGeom>
              <a:blipFill>
                <a:blip r:embed="rId3"/>
                <a:stretch>
                  <a:fillRect l="-1658" r="-1604" b="-17647"/>
                </a:stretch>
              </a:blipFill>
              <a:ln/>
            </p:spPr>
            <p:txBody>
              <a:bodyPr/>
              <a:lstStyle/>
              <a:p>
                <a:r>
                  <a:rPr lang="zh-CN" altLang="en-US">
                    <a:noFill/>
                  </a:rPr>
                  <a:t> </a:t>
                </a:r>
              </a:p>
            </p:txBody>
          </p:sp>
        </mc:Fallback>
      </mc:AlternateContent>
      <p:sp>
        <p:nvSpPr>
          <p:cNvPr id="3" name="QC_6_AN.5_1#d8a1e7017.bracket?vcp=1&amp;pid=168b35990&amp;color=0,0,0&amp;vpa=2&amp;vtp=1&amp;bbb=1"/>
          <p:cNvSpPr/>
          <p:nvPr/>
        </p:nvSpPr>
        <p:spPr>
          <a:xfrm>
            <a:off x="3555461" y="2371947"/>
            <a:ext cx="6445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BC</a:t>
            </a:r>
            <a:endParaRPr lang="en-US" altLang="zh-CN" sz="2400" dirty="0"/>
          </a:p>
        </p:txBody>
      </p:sp>
      <p:pic>
        <p:nvPicPr>
          <p:cNvPr id="4" name="QC_6_BD.4_2#d8a1e7017?htil=1&amp;vcp=1&amp;pid=168b35990&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9615483" y="2903822"/>
            <a:ext cx="2066544" cy="199339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5" name="QC_6_BD.4_3#d8a1e7017.choices?htil=1&amp;vcp=1&amp;pid=168b35990&amp;color=0,0,0&amp;vtp=1&amp;bbb=1"/>
              <p:cNvSpPr/>
              <p:nvPr/>
            </p:nvSpPr>
            <p:spPr>
              <a:xfrm>
                <a:off x="393192" y="2858102"/>
                <a:ext cx="9198864"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的合力是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𝐺</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的合力是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.行李对轻绳</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的拉力方向与</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方向相反,大小相等</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.行李受到重力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𝐺</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绳的拉力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𝑂𝐵</m:t>
                    </m:r>
                  </m:oMath>
                </a14:m>
                <a:r>
                  <a:rPr lang="en-US" altLang="zh-CN" sz="2400" b="0" i="0" dirty="0">
                    <a:solidFill>
                      <a:srgbClr val="000000"/>
                    </a:solidFill>
                    <a:latin typeface="Times New Roman" pitchFamily="34" charset="0"/>
                    <a:ea typeface="微软雅黑" pitchFamily="34" charset="-122"/>
                    <a:cs typeface="Times New Roman" pitchFamily="34" charset="-120"/>
                  </a:rPr>
                  <a:t>绳的拉力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以及</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，共四个力</a:t>
                </a:r>
                <a:endParaRPr lang="en-US" altLang="zh-CN" sz="2400" dirty="0"/>
              </a:p>
            </p:txBody>
          </p:sp>
        </mc:Choice>
        <mc:Fallback xmlns="">
          <p:sp>
            <p:nvSpPr>
              <p:cNvPr id="5" name="QC_6_BD.4_3#d8a1e7017.choices?htil=1&amp;vcp=1&amp;pid=168b35990&amp;color=0,0,0&amp;vtp=1&amp;bbb=1"/>
              <p:cNvSpPr>
                <a:spLocks noRot="1" noChangeAspect="1" noMove="1" noResize="1" noEditPoints="1" noAdjustHandles="1" noChangeArrowheads="1" noChangeShapeType="1" noTextEdit="1"/>
              </p:cNvSpPr>
              <p:nvPr/>
            </p:nvSpPr>
            <p:spPr>
              <a:xfrm>
                <a:off x="393192" y="2858102"/>
                <a:ext cx="9198864" cy="2155000"/>
              </a:xfrm>
              <a:prstGeom prst="rect">
                <a:avLst/>
              </a:prstGeom>
              <a:blipFill>
                <a:blip r:embed="rId5"/>
                <a:stretch>
                  <a:fillRect l="-2054" r="-994"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C_6_AS.6_1#d8a1e7017?vcp=1&amp;pid=168b35990&amp;color=0,0,0&amp;vtp=1&amp;bt=1&amp;bbb=1&amp;hb=1"/>
              <p:cNvSpPr/>
              <p:nvPr/>
            </p:nvSpPr>
            <p:spPr>
              <a:xfrm>
                <a:off x="393192" y="2086705"/>
                <a:ext cx="11402568" cy="27138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spc="-50" dirty="0">
                    <a:solidFill>
                      <a:srgbClr val="FF0000"/>
                    </a:solidFill>
                    <a:latin typeface="Times New Roman" pitchFamily="34" charset="0"/>
                    <a:ea typeface="微软雅黑" pitchFamily="34" charset="-122"/>
                    <a:cs typeface="Times New Roman" pitchFamily="34" charset="-120"/>
                  </a:rPr>
                  <a:t>解析]</a:t>
                </a:r>
                <a:r>
                  <a:rPr lang="en-US" altLang="zh-CN" sz="2400" b="1" i="0" spc="-50" dirty="0">
                    <a:solidFill>
                      <a:srgbClr val="FF0000"/>
                    </a:solidFill>
                    <a:latin typeface="SimSun" pitchFamily="34" charset="0"/>
                    <a:ea typeface="SimSun" pitchFamily="34" charset="-122"/>
                    <a:cs typeface="SimSu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力</a:t>
                </a:r>
                <a14:m>
                  <m:oMath xmlns:m="http://schemas.openxmlformats.org/officeDocument/2006/math">
                    <m:r>
                      <a:rPr lang="en-US" altLang="zh-CN" sz="2400" b="1" i="1" spc="-50">
                        <a:solidFill>
                          <a:srgbClr val="FF0000"/>
                        </a:solidFill>
                        <a:latin typeface="Cambria Math" pitchFamily="34" charset="0"/>
                        <a:ea typeface="Cambria Math" pitchFamily="34" charset="-122"/>
                        <a:cs typeface="Cambria Math" pitchFamily="34" charset="-120"/>
                      </a:rPr>
                      <m:t>𝑭</m:t>
                    </m:r>
                  </m:oMath>
                </a14:m>
                <a:r>
                  <a:rPr lang="en-US" altLang="zh-CN" sz="2400" b="1" i="0" spc="-50" dirty="0">
                    <a:solidFill>
                      <a:srgbClr val="FF0000"/>
                    </a:solidFill>
                    <a:latin typeface="Times New Roman" pitchFamily="34" charset="0"/>
                    <a:ea typeface="微软雅黑" pitchFamily="34" charset="-122"/>
                    <a:cs typeface="Times New Roman" pitchFamily="34" charset="-120"/>
                  </a:rPr>
                  <a:t>的作用效果与其分力</a:t>
                </a:r>
                <a14:m>
                  <m:oMath xmlns:m="http://schemas.openxmlformats.org/officeDocument/2006/math">
                    <m:sSub>
                      <m:sSubPr>
                        <m:ctrlPr>
                          <a:rPr lang="en-US" altLang="zh-CN" sz="2400" b="1" i="1" spc="-50"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spc="-50">
                            <a:solidFill>
                              <a:srgbClr val="FF0000"/>
                            </a:solidFill>
                            <a:latin typeface="Cambria Math" pitchFamily="34" charset="0"/>
                            <a:ea typeface="Cambria Math" pitchFamily="34" charset="-122"/>
                            <a:cs typeface="Cambria Math" pitchFamily="34" charset="-120"/>
                          </a:rPr>
                          <m:t>𝑭</m:t>
                        </m:r>
                      </m:e>
                      <m:sub>
                        <m:r>
                          <a:rPr lang="en-US" altLang="zh-CN" sz="2400" b="1" i="1" spc="-50">
                            <a:solidFill>
                              <a:srgbClr val="FF0000"/>
                            </a:solidFill>
                            <a:latin typeface="Cambria Math" pitchFamily="34" charset="0"/>
                            <a:ea typeface="Cambria Math" pitchFamily="34" charset="-122"/>
                            <a:cs typeface="Cambria Math" pitchFamily="34" charset="-120"/>
                          </a:rPr>
                          <m:t>𝟏</m:t>
                        </m:r>
                      </m:sub>
                    </m:sSub>
                  </m:oMath>
                </a14:m>
                <a:r>
                  <a:rPr lang="en-US" altLang="zh-CN" sz="2400" b="1" i="0" spc="-5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spc="-50"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spc="-50">
                            <a:solidFill>
                              <a:srgbClr val="FF0000"/>
                            </a:solidFill>
                            <a:latin typeface="Cambria Math" pitchFamily="34" charset="0"/>
                            <a:ea typeface="Cambria Math" pitchFamily="34" charset="-122"/>
                            <a:cs typeface="Cambria Math" pitchFamily="34" charset="-120"/>
                          </a:rPr>
                          <m:t>𝑭</m:t>
                        </m:r>
                      </m:e>
                      <m:sub>
                        <m:r>
                          <a:rPr lang="en-US" altLang="zh-CN" sz="2400" b="1" i="1" spc="-50">
                            <a:solidFill>
                              <a:srgbClr val="FF0000"/>
                            </a:solidFill>
                            <a:latin typeface="Cambria Math" pitchFamily="34" charset="0"/>
                            <a:ea typeface="Cambria Math" pitchFamily="34" charset="-122"/>
                            <a:cs typeface="Cambria Math" pitchFamily="34" charset="-120"/>
                          </a:rPr>
                          <m:t>𝟐</m:t>
                        </m:r>
                      </m:sub>
                    </m:sSub>
                  </m:oMath>
                </a14:m>
                <a:r>
                  <a:rPr lang="en-US" altLang="zh-CN" sz="2400" b="1" i="0" spc="-50" dirty="0">
                    <a:solidFill>
                      <a:srgbClr val="FF0000"/>
                    </a:solidFill>
                    <a:latin typeface="Times New Roman" pitchFamily="34" charset="0"/>
                    <a:ea typeface="微软雅黑" pitchFamily="34" charset="-122"/>
                    <a:cs typeface="Times New Roman" pitchFamily="34" charset="-120"/>
                  </a:rPr>
                  <a:t>共同作用产生的效果相同.</a:t>
                </a:r>
                <a14:m>
                  <m:oMath xmlns:m="http://schemas.openxmlformats.org/officeDocument/2006/math">
                    <m:sSub>
                      <m:sSubPr>
                        <m:ctrlPr>
                          <a:rPr lang="en-US" altLang="zh-CN" sz="2400" b="1" i="1" spc="-50"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spc="-50">
                            <a:solidFill>
                              <a:srgbClr val="FF0000"/>
                            </a:solidFill>
                            <a:latin typeface="Cambria Math" pitchFamily="34" charset="0"/>
                            <a:ea typeface="Cambria Math" pitchFamily="34" charset="-122"/>
                            <a:cs typeface="Cambria Math" pitchFamily="34" charset="-120"/>
                          </a:rPr>
                          <m:t>𝑭</m:t>
                        </m:r>
                      </m:e>
                      <m:sub>
                        <m:r>
                          <a:rPr lang="en-US" altLang="zh-CN" sz="2400" b="1" i="1" spc="-50">
                            <a:solidFill>
                              <a:srgbClr val="FF0000"/>
                            </a:solidFill>
                            <a:latin typeface="Cambria Math" pitchFamily="34" charset="0"/>
                            <a:ea typeface="Cambria Math" pitchFamily="34" charset="-122"/>
                            <a:cs typeface="Cambria Math" pitchFamily="34" charset="-120"/>
                          </a:rPr>
                          <m:t>𝟏</m:t>
                        </m:r>
                      </m:sub>
                    </m:sSub>
                  </m:oMath>
                </a14:m>
                <a:r>
                  <a:rPr lang="en-US" altLang="zh-CN" sz="2400" b="1" i="0" spc="-5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1" i="1" spc="-50"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spc="-50">
                            <a:solidFill>
                              <a:srgbClr val="FF0000"/>
                            </a:solidFill>
                            <a:latin typeface="Cambria Math" pitchFamily="34" charset="0"/>
                            <a:ea typeface="Cambria Math" pitchFamily="34" charset="-122"/>
                            <a:cs typeface="Cambria Math" pitchFamily="34" charset="-120"/>
                          </a:rPr>
                          <m:t>𝑭</m:t>
                        </m:r>
                      </m:e>
                      <m:sub>
                        <m:r>
                          <a:rPr lang="en-US" altLang="zh-CN" sz="2400" b="1" i="1" spc="-50">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spc="-50">
                    <a:solidFill>
                      <a:srgbClr val="FF0000"/>
                    </a:solidFill>
                    <a:latin typeface="Times New Roman" pitchFamily="34" charset="0"/>
                    <a:ea typeface="微软雅黑" pitchFamily="34" charset="-122"/>
                    <a:cs typeface="Times New Roman" pitchFamily="34" charset="-120"/>
                  </a:rPr>
                  <a:t>的合力的作用</a:t>
                </a:r>
              </a:p>
              <a:p>
                <a:pPr latinLnBrk="1">
                  <a:lnSpc>
                    <a:spcPts val="4400"/>
                  </a:lnSpc>
                </a:pPr>
                <a:r>
                  <a:rPr lang="en-US" altLang="zh-CN" sz="2400" b="1" i="0" spc="-50">
                    <a:solidFill>
                      <a:srgbClr val="FF0000"/>
                    </a:solidFill>
                    <a:latin typeface="Times New Roman" pitchFamily="34" charset="0"/>
                    <a:ea typeface="微软雅黑" pitchFamily="34" charset="-122"/>
                    <a:cs typeface="Times New Roman" pitchFamily="34" charset="-120"/>
                  </a:rPr>
                  <a:t>效果是把行李提起来</a:t>
                </a:r>
                <a:r>
                  <a:rPr lang="en-US" altLang="zh-CN" sz="2400" b="1" i="0" spc="-50" dirty="0">
                    <a:solidFill>
                      <a:srgbClr val="FF0000"/>
                    </a:solidFill>
                    <a:latin typeface="Times New Roman" pitchFamily="34" charset="0"/>
                    <a:ea typeface="微软雅黑" pitchFamily="34" charset="-122"/>
                    <a:cs typeface="Times New Roman" pitchFamily="34" charset="-120"/>
                  </a:rPr>
                  <a:t>，而</a:t>
                </a:r>
                <a14:m>
                  <m:oMath xmlns:m="http://schemas.openxmlformats.org/officeDocument/2006/math">
                    <m:r>
                      <a:rPr lang="en-US" altLang="zh-CN" sz="2400" b="1" i="1" spc="-50">
                        <a:solidFill>
                          <a:srgbClr val="FF0000"/>
                        </a:solidFill>
                        <a:latin typeface="Cambria Math" pitchFamily="34" charset="0"/>
                        <a:ea typeface="Cambria Math" pitchFamily="34" charset="-122"/>
                        <a:cs typeface="Cambria Math" pitchFamily="34" charset="-120"/>
                      </a:rPr>
                      <m:t>𝑮</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的作用效果是使行李下落，另外，力产生的原因（</a:t>
                </a:r>
                <a:r>
                  <a:rPr lang="en-US" altLang="zh-CN" sz="2400" b="1" i="0" spc="-50">
                    <a:solidFill>
                      <a:srgbClr val="FF0000"/>
                    </a:solidFill>
                    <a:latin typeface="Times New Roman" pitchFamily="34" charset="0"/>
                    <a:ea typeface="微软雅黑" pitchFamily="34" charset="-122"/>
                    <a:cs typeface="Times New Roman" pitchFamily="34" charset="-120"/>
                  </a:rPr>
                  <a:t>即性质）</a:t>
                </a:r>
              </a:p>
              <a:p>
                <a:pPr latinLnBrk="1">
                  <a:lnSpc>
                    <a:spcPts val="4400"/>
                  </a:lnSpc>
                </a:pPr>
                <a:r>
                  <a:rPr lang="en-US" altLang="zh-CN" sz="2400" b="1" i="0" spc="-50">
                    <a:solidFill>
                      <a:srgbClr val="FF0000"/>
                    </a:solidFill>
                    <a:latin typeface="Times New Roman" pitchFamily="34" charset="0"/>
                    <a:ea typeface="微软雅黑" pitchFamily="34" charset="-122"/>
                    <a:cs typeface="Times New Roman" pitchFamily="34" charset="-120"/>
                  </a:rPr>
                  <a:t>也不相同</a:t>
                </a:r>
                <a:r>
                  <a:rPr lang="en-US" altLang="zh-CN" sz="2400" b="1" i="0" spc="-50" dirty="0">
                    <a:solidFill>
                      <a:srgbClr val="FF0000"/>
                    </a:solidFill>
                    <a:latin typeface="Times New Roman" pitchFamily="34" charset="0"/>
                    <a:ea typeface="微软雅黑" pitchFamily="34" charset="-122"/>
                    <a:cs typeface="Times New Roman" pitchFamily="34" charset="-120"/>
                  </a:rPr>
                  <a:t>，故A错误；</a:t>
                </a:r>
                <a14:m>
                  <m:oMath xmlns:m="http://schemas.openxmlformats.org/officeDocument/2006/math">
                    <m:sSub>
                      <m:sSubPr>
                        <m:ctrlPr>
                          <a:rPr lang="en-US" altLang="zh-CN" sz="2400" b="1" i="1" spc="-50"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spc="-50">
                            <a:solidFill>
                              <a:srgbClr val="FF0000"/>
                            </a:solidFill>
                            <a:latin typeface="Cambria Math" pitchFamily="34" charset="0"/>
                            <a:ea typeface="Cambria Math" pitchFamily="34" charset="-122"/>
                            <a:cs typeface="Cambria Math" pitchFamily="34" charset="-120"/>
                          </a:rPr>
                          <m:t>𝑭</m:t>
                        </m:r>
                      </m:e>
                      <m:sub>
                        <m:r>
                          <a:rPr lang="en-US" altLang="zh-CN" sz="2400" b="1" i="1" spc="-50">
                            <a:solidFill>
                              <a:srgbClr val="FF0000"/>
                            </a:solidFill>
                            <a:latin typeface="Cambria Math" pitchFamily="34" charset="0"/>
                            <a:ea typeface="Cambria Math" pitchFamily="34" charset="-122"/>
                            <a:cs typeface="Cambria Math" pitchFamily="34" charset="-120"/>
                          </a:rPr>
                          <m:t>𝟏</m:t>
                        </m:r>
                      </m:sub>
                    </m:sSub>
                  </m:oMath>
                </a14:m>
                <a:r>
                  <a:rPr lang="en-US" altLang="zh-CN" sz="2400" b="1" i="0" spc="-5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1" i="1" spc="-50"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spc="-50">
                            <a:solidFill>
                              <a:srgbClr val="FF0000"/>
                            </a:solidFill>
                            <a:latin typeface="Cambria Math" pitchFamily="34" charset="0"/>
                            <a:ea typeface="Cambria Math" pitchFamily="34" charset="-122"/>
                            <a:cs typeface="Cambria Math" pitchFamily="34" charset="-120"/>
                          </a:rPr>
                          <m:t>𝑭</m:t>
                        </m:r>
                      </m:e>
                      <m:sub>
                        <m:r>
                          <a:rPr lang="en-US" altLang="zh-CN" sz="2400" b="1" i="1" spc="-50">
                            <a:solidFill>
                              <a:srgbClr val="FF0000"/>
                            </a:solidFill>
                            <a:latin typeface="Cambria Math" pitchFamily="34" charset="0"/>
                            <a:ea typeface="Cambria Math" pitchFamily="34" charset="-122"/>
                            <a:cs typeface="Cambria Math" pitchFamily="34" charset="-120"/>
                          </a:rPr>
                          <m:t>𝟐</m:t>
                        </m:r>
                      </m:sub>
                    </m:sSub>
                  </m:oMath>
                </a14:m>
                <a:r>
                  <a:rPr lang="en-US" altLang="zh-CN" sz="2400" b="1" i="0" spc="-50" dirty="0">
                    <a:solidFill>
                      <a:srgbClr val="FF0000"/>
                    </a:solidFill>
                    <a:latin typeface="Times New Roman" pitchFamily="34" charset="0"/>
                    <a:ea typeface="微软雅黑" pitchFamily="34" charset="-122"/>
                    <a:cs typeface="Times New Roman" pitchFamily="34" charset="-120"/>
                  </a:rPr>
                  <a:t>的作用效果和</a:t>
                </a:r>
                <a14:m>
                  <m:oMath xmlns:m="http://schemas.openxmlformats.org/officeDocument/2006/math">
                    <m:r>
                      <a:rPr lang="en-US" altLang="zh-CN" sz="2400" b="1" i="1" spc="-50">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的作用效果相同，故B正确</a:t>
                </a:r>
                <a:r>
                  <a:rPr lang="en-US" altLang="zh-CN" sz="2400" b="1" i="0" spc="-50">
                    <a:solidFill>
                      <a:srgbClr val="FF0000"/>
                    </a:solidFill>
                    <a:latin typeface="Times New Roman" pitchFamily="34" charset="0"/>
                    <a:ea typeface="微软雅黑" pitchFamily="34" charset="-122"/>
                    <a:cs typeface="Times New Roman" pitchFamily="34" charset="-120"/>
                  </a:rPr>
                  <a:t>；行李对轻绳</a:t>
                </a:r>
              </a:p>
              <a:p>
                <a:pPr latinLnBrk="1">
                  <a:lnSpc>
                    <a:spcPts val="4400"/>
                  </a:lnSpc>
                </a:pPr>
                <a14:m>
                  <m:oMath xmlns:m="http://schemas.openxmlformats.org/officeDocument/2006/math">
                    <m:r>
                      <a:rPr lang="en-US" altLang="zh-CN" sz="2400" b="1" i="1" spc="-50">
                        <a:solidFill>
                          <a:srgbClr val="FF0000"/>
                        </a:solidFill>
                        <a:latin typeface="Cambria Math" pitchFamily="34" charset="0"/>
                        <a:ea typeface="Cambria Math" pitchFamily="34" charset="-122"/>
                        <a:cs typeface="Cambria Math" pitchFamily="34" charset="-120"/>
                      </a:rPr>
                      <m:t>𝑶𝑨</m:t>
                    </m:r>
                  </m:oMath>
                </a14:m>
                <a:r>
                  <a:rPr lang="en-US" altLang="zh-CN" sz="2400" b="1" i="0" spc="-50" dirty="0">
                    <a:solidFill>
                      <a:srgbClr val="FF0000"/>
                    </a:solidFill>
                    <a:latin typeface="Times New Roman" pitchFamily="34" charset="0"/>
                    <a:ea typeface="微软雅黑" pitchFamily="34" charset="-122"/>
                    <a:cs typeface="Times New Roman" pitchFamily="34" charset="-120"/>
                  </a:rPr>
                  <a:t>的拉力与拉行李的力</a:t>
                </a:r>
                <a14:m>
                  <m:oMath xmlns:m="http://schemas.openxmlformats.org/officeDocument/2006/math">
                    <m:sSub>
                      <m:sSubPr>
                        <m:ctrlPr>
                          <a:rPr lang="en-US" altLang="zh-CN" sz="2400" b="1" i="1" spc="-50"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spc="-50">
                            <a:solidFill>
                              <a:srgbClr val="FF0000"/>
                            </a:solidFill>
                            <a:latin typeface="Cambria Math" pitchFamily="34" charset="0"/>
                            <a:ea typeface="Cambria Math" pitchFamily="34" charset="-122"/>
                            <a:cs typeface="Cambria Math" pitchFamily="34" charset="-120"/>
                          </a:rPr>
                          <m:t>𝑭</m:t>
                        </m:r>
                      </m:e>
                      <m:sub>
                        <m:r>
                          <a:rPr lang="en-US" altLang="zh-CN" sz="2400" b="1" i="1" spc="-50">
                            <a:solidFill>
                              <a:srgbClr val="FF0000"/>
                            </a:solidFill>
                            <a:latin typeface="Cambria Math" pitchFamily="34" charset="0"/>
                            <a:ea typeface="Cambria Math" pitchFamily="34" charset="-122"/>
                            <a:cs typeface="Cambria Math" pitchFamily="34" charset="-120"/>
                          </a:rPr>
                          <m:t>𝟏</m:t>
                        </m:r>
                      </m:sub>
                    </m:sSub>
                  </m:oMath>
                </a14:m>
                <a:r>
                  <a:rPr lang="en-US" altLang="zh-CN" sz="2400" b="1" i="0" spc="-50" dirty="0">
                    <a:solidFill>
                      <a:srgbClr val="FF0000"/>
                    </a:solidFill>
                    <a:latin typeface="Times New Roman" pitchFamily="34" charset="0"/>
                    <a:ea typeface="微软雅黑" pitchFamily="34" charset="-122"/>
                    <a:cs typeface="Times New Roman" pitchFamily="34" charset="-120"/>
                  </a:rPr>
                  <a:t>是相互作用力，等大反向，不是一个力，故C正确；合力</a:t>
                </a:r>
                <a14:m>
                  <m:oMath xmlns:m="http://schemas.openxmlformats.org/officeDocument/2006/math">
                    <m:r>
                      <a:rPr lang="en-US" altLang="zh-CN" sz="2400" b="1" i="1" spc="-50">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spc="-50">
                    <a:solidFill>
                      <a:srgbClr val="FF0000"/>
                    </a:solidFill>
                    <a:latin typeface="Times New Roman" pitchFamily="34" charset="0"/>
                    <a:ea typeface="微软雅黑" pitchFamily="34" charset="-122"/>
                    <a:cs typeface="Times New Roman" pitchFamily="34" charset="-120"/>
                  </a:rPr>
                  <a:t>是</a:t>
                </a:r>
              </a:p>
              <a:p>
                <a:pPr latinLnBrk="1">
                  <a:lnSpc>
                    <a:spcPts val="4200"/>
                  </a:lnSpc>
                </a:pPr>
                <a:r>
                  <a:rPr lang="en-US" altLang="zh-CN" sz="2400" b="1" i="0" spc="-50">
                    <a:solidFill>
                      <a:srgbClr val="FF0000"/>
                    </a:solidFill>
                    <a:latin typeface="Times New Roman" pitchFamily="34" charset="0"/>
                    <a:ea typeface="微软雅黑" pitchFamily="34" charset="-122"/>
                    <a:cs typeface="Times New Roman" pitchFamily="34" charset="-120"/>
                  </a:rPr>
                  <a:t>为研究问题方便而假想出来的力</a:t>
                </a:r>
                <a:r>
                  <a:rPr lang="en-US" altLang="zh-CN" sz="2400" b="1" i="0" spc="-50" dirty="0">
                    <a:solidFill>
                      <a:srgbClr val="FF0000"/>
                    </a:solidFill>
                    <a:latin typeface="Times New Roman" pitchFamily="34" charset="0"/>
                    <a:ea typeface="微软雅黑" pitchFamily="34" charset="-122"/>
                    <a:cs typeface="Times New Roman" pitchFamily="34" charset="-120"/>
                  </a:rPr>
                  <a:t>，实际上不存在，应与实际受力区别开来，故D错误.</a:t>
                </a:r>
                <a:endParaRPr lang="en-US" altLang="zh-CN" sz="2400" spc="-50" dirty="0"/>
              </a:p>
            </p:txBody>
          </p:sp>
        </mc:Choice>
        <mc:Fallback xmlns="">
          <p:sp>
            <p:nvSpPr>
              <p:cNvPr id="2" name="QC_6_AS.6_1#d8a1e7017?vcp=1&amp;pid=168b35990&amp;color=0,0,0&amp;vtp=1&amp;bt=1&amp;bbb=1&amp;hb=1"/>
              <p:cNvSpPr>
                <a:spLocks noRot="1" noChangeAspect="1" noMove="1" noResize="1" noEditPoints="1" noAdjustHandles="1" noChangeArrowheads="1" noChangeShapeType="1" noTextEdit="1"/>
              </p:cNvSpPr>
              <p:nvPr/>
            </p:nvSpPr>
            <p:spPr>
              <a:xfrm>
                <a:off x="393192" y="2086705"/>
                <a:ext cx="11402568" cy="2713800"/>
              </a:xfrm>
              <a:prstGeom prst="rect">
                <a:avLst/>
              </a:prstGeom>
              <a:blipFill>
                <a:blip r:embed="rId3"/>
                <a:stretch>
                  <a:fillRect l="-1658" r="-749" b="-6742"/>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pic>
        <p:nvPicPr>
          <p:cNvPr id="2" name="P_6_BD#294dfc7ac?htil=2&amp;vcp=1&amp;pid=168b35990&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166982" y="2119725"/>
            <a:ext cx="2542032" cy="1664208"/>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P_6_BD#294dfc7ac?htil=2&amp;vcp=1&amp;pid=168b35990&amp;color=0,0,0&amp;vtp=1&amp;bt=1&amp;bbb=1&amp;hb=1"/>
          <p:cNvSpPr/>
          <p:nvPr/>
        </p:nvSpPr>
        <p:spPr>
          <a:xfrm>
            <a:off x="393192" y="2074005"/>
            <a:ext cx="8723376" cy="27138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拓展延伸</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等效法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曹冲称象的故事大家都很熟悉</a:t>
            </a:r>
            <a:r>
              <a:rPr lang="en-US" altLang="zh-CN" sz="2400" b="0" i="0" dirty="0">
                <a:solidFill>
                  <a:srgbClr val="000000"/>
                </a:solidFill>
                <a:latin typeface="Times New Roman" pitchFamily="34" charset="0"/>
                <a:ea typeface="微软雅黑" pitchFamily="34" charset="-122"/>
                <a:cs typeface="Times New Roman" pitchFamily="34" charset="-120"/>
              </a:rPr>
              <a:t>（如图</a:t>
            </a:r>
            <a:r>
              <a:rPr lang="en-US" altLang="zh-CN" sz="2400" b="0" i="0">
                <a:solidFill>
                  <a:srgbClr val="000000"/>
                </a:solidFill>
                <a:latin typeface="Times New Roman" pitchFamily="34" charset="0"/>
                <a:ea typeface="微软雅黑" pitchFamily="34" charset="-122"/>
                <a:cs typeface="Times New Roman" pitchFamily="34" charset="-120"/>
              </a:rPr>
              <a:t>）,在船的吃水线相同的</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情况下</a:t>
            </a:r>
            <a:r>
              <a:rPr lang="en-US" altLang="zh-CN" sz="2400" b="0" i="0" dirty="0">
                <a:solidFill>
                  <a:srgbClr val="000000"/>
                </a:solidFill>
                <a:latin typeface="Times New Roman" pitchFamily="34" charset="0"/>
                <a:ea typeface="微软雅黑" pitchFamily="34" charset="-122"/>
                <a:cs typeface="Times New Roman" pitchFamily="34" charset="-120"/>
              </a:rPr>
              <a:t>，一头大象的重力与一堆石头的重力相当</a:t>
            </a:r>
            <a:r>
              <a:rPr lang="en-US" altLang="zh-CN" sz="2400" b="0" i="0">
                <a:solidFill>
                  <a:srgbClr val="000000"/>
                </a:solidFill>
                <a:latin typeface="Times New Roman" pitchFamily="34" charset="0"/>
                <a:ea typeface="微软雅黑" pitchFamily="34" charset="-122"/>
                <a:cs typeface="Times New Roman" pitchFamily="34" charset="-120"/>
              </a:rPr>
              <a:t>.这就是一个很生</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动的应用等效思想的例子</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P_6_BD#294dfc7ac?vcp=1&amp;pid=168b35990&amp;color=0,0,0&amp;vtp=1&amp;bt=1&amp;bbb=1&amp;hb=1"/>
              <p:cNvSpPr/>
              <p:nvPr/>
            </p:nvSpPr>
            <p:spPr>
              <a:xfrm>
                <a:off x="393192" y="960692"/>
                <a:ext cx="11402568" cy="4952492"/>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概念瓣析</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.合力与其分力同时作用在物体上.</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,合力为分力矢量和</a:t>
                </a:r>
                <a:r>
                  <a:rPr lang="en-US" altLang="zh-CN" sz="2400" b="0" i="0">
                    <a:solidFill>
                      <a:srgbClr val="000000"/>
                    </a:solidFill>
                    <a:latin typeface="Times New Roman" pitchFamily="34" charset="0"/>
                    <a:ea typeface="微软雅黑" pitchFamily="34" charset="-122"/>
                    <a:cs typeface="Times New Roman" pitchFamily="34" charset="-120"/>
                  </a:rPr>
                  <a:t>,二者在作用上是相互替</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代关系</a:t>
                </a:r>
                <a:r>
                  <a:rPr lang="en-US" altLang="zh-CN" sz="2400" b="0" i="0" dirty="0">
                    <a:solidFill>
                      <a:srgbClr val="000000"/>
                    </a:solidFill>
                    <a:latin typeface="Times New Roman" pitchFamily="34" charset="0"/>
                    <a:ea typeface="微软雅黑" pitchFamily="34" charset="-122"/>
                    <a:cs typeface="Times New Roman" pitchFamily="34" charset="-120"/>
                  </a:rPr>
                  <a:t>，不能说它们同时作用在物体上</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.合力产生的效果与分力共同作用产生的效果相同.（√）</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.合力大小一定大于每个分力的大小.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,合力大小可以比分力小</a:t>
                </a:r>
                <a:r>
                  <a:rPr lang="en-US" altLang="zh-CN" sz="2400" b="0" i="0">
                    <a:solidFill>
                      <a:srgbClr val="000000"/>
                    </a:solidFill>
                    <a:latin typeface="Times New Roman" pitchFamily="34" charset="0"/>
                    <a:ea typeface="微软雅黑" pitchFamily="34" charset="-122"/>
                    <a:cs typeface="Times New Roman" pitchFamily="34" charset="-120"/>
                  </a:rPr>
                  <a:t>，如一对大小不</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为</a:t>
                </a:r>
                <a:r>
                  <a:rPr lang="en-US" altLang="zh-CN" sz="2400" b="0" i="0" dirty="0">
                    <a:solidFill>
                      <a:srgbClr val="000000"/>
                    </a:solidFill>
                    <a:latin typeface="Times New Roman" pitchFamily="34" charset="0"/>
                    <a:ea typeface="微软雅黑" pitchFamily="34" charset="-122"/>
                    <a:cs typeface="Times New Roman" pitchFamily="34" charset="-120"/>
                  </a:rPr>
                  <a:t>0的平衡力的合力为0</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.合力有可能小于任何一个分力.（√）</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5</a:t>
                </a:r>
                <a:r>
                  <a:rPr lang="en-US" altLang="zh-CN" sz="2400" b="0" i="0" dirty="0">
                    <a:solidFill>
                      <a:srgbClr val="000000"/>
                    </a:solidFill>
                    <a:latin typeface="Times New Roman" pitchFamily="34" charset="0"/>
                    <a:ea typeface="微软雅黑" pitchFamily="34" charset="-122"/>
                    <a:cs typeface="Times New Roman" pitchFamily="34" charset="-120"/>
                  </a:rPr>
                  <a:t>.不同性质的力不可以合成.</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，力的合成是对力的作用效果的合成</a:t>
                </a:r>
                <a:r>
                  <a:rPr lang="en-US" altLang="zh-CN" sz="2400" b="0" i="0">
                    <a:solidFill>
                      <a:srgbClr val="000000"/>
                    </a:solidFill>
                    <a:latin typeface="Times New Roman" pitchFamily="34" charset="0"/>
                    <a:ea typeface="微软雅黑" pitchFamily="34" charset="-122"/>
                    <a:cs typeface="Times New Roman" pitchFamily="34" charset="-120"/>
                  </a:rPr>
                  <a:t>，力的性质</a:t>
                </a:r>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不同对力的合成不构成影响</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xmlns="">
          <p:sp>
            <p:nvSpPr>
              <p:cNvPr id="2" name="P_6_BD#294dfc7ac?vcp=1&amp;pid=168b35990&amp;color=0,0,0&amp;vtp=1&amp;bt=1&amp;bbb=1&amp;hb=1"/>
              <p:cNvSpPr>
                <a:spLocks noRot="1" noChangeAspect="1" noMove="1" noResize="1" noEditPoints="1" noAdjustHandles="1" noChangeArrowheads="1" noChangeShapeType="1" noTextEdit="1"/>
              </p:cNvSpPr>
              <p:nvPr/>
            </p:nvSpPr>
            <p:spPr>
              <a:xfrm>
                <a:off x="393192" y="960692"/>
                <a:ext cx="11402568" cy="4952492"/>
              </a:xfrm>
              <a:prstGeom prst="rect">
                <a:avLst/>
              </a:prstGeom>
              <a:blipFill>
                <a:blip r:embed="rId3"/>
                <a:stretch>
                  <a:fillRect l="-1658" r="-1016" b="-3818"/>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1.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p:pic>
        <p:nvPicPr>
          <p:cNvPr id="2" name="C_5#3975d5cb7?vcp=1&amp;pid=09eab9a21&amp;color=0,0,0&amp;tib=255,255,255&amp;vtp=1&amp;bt=1" descr="preencoded.png"/>
          <p:cNvPicPr>
            <a:picLocks noChangeAspect="1"/>
          </p:cNvPicPr>
          <p:nvPr/>
        </p:nvPicPr>
        <p:blipFill>
          <a:blip r:embed="rId3"/>
          <a:stretch>
            <a:fillRect/>
          </a:stretch>
        </p:blipFill>
        <p:spPr>
          <a:xfrm>
            <a:off x="411480" y="502920"/>
            <a:ext cx="11320272" cy="457200"/>
          </a:xfrm>
          <a:prstGeom prst="rect">
            <a:avLst/>
          </a:prstGeom>
        </p:spPr>
      </p:pic>
      <p:sp>
        <p:nvSpPr>
          <p:cNvPr id="3" name="C_5_BD#3975d5cb7?vcp=1&amp;pid=09eab9a21&amp;color=255,255,255&amp;vtp=1"/>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2</a:t>
            </a:r>
            <a:endParaRPr lang="en-US" altLang="zh-CN" sz="2800" dirty="0"/>
          </a:p>
        </p:txBody>
      </p:sp>
      <p:sp>
        <p:nvSpPr>
          <p:cNvPr id="4" name="C_5_BD#3975d5cb7?vcp=1&amp;pid=09eab9a21&amp;color=0,0,0&amp;vtp=1&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力的合成</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易错点</a:t>
            </a:r>
            <a:endParaRPr lang="en-US" altLang="zh-CN" sz="2600" dirty="0"/>
          </a:p>
        </p:txBody>
      </p:sp>
      <p:pic>
        <p:nvPicPr>
          <p:cNvPr id="5" name="P_6_BD#1f2675002?iti=1&amp;htil=3&amp;vcp=1&amp;pid=3975d5cb7&amp;color=0,0,0&amp;tib=255,255,255&amp;vtp=1&amp;hs=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10020422" y="1137920"/>
            <a:ext cx="1673352" cy="1344168"/>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6" name="P_6_BD#1f2675002?iti=1&amp;htil=3&amp;vcp=1&amp;pid=3975d5cb7&amp;color=0,0,0&amp;vtp=1"/>
          <p:cNvSpPr/>
          <p:nvPr/>
        </p:nvSpPr>
        <p:spPr>
          <a:xfrm>
            <a:off x="10670567" y="2609088"/>
            <a:ext cx="373062" cy="895096"/>
          </a:xfrm>
          <a:prstGeom prst="rect">
            <a:avLst/>
          </a:prstGeom>
          <a:noFill/>
          <a:ln/>
        </p:spPr>
        <p:txBody>
          <a:bodyPr wrap="square" lIns="0" tIns="0" rIns="0" bIns="0" rtlCol="0" anchor="t"/>
          <a:lstStyle/>
          <a:p>
            <a:pPr algn="ctr" latinLnBrk="1">
              <a:lnSpc>
                <a:spcPct val="150000"/>
              </a:lnSpc>
            </a:pPr>
            <a:r>
              <a:rPr lang="en-US" altLang="zh-CN" sz="2400" b="0" i="0" dirty="0">
                <a:solidFill>
                  <a:srgbClr val="000000"/>
                </a:solidFill>
                <a:latin typeface="Times New Roman" pitchFamily="34" charset="0"/>
                <a:ea typeface="微软雅黑" pitchFamily="34" charset="-122"/>
                <a:cs typeface="Times New Roman" pitchFamily="34" charset="-120"/>
              </a:rPr>
              <a:t>甲</a:t>
            </a:r>
            <a:endParaRPr lang="en-US" altLang="zh-CN" sz="2400" dirty="0"/>
          </a:p>
        </p:txBody>
      </p:sp>
      <p:sp>
        <p:nvSpPr>
          <p:cNvPr id="7" name="P_6_BD#1f2675002?htil=3&amp;vcp=1&amp;pid=3975d5cb7&amp;color=0,0,0&amp;vtp=1&amp;bbb=1&amp;hb=1"/>
          <p:cNvSpPr/>
          <p:nvPr/>
        </p:nvSpPr>
        <p:spPr>
          <a:xfrm>
            <a:off x="393192" y="1092200"/>
            <a:ext cx="9592056" cy="2713800"/>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.平行四边形定则</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求两个互成角度的力的合力，可以用表示这两个力的线段为邻边作</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平行四边形</a:t>
            </a:r>
            <a:r>
              <a:rPr lang="en-US" altLang="zh-CN" sz="2400" b="0" i="0" dirty="0">
                <a:solidFill>
                  <a:srgbClr val="000000"/>
                </a:solidFill>
                <a:latin typeface="Times New Roman" pitchFamily="34" charset="0"/>
                <a:ea typeface="微软雅黑" pitchFamily="34" charset="-122"/>
                <a:cs typeface="Times New Roman" pitchFamily="34" charset="-120"/>
              </a:rPr>
              <a:t>，这两个邻边之间的对角线就表示合力的大小和方向</a:t>
            </a:r>
            <a:r>
              <a:rPr lang="en-US" altLang="zh-CN" sz="2400" b="0" i="0">
                <a:solidFill>
                  <a:srgbClr val="000000"/>
                </a:solidFill>
                <a:latin typeface="Times New Roman" pitchFamily="34" charset="0"/>
                <a:ea typeface="微软雅黑" pitchFamily="34" charset="-122"/>
                <a:cs typeface="Times New Roman" pitchFamily="34" charset="-120"/>
              </a:rPr>
              <a:t>，如图</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甲所示</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sld>
</file>

<file path=ppt/slides/slide12.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pic>
        <p:nvPicPr>
          <p:cNvPr id="2" name="P_6_BD#1f2675002?iti=2&amp;htil=4&amp;vcp=1&amp;pid=3975d5cb7&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187397" y="901732"/>
            <a:ext cx="2542032" cy="142646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P_6_BD#1f2675002?iti=2&amp;htil=4&amp;vcp=1&amp;pid=3975d5cb7&amp;color=0,0,0&amp;vtp=1"/>
          <p:cNvSpPr/>
          <p:nvPr/>
        </p:nvSpPr>
        <p:spPr>
          <a:xfrm>
            <a:off x="10271882" y="2442496"/>
            <a:ext cx="373062" cy="895096"/>
          </a:xfrm>
          <a:prstGeom prst="rect">
            <a:avLst/>
          </a:prstGeom>
          <a:noFill/>
          <a:ln/>
        </p:spPr>
        <p:txBody>
          <a:bodyPr wrap="square" lIns="0" tIns="0" rIns="0" bIns="0" rtlCol="0" anchor="t"/>
          <a:lstStyle/>
          <a:p>
            <a:pPr algn="ctr" latinLnBrk="1">
              <a:lnSpc>
                <a:spcPct val="150000"/>
              </a:lnSpc>
            </a:pPr>
            <a:r>
              <a:rPr lang="en-US" altLang="zh-CN" sz="2400" b="0" i="0" dirty="0">
                <a:solidFill>
                  <a:srgbClr val="000000"/>
                </a:solidFill>
                <a:latin typeface="Times New Roman" pitchFamily="34" charset="0"/>
                <a:ea typeface="微软雅黑" pitchFamily="34" charset="-122"/>
                <a:cs typeface="Times New Roman" pitchFamily="34" charset="-120"/>
              </a:rPr>
              <a:t>乙</a:t>
            </a:r>
            <a:endParaRPr lang="en-US" altLang="zh-CN" sz="2400" dirty="0"/>
          </a:p>
        </p:txBody>
      </p:sp>
      <mc:AlternateContent xmlns:mc="http://schemas.openxmlformats.org/markup-compatibility/2006" xmlns:a14="http://schemas.microsoft.com/office/drawing/2010/main">
        <mc:Choice Requires="a14">
          <p:sp>
            <p:nvSpPr>
              <p:cNvPr id="4" name="P_6_BD#1f2675002?htil=4&amp;vcp=1&amp;pid=3975d5cb7&amp;color=0,0,0&amp;vtp=1&amp;bt=1&amp;bbb=1&amp;hb=1&amp;hs=1"/>
              <p:cNvSpPr/>
              <p:nvPr/>
            </p:nvSpPr>
            <p:spPr>
              <a:xfrm>
                <a:off x="393192" y="856012"/>
                <a:ext cx="8723376"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2.求合力的公式</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如图乙所示</a:t>
                </a:r>
                <a:r>
                  <a:rPr lang="en-US" altLang="zh-CN" sz="2400" b="0" i="0" dirty="0">
                    <a:solidFill>
                      <a:srgbClr val="000000"/>
                    </a:solidFill>
                    <a:latin typeface="Times New Roman" pitchFamily="34" charset="0"/>
                    <a:ea typeface="微软雅黑" pitchFamily="34" charset="-122"/>
                    <a:cs typeface="Times New Roman" pitchFamily="34" charset="-120"/>
                  </a:rPr>
                  <a:t>，有向线段</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𝑂𝐵</m:t>
                    </m:r>
                  </m:oMath>
                </a14:m>
                <a:r>
                  <a:rPr lang="en-US" altLang="zh-CN" sz="2400" b="0" i="0" dirty="0">
                    <a:solidFill>
                      <a:srgbClr val="000000"/>
                    </a:solidFill>
                    <a:latin typeface="Times New Roman" pitchFamily="34" charset="0"/>
                    <a:ea typeface="微软雅黑" pitchFamily="34" charset="-122"/>
                    <a:cs typeface="Times New Roman" pitchFamily="34" charset="-120"/>
                  </a:rPr>
                  <a:t>分别表示作用在物体</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点上的</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两个力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2400" b="0" i="0" dirty="0">
                    <a:solidFill>
                      <a:srgbClr val="000000"/>
                    </a:solidFill>
                    <a:latin typeface="Times New Roman" pitchFamily="34" charset="0"/>
                    <a:ea typeface="微软雅黑" pitchFamily="34" charset="-122"/>
                    <a:cs typeface="Times New Roman" pitchFamily="34" charset="-120"/>
                  </a:rPr>
                  <a:t>表示它们的合力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的夹角为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4" name="P_6_BD#1f2675002?htil=4&amp;vcp=1&amp;pid=3975d5cb7&amp;color=0,0,0&amp;vtp=1&amp;bt=1&amp;bbb=1&amp;hb=1&amp;hs=1"/>
              <p:cNvSpPr>
                <a:spLocks noRot="1" noChangeAspect="1" noMove="1" noResize="1" noEditPoints="1" noAdjustHandles="1" noChangeArrowheads="1" noChangeShapeType="1" noTextEdit="1"/>
              </p:cNvSpPr>
              <p:nvPr/>
            </p:nvSpPr>
            <p:spPr>
              <a:xfrm>
                <a:off x="393192" y="856012"/>
                <a:ext cx="8723376" cy="1592199"/>
              </a:xfrm>
              <a:prstGeom prst="rect">
                <a:avLst/>
              </a:prstGeom>
              <a:blipFill>
                <a:blip r:embed="rId4"/>
                <a:stretch>
                  <a:fillRect l="-2166" r="-1258" b="-11450"/>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P_6_BD#1f2675002?htil=4&amp;vcp=1&amp;pid=3975d5cb7&amp;color=0,0,0&amp;vtp=1&amp;bbb=1&amp;hb=1&amp;hs=1"/>
              <p:cNvSpPr/>
              <p:nvPr/>
            </p:nvSpPr>
            <p:spPr>
              <a:xfrm>
                <a:off x="393192" y="2505551"/>
                <a:ext cx="8723376" cy="484124"/>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在三角形</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𝑂𝐴𝐶</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中</a:t>
                </a:r>
                <a:r>
                  <a:rPr lang="en-US" altLang="zh-CN" sz="2400" b="0" i="0">
                    <a:solidFill>
                      <a:srgbClr val="000000"/>
                    </a:solidFill>
                    <a:latin typeface="Times New Roman" pitchFamily="34" charset="0"/>
                    <a:ea typeface="微软雅黑" pitchFamily="34" charset="-122"/>
                    <a:cs typeface="Times New Roman" pitchFamily="34" charset="-120"/>
                  </a:rPr>
                  <a:t>，根据余弦定理可得</a:t>
                </a:r>
                <a:endParaRPr lang="en-US" altLang="zh-CN" sz="2400" dirty="0"/>
              </a:p>
            </p:txBody>
          </p:sp>
        </mc:Choice>
        <mc:Fallback xmlns="">
          <p:sp>
            <p:nvSpPr>
              <p:cNvPr id="5" name="P_6_BD#1f2675002?htil=4&amp;vcp=1&amp;pid=3975d5cb7&amp;color=0,0,0&amp;vtp=1&amp;bbb=1&amp;hb=1&amp;hs=1"/>
              <p:cNvSpPr>
                <a:spLocks noRot="1" noChangeAspect="1" noMove="1" noResize="1" noEditPoints="1" noAdjustHandles="1" noChangeArrowheads="1" noChangeShapeType="1" noTextEdit="1"/>
              </p:cNvSpPr>
              <p:nvPr/>
            </p:nvSpPr>
            <p:spPr>
              <a:xfrm>
                <a:off x="393192" y="2505551"/>
                <a:ext cx="8723376" cy="484124"/>
              </a:xfrm>
              <a:prstGeom prst="rect">
                <a:avLst/>
              </a:prstGeom>
              <a:blipFill>
                <a:blip r:embed="rId5"/>
                <a:stretch>
                  <a:fillRect b="-39241"/>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P_6_BD#1f2675002?htil=4&amp;vcp=1&amp;pid=3975d5cb7&amp;color=0,0,0&amp;vtp=1&amp;bbb=1&amp;hb=1&amp;hs=1">
                <a:extLst>
                  <a:ext uri="{FF2B5EF4-FFF2-40B4-BE49-F238E27FC236}">
                    <a16:creationId xmlns:a16="http://schemas.microsoft.com/office/drawing/2014/main" id="{F07CF43E-28B9-53BC-DF6B-3EFF19929C45}"/>
                  </a:ext>
                </a:extLst>
              </p:cNvPr>
              <p:cNvSpPr/>
              <p:nvPr/>
            </p:nvSpPr>
            <p:spPr>
              <a:xfrm>
                <a:off x="393192" y="2993803"/>
                <a:ext cx="11400008" cy="2882900"/>
              </a:xfrm>
              <a:prstGeom prst="rect">
                <a:avLst/>
              </a:prstGeom>
              <a:noFill/>
              <a:ln/>
            </p:spPr>
            <p:txBody>
              <a:bodyPr wrap="none" lIns="0" tIns="0" rIns="0" bIns="0" rtlCol="0" anchor="t"/>
              <a:lstStyle/>
              <a:p>
                <a:pPr latinLnBrk="1">
                  <a:lnSpc>
                    <a:spcPts val="4400"/>
                  </a:lnSpc>
                </a:pP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𝐹</m:t>
                        </m:r>
                      </m:e>
                      <m:sup>
                        <m:r>
                          <a:rPr lang="en-US" altLang="zh-CN" sz="2400" b="0" i="0">
                            <a:solidFill>
                              <a:srgbClr val="000000"/>
                            </a:solidFill>
                            <a:latin typeface="Cambria Math" pitchFamily="34" charset="0"/>
                            <a:ea typeface="Cambria Math" pitchFamily="34" charset="-122"/>
                            <a:cs typeface="Cambria Math" pitchFamily="34" charset="-120"/>
                          </a:rPr>
                          <m:t>2</m:t>
                        </m:r>
                      </m:sup>
                    </m:sSup>
                    <m:r>
                      <a:rPr lang="en-US" altLang="zh-CN" sz="2400" b="0" i="0">
                        <a:solidFill>
                          <a:srgbClr val="000000"/>
                        </a:solidFill>
                        <a:latin typeface="Cambria Math" pitchFamily="34" charset="0"/>
                        <a:ea typeface="Cambria Math" pitchFamily="34" charset="-122"/>
                        <a:cs typeface="Cambria Math" pitchFamily="34" charset="-120"/>
                      </a:rPr>
                      <m:t>=</m:t>
                    </m:r>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up>
                        <m:r>
                          <a:rPr lang="en-US" altLang="zh-CN" sz="2400" b="0" i="0">
                            <a:solidFill>
                              <a:srgbClr val="000000"/>
                            </a:solidFill>
                            <a:latin typeface="Cambria Math" pitchFamily="34" charset="0"/>
                            <a:ea typeface="Cambria Math" pitchFamily="34" charset="-122"/>
                            <a:cs typeface="Cambria Math" pitchFamily="34" charset="-120"/>
                          </a:rPr>
                          <m:t>2</m:t>
                        </m:r>
                      </m:sup>
                    </m:sSubSup>
                    <m:r>
                      <a:rPr lang="en-US" altLang="zh-CN" sz="2400" b="0" i="0">
                        <a:solidFill>
                          <a:srgbClr val="000000"/>
                        </a:solidFill>
                        <a:latin typeface="Cambria Math" pitchFamily="34" charset="0"/>
                        <a:ea typeface="Cambria Math" pitchFamily="34" charset="-122"/>
                        <a:cs typeface="Cambria Math" pitchFamily="34" charset="-120"/>
                      </a:rPr>
                      <m:t>+</m:t>
                    </m:r>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up>
                        <m:r>
                          <a:rPr lang="en-US" altLang="zh-CN" sz="2400" b="0" i="0">
                            <a:solidFill>
                              <a:srgbClr val="000000"/>
                            </a:solidFill>
                            <a:latin typeface="Cambria Math" pitchFamily="34" charset="0"/>
                            <a:ea typeface="Cambria Math" pitchFamily="34" charset="-122"/>
                            <a:cs typeface="Cambria Math" pitchFamily="34" charset="-120"/>
                          </a:rPr>
                          <m:t>2</m:t>
                        </m:r>
                      </m:sup>
                    </m:sSubSup>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180</m:t>
                        </m:r>
                      </m:e>
                      <m:sup>
                        <m:r>
                          <a:rPr lang="en-US" altLang="zh-CN" sz="2400" b="0" i="0">
                            <a:solidFill>
                              <a:srgbClr val="000000"/>
                            </a:solidFill>
                            <a:latin typeface="Cambria Math" pitchFamily="34" charset="0"/>
                            <a:ea typeface="Cambria Math" pitchFamily="34" charset="-122"/>
                            <a:cs typeface="Cambria Math" pitchFamily="34" charset="-120"/>
                          </a:rPr>
                          <m:t>∘</m:t>
                        </m:r>
                      </m:sup>
                    </m:sSup>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up>
                        <m:r>
                          <a:rPr lang="en-US" altLang="zh-CN" sz="2400" b="0" i="0">
                            <a:solidFill>
                              <a:srgbClr val="000000"/>
                            </a:solidFill>
                            <a:latin typeface="Cambria Math" pitchFamily="34" charset="0"/>
                            <a:ea typeface="Cambria Math" pitchFamily="34" charset="-122"/>
                            <a:cs typeface="Cambria Math" pitchFamily="34" charset="-120"/>
                          </a:rPr>
                          <m:t>2</m:t>
                        </m:r>
                      </m:sup>
                    </m:sSubSup>
                    <m:r>
                      <a:rPr lang="en-US" altLang="zh-CN" sz="2400" b="0" i="0">
                        <a:solidFill>
                          <a:srgbClr val="000000"/>
                        </a:solidFill>
                        <a:latin typeface="Cambria Math" pitchFamily="34" charset="0"/>
                        <a:ea typeface="Cambria Math" pitchFamily="34" charset="-122"/>
                        <a:cs typeface="Cambria Math" pitchFamily="34" charset="-120"/>
                      </a:rPr>
                      <m:t>+</m:t>
                    </m:r>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up>
                        <m:r>
                          <a:rPr lang="en-US" altLang="zh-CN" sz="2400" b="0" i="0">
                            <a:solidFill>
                              <a:srgbClr val="000000"/>
                            </a:solidFill>
                            <a:latin typeface="Cambria Math" pitchFamily="34" charset="0"/>
                            <a:ea typeface="Cambria Math" pitchFamily="34" charset="-122"/>
                            <a:cs typeface="Cambria Math" pitchFamily="34" charset="-120"/>
                          </a:rPr>
                          <m:t>2</m:t>
                        </m:r>
                      </m:sup>
                    </m:sSubSup>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所以合力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m:t>
                    </m:r>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sSubSup>
                          <m:sSub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up>
                            <m:r>
                              <a:rPr lang="en-US" altLang="zh-CN" sz="2400" b="0" i="0">
                                <a:solidFill>
                                  <a:srgbClr val="000000"/>
                                </a:solidFill>
                                <a:latin typeface="Cambria Math" pitchFamily="34" charset="0"/>
                                <a:ea typeface="Cambria Math" pitchFamily="34" charset="-122"/>
                                <a:cs typeface="Cambria Math" pitchFamily="34" charset="-120"/>
                              </a:rPr>
                              <m:t>2</m:t>
                            </m:r>
                          </m:sup>
                        </m:sSubSup>
                        <m:r>
                          <a:rPr lang="en-US" altLang="zh-CN" sz="2400" b="0" i="0">
                            <a:solidFill>
                              <a:srgbClr val="000000"/>
                            </a:solidFill>
                            <a:latin typeface="Cambria Math" pitchFamily="34" charset="0"/>
                            <a:ea typeface="Cambria Math" pitchFamily="34" charset="-122"/>
                            <a:cs typeface="Cambria Math" pitchFamily="34" charset="-120"/>
                          </a:rPr>
                          <m:t>+</m:t>
                        </m:r>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up>
                            <m:r>
                              <a:rPr lang="en-US" altLang="zh-CN" sz="2400" b="0" i="0">
                                <a:solidFill>
                                  <a:srgbClr val="000000"/>
                                </a:solidFill>
                                <a:latin typeface="Cambria Math" pitchFamily="34" charset="0"/>
                                <a:ea typeface="Cambria Math" pitchFamily="34" charset="-122"/>
                                <a:cs typeface="Cambria Math" pitchFamily="34" charset="-120"/>
                              </a:rPr>
                              <m:t>2</m:t>
                            </m:r>
                          </m:sup>
                        </m:sSubSup>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e>
                    </m:rad>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合力的方向可以用合力跟任一分力的夹角表示</a:t>
                </a:r>
                <a:r>
                  <a:rPr lang="en-US" altLang="zh-CN" sz="2400" b="0" i="0" dirty="0">
                    <a:solidFill>
                      <a:srgbClr val="000000"/>
                    </a:solidFill>
                    <a:latin typeface="Times New Roman" pitchFamily="34" charset="0"/>
                    <a:ea typeface="微软雅黑" pitchFamily="34" charset="-122"/>
                    <a:cs typeface="Times New Roman" pitchFamily="34" charset="-120"/>
                  </a:rPr>
                  <a:t>.设</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a:solidFill>
                      <a:srgbClr val="000000"/>
                    </a:solidFill>
                    <a:latin typeface="Times New Roman" pitchFamily="34" charset="0"/>
                    <a:ea typeface="微软雅黑" pitchFamily="34" charset="-122"/>
                    <a:cs typeface="Times New Roman" pitchFamily="34" charset="-120"/>
                  </a:rPr>
                  <a:t>的夹角为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𝜑</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，利用直角三</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角形</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𝑂𝐷𝐶</m:t>
                    </m:r>
                  </m:oMath>
                </a14:m>
                <a:r>
                  <a:rPr lang="en-US" altLang="zh-CN" sz="2400" b="0" i="0" dirty="0">
                    <a:solidFill>
                      <a:srgbClr val="000000"/>
                    </a:solidFill>
                    <a:latin typeface="Times New Roman" pitchFamily="34" charset="0"/>
                    <a:ea typeface="微软雅黑" pitchFamily="34" charset="-122"/>
                    <a:cs typeface="Times New Roman" pitchFamily="34" charset="-120"/>
                  </a:rPr>
                  <a:t>可求出角</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𝜑</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的正切值</a:t>
                </a:r>
                <a:endParaRPr lang="en-US" altLang="zh-CN" sz="2400" dirty="0"/>
              </a:p>
              <a:p>
                <a:pPr algn="ctr" latinLnBrk="1">
                  <a:lnSpc>
                    <a:spcPts val="5100"/>
                  </a:lnSpc>
                </a:pP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tan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𝜑</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𝐶𝐷</m:t>
                        </m:r>
                      </m:num>
                      <m:den>
                        <m:r>
                          <a:rPr lang="en-US" altLang="zh-CN" sz="2400" b="0" i="0">
                            <a:solidFill>
                              <a:srgbClr val="000000"/>
                            </a:solidFill>
                            <a:latin typeface="Cambria Math" pitchFamily="34" charset="0"/>
                            <a:ea typeface="Cambria Math" pitchFamily="34" charset="-122"/>
                            <a:cs typeface="Cambria Math" pitchFamily="34" charset="-120"/>
                          </a:rPr>
                          <m:t>𝑂𝐷</m:t>
                        </m:r>
                      </m:den>
                    </m:f>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𝐶𝐷</m:t>
                        </m:r>
                      </m:num>
                      <m:den>
                        <m:r>
                          <a:rPr lang="en-US" altLang="zh-CN" sz="2400" b="0" i="0">
                            <a:solidFill>
                              <a:srgbClr val="000000"/>
                            </a:solidFill>
                            <a:latin typeface="Cambria Math" pitchFamily="34" charset="0"/>
                            <a:ea typeface="Cambria Math" pitchFamily="34" charset="-122"/>
                            <a:cs typeface="Cambria Math" pitchFamily="34" charset="-120"/>
                          </a:rPr>
                          <m:t>𝑂𝐴</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𝐴𝐷</m:t>
                        </m:r>
                      </m:den>
                    </m:f>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num>
                      <m:den>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𝜃</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6" name="P_6_BD#1f2675002?htil=4&amp;vcp=1&amp;pid=3975d5cb7&amp;color=0,0,0&amp;vtp=1&amp;bbb=1&amp;hb=1&amp;hs=1">
                <a:extLst>
                  <a:ext uri="{FF2B5EF4-FFF2-40B4-BE49-F238E27FC236}">
                    <a16:creationId xmlns:a16="http://schemas.microsoft.com/office/drawing/2014/main" id="{F07CF43E-28B9-53BC-DF6B-3EFF19929C45}"/>
                  </a:ext>
                </a:extLst>
              </p:cNvPr>
              <p:cNvSpPr>
                <a:spLocks noRot="1" noChangeAspect="1" noMove="1" noResize="1" noEditPoints="1" noAdjustHandles="1" noChangeArrowheads="1" noChangeShapeType="1" noTextEdit="1"/>
              </p:cNvSpPr>
              <p:nvPr/>
            </p:nvSpPr>
            <p:spPr>
              <a:xfrm>
                <a:off x="393192" y="2993803"/>
                <a:ext cx="11400008" cy="2882900"/>
              </a:xfrm>
              <a:prstGeom prst="rect">
                <a:avLst/>
              </a:prstGeom>
              <a:blipFill>
                <a:blip r:embed="rId6"/>
                <a:stretch>
                  <a:fillRect l="-1658" r="-642" b="-2114"/>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3.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B_6_BD.7_1#baaa115a3?vcp=1&amp;pid=3975d5cb7&amp;color=0,0,0&amp;vtp=1&amp;bt=1&amp;bbb=1&amp;hb=1"/>
              <p:cNvSpPr/>
              <p:nvPr/>
            </p:nvSpPr>
            <p:spPr>
              <a:xfrm>
                <a:off x="393192" y="703581"/>
                <a:ext cx="11402568" cy="27097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a:t>
                </a:r>
                <a:r>
                  <a:rPr lang="en-US" altLang="zh-CN" sz="2400" b="1" i="0">
                    <a:solidFill>
                      <a:srgbClr val="0070C0"/>
                    </a:solidFill>
                    <a:latin typeface="Times New Roman" pitchFamily="34" charset="0"/>
                    <a:ea typeface="微软雅黑" pitchFamily="34" charset="-122"/>
                    <a:cs typeface="Times New Roman" pitchFamily="34" charset="-120"/>
                  </a:rPr>
                  <a:t>2</a:t>
                </a:r>
                <a:r>
                  <a:rPr lang="en-US" altLang="zh-CN" sz="2400" b="1" i="0">
                    <a:solidFill>
                      <a:srgbClr val="0070C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杨浦大桥是我国自行设计建造的继南浦大桥之后又一座跨越黄浦江的双塔双索</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面迭合梁斜拉桥</a:t>
                </a:r>
                <a:r>
                  <a:rPr lang="en-US" altLang="zh-CN" sz="2400" b="0" i="0" dirty="0">
                    <a:solidFill>
                      <a:srgbClr val="000000"/>
                    </a:solidFill>
                    <a:latin typeface="Times New Roman" pitchFamily="34" charset="0"/>
                    <a:ea typeface="微软雅黑" pitchFamily="34" charset="-122"/>
                    <a:cs typeface="Times New Roman" pitchFamily="34" charset="-120"/>
                  </a:rPr>
                  <a:t>,如图所示.挺拔高耸的208米主塔似一把利剑直刺苍穹,塔的两侧由</a:t>
                </a:r>
                <a:r>
                  <a:rPr lang="en-US" altLang="zh-CN" sz="2400" b="0" i="0">
                    <a:solidFill>
                      <a:srgbClr val="000000"/>
                    </a:solidFill>
                    <a:latin typeface="Times New Roman" pitchFamily="34" charset="0"/>
                    <a:ea typeface="微软雅黑" pitchFamily="34" charset="-122"/>
                    <a:cs typeface="Times New Roman" pitchFamily="34" charset="-120"/>
                  </a:rPr>
                  <a:t>32对</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钢索连接主梁</a:t>
                </a:r>
                <a:r>
                  <a:rPr lang="en-US" altLang="zh-CN" sz="2400" b="0" i="0" dirty="0">
                    <a:solidFill>
                      <a:srgbClr val="000000"/>
                    </a:solidFill>
                    <a:latin typeface="Times New Roman" pitchFamily="34" charset="0"/>
                    <a:ea typeface="微软雅黑" pitchFamily="34" charset="-122"/>
                    <a:cs typeface="Times New Roman" pitchFamily="34" charset="-120"/>
                  </a:rPr>
                  <a:t>，呈扇面展开,如巨型琴弦,正弹奏着巨龙腾飞的奏鸣曲</a:t>
                </a:r>
                <a:r>
                  <a:rPr lang="en-US" altLang="zh-CN" sz="2400" b="0" i="0">
                    <a:solidFill>
                      <a:srgbClr val="000000"/>
                    </a:solidFill>
                    <a:latin typeface="Times New Roman" pitchFamily="34" charset="0"/>
                    <a:ea typeface="微软雅黑" pitchFamily="34" charset="-122"/>
                    <a:cs typeface="Times New Roman" pitchFamily="34" charset="-120"/>
                  </a:rPr>
                  <a:t>.假设斜拉桥中某</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对钢索与竖直方向的夹角都是</a:t>
                </a:r>
                <a14:m>
                  <m:oMath xmlns:m="http://schemas.openxmlformats.org/officeDocument/2006/math">
                    <m:sSup>
                      <m:sSup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30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,每根钢索中的拉力都是</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3×</m:t>
                    </m:r>
                    <m:sSup>
                      <m:sSup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10</m:t>
                        </m:r>
                      </m:e>
                      <m:sup>
                        <m:r>
                          <a:rPr lang="en-US" altLang="zh-CN" sz="2400" b="0" i="0">
                            <a:solidFill>
                              <a:srgbClr val="000000"/>
                            </a:solidFill>
                            <a:latin typeface="Cambria Math" pitchFamily="34" charset="0"/>
                            <a:ea typeface="Cambria Math" pitchFamily="34" charset="-122"/>
                            <a:cs typeface="Cambria Math" pitchFamily="34" charset="-120"/>
                          </a:rPr>
                          <m:t>4</m:t>
                        </m:r>
                      </m:sup>
                    </m:sSup>
                    <m:r>
                      <m:rPr>
                        <m:nor/>
                      </m:rPr>
                      <a:rPr lang="en-US" altLang="zh-CN" sz="2400" b="0" i="0" smtClean="0">
                        <a:solidFill>
                          <a:srgbClr val="000000"/>
                        </a:solidFill>
                        <a:latin typeface="Cambria Math" pitchFamily="34" charset="0"/>
                        <a:ea typeface="Cambria Math" pitchFamily="34" charset="-122"/>
                        <a:cs typeface="Cambria Math" pitchFamily="34" charset="-120"/>
                      </a:rPr>
                      <m:t> </m:t>
                    </m:r>
                    <m:r>
                      <m:rPr>
                        <m:sty m:val="p"/>
                      </m:rPr>
                      <a:rPr lang="en-US" altLang="zh-CN" sz="2400" b="0" i="0" smtClean="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,那么它们对塔柱</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形成的合力为</a:t>
                </a:r>
                <a:r>
                  <a:rPr lang="en-US" altLang="zh-CN" sz="2400" i="0">
                    <a:solidFill>
                      <a:srgbClr val="000000"/>
                    </a:solidFill>
                    <a:latin typeface="SimSun" pitchFamily="34" charset="0"/>
                    <a:ea typeface="SimSun" pitchFamily="34" charset="-122"/>
                    <a:cs typeface="SimSun" pitchFamily="34" charset="-120"/>
                  </a:rPr>
                  <a:t>____________</a:t>
                </a:r>
                <a:r>
                  <a:rPr lang="en-US" altLang="zh-CN" sz="2400" b="0" i="0">
                    <a:solidFill>
                      <a:srgbClr val="000000"/>
                    </a:solidFill>
                    <a:latin typeface="Times New Roman" pitchFamily="34" charset="0"/>
                    <a:ea typeface="微软雅黑" pitchFamily="34" charset="-122"/>
                    <a:cs typeface="Times New Roman" pitchFamily="34" charset="-120"/>
                  </a:rPr>
                  <a:t>,方向</a:t>
                </a:r>
                <a:r>
                  <a:rPr lang="en-US" altLang="zh-CN" sz="2400" i="0">
                    <a:solidFill>
                      <a:srgbClr val="000000"/>
                    </a:solidFill>
                    <a:latin typeface="SimSun" pitchFamily="34" charset="0"/>
                    <a:ea typeface="SimSun" pitchFamily="34" charset="-122"/>
                    <a:cs typeface="SimSun" pitchFamily="34" charset="-120"/>
                  </a:rPr>
                  <a:t>__________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solidFill>
                    <a:srgbClr val="000000"/>
                  </a:solidFill>
                </a:endParaRPr>
              </a:p>
            </p:txBody>
          </p:sp>
        </mc:Choice>
        <mc:Fallback xmlns="">
          <p:sp>
            <p:nvSpPr>
              <p:cNvPr id="2" name="QB_6_BD.7_1#baaa115a3?vcp=1&amp;pid=3975d5cb7&amp;color=0,0,0&amp;vtp=1&amp;bt=1&amp;bbb=1&amp;hb=1"/>
              <p:cNvSpPr>
                <a:spLocks noRot="1" noChangeAspect="1" noMove="1" noResize="1" noEditPoints="1" noAdjustHandles="1" noChangeArrowheads="1" noChangeShapeType="1" noTextEdit="1"/>
              </p:cNvSpPr>
              <p:nvPr/>
            </p:nvSpPr>
            <p:spPr>
              <a:xfrm>
                <a:off x="393192" y="703581"/>
                <a:ext cx="11402568" cy="2709799"/>
              </a:xfrm>
              <a:prstGeom prst="rect">
                <a:avLst/>
              </a:prstGeom>
              <a:blipFill>
                <a:blip r:embed="rId3"/>
                <a:stretch>
                  <a:fillRect l="-1658" r="-1283" b="-6742"/>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QB_6_AN.8_1#baaa115a3.blank?vcp=1&amp;pid=3975d5cb7&amp;color=0,0,0&amp;vpa=3&amp;vtp=1&amp;bbb=1"/>
              <p:cNvSpPr/>
              <p:nvPr/>
            </p:nvSpPr>
            <p:spPr>
              <a:xfrm>
                <a:off x="2258505" y="2980562"/>
                <a:ext cx="1775333" cy="372491"/>
              </a:xfrm>
              <a:prstGeom prst="rect">
                <a:avLst/>
              </a:prstGeom>
              <a:noFill/>
              <a:ln/>
            </p:spPr>
            <p:txBody>
              <a:bodyPr wrap="none" lIns="0" tIns="0" rIns="0" bIns="0" rtlCol="0" anchor="t"/>
              <a:lstStyle/>
              <a:p>
                <a:pPr algn="ctr" latinLnBrk="1">
                  <a:lnSpc>
                    <a:spcPts val="3200"/>
                  </a:lnSpc>
                </a:pP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𝟓</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𝟐</m:t>
                    </m:r>
                    <m:r>
                      <a:rPr lang="en-US" altLang="zh-CN" sz="2400" b="1" i="0" smtClean="0">
                        <a:solidFill>
                          <a:srgbClr val="FF0000"/>
                        </a:solidFill>
                        <a:latin typeface="Cambria Math" pitchFamily="34" charset="0"/>
                        <a:ea typeface="Cambria Math" pitchFamily="34" charset="-122"/>
                        <a:cs typeface="Cambria Math" pitchFamily="34" charset="-120"/>
                      </a:rPr>
                      <m:t>×</m:t>
                    </m:r>
                    <m:sSup>
                      <m:sSup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1">
                            <a:solidFill>
                              <a:srgbClr val="FF0000"/>
                            </a:solidFill>
                            <a:latin typeface="Cambria Math" pitchFamily="34" charset="0"/>
                            <a:ea typeface="Cambria Math" pitchFamily="34" charset="-122"/>
                            <a:cs typeface="Cambria Math" pitchFamily="34" charset="-120"/>
                          </a:rPr>
                          <m:t>𝟒</m:t>
                        </m:r>
                      </m:sup>
                    </m:sSup>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dirty="0"/>
              </a:p>
            </p:txBody>
          </p:sp>
        </mc:Choice>
        <mc:Fallback xmlns="">
          <p:sp>
            <p:nvSpPr>
              <p:cNvPr id="3" name="QB_6_AN.8_1#baaa115a3.blank?vcp=1&amp;pid=3975d5cb7&amp;color=0,0,0&amp;vpa=3&amp;vtp=1&amp;bbb=1"/>
              <p:cNvSpPr>
                <a:spLocks noRot="1" noChangeAspect="1" noMove="1" noResize="1" noEditPoints="1" noAdjustHandles="1" noChangeArrowheads="1" noChangeShapeType="1" noTextEdit="1"/>
              </p:cNvSpPr>
              <p:nvPr/>
            </p:nvSpPr>
            <p:spPr>
              <a:xfrm>
                <a:off x="2258505" y="2980562"/>
                <a:ext cx="1775333" cy="372491"/>
              </a:xfrm>
              <a:prstGeom prst="rect">
                <a:avLst/>
              </a:prstGeom>
              <a:blipFill>
                <a:blip r:embed="rId4"/>
                <a:stretch>
                  <a:fillRect/>
                </a:stretch>
              </a:blipFill>
              <a:ln/>
            </p:spPr>
            <p:txBody>
              <a:bodyPr/>
              <a:lstStyle/>
              <a:p>
                <a:r>
                  <a:rPr lang="zh-CN" altLang="en-US">
                    <a:noFill/>
                  </a:rPr>
                  <a:t> </a:t>
                </a:r>
              </a:p>
            </p:txBody>
          </p:sp>
        </mc:Fallback>
      </mc:AlternateContent>
      <p:sp>
        <p:nvSpPr>
          <p:cNvPr id="4" name="QB_6_AN.10_1#baaa115a3.blank?vcp=1&amp;pid=3975d5cb7&amp;color=0,0,0&amp;vpa=4&amp;vtp=1&amp;bbb=1"/>
          <p:cNvSpPr/>
          <p:nvPr/>
        </p:nvSpPr>
        <p:spPr>
          <a:xfrm>
            <a:off x="4753260" y="2889251"/>
            <a:ext cx="1439863" cy="47879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竖直向下</a:t>
            </a:r>
            <a:endParaRPr lang="en-US" altLang="zh-CN" sz="2400" dirty="0">
              <a:solidFill>
                <a:srgbClr val="FF0000"/>
              </a:solidFill>
            </a:endParaRPr>
          </a:p>
        </p:txBody>
      </p:sp>
      <p:pic>
        <p:nvPicPr>
          <p:cNvPr id="5" name="QB_6_BD.9_1#baaa115a3?iti=3&amp;vcp=1&amp;pid=3975d5cb7&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4544568" y="3516375"/>
            <a:ext cx="3099816" cy="202082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6" name="QB_6_BD.9_2#baaa115a3?iti=3&amp;vcp=1&amp;pid=3975d5cb7&amp;color=0,0,0&amp;vtp=1"/>
          <p:cNvSpPr/>
          <p:nvPr/>
        </p:nvSpPr>
        <p:spPr>
          <a:xfrm>
            <a:off x="5907945" y="5664199"/>
            <a:ext cx="373062" cy="895096"/>
          </a:xfrm>
          <a:prstGeom prst="rect">
            <a:avLst/>
          </a:prstGeom>
          <a:noFill/>
          <a:ln/>
        </p:spPr>
        <p:txBody>
          <a:bodyPr wrap="square" lIns="0" tIns="0" rIns="0" bIns="0" rtlCol="0" anchor="t"/>
          <a:lstStyle/>
          <a:p>
            <a:pPr algn="ctr" latinLnBrk="1">
              <a:lnSpc>
                <a:spcPct val="150000"/>
              </a:lnSpc>
            </a:pPr>
            <a:r>
              <a:rPr lang="en-US" altLang="zh-CN" sz="2400" b="0" i="0" dirty="0">
                <a:solidFill>
                  <a:srgbClr val="000000"/>
                </a:solidFill>
                <a:latin typeface="Times New Roman" pitchFamily="34" charset="0"/>
                <a:ea typeface="微软雅黑" pitchFamily="34" charset="-122"/>
                <a:cs typeface="Times New Roman" pitchFamily="34" charset="-120"/>
              </a:rPr>
              <a:t>甲</a:t>
            </a:r>
            <a:endParaRPr lang="en-US" altLang="zh-CN" sz="2400" dirty="0">
              <a:solidFill>
                <a:srgbClr val="000000"/>
              </a:solidFill>
            </a:endParaRPr>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p:sp>
        <p:nvSpPr>
          <p:cNvPr id="2" name="QB_6_AS.11_1#baaa115a3?vcp=1&amp;pid=3975d5cb7&amp;color=0,0,0&amp;vtp=1&amp;bt=1&amp;bbb=1&amp;hb=1"/>
          <p:cNvSpPr/>
          <p:nvPr/>
        </p:nvSpPr>
        <p:spPr>
          <a:xfrm>
            <a:off x="393192" y="1245108"/>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把两根钢索的拉力看成沿钢索方向的两个分力</a:t>
            </a:r>
            <a:r>
              <a:rPr lang="en-US" altLang="zh-CN" sz="2400" b="1" i="0">
                <a:solidFill>
                  <a:srgbClr val="FF0000"/>
                </a:solidFill>
                <a:latin typeface="Times New Roman" pitchFamily="34" charset="0"/>
                <a:ea typeface="微软雅黑" pitchFamily="34" charset="-122"/>
                <a:cs typeface="Times New Roman" pitchFamily="34" charset="-120"/>
              </a:rPr>
              <a:t>,以它们为邻边画出一个平行四</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边形</a:t>
            </a:r>
            <a:r>
              <a:rPr lang="en-US" altLang="zh-CN" sz="2400" b="1" i="0" dirty="0">
                <a:solidFill>
                  <a:srgbClr val="FF0000"/>
                </a:solidFill>
                <a:latin typeface="Times New Roman" pitchFamily="34" charset="0"/>
                <a:ea typeface="微软雅黑" pitchFamily="34" charset="-122"/>
                <a:cs typeface="Times New Roman" pitchFamily="34" charset="-120"/>
              </a:rPr>
              <a:t>,其对角线就表示它们的合力.由对称性可知,合力方向一定沿塔柱竖直向下</a:t>
            </a:r>
            <a:r>
              <a:rPr lang="en-US" altLang="zh-CN" sz="2400" b="1" i="0">
                <a:solidFill>
                  <a:srgbClr val="FF0000"/>
                </a:solidFill>
                <a:latin typeface="Times New Roman" pitchFamily="34" charset="0"/>
                <a:ea typeface="微软雅黑" pitchFamily="34" charset="-122"/>
                <a:cs typeface="Times New Roman" pitchFamily="34" charset="-120"/>
              </a:rPr>
              <a:t>.下面用</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两种方法计算这个合力的大小</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p:pic>
        <p:nvPicPr>
          <p:cNvPr id="3" name="QB_6_AS.11_2#baaa115a3?htil=5&amp;vcp=1&amp;pid=3975d5cb7&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825161" y="2943034"/>
            <a:ext cx="2926080" cy="246888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4" name="QB_6_AS.11_3#baaa115a3?htil=5&amp;vcp=1&amp;pid=3975d5cb7&amp;color=0,0,0&amp;vtp=1&amp;bbb=1&amp;hb=1"/>
              <p:cNvSpPr/>
              <p:nvPr/>
            </p:nvSpPr>
            <p:spPr>
              <a:xfrm>
                <a:off x="393192" y="2897314"/>
                <a:ext cx="8339328" cy="2722563"/>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方法一</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作图法</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如图甲所示</a:t>
                </a:r>
                <a:r>
                  <a:rPr lang="en-US" altLang="zh-CN" sz="2400" b="1" i="0" dirty="0">
                    <a:solidFill>
                      <a:srgbClr val="FF0000"/>
                    </a:solidFill>
                    <a:latin typeface="Times New Roman" pitchFamily="34" charset="0"/>
                    <a:ea typeface="微软雅黑" pitchFamily="34" charset="-122"/>
                    <a:cs typeface="Times New Roman" pitchFamily="34" charset="-120"/>
                  </a:rPr>
                  <a:t>,自</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m:t>
                    </m:r>
                  </m:oMath>
                </a14:m>
                <a:r>
                  <a:rPr lang="en-US" altLang="zh-CN" sz="2400" b="1" i="0" dirty="0">
                    <a:solidFill>
                      <a:srgbClr val="FF0000"/>
                    </a:solidFill>
                    <a:latin typeface="Times New Roman" pitchFamily="34" charset="0"/>
                    <a:ea typeface="微软雅黑" pitchFamily="34" charset="-122"/>
                    <a:cs typeface="Times New Roman" pitchFamily="34" charset="-120"/>
                  </a:rPr>
                  <a:t>点引两根有向线段</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𝑶𝑨</m:t>
                    </m:r>
                  </m:oMath>
                </a14:m>
                <a:r>
                  <a:rPr lang="en-US" altLang="zh-CN" sz="2400" b="1" i="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,它们跟竖直方向的</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夹角都为</a:t>
                </a:r>
                <a14:m>
                  <m:oMath xmlns:m="http://schemas.openxmlformats.org/officeDocument/2006/math">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.取单位长度为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1">
                            <a:solidFill>
                              <a:srgbClr val="FF0000"/>
                            </a:solidFill>
                            <a:latin typeface="Cambria Math" pitchFamily="34" charset="0"/>
                            <a:ea typeface="Cambria Math" pitchFamily="34" charset="-122"/>
                            <a:cs typeface="Cambria Math" pitchFamily="34" charset="-120"/>
                          </a:rPr>
                          <m:t>𝟒</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𝑶𝑨</m:t>
                    </m:r>
                  </m:oMath>
                </a14:m>
                <a:r>
                  <a:rPr lang="en-US" altLang="zh-CN" sz="2400" b="1" i="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的长度都是3</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个单位长度</a:t>
                </a:r>
                <a:r>
                  <a:rPr lang="en-US" altLang="zh-CN" sz="2400" b="1" i="0" dirty="0">
                    <a:solidFill>
                      <a:srgbClr val="FF0000"/>
                    </a:solidFill>
                    <a:latin typeface="Times New Roman" pitchFamily="34" charset="0"/>
                    <a:ea typeface="微软雅黑" pitchFamily="34" charset="-122"/>
                    <a:cs typeface="Times New Roman" pitchFamily="34" charset="-120"/>
                  </a:rPr>
                  <a:t>.量得对角线</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𝑶𝑪</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的长约为5.2个单位长度</a:t>
                </a:r>
                <a:r>
                  <a:rPr lang="en-US" altLang="zh-CN" sz="2400" b="1" i="0">
                    <a:solidFill>
                      <a:srgbClr val="FF0000"/>
                    </a:solidFill>
                    <a:latin typeface="Times New Roman" pitchFamily="34" charset="0"/>
                    <a:ea typeface="微软雅黑" pitchFamily="34" charset="-122"/>
                    <a:cs typeface="Times New Roman" pitchFamily="34" charset="-120"/>
                  </a:rPr>
                  <a:t>,所以合力的</a:t>
                </a:r>
              </a:p>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大小</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1">
                            <a:solidFill>
                              <a:srgbClr val="FF0000"/>
                            </a:solidFill>
                            <a:latin typeface="Cambria Math" pitchFamily="34" charset="0"/>
                            <a:ea typeface="Cambria Math" pitchFamily="34" charset="-122"/>
                            <a:cs typeface="Cambria Math" pitchFamily="34" charset="-120"/>
                          </a:rPr>
                          <m:t>𝟒</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1">
                            <a:solidFill>
                              <a:srgbClr val="FF0000"/>
                            </a:solidFill>
                            <a:latin typeface="Cambria Math" pitchFamily="34" charset="0"/>
                            <a:ea typeface="Cambria Math" pitchFamily="34" charset="-122"/>
                            <a:cs typeface="Cambria Math" pitchFamily="34" charset="-120"/>
                          </a:rPr>
                          <m:t>𝟒</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4" name="QB_6_AS.11_3#baaa115a3?htil=5&amp;vcp=1&amp;pid=3975d5cb7&amp;color=0,0,0&amp;vtp=1&amp;bbb=1&amp;hb=1"/>
              <p:cNvSpPr>
                <a:spLocks noRot="1" noChangeAspect="1" noMove="1" noResize="1" noEditPoints="1" noAdjustHandles="1" noChangeArrowheads="1" noChangeShapeType="1" noTextEdit="1"/>
              </p:cNvSpPr>
              <p:nvPr/>
            </p:nvSpPr>
            <p:spPr>
              <a:xfrm>
                <a:off x="393192" y="2897314"/>
                <a:ext cx="8339328" cy="2722563"/>
              </a:xfrm>
              <a:prstGeom prst="rect">
                <a:avLst/>
              </a:prstGeom>
              <a:blipFill>
                <a:blip r:embed="rId4"/>
                <a:stretch>
                  <a:fillRect l="-2266" r="-1901" b="-6711"/>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4">
                                            <p:bg/>
                                          </p:spTgt>
                                        </p:tgtEl>
                                        <p:attrNameLst>
                                          <p:attrName>style.visibility</p:attrName>
                                        </p:attrNameLst>
                                      </p:cBhvr>
                                      <p:to>
                                        <p:strVal val="visible"/>
                                      </p:to>
                                    </p:set>
                                    <p:animEffect transition="in" filter="wipe(left)">
                                      <p:cBhvr>
                                        <p:cTn id="22" dur="500"/>
                                        <p:tgtEl>
                                          <p:spTgt spid="4">
                                            <p:bg/>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wipe(left)">
                                      <p:cBhvr>
                                        <p:cTn id="25" dur="500"/>
                                        <p:tgtEl>
                                          <p:spTgt spid="4">
                                            <p:txEl>
                                              <p:pRg st="0" end="0"/>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wipe(left)">
                                      <p:cBhvr>
                                        <p:cTn id="28" dur="500"/>
                                        <p:tgtEl>
                                          <p:spTgt spid="4">
                                            <p:txEl>
                                              <p:pRg st="1" end="1"/>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wipe(left)">
                                      <p:cBhvr>
                                        <p:cTn id="31" dur="500"/>
                                        <p:tgtEl>
                                          <p:spTgt spid="4">
                                            <p:txEl>
                                              <p:pRg st="2" end="2"/>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
                                            <p:txEl>
                                              <p:pRg st="3" end="3"/>
                                            </p:txEl>
                                          </p:spTgt>
                                        </p:tgtEl>
                                        <p:attrNameLst>
                                          <p:attrName>style.visibility</p:attrName>
                                        </p:attrNameLst>
                                      </p:cBhvr>
                                      <p:to>
                                        <p:strVal val="visible"/>
                                      </p:to>
                                    </p:set>
                                    <p:animEffect transition="in" filter="wipe(left)">
                                      <p:cBhvr>
                                        <p:cTn id="34" dur="500"/>
                                        <p:tgtEl>
                                          <p:spTgt spid="4">
                                            <p:txEl>
                                              <p:pRg st="3" end="3"/>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wipe(left)">
                                      <p:cBhvr>
                                        <p:cTn id="3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4"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B_6_AS.11_4#baaa115a3?vcp=1&amp;pid=3975d5cb7&amp;color=0,0,0&amp;vtp=1&amp;bt=1&amp;bbb=1&amp;hb=1"/>
              <p:cNvSpPr/>
              <p:nvPr/>
            </p:nvSpPr>
            <p:spPr>
              <a:xfrm>
                <a:off x="393192" y="1768760"/>
                <a:ext cx="11402568" cy="2908935"/>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方法二</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计算法</a:t>
                </a:r>
                <a:endParaRPr lang="en-US" altLang="zh-CN" sz="2400" dirty="0"/>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根据这个平行四边形是一个菱形的特点</a:t>
                </a:r>
                <a:r>
                  <a:rPr lang="en-US" altLang="zh-CN" sz="2400" b="1" i="0" dirty="0">
                    <a:solidFill>
                      <a:srgbClr val="FF0000"/>
                    </a:solidFill>
                    <a:latin typeface="Times New Roman" pitchFamily="34" charset="0"/>
                    <a:ea typeface="微软雅黑" pitchFamily="34" charset="-122"/>
                    <a:cs typeface="Times New Roman" pitchFamily="34" charset="-120"/>
                  </a:rPr>
                  <a:t>,如图乙所示,连接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𝑨𝑩</m:t>
                    </m:r>
                  </m:oMath>
                </a14:m>
                <a:r>
                  <a:rPr lang="en-US" altLang="zh-CN" sz="2400" b="1" i="0" dirty="0">
                    <a:solidFill>
                      <a:srgbClr val="FF0000"/>
                    </a:solidFill>
                    <a:latin typeface="Times New Roman" pitchFamily="34" charset="0"/>
                    <a:ea typeface="微软雅黑" pitchFamily="34" charset="-122"/>
                    <a:cs typeface="Times New Roman" pitchFamily="34" charset="-120"/>
                  </a:rPr>
                  <a:t>,交</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𝑶𝑪</m:t>
                    </m:r>
                  </m:oMath>
                </a14:m>
                <a:r>
                  <a:rPr lang="en-US" altLang="zh-CN" sz="2400" b="1" i="0" dirty="0">
                    <a:solidFill>
                      <a:srgbClr val="FF0000"/>
                    </a:solidFill>
                    <a:latin typeface="Times New Roman" pitchFamily="34" charset="0"/>
                    <a:ea typeface="微软雅黑" pitchFamily="34" charset="-122"/>
                    <a:cs typeface="Times New Roman" pitchFamily="34" charset="-120"/>
                  </a:rPr>
                  <a:t>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𝑫</m:t>
                    </m:r>
                  </m:oMath>
                </a14:m>
                <a:r>
                  <a:rPr lang="en-US" altLang="zh-CN" sz="2400" b="1" i="0" dirty="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𝑨𝑩</m:t>
                    </m:r>
                  </m:oMath>
                </a14:m>
                <a:r>
                  <a:rPr lang="en-US" altLang="zh-CN" sz="2400" b="1" i="0" dirty="0">
                    <a:solidFill>
                      <a:srgbClr val="FF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𝑶𝑪</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互相</a:t>
                </a:r>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垂直平分</a:t>
                </a:r>
                <a:r>
                  <a:rPr lang="en-US" altLang="zh-CN" sz="2400" b="1" i="0" dirty="0">
                    <a:solidFill>
                      <a:srgbClr val="FF0000"/>
                    </a:solidFill>
                    <a:latin typeface="Times New Roman" pitchFamily="34" charset="0"/>
                    <a:ea typeface="微软雅黑" pitchFamily="34" charset="-122"/>
                    <a:cs typeface="Times New Roman" pitchFamily="34" charset="-120"/>
                  </a:rPr>
                  <a:t>,即</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𝑨𝑩</m:t>
                    </m:r>
                  </m:oMath>
                </a14:m>
                <a:r>
                  <a:rPr lang="en-US" altLang="zh-CN" sz="2400" b="1" i="0" dirty="0">
                    <a:solidFill>
                      <a:srgbClr val="FF0000"/>
                    </a:solidFill>
                    <a:latin typeface="Times New Roman" pitchFamily="34" charset="0"/>
                    <a:ea typeface="微软雅黑" pitchFamily="34" charset="-122"/>
                    <a:cs typeface="Times New Roman" pitchFamily="34" charset="-120"/>
                  </a:rPr>
                  <a:t>垂直于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𝑶𝑪</m:t>
                    </m:r>
                  </m:oMath>
                </a14:m>
                <a:r>
                  <a:rPr lang="en-US" altLang="zh-CN" sz="2400" b="1" i="0" dirty="0">
                    <a:solidFill>
                      <a:srgbClr val="FF0000"/>
                    </a:solidFill>
                    <a:latin typeface="Times New Roman" pitchFamily="34" charset="0"/>
                    <a:ea typeface="微软雅黑" pitchFamily="34" charset="-122"/>
                    <a:cs typeface="Times New Roman" pitchFamily="34" charset="-120"/>
                  </a:rPr>
                  <a:t>,且</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𝑨𝑫</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𝑫𝑩</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𝑶𝑫</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𝑶𝑪</m:t>
                    </m:r>
                  </m:oMath>
                </a14:m>
                <a:r>
                  <a:rPr lang="en-US" altLang="zh-CN" sz="2400" b="1" i="0" dirty="0">
                    <a:solidFill>
                      <a:srgbClr val="FF0000"/>
                    </a:solidFill>
                    <a:latin typeface="Times New Roman" pitchFamily="34" charset="0"/>
                    <a:ea typeface="微软雅黑" pitchFamily="34" charset="-122"/>
                    <a:cs typeface="Times New Roman" pitchFamily="34" charset="-120"/>
                  </a:rPr>
                  <a:t>.考虑直角三角形</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𝑨𝑶𝑫</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,其中</a:t>
                </a:r>
              </a:p>
              <a:p>
                <a:pPr latinLnBrk="1">
                  <a:lnSpc>
                    <a:spcPts val="4600"/>
                  </a:lnSpc>
                </a:pP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𝑨𝑶𝑫</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,而</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𝑶𝑫</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𝑶𝑪</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,则有</a:t>
                </a:r>
              </a:p>
              <a:p>
                <a:pPr latinLnBrk="1">
                  <a:lnSpc>
                    <a:spcPts val="50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𝐜𝐨𝐬</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𝟑𝟎</m:t>
                        </m:r>
                      </m:e>
                      <m:sup>
                        <m:r>
                          <a:rPr lang="en-US" altLang="zh-CN" sz="2400" b="1" i="0">
                            <a:solidFill>
                              <a:srgbClr val="FF0000"/>
                            </a:solidFill>
                            <a:latin typeface="Cambria Math" pitchFamily="34" charset="0"/>
                            <a:ea typeface="Cambria Math" pitchFamily="34" charset="-122"/>
                            <a:cs typeface="Cambria Math" pitchFamily="34" charset="-120"/>
                          </a:rPr>
                          <m:t>∘</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1">
                            <a:solidFill>
                              <a:srgbClr val="FF0000"/>
                            </a:solidFill>
                            <a:latin typeface="Cambria Math" pitchFamily="34" charset="0"/>
                            <a:ea typeface="Cambria Math" pitchFamily="34" charset="-122"/>
                            <a:cs typeface="Cambria Math" pitchFamily="34" charset="-120"/>
                          </a:rPr>
                          <m:t>𝟒</m:t>
                        </m:r>
                      </m:sup>
                    </m:sSup>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𝟑</m:t>
                            </m:r>
                          </m:e>
                        </m:rad>
                      </m:num>
                      <m:den>
                        <m:r>
                          <a:rPr lang="en-US" altLang="zh-CN" sz="2400" b="1" i="1">
                            <a:solidFill>
                              <a:srgbClr val="FF0000"/>
                            </a:solidFill>
                            <a:latin typeface="Cambria Math" pitchFamily="34" charset="0"/>
                            <a:ea typeface="Cambria Math" pitchFamily="34" charset="-122"/>
                            <a:cs typeface="Cambria Math" pitchFamily="34" charset="-120"/>
                          </a:rPr>
                          <m:t>𝟐</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1">
                            <a:solidFill>
                              <a:srgbClr val="FF0000"/>
                            </a:solidFill>
                            <a:latin typeface="Cambria Math" pitchFamily="34" charset="0"/>
                            <a:ea typeface="Cambria Math" pitchFamily="34" charset="-122"/>
                            <a:cs typeface="Cambria Math" pitchFamily="34" charset="-120"/>
                          </a:rPr>
                          <m:t>𝟒</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QB_6_AS.11_4#baaa115a3?vcp=1&amp;pid=3975d5cb7&amp;color=0,0,0&amp;vtp=1&amp;bt=1&amp;bbb=1&amp;hb=1"/>
              <p:cNvSpPr>
                <a:spLocks noRot="1" noChangeAspect="1" noMove="1" noResize="1" noEditPoints="1" noAdjustHandles="1" noChangeArrowheads="1" noChangeShapeType="1" noTextEdit="1"/>
              </p:cNvSpPr>
              <p:nvPr/>
            </p:nvSpPr>
            <p:spPr>
              <a:xfrm>
                <a:off x="393192" y="1768760"/>
                <a:ext cx="11402568" cy="2908935"/>
              </a:xfrm>
              <a:prstGeom prst="rect">
                <a:avLst/>
              </a:prstGeom>
              <a:blipFill>
                <a:blip r:embed="rId3"/>
                <a:stretch>
                  <a:fillRect l="-1658" r="-1283" b="-377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C_6_BD.12_1#665ecdae7?vcp=1&amp;pid=3975d5cb7&amp;color=0,0,0&amp;vtp=1&amp;bt=1&amp;bbb=1"/>
              <p:cNvSpPr/>
              <p:nvPr/>
            </p:nvSpPr>
            <p:spPr>
              <a:xfrm>
                <a:off x="393192" y="1935575"/>
                <a:ext cx="11402568" cy="484124"/>
              </a:xfrm>
              <a:prstGeom prst="rect">
                <a:avLst/>
              </a:prstGeom>
              <a:noFill/>
              <a:ln/>
            </p:spPr>
            <p:txBody>
              <a:bodyPr wrap="none" lIns="0" tIns="0" rIns="0" bIns="0" rtlCol="0" anchor="t"/>
              <a:lstStyle/>
              <a:p>
                <a:pPr algn="l" latinLnBrk="1">
                  <a:lnSpc>
                    <a:spcPts val="4300"/>
                  </a:lnSpc>
                </a:pPr>
                <a:r>
                  <a:rPr lang="en-US" altLang="zh-CN" sz="2400" b="1" i="0" dirty="0">
                    <a:solidFill>
                      <a:srgbClr val="0070C0"/>
                    </a:solidFill>
                    <a:latin typeface="Times New Roman" pitchFamily="34" charset="0"/>
                    <a:ea typeface="微软雅黑" pitchFamily="34" charset="-122"/>
                    <a:cs typeface="Times New Roman" pitchFamily="34" charset="-120"/>
                  </a:rPr>
                  <a:t>变式2-1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如图所示，三个大小相等的力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作用于同一点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则合力最小的是(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QC_6_BD.12_1#665ecdae7?vcp=1&amp;pid=3975d5cb7&amp;color=0,0,0&amp;vtp=1&amp;bt=1&amp;bbb=1"/>
              <p:cNvSpPr>
                <a:spLocks noRot="1" noChangeAspect="1" noMove="1" noResize="1" noEditPoints="1" noAdjustHandles="1" noChangeArrowheads="1" noChangeShapeType="1" noTextEdit="1"/>
              </p:cNvSpPr>
              <p:nvPr/>
            </p:nvSpPr>
            <p:spPr>
              <a:xfrm>
                <a:off x="393192" y="1935575"/>
                <a:ext cx="11402568" cy="484124"/>
              </a:xfrm>
              <a:prstGeom prst="rect">
                <a:avLst/>
              </a:prstGeom>
              <a:blipFill>
                <a:blip r:embed="rId3"/>
                <a:stretch>
                  <a:fillRect l="-1658" b="-37975"/>
                </a:stretch>
              </a:blipFill>
              <a:ln/>
            </p:spPr>
            <p:txBody>
              <a:bodyPr/>
              <a:lstStyle/>
              <a:p>
                <a:r>
                  <a:rPr lang="zh-CN" altLang="en-US">
                    <a:noFill/>
                  </a:rPr>
                  <a:t> </a:t>
                </a:r>
              </a:p>
            </p:txBody>
          </p:sp>
        </mc:Fallback>
      </mc:AlternateContent>
      <p:sp>
        <p:nvSpPr>
          <p:cNvPr id="3" name="QC_6_AN.13_1#665ecdae7.bracket?vcp=1&amp;pid=3975d5cb7&amp;color=0,0,0&amp;vpa=5&amp;vtp=1"/>
          <p:cNvSpPr/>
          <p:nvPr/>
        </p:nvSpPr>
        <p:spPr>
          <a:xfrm>
            <a:off x="10208229" y="1933670"/>
            <a:ext cx="441325"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sp>
        <p:nvSpPr>
          <p:cNvPr id="4" name="QC_6_BD.12_2#665ecdae7.choices?vcp=1&amp;pid=3975d5cb7&amp;color=0,0,0&amp;vtp=1&amp;bbb=1"/>
          <p:cNvSpPr/>
          <p:nvPr/>
        </p:nvSpPr>
        <p:spPr>
          <a:xfrm>
            <a:off x="393192" y="2548350"/>
            <a:ext cx="11402568" cy="1320419"/>
          </a:xfrm>
          <a:prstGeom prst="rect">
            <a:avLst/>
          </a:prstGeom>
          <a:noFill/>
          <a:ln/>
        </p:spPr>
        <p:txBody>
          <a:bodyPr wrap="none" lIns="0" tIns="0" rIns="0" bIns="0" rtlCol="0" anchor="t"/>
          <a:lstStyle/>
          <a:p>
            <a:pPr latinLnBrk="1">
              <a:lnSpc>
                <a:spcPts val="11800"/>
              </a:lnSpc>
              <a:tabLst>
                <a:tab pos="2761102" algn="l"/>
                <a:tab pos="5204704" algn="l"/>
                <a:tab pos="8169006" algn="l"/>
              </a:tabLst>
            </a:pPr>
            <a:r>
              <a:rPr lang="en-US" altLang="zh-CN" sz="2400" b="0" i="0">
                <a:solidFill>
                  <a:srgbClr val="000000"/>
                </a:solidFill>
                <a:latin typeface="Times New Roman" pitchFamily="34" charset="0"/>
                <a:ea typeface="微软雅黑" pitchFamily="34" charset="-122"/>
                <a:cs typeface="Times New Roman" pitchFamily="34" charset="-120"/>
              </a:rPr>
              <a:t>A.</a:t>
            </a:r>
            <a:r>
              <a:rPr lang="en-US" altLang="zh-CN" sz="655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66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66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66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endParaRPr lang="en-US" altLang="zh-CN" sz="900" dirty="0">
              <a:latin typeface="SimSun" panose="02010600030101010101" pitchFamily="2" charset="-122"/>
            </a:endParaRPr>
          </a:p>
        </p:txBody>
      </p:sp>
      <p:pic>
        <p:nvPicPr>
          <p:cNvPr id="5" name="QC_6_BD.12_2#665ecdae7.choice_image?vcp=1&amp;pid=3975d5cb7&amp;color=0,0,0&amp;tib=255,255,255&amp;iip=1&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699231" y="2559653"/>
            <a:ext cx="1353312" cy="1316736"/>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6" name="QC_6_BD.12_2#665ecdae7.choice_image?vcp=1&amp;pid=3975d5cb7&amp;color=0,0,0&amp;tib=255,255,255&amp;iip=2&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3450749" y="2550509"/>
            <a:ext cx="1051560" cy="1325880"/>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7" name="QC_6_BD.12_2#665ecdae7.choice_image?vcp=1&amp;pid=3975d5cb7&amp;color=0,0,0&amp;tib=255,255,255&amp;iip=3&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5904516" y="2596228"/>
            <a:ext cx="1545336" cy="1280160"/>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8" name="QC_6_BD.12_2#665ecdae7.choice_image?vcp=1&amp;pid=3975d5cb7&amp;color=0,0,0&amp;tib=255,255,255&amp;iip=4&amp;vtp=1" descr="preencoded.png"/>
          <p:cNvPicPr>
            <a:picLocks noChangeAspect="1"/>
          </p:cNvPicPr>
          <p:nvPr/>
        </p:nvPicPr>
        <p:blipFill>
          <a:blip r:embed="rId7">
            <a:clrChange>
              <a:clrFrom>
                <a:srgbClr val="FFFFFF"/>
              </a:clrFrom>
              <a:clrTo>
                <a:srgbClr val="FFFFFF">
                  <a:alpha val="0"/>
                </a:srgbClr>
              </a:clrTo>
            </a:clrChange>
          </a:blip>
          <a:stretch>
            <a:fillRect/>
          </a:stretch>
        </p:blipFill>
        <p:spPr>
          <a:xfrm>
            <a:off x="8882221" y="2623661"/>
            <a:ext cx="2011680" cy="1252728"/>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9" name="QC_6_AS.14_1#665ecdae7?vcp=1&amp;pid=3975d5cb7&amp;color=0,0,0&amp;vtp=1&amp;bbb=1&amp;hb=1"/>
          <p:cNvSpPr/>
          <p:nvPr/>
        </p:nvSpPr>
        <p:spPr>
          <a:xfrm>
            <a:off x="393192" y="3874229"/>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多力合成时可以用公式法将两个力先合起来，</a:t>
            </a:r>
            <a:r>
              <a:rPr lang="en-US" altLang="zh-CN" sz="2400" b="1" i="0">
                <a:solidFill>
                  <a:srgbClr val="FF0000"/>
                </a:solidFill>
                <a:latin typeface="Times New Roman" pitchFamily="34" charset="0"/>
                <a:ea typeface="微软雅黑" pitchFamily="34" charset="-122"/>
                <a:cs typeface="Times New Roman" pitchFamily="34" charset="-120"/>
              </a:rPr>
              <a:t>得到的合力与第三个力再合成，</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可见选项</a:t>
            </a:r>
            <a:r>
              <a:rPr lang="en-US" altLang="zh-CN" sz="2400" b="1" i="0" dirty="0">
                <a:solidFill>
                  <a:srgbClr val="FF0000"/>
                </a:solidFill>
                <a:latin typeface="Times New Roman" pitchFamily="34" charset="0"/>
                <a:ea typeface="微软雅黑" pitchFamily="34" charset="-122"/>
                <a:cs typeface="Times New Roman" pitchFamily="34" charset="-120"/>
              </a:rPr>
              <a:t>C中合力为0，所以C正确.</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bg/>
                                          </p:spTgt>
                                        </p:tgtEl>
                                        <p:attrNameLst>
                                          <p:attrName>style.visibility</p:attrName>
                                        </p:attrNameLst>
                                      </p:cBhvr>
                                      <p:to>
                                        <p:strVal val="visible"/>
                                      </p:to>
                                    </p:set>
                                    <p:animEffect transition="in" filter="wipe(left)">
                                      <p:cBhvr>
                                        <p:cTn id="15" dur="500"/>
                                        <p:tgtEl>
                                          <p:spTgt spid="9">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wipe(left)">
                                      <p:cBhvr>
                                        <p:cTn id="18" dur="500"/>
                                        <p:tgtEl>
                                          <p:spTgt spid="9">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wipe(left)">
                                      <p:cBhvr>
                                        <p:cTn id="21"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9"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p:sp>
        <p:nvSpPr>
          <p:cNvPr id="2" name="P_6_BD#987ff6359?vcp=1&amp;pid=3975d5cb7&amp;color=0,0,0&amp;vtp=1&amp;bt=1&amp;bbb=1"/>
          <p:cNvSpPr/>
          <p:nvPr/>
        </p:nvSpPr>
        <p:spPr>
          <a:xfrm>
            <a:off x="393192" y="908113"/>
            <a:ext cx="11402568" cy="1027430"/>
          </a:xfrm>
          <a:prstGeom prst="rect">
            <a:avLst/>
          </a:prstGeom>
          <a:noFill/>
          <a:ln/>
        </p:spPr>
        <p:txBody>
          <a:bodyPr wrap="none" lIns="0" tIns="0" rIns="0" bIns="0" rtlCol="0" anchor="t"/>
          <a:lstStyle/>
          <a:p>
            <a:pPr algn="l"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方法梳理</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.两力合力的求解方法</a:t>
            </a:r>
            <a:r>
              <a:rPr lang="en-US" altLang="zh-CN" sz="100" b="0" i="0" kern="0" spc="-99900" dirty="0">
                <a:solidFill>
                  <a:srgbClr val="FFFFFF"/>
                </a:solidFill>
                <a:latin typeface="Times New Roman" pitchFamily="34" charset="0"/>
                <a:ea typeface="微软雅黑" pitchFamily="34" charset="-122"/>
                <a:cs typeface="Times New Roman" pitchFamily="34" charset="-120"/>
              </a:rPr>
              <a:t>#4.1</a:t>
            </a:r>
            <a:endParaRPr lang="en-US" altLang="zh-CN" sz="2400" dirty="0"/>
          </a:p>
        </p:txBody>
      </p:sp>
      <mc:AlternateContent xmlns:mc="http://schemas.openxmlformats.org/markup-compatibility/2006" xmlns:a14="http://schemas.microsoft.com/office/drawing/2010/main">
        <mc:Choice Requires="a14">
          <p:graphicFrame>
            <p:nvGraphicFramePr>
              <p:cNvPr id="18" name="P_6_BD#987ff6359?colgroup=3,17,14&amp;vcp=1&amp;pid=3975d5cb7&amp;color=0,0,0&amp;vtp=1&amp;bbb=1&amp;hb=1"/>
              <p:cNvGraphicFramePr>
                <a:graphicFrameLocks noGrp="1"/>
              </p:cNvGraphicFramePr>
              <p:nvPr>
                <p:extLst>
                  <p:ext uri="{D42A27DB-BD31-4B8C-83A1-F6EECF244321}">
                    <p14:modId xmlns:p14="http://schemas.microsoft.com/office/powerpoint/2010/main" val="1691886912"/>
                  </p:ext>
                </p:extLst>
              </p:nvPr>
            </p:nvGraphicFramePr>
            <p:xfrm>
              <a:off x="393192" y="2068640"/>
              <a:ext cx="11365992" cy="3867277"/>
            </p:xfrm>
            <a:graphic>
              <a:graphicData uri="http://schemas.openxmlformats.org/drawingml/2006/table">
                <a:tbl>
                  <a:tblPr/>
                  <a:tblGrid>
                    <a:gridCol w="1124712">
                      <a:extLst>
                        <a:ext uri="{9D8B030D-6E8A-4147-A177-3AD203B41FA5}">
                          <a16:colId xmlns:a16="http://schemas.microsoft.com/office/drawing/2014/main" val="20000"/>
                        </a:ext>
                      </a:extLst>
                    </a:gridCol>
                    <a:gridCol w="5541264">
                      <a:extLst>
                        <a:ext uri="{9D8B030D-6E8A-4147-A177-3AD203B41FA5}">
                          <a16:colId xmlns:a16="http://schemas.microsoft.com/office/drawing/2014/main" val="20001"/>
                        </a:ext>
                      </a:extLst>
                    </a:gridCol>
                    <a:gridCol w="4700016">
                      <a:extLst>
                        <a:ext uri="{9D8B030D-6E8A-4147-A177-3AD203B41FA5}">
                          <a16:colId xmlns:a16="http://schemas.microsoft.com/office/drawing/2014/main" val="20002"/>
                        </a:ext>
                      </a:extLst>
                    </a:gridCol>
                  </a:tblGrid>
                  <a:tr h="498856">
                    <a:tc rowSpan="4">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作图法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依据：平行四边形定则</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4">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注：①标度要合适</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便于测量线</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段的长度</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②标明实线还是虚线</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8856">
                    <a:tc vMerge="1">
                      <a:txBody>
                        <a:bodyPr/>
                        <a:lstStyle/>
                        <a:p>
                          <a:endParaRPr lang="zh-CN"/>
                        </a:p>
                      </a:txBody>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要求：严格按力的图示</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1"/>
                      </a:ext>
                    </a:extLst>
                  </a:tr>
                  <a:tr h="498856">
                    <a:tc vMerge="1">
                      <a:txBody>
                        <a:bodyPr/>
                        <a:lstStyle/>
                        <a:p>
                          <a:endParaRPr lang="zh-CN"/>
                        </a:p>
                      </a:txBody>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分力：四边形的邻边</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2"/>
                      </a:ext>
                    </a:extLst>
                  </a:tr>
                  <a:tr h="498856">
                    <a:tc vMerge="1">
                      <a:txBody>
                        <a:bodyPr/>
                        <a:lstStyle/>
                        <a:p>
                          <a:endParaRPr lang="zh-CN"/>
                        </a:p>
                      </a:txBody>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合力：四边形的对角线</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3"/>
                      </a:ext>
                    </a:extLst>
                  </a:tr>
                  <a:tr h="187185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计算法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相互垂直的两个力：</a:t>
                          </a:r>
                          <a:endParaRPr lang="en-US" altLang="zh-CN" sz="1200" dirty="0"/>
                        </a:p>
                        <a:p>
                          <a:pPr algn="ctr" latinLnBrk="1" hangingPunct="0">
                            <a:lnSpc>
                              <a:spcPts val="38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r>
                                <a:rPr lang="en-US" altLang="zh-CN" sz="2400" b="0" i="0" spc="-100">
                                  <a:solidFill>
                                    <a:srgbClr val="000000"/>
                                  </a:solidFill>
                                  <a:latin typeface="Cambria Math" pitchFamily="34" charset="0"/>
                                  <a:ea typeface="Cambria Math" pitchFamily="34" charset="-122"/>
                                  <a:cs typeface="Cambria Math" pitchFamily="34" charset="-120"/>
                                </a:rPr>
                                <m:t>′=</m:t>
                              </m:r>
                              <m:rad>
                                <m:radPr>
                                  <m:degHide m:val="on"/>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radPr>
                                <m:deg/>
                                <m:e>
                                  <m:sSubSup>
                                    <m:sSubSup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Sup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up>
                                      <m:r>
                                        <a:rPr lang="en-US" altLang="zh-CN" sz="2400" b="0" i="0" spc="-100">
                                          <a:solidFill>
                                            <a:srgbClr val="000000"/>
                                          </a:solidFill>
                                          <a:latin typeface="Cambria Math" pitchFamily="34" charset="0"/>
                                          <a:ea typeface="Cambria Math" pitchFamily="34" charset="-122"/>
                                          <a:cs typeface="Cambria Math" pitchFamily="34" charset="-120"/>
                                        </a:rPr>
                                        <m:t>2</m:t>
                                      </m:r>
                                    </m:sup>
                                  </m:sSubSup>
                                  <m:r>
                                    <a:rPr lang="en-US" altLang="zh-CN" sz="2400" b="0" i="0" spc="-100">
                                      <a:solidFill>
                                        <a:srgbClr val="000000"/>
                                      </a:solidFill>
                                      <a:latin typeface="Cambria Math" pitchFamily="34" charset="0"/>
                                      <a:ea typeface="Cambria Math" pitchFamily="34" charset="-122"/>
                                      <a:cs typeface="Cambria Math" pitchFamily="34" charset="-120"/>
                                    </a:rPr>
                                    <m:t>+</m:t>
                                  </m:r>
                                  <m:sSubSup>
                                    <m:sSubSupPr>
                                      <m:ctrlPr>
                                        <a:rPr lang="en-US" altLang="zh-CN" sz="2400" b="0" i="1" spc="-100">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up>
                                      <m:r>
                                        <a:rPr lang="en-US" altLang="zh-CN" sz="2400" b="0" i="0" spc="-100">
                                          <a:solidFill>
                                            <a:srgbClr val="000000"/>
                                          </a:solidFill>
                                          <a:latin typeface="Cambria Math" pitchFamily="34" charset="0"/>
                                          <a:ea typeface="Cambria Math" pitchFamily="34" charset="-122"/>
                                          <a:cs typeface="Cambria Math" pitchFamily="34" charset="-120"/>
                                        </a:rPr>
                                        <m:t>2</m:t>
                                      </m:r>
                                    </m:sup>
                                  </m:sSubSup>
                                </m:e>
                              </m:rad>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1200" dirty="0"/>
                        </a:p>
                        <a:p>
                          <a:pPr algn="ctr" latinLnBrk="1" hangingPunct="0">
                            <a:lnSpc>
                              <a:spcPts val="3600"/>
                            </a:lnSpc>
                          </a:pPr>
                          <a14:m>
                            <m:oMath xmlns:m="http://schemas.openxmlformats.org/officeDocument/2006/math">
                              <m:r>
                                <m:rPr>
                                  <m:sty m:val="p"/>
                                </m:rPr>
                                <a:rPr lang="en-US" altLang="zh-CN" sz="2400" b="0" i="0" spc="-100">
                                  <a:solidFill>
                                    <a:srgbClr val="000000"/>
                                  </a:solidFill>
                                  <a:latin typeface="Cambria Math" pitchFamily="34" charset="0"/>
                                  <a:ea typeface="Cambria Math" pitchFamily="34" charset="-122"/>
                                  <a:cs typeface="Cambria Math" pitchFamily="34" charset="-120"/>
                                </a:rPr>
                                <m:t>tan</m:t>
                              </m:r>
                              <m:r>
                                <m:rPr>
                                  <m:nor/>
                                </m:rPr>
                                <a:rPr lang="en-US" altLang="zh-CN" sz="2400" b="0" i="0" spc="-100">
                                  <a:solidFill>
                                    <a:srgbClr val="000000"/>
                                  </a:solidFill>
                                  <a:latin typeface="Cambria Math" pitchFamily="34" charset="0"/>
                                  <a:ea typeface="Cambria Math" pitchFamily="34" charset="-122"/>
                                  <a:cs typeface="Cambria Math" pitchFamily="34" charset="-120"/>
                                </a:rPr>
                                <m:t> </m:t>
                              </m:r>
                              <m:r>
                                <a:rPr lang="en-US" altLang="zh-CN" sz="2400" b="0" i="0" spc="-100">
                                  <a:solidFill>
                                    <a:srgbClr val="000000"/>
                                  </a:solidFill>
                                  <a:latin typeface="Cambria Math" pitchFamily="34" charset="0"/>
                                  <a:ea typeface="Cambria Math" pitchFamily="34" charset="-122"/>
                                  <a:cs typeface="Cambria Math" pitchFamily="34" charset="-120"/>
                                </a:rPr>
                                <m:t>𝜃</m:t>
                              </m:r>
                              <m:r>
                                <a:rPr lang="en-US" altLang="zh-CN" sz="2400" b="0" i="0" spc="-100">
                                  <a:solidFill>
                                    <a:srgbClr val="000000"/>
                                  </a:solidFill>
                                  <a:latin typeface="Cambria Math" pitchFamily="34" charset="0"/>
                                  <a:ea typeface="Cambria Math" pitchFamily="34" charset="-122"/>
                                  <a:cs typeface="Cambria Math" pitchFamily="34" charset="-120"/>
                                </a:rPr>
                                <m:t>=</m:t>
                              </m:r>
                              <m:f>
                                <m:f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fPr>
                                <m:num>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num>
                                <m:den>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94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18" name="P_6_BD#987ff6359?colgroup=3,17,14&amp;vcp=1&amp;pid=3975d5cb7&amp;color=0,0,0&amp;vtp=1&amp;bbb=1&amp;hb=1"/>
              <p:cNvGraphicFramePr>
                <a:graphicFrameLocks noGrp="1"/>
              </p:cNvGraphicFramePr>
              <p:nvPr>
                <p:extLst>
                  <p:ext uri="{D42A27DB-BD31-4B8C-83A1-F6EECF244321}">
                    <p14:modId xmlns:p14="http://schemas.microsoft.com/office/powerpoint/2010/main" val="1691886912"/>
                  </p:ext>
                </p:extLst>
              </p:nvPr>
            </p:nvGraphicFramePr>
            <p:xfrm>
              <a:off x="393192" y="2068640"/>
              <a:ext cx="11365992" cy="3867277"/>
            </p:xfrm>
            <a:graphic>
              <a:graphicData uri="http://schemas.openxmlformats.org/drawingml/2006/table">
                <a:tbl>
                  <a:tblPr/>
                  <a:tblGrid>
                    <a:gridCol w="1124712">
                      <a:extLst>
                        <a:ext uri="{9D8B030D-6E8A-4147-A177-3AD203B41FA5}">
                          <a16:colId xmlns:a16="http://schemas.microsoft.com/office/drawing/2014/main" val="20000"/>
                        </a:ext>
                      </a:extLst>
                    </a:gridCol>
                    <a:gridCol w="5541264">
                      <a:extLst>
                        <a:ext uri="{9D8B030D-6E8A-4147-A177-3AD203B41FA5}">
                          <a16:colId xmlns:a16="http://schemas.microsoft.com/office/drawing/2014/main" val="20001"/>
                        </a:ext>
                      </a:extLst>
                    </a:gridCol>
                    <a:gridCol w="4700016">
                      <a:extLst>
                        <a:ext uri="{9D8B030D-6E8A-4147-A177-3AD203B41FA5}">
                          <a16:colId xmlns:a16="http://schemas.microsoft.com/office/drawing/2014/main" val="20002"/>
                        </a:ext>
                      </a:extLst>
                    </a:gridCol>
                  </a:tblGrid>
                  <a:tr h="498856">
                    <a:tc rowSpan="4">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作图法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依据：平行四边形定则</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4">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注：①标度要合适</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便于测量线</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段的长度</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②标明实线还是虚线</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8856">
                    <a:tc vMerge="1">
                      <a:txBody>
                        <a:bodyPr/>
                        <a:lstStyle/>
                        <a:p>
                          <a:endParaRPr lang="zh-CN"/>
                        </a:p>
                      </a:txBody>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要求：严格按力的图示</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1"/>
                      </a:ext>
                    </a:extLst>
                  </a:tr>
                  <a:tr h="498856">
                    <a:tc vMerge="1">
                      <a:txBody>
                        <a:bodyPr/>
                        <a:lstStyle/>
                        <a:p>
                          <a:endParaRPr lang="zh-CN"/>
                        </a:p>
                      </a:txBody>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分力：四边形的邻边</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2"/>
                      </a:ext>
                    </a:extLst>
                  </a:tr>
                  <a:tr h="498856">
                    <a:tc vMerge="1">
                      <a:txBody>
                        <a:bodyPr/>
                        <a:lstStyle/>
                        <a:p>
                          <a:endParaRPr lang="zh-CN"/>
                        </a:p>
                      </a:txBody>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合力：四边形的对角线</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3"/>
                      </a:ext>
                    </a:extLst>
                  </a:tr>
                  <a:tr h="187185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计算法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20462" t="-107166" r="-85039" b="-651"/>
                          </a:stretch>
                        </a:blipFill>
                      </a:tcPr>
                    </a:tc>
                    <a:tc>
                      <a:txBody>
                        <a:bodyPr/>
                        <a:lstStyle/>
                        <a:p>
                          <a:pPr algn="ctr" latinLnBrk="1" hangingPunct="0">
                            <a:lnSpc>
                              <a:spcPts val="94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pic>
        <p:nvPicPr>
          <p:cNvPr id="4" name="P_6_BD#987ff6359.table_image?tii=2&amp;vcp=1&amp;pid=3975d5cb7&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933688" y="4465066"/>
            <a:ext cx="950976" cy="1069848"/>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8.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9" name="P_6_BD#987ff6359?colgroup=3,17,14&amp;vcp=1&amp;pid=3975d5cb7&amp;color=0,0,0&amp;mp=1&amp;vtp=1&amp;bt=1&amp;bbb=1&amp;hb=1"/>
              <p:cNvGraphicFramePr>
                <a:graphicFrameLocks noGrp="1"/>
              </p:cNvGraphicFramePr>
              <p:nvPr>
                <p:extLst>
                  <p:ext uri="{D42A27DB-BD31-4B8C-83A1-F6EECF244321}">
                    <p14:modId xmlns:p14="http://schemas.microsoft.com/office/powerpoint/2010/main" val="559696038"/>
                  </p:ext>
                </p:extLst>
              </p:nvPr>
            </p:nvGraphicFramePr>
            <p:xfrm>
              <a:off x="393192" y="2344420"/>
              <a:ext cx="11365992" cy="2641473"/>
            </p:xfrm>
            <a:graphic>
              <a:graphicData uri="http://schemas.openxmlformats.org/drawingml/2006/table">
                <a:tbl>
                  <a:tblPr/>
                  <a:tblGrid>
                    <a:gridCol w="1124712">
                      <a:extLst>
                        <a:ext uri="{9D8B030D-6E8A-4147-A177-3AD203B41FA5}">
                          <a16:colId xmlns:a16="http://schemas.microsoft.com/office/drawing/2014/main" val="20000"/>
                        </a:ext>
                      </a:extLst>
                    </a:gridCol>
                    <a:gridCol w="5541264">
                      <a:extLst>
                        <a:ext uri="{9D8B030D-6E8A-4147-A177-3AD203B41FA5}">
                          <a16:colId xmlns:a16="http://schemas.microsoft.com/office/drawing/2014/main" val="20001"/>
                        </a:ext>
                      </a:extLst>
                    </a:gridCol>
                    <a:gridCol w="4700016">
                      <a:extLst>
                        <a:ext uri="{9D8B030D-6E8A-4147-A177-3AD203B41FA5}">
                          <a16:colId xmlns:a16="http://schemas.microsoft.com/office/drawing/2014/main" val="20002"/>
                        </a:ext>
                      </a:extLst>
                    </a:gridCol>
                  </a:tblGrid>
                  <a:tr h="1206373">
                    <a:tc rowSpan="2">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计算法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等大有夹角的两个力：</a:t>
                          </a:r>
                          <a:endParaRPr lang="en-US" altLang="zh-CN" sz="1200" dirty="0"/>
                        </a:p>
                        <a:p>
                          <a:pPr algn="ctr" latinLnBrk="1" hangingPunct="0">
                            <a:lnSpc>
                              <a:spcPts val="36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r>
                                <a:rPr lang="en-US" altLang="zh-CN" sz="2400" b="0" i="0" spc="-100">
                                  <a:solidFill>
                                    <a:srgbClr val="000000"/>
                                  </a:solidFill>
                                  <a:latin typeface="Cambria Math" pitchFamily="34" charset="0"/>
                                  <a:ea typeface="Cambria Math" pitchFamily="34" charset="-122"/>
                                  <a:cs typeface="Cambria Math" pitchFamily="34" charset="-120"/>
                                </a:rPr>
                                <m:t>′=2</m:t>
                              </m:r>
                              <m:r>
                                <a:rPr lang="en-US" altLang="zh-CN" sz="2400" b="0" i="0" spc="-100">
                                  <a:solidFill>
                                    <a:srgbClr val="000000"/>
                                  </a:solidFill>
                                  <a:latin typeface="Cambria Math" pitchFamily="34" charset="0"/>
                                  <a:ea typeface="Cambria Math" pitchFamily="34" charset="-122"/>
                                  <a:cs typeface="Cambria Math" pitchFamily="34" charset="-120"/>
                                </a:rPr>
                                <m:t>𝐹</m:t>
                              </m:r>
                              <m:r>
                                <m:rPr>
                                  <m:sty m:val="p"/>
                                </m:rPr>
                                <a:rPr lang="en-US" altLang="zh-CN" sz="2400" b="0" i="0" spc="-100">
                                  <a:solidFill>
                                    <a:srgbClr val="000000"/>
                                  </a:solidFill>
                                  <a:latin typeface="Cambria Math" pitchFamily="34" charset="0"/>
                                  <a:ea typeface="Cambria Math" pitchFamily="34" charset="-122"/>
                                  <a:cs typeface="Cambria Math" pitchFamily="34" charset="-120"/>
                                </a:rPr>
                                <m:t>cos</m:t>
                              </m:r>
                              <m:r>
                                <m:rPr>
                                  <m:nor/>
                                </m:rPr>
                                <a:rPr lang="en-US" altLang="zh-CN" sz="2400" b="0" i="0" spc="-100">
                                  <a:solidFill>
                                    <a:srgbClr val="000000"/>
                                  </a:solidFill>
                                  <a:latin typeface="Cambria Math" pitchFamily="34" charset="0"/>
                                  <a:ea typeface="Cambria Math" pitchFamily="34" charset="-122"/>
                                  <a:cs typeface="Cambria Math" pitchFamily="34" charset="-120"/>
                                </a:rPr>
                                <m:t> </m:t>
                              </m:r>
                              <m:f>
                                <m:f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spc="-100">
                                      <a:solidFill>
                                        <a:srgbClr val="000000"/>
                                      </a:solidFill>
                                      <a:latin typeface="Cambria Math" pitchFamily="34" charset="0"/>
                                      <a:ea typeface="Cambria Math" pitchFamily="34" charset="-122"/>
                                      <a:cs typeface="Cambria Math" pitchFamily="34" charset="-120"/>
                                    </a:rPr>
                                    <m:t>𝜃</m:t>
                                  </m:r>
                                </m:num>
                                <m:den>
                                  <m:r>
                                    <a:rPr lang="en-US" altLang="zh-CN" sz="2400" b="0" i="0" spc="-100">
                                      <a:solidFill>
                                        <a:srgbClr val="000000"/>
                                      </a:solidFill>
                                      <a:latin typeface="Cambria Math" pitchFamily="34" charset="0"/>
                                      <a:ea typeface="Cambria Math" pitchFamily="34" charset="-122"/>
                                      <a:cs typeface="Cambria Math" pitchFamily="34" charset="-120"/>
                                    </a:rPr>
                                    <m:t>2</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66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435100">
                    <a:tc vMerge="1">
                      <a:txBody>
                        <a:bodyPr/>
                        <a:lstStyle/>
                        <a:p>
                          <a:endParaRPr lang="zh-CN"/>
                        </a:p>
                      </a:txBody>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夹角</a:t>
                          </a:r>
                          <a14:m>
                            <m:oMath xmlns:m="http://schemas.openxmlformats.org/officeDocument/2006/math">
                              <m:sSup>
                                <m:sSup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spc="-100">
                                      <a:solidFill>
                                        <a:srgbClr val="000000"/>
                                      </a:solidFill>
                                      <a:latin typeface="Cambria Math" pitchFamily="34" charset="0"/>
                                      <a:ea typeface="Cambria Math" pitchFamily="34" charset="-122"/>
                                      <a:cs typeface="Cambria Math" pitchFamily="34" charset="-120"/>
                                    </a:rPr>
                                    <m:t>120</m:t>
                                  </m:r>
                                </m:e>
                                <m:sup>
                                  <m:r>
                                    <a:rPr lang="en-US" altLang="zh-CN" sz="2400" b="0" i="0" spc="-100">
                                      <a:solidFill>
                                        <a:srgbClr val="000000"/>
                                      </a:solidFill>
                                      <a:latin typeface="Cambria Math" pitchFamily="34" charset="0"/>
                                      <a:ea typeface="Cambria Math" pitchFamily="34" charset="-122"/>
                                      <a:cs typeface="Cambria Math" pitchFamily="34" charset="-120"/>
                                    </a:rPr>
                                    <m:t>∘</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且等大的力：</a:t>
                          </a:r>
                        </a:p>
                        <a:p>
                          <a:pPr marL="0" indent="0" algn="l" latinLnBrk="1" hangingPunct="0">
                            <a:lnSpc>
                              <a:spcPts val="38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r>
                                <a:rPr lang="en-US" altLang="zh-CN" sz="2400" b="0" i="0" spc="-100">
                                  <a:solidFill>
                                    <a:srgbClr val="000000"/>
                                  </a:solidFill>
                                  <a:latin typeface="Cambria Math" pitchFamily="34" charset="0"/>
                                  <a:ea typeface="Cambria Math" pitchFamily="34" charset="-122"/>
                                  <a:cs typeface="Cambria Math" pitchFamily="34" charset="-120"/>
                                </a:rPr>
                                <m:t>′=2</m:t>
                              </m:r>
                              <m:r>
                                <a:rPr lang="en-US" altLang="zh-CN" sz="2400" b="0" i="0" spc="-100">
                                  <a:solidFill>
                                    <a:srgbClr val="000000"/>
                                  </a:solidFill>
                                  <a:latin typeface="Cambria Math" pitchFamily="34" charset="0"/>
                                  <a:ea typeface="Cambria Math" pitchFamily="34" charset="-122"/>
                                  <a:cs typeface="Cambria Math" pitchFamily="34" charset="-120"/>
                                </a:rPr>
                                <m:t>𝐹</m:t>
                              </m:r>
                              <m:r>
                                <m:rPr>
                                  <m:sty m:val="p"/>
                                </m:rPr>
                                <a:rPr lang="en-US" altLang="zh-CN" sz="2400" b="0" i="0" spc="-100">
                                  <a:solidFill>
                                    <a:srgbClr val="000000"/>
                                  </a:solidFill>
                                  <a:latin typeface="Cambria Math" pitchFamily="34" charset="0"/>
                                  <a:ea typeface="Cambria Math" pitchFamily="34" charset="-122"/>
                                  <a:cs typeface="Cambria Math" pitchFamily="34" charset="-120"/>
                                </a:rPr>
                                <m:t>cos</m:t>
                              </m:r>
                              <m:r>
                                <m:rPr>
                                  <m:nor/>
                                </m:rPr>
                                <a:rPr lang="en-US" altLang="zh-CN" sz="2400" b="0" i="0" spc="-100">
                                  <a:solidFill>
                                    <a:srgbClr val="000000"/>
                                  </a:solidFill>
                                  <a:latin typeface="Cambria Math" pitchFamily="34" charset="0"/>
                                  <a:ea typeface="Cambria Math" pitchFamily="34" charset="-122"/>
                                  <a:cs typeface="Cambria Math" pitchFamily="34" charset="-120"/>
                                </a:rPr>
                                <m:t> </m:t>
                              </m:r>
                              <m:f>
                                <m:f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spc="-100">
                                      <a:solidFill>
                                        <a:srgbClr val="000000"/>
                                      </a:solidFill>
                                      <a:latin typeface="Cambria Math" pitchFamily="34" charset="0"/>
                                      <a:ea typeface="Cambria Math" pitchFamily="34" charset="-122"/>
                                      <a:cs typeface="Cambria Math" pitchFamily="34" charset="-120"/>
                                    </a:rPr>
                                    <m:t>𝜃</m:t>
                                  </m:r>
                                </m:num>
                                <m:den>
                                  <m:r>
                                    <a:rPr lang="en-US" altLang="zh-CN" sz="2400" b="0" i="0" spc="-100">
                                      <a:solidFill>
                                        <a:srgbClr val="000000"/>
                                      </a:solidFill>
                                      <a:latin typeface="Cambria Math" pitchFamily="34" charset="0"/>
                                      <a:ea typeface="Cambria Math" pitchFamily="34" charset="-122"/>
                                      <a:cs typeface="Cambria Math" pitchFamily="34" charset="-120"/>
                                    </a:rPr>
                                    <m:t>2</m:t>
                                  </m:r>
                                </m:den>
                              </m:f>
                              <m:r>
                                <a:rPr lang="en-US" altLang="zh-CN" sz="2400" b="0" i="0" spc="-100">
                                  <a:solidFill>
                                    <a:srgbClr val="000000"/>
                                  </a:solidFill>
                                  <a:latin typeface="Cambria Math" pitchFamily="34" charset="0"/>
                                  <a:ea typeface="Cambria Math" pitchFamily="34" charset="-122"/>
                                  <a:cs typeface="Cambria Math" pitchFamily="34" charset="-120"/>
                                </a:rPr>
                                <m:t>=</m:t>
                              </m:r>
                              <m:r>
                                <a:rPr lang="en-US" altLang="zh-CN" sz="2400" b="0" i="0" spc="-10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;合力与分力的夹角为</a:t>
                          </a:r>
                        </a:p>
                        <a:p>
                          <a:pPr marL="0" lvl="0" indent="0" algn="l" latinLnBrk="1" hangingPunct="0">
                            <a:lnSpc>
                              <a:spcPts val="3500"/>
                            </a:lnSpc>
                          </a:pPr>
                          <a14:m>
                            <m:oMath xmlns:m="http://schemas.openxmlformats.org/officeDocument/2006/math">
                              <m:sSup>
                                <m:sSup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spc="-100">
                                      <a:solidFill>
                                        <a:srgbClr val="000000"/>
                                      </a:solidFill>
                                      <a:latin typeface="Cambria Math" pitchFamily="34" charset="0"/>
                                      <a:ea typeface="Cambria Math" pitchFamily="34" charset="-122"/>
                                      <a:cs typeface="Cambria Math" pitchFamily="34" charset="-120"/>
                                    </a:rPr>
                                    <m:t>60</m:t>
                                  </m:r>
                                </m:e>
                                <m:sup>
                                  <m:r>
                                    <a:rPr lang="en-US" altLang="zh-CN" sz="2400" b="0" i="0" spc="-100">
                                      <a:solidFill>
                                        <a:srgbClr val="000000"/>
                                      </a:solidFill>
                                      <a:latin typeface="Cambria Math" pitchFamily="34" charset="0"/>
                                      <a:ea typeface="Cambria Math" pitchFamily="34" charset="-122"/>
                                      <a:cs typeface="Cambria Math" pitchFamily="34" charset="-120"/>
                                    </a:rPr>
                                    <m:t>∘</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106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19" name="P_6_BD#987ff6359?colgroup=3,17,14&amp;vcp=1&amp;pid=3975d5cb7&amp;color=0,0,0&amp;mp=1&amp;vtp=1&amp;bt=1&amp;bbb=1&amp;hb=1"/>
              <p:cNvGraphicFramePr>
                <a:graphicFrameLocks noGrp="1"/>
              </p:cNvGraphicFramePr>
              <p:nvPr>
                <p:extLst>
                  <p:ext uri="{D42A27DB-BD31-4B8C-83A1-F6EECF244321}">
                    <p14:modId xmlns:p14="http://schemas.microsoft.com/office/powerpoint/2010/main" val="559696038"/>
                  </p:ext>
                </p:extLst>
              </p:nvPr>
            </p:nvGraphicFramePr>
            <p:xfrm>
              <a:off x="393192" y="2344420"/>
              <a:ext cx="11365992" cy="2641473"/>
            </p:xfrm>
            <a:graphic>
              <a:graphicData uri="http://schemas.openxmlformats.org/drawingml/2006/table">
                <a:tbl>
                  <a:tblPr/>
                  <a:tblGrid>
                    <a:gridCol w="1124712">
                      <a:extLst>
                        <a:ext uri="{9D8B030D-6E8A-4147-A177-3AD203B41FA5}">
                          <a16:colId xmlns:a16="http://schemas.microsoft.com/office/drawing/2014/main" val="20000"/>
                        </a:ext>
                      </a:extLst>
                    </a:gridCol>
                    <a:gridCol w="5541264">
                      <a:extLst>
                        <a:ext uri="{9D8B030D-6E8A-4147-A177-3AD203B41FA5}">
                          <a16:colId xmlns:a16="http://schemas.microsoft.com/office/drawing/2014/main" val="20001"/>
                        </a:ext>
                      </a:extLst>
                    </a:gridCol>
                    <a:gridCol w="4700016">
                      <a:extLst>
                        <a:ext uri="{9D8B030D-6E8A-4147-A177-3AD203B41FA5}">
                          <a16:colId xmlns:a16="http://schemas.microsoft.com/office/drawing/2014/main" val="20002"/>
                        </a:ext>
                      </a:extLst>
                    </a:gridCol>
                  </a:tblGrid>
                  <a:tr h="1206373">
                    <a:tc rowSpan="2">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计算法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20462" t="-505" r="-85039" b="-120202"/>
                          </a:stretch>
                        </a:blipFill>
                      </a:tcPr>
                    </a:tc>
                    <a:tc>
                      <a:txBody>
                        <a:bodyPr/>
                        <a:lstStyle/>
                        <a:p>
                          <a:pPr algn="ctr" latinLnBrk="1" hangingPunct="0">
                            <a:lnSpc>
                              <a:spcPts val="66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435100">
                    <a:tc vMerge="1">
                      <a:txBody>
                        <a:bodyPr/>
                        <a:lstStyle/>
                        <a:p>
                          <a:endParaRPr lang="zh-CN"/>
                        </a:p>
                      </a:txBody>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20462" t="-84322" r="-85039" b="-847"/>
                          </a:stretch>
                        </a:blipFill>
                      </a:tcPr>
                    </a:tc>
                    <a:tc>
                      <a:txBody>
                        <a:bodyPr/>
                        <a:lstStyle/>
                        <a:p>
                          <a:pPr algn="ctr" latinLnBrk="1" hangingPunct="0">
                            <a:lnSpc>
                              <a:spcPts val="106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pic>
        <p:nvPicPr>
          <p:cNvPr id="3" name="P_6_BD#987ff6359.table_image?tii=3&amp;vcp=1&amp;pid=3975d5cb7&amp;color=0,0,0&amp;mp=1&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929116" y="2568130"/>
            <a:ext cx="960120" cy="758952"/>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4" name="P_6_BD#987ff6359.table_image?tii=4&amp;vcp=1&amp;pid=3975d5cb7&amp;color=0,0,0&amp;mp=1&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8942832" y="3745040"/>
            <a:ext cx="932688" cy="119786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2" name="P_6_BD#987ff6359?colgroup=3,17,14&amp;vcp=1&amp;pid=3975d5cb7&amp;color=0,0,0&amp;mp=1&amp;vtp=1&amp;bt=1&amp;bbb=1">
            <a:extLst>
              <a:ext uri="{FF2B5EF4-FFF2-40B4-BE49-F238E27FC236}">
                <a16:creationId xmlns:a16="http://schemas.microsoft.com/office/drawing/2014/main" id="{207036FE-8FF6-D5F1-0831-407CB0058D49}"/>
              </a:ext>
            </a:extLst>
          </p:cNvPr>
          <p:cNvSpPr txBox="1"/>
          <p:nvPr/>
        </p:nvSpPr>
        <p:spPr>
          <a:xfrm>
            <a:off x="11143632" y="1718945"/>
            <a:ext cx="615553" cy="503215"/>
          </a:xfrm>
          <a:prstGeom prst="rect">
            <a:avLst/>
          </a:prstGeom>
          <a:noFill/>
        </p:spPr>
        <p:txBody>
          <a:bodyPr vert="horz" wrap="none" lIns="0" tIns="0" rIns="0" bIns="0" rtlCol="0">
            <a:spAutoFit/>
          </a:bodyPr>
          <a:lstStyle/>
          <a:p>
            <a:pPr algn="r">
              <a:lnSpc>
                <a:spcPts val="4300"/>
              </a:lnSpc>
            </a:pPr>
            <a:r>
              <a:rPr lang="zh-CN" altLang="en-US" sz="2400">
                <a:latin typeface="Times New Roman" panose="02020603050405020304" pitchFamily="18" charset="0"/>
              </a:rPr>
              <a:t>续表</a:t>
            </a:r>
          </a:p>
        </p:txBody>
      </p:sp>
    </p:spTree>
  </p:cSld>
  <p:clrMapOvr>
    <a:masterClrMapping/>
  </p:clrMapOvr>
  <p:transition>
    <p:split dir="in"/>
  </p:transition>
</p:sld>
</file>

<file path=ppt/slides/slide19.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p:sp>
        <p:nvSpPr>
          <p:cNvPr id="2" name="P_6_BD#987ff6359?vcp=1&amp;pid=3975d5cb7&amp;color=0,0,0&amp;vtp=1&amp;bt=1&amp;bbb=1"/>
          <p:cNvSpPr/>
          <p:nvPr/>
        </p:nvSpPr>
        <p:spPr>
          <a:xfrm>
            <a:off x="393192" y="1769967"/>
            <a:ext cx="11402568" cy="478155"/>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2.多个共点力合成的方法</a:t>
            </a:r>
            <a:r>
              <a:rPr lang="en-US" altLang="zh-CN" sz="100" b="0" i="0" kern="0" spc="-99900" dirty="0">
                <a:solidFill>
                  <a:srgbClr val="FFFFFF"/>
                </a:solidFill>
                <a:latin typeface="Times New Roman" pitchFamily="34" charset="0"/>
                <a:ea typeface="微软雅黑" pitchFamily="34" charset="-122"/>
                <a:cs typeface="Times New Roman" pitchFamily="34" charset="-120"/>
              </a:rPr>
              <a:t>#4.2</a:t>
            </a:r>
            <a:endParaRPr lang="en-US" altLang="zh-CN" sz="2400" dirty="0"/>
          </a:p>
        </p:txBody>
      </p:sp>
      <p:pic>
        <p:nvPicPr>
          <p:cNvPr id="3" name="P_6_BD#987ff6359?vcp=1&amp;pid=3975d5cb7&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5202936" y="2383758"/>
            <a:ext cx="1783080" cy="1527048"/>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4" name="P_6_BD#987ff6359?vcp=1&amp;pid=3975d5cb7&amp;color=0,0,0&amp;vtp=1&amp;bbb=1&amp;hb=1"/>
          <p:cNvSpPr/>
          <p:nvPr/>
        </p:nvSpPr>
        <p:spPr>
          <a:xfrm>
            <a:off x="393192" y="4047458"/>
            <a:ext cx="11402568" cy="1037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先利用平行四边形定则，求出其中两个力的合力，如图所示</a:t>
            </a:r>
            <a:r>
              <a:rPr lang="en-US" altLang="zh-CN" sz="2400" b="0" i="0">
                <a:solidFill>
                  <a:srgbClr val="000000"/>
                </a:solidFill>
                <a:latin typeface="Times New Roman" pitchFamily="34" charset="0"/>
                <a:ea typeface="微软雅黑" pitchFamily="34" charset="-122"/>
                <a:cs typeface="Times New Roman" pitchFamily="34" charset="-120"/>
              </a:rPr>
              <a:t>.然后再利用平行四边形定</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则进一步求出这个合力和第三个力的合力</a:t>
            </a:r>
            <a:r>
              <a:rPr lang="en-US" altLang="zh-CN" sz="2400" b="0" i="0" dirty="0">
                <a:solidFill>
                  <a:srgbClr val="000000"/>
                </a:solidFill>
                <a:latin typeface="Times New Roman" pitchFamily="34" charset="0"/>
                <a:ea typeface="微软雅黑" pitchFamily="34" charset="-122"/>
                <a:cs typeface="Times New Roman" pitchFamily="34" charset="-120"/>
              </a:rPr>
              <a:t>，以此类推，从而求出最后的合力.</a:t>
            </a:r>
            <a:endParaRPr lang="en-US" altLang="zh-CN" sz="2400" dirty="0"/>
          </a:p>
        </p:txBody>
      </p:sp>
    </p:spTree>
  </p:cSld>
  <p:clrMapOvr>
    <a:masterClrMapping/>
  </p:clrMapOvr>
  <p:transition>
    <p:split dir="in"/>
  </p:transition>
</p:sld>
</file>

<file path=ppt/slides/slide20.xml><?xml version="1.0" encoding="utf-8"?>
<p:sld xmlns:a="http://schemas.openxmlformats.org/drawingml/2006/main" xmlns:r="http://schemas.openxmlformats.org/officeDocument/2006/relationships" xmlns:p="http://schemas.openxmlformats.org/presentationml/2006/main">
  <p:cSld name="Slide 20&amp;si=20">
    <p:spTree>
      <p:nvGrpSpPr>
        <p:cNvPr id="1" name=""/>
        <p:cNvGrpSpPr/>
        <p:nvPr/>
      </p:nvGrpSpPr>
      <p:grpSpPr>
        <a:xfrm>
          <a:off x="0" y="0"/>
          <a:ext cx="0" cy="0"/>
          <a:chOff x="0" y="0"/>
          <a:chExt cx="0" cy="0"/>
        </a:xfrm>
      </p:grpSpPr>
      <p:sp>
        <p:nvSpPr>
          <p:cNvPr id="2" name="P_6_BD#987ff6359?vcp=1&amp;pid=3975d5cb7&amp;color=0,0,0&amp;vtp=1&amp;bt=1&amp;bbb=1&amp;hb=1"/>
          <p:cNvSpPr/>
          <p:nvPr/>
        </p:nvSpPr>
        <p:spPr>
          <a:xfrm>
            <a:off x="393192" y="2067655"/>
            <a:ext cx="11402568" cy="27138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教材拓展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.矢量：既有大小、又有方向、相加时遵循平行四边形定则的物理量，叫作矢量.</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.标量：只有大小、没有方向、相加时遵循算术法则的物理量叫作标量.</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.平行四边形定则是一切矢量的运算法则，不仅适用于力的合成，</a:t>
            </a:r>
            <a:r>
              <a:rPr lang="en-US" altLang="zh-CN" sz="2400" b="0" i="0">
                <a:solidFill>
                  <a:srgbClr val="000000"/>
                </a:solidFill>
                <a:latin typeface="Times New Roman" pitchFamily="34" charset="0"/>
                <a:ea typeface="微软雅黑" pitchFamily="34" charset="-122"/>
                <a:cs typeface="Times New Roman" pitchFamily="34" charset="-120"/>
              </a:rPr>
              <a:t>也适用于速度、</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加速度等矢量的合成</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sld>
</file>

<file path=ppt/slides/slide21.xml><?xml version="1.0" encoding="utf-8"?>
<p:sld xmlns:a="http://schemas.openxmlformats.org/drawingml/2006/main" xmlns:r="http://schemas.openxmlformats.org/officeDocument/2006/relationships" xmlns:p="http://schemas.openxmlformats.org/presentationml/2006/main">
  <p:cSld name="Slide 21&amp;si=21">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P_6_BD#987ff6359?vcp=1&amp;pid=3975d5cb7&amp;color=0,0,0&amp;vtp=1&amp;bt=1&amp;bbb=1"/>
              <p:cNvSpPr/>
              <p:nvPr/>
            </p:nvSpPr>
            <p:spPr>
              <a:xfrm>
                <a:off x="393192" y="585502"/>
                <a:ext cx="11402568" cy="21509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拓展延伸</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平行四边形定则的推广</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.三角形定则</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如图甲所示</a:t>
                </a:r>
                <a:r>
                  <a:rPr lang="en-US" altLang="zh-CN" sz="2400" b="0" i="0" dirty="0">
                    <a:solidFill>
                      <a:srgbClr val="000000"/>
                    </a:solidFill>
                    <a:latin typeface="Times New Roman" pitchFamily="34" charset="0"/>
                    <a:ea typeface="微软雅黑" pitchFamily="34" charset="-122"/>
                    <a:cs typeface="Times New Roman" pitchFamily="34" charset="-120"/>
                  </a:rPr>
                  <a:t>，两分力为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、合力为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的平行四边形，可演变为图乙.</a:t>
                </a:r>
                <a:endParaRPr lang="en-US" altLang="zh-CN" sz="2400" dirty="0"/>
              </a:p>
            </p:txBody>
          </p:sp>
        </mc:Choice>
        <mc:Fallback xmlns="">
          <p:sp>
            <p:nvSpPr>
              <p:cNvPr id="2" name="P_6_BD#987ff6359?vcp=1&amp;pid=3975d5cb7&amp;color=0,0,0&amp;vtp=1&amp;bt=1&amp;bbb=1"/>
              <p:cNvSpPr>
                <a:spLocks noRot="1" noChangeAspect="1" noMove="1" noResize="1" noEditPoints="1" noAdjustHandles="1" noChangeArrowheads="1" noChangeShapeType="1" noTextEdit="1"/>
              </p:cNvSpPr>
              <p:nvPr/>
            </p:nvSpPr>
            <p:spPr>
              <a:xfrm>
                <a:off x="393192" y="585502"/>
                <a:ext cx="11402568" cy="2150999"/>
              </a:xfrm>
              <a:prstGeom prst="rect">
                <a:avLst/>
              </a:prstGeom>
              <a:blipFill>
                <a:blip r:embed="rId3"/>
                <a:stretch>
                  <a:fillRect l="-1658" b="-8782"/>
                </a:stretch>
              </a:blipFill>
              <a:ln/>
            </p:spPr>
            <p:txBody>
              <a:bodyPr/>
              <a:lstStyle/>
              <a:p>
                <a:r>
                  <a:rPr lang="zh-CN" altLang="en-US">
                    <a:noFill/>
                  </a:rPr>
                  <a:t> </a:t>
                </a:r>
              </a:p>
            </p:txBody>
          </p:sp>
        </mc:Fallback>
      </mc:AlternateContent>
      <p:pic>
        <p:nvPicPr>
          <p:cNvPr id="3" name="P_6_BD#987ff6359?vcp=1&amp;pid=3975d5cb7&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4525371" y="2852198"/>
            <a:ext cx="3138210" cy="3382200"/>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22.xml><?xml version="1.0" encoding="utf-8"?>
<p:sld xmlns:a="http://schemas.openxmlformats.org/drawingml/2006/main" xmlns:r="http://schemas.openxmlformats.org/officeDocument/2006/relationships" xmlns:p="http://schemas.openxmlformats.org/presentationml/2006/main">
  <p:cSld name="Slide 22&amp;si=22">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P_6_BD#987ff6359?vcp=1&amp;pid=3975d5cb7&amp;color=0,0,0&amp;vtp=1&amp;bt=1&amp;bbb=1&amp;hb=1"/>
              <p:cNvSpPr/>
              <p:nvPr/>
            </p:nvSpPr>
            <p:spPr>
              <a:xfrm>
                <a:off x="393192" y="1799685"/>
                <a:ext cx="11402568" cy="32726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2.多边形定则</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如果是多个力合成</a:t>
                </a:r>
                <a:r>
                  <a:rPr lang="en-US" altLang="zh-CN" sz="2400" b="0" i="0" dirty="0">
                    <a:solidFill>
                      <a:srgbClr val="000000"/>
                    </a:solidFill>
                    <a:latin typeface="Times New Roman" pitchFamily="34" charset="0"/>
                    <a:ea typeface="微软雅黑" pitchFamily="34" charset="-122"/>
                    <a:cs typeface="Times New Roman" pitchFamily="34" charset="-120"/>
                  </a:rPr>
                  <a:t>，则由三角形定则的推广可得到多边形定则</a:t>
                </a:r>
                <a:r>
                  <a:rPr lang="en-US" altLang="zh-CN" sz="2400" b="0" i="0">
                    <a:solidFill>
                      <a:srgbClr val="000000"/>
                    </a:solidFill>
                    <a:latin typeface="Times New Roman" pitchFamily="34" charset="0"/>
                    <a:ea typeface="微软雅黑" pitchFamily="34" charset="-122"/>
                    <a:cs typeface="Times New Roman" pitchFamily="34" charset="-120"/>
                  </a:rPr>
                  <a:t>，如图丙为三个力</a:t>
                </a:r>
              </a:p>
              <a:p>
                <a:pPr latinLnBrk="1">
                  <a:lnSpc>
                    <a:spcPts val="4400"/>
                  </a:lnSpc>
                </a:pP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3</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的合成图，</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为其合力.</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1" i="0" dirty="0">
                    <a:solidFill>
                      <a:srgbClr val="000000"/>
                    </a:solidFill>
                    <a:latin typeface="Times New Roman" pitchFamily="34" charset="0"/>
                    <a:ea typeface="微软雅黑" pitchFamily="34" charset="-122"/>
                    <a:cs typeface="Times New Roman" pitchFamily="34" charset="-120"/>
                  </a:rPr>
                  <a:t>注意］</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一切矢量加减运算均遵循平行四边形定则或三角形定则</a:t>
                </a:r>
                <a:r>
                  <a:rPr lang="en-US" altLang="zh-CN" sz="2400" b="0" i="0">
                    <a:solidFill>
                      <a:srgbClr val="000000"/>
                    </a:solidFill>
                    <a:latin typeface="Times New Roman" pitchFamily="34" charset="0"/>
                    <a:ea typeface="微软雅黑" pitchFamily="34" charset="-122"/>
                    <a:cs typeface="Times New Roman" pitchFamily="34" charset="-120"/>
                  </a:rPr>
                  <a:t>.矢量运算是大</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小和方向同时参与的运算</a:t>
                </a:r>
                <a:r>
                  <a:rPr lang="en-US" altLang="zh-CN" sz="2400" b="0" i="0" dirty="0">
                    <a:solidFill>
                      <a:srgbClr val="000000"/>
                    </a:solidFill>
                    <a:latin typeface="Times New Roman" pitchFamily="34" charset="0"/>
                    <a:ea typeface="微软雅黑" pitchFamily="34" charset="-122"/>
                    <a:cs typeface="Times New Roman" pitchFamily="34" charset="-120"/>
                  </a:rPr>
                  <a:t>.三角形定则与平行四边形定则的实质是一样的</a:t>
                </a:r>
                <a:r>
                  <a:rPr lang="en-US" altLang="zh-CN" sz="2400" b="0" i="0">
                    <a:solidFill>
                      <a:srgbClr val="000000"/>
                    </a:solidFill>
                    <a:latin typeface="Times New Roman" pitchFamily="34" charset="0"/>
                    <a:ea typeface="微软雅黑" pitchFamily="34" charset="-122"/>
                    <a:cs typeface="Times New Roman" pitchFamily="34" charset="-120"/>
                  </a:rPr>
                  <a:t>，都是矢量运</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算法则的表达方式</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P_6_BD#987ff6359?vcp=1&amp;pid=3975d5cb7&amp;color=0,0,0&amp;vtp=1&amp;bt=1&amp;bbb=1&amp;hb=1"/>
              <p:cNvSpPr>
                <a:spLocks noRot="1" noChangeAspect="1" noMove="1" noResize="1" noEditPoints="1" noAdjustHandles="1" noChangeArrowheads="1" noChangeShapeType="1" noTextEdit="1"/>
              </p:cNvSpPr>
              <p:nvPr/>
            </p:nvSpPr>
            <p:spPr>
              <a:xfrm>
                <a:off x="393192" y="1799685"/>
                <a:ext cx="11402568" cy="3272600"/>
              </a:xfrm>
              <a:prstGeom prst="rect">
                <a:avLst/>
              </a:prstGeom>
              <a:blipFill>
                <a:blip r:embed="rId3"/>
                <a:stretch>
                  <a:fillRect l="-1658" r="-1230" b="-5587"/>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3.xml><?xml version="1.0" encoding="utf-8"?>
<p:sld xmlns:a="http://schemas.openxmlformats.org/drawingml/2006/main" xmlns:r="http://schemas.openxmlformats.org/officeDocument/2006/relationships" xmlns:p="http://schemas.openxmlformats.org/presentationml/2006/main">
  <p:cSld name="Slide 23&amp;si=23">
    <p:spTree>
      <p:nvGrpSpPr>
        <p:cNvPr id="1" name=""/>
        <p:cNvGrpSpPr/>
        <p:nvPr/>
      </p:nvGrpSpPr>
      <p:grpSpPr>
        <a:xfrm>
          <a:off x="0" y="0"/>
          <a:ext cx="0" cy="0"/>
          <a:chOff x="0" y="0"/>
          <a:chExt cx="0" cy="0"/>
        </a:xfrm>
      </p:grpSpPr>
      <p:pic>
        <p:nvPicPr>
          <p:cNvPr id="2" name="C_5#4f164b896?vcp=1&amp;pid=09eab9a21&amp;color=0,0,0&amp;tib=255,255,255&amp;vtp=1&amp;bt=1" descr="preencoded.png"/>
          <p:cNvPicPr>
            <a:picLocks noChangeAspect="1"/>
          </p:cNvPicPr>
          <p:nvPr/>
        </p:nvPicPr>
        <p:blipFill>
          <a:blip r:embed="rId3"/>
          <a:stretch>
            <a:fillRect/>
          </a:stretch>
        </p:blipFill>
        <p:spPr>
          <a:xfrm>
            <a:off x="411480" y="502920"/>
            <a:ext cx="11320272" cy="457200"/>
          </a:xfrm>
          <a:prstGeom prst="rect">
            <a:avLst/>
          </a:prstGeom>
        </p:spPr>
      </p:pic>
      <p:sp>
        <p:nvSpPr>
          <p:cNvPr id="3" name="C_5_BD#4f164b896?vcp=1&amp;pid=09eab9a21&amp;color=255,255,255&amp;vtp=1"/>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3</a:t>
            </a:r>
            <a:endParaRPr lang="en-US" altLang="zh-CN" sz="2800" dirty="0"/>
          </a:p>
        </p:txBody>
      </p:sp>
      <p:sp>
        <p:nvSpPr>
          <p:cNvPr id="4" name="C_5_BD#4f164b896?vcp=1&amp;pid=09eab9a21&amp;color=0,0,0&amp;vtp=1&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合力的动态变化及其极值的确定</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难点</a:t>
            </a:r>
            <a:endParaRPr lang="en-US" altLang="zh-CN" sz="2600" dirty="0"/>
          </a:p>
        </p:txBody>
      </p:sp>
      <p:sp>
        <p:nvSpPr>
          <p:cNvPr id="5" name="P_6_BD#aabb42af5?vcp=1&amp;pid=4f164b896&amp;color=0,0,0&amp;vtp=1&amp;bbb=1"/>
          <p:cNvSpPr/>
          <p:nvPr/>
        </p:nvSpPr>
        <p:spPr>
          <a:xfrm>
            <a:off x="393192" y="1092200"/>
            <a:ext cx="11402568" cy="1033399"/>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.两力合力与分力的大小关系</a:t>
            </a:r>
            <a:endParaRPr lang="en-US" altLang="zh-CN" sz="2400" dirty="0"/>
          </a:p>
        </p:txBody>
      </p:sp>
      <mc:AlternateContent xmlns:mc="http://schemas.openxmlformats.org/markup-compatibility/2006" xmlns:a14="http://schemas.microsoft.com/office/drawing/2010/main">
        <mc:Choice Requires="a14">
          <p:graphicFrame>
            <p:nvGraphicFramePr>
              <p:cNvPr id="24" name="P_6_BD#aabb42af5?colgroup=11,11,13&amp;vcp=1&amp;pid=4f164b896&amp;color=0,0,0&amp;vtp=1&amp;bbb=1"/>
              <p:cNvGraphicFramePr>
                <a:graphicFrameLocks noGrp="1"/>
              </p:cNvGraphicFramePr>
              <p:nvPr>
                <p:extLst>
                  <p:ext uri="{D42A27DB-BD31-4B8C-83A1-F6EECF244321}">
                    <p14:modId xmlns:p14="http://schemas.microsoft.com/office/powerpoint/2010/main" val="2221575415"/>
                  </p:ext>
                </p:extLst>
              </p:nvPr>
            </p:nvGraphicFramePr>
            <p:xfrm>
              <a:off x="393192" y="2259330"/>
              <a:ext cx="11356848" cy="2589341"/>
            </p:xfrm>
            <a:graphic>
              <a:graphicData uri="http://schemas.openxmlformats.org/drawingml/2006/table">
                <a:tbl>
                  <a:tblPr/>
                  <a:tblGrid>
                    <a:gridCol w="352044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4315968">
                      <a:extLst>
                        <a:ext uri="{9D8B030D-6E8A-4147-A177-3AD203B41FA5}">
                          <a16:colId xmlns:a16="http://schemas.microsoft.com/office/drawing/2014/main" val="20002"/>
                        </a:ext>
                      </a:extLst>
                    </a:gridCol>
                  </a:tblGrid>
                  <a:tr h="53054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最大</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同向</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800"/>
                            </a:lnSpc>
                          </a:pP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spc="-100" baseline="-10000">
                                      <a:solidFill>
                                        <a:srgbClr val="000000"/>
                                      </a:solidFill>
                                      <a:latin typeface="Cambria Math" panose="02040503050406030204" pitchFamily="18" charset="0"/>
                                    </a:rPr>
                                    <m:t>合</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3054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最小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oMath>
                          </a14:m>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反向</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800"/>
                            </a:lnSpc>
                          </a:pPr>
                          <a14:m>
                            <m:oMath xmlns:m="http://schemas.openxmlformats.org/officeDocument/2006/math">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spc="-100" baseline="-10000">
                                      <a:solidFill>
                                        <a:srgbClr val="000000"/>
                                      </a:solidFill>
                                      <a:latin typeface="Cambria Math" panose="02040503050406030204" pitchFamily="18" charset="0"/>
                                    </a:rPr>
                                    <m:t>合</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3054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范围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algn="ctr" latinLnBrk="1" hangingPunct="0">
                            <a:lnSpc>
                              <a:spcPts val="38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spc="-100" baseline="-10000">
                                      <a:solidFill>
                                        <a:srgbClr val="000000"/>
                                      </a:solidFill>
                                      <a:latin typeface="Cambria Math" panose="02040503050406030204" pitchFamily="18" charset="0"/>
                                    </a:rPr>
                                    <m:t>合</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1</m:t>
                                  </m:r>
                                </m:sub>
                              </m:sSub>
                              <m:r>
                                <a:rPr lang="en-US" altLang="zh-CN" sz="2400" b="0" i="0" spc="-100">
                                  <a:solidFill>
                                    <a:srgbClr val="000000"/>
                                  </a:solidFill>
                                  <a:latin typeface="Cambria Math" pitchFamily="34" charset="0"/>
                                  <a:ea typeface="Cambria Math" pitchFamily="34" charset="-122"/>
                                  <a:cs typeface="Cambria Math" pitchFamily="34" charset="-120"/>
                                </a:rPr>
                                <m:t>+</m:t>
                              </m:r>
                              <m:sSub>
                                <m:sSubPr>
                                  <m:ctrlPr>
                                    <a:rPr lang="en-US" altLang="zh-CN" sz="2400" b="0" i="1" spc="-100"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spc="-100">
                                      <a:solidFill>
                                        <a:srgbClr val="000000"/>
                                      </a:solidFill>
                                      <a:latin typeface="Cambria Math" pitchFamily="34" charset="0"/>
                                      <a:ea typeface="Cambria Math" pitchFamily="34" charset="-122"/>
                                      <a:cs typeface="Cambria Math" pitchFamily="34" charset="-120"/>
                                    </a:rPr>
                                    <m:t>𝐹</m:t>
                                  </m:r>
                                </m:e>
                                <m:sub>
                                  <m:r>
                                    <a:rPr lang="en-US" altLang="zh-CN" sz="2400" b="0" i="0" spc="-10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2"/>
                      </a:ext>
                    </a:extLst>
                  </a:tr>
                  <a:tr h="498856">
                    <a:tc>
                      <a:txBody>
                        <a:bodyPr/>
                        <a:lstStyle/>
                        <a:p>
                          <a:pPr algn="ctr" latinLnBrk="1" hangingPunct="0">
                            <a:lnSpc>
                              <a:spcPts val="3700"/>
                            </a:lnSpc>
                          </a:pPr>
                          <a:r>
                            <a:rPr lang="en-US" altLang="zh-CN" sz="2400" b="1" i="0" dirty="0">
                              <a:solidFill>
                                <a:srgbClr val="000000"/>
                              </a:solidFill>
                              <a:latin typeface="Times New Roman" pitchFamily="34" charset="0"/>
                              <a:ea typeface="微软雅黑" pitchFamily="34" charset="-122"/>
                              <a:cs typeface="Times New Roman" pitchFamily="34" charset="-120"/>
                            </a:rPr>
                            <a:t>合力</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oMath>
                          </a14:m>
                          <a:r>
                            <a:rPr lang="en-US" altLang="zh-CN" sz="2400" b="1" i="0" dirty="0">
                              <a:solidFill>
                                <a:srgbClr val="000000"/>
                              </a:solidFill>
                              <a:latin typeface="Times New Roman" pitchFamily="34" charset="0"/>
                              <a:ea typeface="微软雅黑" pitchFamily="34" charset="-122"/>
                              <a:cs typeface="Times New Roman" pitchFamily="34" charset="-120"/>
                            </a:rPr>
                            <a:t>与夹角</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000000"/>
                              </a:solidFill>
                              <a:latin typeface="Times New Roman" pitchFamily="34" charset="0"/>
                              <a:ea typeface="微软雅黑" pitchFamily="34" charset="-122"/>
                              <a:cs typeface="Times New Roman" pitchFamily="34" charset="-120"/>
                            </a:rPr>
                            <a:t>的关系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algn="ctr" latinLnBrk="1" hangingPunct="0">
                            <a:lnSpc>
                              <a:spcPts val="36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𝜃</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越大</a:t>
                          </a:r>
                          <a:r>
                            <a:rPr lang="en-US" altLang="zh-CN" sz="2400" b="0" i="0" spc="-10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越小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3"/>
                      </a:ext>
                    </a:extLst>
                  </a:tr>
                  <a:tr h="498856">
                    <a:tc gridSpan="3">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说明：①合力可能比分力都大</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②合力可能比分力都小</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③合力与分力可能等大</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4"/>
                      </a:ext>
                    </a:extLst>
                  </a:tr>
                </a:tbl>
              </a:graphicData>
            </a:graphic>
          </p:graphicFrame>
        </mc:Choice>
        <mc:Fallback xmlns="">
          <p:graphicFrame>
            <p:nvGraphicFramePr>
              <p:cNvPr id="24" name="P_6_BD#aabb42af5?colgroup=11,11,13&amp;vcp=1&amp;pid=4f164b896&amp;color=0,0,0&amp;vtp=1&amp;bbb=1"/>
              <p:cNvGraphicFramePr>
                <a:graphicFrameLocks noGrp="1"/>
              </p:cNvGraphicFramePr>
              <p:nvPr>
                <p:extLst>
                  <p:ext uri="{D42A27DB-BD31-4B8C-83A1-F6EECF244321}">
                    <p14:modId xmlns:p14="http://schemas.microsoft.com/office/powerpoint/2010/main" val="2221575415"/>
                  </p:ext>
                </p:extLst>
              </p:nvPr>
            </p:nvGraphicFramePr>
            <p:xfrm>
              <a:off x="393192" y="2259330"/>
              <a:ext cx="11356848" cy="2589341"/>
            </p:xfrm>
            <a:graphic>
              <a:graphicData uri="http://schemas.openxmlformats.org/drawingml/2006/table">
                <a:tbl>
                  <a:tblPr/>
                  <a:tblGrid>
                    <a:gridCol w="352044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4315968">
                      <a:extLst>
                        <a:ext uri="{9D8B030D-6E8A-4147-A177-3AD203B41FA5}">
                          <a16:colId xmlns:a16="http://schemas.microsoft.com/office/drawing/2014/main" val="20002"/>
                        </a:ext>
                      </a:extLst>
                    </a:gridCol>
                  </a:tblGrid>
                  <a:tr h="53054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最大</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100173" t="-1149" r="-122837" b="-417241"/>
                          </a:stretch>
                        </a:blipFill>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163418" t="-1149" r="-282" b="-417241"/>
                          </a:stretch>
                        </a:blipFill>
                      </a:tcPr>
                    </a:tc>
                    <a:extLst>
                      <a:ext uri="{0D108BD9-81ED-4DB2-BD59-A6C34878D82A}">
                        <a16:rowId xmlns:a16="http://schemas.microsoft.com/office/drawing/2014/main" val="10000"/>
                      </a:ext>
                    </a:extLst>
                  </a:tr>
                  <a:tr h="53054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最小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100173" t="-100000" r="-122837" b="-312500"/>
                          </a:stretch>
                        </a:blipFill>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163418" t="-100000" r="-282" b="-312500"/>
                          </a:stretch>
                        </a:blipFill>
                      </a:tcPr>
                    </a:tc>
                    <a:extLst>
                      <a:ext uri="{0D108BD9-81ED-4DB2-BD59-A6C34878D82A}">
                        <a16:rowId xmlns:a16="http://schemas.microsoft.com/office/drawing/2014/main" val="10001"/>
                      </a:ext>
                    </a:extLst>
                  </a:tr>
                  <a:tr h="53054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范围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45023" t="-202299" r="-156" b="-216092"/>
                          </a:stretch>
                        </a:blipFill>
                      </a:tcPr>
                    </a:tc>
                    <a:tc hMerge="1">
                      <a:txBody>
                        <a:bodyPr/>
                        <a:lstStyle/>
                        <a:p>
                          <a:endParaRPr lang="zh-CN"/>
                        </a:p>
                      </a:txBody>
                      <a:tcPr/>
                    </a:tc>
                    <a:extLst>
                      <a:ext uri="{0D108BD9-81ED-4DB2-BD59-A6C34878D82A}">
                        <a16:rowId xmlns:a16="http://schemas.microsoft.com/office/drawing/2014/main" val="10002"/>
                      </a:ext>
                    </a:extLst>
                  </a:tr>
                  <a:tr h="498856">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173" t="-320732" r="-222837" b="-129268"/>
                          </a:stretch>
                        </a:blipFill>
                      </a:tcPr>
                    </a:tc>
                    <a:tc gridSpan="2">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45023" t="-320732" r="-156" b="-129268"/>
                          </a:stretch>
                        </a:blipFill>
                      </a:tcPr>
                    </a:tc>
                    <a:tc hMerge="1">
                      <a:txBody>
                        <a:bodyPr/>
                        <a:lstStyle/>
                        <a:p>
                          <a:endParaRPr lang="zh-CN"/>
                        </a:p>
                      </a:txBody>
                      <a:tcPr/>
                    </a:tc>
                    <a:extLst>
                      <a:ext uri="{0D108BD9-81ED-4DB2-BD59-A6C34878D82A}">
                        <a16:rowId xmlns:a16="http://schemas.microsoft.com/office/drawing/2014/main" val="10003"/>
                      </a:ext>
                    </a:extLst>
                  </a:tr>
                  <a:tr h="498856">
                    <a:tc gridSpan="3">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说明：①合力可能比分力都大</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②合力可能比分力都小</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③合力与分力可能等大</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4"/>
                      </a:ext>
                    </a:extLst>
                  </a:tr>
                </a:tbl>
              </a:graphicData>
            </a:graphic>
          </p:graphicFrame>
        </mc:Fallback>
      </mc:AlternateContent>
    </p:spTree>
  </p:cSld>
  <p:clrMapOvr>
    <a:masterClrMapping/>
  </p:clrMapOvr>
  <p:transition>
    <p:split dir="in"/>
  </p:transition>
</p:sld>
</file>

<file path=ppt/slides/slide24.xml><?xml version="1.0" encoding="utf-8"?>
<p:sld xmlns:a="http://schemas.openxmlformats.org/drawingml/2006/main" xmlns:r="http://schemas.openxmlformats.org/officeDocument/2006/relationships" xmlns:p="http://schemas.openxmlformats.org/presentationml/2006/main">
  <p:cSld name="Slide 24&amp;si=24">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P_6_BD#aabb42af5?vcp=1&amp;pid=4f164b896&amp;color=0,0,0&amp;vtp=1&amp;bt=1&amp;bbb=1&amp;hb=1"/>
              <p:cNvSpPr/>
              <p:nvPr/>
            </p:nvSpPr>
            <p:spPr>
              <a:xfrm>
                <a:off x="393192" y="2074005"/>
                <a:ext cx="11402568" cy="27138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2.三力合力的范围</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设三个力的大小分别为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3</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，其合力的最大值为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max</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3</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合力的最小值</a:t>
                </a:r>
                <a:r>
                  <a:rPr lang="en-US" altLang="zh-CN" sz="2400" b="0" i="0" dirty="0">
                    <a:solidFill>
                      <a:srgbClr val="000000"/>
                    </a:solidFill>
                    <a:latin typeface="Times New Roman" pitchFamily="34" charset="0"/>
                    <a:ea typeface="微软雅黑" pitchFamily="34" charset="-122"/>
                    <a:cs typeface="Times New Roman" pitchFamily="34" charset="-120"/>
                  </a:rPr>
                  <a:t>：①三个共点力如果能构成三角形，则合力的最小值为0</a:t>
                </a:r>
                <a:r>
                  <a:rPr lang="en-US" altLang="zh-CN" sz="2400" b="0" i="0">
                    <a:solidFill>
                      <a:srgbClr val="000000"/>
                    </a:solidFill>
                    <a:latin typeface="Times New Roman" pitchFamily="34" charset="0"/>
                    <a:ea typeface="微软雅黑" pitchFamily="34" charset="-122"/>
                    <a:cs typeface="Times New Roman" pitchFamily="34" charset="-120"/>
                  </a:rPr>
                  <a:t>，能构成</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三角形的意思就是某一力大于另外两力之差小于另外两力之和</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②若三个力不能构成</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三角形</a:t>
                </a:r>
                <a:r>
                  <a:rPr lang="en-US" altLang="zh-CN" sz="2400" b="0" i="0" dirty="0">
                    <a:solidFill>
                      <a:srgbClr val="000000"/>
                    </a:solidFill>
                    <a:latin typeface="Times New Roman" pitchFamily="34" charset="0"/>
                    <a:ea typeface="微软雅黑" pitchFamily="34" charset="-122"/>
                    <a:cs typeface="Times New Roman" pitchFamily="34" charset="-120"/>
                  </a:rPr>
                  <a:t>，则最小值为最大力减去另外两个较小力.</a:t>
                </a:r>
                <a:endParaRPr lang="en-US" altLang="zh-CN" sz="2400" dirty="0"/>
              </a:p>
            </p:txBody>
          </p:sp>
        </mc:Choice>
        <mc:Fallback xmlns="">
          <p:sp>
            <p:nvSpPr>
              <p:cNvPr id="2" name="P_6_BD#aabb42af5?vcp=1&amp;pid=4f164b896&amp;color=0,0,0&amp;vtp=1&amp;bt=1&amp;bbb=1&amp;hb=1"/>
              <p:cNvSpPr>
                <a:spLocks noRot="1" noChangeAspect="1" noMove="1" noResize="1" noEditPoints="1" noAdjustHandles="1" noChangeArrowheads="1" noChangeShapeType="1" noTextEdit="1"/>
              </p:cNvSpPr>
              <p:nvPr/>
            </p:nvSpPr>
            <p:spPr>
              <a:xfrm>
                <a:off x="393192" y="2074005"/>
                <a:ext cx="11402568" cy="2713800"/>
              </a:xfrm>
              <a:prstGeom prst="rect">
                <a:avLst/>
              </a:prstGeom>
              <a:blipFill>
                <a:blip r:embed="rId3"/>
                <a:stretch>
                  <a:fillRect l="-1658" r="-535" b="-6742"/>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5.xml><?xml version="1.0" encoding="utf-8"?>
<p:sld xmlns:a="http://schemas.openxmlformats.org/drawingml/2006/main" xmlns:r="http://schemas.openxmlformats.org/officeDocument/2006/relationships" xmlns:p="http://schemas.openxmlformats.org/presentationml/2006/main">
  <p:cSld name="Slide 25&amp;si=25">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C_6_BD.15_1#e2d669e47?vcp=1&amp;pid=4f164b896&amp;color=0,0,0&amp;vtp=1&amp;bt=1&amp;bbb=1"/>
              <p:cNvSpPr/>
              <p:nvPr/>
            </p:nvSpPr>
            <p:spPr>
              <a:xfrm>
                <a:off x="393192" y="684626"/>
                <a:ext cx="11402568" cy="484124"/>
              </a:xfrm>
              <a:prstGeom prst="rect">
                <a:avLst/>
              </a:prstGeom>
              <a:noFill/>
              <a:ln/>
            </p:spPr>
            <p:txBody>
              <a:bodyPr wrap="none" lIns="0" tIns="0" rIns="0" bIns="0" rtlCol="0" anchor="t"/>
              <a:lstStyle/>
              <a:p>
                <a:pPr algn="l" latinLnBrk="1">
                  <a:lnSpc>
                    <a:spcPts val="4300"/>
                  </a:lnSpc>
                </a:pPr>
                <a:r>
                  <a:rPr lang="en-US" altLang="zh-CN" sz="2400" b="1" i="0" dirty="0">
                    <a:solidFill>
                      <a:srgbClr val="0070C0"/>
                    </a:solidFill>
                    <a:latin typeface="Times New Roman" pitchFamily="34" charset="0"/>
                    <a:ea typeface="微软雅黑" pitchFamily="34" charset="-122"/>
                    <a:cs typeface="Times New Roman" pitchFamily="34" charset="-120"/>
                  </a:rPr>
                  <a:t>考题3</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（多选题）两个共点力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的合力为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则(</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QC_6_BD.15_1#e2d669e47?vcp=1&amp;pid=4f164b896&amp;color=0,0,0&amp;vtp=1&amp;bt=1&amp;bbb=1"/>
              <p:cNvSpPr>
                <a:spLocks noRot="1" noChangeAspect="1" noMove="1" noResize="1" noEditPoints="1" noAdjustHandles="1" noChangeArrowheads="1" noChangeShapeType="1" noTextEdit="1"/>
              </p:cNvSpPr>
              <p:nvPr/>
            </p:nvSpPr>
            <p:spPr>
              <a:xfrm>
                <a:off x="393192" y="684626"/>
                <a:ext cx="11402568" cy="484124"/>
              </a:xfrm>
              <a:prstGeom prst="rect">
                <a:avLst/>
              </a:prstGeom>
              <a:blipFill>
                <a:blip r:embed="rId3"/>
                <a:stretch>
                  <a:fillRect l="-1658" b="-37500"/>
                </a:stretch>
              </a:blipFill>
              <a:ln/>
            </p:spPr>
            <p:txBody>
              <a:bodyPr/>
              <a:lstStyle/>
              <a:p>
                <a:r>
                  <a:rPr lang="zh-CN" altLang="en-US">
                    <a:noFill/>
                  </a:rPr>
                  <a:t> </a:t>
                </a:r>
              </a:p>
            </p:txBody>
          </p:sp>
        </mc:Fallback>
      </mc:AlternateContent>
      <p:sp>
        <p:nvSpPr>
          <p:cNvPr id="3" name="QC_6_AN.16_1#e2d669e47.bracket?vcp=1&amp;pid=4f164b896&amp;color=0,0,0&amp;vpa=6&amp;vtp=1&amp;bbb=1"/>
          <p:cNvSpPr/>
          <p:nvPr/>
        </p:nvSpPr>
        <p:spPr>
          <a:xfrm>
            <a:off x="7564723" y="682721"/>
            <a:ext cx="644525"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BD</a:t>
            </a:r>
            <a:endParaRPr lang="en-US" altLang="zh-CN" sz="2400" dirty="0"/>
          </a:p>
        </p:txBody>
      </p:sp>
      <mc:AlternateContent xmlns:mc="http://schemas.openxmlformats.org/markup-compatibility/2006" xmlns:a14="http://schemas.microsoft.com/office/drawing/2010/main">
        <mc:Choice Requires="a14">
          <p:sp>
            <p:nvSpPr>
              <p:cNvPr id="4" name="QC_6_BD.15_2#e2d669e47.choices?vcp=1&amp;pid=4f164b896&amp;color=0,0,0&amp;vtp=1&amp;bbb=1"/>
              <p:cNvSpPr/>
              <p:nvPr/>
            </p:nvSpPr>
            <p:spPr>
              <a:xfrm>
                <a:off x="393192" y="1170400"/>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A.合力一定大于任一分力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.合力有可能小于某一分力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.分力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增大，而</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不变，且它们的夹角不变时，合力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一定增大</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.当两分力大小不变时，增大两分力的夹角，则合力一定减小</a:t>
                </a:r>
                <a:endParaRPr lang="en-US" altLang="zh-CN" sz="2400" dirty="0"/>
              </a:p>
            </p:txBody>
          </p:sp>
        </mc:Choice>
        <mc:Fallback xmlns="">
          <p:sp>
            <p:nvSpPr>
              <p:cNvPr id="4" name="QC_6_BD.15_2#e2d669e47.choices?vcp=1&amp;pid=4f164b896&amp;color=0,0,0&amp;vtp=1&amp;bbb=1"/>
              <p:cNvSpPr>
                <a:spLocks noRot="1" noChangeAspect="1" noMove="1" noResize="1" noEditPoints="1" noAdjustHandles="1" noChangeArrowheads="1" noChangeShapeType="1" noTextEdit="1"/>
              </p:cNvSpPr>
              <p:nvPr/>
            </p:nvSpPr>
            <p:spPr>
              <a:xfrm>
                <a:off x="393192" y="1170400"/>
                <a:ext cx="11402568" cy="2155000"/>
              </a:xfrm>
              <a:prstGeom prst="rect">
                <a:avLst/>
              </a:prstGeom>
              <a:blipFill>
                <a:blip r:embed="rId4"/>
                <a:stretch>
                  <a:fillRect l="-1658" b="-8192"/>
                </a:stretch>
              </a:blipFill>
              <a:ln/>
            </p:spPr>
            <p:txBody>
              <a:bodyPr/>
              <a:lstStyle/>
              <a:p>
                <a:r>
                  <a:rPr lang="zh-CN" altLang="en-US">
                    <a:noFill/>
                  </a:rPr>
                  <a:t> </a:t>
                </a:r>
              </a:p>
            </p:txBody>
          </p:sp>
        </mc:Fallback>
      </mc:AlternateContent>
      <p:pic>
        <p:nvPicPr>
          <p:cNvPr id="5" name="QC_6_AS.17_1#e2d669e47?htil=6&amp;vcp=1&amp;pid=4f164b896&amp;color=0,0,0&amp;tib=255,255,255&amp;vtp=1&amp;hs=1&amp;hs=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10028328" y="3430173"/>
            <a:ext cx="1709928" cy="153619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6" name="QC_6_AS.17_2#e2d669e47?htil=6&amp;vcp=1&amp;pid=4f164b896&amp;color=0,0,0&amp;vtp=1&amp;bbb=1&amp;hb=1&amp;hs=1"/>
              <p:cNvSpPr/>
              <p:nvPr/>
            </p:nvSpPr>
            <p:spPr>
              <a:xfrm>
                <a:off x="393192" y="3375309"/>
                <a:ext cx="9555480" cy="159639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合力一定小于等于两分力之和，大于等于两分力之差</a:t>
                </a:r>
                <a:r>
                  <a:rPr lang="en-US" altLang="zh-CN" sz="2400" b="1" i="0">
                    <a:solidFill>
                      <a:srgbClr val="FF0000"/>
                    </a:solidFill>
                    <a:latin typeface="Times New Roman" pitchFamily="34" charset="0"/>
                    <a:ea typeface="微软雅黑" pitchFamily="34" charset="-122"/>
                    <a:cs typeface="Times New Roman" pitchFamily="34" charset="-120"/>
                  </a:rPr>
                  <a:t>，但可以比</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两个分力都小</a:t>
                </a:r>
                <a:r>
                  <a:rPr lang="en-US" altLang="zh-CN" sz="2400" b="1" i="0" dirty="0">
                    <a:solidFill>
                      <a:srgbClr val="FF0000"/>
                    </a:solidFill>
                    <a:latin typeface="Times New Roman" pitchFamily="34" charset="0"/>
                    <a:ea typeface="微软雅黑" pitchFamily="34" charset="-122"/>
                    <a:cs typeface="Times New Roman" pitchFamily="34" charset="-120"/>
                  </a:rPr>
                  <a:t>，也可以比两个分力都大，故选项A错误，B正确</a:t>
                </a:r>
                <a:r>
                  <a:rPr lang="en-US" altLang="zh-CN" sz="2400" b="1" i="0">
                    <a:solidFill>
                      <a:srgbClr val="FF0000"/>
                    </a:solidFill>
                    <a:latin typeface="Times New Roman" pitchFamily="34" charset="0"/>
                    <a:ea typeface="微软雅黑" pitchFamily="34" charset="-122"/>
                    <a:cs typeface="Times New Roman" pitchFamily="34" charset="-120"/>
                  </a:rPr>
                  <a:t>.如图所</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示</a:t>
                </a:r>
                <a:r>
                  <a:rPr lang="en-US" altLang="zh-CN" sz="2400" b="1" i="0" dirty="0">
                    <a:solidFill>
                      <a:srgbClr val="FF0000"/>
                    </a:solidFill>
                    <a:latin typeface="Times New Roman" pitchFamily="34" charset="0"/>
                    <a:ea typeface="微软雅黑" pitchFamily="34" charset="-122"/>
                    <a:cs typeface="Times New Roman" pitchFamily="34" charset="-120"/>
                  </a:rPr>
                  <a:t>，两分力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的夹角不变，</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不变，</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增大时，</a:t>
                </a:r>
                <a:r>
                  <a:rPr lang="en-US" altLang="zh-CN" sz="2400" b="1" i="0">
                    <a:solidFill>
                      <a:srgbClr val="FF0000"/>
                    </a:solidFill>
                    <a:latin typeface="Times New Roman" pitchFamily="34" charset="0"/>
                    <a:ea typeface="微软雅黑" pitchFamily="34" charset="-122"/>
                    <a:cs typeface="Times New Roman" pitchFamily="34" charset="-120"/>
                  </a:rPr>
                  <a:t>对角线却变短，</a:t>
                </a:r>
                <a:endParaRPr lang="en-US" altLang="zh-CN" sz="2400" dirty="0"/>
              </a:p>
            </p:txBody>
          </p:sp>
        </mc:Choice>
        <mc:Fallback xmlns="">
          <p:sp>
            <p:nvSpPr>
              <p:cNvPr id="6" name="QC_6_AS.17_2#e2d669e47?htil=6&amp;vcp=1&amp;pid=4f164b896&amp;color=0,0,0&amp;vtp=1&amp;bbb=1&amp;hb=1&amp;hs=1"/>
              <p:cNvSpPr>
                <a:spLocks noRot="1" noChangeAspect="1" noMove="1" noResize="1" noEditPoints="1" noAdjustHandles="1" noChangeArrowheads="1" noChangeShapeType="1" noTextEdit="1"/>
              </p:cNvSpPr>
              <p:nvPr/>
            </p:nvSpPr>
            <p:spPr>
              <a:xfrm>
                <a:off x="393192" y="3375309"/>
                <a:ext cx="9555480" cy="1596390"/>
              </a:xfrm>
              <a:prstGeom prst="rect">
                <a:avLst/>
              </a:prstGeom>
              <a:blipFill>
                <a:blip r:embed="rId6"/>
                <a:stretch>
                  <a:fillRect l="-1978" r="-1404" b="-11069"/>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QC_6_AS.17_2#e2d669e47?htil=6&amp;vcp=1&amp;pid=4f164b896&amp;color=0,0,0&amp;vtp=1&amp;bbb=1&amp;hb=1&amp;hs=1">
                <a:extLst>
                  <a:ext uri="{FF2B5EF4-FFF2-40B4-BE49-F238E27FC236}">
                    <a16:creationId xmlns:a16="http://schemas.microsoft.com/office/drawing/2014/main" id="{B76A6FE3-A9DA-4E27-52D9-2310530B5AC7}"/>
                  </a:ext>
                </a:extLst>
              </p:cNvPr>
              <p:cNvSpPr/>
              <p:nvPr/>
            </p:nvSpPr>
            <p:spPr>
              <a:xfrm>
                <a:off x="393192" y="5094699"/>
                <a:ext cx="11400008" cy="1037400"/>
              </a:xfrm>
              <a:prstGeom prst="rect">
                <a:avLst/>
              </a:prstGeom>
              <a:noFill/>
              <a:ln/>
            </p:spPr>
            <p:txBody>
              <a:bodyPr wrap="none" lIns="0" tIns="0" rIns="0" bIns="0" rtlCol="0" anchor="t"/>
              <a:lstStyle/>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即</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减小，故选项C错误.当两分力大小不变时</a:t>
                </a:r>
                <a:r>
                  <a:rPr lang="en-US" altLang="zh-CN" sz="2400" b="1" i="0">
                    <a:solidFill>
                      <a:srgbClr val="FF0000"/>
                    </a:solidFill>
                    <a:latin typeface="Times New Roman" pitchFamily="34" charset="0"/>
                    <a:ea typeface="微软雅黑" pitchFamily="34" charset="-122"/>
                    <a:cs typeface="Times New Roman" pitchFamily="34" charset="-120"/>
                  </a:rPr>
                  <a:t>，合力随其夹角的增大而减小</a:t>
                </a:r>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a:solidFill>
                      <a:srgbClr val="FF0000"/>
                    </a:solidFill>
                    <a:latin typeface="Times New Roman" pitchFamily="34" charset="0"/>
                    <a:ea typeface="微软雅黑" pitchFamily="34" charset="-122"/>
                    <a:cs typeface="Times New Roman" pitchFamily="34" charset="-120"/>
                  </a:rPr>
                  <a:t>故选项D</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正确</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7" name="QC_6_AS.17_2#e2d669e47?htil=6&amp;vcp=1&amp;pid=4f164b896&amp;color=0,0,0&amp;vtp=1&amp;bbb=1&amp;hb=1&amp;hs=1">
                <a:extLst>
                  <a:ext uri="{FF2B5EF4-FFF2-40B4-BE49-F238E27FC236}">
                    <a16:creationId xmlns:a16="http://schemas.microsoft.com/office/drawing/2014/main" id="{B76A6FE3-A9DA-4E27-52D9-2310530B5AC7}"/>
                  </a:ext>
                </a:extLst>
              </p:cNvPr>
              <p:cNvSpPr>
                <a:spLocks noRot="1" noChangeAspect="1" noMove="1" noResize="1" noEditPoints="1" noAdjustHandles="1" noChangeArrowheads="1" noChangeShapeType="1" noTextEdit="1"/>
              </p:cNvSpPr>
              <p:nvPr/>
            </p:nvSpPr>
            <p:spPr>
              <a:xfrm>
                <a:off x="393192" y="5094699"/>
                <a:ext cx="11400008" cy="1037400"/>
              </a:xfrm>
              <a:prstGeom prst="rect">
                <a:avLst/>
              </a:prstGeom>
              <a:blipFill>
                <a:blip r:embed="rId7"/>
                <a:stretch>
                  <a:fillRect l="-1658" r="-1444" b="-1705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bg/>
                                          </p:spTgt>
                                        </p:tgtEl>
                                        <p:attrNameLst>
                                          <p:attrName>style.visibility</p:attrName>
                                        </p:attrNameLst>
                                      </p:cBhvr>
                                      <p:to>
                                        <p:strVal val="visible"/>
                                      </p:to>
                                    </p:set>
                                    <p:animEffect transition="in" filter="wipe(left)">
                                      <p:cBhvr>
                                        <p:cTn id="18" dur="500"/>
                                        <p:tgtEl>
                                          <p:spTgt spid="6">
                                            <p:bg/>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wipe(left)">
                                      <p:cBhvr>
                                        <p:cTn id="21" dur="500"/>
                                        <p:tgtEl>
                                          <p:spTgt spid="6">
                                            <p:txEl>
                                              <p:pRg st="0" end="0"/>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wipe(left)">
                                      <p:cBhvr>
                                        <p:cTn id="24" dur="500"/>
                                        <p:tgtEl>
                                          <p:spTgt spid="6">
                                            <p:txEl>
                                              <p:pRg st="1" end="1"/>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wipe(left)">
                                      <p:cBhvr>
                                        <p:cTn id="27" dur="500"/>
                                        <p:tgtEl>
                                          <p:spTgt spid="6">
                                            <p:txEl>
                                              <p:pRg st="2" end="2"/>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7">
                                            <p:bg/>
                                          </p:spTgt>
                                        </p:tgtEl>
                                        <p:attrNameLst>
                                          <p:attrName>style.visibility</p:attrName>
                                        </p:attrNameLst>
                                      </p:cBhvr>
                                      <p:to>
                                        <p:strVal val="visible"/>
                                      </p:to>
                                    </p:set>
                                    <p:animEffect transition="in" filter="wipe(left)">
                                      <p:cBhvr>
                                        <p:cTn id="30" dur="500"/>
                                        <p:tgtEl>
                                          <p:spTgt spid="7">
                                            <p:bg/>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7">
                                            <p:txEl>
                                              <p:pRg st="0" end="0"/>
                                            </p:txEl>
                                          </p:spTgt>
                                        </p:tgtEl>
                                        <p:attrNameLst>
                                          <p:attrName>style.visibility</p:attrName>
                                        </p:attrNameLst>
                                      </p:cBhvr>
                                      <p:to>
                                        <p:strVal val="visible"/>
                                      </p:to>
                                    </p:set>
                                    <p:animEffect transition="in" filter="wipe(left)">
                                      <p:cBhvr>
                                        <p:cTn id="33" dur="500"/>
                                        <p:tgtEl>
                                          <p:spTgt spid="7">
                                            <p:txEl>
                                              <p:pRg st="0" end="0"/>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animEffect transition="in" filter="wipe(left)">
                                      <p:cBhvr>
                                        <p:cTn id="36"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build="p" animBg="1"/>
      <p:bldP spid="7" grpId="0"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amp;si=26">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C_6_BD.18_1#700c69717?vcp=1&amp;pid=4f164b896&amp;color=0,0,0&amp;vtp=1&amp;bt=1&amp;bbb=1&amp;hb=1"/>
              <p:cNvSpPr/>
              <p:nvPr/>
            </p:nvSpPr>
            <p:spPr>
              <a:xfrm>
                <a:off x="393192" y="1597247"/>
                <a:ext cx="11402568"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变式3-1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（2026·湖北武汉三中检测）</a:t>
                </a:r>
                <a:r>
                  <a:rPr lang="en-US" altLang="zh-CN" sz="2400" b="0" i="0" dirty="0">
                    <a:solidFill>
                      <a:srgbClr val="000000"/>
                    </a:solidFill>
                    <a:latin typeface="Times New Roman" pitchFamily="34" charset="0"/>
                    <a:ea typeface="微软雅黑" pitchFamily="34" charset="-122"/>
                    <a:cs typeface="Times New Roman" pitchFamily="34" charset="-120"/>
                  </a:rPr>
                  <a:t>三个共点力分别为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=8</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latinLnBrk="1">
                  <a:lnSpc>
                    <a:spcPts val="4200"/>
                  </a:lnSpc>
                </a:pP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3</m:t>
                        </m:r>
                      </m:sub>
                    </m:sSub>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且作用在同一个质点上，</a:t>
                </a:r>
                <a:r>
                  <a:rPr lang="en-US" altLang="zh-CN" sz="2400" b="0" i="0">
                    <a:solidFill>
                      <a:srgbClr val="000000"/>
                    </a:solidFill>
                    <a:latin typeface="Times New Roman" pitchFamily="34" charset="0"/>
                    <a:ea typeface="微软雅黑" pitchFamily="34" charset="-122"/>
                    <a:cs typeface="Times New Roman" pitchFamily="34" charset="-120"/>
                  </a:rPr>
                  <a:t>其合力大小范围是(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xmlns="">
          <p:sp>
            <p:nvSpPr>
              <p:cNvPr id="2" name="QC_6_BD.18_1#700c69717?vcp=1&amp;pid=4f164b896&amp;color=0,0,0&amp;vtp=1&amp;bt=1&amp;bbb=1&amp;hb=1"/>
              <p:cNvSpPr>
                <a:spLocks noRot="1" noChangeAspect="1" noMove="1" noResize="1" noEditPoints="1" noAdjustHandles="1" noChangeArrowheads="1" noChangeShapeType="1" noTextEdit="1"/>
              </p:cNvSpPr>
              <p:nvPr/>
            </p:nvSpPr>
            <p:spPr>
              <a:xfrm>
                <a:off x="393192" y="1597247"/>
                <a:ext cx="11402568" cy="1033399"/>
              </a:xfrm>
              <a:prstGeom prst="rect">
                <a:avLst/>
              </a:prstGeom>
              <a:blipFill>
                <a:blip r:embed="rId3"/>
                <a:stretch>
                  <a:fillRect l="-1658" b="-17647"/>
                </a:stretch>
              </a:blipFill>
              <a:ln/>
            </p:spPr>
            <p:txBody>
              <a:bodyPr/>
              <a:lstStyle/>
              <a:p>
                <a:r>
                  <a:rPr lang="zh-CN" altLang="en-US">
                    <a:noFill/>
                  </a:rPr>
                  <a:t> </a:t>
                </a:r>
              </a:p>
            </p:txBody>
          </p:sp>
        </mc:Fallback>
      </mc:AlternateContent>
      <p:sp>
        <p:nvSpPr>
          <p:cNvPr id="3" name="QC_6_AN.19_1#700c69717.bracket?vcp=1&amp;pid=4f164b896&amp;color=0,0,0&amp;vpa=7&amp;vtp=1"/>
          <p:cNvSpPr/>
          <p:nvPr/>
        </p:nvSpPr>
        <p:spPr>
          <a:xfrm>
            <a:off x="7718075" y="2144617"/>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mc:AlternateContent xmlns:mc="http://schemas.openxmlformats.org/markup-compatibility/2006" xmlns:a14="http://schemas.microsoft.com/office/drawing/2010/main">
        <mc:Choice Requires="a14">
          <p:sp>
            <p:nvSpPr>
              <p:cNvPr id="4" name="QC_6_BD.18_2#700c69717.choices?vcp=1&amp;pid=4f164b896&amp;color=0,0,0&amp;vtp=1&amp;bbb=1"/>
              <p:cNvSpPr/>
              <p:nvPr/>
            </p:nvSpPr>
            <p:spPr>
              <a:xfrm>
                <a:off x="393192" y="2630772"/>
                <a:ext cx="11402568" cy="1026605"/>
              </a:xfrm>
              <a:prstGeom prst="rect">
                <a:avLst/>
              </a:prstGeom>
              <a:noFill/>
              <a:ln/>
            </p:spPr>
            <p:txBody>
              <a:bodyPr wrap="none" lIns="0" tIns="0" rIns="0" bIns="0" rtlCol="0" anchor="t"/>
              <a:lstStyle/>
              <a:p>
                <a:pPr latinLnBrk="1">
                  <a:lnSpc>
                    <a:spcPts val="44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m:t>
                    </m:r>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≤23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≤23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2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7</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≤23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≤23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xmlns="">
          <p:sp>
            <p:nvSpPr>
              <p:cNvPr id="4" name="QC_6_BD.18_2#700c69717.choices?vcp=1&amp;pid=4f164b896&amp;color=0,0,0&amp;vtp=1&amp;bbb=1"/>
              <p:cNvSpPr>
                <a:spLocks noRot="1" noChangeAspect="1" noMove="1" noResize="1" noEditPoints="1" noAdjustHandles="1" noChangeArrowheads="1" noChangeShapeType="1" noTextEdit="1"/>
              </p:cNvSpPr>
              <p:nvPr/>
            </p:nvSpPr>
            <p:spPr>
              <a:xfrm>
                <a:off x="393192" y="2630772"/>
                <a:ext cx="11402568" cy="1026605"/>
              </a:xfrm>
              <a:prstGeom prst="rect">
                <a:avLst/>
              </a:prstGeom>
              <a:blipFill>
                <a:blip r:embed="rId4"/>
                <a:stretch>
                  <a:fillRect l="-1658" b="-18452"/>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QC_6_AS.20_1#700c69717?vcp=1&amp;pid=4f164b896&amp;color=0,0,0&amp;vtp=1&amp;bbb=1&amp;hb=1"/>
              <p:cNvSpPr/>
              <p:nvPr/>
            </p:nvSpPr>
            <p:spPr>
              <a:xfrm>
                <a:off x="393192" y="3658202"/>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的合力范围为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，当</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时，使其与</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𝟑</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反向</a:t>
                </a:r>
                <a:r>
                  <a:rPr lang="en-US" altLang="zh-CN" sz="2400" b="1" i="0">
                    <a:solidFill>
                      <a:srgbClr val="FF0000"/>
                    </a:solidFill>
                    <a:latin typeface="Times New Roman" pitchFamily="34" charset="0"/>
                    <a:ea typeface="微软雅黑" pitchFamily="34" charset="-122"/>
                    <a:cs typeface="Times New Roman" pitchFamily="34" charset="-120"/>
                  </a:rPr>
                  <a:t>，则</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三个力的合力为</a:t>
                </a:r>
                <a:r>
                  <a:rPr lang="en-US" altLang="zh-CN" sz="2400" b="1" i="0" dirty="0">
                    <a:solidFill>
                      <a:srgbClr val="FF0000"/>
                    </a:solidFill>
                    <a:latin typeface="Times New Roman" pitchFamily="34" charset="0"/>
                    <a:ea typeface="微软雅黑" pitchFamily="34" charset="-122"/>
                    <a:cs typeface="Times New Roman" pitchFamily="34" charset="-120"/>
                  </a:rPr>
                  <a:t>0；当</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2400" b="1" i="0" dirty="0">
                    <a:solidFill>
                      <a:srgbClr val="FF0000"/>
                    </a:solidFill>
                    <a:latin typeface="Times New Roman" pitchFamily="34" charset="0"/>
                    <a:ea typeface="微软雅黑" pitchFamily="34" charset="-122"/>
                    <a:cs typeface="Times New Roman" pitchFamily="34" charset="-120"/>
                  </a:rPr>
                  <a:t>时，使其与</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𝟑</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同向，则三个力的合力最大为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故</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，A正确.</a:t>
                </a:r>
                <a:endParaRPr lang="en-US" altLang="zh-CN" sz="2400" dirty="0"/>
              </a:p>
            </p:txBody>
          </p:sp>
        </mc:Choice>
        <mc:Fallback xmlns="">
          <p:sp>
            <p:nvSpPr>
              <p:cNvPr id="5" name="QC_6_AS.20_1#700c69717?vcp=1&amp;pid=4f164b896&amp;color=0,0,0&amp;vtp=1&amp;bbb=1&amp;hb=1"/>
              <p:cNvSpPr>
                <a:spLocks noRot="1" noChangeAspect="1" noMove="1" noResize="1" noEditPoints="1" noAdjustHandles="1" noChangeArrowheads="1" noChangeShapeType="1" noTextEdit="1"/>
              </p:cNvSpPr>
              <p:nvPr/>
            </p:nvSpPr>
            <p:spPr>
              <a:xfrm>
                <a:off x="393192" y="3658202"/>
                <a:ext cx="11402568" cy="1596200"/>
              </a:xfrm>
              <a:prstGeom prst="rect">
                <a:avLst/>
              </a:prstGeom>
              <a:blipFill>
                <a:blip r:embed="rId5"/>
                <a:stretch>
                  <a:fillRect l="-1658" r="-1283" b="-1145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amp;si=27">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P_6_BD#5e3ce3c2a?vcp=1&amp;pid=4f164b896&amp;color=0,0,0&amp;vtp=1&amp;bt=1&amp;bbb=1&amp;hb=1"/>
              <p:cNvSpPr/>
              <p:nvPr/>
            </p:nvSpPr>
            <p:spPr>
              <a:xfrm>
                <a:off x="393192" y="1521016"/>
                <a:ext cx="11402568" cy="38273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名师点拨</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.合力和分力的大小关系</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有可能大于任一分力，也有可能小于任一分力</a:t>
                </a:r>
                <a:r>
                  <a:rPr lang="en-US" altLang="zh-CN" sz="2400" b="0" i="0">
                    <a:solidFill>
                      <a:srgbClr val="000000"/>
                    </a:solidFill>
                    <a:latin typeface="Times New Roman" pitchFamily="34" charset="0"/>
                    <a:ea typeface="微软雅黑" pitchFamily="34" charset="-122"/>
                    <a:cs typeface="Times New Roman" pitchFamily="34" charset="-120"/>
                  </a:rPr>
                  <a:t>，还有可能等于某一个</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分力</a:t>
                </a:r>
                <a:r>
                  <a:rPr lang="en-US" altLang="zh-CN" sz="2400" b="0" i="0" dirty="0">
                    <a:solidFill>
                      <a:srgbClr val="000000"/>
                    </a:solidFill>
                    <a:latin typeface="Times New Roman" pitchFamily="34" charset="0"/>
                    <a:ea typeface="微软雅黑" pitchFamily="34" charset="-122"/>
                    <a:cs typeface="Times New Roman" pitchFamily="34" charset="-120"/>
                  </a:rPr>
                  <a:t>，它的大小取决于两个分力间的夹角.这如同三角形三边的长短关系</a:t>
                </a:r>
                <a:r>
                  <a:rPr lang="en-US" altLang="zh-CN" sz="2400" b="0" i="0">
                    <a:solidFill>
                      <a:srgbClr val="000000"/>
                    </a:solidFill>
                    <a:latin typeface="Times New Roman" pitchFamily="34" charset="0"/>
                    <a:ea typeface="微软雅黑" pitchFamily="34" charset="-122"/>
                    <a:cs typeface="Times New Roman" pitchFamily="34" charset="-120"/>
                  </a:rPr>
                  <a:t>.由三角形定</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则可知</a:t>
                </a:r>
                <a:r>
                  <a:rPr lang="en-US" altLang="zh-CN" sz="2400" b="0" i="0" dirty="0">
                    <a:solidFill>
                      <a:srgbClr val="000000"/>
                    </a:solidFill>
                    <a:latin typeface="Times New Roman" pitchFamily="34" charset="0"/>
                    <a:ea typeface="微软雅黑" pitchFamily="34" charset="-122"/>
                    <a:cs typeface="Times New Roman" pitchFamily="34" charset="-120"/>
                  </a:rPr>
                  <a:t>，分力</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及合力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的矢量图必构成一个闭合的三角形</a:t>
                </a:r>
                <a:r>
                  <a:rPr lang="en-US" altLang="zh-CN" sz="2400" b="0" i="0">
                    <a:solidFill>
                      <a:srgbClr val="000000"/>
                    </a:solidFill>
                    <a:latin typeface="Times New Roman" pitchFamily="34" charset="0"/>
                    <a:ea typeface="微软雅黑" pitchFamily="34" charset="-122"/>
                    <a:cs typeface="Times New Roman" pitchFamily="34" charset="-120"/>
                  </a:rPr>
                  <a:t>，三角形三边长表示</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力的大小</a:t>
                </a:r>
                <a:r>
                  <a:rPr lang="en-US" altLang="zh-CN" sz="2400" b="0" i="0" dirty="0">
                    <a:solidFill>
                      <a:srgbClr val="000000"/>
                    </a:solidFill>
                    <a:latin typeface="Times New Roman" pitchFamily="34" charset="0"/>
                    <a:ea typeface="微软雅黑" pitchFamily="34" charset="-122"/>
                    <a:cs typeface="Times New Roman" pitchFamily="34" charset="-120"/>
                  </a:rPr>
                  <a:t>，合力既可能对应三角形的长边，也可能对应三角形的短边.</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2）合力一定时,两个等大分力的夹角</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越大,两分力也越大.</a:t>
                </a:r>
                <a:endParaRPr lang="en-US" altLang="zh-CN" sz="2400" dirty="0"/>
              </a:p>
            </p:txBody>
          </p:sp>
        </mc:Choice>
        <mc:Fallback xmlns="">
          <p:sp>
            <p:nvSpPr>
              <p:cNvPr id="2" name="P_6_BD#5e3ce3c2a?vcp=1&amp;pid=4f164b896&amp;color=0,0,0&amp;vtp=1&amp;bt=1&amp;bbb=1&amp;hb=1"/>
              <p:cNvSpPr>
                <a:spLocks noRot="1" noChangeAspect="1" noMove="1" noResize="1" noEditPoints="1" noAdjustHandles="1" noChangeArrowheads="1" noChangeShapeType="1" noTextEdit="1"/>
              </p:cNvSpPr>
              <p:nvPr/>
            </p:nvSpPr>
            <p:spPr>
              <a:xfrm>
                <a:off x="393192" y="1521016"/>
                <a:ext cx="11402568" cy="3827399"/>
              </a:xfrm>
              <a:prstGeom prst="rect">
                <a:avLst/>
              </a:prstGeom>
              <a:blipFill>
                <a:blip r:embed="rId3"/>
                <a:stretch>
                  <a:fillRect l="-1658" r="-909" b="-4944"/>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8.xml><?xml version="1.0" encoding="utf-8"?>
<p:sld xmlns:a="http://schemas.openxmlformats.org/drawingml/2006/main" xmlns:r="http://schemas.openxmlformats.org/officeDocument/2006/relationships" xmlns:p="http://schemas.openxmlformats.org/presentationml/2006/main">
  <p:cSld name="Slide 28&amp;si=28">
    <p:spTree>
      <p:nvGrpSpPr>
        <p:cNvPr id="1" name=""/>
        <p:cNvGrpSpPr/>
        <p:nvPr/>
      </p:nvGrpSpPr>
      <p:grpSpPr>
        <a:xfrm>
          <a:off x="0" y="0"/>
          <a:ext cx="0" cy="0"/>
          <a:chOff x="0" y="0"/>
          <a:chExt cx="0" cy="0"/>
        </a:xfrm>
      </p:grpSpPr>
      <p:pic>
        <p:nvPicPr>
          <p:cNvPr id="2" name="P_6_BD#5e3ce3c2a?htil=7&amp;vcp=1&amp;pid=4f164b896&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655234" y="1590897"/>
            <a:ext cx="2039112" cy="182880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xmlns:a14="http://schemas.microsoft.com/office/drawing/2010/main">
        <mc:Choice Requires="a14">
          <p:sp>
            <p:nvSpPr>
              <p:cNvPr id="3" name="P_6_BD#5e3ce3c2a?htil=7&amp;vcp=1&amp;pid=4f164b896&amp;color=0,0,0&amp;vtp=1&amp;bt=1&amp;bbb=1&amp;hb=1"/>
              <p:cNvSpPr/>
              <p:nvPr/>
            </p:nvSpPr>
            <p:spPr>
              <a:xfrm>
                <a:off x="393192" y="1545177"/>
                <a:ext cx="9235440" cy="15962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2.二力合力的极小值</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当</a:t>
                </a: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90</m:t>
                        </m:r>
                      </m:e>
                      <m:sup>
                        <m:r>
                          <a:rPr lang="en-US" altLang="zh-CN" sz="2400" b="0" i="0">
                            <a:solidFill>
                              <a:srgbClr val="000000"/>
                            </a:solidFill>
                            <a:latin typeface="Cambria Math" pitchFamily="34" charset="0"/>
                            <a:ea typeface="Cambria Math" pitchFamily="34" charset="-122"/>
                            <a:cs typeface="Cambria Math" pitchFamily="34" charset="-120"/>
                          </a:rPr>
                          <m:t>∘</m:t>
                        </m:r>
                      </m:sup>
                    </m:sSup>
                    <m:r>
                      <a:rPr lang="en-US" altLang="zh-CN" sz="2400" b="0" i="0">
                        <a:solidFill>
                          <a:srgbClr val="000000"/>
                        </a:solidFill>
                        <a:latin typeface="Cambria Math" pitchFamily="34" charset="0"/>
                        <a:ea typeface="Cambria Math" pitchFamily="34" charset="-122"/>
                        <a:cs typeface="Cambria Math" pitchFamily="34" charset="-120"/>
                      </a:rPr>
                      <m:t>&lt;</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180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时，由作图法可以直观看出，合力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随</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的增</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大先减小后增大</a:t>
                </a:r>
                <a:r>
                  <a:rPr lang="en-US" altLang="zh-CN" sz="2400" b="0" i="0" dirty="0">
                    <a:solidFill>
                      <a:srgbClr val="000000"/>
                    </a:solidFill>
                    <a:latin typeface="Times New Roman" pitchFamily="34" charset="0"/>
                    <a:ea typeface="微软雅黑" pitchFamily="34" charset="-122"/>
                    <a:cs typeface="Times New Roman" pitchFamily="34" charset="-120"/>
                  </a:rPr>
                  <a:t>，如图所示.</a:t>
                </a:r>
                <a:endParaRPr lang="en-US" altLang="zh-CN" sz="2400" dirty="0"/>
              </a:p>
            </p:txBody>
          </p:sp>
        </mc:Choice>
        <mc:Fallback xmlns="">
          <p:sp>
            <p:nvSpPr>
              <p:cNvPr id="3" name="P_6_BD#5e3ce3c2a?htil=7&amp;vcp=1&amp;pid=4f164b896&amp;color=0,0,0&amp;vtp=1&amp;bt=1&amp;bbb=1&amp;hb=1"/>
              <p:cNvSpPr>
                <a:spLocks noRot="1" noChangeAspect="1" noMove="1" noResize="1" noEditPoints="1" noAdjustHandles="1" noChangeArrowheads="1" noChangeShapeType="1" noTextEdit="1"/>
              </p:cNvSpPr>
              <p:nvPr/>
            </p:nvSpPr>
            <p:spPr>
              <a:xfrm>
                <a:off x="393192" y="1545177"/>
                <a:ext cx="9235440" cy="1596200"/>
              </a:xfrm>
              <a:prstGeom prst="rect">
                <a:avLst/>
              </a:prstGeom>
              <a:blipFill>
                <a:blip r:embed="rId4"/>
                <a:stretch>
                  <a:fillRect l="-2046" r="-330" b="-11450"/>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P_6_BD#5e3ce3c2a?htil=7&amp;vcp=1&amp;pid=4f164b896&amp;color=0,0,0&amp;vtp=1&amp;bbb=1&amp;hb=1"/>
              <p:cNvSpPr/>
              <p:nvPr/>
            </p:nvSpPr>
            <p:spPr>
              <a:xfrm>
                <a:off x="393192" y="3138773"/>
                <a:ext cx="9235440"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当</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m:rPr>
                        <m:sty m:val="p"/>
                      </m:rPr>
                      <a:rPr lang="en-US" altLang="zh-CN" sz="2400" b="0" i="0">
                        <a:solidFill>
                          <a:srgbClr val="000000"/>
                        </a:solidFill>
                        <a:latin typeface="Cambria Math" pitchFamily="34" charset="0"/>
                        <a:ea typeface="Cambria Math" pitchFamily="34" charset="-122"/>
                        <a:cs typeface="Cambria Math" pitchFamily="34" charset="-120"/>
                      </a:rPr>
                      <m:t>cos</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180</m:t>
                        </m:r>
                      </m:e>
                      <m:sup>
                        <m:r>
                          <a:rPr lang="en-US" altLang="zh-CN" sz="2400" b="0" i="0">
                            <a:solidFill>
                              <a:srgbClr val="000000"/>
                            </a:solidFill>
                            <a:latin typeface="Cambria Math" pitchFamily="34" charset="0"/>
                            <a:ea typeface="Cambria Math" pitchFamily="34" charset="-122"/>
                            <a:cs typeface="Cambria Math" pitchFamily="34" charset="-120"/>
                          </a:rPr>
                          <m:t>∘</m:t>
                        </m:r>
                      </m:sup>
                    </m:sSup>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2400" b="0" i="0" dirty="0">
                    <a:solidFill>
                      <a:srgbClr val="000000"/>
                    </a:solidFill>
                    <a:latin typeface="Times New Roman" pitchFamily="34" charset="0"/>
                    <a:ea typeface="微软雅黑" pitchFamily="34" charset="-122"/>
                    <a:cs typeface="Times New Roman" pitchFamily="34" charset="-120"/>
                  </a:rPr>
                  <a:t>时，</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达到它的最小值</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min</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，即</a:t>
                </a:r>
                <a:endParaRPr lang="en-US" altLang="zh-CN" sz="2400" dirty="0"/>
              </a:p>
              <a:p>
                <a:pPr latinLnBrk="1">
                  <a:lnSpc>
                    <a:spcPts val="4400"/>
                  </a:lnSpc>
                </a:pP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m</m:t>
                        </m:r>
                      </m:sub>
                    </m:sSub>
                    <m:r>
                      <m:rPr>
                        <m:sty m:val="p"/>
                      </m:rPr>
                      <a:rPr lang="en-US" altLang="zh-CN" sz="2400" b="0" i="0">
                        <a:solidFill>
                          <a:srgbClr val="000000"/>
                        </a:solidFill>
                        <a:latin typeface="Cambria Math" pitchFamily="34" charset="0"/>
                        <a:ea typeface="Cambria Math" pitchFamily="34" charset="-122"/>
                        <a:cs typeface="Cambria Math" pitchFamily="34" charset="-120"/>
                      </a:rPr>
                      <m:t>in</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a:rPr lang="en-US" altLang="zh-CN" sz="2400" b="0" i="0">
                            <a:solidFill>
                              <a:srgbClr val="000000"/>
                            </a:solidFill>
                            <a:latin typeface="Cambria Math" pitchFamily="34" charset="0"/>
                            <a:ea typeface="Cambria Math" pitchFamily="34" charset="-122"/>
                            <a:cs typeface="Cambria Math" pitchFamily="34" charset="-120"/>
                          </a:rPr>
                          <m:t>1</m:t>
                        </m:r>
                      </m:sub>
                    </m:sSub>
                    <m:r>
                      <m:rPr>
                        <m:sty m:val="p"/>
                      </m:rPr>
                      <a:rPr lang="en-US" altLang="zh-CN" sz="2400" b="0" i="0">
                        <a:solidFill>
                          <a:srgbClr val="000000"/>
                        </a:solidFill>
                        <a:latin typeface="Cambria Math" pitchFamily="34" charset="0"/>
                        <a:ea typeface="Cambria Math" pitchFamily="34" charset="-122"/>
                        <a:cs typeface="Cambria Math" pitchFamily="34" charset="-120"/>
                      </a:rPr>
                      <m:t>sin</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180</m:t>
                        </m:r>
                      </m:e>
                      <m:sup>
                        <m:r>
                          <a:rPr lang="en-US" altLang="zh-CN" sz="2400" b="0" i="0">
                            <a:solidFill>
                              <a:srgbClr val="000000"/>
                            </a:solidFill>
                            <a:latin typeface="Cambria Math" pitchFamily="34" charset="0"/>
                            <a:ea typeface="Cambria Math" pitchFamily="34" charset="-122"/>
                            <a:cs typeface="Cambria Math" pitchFamily="34" charset="-120"/>
                          </a:rPr>
                          <m:t>∘</m:t>
                        </m:r>
                      </m:sup>
                    </m:sSup>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𝜃</m:t>
                    </m:r>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所以</a:t>
                </a:r>
                <a:r>
                  <a:rPr lang="en-US" altLang="zh-CN" sz="2400" b="0" i="0" dirty="0">
                    <a:solidFill>
                      <a:srgbClr val="000000"/>
                    </a:solidFill>
                    <a:latin typeface="Times New Roman" pitchFamily="34" charset="0"/>
                    <a:ea typeface="微软雅黑" pitchFamily="34" charset="-122"/>
                    <a:cs typeface="Times New Roman" pitchFamily="34" charset="-120"/>
                  </a:rPr>
                  <a:t>，随着另一个分力的增大，合力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可能逐渐增大</a:t>
                </a:r>
                <a:r>
                  <a:rPr lang="en-US" altLang="zh-CN" sz="2400" b="0" i="0">
                    <a:solidFill>
                      <a:srgbClr val="000000"/>
                    </a:solidFill>
                    <a:latin typeface="Times New Roman" pitchFamily="34" charset="0"/>
                    <a:ea typeface="微软雅黑" pitchFamily="34" charset="-122"/>
                    <a:cs typeface="Times New Roman" pitchFamily="34" charset="-120"/>
                  </a:rPr>
                  <a:t>，也可能逐</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渐减小</a:t>
                </a:r>
                <a:r>
                  <a:rPr lang="en-US" altLang="zh-CN" sz="2400" b="0" i="0" dirty="0">
                    <a:solidFill>
                      <a:srgbClr val="000000"/>
                    </a:solidFill>
                    <a:latin typeface="Times New Roman" pitchFamily="34" charset="0"/>
                    <a:ea typeface="微软雅黑" pitchFamily="34" charset="-122"/>
                    <a:cs typeface="Times New Roman" pitchFamily="34" charset="-120"/>
                  </a:rPr>
                  <a:t>，也有可能先减小后增大.</a:t>
                </a:r>
                <a:endParaRPr lang="en-US" altLang="zh-CN" sz="2400" dirty="0"/>
              </a:p>
            </p:txBody>
          </p:sp>
        </mc:Choice>
        <mc:Fallback xmlns="">
          <p:sp>
            <p:nvSpPr>
              <p:cNvPr id="4" name="P_6_BD#5e3ce3c2a?htil=7&amp;vcp=1&amp;pid=4f164b896&amp;color=0,0,0&amp;vtp=1&amp;bbb=1&amp;hb=1"/>
              <p:cNvSpPr>
                <a:spLocks noRot="1" noChangeAspect="1" noMove="1" noResize="1" noEditPoints="1" noAdjustHandles="1" noChangeArrowheads="1" noChangeShapeType="1" noTextEdit="1"/>
              </p:cNvSpPr>
              <p:nvPr/>
            </p:nvSpPr>
            <p:spPr>
              <a:xfrm>
                <a:off x="393192" y="3138773"/>
                <a:ext cx="9235440" cy="2155000"/>
              </a:xfrm>
              <a:prstGeom prst="rect">
                <a:avLst/>
              </a:prstGeom>
              <a:blipFill>
                <a:blip r:embed="rId5"/>
                <a:stretch>
                  <a:fillRect l="-2046" b="-8499"/>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9.xml><?xml version="1.0" encoding="utf-8"?>
<p:sld xmlns:a="http://schemas.openxmlformats.org/drawingml/2006/main" xmlns:r="http://schemas.openxmlformats.org/officeDocument/2006/relationships" xmlns:p="http://schemas.openxmlformats.org/presentationml/2006/main">
  <p:cSld name="Slide 29&amp;si=29">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1246</Words>
  <Application>Microsoft Office PowerPoint</Application>
  <PresentationFormat>宽屏</PresentationFormat>
  <Paragraphs>218</Paragraphs>
  <Slides>29</Slides>
  <Notes>29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29</vt:i4>
      </vt:variant>
    </vt:vector>
  </HeadingPairs>
  <TitlesOfParts>
    <vt:vector size="37" baseType="lpstr">
      <vt:lpstr>SimHei</vt:lpstr>
      <vt:lpstr>KaiTi</vt:lpstr>
      <vt:lpstr>SimSun</vt:lpstr>
      <vt:lpstr>微软雅黑</vt:lpstr>
      <vt:lpstr>Arial</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3</cp:revision>
  <dcterms:created xsi:type="dcterms:W3CDTF">2026-05-25T08:04:38Z</dcterms:created>
  <dcterms:modified xsi:type="dcterms:W3CDTF">2026-05-25T08:33:10Z</dcterms:modified>
  <cp:category/>
  <cp:contentStatus/>
</cp:coreProperties>
</file>