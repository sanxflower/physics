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2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70" d="100"/>
        <a:sy n="170" d="100"/>
      </p:scale>
      <p:origin x="0" y="-1225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8606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9b2d2ba91f04ee84#tid=6a13c063a54e5c3696ff3984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MasterShapeName?linknodeid=back_to_first_catalog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0040" y="6409944"/>
            <a:ext cx="448056" cy="448056"/>
          </a:xfrm>
          <a:prstGeom prst="rect">
            <a:avLst/>
          </a:prstGeom>
        </p:spPr>
      </p:pic>
      <p:sp>
        <p:nvSpPr>
          <p:cNvPr id="4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5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9ec6f4f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MasterShapeName?linknodeid=back_to_first_catalog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0040" y="6409944"/>
            <a:ext cx="448056" cy="448056"/>
          </a:xfrm>
          <a:prstGeom prst="rect">
            <a:avLst/>
          </a:prstGeom>
        </p:spPr>
      </p:pic>
      <p:sp>
        <p:nvSpPr>
          <p:cNvPr id="4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5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课时3 实验：探究两个互成角度的力的合成规律</a:t>
            </a: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1#目录1:7275a4f91?lid=8a969b574&amp;cid=8a969b574&amp;vtp=1&amp;bt=1&amp;bbb=1">
            <a:hlinkClick r:id="rId3" action="ppaction://hlinksldjump"/>
          </p:cNvPr>
          <p:cNvSpPr/>
          <p:nvPr/>
        </p:nvSpPr>
        <p:spPr>
          <a:xfrm>
            <a:off x="5577840" y="2587752"/>
            <a:ext cx="6117336" cy="6492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4000"/>
              </a:lnSpc>
            </a:pP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高考要求</a:t>
            </a:r>
            <a:r>
              <a:rPr lang="en-US" altLang="zh-CN" sz="32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学业标准·考情分析</a:t>
            </a:r>
            <a:endParaRPr lang="en-US" altLang="zh-CN" sz="3200" dirty="0"/>
          </a:p>
        </p:txBody>
      </p:sp>
      <p:sp>
        <p:nvSpPr>
          <p:cNvPr id="3" name="C_1#目录1:7275a4f91?lid=c523edbde&amp;cid=c523edbde&amp;vtp=1&amp;bbb=1">
            <a:hlinkClick r:id="rId4" action="ppaction://hlinksldjump"/>
          </p:cNvPr>
          <p:cNvSpPr/>
          <p:nvPr/>
        </p:nvSpPr>
        <p:spPr>
          <a:xfrm>
            <a:off x="5577840" y="3419856"/>
            <a:ext cx="6117336" cy="6492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4000"/>
              </a:lnSpc>
            </a:pP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考点分类</a:t>
            </a:r>
            <a:r>
              <a:rPr lang="en-US" altLang="zh-CN" sz="32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考点透析·典例剖析</a:t>
            </a:r>
            <a:endParaRPr lang="en-US" altLang="zh-CN" sz="32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#9ec6f4f50.fixed?vcp=1&amp;pid=7275a4f91&amp;color=0,112,192&amp;vtp=1&amp;bbb=1"/>
          <p:cNvSpPr/>
          <p:nvPr/>
        </p:nvSpPr>
        <p:spPr>
          <a:xfrm>
            <a:off x="0" y="1801368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相互作用——力</a:t>
            </a:r>
            <a:endParaRPr lang="en-US" altLang="zh-CN" sz="4800" dirty="0"/>
          </a:p>
        </p:txBody>
      </p:sp>
      <p:sp>
        <p:nvSpPr>
          <p:cNvPr id="3" name="C_3#9ec6f4f50.fixed?vcp=1&amp;pid=7275a4f91&amp;color=0,0,0&amp;vtp=1&amp;bbb=1"/>
          <p:cNvSpPr/>
          <p:nvPr/>
        </p:nvSpPr>
        <p:spPr>
          <a:xfrm>
            <a:off x="265176" y="3063240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第12讲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力的合成和分解</a:t>
            </a:r>
            <a:endParaRPr lang="en-US" altLang="zh-CN" sz="4400" dirty="0"/>
          </a:p>
        </p:txBody>
      </p:sp>
      <p:sp>
        <p:nvSpPr>
          <p:cNvPr id="4" name="C_3_BD#9ec6f4f50.fixed?vcp=1&amp;pid=7275a4f91&amp;color=0,0,0&amp;vtp=1&amp;bbb=1&amp;hb=1"/>
          <p:cNvSpPr/>
          <p:nvPr/>
        </p:nvSpPr>
        <p:spPr>
          <a:xfrm>
            <a:off x="265176" y="4142232"/>
            <a:ext cx="11521440" cy="134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3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课时3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</a:t>
            </a:r>
            <a:r>
              <a:rPr lang="en-US" altLang="zh-CN" sz="4400" b="1" i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：探究两个互成角度的力的合成规</a:t>
            </a:r>
          </a:p>
          <a:p>
            <a:pPr algn="ctr" latinLnBrk="1">
              <a:lnSpc>
                <a:spcPts val="5400"/>
              </a:lnSpc>
            </a:pPr>
            <a:r>
              <a:rPr lang="en-US" altLang="zh-CN" sz="4400" b="1" i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律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4_BD#8a969b574?vcp=1&amp;pid=9ec6f4f50&amp;color=0,112,192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502920"/>
            <a:ext cx="4727448" cy="548640"/>
          </a:xfrm>
          <a:prstGeom prst="rect">
            <a:avLst/>
          </a:prstGeom>
        </p:spPr>
      </p:pic>
      <p:graphicFrame>
        <p:nvGraphicFramePr>
          <p:cNvPr id="5" name="P_5_BD#3bd93c1ff?colgroup=15,4,15&amp;vcp=1&amp;pid=8a969b574&amp;color=0,0,0&amp;vtp=1&amp;bbb=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290927"/>
              </p:ext>
            </p:extLst>
          </p:nvPr>
        </p:nvGraphicFramePr>
        <p:xfrm>
          <a:off x="393192" y="1181100"/>
          <a:ext cx="11400469" cy="2413381"/>
        </p:xfrm>
        <a:graphic>
          <a:graphicData uri="http://schemas.openxmlformats.org/drawingml/2006/table">
            <a:tbl>
              <a:tblPr/>
              <a:tblGrid>
                <a:gridCol w="48506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42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2633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考点分析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核心素养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知识图解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3036"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1.实验原理及方案.（★）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科学思维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gridSpan="2">
                  <a:txBody>
                    <a:bodyPr/>
                    <a:lstStyle/>
                    <a:p>
                      <a:pPr algn="ctr" latinLnBrk="1" hangingPunct="0">
                        <a:lnSpc>
                          <a:spcPts val="19000"/>
                        </a:lnSpc>
                      </a:pPr>
                      <a:endParaRPr lang="en-US" altLang="zh-CN" sz="900" spc="0" dirty="0">
                        <a:solidFill>
                          <a:srgbClr val="FFFFFF">
                            <a:alpha val="0"/>
                          </a:srgbClr>
                        </a:solidFill>
                        <a:latin typeface="SimSun" panose="02010600030101010101" pitchFamily="2" charset="-122"/>
                      </a:endParaRPr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856"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2.实验步骤及数据处理.（★）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科学探究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856"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3.误差分析及方案创新.（★）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科学思维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P_5_BD#3bd93c1ff.table_image?tii=1&amp;vcp=1&amp;pid=8a969b574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39430" y="1674495"/>
            <a:ext cx="2998479" cy="1878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4_BD#c523edbde?vcp=1&amp;pid=9ec6f4f50&amp;color=0,112,192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502920"/>
            <a:ext cx="4727448" cy="548640"/>
          </a:xfrm>
          <a:prstGeom prst="rect">
            <a:avLst/>
          </a:prstGeom>
        </p:spPr>
      </p:pic>
      <p:pic>
        <p:nvPicPr>
          <p:cNvPr id="3" name="C_5#6052e4ee8?vcp=1&amp;pid=c523edbde&amp;color=0,0,0&amp;tib=255,255,255&amp;vtp=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181100"/>
            <a:ext cx="11320272" cy="457200"/>
          </a:xfrm>
          <a:prstGeom prst="rect">
            <a:avLst/>
          </a:prstGeom>
        </p:spPr>
      </p:pic>
      <p:sp>
        <p:nvSpPr>
          <p:cNvPr id="4" name="C_5_BD#6052e4ee8?vcp=1&amp;pid=c523edbde&amp;color=255,255,255&amp;vtp=1"/>
          <p:cNvSpPr/>
          <p:nvPr/>
        </p:nvSpPr>
        <p:spPr>
          <a:xfrm>
            <a:off x="1225296" y="118110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1</a:t>
            </a:r>
            <a:endParaRPr lang="en-US" altLang="zh-CN" sz="2800" dirty="0"/>
          </a:p>
        </p:txBody>
      </p:sp>
      <p:sp>
        <p:nvSpPr>
          <p:cNvPr id="5" name="C_5_BD#6052e4ee8?vcp=1&amp;pid=c523edbde&amp;color=0,0,0&amp;vtp=1&amp;bbb=1"/>
          <p:cNvSpPr/>
          <p:nvPr/>
        </p:nvSpPr>
        <p:spPr>
          <a:xfrm>
            <a:off x="1837944" y="118110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实验原理和操作步骤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回归教材</a:t>
            </a:r>
            <a:endParaRPr lang="en-US" altLang="zh-CN" sz="2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P_6_BD#189617f26?vcp=1&amp;pid=6052e4ee8&amp;color=0,0,0&amp;vtp=1&amp;bbb=1&amp;hb=1"/>
              <p:cNvSpPr/>
              <p:nvPr/>
            </p:nvSpPr>
            <p:spPr>
              <a:xfrm>
                <a:off x="393192" y="1778000"/>
                <a:ext cx="1140256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核心总结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.实验原理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如果两个互成角度的力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作用于挂在橡皮条一端的小圆环上,与只用一个力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作用于小圆环上都能使小圆环伸长到同一点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,也就是作用效果相同,则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的合力.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6" name="P_6_BD#189617f26?vcp=1&amp;pid=6052e4ee8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778000"/>
                <a:ext cx="11402568" cy="2155000"/>
              </a:xfrm>
              <a:prstGeom prst="rect">
                <a:avLst/>
              </a:prstGeom>
              <a:blipFill>
                <a:blip r:embed="rId5"/>
                <a:stretch>
                  <a:fillRect l="-1658" r="-1390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_6_BD#189617f26?htil=1&amp;vcp=1&amp;pid=6052e4ee8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84545" y="649225"/>
            <a:ext cx="2750391" cy="2217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3" name="P_6_BD#189617f26?htil=1&amp;vcp=1&amp;pid=6052e4ee8&amp;color=0,0,0&amp;vtp=1&amp;bt=1&amp;bbb=1&amp;hs=1"/>
          <p:cNvSpPr/>
          <p:nvPr/>
        </p:nvSpPr>
        <p:spPr>
          <a:xfrm>
            <a:off x="393192" y="502919"/>
            <a:ext cx="8101584" cy="103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2.实验步骤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1）用图钉把白纸钉在水平桌面上的方木板上.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P_6_BD#189617f26?htil=1&amp;vcp=1&amp;pid=6052e4ee8&amp;color=0,0,0&amp;vtp=1&amp;bbb=1&amp;hb=1&amp;hs=1"/>
              <p:cNvSpPr/>
              <p:nvPr/>
            </p:nvSpPr>
            <p:spPr>
              <a:xfrm>
                <a:off x="393192" y="1548130"/>
                <a:ext cx="8101584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（2）用图钉把橡皮条的一端固定在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𝐺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,橡皮条的另一端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挂上小圆环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,橡皮条的原长为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𝐺𝐸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,如图甲所示.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3）用两个弹簧测力计分别勾住小圆环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,用手通过两个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4" name="P_6_BD#189617f26?htil=1&amp;vcp=1&amp;pid=6052e4ee8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48130"/>
                <a:ext cx="8101584" cy="1592199"/>
              </a:xfrm>
              <a:prstGeom prst="rect">
                <a:avLst/>
              </a:prstGeom>
              <a:blipFill>
                <a:blip r:embed="rId4"/>
                <a:stretch>
                  <a:fillRect l="-2333" r="-1731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_6_BD#189617f26?htil=1&amp;vcp=1&amp;pid=6052e4ee8&amp;color=0,0,0&amp;vtp=1&amp;bbb=1&amp;hb=1&amp;hs=1">
                <a:extLst>
                  <a:ext uri="{FF2B5EF4-FFF2-40B4-BE49-F238E27FC236}">
                    <a16:creationId xmlns:a16="http://schemas.microsoft.com/office/drawing/2014/main" id="{40B5C35B-A080-83E7-B0B6-24338EA6A375}"/>
                  </a:ext>
                </a:extLst>
              </p:cNvPr>
              <p:cNvSpPr/>
              <p:nvPr/>
            </p:nvSpPr>
            <p:spPr>
              <a:xfrm>
                <a:off x="393192" y="3135630"/>
                <a:ext cx="11400008" cy="32685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弹簧测力计共同互成角度地拉动小圆环至某点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,橡皮条伸长的长度为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𝐸𝑂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.记录两弹簧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测力计的读数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,用铅笔描下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点的位置及此时两弹簧测力计拉力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,如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图乙所示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4）撤去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,改用一个力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单独拉住小圆环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,仍使它处于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,橡皮条伸长的长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度仍为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𝐸𝑂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,记录此时弹簧测力计的读数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的方向,如图丙所示.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5）改变两个力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的大小和夹角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,再重复上述实验两次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P_6_BD#189617f26?htil=1&amp;vcp=1&amp;pid=6052e4ee8&amp;color=0,0,0&amp;vtp=1&amp;bbb=1&amp;hb=1&amp;hs=1">
                <a:extLst>
                  <a:ext uri="{FF2B5EF4-FFF2-40B4-BE49-F238E27FC236}">
                    <a16:creationId xmlns:a16="http://schemas.microsoft.com/office/drawing/2014/main" id="{40B5C35B-A080-83E7-B0B6-24338EA6A3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135630"/>
                <a:ext cx="11400008" cy="3268599"/>
              </a:xfrm>
              <a:prstGeom prst="rect">
                <a:avLst/>
              </a:prstGeom>
              <a:blipFill>
                <a:blip r:embed="rId5"/>
                <a:stretch>
                  <a:fillRect l="-1658" r="-588" b="-558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_6_BD#189617f26?htil=2&amp;vcp=1&amp;pid=6052e4ee8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88963" y="1725104"/>
            <a:ext cx="1380744" cy="1783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3" name="P_6_BD#189617f26?htil=2&amp;vcp=1&amp;pid=6052e4ee8&amp;color=0,0,0&amp;vtp=1&amp;bt=1&amp;bbb=1&amp;hs=1"/>
          <p:cNvSpPr/>
          <p:nvPr/>
        </p:nvSpPr>
        <p:spPr>
          <a:xfrm>
            <a:off x="393192" y="1578800"/>
            <a:ext cx="9884664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3.数据处理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P_6_BD#189617f26?htil=2&amp;vcp=1&amp;pid=6052e4ee8&amp;color=0,0,0&amp;vtp=1&amp;bbb=1&amp;hb=1&amp;hs=1"/>
              <p:cNvSpPr/>
              <p:nvPr/>
            </p:nvSpPr>
            <p:spPr>
              <a:xfrm>
                <a:off x="393192" y="2064575"/>
                <a:ext cx="9884664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（1）用铅笔在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点画出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三个力,如图所示.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2）观察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的关系.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即观察所构成的图形是否为平行四边形, 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用刻度尺等作图工具进行检验.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4" name="P_6_BD#189617f26?htil=2&amp;vcp=1&amp;pid=6052e4ee8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64575"/>
                <a:ext cx="9884664" cy="1596200"/>
              </a:xfrm>
              <a:prstGeom prst="rect">
                <a:avLst/>
              </a:prstGeom>
              <a:blipFill>
                <a:blip r:embed="rId4"/>
                <a:stretch>
                  <a:fillRect l="-1912" b="-1106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_6_BD#189617f26?htil=2&amp;vcp=1&amp;pid=6052e4ee8&amp;color=0,0,0&amp;vtp=1&amp;bbb=1&amp;hb=1&amp;hs=1">
            <a:extLst>
              <a:ext uri="{FF2B5EF4-FFF2-40B4-BE49-F238E27FC236}">
                <a16:creationId xmlns:a16="http://schemas.microsoft.com/office/drawing/2014/main" id="{3A167618-0B8B-987E-919C-CA3EB635CD30}"/>
              </a:ext>
            </a:extLst>
          </p:cNvPr>
          <p:cNvSpPr/>
          <p:nvPr/>
        </p:nvSpPr>
        <p:spPr>
          <a:xfrm>
            <a:off x="395996" y="3651885"/>
            <a:ext cx="11400008" cy="1596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3）对其他两次实验也做上述处理.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4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.实验结论:在两个力合成时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,如果以表示这两个力的有向线段为邻边作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平行四边形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,这两个邻边之间的对角线就代表合力的大小和方向.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O_6_BD.1_1#10c799c43?vcp=1&amp;pid=6052e4ee8&amp;color=0,0,0&amp;vtp=1&amp;bt=1&amp;bbb=1&amp;hb=1"/>
              <p:cNvSpPr/>
              <p:nvPr/>
            </p:nvSpPr>
            <p:spPr>
              <a:xfrm>
                <a:off x="393192" y="557117"/>
                <a:ext cx="11402568" cy="1037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考题1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在“探究两个互成角度的力的合成规律”的实验中,实验装置及过程如图甲、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乙、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丙所示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𝐸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为橡皮筋原长时小圆环的位置，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为实验时小圆环被拉至的位置.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O_6_BD.1_1#10c799c43?vcp=1&amp;pid=6052e4ee8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57117"/>
                <a:ext cx="11402568" cy="1037400"/>
              </a:xfrm>
              <a:prstGeom prst="rect">
                <a:avLst/>
              </a:prstGeom>
              <a:blipFill>
                <a:blip r:embed="rId3"/>
                <a:stretch>
                  <a:fillRect l="-1658" r="-856" b="-169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O_6_BD.1_2#10c799c43?iti=1&amp;vcp=1&amp;pid=6052e4ee8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242816" y="1730343"/>
            <a:ext cx="3703320" cy="2359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4" name="QO_6_BD.1_3#10c799c43?iti=1&amp;vcp=1&amp;pid=6052e4ee8&amp;color=0,0,0&amp;vtp=1&amp;bbb=1"/>
          <p:cNvSpPr/>
          <p:nvPr/>
        </p:nvSpPr>
        <p:spPr>
          <a:xfrm>
            <a:off x="5526945" y="4216495"/>
            <a:ext cx="1135062" cy="895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考题1图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QB_7_BD.2_1#5e3d36720?vcp=1&amp;pid=10c799c43&amp;color=0,0,0&amp;vtp=1&amp;bbb=1"/>
              <p:cNvSpPr/>
              <p:nvPr/>
            </p:nvSpPr>
            <p:spPr>
              <a:xfrm>
                <a:off x="393192" y="4770786"/>
                <a:ext cx="11402568" cy="48412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（1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）图丁中弹簧测力计的示数为</a:t>
                </a: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_____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QB_7_BD.2_1#5e3d36720?vcp=1&amp;pid=10c799c43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770786"/>
                <a:ext cx="11402568" cy="484124"/>
              </a:xfrm>
              <a:prstGeom prst="rect">
                <a:avLst/>
              </a:prstGeom>
              <a:blipFill>
                <a:blip r:embed="rId5"/>
                <a:stretch>
                  <a:fillRect l="-1658" t="-1266" b="-379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QB_7_AN.3_1#5e3d36720.blank?vcp=1&amp;pid=10c799c43&amp;color=0,0,0&amp;vpa=1&amp;vtp=1&amp;bbb=1"/>
          <p:cNvSpPr/>
          <p:nvPr/>
        </p:nvSpPr>
        <p:spPr>
          <a:xfrm>
            <a:off x="4791360" y="4730781"/>
            <a:ext cx="754063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2.33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QB_7_AS.4_1#5e3d36720?vcp=1&amp;pid=10c799c43&amp;color=0,0,0&amp;vtp=1&amp;bbb=1&amp;hb=1"/>
              <p:cNvSpPr/>
              <p:nvPr/>
            </p:nvSpPr>
            <p:spPr>
              <a:xfrm>
                <a:off x="393192" y="5259038"/>
                <a:ext cx="11402568" cy="1037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弹簧测力计的分度值为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,读数要估读到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,由题图丁可知图中弹簧测力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计的示数为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7" name="QB_7_AS.4_1#5e3d36720?vcp=1&amp;pid=10c799c43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259038"/>
                <a:ext cx="11402568" cy="1037400"/>
              </a:xfrm>
              <a:prstGeom prst="rect">
                <a:avLst/>
              </a:prstGeom>
              <a:blipFill>
                <a:blip r:embed="rId6"/>
                <a:stretch>
                  <a:fillRect l="-1658" r="-1230" b="-170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  <p:bldP spid="7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7_BD.5_1#888678a63?vcp=1&amp;pid=10c799c43&amp;color=0,0,0&amp;vtp=1&amp;bt=1&amp;bbb=1"/>
          <p:cNvSpPr/>
          <p:nvPr/>
        </p:nvSpPr>
        <p:spPr>
          <a:xfrm>
            <a:off x="393192" y="1883505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（2）（多选题）在实验过程中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,必须记录的有</a:t>
            </a:r>
            <a:r>
              <a:rPr lang="en-US" altLang="zh-CN" sz="240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______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</p:txBody>
      </p:sp>
      <p:sp>
        <p:nvSpPr>
          <p:cNvPr id="3" name="QC_7_AN.6_1#888678a63.blank?vcp=1&amp;pid=10c799c43&amp;color=0,0,0&amp;vpa=2&amp;vtp=1&amp;bbb=1"/>
          <p:cNvSpPr/>
          <p:nvPr/>
        </p:nvSpPr>
        <p:spPr>
          <a:xfrm>
            <a:off x="6404261" y="1843500"/>
            <a:ext cx="86518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BCD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QC_7_BD.5_2#888678a63.choices?vcp=1&amp;pid=10c799c43&amp;color=0,0,0&amp;vtp=1&amp;bbb=1"/>
              <p:cNvSpPr/>
              <p:nvPr/>
            </p:nvSpPr>
            <p:spPr>
              <a:xfrm>
                <a:off x="393192" y="2369280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A.图甲中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𝐸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的位置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.图乙中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的位置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.弹簧测力计的示数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4" name="QC_7_BD.5_2#888678a63.choices?vcp=1&amp;pid=10c799c43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369280"/>
                <a:ext cx="11402568" cy="1033399"/>
              </a:xfrm>
              <a:prstGeom prst="rect">
                <a:avLst/>
              </a:prstGeom>
              <a:blipFill>
                <a:blip r:embed="rId3"/>
                <a:stretch>
                  <a:fillRect l="-1658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QC_7_AS.7_1#888678a63?vcp=1&amp;pid=10c799c43&amp;color=0,0,0&amp;vtp=1&amp;bbb=1&amp;hb=1"/>
              <p:cNvSpPr/>
              <p:nvPr/>
            </p:nvSpPr>
            <p:spPr>
              <a:xfrm>
                <a:off x="393192" y="3409409"/>
                <a:ext cx="11402568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</a:t>
                </a:r>
                <a:r>
                  <a:rPr lang="en-US" altLang="zh-CN" sz="2400" b="1" i="0" spc="-10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解析]</a:t>
                </a:r>
                <a:r>
                  <a:rPr lang="en-US" altLang="zh-CN" sz="2400" b="1" i="0" spc="-10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spc="-10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必须记录的有两个分力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pc="-1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 spc="-10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 spc="-10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spc="-10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pc="-1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 spc="-10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 spc="-10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spc="-10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的大小和方向、合力</a:t>
                </a:r>
                <a14:m>
                  <m:oMath xmlns:m="http://schemas.openxmlformats.org/officeDocument/2006/math">
                    <m:r>
                      <a:rPr lang="en-US" altLang="zh-CN" sz="2400" b="1" i="1" spc="-10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spc="-10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的大小和方向</a:t>
                </a:r>
                <a:r>
                  <a:rPr lang="en-US" altLang="zh-CN" sz="2400" b="1" i="0" spc="-10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,力的大小可通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 spc="-10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过弹簧测力计读出</a:t>
                </a:r>
                <a:r>
                  <a:rPr lang="en-US" altLang="zh-CN" sz="2400" b="1" i="0" spc="-10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,合力</a:t>
                </a:r>
                <a14:m>
                  <m:oMath xmlns:m="http://schemas.openxmlformats.org/officeDocument/2006/math">
                    <m:r>
                      <a:rPr lang="en-US" altLang="zh-CN" sz="2400" b="1" i="1" spc="-10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spc="-10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与两个分力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pc="-1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 spc="-10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 spc="-10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spc="-10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pc="-1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 spc="-10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 spc="-10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spc="-10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为等效替代关系</a:t>
                </a:r>
                <a:r>
                  <a:rPr lang="en-US" altLang="zh-CN" sz="2400" b="1" i="0" spc="-10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,故两次都要将小圆环拉到位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 spc="-10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置</a:t>
                </a:r>
                <a14:m>
                  <m:oMath xmlns:m="http://schemas.openxmlformats.org/officeDocument/2006/math">
                    <m:r>
                      <a:rPr lang="en-US" altLang="zh-CN" sz="2400" b="1" i="1" spc="-10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</m:t>
                    </m:r>
                  </m:oMath>
                </a14:m>
                <a:r>
                  <a:rPr lang="en-US" altLang="zh-CN" sz="2400" b="1" i="0" spc="-10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,所以必须记录的有弹簧测力计的示数,</a:t>
                </a:r>
                <a14:m>
                  <m:oMath xmlns:m="http://schemas.openxmlformats.org/officeDocument/2006/math">
                    <m:r>
                      <a:rPr lang="en-US" altLang="zh-CN" sz="2400" b="1" i="1" spc="-10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𝑶𝑩</m:t>
                    </m:r>
                  </m:oMath>
                </a14:m>
                <a:r>
                  <a:rPr lang="en-US" altLang="zh-CN" sz="2400" b="1" i="0" spc="-10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 spc="-10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𝑶𝑪</m:t>
                    </m:r>
                  </m:oMath>
                </a14:m>
                <a:r>
                  <a:rPr lang="en-US" altLang="zh-CN" sz="2400" b="1" i="0" spc="-10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的方向,位置</a:t>
                </a:r>
                <a14:m>
                  <m:oMath xmlns:m="http://schemas.openxmlformats.org/officeDocument/2006/math">
                    <m:r>
                      <a:rPr lang="en-US" altLang="zh-CN" sz="2400" b="1" i="1" spc="-10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spc="-10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,B、C、D符合题意.</a:t>
                </a:r>
                <a:endParaRPr lang="en-US" altLang="zh-CN" sz="2400" spc="-100" dirty="0"/>
              </a:p>
            </p:txBody>
          </p:sp>
        </mc:Choice>
        <mc:Fallback xmlns="">
          <p:sp>
            <p:nvSpPr>
              <p:cNvPr id="5" name="QC_7_AS.7_1#888678a63?vcp=1&amp;pid=10c799c43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409409"/>
                <a:ext cx="11402568" cy="1596200"/>
              </a:xfrm>
              <a:prstGeom prst="rect">
                <a:avLst/>
              </a:prstGeom>
              <a:blipFill>
                <a:blip r:embed="rId4"/>
                <a:stretch>
                  <a:fillRect l="-1658" b="-11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7_BD.8_1#bb0d5d9f7?vcp=1&amp;pid=10c799c43&amp;color=0,0,0&amp;vtp=1&amp;bt=1&amp;bbb=1"/>
          <p:cNvSpPr/>
          <p:nvPr/>
        </p:nvSpPr>
        <p:spPr>
          <a:xfrm>
            <a:off x="393192" y="1044035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（3）（多选题）下列选项中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,与本实验要求相符的是</a:t>
            </a:r>
            <a:r>
              <a:rPr lang="en-US" altLang="zh-CN" sz="240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_____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</p:txBody>
      </p:sp>
      <p:sp>
        <p:nvSpPr>
          <p:cNvPr id="3" name="QC_7_AN.9_1#bb0d5d9f7.blank?vcp=1&amp;pid=10c799c43&amp;color=0,0,0&amp;vpa=3&amp;vtp=1&amp;bbb=1"/>
          <p:cNvSpPr/>
          <p:nvPr/>
        </p:nvSpPr>
        <p:spPr>
          <a:xfrm>
            <a:off x="7356761" y="1004030"/>
            <a:ext cx="644525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BD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QC_7_BD.8_2#bb0d5d9f7.choices?vcp=1&amp;pid=10c799c43&amp;color=0,0,0&amp;vtp=1&amp;bbb=1"/>
              <p:cNvSpPr/>
              <p:nvPr/>
            </p:nvSpPr>
            <p:spPr>
              <a:xfrm>
                <a:off x="393192" y="1529809"/>
                <a:ext cx="1140256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A.两细绳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的夹角要尽量大一些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.读数时,视线应正对弹簧测力计的刻度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.实验时,只需保证两次橡皮筋伸长量相同即可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.多次实验时,均应将小圆环拉到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点处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4" name="QC_7_BD.8_2#bb0d5d9f7.choices?vcp=1&amp;pid=10c799c43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29809"/>
                <a:ext cx="11402568" cy="2155000"/>
              </a:xfrm>
              <a:prstGeom prst="rect">
                <a:avLst/>
              </a:prstGeom>
              <a:blipFill>
                <a:blip r:embed="rId3"/>
                <a:stretch>
                  <a:fillRect l="-1658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QC_7_AS.10_1#bb0d5d9f7?vcp=1&amp;pid=10c799c43&amp;color=0,0,0&amp;vtp=1&amp;bbb=1&amp;hb=1"/>
              <p:cNvSpPr/>
              <p:nvPr/>
            </p:nvSpPr>
            <p:spPr>
              <a:xfrm>
                <a:off x="393192" y="3676109"/>
                <a:ext cx="1140256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两细绳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𝑶𝑪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的夹角要适当大一些,但不能太大,当合力一定时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,若两分力间夹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角太大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，就会导致两分力很大,容易超出弹簧测力计的测力范围,A错误;读数时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,视线应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正对弹簧测力计的刻度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,B正确;实验时,不仅需保证两次橡皮筋伸长量相同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,还必须沿同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一方向伸长才行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,C错误;实验时,若要保证效果相同,均应将小圆环拉到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点处,D正确.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QC_7_AS.10_1#bb0d5d9f7?vcp=1&amp;pid=10c799c43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676109"/>
                <a:ext cx="11402568" cy="2155000"/>
              </a:xfrm>
              <a:prstGeom prst="rect">
                <a:avLst/>
              </a:prstGeom>
              <a:blipFill>
                <a:blip r:embed="rId4"/>
                <a:stretch>
                  <a:fillRect l="-1658" r="-107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C_7_BD.11_1#711e88f14?vcp=1&amp;pid=10c799c43&amp;color=0,0,0&amp;vtp=1&amp;bt=1&amp;bbb=1&amp;hb=1"/>
              <p:cNvSpPr/>
              <p:nvPr/>
            </p:nvSpPr>
            <p:spPr>
              <a:xfrm>
                <a:off x="393192" y="682847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（4）某同学用同一套器材做了四次实验,白纸上留下的标注信息有结点位置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、力的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标度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、分力和合力的大小及表示力的方向的点,如下所示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.其中最能提高实验精度且符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合实验事实的是</a:t>
                </a: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C_7_BD.11_1#711e88f14?vcp=1&amp;pid=10c799c4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682847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b="-1187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7_AN.12_1#711e88f14.blank?vcp=1&amp;pid=10c799c43&amp;color=0,0,0&amp;vpa=4&amp;vtp=1"/>
          <p:cNvSpPr/>
          <p:nvPr/>
        </p:nvSpPr>
        <p:spPr>
          <a:xfrm>
            <a:off x="2505361" y="1750917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p:sp>
        <p:nvSpPr>
          <p:cNvPr id="4" name="QC_7_BD.11_2#711e88f14.choices?vcp=1&amp;pid=10c799c43&amp;color=0,0,0&amp;vtp=1&amp;bbb=1"/>
          <p:cNvSpPr/>
          <p:nvPr/>
        </p:nvSpPr>
        <p:spPr>
          <a:xfrm>
            <a:off x="393192" y="2403442"/>
            <a:ext cx="11402568" cy="2169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atinLnBrk="1">
              <a:lnSpc>
                <a:spcPts val="19400"/>
              </a:lnSpc>
              <a:tabLst>
                <a:tab pos="2913502" algn="l"/>
                <a:tab pos="5801604" algn="l"/>
                <a:tab pos="8753206" algn="l"/>
              </a:tabLst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</a:t>
            </a:r>
            <a:r>
              <a:rPr lang="en-US" altLang="zh-CN" sz="240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            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B.</a:t>
            </a:r>
            <a:r>
              <a:rPr lang="en-US" altLang="zh-CN" sz="240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            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C.</a:t>
            </a:r>
            <a:r>
              <a:rPr lang="en-US" altLang="zh-CN" sz="1080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             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D.</a:t>
            </a:r>
            <a:r>
              <a:rPr lang="en-US" altLang="zh-CN" sz="1080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           </a:t>
            </a:r>
            <a:endParaRPr lang="en-US" altLang="zh-CN" sz="900" dirty="0">
              <a:latin typeface="SimSun" panose="02010600030101010101" pitchFamily="2" charset="-122"/>
            </a:endParaRPr>
          </a:p>
        </p:txBody>
      </p:sp>
      <p:pic>
        <p:nvPicPr>
          <p:cNvPr id="5" name="QC_7_BD.11_2#711e88f14.choice_image?vcp=1&amp;pid=10c799c43&amp;color=0,0,0&amp;tib=255,255,255&amp;iip=1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5801" y="2400331"/>
            <a:ext cx="2103120" cy="2176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6" name="QC_7_BD.11_2#711e88f14.choice_image?vcp=1&amp;pid=10c799c43&amp;color=0,0,0&amp;tib=255,255,255&amp;iip=2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591719" y="2400331"/>
            <a:ext cx="2103120" cy="2176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7" name="QC_7_BD.11_2#711e88f14.choice_image?vcp=1&amp;pid=10c799c43&amp;color=0,0,0&amp;tib=255,255,255&amp;iip=3&amp;vtp=1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99130" y="2418619"/>
            <a:ext cx="2121408" cy="2157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8" name="QC_7_BD.11_2#711e88f14.choice_image?vcp=1&amp;pid=10c799c43&amp;color=0,0,0&amp;tib=255,255,255&amp;iip=4&amp;vtp=1" descr="preencoded.png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452705" y="2409475"/>
            <a:ext cx="2039112" cy="2167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9" name="QC_7_AS.13_1#711e88f14?vcp=1&amp;pid=10c799c43&amp;color=0,0,0&amp;vtp=1&amp;bbb=1&amp;hb=1"/>
          <p:cNvSpPr/>
          <p:nvPr/>
        </p:nvSpPr>
        <p:spPr>
          <a:xfrm>
            <a:off x="393192" y="4584032"/>
            <a:ext cx="11402568" cy="1596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记录力的方向时,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两点太近,误差较大,A错误;标度选择不合适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,两细绳间夹角太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小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,B错误;记录力的方向时,两点距离合适,标度选择合适,C正确;测量合力实际值时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,力的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方向偏差太大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,误差太大,D错误.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9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6_BD.14_1#409912cb3?vcp=1&amp;pid=6052e4ee8&amp;color=0,0,0&amp;vtp=1&amp;bt=1&amp;bbb=1&amp;hb=1"/>
          <p:cNvSpPr/>
          <p:nvPr/>
        </p:nvSpPr>
        <p:spPr>
          <a:xfrm>
            <a:off x="393192" y="1550163"/>
            <a:ext cx="11402568" cy="103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变式1-1</a:t>
            </a:r>
            <a:r>
              <a:rPr lang="en-US" altLang="zh-CN" sz="24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（多选题）关于“探究两个互成角度的力的合成规律”实验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，下列说法正确的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3" name="QC_6_AN.15_1#409912cb3.bracket?vcp=1&amp;pid=6052e4ee8&amp;color=0,0,0&amp;vpa=5&amp;vtp=1&amp;bbb=1"/>
          <p:cNvSpPr/>
          <p:nvPr/>
        </p:nvSpPr>
        <p:spPr>
          <a:xfrm>
            <a:off x="981360" y="2097533"/>
            <a:ext cx="661988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AC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QC_6_BD.14_2#409912cb3.choices?vcp=1&amp;pid=6052e4ee8&amp;color=0,0,0&amp;vtp=1&amp;bbb=1&amp;hb=1"/>
              <p:cNvSpPr/>
              <p:nvPr/>
            </p:nvSpPr>
            <p:spPr>
              <a:xfrm>
                <a:off x="393192" y="2583688"/>
                <a:ext cx="11402568" cy="271399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A.必须使分力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与合力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在同一平面内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.在同一实验中，橡皮条拉长后的结点位置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允许变动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.在同一实验中，只要结点位置不变，无论两个分力如何变化，其合力都不变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.用两只弹簧测力计拉时，合力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的图示与用一只弹簧测力计拉时拉力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的图示不完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全重合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，说明力的合成的平行四边形定则不是普遍成立的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4" name="QC_6_BD.14_2#409912cb3.choices?vcp=1&amp;pid=6052e4ee8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583688"/>
                <a:ext cx="11402568" cy="2713990"/>
              </a:xfrm>
              <a:prstGeom prst="rect">
                <a:avLst/>
              </a:prstGeom>
              <a:blipFill>
                <a:blip r:embed="rId3"/>
                <a:stretch>
                  <a:fillRect l="-1658" b="-651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&amp;si=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C_6_AS.16_1#409912cb3?vcp=1&amp;pid=6052e4ee8&amp;color=0,0,0&amp;vtp=1&amp;bt=1&amp;bbb=1&amp;hb=1"/>
              <p:cNvSpPr/>
              <p:nvPr/>
            </p:nvSpPr>
            <p:spPr>
              <a:xfrm>
                <a:off x="393192" y="2086705"/>
                <a:ext cx="11402568" cy="2713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在进行实验时，必须使分力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与合力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在同一平面内，故A正确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；在同一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实验中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，为了使两次拉橡皮条的效果相同，要求两次将结点拉到同一位置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，故B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错误；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根据力的等效原理可知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，只要结点位置不变，其合力就不变，故C正确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；由于实验中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不可避免地存在误差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，所以合力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的图示与用一只弹簧测力计拉时拉力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的图示不完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全重合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，故D错误.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C_6_AS.16_1#409912cb3?vcp=1&amp;pid=6052e4ee8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86705"/>
                <a:ext cx="11402568" cy="2713800"/>
              </a:xfrm>
              <a:prstGeom prst="rect">
                <a:avLst/>
              </a:prstGeom>
              <a:blipFill>
                <a:blip r:embed="rId3"/>
                <a:stretch>
                  <a:fillRect l="-1658" r="-4332" b="-67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&amp;si=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_6_BD#99259ab9e?vcp=1&amp;pid=6052e4ee8&amp;color=0,0,0&amp;vtp=1&amp;bt=1&amp;bbb=1&amp;hb=1"/>
              <p:cNvSpPr/>
              <p:nvPr/>
            </p:nvSpPr>
            <p:spPr>
              <a:xfrm>
                <a:off x="393192" y="504000"/>
                <a:ext cx="11402568" cy="578954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2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拓展延伸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.注意事项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1）位置不变:在同一次实验中,小圆环的位置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一定要相同.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2）角度合适:在具体实验时,两分力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间的夹角不宜过大,也不宜过小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,以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60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～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120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为宜.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3）统一标度:在同一次实验中,画力的图示选定的标度要相同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,并且要恰当选定标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度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,使力的图示稍大一些.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4）被测力的方向应与弹簧测力计的轴线方向一致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,拉动小圆环时弹簧不可与外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壳相碰或摩擦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5）读数时应正视、平视刻度.</a:t>
                </a:r>
                <a:endParaRPr lang="en-US" altLang="zh-CN" sz="2400" dirty="0"/>
              </a:p>
              <a:p>
                <a:pPr latinLnBrk="1">
                  <a:lnSpc>
                    <a:spcPts val="40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6）使用弹簧测力计测力时,读数应适当大些,但不能超出它的测量范围.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P_6_BD#99259ab9e?vcp=1&amp;pid=6052e4ee8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11402568" cy="5789549"/>
              </a:xfrm>
              <a:prstGeom prst="rect">
                <a:avLst/>
              </a:prstGeom>
              <a:blipFill>
                <a:blip r:embed="rId3"/>
                <a:stretch>
                  <a:fillRect l="-1658" r="-1337" b="-326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&amp;si=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_6_BD#99259ab9e?vcp=1&amp;pid=6052e4ee8&amp;color=0,0,0&amp;vtp=1&amp;bt=1&amp;bbb=1&amp;hb=1"/>
              <p:cNvSpPr/>
              <p:nvPr/>
            </p:nvSpPr>
            <p:spPr>
              <a:xfrm>
                <a:off x="393192" y="1793335"/>
                <a:ext cx="11402568" cy="3272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2.误差分析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1）实验中,弹簧测力计的弹簧和外壳之间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、指针和外壳之间或弹簧测力计的外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壳和纸面之间有摩擦力存在会引起系统误差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2）两次测量拉力时,小圆环的位置不可能做到完全拉到同一点会造成偶然误差.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3）两个力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的夹角太小或太大,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的数值太小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,作图时都会造成偶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然误差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P_6_BD#99259ab9e?vcp=1&amp;pid=6052e4ee8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793335"/>
                <a:ext cx="11402568" cy="3272600"/>
              </a:xfrm>
              <a:prstGeom prst="rect">
                <a:avLst/>
              </a:prstGeom>
              <a:blipFill>
                <a:blip r:embed="rId3"/>
                <a:stretch>
                  <a:fillRect l="-1658" r="-588" b="-558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&amp;si=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5#6d6b4cce0?vcp=1&amp;pid=c523edbde&amp;color=0,0,0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57200"/>
          </a:xfrm>
          <a:prstGeom prst="rect">
            <a:avLst/>
          </a:prstGeom>
        </p:spPr>
      </p:pic>
      <p:sp>
        <p:nvSpPr>
          <p:cNvPr id="3" name="C_5_BD#6d6b4cce0?vcp=1&amp;pid=c523edbde&amp;color=255,255,255&amp;vtp=1"/>
          <p:cNvSpPr/>
          <p:nvPr/>
        </p:nvSpPr>
        <p:spPr>
          <a:xfrm>
            <a:off x="1225296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2</a:t>
            </a:r>
            <a:endParaRPr lang="en-US" altLang="zh-CN" sz="2800" dirty="0"/>
          </a:p>
        </p:txBody>
      </p:sp>
      <p:sp>
        <p:nvSpPr>
          <p:cNvPr id="4" name="C_5_BD#6d6b4cce0?vcp=1&amp;pid=c523edbde&amp;color=0,0,0&amp;vtp=1&amp;bbb=1"/>
          <p:cNvSpPr/>
          <p:nvPr/>
        </p:nvSpPr>
        <p:spPr>
          <a:xfrm>
            <a:off x="1837944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实验方案的创新设计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难点</a:t>
            </a:r>
            <a:endParaRPr lang="en-US" altLang="zh-CN" sz="2600" dirty="0"/>
          </a:p>
        </p:txBody>
      </p:sp>
      <p:pic>
        <p:nvPicPr>
          <p:cNvPr id="5" name="QO_6_BD.17_1#23e7f5a78?iti=2&amp;htil=3&amp;vcp=1&amp;pid=6d6b4cce0&amp;color=0,0,0&amp;tib=255,255,255&amp;vtp=1&amp;hs=1&amp;hs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67886" y="1137920"/>
            <a:ext cx="2959224" cy="3981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6" name="QO_6_BD.17_2#23e7f5a78?iti=2&amp;htil=3&amp;vcp=1&amp;pid=6d6b4cce0&amp;color=0,0,0&amp;vtp=1&amp;bbb=1"/>
          <p:cNvSpPr/>
          <p:nvPr/>
        </p:nvSpPr>
        <p:spPr>
          <a:xfrm>
            <a:off x="9679967" y="5246750"/>
            <a:ext cx="1135062" cy="484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考题2图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QO_6_BD.17_3#23e7f5a78?htil=3&amp;vcp=1&amp;pid=6d6b4cce0&amp;color=0,0,0&amp;vtp=1&amp;bbb=1&amp;hb=1&amp;hs=1"/>
              <p:cNvSpPr/>
              <p:nvPr/>
            </p:nvSpPr>
            <p:spPr>
              <a:xfrm>
                <a:off x="393192" y="1092200"/>
                <a:ext cx="8275320" cy="48374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考题2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（2026⋅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华中师大一附中检测</a:t>
                </a:r>
                <a:r>
                  <a:rPr lang="en-US" altLang="zh-CN" sz="2400" b="0" i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）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小明同学发现手机软件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有测角度的功能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，于是结合软件的这个功能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，用两根完全相同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的轻弹簧和一瓶矿泉水等器材设计了“验证力的平行四边形定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”的实验.实验时，先将一弹簧一端固定在墙上的钉子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上，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另一端挂一瓶矿泉水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，最终弹簧端点静止于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（图中未画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），如图甲所示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；然后再将两弹簧一端分别固定在墙上的钉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子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上，另一端彼此连接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，在结点下方挂一瓶同样的矿泉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水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，最终结点静止于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，静止时用智能手机的测角功能分别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测出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𝐴𝑂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𝐵𝑂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与竖直方向的夹角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𝛼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𝛽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,如图乙所示.改变钉子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7" name="QO_6_BD.17_3#23e7f5a78?htil=3&amp;vcp=1&amp;pid=6d6b4cce0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92200"/>
                <a:ext cx="8275320" cy="4837430"/>
              </a:xfrm>
              <a:prstGeom prst="rect">
                <a:avLst/>
              </a:prstGeom>
              <a:blipFill>
                <a:blip r:embed="rId5"/>
                <a:stretch>
                  <a:fillRect l="-2284" r="-1695" b="-390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QO_6_BD.17_3#23e7f5a78?htil=3&amp;vcp=1&amp;pid=6d6b4cce0&amp;color=0,0,0&amp;vtp=1&amp;bbb=1&amp;hb=1&amp;hs=1">
            <a:extLst>
              <a:ext uri="{FF2B5EF4-FFF2-40B4-BE49-F238E27FC236}">
                <a16:creationId xmlns:a16="http://schemas.microsoft.com/office/drawing/2014/main" id="{5DF9F48A-DB34-3C79-A8A0-F76C0F007735}"/>
              </a:ext>
            </a:extLst>
          </p:cNvPr>
          <p:cNvSpPr/>
          <p:nvPr/>
        </p:nvSpPr>
        <p:spPr>
          <a:xfrm>
            <a:off x="395996" y="5905500"/>
            <a:ext cx="11400008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的位置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，按照上述方法多测几次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.（弹簧和水瓶始终不与竖直墙接触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）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&amp;si=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7_BD.18_1#ea5d46d5e?vcp=1&amp;pid=23e7f5a78&amp;color=0,0,0&amp;vtp=1&amp;bt=1&amp;bbb=1"/>
          <p:cNvSpPr/>
          <p:nvPr/>
        </p:nvSpPr>
        <p:spPr>
          <a:xfrm>
            <a:off x="393192" y="749396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（1）（多选题）在实验操作过程中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，必须进行的操作是</a:t>
            </a:r>
            <a:r>
              <a:rPr lang="en-US" altLang="zh-CN" sz="240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_____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填序号）.</a:t>
            </a:r>
            <a:endParaRPr lang="en-US" altLang="zh-CN" sz="2400" dirty="0"/>
          </a:p>
        </p:txBody>
      </p:sp>
      <p:sp>
        <p:nvSpPr>
          <p:cNvPr id="3" name="QC_7_AN.19_1#ea5d46d5e.blank?vcp=1&amp;pid=23e7f5a78&amp;color=0,0,0&amp;vpa=6&amp;vtp=1&amp;bbb=1"/>
          <p:cNvSpPr/>
          <p:nvPr/>
        </p:nvSpPr>
        <p:spPr>
          <a:xfrm>
            <a:off x="7890161" y="709391"/>
            <a:ext cx="644525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BC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QC_7_BD.18_2#ea5d46d5e.choices?vcp=1&amp;pid=23e7f5a78&amp;color=0,0,0&amp;vtp=1&amp;bbb=1"/>
              <p:cNvSpPr/>
              <p:nvPr/>
            </p:nvSpPr>
            <p:spPr>
              <a:xfrm>
                <a:off x="393192" y="1297781"/>
                <a:ext cx="11402568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.保证图乙中两弹簧长度相同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.测量弹簧的原长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.测量图甲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、乙中弹簧的长度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𝛼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𝛽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角度相等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E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.实验中点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的位置相同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4" name="QC_7_BD.18_2#ea5d46d5e.choices?vcp=1&amp;pid=23e7f5a78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97781"/>
                <a:ext cx="11402568" cy="1596200"/>
              </a:xfrm>
              <a:prstGeom prst="rect">
                <a:avLst/>
              </a:prstGeom>
              <a:blipFill>
                <a:blip r:embed="rId3"/>
                <a:stretch>
                  <a:fillRect l="-1658" b="-1106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QC_7_AS.20_1#ea5d46d5e?vcp=1&amp;pid=23e7f5a78&amp;color=0,0,0&amp;vtp=1&amp;bbb=1&amp;hb=1"/>
              <p:cNvSpPr/>
              <p:nvPr/>
            </p:nvSpPr>
            <p:spPr>
              <a:xfrm>
                <a:off x="393192" y="2886170"/>
                <a:ext cx="11402568" cy="3272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由实验原理可知，题图乙中两弹簧的长度不必相同，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𝜷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角可以不相等，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A、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错误；实验中，题图甲用来测量合力，题图乙用来测量两个分力，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根据胡克定律，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弹簧的弹力大小与弹簧的伸长量成正比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，弹力的大小可用弹簧伸长量来表示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，必须测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量弹簧的伸长量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，因此要测量弹簧的原长和题图甲、乙中弹簧的长度，B、C正确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；实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验中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，由于矿泉水的重力的大小和方向均不变，因此矿泉水的位置可以不固定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，故点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𝑷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的位置可以不相同，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𝐄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错误.故选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𝐁𝐂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QC_7_AS.20_1#ea5d46d5e?vcp=1&amp;pid=23e7f5a78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886170"/>
                <a:ext cx="11402568" cy="3272600"/>
              </a:xfrm>
              <a:prstGeom prst="rect">
                <a:avLst/>
              </a:prstGeom>
              <a:blipFill>
                <a:blip r:embed="rId4"/>
                <a:stretch>
                  <a:fillRect l="-1658" r="-3957" b="-558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&amp;si=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B_7_BD.21_1#d4920613f?vcp=1&amp;pid=23e7f5a78&amp;color=0,0,0&amp;vtp=1&amp;bt=1&amp;bbb=1&amp;hb=1"/>
          <p:cNvSpPr/>
          <p:nvPr/>
        </p:nvSpPr>
        <p:spPr>
          <a:xfrm>
            <a:off x="393192" y="2392268"/>
            <a:ext cx="11402568" cy="103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（2）该同学根据实验测量的结果，分别作出了图丙和图丁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，两图中虚线均沿竖直方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向，则两图中正确的是图</a:t>
            </a:r>
            <a:r>
              <a:rPr lang="en-US" altLang="zh-CN" sz="240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____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填“丙”或“丁”）.</a:t>
            </a:r>
            <a:endParaRPr lang="en-US" altLang="zh-CN" sz="2400" dirty="0"/>
          </a:p>
        </p:txBody>
      </p:sp>
      <p:sp>
        <p:nvSpPr>
          <p:cNvPr id="3" name="QB_7_AN.22_1#d4920613f.blank?vcp=1&amp;pid=23e7f5a78&amp;color=0,0,0&amp;vpa=7&amp;vtp=1"/>
          <p:cNvSpPr/>
          <p:nvPr/>
        </p:nvSpPr>
        <p:spPr>
          <a:xfrm>
            <a:off x="3762660" y="2901538"/>
            <a:ext cx="525463" cy="478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丙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QB_7_AS.23_1#d4920613f?vcp=1&amp;pid=23e7f5a78&amp;color=0,0,0&amp;vtp=1&amp;bbb=1&amp;hb=1"/>
              <p:cNvSpPr/>
              <p:nvPr/>
            </p:nvSpPr>
            <p:spPr>
              <a:xfrm>
                <a:off x="393192" y="3425793"/>
                <a:ext cx="11402568" cy="1037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根据实验原理以及操作可知，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表示一瓶矿泉水对结点的拉力，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应竖直向下，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故正确的是图丙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4" name="QB_7_AS.23_1#d4920613f?vcp=1&amp;pid=23e7f5a78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425793"/>
                <a:ext cx="11402568" cy="1037400"/>
              </a:xfrm>
              <a:prstGeom prst="rect">
                <a:avLst/>
              </a:prstGeom>
              <a:blipFill>
                <a:blip r:embed="rId3"/>
                <a:stretch>
                  <a:fillRect l="-1658" r="-1176" b="-170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&amp;si=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B_7_BD.24_1#6567b880c?vcp=1&amp;pid=23e7f5a78&amp;color=0,0,0&amp;vtp=1&amp;bt=1&amp;bbb=1&amp;hb=1"/>
              <p:cNvSpPr/>
              <p:nvPr/>
            </p:nvSpPr>
            <p:spPr>
              <a:xfrm>
                <a:off x="393192" y="946912"/>
                <a:ext cx="11402568" cy="1037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（3）该同学测得图甲中弹簧长度，图乙中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𝛼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𝛽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，他</a:t>
                </a: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______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填“能”或“不能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”）根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据上述结论求出一瓶矿泉水的质量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B_7_BD.24_1#6567b880c?vcp=1&amp;pid=23e7f5a78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46912"/>
                <a:ext cx="11402568" cy="1037400"/>
              </a:xfrm>
              <a:prstGeom prst="rect">
                <a:avLst/>
              </a:prstGeom>
              <a:blipFill>
                <a:blip r:embed="rId3"/>
                <a:stretch>
                  <a:fillRect l="-1658" b="-169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B_7_AN.25_1#6567b880c.blank?vcp=1&amp;pid=23e7f5a78&amp;color=0,0,0&amp;vpa=8&amp;vtp=1&amp;bbb=1"/>
          <p:cNvSpPr/>
          <p:nvPr/>
        </p:nvSpPr>
        <p:spPr>
          <a:xfrm>
            <a:off x="7652989" y="918972"/>
            <a:ext cx="830263" cy="497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不能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QB_7_AS.26_1#6567b880c?vcp=1&amp;pid=23e7f5a78&amp;color=0,0,0&amp;vtp=1&amp;bbb=1&amp;hb=1"/>
              <p:cNvSpPr/>
              <p:nvPr/>
            </p:nvSpPr>
            <p:spPr>
              <a:xfrm>
                <a:off x="393192" y="1992122"/>
                <a:ext cx="1140256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设弹簧的劲度系数为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,矿泉水的质量为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,根据图甲可知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,由于弹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簧原长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、弹簧劲度系数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未知，因此无法求出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;根据图乙，对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点受力分析，设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1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中弹力为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中弹力为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，受力如图所示，建立平面直角坐标系列方程求解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大小未知，因此无法求出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4" name="QB_7_AS.26_1#6567b880c?vcp=1&amp;pid=23e7f5a78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992122"/>
                <a:ext cx="11402568" cy="2155000"/>
              </a:xfrm>
              <a:prstGeom prst="rect">
                <a:avLst/>
              </a:prstGeom>
              <a:blipFill>
                <a:blip r:embed="rId4"/>
                <a:stretch>
                  <a:fillRect l="-1658" r="-1176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QB_7_AS.26_2#6567b880c?vcp=1&amp;pid=23e7f5a78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66944" y="4265422"/>
            <a:ext cx="1645920" cy="1682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&amp;si=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O_6_BD.27_1#748e14aa0?iti=3&amp;htil=4&amp;vcp=1&amp;pid=6d6b4cce0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478673" y="820769"/>
            <a:ext cx="2267712" cy="464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3" name="QO_6_BD.27_2#748e14aa0?iti=3&amp;htil=4&amp;vcp=1&amp;pid=6d6b4cce0&amp;color=0,0,0&amp;vtp=1&amp;bbb=1"/>
          <p:cNvSpPr/>
          <p:nvPr/>
        </p:nvSpPr>
        <p:spPr>
          <a:xfrm>
            <a:off x="9917998" y="5565616"/>
            <a:ext cx="1389062" cy="895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变式2-1图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QO_6_BD.27_3#748e14aa0?htil=4&amp;vcp=1&amp;pid=6d6b4cce0&amp;color=0,0,0&amp;vtp=1&amp;bt=1&amp;bbb=1&amp;hb=1"/>
              <p:cNvSpPr/>
              <p:nvPr/>
            </p:nvSpPr>
            <p:spPr>
              <a:xfrm>
                <a:off x="393192" y="775049"/>
                <a:ext cx="8997696" cy="3827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</a:t>
                </a:r>
                <a:r>
                  <a:rPr lang="en-US" altLang="zh-CN" sz="2400" b="1" i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2-1</a:t>
                </a:r>
                <a:r>
                  <a:rPr lang="en-US" altLang="zh-CN" sz="2400" b="1" i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某同学设计了如图甲所示的实验装置来验证力的平行四边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形定则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.已知两根直杆固定在同一竖直面内，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杆竖直，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杆倾斜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，一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条不可伸长的轻绳两端分别固定在杆上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𝑄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两点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，轻绳穿过光滑的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轻小动滑轮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，动滑轮下端连接物块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，在轻绳的左端连接力传感器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力传感器的重力忽略不计），重力加速度为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.实验步骤如下: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①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用天平测出物块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（含动滑轮）的质量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;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②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用刻度尺测出轻绳的长度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以及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𝑄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两点间的水平距离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𝐷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;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4" name="QO_6_BD.27_3#748e14aa0?htil=4&amp;vcp=1&amp;pid=6d6b4cce0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775049"/>
                <a:ext cx="8997696" cy="3827399"/>
              </a:xfrm>
              <a:prstGeom prst="rect">
                <a:avLst/>
              </a:prstGeom>
              <a:blipFill>
                <a:blip r:embed="rId4"/>
                <a:stretch>
                  <a:fillRect l="-2100" r="-1626" b="-493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QO_6_BD.27_4#748e14aa0?htil=4&amp;vcp=1&amp;pid=6d6b4cce0&amp;color=0,0,0&amp;vtp=1&amp;bbb=1"/>
              <p:cNvSpPr/>
              <p:nvPr/>
            </p:nvSpPr>
            <p:spPr>
              <a:xfrm>
                <a:off x="393192" y="4608988"/>
                <a:ext cx="8997696" cy="48412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③改变物块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的质量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，记录力传感器相应的示数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QO_6_BD.27_4#748e14aa0?htil=4&amp;vcp=1&amp;pid=6d6b4cce0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608988"/>
                <a:ext cx="8997696" cy="484124"/>
              </a:xfrm>
              <a:prstGeom prst="rect">
                <a:avLst/>
              </a:prstGeom>
              <a:blipFill>
                <a:blip r:embed="rId5"/>
                <a:stretch>
                  <a:fillRect b="-3924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&amp;si=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B_7_BD.28_1#cd4a84cc0?vcp=1&amp;pid=748e14aa0&amp;color=0,0,0&amp;vtp=1&amp;bt=1&amp;bbb=1"/>
              <p:cNvSpPr/>
              <p:nvPr/>
            </p:nvSpPr>
            <p:spPr>
              <a:xfrm>
                <a:off x="393192" y="504000"/>
                <a:ext cx="11402568" cy="131978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2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（1）要验证力的平行四边形定则，力传感器的示数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与物块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的质量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 err="1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应满足关系式</a:t>
                </a:r>
                <a:endParaRPr lang="en-US" altLang="zh-CN" sz="2400" b="0" i="0" dirty="0">
                  <a:solidFill>
                    <a:srgbClr val="000000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algn="l" latinLnBrk="1">
                  <a:lnSpc>
                    <a:spcPts val="7300"/>
                  </a:lnSpc>
                </a:pP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</a:t>
                </a:r>
                <a:r>
                  <a:rPr lang="en-US" altLang="zh-CN" sz="4250" b="1" i="0" u="sng" kern="0" spc="-99900">
                    <a:solidFill>
                      <a:srgbClr val="FF00FF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___________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用题中给出的物理量表示）.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" name="QB_7_BD.28_1#cd4a84cc0?vcp=1&amp;pid=748e14aa0&amp;color=0,0,0&amp;vtp=1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11402568" cy="1319784"/>
              </a:xfrm>
              <a:prstGeom prst="rect">
                <a:avLst/>
              </a:prstGeom>
              <a:blipFill>
                <a:blip r:embed="rId3"/>
                <a:stretch>
                  <a:fillRect l="-1658" b="-1296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QB_7_AN.29_1#cd4a84cc0.blank?vcp=1&amp;pid=748e14aa0&amp;color=0,0,0&amp;vpa=9&amp;vtp=1&amp;bbb=1&amp;rh=47.63"/>
              <p:cNvSpPr/>
              <p:nvPr/>
            </p:nvSpPr>
            <p:spPr>
              <a:xfrm>
                <a:off x="442404" y="1150809"/>
                <a:ext cx="1737233" cy="60490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8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𝒎𝒈𝑳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sz="24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𝑳</m:t>
                                </m:r>
                              </m:e>
                              <m:sup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24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𝑫</m:t>
                                </m:r>
                              </m:e>
                              <m:sup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𝟐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dirty="0"/>
              </a:p>
            </p:txBody>
          </p:sp>
        </mc:Choice>
        <mc:Fallback xmlns="">
          <p:sp>
            <p:nvSpPr>
              <p:cNvPr id="3" name="QB_7_AN.29_1#cd4a84cc0.blank?vcp=1&amp;pid=748e14aa0&amp;color=0,0,0&amp;vpa=9&amp;vtp=1&amp;bbb=1&amp;rh=47.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404" y="1150809"/>
                <a:ext cx="1737233" cy="604901"/>
              </a:xfrm>
              <a:prstGeom prst="rect">
                <a:avLst/>
              </a:prstGeom>
              <a:blipFill>
                <a:blip r:embed="rId4"/>
                <a:stretch>
                  <a:fillRect b="-303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QB_7_AS.30_1#cd4a84cc0?htil=5&amp;vcp=1&amp;pid=748e14aa0&amp;color=0,0,0&amp;tib=255,255,255&amp;vtp=1&amp;hs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628632" y="1055432"/>
            <a:ext cx="2139696" cy="1819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QB_7_AS.30_2#cd4a84cc0?htil=5&amp;vcp=1&amp;pid=748e14aa0&amp;color=0,0,0&amp;vtp=1&amp;bbb=1&amp;hb=1&amp;hs=1"/>
              <p:cNvSpPr/>
              <p:nvPr/>
            </p:nvSpPr>
            <p:spPr>
              <a:xfrm>
                <a:off x="393192" y="2126486"/>
                <a:ext cx="9125712" cy="219906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2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如图所示，设动滑轮处为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点，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𝑷𝑶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段绳的长度为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𝑸𝑶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段绳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的长度为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𝑷𝑶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𝑸𝑶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与竖直方向的夹角均为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，由几何关系可得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𝑫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𝑫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，由平衡条件</a:t>
                </a:r>
              </a:p>
              <a:p>
                <a:pPr latinLnBrk="1">
                  <a:lnSpc>
                    <a:spcPts val="4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可得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，联立解得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𝒎𝒈𝑳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sz="24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𝑳</m:t>
                                </m:r>
                              </m:e>
                              <m:sup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24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𝑫</m:t>
                                </m:r>
                              </m:e>
                              <m:sup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𝟐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QB_7_AS.30_2#cd4a84cc0?htil=5&amp;vcp=1&amp;pid=748e14aa0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126486"/>
                <a:ext cx="9125712" cy="2199069"/>
              </a:xfrm>
              <a:prstGeom prst="rect">
                <a:avLst/>
              </a:prstGeom>
              <a:blipFill>
                <a:blip r:embed="rId6"/>
                <a:stretch>
                  <a:fillRect l="-2071" r="-1002" b="-83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QB_7_BD.31_1#8c50f617e?vcp=1&amp;pid=748e14aa0&amp;color=0,0,0&amp;vtp=1&amp;bbb=1&amp;hb=1&amp;hs=1"/>
              <p:cNvSpPr/>
              <p:nvPr/>
            </p:nvSpPr>
            <p:spPr>
              <a:xfrm>
                <a:off x="393192" y="4337240"/>
                <a:ext cx="11402568" cy="100247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2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（2）若轻绳的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端不动，将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𝑄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端沿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杆稍微向上移动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，力传感器的示数</a:t>
                </a: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______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填“变大”“变小”或“不变”）.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6" name="QB_7_BD.31_1#8c50f617e?vcp=1&amp;pid=748e14aa0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337240"/>
                <a:ext cx="11402568" cy="1002475"/>
              </a:xfrm>
              <a:prstGeom prst="rect">
                <a:avLst/>
              </a:prstGeom>
              <a:blipFill>
                <a:blip r:embed="rId7"/>
                <a:stretch>
                  <a:fillRect l="-1658" t="-606" b="-1818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QB_7_AN.32_1#8c50f617e.blank?vcp=1&amp;pid=748e14aa0&amp;color=0,0,0&amp;vpa=10&amp;vtp=1&amp;bbb=1"/>
          <p:cNvSpPr/>
          <p:nvPr/>
        </p:nvSpPr>
        <p:spPr>
          <a:xfrm>
            <a:off x="9680099" y="4305871"/>
            <a:ext cx="830263" cy="478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变大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QB_7_AS.33_1#8c50f617e?vcp=1&amp;pid=748e14aa0&amp;color=0,0,0&amp;vtp=1&amp;bbb=1&amp;hb=1"/>
              <p:cNvSpPr/>
              <p:nvPr/>
            </p:nvSpPr>
            <p:spPr>
              <a:xfrm>
                <a:off x="393192" y="5340540"/>
                <a:ext cx="11402568" cy="100247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2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由（1）的分析可知，若轻绳的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𝑷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端不动，将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𝑸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端沿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杆稍微向上移动，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不变，</a:t>
                </a:r>
              </a:p>
              <a:p>
                <a:pPr latinLnBrk="1">
                  <a:lnSpc>
                    <a:spcPts val="41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𝑫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变大，力传感器的示数变大.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QB_7_AS.33_1#8c50f617e?vcp=1&amp;pid=748e14aa0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340540"/>
                <a:ext cx="11402568" cy="1002475"/>
              </a:xfrm>
              <a:prstGeom prst="rect">
                <a:avLst/>
              </a:prstGeom>
              <a:blipFill>
                <a:blip r:embed="rId8"/>
                <a:stretch>
                  <a:fillRect l="-1658" r="-1230" b="-1818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  <p:bldP spid="7" grpId="0" build="p" animBg="1"/>
      <p:bldP spid="8" grpId="0" build="p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&amp;si=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B_7_BD.34_1#7a3bdb16e?vcp=1&amp;pid=748e14aa0&amp;color=0,0,0&amp;vtp=1&amp;bt=1&amp;bbb=1&amp;hb=1"/>
              <p:cNvSpPr/>
              <p:nvPr/>
            </p:nvSpPr>
            <p:spPr>
              <a:xfrm>
                <a:off x="393192" y="2089023"/>
                <a:ext cx="11402568" cy="135255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（3）某同学改变物块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的质量，作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m:rPr>
                        <m:nor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图像，如图乙，已知图像的斜率为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𝑘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,但是他</a:t>
                </a:r>
              </a:p>
              <a:p>
                <a:pPr latinLnBrk="1">
                  <a:lnSpc>
                    <a:spcPts val="7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忘记了记录间距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𝐷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的大小，利用图乙和已知物理量求出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𝐷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</m:oMath>
                </a14:m>
                <a:r>
                  <a:rPr lang="en-US" altLang="zh-CN" sz="240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</a:t>
                </a:r>
                <a:r>
                  <a:rPr lang="en-US" altLang="zh-CN" sz="4150" b="1" i="0" u="sng" kern="0" spc="-99900">
                    <a:solidFill>
                      <a:srgbClr val="FF00FF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________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𝑘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已知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" name="QB_7_BD.34_1#7a3bdb16e?vcp=1&amp;pid=748e14aa0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89023"/>
                <a:ext cx="11402568" cy="1352550"/>
              </a:xfrm>
              <a:prstGeom prst="rect">
                <a:avLst/>
              </a:prstGeom>
              <a:blipFill>
                <a:blip r:embed="rId3"/>
                <a:stretch>
                  <a:fillRect l="-1658" r="-160" b="-1216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QB_7_AN.35_1#7a3bdb16e.blank?vcp=1&amp;pid=748e14aa0&amp;color=0,0,0&amp;vpa=11&amp;vtp=1&amp;bbb=1&amp;rh=48.50504"/>
              <p:cNvSpPr/>
              <p:nvPr/>
            </p:nvSpPr>
            <p:spPr>
              <a:xfrm>
                <a:off x="8166544" y="2753104"/>
                <a:ext cx="1364742" cy="61601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9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𝟒</m:t>
                            </m:r>
                            <m:sSup>
                              <m:sSupPr>
                                <m:ctrlPr>
                                  <a:rPr lang="en-US" altLang="zh-CN" sz="24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𝒌</m:t>
                                </m:r>
                              </m:e>
                              <m:sup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24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𝒈</m:t>
                                </m:r>
                              </m:e>
                              <m:sup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𝟐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𝒌</m:t>
                        </m:r>
                      </m:den>
                    </m:f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dirty="0"/>
              </a:p>
            </p:txBody>
          </p:sp>
        </mc:Choice>
        <mc:Fallback xmlns="">
          <p:sp>
            <p:nvSpPr>
              <p:cNvPr id="3" name="QB_7_AN.35_1#7a3bdb16e.blank?vcp=1&amp;pid=748e14aa0&amp;color=0,0,0&amp;vpa=11&amp;vtp=1&amp;bbb=1&amp;rh=48.5050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6544" y="2753104"/>
                <a:ext cx="1364742" cy="6160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QB_7_AS.36_1#7a3bdb16e?vcp=1&amp;pid=748e14aa0&amp;color=0,0,0&amp;vtp=1&amp;bbb=1&amp;hb=1"/>
              <p:cNvSpPr/>
              <p:nvPr/>
            </p:nvSpPr>
            <p:spPr>
              <a:xfrm>
                <a:off x="393192" y="3441319"/>
                <a:ext cx="11402568" cy="133197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53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由（1）可知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𝒎𝒈𝑳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sz="24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𝑳</m:t>
                                </m:r>
                              </m:e>
                              <m:sup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24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𝑫</m:t>
                                </m:r>
                              </m:e>
                              <m:sup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𝟐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m:rPr>
                        <m:nor/>
                      </m:rP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图像的斜率为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，则有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𝒈𝑳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sz="24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𝑳</m:t>
                                </m:r>
                              </m:e>
                              <m:sup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24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𝑫</m:t>
                                </m:r>
                              </m:e>
                              <m:sup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𝟐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</a:p>
              <a:p>
                <a:pPr latinLnBrk="1">
                  <a:lnSpc>
                    <a:spcPts val="53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𝑫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𝟒</m:t>
                            </m:r>
                            <m:sSup>
                              <m:sSupPr>
                                <m:ctrlPr>
                                  <a:rPr lang="en-US" altLang="zh-CN" sz="24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𝒌</m:t>
                                </m:r>
                              </m:e>
                              <m:sup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24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𝒈</m:t>
                                </m:r>
                              </m:e>
                              <m:sup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𝟐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𝒌</m:t>
                        </m:r>
                      </m:den>
                    </m:f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.]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4" name="QB_7_AS.36_1#7a3bdb16e?vcp=1&amp;pid=748e14aa0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441319"/>
                <a:ext cx="11402568" cy="1331976"/>
              </a:xfrm>
              <a:prstGeom prst="rect">
                <a:avLst/>
              </a:prstGeom>
              <a:blipFill>
                <a:blip r:embed="rId5"/>
                <a:stretch>
                  <a:fillRect l="-165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&amp;si=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1192</Words>
  <Application>Microsoft Office PowerPoint</Application>
  <PresentationFormat>宽屏</PresentationFormat>
  <Paragraphs>186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1" baseType="lpstr">
      <vt:lpstr>SimHei</vt:lpstr>
      <vt:lpstr>KaiTi</vt:lpstr>
      <vt:lpstr>SimSun</vt:lpstr>
      <vt:lpstr>微软雅黑</vt:lpstr>
      <vt:lpstr>Arial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3</cp:revision>
  <dcterms:created xsi:type="dcterms:W3CDTF">2026-05-25T08:05:47Z</dcterms:created>
  <dcterms:modified xsi:type="dcterms:W3CDTF">2026-05-25T08:34:17Z</dcterms:modified>
  <cp:category/>
  <cp:contentStatus/>
</cp:coreProperties>
</file>