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6"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611"/>
    <p:restoredTop sz="94610"/>
  </p:normalViewPr>
  <p:slideViewPr>
    <p:cSldViewPr snapToGrid="0" snapToObjects="1">
      <p:cViewPr varScale="1">
        <p:scale>
          <a:sx n="114" d="100"/>
          <a:sy n="114" d="100"/>
        </p:scale>
        <p:origin x="234" y="108"/>
      </p:cViewPr>
      <p:guideLst/>
    </p:cSldViewPr>
  </p:slideViewPr>
  <p:notesTextViewPr>
    <p:cViewPr>
      <p:scale>
        <a:sx n="1" d="1"/>
        <a:sy n="1" d="1"/>
      </p:scale>
      <p:origin x="0" y="0"/>
    </p:cViewPr>
  </p:notesTextViewPr>
  <p:sorterViewPr>
    <p:cViewPr>
      <p:scale>
        <a:sx n="160" d="100"/>
        <a:sy n="160" d="100"/>
      </p:scale>
      <p:origin x="0" y="-1546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1582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xin?subject=physics#pid=6a0d1e829b2d2ba91f04ee84#tid=6a13c063a54e5c3696ff3983#sourcefro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1261872" y="1078992"/>
            <a:ext cx="7196328" cy="1581912"/>
          </a:xfrm>
          <a:prstGeom prst="rect">
            <a:avLst/>
          </a:prstGeom>
          <a:noFill/>
          <a:ln/>
        </p:spPr>
        <p:txBody>
          <a:bodyPr wrap="square" lIns="0" tIns="0" rIns="0" bIns="0" rtlCol="0" anchor="ctr"/>
          <a:lstStyle/>
          <a:p>
            <a:pPr algn="ctr">
              <a:lnSpc>
                <a:spcPct val="100000"/>
              </a:lnSpc>
            </a:pPr>
            <a:r>
              <a:rPr lang="en-US" sz="8800" b="1" i="0" dirty="0">
                <a:solidFill>
                  <a:srgbClr val="000000"/>
                </a:solidFill>
                <a:latin typeface="Times New Roman" pitchFamily="34" charset="0"/>
                <a:ea typeface="微软雅黑" pitchFamily="34" charset="-122"/>
                <a:cs typeface="Times New Roman" pitchFamily="34" charset="-120"/>
              </a:rPr>
              <a:t>考点同步解读</a:t>
            </a:r>
            <a:endParaRPr lang="en-US" sz="8800" dirty="0"/>
          </a:p>
        </p:txBody>
      </p:sp>
      <p:sp>
        <p:nvSpPr>
          <p:cNvPr id="4" name="MasterShapeName"/>
          <p:cNvSpPr/>
          <p:nvPr/>
        </p:nvSpPr>
        <p:spPr>
          <a:xfrm>
            <a:off x="1581912" y="2770632"/>
            <a:ext cx="6839712" cy="502920"/>
          </a:xfrm>
          <a:prstGeom prst="rect">
            <a:avLst/>
          </a:prstGeom>
          <a:noFill/>
          <a:ln/>
        </p:spPr>
        <p:txBody>
          <a:bodyPr wrap="square" lIns="0" tIns="0" rIns="0" bIns="0" rtlCol="0" anchor="ctr"/>
          <a:lstStyle/>
          <a:p>
            <a:pPr algn="l">
              <a:lnSpc>
                <a:spcPct val="100000"/>
              </a:lnSpc>
            </a:pPr>
            <a:r>
              <a:rPr lang="en-US" sz="34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36576"/>
            <a:ext cx="1911096" cy="502920"/>
          </a:xfrm>
          <a:prstGeom prst="rect">
            <a:avLst/>
          </a:prstGeom>
          <a:noFill/>
          <a:ln/>
        </p:spPr>
        <p:txBody>
          <a:bodyPr wrap="square" lIns="0" tIns="0" rIns="0" bIns="0" rtlCol="0" anchor="ctr"/>
          <a:lstStyle/>
          <a:p>
            <a:pPr algn="l">
              <a:lnSpc>
                <a:spcPct val="100000"/>
              </a:lnSpc>
            </a:pPr>
            <a:r>
              <a:rPr lang="en-US" sz="2400" b="1" i="0" dirty="0">
                <a:solidFill>
                  <a:srgbClr val="FFFFFF"/>
                </a:solidFill>
                <a:latin typeface="Times New Roman" pitchFamily="34" charset="0"/>
                <a:ea typeface="微软雅黑" pitchFamily="34" charset="-122"/>
                <a:cs typeface="Times New Roman" pitchFamily="34" charset="-120"/>
              </a:rPr>
              <a:t>考点同步解读</a:t>
            </a:r>
            <a:endParaRPr lang="en-US" sz="2400" dirty="0"/>
          </a:p>
        </p:txBody>
      </p:sp>
      <p:sp>
        <p:nvSpPr>
          <p:cNvPr id="4" name="MasterShapeName"/>
          <p:cNvSpPr/>
          <p:nvPr/>
        </p:nvSpPr>
        <p:spPr>
          <a:xfrm>
            <a:off x="2340864" y="146304"/>
            <a:ext cx="3602736" cy="356616"/>
          </a:xfrm>
          <a:prstGeom prst="rect">
            <a:avLst/>
          </a:prstGeom>
          <a:noFill/>
          <a:ln/>
        </p:spPr>
        <p:txBody>
          <a:bodyPr wrap="square" lIns="0" tIns="0" rIns="0" bIns="0" rtlCol="0" anchor="ctr"/>
          <a:lstStyle/>
          <a:p>
            <a:pPr algn="l">
              <a:lnSpc>
                <a:spcPct val="100000"/>
              </a:lnSpc>
            </a:pPr>
            <a:r>
              <a:rPr lang="en-US" sz="16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pic>
        <p:nvPicPr>
          <p:cNvPr id="3" name="MasterShapeName?linknodeid=back_to_first_catalog" descr="preencoded.png">
            <a:hlinkClick r:id="rId3" action="ppaction://hlinksldjump"/>
          </p:cNvPr>
          <p:cNvPicPr>
            <a:picLocks noChangeAspect="1"/>
          </p:cNvPicPr>
          <p:nvPr/>
        </p:nvPicPr>
        <p:blipFill>
          <a:blip r:embed="rId4"/>
          <a:stretch>
            <a:fillRect/>
          </a:stretch>
        </p:blipFill>
        <p:spPr>
          <a:xfrm>
            <a:off x="11750040" y="6409944"/>
            <a:ext cx="448056" cy="448056"/>
          </a:xfrm>
          <a:prstGeom prst="rect">
            <a:avLst/>
          </a:prstGeom>
        </p:spPr>
      </p:pic>
      <p:sp>
        <p:nvSpPr>
          <p:cNvPr id="4"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5" name="MasterShapeName"/>
          <p:cNvSpPr/>
          <p:nvPr/>
        </p:nvSpPr>
        <p:spPr>
          <a:xfrm>
            <a:off x="4681728" y="54864"/>
            <a:ext cx="7196328" cy="356616"/>
          </a:xfrm>
          <a:prstGeom prst="rect">
            <a:avLst/>
          </a:prstGeom>
          <a:no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ck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df=e1d9dbc81">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pic>
        <p:nvPicPr>
          <p:cNvPr id="3" name="MasterShapeName?linknodeid=back_to_first_catalog" descr="preencoded.png">
            <a:hlinkClick r:id="rId3" action="ppaction://hlinksldjump"/>
          </p:cNvPr>
          <p:cNvPicPr>
            <a:picLocks noChangeAspect="1"/>
          </p:cNvPicPr>
          <p:nvPr/>
        </p:nvPicPr>
        <p:blipFill>
          <a:blip r:embed="rId4"/>
          <a:stretch>
            <a:fillRect/>
          </a:stretch>
        </p:blipFill>
        <p:spPr>
          <a:xfrm>
            <a:off x="11750040" y="6409944"/>
            <a:ext cx="448056" cy="448056"/>
          </a:xfrm>
          <a:prstGeom prst="rect">
            <a:avLst/>
          </a:prstGeom>
        </p:spPr>
      </p:pic>
      <p:sp>
        <p:nvSpPr>
          <p:cNvPr id="4"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5"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课时2 力的分解</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slide" Target="slide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10.png"/><Relationship Id="rId7" Type="http://schemas.openxmlformats.org/officeDocument/2006/relationships/image" Target="../media/image57.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8.xml"/><Relationship Id="rId4" Type="http://schemas.openxmlformats.org/officeDocument/2006/relationships/image" Target="../media/image63.png"/></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2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2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74.png"/></Relationships>
</file>

<file path=ppt/slides/_rels/slide2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7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amp;si=1">
    <p:spTree>
      <p:nvGrpSpPr>
        <p:cNvPr id="1" name=""/>
        <p:cNvGrpSpPr/>
        <p:nvPr/>
      </p:nvGrpSpPr>
      <p:grpSpPr>
        <a:xfrm>
          <a:off x="0" y="0"/>
          <a:ext cx="0" cy="0"/>
          <a:chOff x="0" y="0"/>
          <a:chExt cx="0" cy="0"/>
        </a:xfrm>
      </p:grpSpPr>
    </p:spTree>
  </p:cSld>
  <p:clrMapOvr>
    <a:masterClrMapping/>
  </p:clrMapOvr>
  <p:transition>
    <p:split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amp;si=2">
    <p:spTree>
      <p:nvGrpSpPr>
        <p:cNvPr id="1" name=""/>
        <p:cNvGrpSpPr/>
        <p:nvPr/>
      </p:nvGrpSpPr>
      <p:grpSpPr>
        <a:xfrm>
          <a:off x="0" y="0"/>
          <a:ext cx="0" cy="0"/>
          <a:chOff x="0" y="0"/>
          <a:chExt cx="0" cy="0"/>
        </a:xfrm>
      </p:grpSpPr>
      <p:sp>
        <p:nvSpPr>
          <p:cNvPr id="2" name="C_1#目录1:7275a4f91?lid=f2896a8cf&amp;cid=f2896a8cf&amp;vtp=1&amp;bt=1&amp;bbb=1">
            <a:hlinkClick r:id="rId3" action="ppaction://hlinksldjump"/>
          </p:cNvPr>
          <p:cNvSpPr/>
          <p:nvPr/>
        </p:nvSpPr>
        <p:spPr>
          <a:xfrm>
            <a:off x="5577840" y="2587752"/>
            <a:ext cx="6117336" cy="649224"/>
          </a:xfrm>
          <a:prstGeom prst="rect">
            <a:avLst/>
          </a:prstGeom>
          <a:noFill/>
          <a:ln/>
        </p:spPr>
        <p:txBody>
          <a:bodyPr wrap="none" lIns="0" tIns="0" rIns="0" bIns="0" rtlCol="0" anchor="ctr"/>
          <a:lstStyle/>
          <a:p>
            <a:pPr algn="l" latinLnBrk="1">
              <a:lnSpc>
                <a:spcPts val="4000"/>
              </a:lnSpc>
            </a:pPr>
            <a:r>
              <a:rPr lang="en-US" altLang="zh-CN" sz="3200" b="1" i="0" dirty="0">
                <a:solidFill>
                  <a:srgbClr val="000000"/>
                </a:solidFill>
                <a:latin typeface="微软雅黑" pitchFamily="34" charset="0"/>
                <a:ea typeface="微软雅黑" pitchFamily="34" charset="-122"/>
                <a:cs typeface="微软雅黑" pitchFamily="34" charset="-120"/>
              </a:rPr>
              <a:t>高考要求</a:t>
            </a:r>
            <a:r>
              <a:rPr lang="en-US" altLang="zh-CN" sz="3200" b="1" i="0" dirty="0">
                <a:solidFill>
                  <a:srgbClr val="000000"/>
                </a:solidFill>
                <a:latin typeface="SimSun" pitchFamily="34" charset="0"/>
                <a:ea typeface="SimSun" pitchFamily="34" charset="-122"/>
                <a:cs typeface="SimSun" pitchFamily="34" charset="-120"/>
              </a:rPr>
              <a:t> </a:t>
            </a:r>
            <a:r>
              <a:rPr lang="en-US" altLang="zh-CN" sz="3200" b="1" i="0" dirty="0">
                <a:solidFill>
                  <a:srgbClr val="000000"/>
                </a:solidFill>
                <a:latin typeface="微软雅黑" pitchFamily="34" charset="0"/>
                <a:ea typeface="微软雅黑" pitchFamily="34" charset="-122"/>
                <a:cs typeface="微软雅黑" pitchFamily="34" charset="-120"/>
              </a:rPr>
              <a:t>学业标准·考情分析</a:t>
            </a:r>
            <a:endParaRPr lang="en-US" altLang="zh-CN" sz="3200" dirty="0"/>
          </a:p>
        </p:txBody>
      </p:sp>
      <p:sp>
        <p:nvSpPr>
          <p:cNvPr id="3" name="C_1#目录1:7275a4f91?lid=094a4232a&amp;cid=094a4232a&amp;vtp=1&amp;bbb=1">
            <a:hlinkClick r:id="rId4" action="ppaction://hlinksldjump"/>
          </p:cNvPr>
          <p:cNvSpPr/>
          <p:nvPr/>
        </p:nvSpPr>
        <p:spPr>
          <a:xfrm>
            <a:off x="5577840" y="3419856"/>
            <a:ext cx="6117336" cy="649224"/>
          </a:xfrm>
          <a:prstGeom prst="rect">
            <a:avLst/>
          </a:prstGeom>
          <a:noFill/>
          <a:ln/>
        </p:spPr>
        <p:txBody>
          <a:bodyPr wrap="none" lIns="0" tIns="0" rIns="0" bIns="0" rtlCol="0" anchor="ctr"/>
          <a:lstStyle/>
          <a:p>
            <a:pPr algn="l" latinLnBrk="1">
              <a:lnSpc>
                <a:spcPts val="4000"/>
              </a:lnSpc>
            </a:pPr>
            <a:r>
              <a:rPr lang="en-US" altLang="zh-CN" sz="3200" b="1" i="0" dirty="0">
                <a:solidFill>
                  <a:srgbClr val="000000"/>
                </a:solidFill>
                <a:latin typeface="微软雅黑" pitchFamily="34" charset="0"/>
                <a:ea typeface="微软雅黑" pitchFamily="34" charset="-122"/>
                <a:cs typeface="微软雅黑" pitchFamily="34" charset="-120"/>
              </a:rPr>
              <a:t>考点分类</a:t>
            </a:r>
            <a:r>
              <a:rPr lang="en-US" altLang="zh-CN" sz="3200" b="1" i="0" dirty="0">
                <a:solidFill>
                  <a:srgbClr val="000000"/>
                </a:solidFill>
                <a:latin typeface="SimSun" pitchFamily="34" charset="0"/>
                <a:ea typeface="SimSun" pitchFamily="34" charset="-122"/>
                <a:cs typeface="SimSun" pitchFamily="34" charset="-120"/>
              </a:rPr>
              <a:t> </a:t>
            </a:r>
            <a:r>
              <a:rPr lang="en-US" altLang="zh-CN" sz="3200" b="1" i="0" dirty="0">
                <a:solidFill>
                  <a:srgbClr val="000000"/>
                </a:solidFill>
                <a:latin typeface="微软雅黑" pitchFamily="34" charset="0"/>
                <a:ea typeface="微软雅黑" pitchFamily="34" charset="-122"/>
                <a:cs typeface="微软雅黑" pitchFamily="34" charset="-120"/>
              </a:rPr>
              <a:t>考点透析·典例剖析</a:t>
            </a:r>
            <a:endParaRPr lang="en-US" altLang="zh-CN" sz="3200" dirty="0"/>
          </a:p>
        </p:txBody>
      </p:sp>
    </p:spTree>
  </p:cSld>
  <p:clrMapOvr>
    <a:masterClrMapping/>
  </p:clrMapOvr>
  <p:transition>
    <p:split dir="in"/>
  </p:transition>
</p:sld>
</file>

<file path=ppt/slides/slide3.xml><?xml version="1.0" encoding="utf-8"?>
<p:sld xmlns:a="http://schemas.openxmlformats.org/drawingml/2006/main" xmlns:r="http://schemas.openxmlformats.org/officeDocument/2006/relationships" xmlns:p="http://schemas.openxmlformats.org/presentationml/2006/main">
  <p:cSld name="Slide 3&amp;si=3">
    <p:spTree>
      <p:nvGrpSpPr>
        <p:cNvPr id="1" name=""/>
        <p:cNvGrpSpPr/>
        <p:nvPr/>
      </p:nvGrpSpPr>
      <p:grpSpPr>
        <a:xfrm>
          <a:off x="0" y="0"/>
          <a:ext cx="0" cy="0"/>
          <a:chOff x="0" y="0"/>
          <a:chExt cx="0" cy="0"/>
        </a:xfrm>
      </p:grpSpPr>
      <p:sp>
        <p:nvSpPr>
          <p:cNvPr id="2" name="C_3#e1d9dbc81.fixed?vcp=1&amp;pid=7275a4f91&amp;color=0,112,192&amp;vtp=1&amp;bbb=1"/>
          <p:cNvSpPr/>
          <p:nvPr/>
        </p:nvSpPr>
        <p:spPr>
          <a:xfrm>
            <a:off x="0" y="1801368"/>
            <a:ext cx="12188952" cy="795528"/>
          </a:xfrm>
          <a:prstGeom prst="rect">
            <a:avLst/>
          </a:prstGeom>
          <a:noFill/>
          <a:ln/>
        </p:spPr>
        <p:txBody>
          <a:bodyPr wrap="none" lIns="0" tIns="0" rIns="0" bIns="0" rtlCol="0" anchor="ctr"/>
          <a:lstStyle/>
          <a:p>
            <a:pPr algn="ctr" latinLnBrk="1">
              <a:lnSpc>
                <a:spcPts val="6000"/>
              </a:lnSpc>
            </a:pPr>
            <a:r>
              <a:rPr lang="en-US" altLang="zh-CN" sz="4800" b="1" i="0" dirty="0">
                <a:solidFill>
                  <a:srgbClr val="0070C0"/>
                </a:solidFill>
                <a:latin typeface="微软雅黑" pitchFamily="34" charset="0"/>
                <a:ea typeface="微软雅黑" pitchFamily="34" charset="-122"/>
                <a:cs typeface="微软雅黑" pitchFamily="34" charset="-120"/>
              </a:rPr>
              <a:t>第三章</a:t>
            </a:r>
            <a:r>
              <a:rPr lang="en-US" altLang="zh-CN" sz="4800" b="1" i="0" dirty="0">
                <a:solidFill>
                  <a:srgbClr val="0070C0"/>
                </a:solidFill>
                <a:latin typeface="SimSun" pitchFamily="34" charset="0"/>
                <a:ea typeface="SimSun" pitchFamily="34" charset="-122"/>
                <a:cs typeface="SimSun" pitchFamily="34" charset="-120"/>
              </a:rPr>
              <a:t> </a:t>
            </a:r>
            <a:r>
              <a:rPr lang="en-US" altLang="zh-CN" sz="4800" b="1" i="0" dirty="0">
                <a:solidFill>
                  <a:srgbClr val="0070C0"/>
                </a:solidFill>
                <a:latin typeface="微软雅黑" pitchFamily="34" charset="0"/>
                <a:ea typeface="微软雅黑" pitchFamily="34" charset="-122"/>
                <a:cs typeface="微软雅黑" pitchFamily="34" charset="-120"/>
              </a:rPr>
              <a:t>相互作用——力</a:t>
            </a:r>
            <a:endParaRPr lang="en-US" altLang="zh-CN" sz="4800" dirty="0"/>
          </a:p>
        </p:txBody>
      </p:sp>
      <p:sp>
        <p:nvSpPr>
          <p:cNvPr id="3" name="C_3#e1d9dbc81.fixed?vcp=1&amp;pid=7275a4f91&amp;color=0,0,0&amp;vtp=1&amp;bbb=1"/>
          <p:cNvSpPr/>
          <p:nvPr/>
        </p:nvSpPr>
        <p:spPr>
          <a:xfrm>
            <a:off x="265176" y="3063240"/>
            <a:ext cx="11521440" cy="1281176"/>
          </a:xfrm>
          <a:prstGeom prst="rect">
            <a:avLst/>
          </a:prstGeom>
          <a:noFill/>
          <a:ln/>
        </p:spPr>
        <p:txBody>
          <a:bodyPr wrap="none" lIns="0" tIns="0" rIns="0" bIns="0" rtlCol="0" anchor="t"/>
          <a:lstStyle/>
          <a:p>
            <a:pPr algn="ctr" latinLnBrk="1">
              <a:lnSpc>
                <a:spcPts val="5400"/>
              </a:lnSpc>
            </a:pPr>
            <a:r>
              <a:rPr lang="en-US" altLang="zh-CN" sz="4400" b="1" i="0" dirty="0">
                <a:solidFill>
                  <a:srgbClr val="000000"/>
                </a:solidFill>
                <a:latin typeface="微软雅黑" pitchFamily="34" charset="0"/>
                <a:ea typeface="微软雅黑" pitchFamily="34" charset="-122"/>
                <a:cs typeface="微软雅黑" pitchFamily="34" charset="-120"/>
              </a:rPr>
              <a:t>第12讲</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力的合成和分解</a:t>
            </a:r>
            <a:endParaRPr lang="en-US" altLang="zh-CN" sz="4400" dirty="0"/>
          </a:p>
        </p:txBody>
      </p:sp>
      <p:sp>
        <p:nvSpPr>
          <p:cNvPr id="4" name="C_3_BD#e1d9dbc81.fixed?vcp=1&amp;pid=7275a4f91&amp;color=0,0,0&amp;vtp=1&amp;bbb=1"/>
          <p:cNvSpPr/>
          <p:nvPr/>
        </p:nvSpPr>
        <p:spPr>
          <a:xfrm>
            <a:off x="265176" y="4142232"/>
            <a:ext cx="11521440" cy="1281176"/>
          </a:xfrm>
          <a:prstGeom prst="rect">
            <a:avLst/>
          </a:prstGeom>
          <a:noFill/>
          <a:ln/>
        </p:spPr>
        <p:txBody>
          <a:bodyPr wrap="none" lIns="0" tIns="0" rIns="0" bIns="0" rtlCol="0" anchor="t"/>
          <a:lstStyle/>
          <a:p>
            <a:pPr algn="ctr" latinLnBrk="1">
              <a:lnSpc>
                <a:spcPts val="5400"/>
              </a:lnSpc>
            </a:pPr>
            <a:r>
              <a:rPr lang="en-US" altLang="zh-CN" sz="4400" b="1" i="0" dirty="0">
                <a:solidFill>
                  <a:srgbClr val="000000"/>
                </a:solidFill>
                <a:latin typeface="微软雅黑" pitchFamily="34" charset="0"/>
                <a:ea typeface="微软雅黑" pitchFamily="34" charset="-122"/>
                <a:cs typeface="微软雅黑" pitchFamily="34" charset="-120"/>
              </a:rPr>
              <a:t>课时2</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力的分解</a:t>
            </a:r>
            <a:endParaRPr lang="en-US" altLang="zh-CN" sz="4400" dirty="0"/>
          </a:p>
        </p:txBody>
      </p:sp>
    </p:spTree>
  </p:cSld>
  <p:clrMapOvr>
    <a:masterClrMapping/>
  </p:clrMapOvr>
  <p:transition>
    <p:split dir="in"/>
  </p:transition>
</p:sld>
</file>

<file path=ppt/slides/slide4.xml><?xml version="1.0" encoding="utf-8"?>
<p:sld xmlns:a="http://schemas.openxmlformats.org/drawingml/2006/main" xmlns:r="http://schemas.openxmlformats.org/officeDocument/2006/relationships" xmlns:p="http://schemas.openxmlformats.org/presentationml/2006/main">
  <p:cSld name="Slide 4&amp;si=4">
    <p:spTree>
      <p:nvGrpSpPr>
        <p:cNvPr id="1" name=""/>
        <p:cNvGrpSpPr/>
        <p:nvPr/>
      </p:nvGrpSpPr>
      <p:grpSpPr>
        <a:xfrm>
          <a:off x="0" y="0"/>
          <a:ext cx="0" cy="0"/>
          <a:chOff x="0" y="0"/>
          <a:chExt cx="0" cy="0"/>
        </a:xfrm>
      </p:grpSpPr>
      <p:pic>
        <p:nvPicPr>
          <p:cNvPr id="2" name="C_4_BD#f2896a8cf?vcp=1&amp;pid=e1d9dbc81&amp;color=0,112,192&amp;tib=255,255,255&amp;vtp=1&amp;bt=1" descr="preencoded.png"/>
          <p:cNvPicPr>
            <a:picLocks noChangeAspect="1"/>
          </p:cNvPicPr>
          <p:nvPr/>
        </p:nvPicPr>
        <p:blipFill>
          <a:blip r:embed="rId3"/>
          <a:stretch>
            <a:fillRect/>
          </a:stretch>
        </p:blipFill>
        <p:spPr>
          <a:xfrm>
            <a:off x="393192" y="502920"/>
            <a:ext cx="4727448" cy="548640"/>
          </a:xfrm>
          <a:prstGeom prst="rect">
            <a:avLst/>
          </a:prstGeom>
        </p:spPr>
      </p:pic>
      <p:graphicFrame>
        <p:nvGraphicFramePr>
          <p:cNvPr id="5" name="P_5_BD#13193f00a?colgroup=13,5,17&amp;vcp=1&amp;pid=f2896a8cf&amp;color=0,0,0&amp;vtp=1&amp;bbb=1"/>
          <p:cNvGraphicFramePr>
            <a:graphicFrameLocks noGrp="1"/>
          </p:cNvGraphicFramePr>
          <p:nvPr>
            <p:extLst>
              <p:ext uri="{D42A27DB-BD31-4B8C-83A1-F6EECF244321}">
                <p14:modId xmlns:p14="http://schemas.microsoft.com/office/powerpoint/2010/main" val="294258742"/>
              </p:ext>
            </p:extLst>
          </p:nvPr>
        </p:nvGraphicFramePr>
        <p:xfrm>
          <a:off x="393192" y="1181100"/>
          <a:ext cx="11365992" cy="2331085"/>
        </p:xfrm>
        <a:graphic>
          <a:graphicData uri="http://schemas.openxmlformats.org/drawingml/2006/table">
            <a:tbl>
              <a:tblPr/>
              <a:tblGrid>
                <a:gridCol w="4251960">
                  <a:extLst>
                    <a:ext uri="{9D8B030D-6E8A-4147-A177-3AD203B41FA5}">
                      <a16:colId xmlns:a16="http://schemas.microsoft.com/office/drawing/2014/main" val="20000"/>
                    </a:ext>
                  </a:extLst>
                </a:gridCol>
                <a:gridCol w="1682496">
                  <a:extLst>
                    <a:ext uri="{9D8B030D-6E8A-4147-A177-3AD203B41FA5}">
                      <a16:colId xmlns:a16="http://schemas.microsoft.com/office/drawing/2014/main" val="20001"/>
                    </a:ext>
                  </a:extLst>
                </a:gridCol>
                <a:gridCol w="5431536">
                  <a:extLst>
                    <a:ext uri="{9D8B030D-6E8A-4147-A177-3AD203B41FA5}">
                      <a16:colId xmlns:a16="http://schemas.microsoft.com/office/drawing/2014/main" val="20002"/>
                    </a:ext>
                  </a:extLst>
                </a:gridCol>
              </a:tblGrid>
              <a:tr h="492633">
                <a:tc>
                  <a:txBody>
                    <a:bodyPr/>
                    <a:lstStyle/>
                    <a:p>
                      <a:pPr algn="ctr" latinLnBrk="1" hangingPunct="0">
                        <a:lnSpc>
                          <a:spcPts val="3600"/>
                        </a:lnSpc>
                      </a:pPr>
                      <a:r>
                        <a:rPr lang="en-US" altLang="zh-CN" sz="2400" b="0" i="0">
                          <a:solidFill>
                            <a:srgbClr val="000000"/>
                          </a:solidFill>
                          <a:latin typeface="Times New Roman" pitchFamily="34" charset="0"/>
                          <a:ea typeface="微软雅黑" pitchFamily="34" charset="-122"/>
                          <a:cs typeface="Times New Roman" pitchFamily="34" charset="-120"/>
                        </a:rPr>
                        <a:t>考点分析</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0" i="0">
                          <a:solidFill>
                            <a:srgbClr val="000000"/>
                          </a:solidFill>
                          <a:latin typeface="Times New Roman" pitchFamily="34" charset="0"/>
                          <a:ea typeface="微软雅黑" pitchFamily="34" charset="-122"/>
                          <a:cs typeface="Times New Roman" pitchFamily="34" charset="-120"/>
                        </a:rPr>
                        <a:t>核心素养</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0" i="0">
                          <a:solidFill>
                            <a:srgbClr val="000000"/>
                          </a:solidFill>
                          <a:latin typeface="Times New Roman" pitchFamily="34" charset="0"/>
                          <a:ea typeface="微软雅黑" pitchFamily="34" charset="-122"/>
                          <a:cs typeface="Times New Roman" pitchFamily="34" charset="-120"/>
                        </a:rPr>
                        <a:t>知识图解</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40740">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1.力的效果分解.（★）</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物理观念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a:txBody>
                    <a:bodyPr/>
                    <a:lstStyle/>
                    <a:p>
                      <a:pPr algn="ctr" latinLnBrk="1" hangingPunct="0">
                        <a:lnSpc>
                          <a:spcPts val="171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8856">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2.力的正交分解.（★★）</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物理观念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2"/>
                  </a:ext>
                </a:extLst>
              </a:tr>
              <a:tr h="498856">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3.力分解的多样性.（★）</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科学思维</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3"/>
                  </a:ext>
                </a:extLst>
              </a:tr>
            </a:tbl>
          </a:graphicData>
        </a:graphic>
      </p:graphicFrame>
      <p:pic>
        <p:nvPicPr>
          <p:cNvPr id="4" name="P_5_BD#13193f00a.table_image?tii=1&amp;vcp=1&amp;pid=f2896a8cf&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7236972" y="1689755"/>
            <a:ext cx="3383490" cy="1739245"/>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5.xml><?xml version="1.0" encoding="utf-8"?>
<p:sld xmlns:a="http://schemas.openxmlformats.org/drawingml/2006/main" xmlns:r="http://schemas.openxmlformats.org/officeDocument/2006/relationships" xmlns:p="http://schemas.openxmlformats.org/presentationml/2006/main">
  <p:cSld name="Slide 5&amp;si=5">
    <p:spTree>
      <p:nvGrpSpPr>
        <p:cNvPr id="1" name=""/>
        <p:cNvGrpSpPr/>
        <p:nvPr/>
      </p:nvGrpSpPr>
      <p:grpSpPr>
        <a:xfrm>
          <a:off x="0" y="0"/>
          <a:ext cx="0" cy="0"/>
          <a:chOff x="0" y="0"/>
          <a:chExt cx="0" cy="0"/>
        </a:xfrm>
      </p:grpSpPr>
      <p:pic>
        <p:nvPicPr>
          <p:cNvPr id="2" name="C_4_BD#094a4232a?vcp=1&amp;pid=e1d9dbc81&amp;color=0,112,192&amp;tib=255,255,255&amp;vtp=1&amp;bt=1" descr="preencoded.png"/>
          <p:cNvPicPr>
            <a:picLocks noChangeAspect="1"/>
          </p:cNvPicPr>
          <p:nvPr/>
        </p:nvPicPr>
        <p:blipFill>
          <a:blip r:embed="rId3"/>
          <a:stretch>
            <a:fillRect/>
          </a:stretch>
        </p:blipFill>
        <p:spPr>
          <a:xfrm>
            <a:off x="393192" y="502920"/>
            <a:ext cx="4727448" cy="548640"/>
          </a:xfrm>
          <a:prstGeom prst="rect">
            <a:avLst/>
          </a:prstGeom>
        </p:spPr>
      </p:pic>
      <p:pic>
        <p:nvPicPr>
          <p:cNvPr id="3" name="C_5#d24a032fb?vcp=1&amp;pid=094a4232a&amp;color=0,0,0&amp;tib=255,255,255&amp;vtp=1" descr="preencoded.png"/>
          <p:cNvPicPr>
            <a:picLocks noChangeAspect="1"/>
          </p:cNvPicPr>
          <p:nvPr/>
        </p:nvPicPr>
        <p:blipFill>
          <a:blip r:embed="rId4"/>
          <a:stretch>
            <a:fillRect/>
          </a:stretch>
        </p:blipFill>
        <p:spPr>
          <a:xfrm>
            <a:off x="411480" y="1181100"/>
            <a:ext cx="11320272" cy="457200"/>
          </a:xfrm>
          <a:prstGeom prst="rect">
            <a:avLst/>
          </a:prstGeom>
        </p:spPr>
      </p:pic>
      <p:sp>
        <p:nvSpPr>
          <p:cNvPr id="4" name="C_5_BD#d24a032fb?vcp=1&amp;pid=094a4232a&amp;color=255,255,255&amp;vtp=1"/>
          <p:cNvSpPr/>
          <p:nvPr/>
        </p:nvSpPr>
        <p:spPr>
          <a:xfrm>
            <a:off x="1225296" y="118110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1</a:t>
            </a:r>
            <a:endParaRPr lang="en-US" altLang="zh-CN" sz="2800" dirty="0"/>
          </a:p>
        </p:txBody>
      </p:sp>
      <p:sp>
        <p:nvSpPr>
          <p:cNvPr id="5" name="C_5_BD#d24a032fb?vcp=1&amp;pid=094a4232a&amp;color=0,0,0&amp;vtp=1&amp;bbb=1"/>
          <p:cNvSpPr/>
          <p:nvPr/>
        </p:nvSpPr>
        <p:spPr>
          <a:xfrm>
            <a:off x="1837944" y="118110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力的效果分解</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回归教材</a:t>
            </a:r>
            <a:endParaRPr lang="en-US" altLang="zh-CN" sz="2600" dirty="0"/>
          </a:p>
        </p:txBody>
      </p:sp>
      <p:pic>
        <p:nvPicPr>
          <p:cNvPr id="6" name="P_6_BD#4e780e084?htil=1&amp;vcp=1&amp;pid=d24a032fb&amp;color=0,0,0&amp;tib=255,255,255&amp;vtp=1&amp;hs=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8798174" y="1832864"/>
            <a:ext cx="2898648" cy="1444752"/>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7" name="P_6_BD#4e780e084?htil=1&amp;vcp=1&amp;pid=d24a032fb&amp;color=0,0,0&amp;vtp=1&amp;bbb=1&amp;hb=1&amp;hs=1"/>
          <p:cNvSpPr/>
          <p:nvPr/>
        </p:nvSpPr>
        <p:spPr>
          <a:xfrm>
            <a:off x="393192" y="1778000"/>
            <a:ext cx="8366760" cy="2155000"/>
          </a:xfrm>
          <a:prstGeom prst="rect">
            <a:avLst/>
          </a:prstGeom>
          <a:noFill/>
          <a:ln/>
        </p:spPr>
        <p:txBody>
          <a:bodyPr wrap="none" lIns="0" tIns="0" rIns="0" bIns="0" rtlCol="0" anchor="t"/>
          <a:lstStyle/>
          <a:p>
            <a:pPr algn="ctr"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.力的分解原则</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1）一个力分解为两个力,从理论上讲有无数组解</a:t>
            </a:r>
            <a:r>
              <a:rPr lang="en-US" altLang="zh-CN" sz="2400" b="0" i="0">
                <a:solidFill>
                  <a:srgbClr val="000000"/>
                </a:solidFill>
                <a:latin typeface="Times New Roman" pitchFamily="34" charset="0"/>
                <a:ea typeface="微软雅黑" pitchFamily="34" charset="-122"/>
                <a:cs typeface="Times New Roman" pitchFamily="34" charset="-120"/>
              </a:rPr>
              <a:t>.因为同</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一条对角线可以构成的平行四边形有无穷多个</a:t>
            </a:r>
            <a:r>
              <a:rPr lang="en-US" altLang="zh-CN" sz="2400" b="0" i="0" dirty="0">
                <a:solidFill>
                  <a:srgbClr val="000000"/>
                </a:solidFill>
                <a:latin typeface="Times New Roman" pitchFamily="34" charset="0"/>
                <a:ea typeface="微软雅黑" pitchFamily="34" charset="-122"/>
                <a:cs typeface="Times New Roman" pitchFamily="34" charset="-120"/>
              </a:rPr>
              <a:t>（如图所示）.</a:t>
            </a:r>
            <a:endParaRPr lang="en-US" altLang="zh-CN" sz="2400" dirty="0"/>
          </a:p>
        </p:txBody>
      </p:sp>
      <mc:AlternateContent xmlns:mc="http://schemas.openxmlformats.org/markup-compatibility/2006" xmlns:a14="http://schemas.microsoft.com/office/drawing/2010/main">
        <mc:Choice Requires="a14">
          <p:sp>
            <p:nvSpPr>
              <p:cNvPr id="8" name="P_6_BD#4e780e084?vcp=1&amp;pid=d24a032fb&amp;color=0,0,0&amp;vtp=1&amp;bbb=1&amp;hs=1"/>
              <p:cNvSpPr/>
              <p:nvPr/>
            </p:nvSpPr>
            <p:spPr>
              <a:xfrm>
                <a:off x="393192" y="3913950"/>
                <a:ext cx="11402568"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可以在不同方向上分解.</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spc="-50">
                    <a:solidFill>
                      <a:srgbClr val="000000"/>
                    </a:solidFill>
                    <a:latin typeface="Times New Roman" pitchFamily="34" charset="0"/>
                    <a:ea typeface="微软雅黑" pitchFamily="34" charset="-122"/>
                    <a:cs typeface="Times New Roman" pitchFamily="34" charset="-120"/>
                  </a:rPr>
                  <a:t>（</a:t>
                </a:r>
                <a:r>
                  <a:rPr lang="en-US" altLang="zh-CN" sz="2400" b="0" i="0" spc="-50" dirty="0">
                    <a:solidFill>
                      <a:srgbClr val="000000"/>
                    </a:solidFill>
                    <a:latin typeface="Times New Roman" pitchFamily="34" charset="0"/>
                    <a:ea typeface="微软雅黑" pitchFamily="34" charset="-122"/>
                    <a:cs typeface="Times New Roman" pitchFamily="34" charset="-120"/>
                  </a:rPr>
                  <a:t>3）对一个确定的物体所受到的力进行分解时,应根据实际效果进行有意义的分解.</a:t>
                </a:r>
                <a:endParaRPr lang="en-US" altLang="zh-CN" sz="2400" spc="-50" dirty="0"/>
              </a:p>
            </p:txBody>
          </p:sp>
        </mc:Choice>
        <mc:Fallback xmlns="">
          <p:sp>
            <p:nvSpPr>
              <p:cNvPr id="8" name="P_6_BD#4e780e084?vcp=1&amp;pid=d24a032fb&amp;color=0,0,0&amp;vtp=1&amp;bbb=1&amp;hs=1"/>
              <p:cNvSpPr>
                <a:spLocks noRot="1" noChangeAspect="1" noMove="1" noResize="1" noEditPoints="1" noAdjustHandles="1" noChangeArrowheads="1" noChangeShapeType="1" noTextEdit="1"/>
              </p:cNvSpPr>
              <p:nvPr/>
            </p:nvSpPr>
            <p:spPr>
              <a:xfrm>
                <a:off x="393192" y="3913950"/>
                <a:ext cx="11402568" cy="1033399"/>
              </a:xfrm>
              <a:prstGeom prst="rect">
                <a:avLst/>
              </a:prstGeom>
              <a:blipFill>
                <a:blip r:embed="rId6"/>
                <a:stretch>
                  <a:fillRect r="-1230" b="-17647"/>
                </a:stretch>
              </a:blipFill>
              <a:ln/>
            </p:spPr>
            <p:txBody>
              <a:bodyPr/>
              <a:lstStyle/>
              <a:p>
                <a:r>
                  <a:rPr lang="zh-CN" altLang="en-US">
                    <a:noFill/>
                  </a:rPr>
                  <a:t> </a:t>
                </a:r>
              </a:p>
            </p:txBody>
          </p:sp>
        </mc:Fallback>
      </mc:AlternateContent>
    </p:spTree>
  </p:cSld>
  <p:clrMapOvr>
    <a:masterClrMapping/>
  </p:clrMapOvr>
  <p:transition>
    <p:split dir="in"/>
  </p:transition>
</p:sld>
</file>

<file path=ppt/slides/slide6.xml><?xml version="1.0" encoding="utf-8"?>
<p:sld xmlns:a="http://schemas.openxmlformats.org/drawingml/2006/main" xmlns:r="http://schemas.openxmlformats.org/officeDocument/2006/relationships" xmlns:p="http://schemas.openxmlformats.org/presentationml/2006/main">
  <p:cSld name="Slide 6&amp;si=6">
    <p:spTree>
      <p:nvGrpSpPr>
        <p:cNvPr id="1" name=""/>
        <p:cNvGrpSpPr/>
        <p:nvPr/>
      </p:nvGrpSpPr>
      <p:grpSpPr>
        <a:xfrm>
          <a:off x="0" y="0"/>
          <a:ext cx="0" cy="0"/>
          <a:chOff x="0" y="0"/>
          <a:chExt cx="0" cy="0"/>
        </a:xfrm>
      </p:grpSpPr>
      <p:sp>
        <p:nvSpPr>
          <p:cNvPr id="2" name="P_6_BD#4e780e084?vcp=1&amp;pid=d24a032fb&amp;color=0,0,0&amp;vtp=1&amp;bt=1&amp;bbb=1"/>
          <p:cNvSpPr/>
          <p:nvPr/>
        </p:nvSpPr>
        <p:spPr>
          <a:xfrm>
            <a:off x="393192" y="2371852"/>
            <a:ext cx="11402568" cy="484124"/>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2.力的效果分解法思路</a:t>
            </a:r>
            <a:endParaRPr lang="en-US" altLang="zh-CN" sz="2400" dirty="0"/>
          </a:p>
        </p:txBody>
      </p:sp>
      <p:pic>
        <p:nvPicPr>
          <p:cNvPr id="3" name="P_6_BD#4e780e084?vcp=1&amp;pid=d24a032fb&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2734056" y="2984627"/>
            <a:ext cx="6729984" cy="1499616"/>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7.xml><?xml version="1.0" encoding="utf-8"?>
<p:sld xmlns:a="http://schemas.openxmlformats.org/drawingml/2006/main" xmlns:r="http://schemas.openxmlformats.org/officeDocument/2006/relationships" xmlns:p="http://schemas.openxmlformats.org/presentationml/2006/main">
  <p:cSld name="Slide 7&amp;si=7">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QO_6_BD.1_1#d5665c735?vcp=1&amp;pid=d24a032fb&amp;color=0,0,0&amp;vtp=1&amp;bt=1&amp;bbb=1&amp;hb=1"/>
              <p:cNvSpPr/>
              <p:nvPr/>
            </p:nvSpPr>
            <p:spPr>
              <a:xfrm>
                <a:off x="393192" y="1079500"/>
                <a:ext cx="11402568" cy="2155000"/>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考题1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刀、斧、凿、刨等切割工具的光滑刃部叫作劈，劈的纵截面是一个三角形</a:t>
                </a:r>
                <a:r>
                  <a:rPr lang="en-US" altLang="zh-CN" sz="2400" b="0" i="0">
                    <a:solidFill>
                      <a:srgbClr val="000000"/>
                    </a:solidFill>
                    <a:latin typeface="Times New Roman" pitchFamily="34" charset="0"/>
                    <a:ea typeface="微软雅黑" pitchFamily="34" charset="-122"/>
                    <a:cs typeface="Times New Roman" pitchFamily="34" charset="-120"/>
                  </a:rPr>
                  <a:t>，如</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图所示</a:t>
                </a:r>
                <a:r>
                  <a:rPr lang="en-US" altLang="zh-CN" sz="2400" b="0" i="0" dirty="0">
                    <a:solidFill>
                      <a:srgbClr val="000000"/>
                    </a:solidFill>
                    <a:latin typeface="Times New Roman" pitchFamily="34" charset="0"/>
                    <a:ea typeface="微软雅黑" pitchFamily="34" charset="-122"/>
                    <a:cs typeface="Times New Roman" pitchFamily="34" charset="-120"/>
                  </a:rPr>
                  <a:t>.使用劈</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𝐴𝐵𝐶</m:t>
                    </m:r>
                  </m:oMath>
                </a14:m>
                <a:r>
                  <a:rPr lang="en-US" altLang="zh-CN" sz="2400" b="0" i="0" dirty="0">
                    <a:solidFill>
                      <a:srgbClr val="000000"/>
                    </a:solidFill>
                    <a:latin typeface="Times New Roman" pitchFamily="34" charset="0"/>
                    <a:ea typeface="微软雅黑" pitchFamily="34" charset="-122"/>
                    <a:cs typeface="Times New Roman" pitchFamily="34" charset="-120"/>
                  </a:rPr>
                  <a:t>时，在劈背上中点</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𝐷</m:t>
                    </m:r>
                  </m:oMath>
                </a14:m>
                <a:r>
                  <a:rPr lang="en-US" altLang="zh-CN" sz="2400" b="0" i="0" dirty="0">
                    <a:solidFill>
                      <a:srgbClr val="000000"/>
                    </a:solidFill>
                    <a:latin typeface="Times New Roman" pitchFamily="34" charset="0"/>
                    <a:ea typeface="微软雅黑" pitchFamily="34" charset="-122"/>
                    <a:cs typeface="Times New Roman" pitchFamily="34" charset="-120"/>
                  </a:rPr>
                  <a:t>处施加力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，这个力产生两个效果</a:t>
                </a:r>
                <a:r>
                  <a:rPr lang="en-US" altLang="zh-CN" sz="2400" b="0" i="0">
                    <a:solidFill>
                      <a:srgbClr val="000000"/>
                    </a:solidFill>
                    <a:latin typeface="Times New Roman" pitchFamily="34" charset="0"/>
                    <a:ea typeface="微软雅黑" pitchFamily="34" charset="-122"/>
                    <a:cs typeface="Times New Roman" pitchFamily="34" charset="-120"/>
                  </a:rPr>
                  <a:t>，就是使劈</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的两个侧面推压物体</a:t>
                </a:r>
                <a:r>
                  <a:rPr lang="en-US" altLang="zh-CN" sz="2400" b="0" i="0" dirty="0">
                    <a:solidFill>
                      <a:srgbClr val="000000"/>
                    </a:solidFill>
                    <a:latin typeface="Times New Roman" pitchFamily="34" charset="0"/>
                    <a:ea typeface="微软雅黑" pitchFamily="34" charset="-122"/>
                    <a:cs typeface="Times New Roman" pitchFamily="34" charset="-120"/>
                  </a:rPr>
                  <a:t>，把物体劈开.设劈的纵截面是一个等腰三角形，劈背的宽度是</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𝑑</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劈的长度是</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𝑙</m:t>
                    </m:r>
                  </m:oMath>
                </a14:m>
                <a:r>
                  <a:rPr lang="en-US" altLang="zh-CN" sz="2400" b="0" i="0" dirty="0">
                    <a:solidFill>
                      <a:srgbClr val="000000"/>
                    </a:solidFill>
                    <a:latin typeface="Times New Roman" pitchFamily="34" charset="0"/>
                    <a:ea typeface="微软雅黑" pitchFamily="34" charset="-122"/>
                    <a:cs typeface="Times New Roman" pitchFamily="34" charset="-120"/>
                  </a:rPr>
                  <a:t>,劈本身的重力远小于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，求：</a:t>
                </a:r>
                <a:endParaRPr lang="en-US" altLang="zh-CN" sz="2400" dirty="0"/>
              </a:p>
            </p:txBody>
          </p:sp>
        </mc:Choice>
        <mc:Fallback xmlns="">
          <p:sp>
            <p:nvSpPr>
              <p:cNvPr id="2" name="QO_6_BD.1_1#d5665c735?vcp=1&amp;pid=d24a032fb&amp;color=0,0,0&amp;vtp=1&amp;bt=1&amp;bbb=1&amp;hb=1"/>
              <p:cNvSpPr>
                <a:spLocks noRot="1" noChangeAspect="1" noMove="1" noResize="1" noEditPoints="1" noAdjustHandles="1" noChangeArrowheads="1" noChangeShapeType="1" noTextEdit="1"/>
              </p:cNvSpPr>
              <p:nvPr/>
            </p:nvSpPr>
            <p:spPr>
              <a:xfrm>
                <a:off x="393192" y="1079500"/>
                <a:ext cx="11402568" cy="2155000"/>
              </a:xfrm>
              <a:prstGeom prst="rect">
                <a:avLst/>
              </a:prstGeom>
              <a:blipFill>
                <a:blip r:embed="rId3"/>
                <a:stretch>
                  <a:fillRect l="-1658" r="-2834" b="-8475"/>
                </a:stretch>
              </a:blipFill>
              <a:ln/>
            </p:spPr>
            <p:txBody>
              <a:bodyPr/>
              <a:lstStyle/>
              <a:p>
                <a:r>
                  <a:rPr lang="zh-CN" altLang="en-US">
                    <a:noFill/>
                  </a:rPr>
                  <a:t> </a:t>
                </a:r>
              </a:p>
            </p:txBody>
          </p:sp>
        </mc:Fallback>
      </mc:AlternateContent>
      <p:pic>
        <p:nvPicPr>
          <p:cNvPr id="3" name="QO_6_BD.1_2#d5665c735?vcp=1&amp;pid=d24a032fb&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4736592" y="3346196"/>
            <a:ext cx="2706624" cy="2432304"/>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8.xml><?xml version="1.0" encoding="utf-8"?>
<p:sld xmlns:a="http://schemas.openxmlformats.org/drawingml/2006/main" xmlns:r="http://schemas.openxmlformats.org/officeDocument/2006/relationships" xmlns:p="http://schemas.openxmlformats.org/presentationml/2006/main">
  <p:cSld name="Slide 8&amp;si=8">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QO_7_BD.2_1#858a98ad7?vcp=1&amp;pid=d5665c735&amp;color=0,0,0&amp;vtp=1&amp;bt=1&amp;bbb=1"/>
              <p:cNvSpPr/>
              <p:nvPr/>
            </p:nvSpPr>
            <p:spPr>
              <a:xfrm>
                <a:off x="393192" y="613537"/>
                <a:ext cx="11402568" cy="488125"/>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（1）</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m:rPr>
                            <m:sty m:val="p"/>
                          </m:rPr>
                          <a:rPr lang="en-US" altLang="zh-CN" sz="2400" b="0" i="0">
                            <a:solidFill>
                              <a:srgbClr val="000000"/>
                            </a:solidFill>
                            <a:latin typeface="Cambria Math" pitchFamily="34" charset="0"/>
                            <a:ea typeface="Cambria Math" pitchFamily="34" charset="-122"/>
                            <a:cs typeface="Cambria Math" pitchFamily="34" charset="-120"/>
                          </a:rPr>
                          <m:t>N</m:t>
                        </m:r>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m:rPr>
                            <m:sty m:val="p"/>
                          </m:rPr>
                          <a:rPr lang="en-US" altLang="zh-CN" sz="2400" b="0" i="0">
                            <a:solidFill>
                              <a:srgbClr val="000000"/>
                            </a:solidFill>
                            <a:latin typeface="Cambria Math" pitchFamily="34" charset="0"/>
                            <a:ea typeface="Cambria Math" pitchFamily="34" charset="-122"/>
                            <a:cs typeface="Cambria Math" pitchFamily="34" charset="-120"/>
                          </a:rPr>
                          <m:t>N</m:t>
                        </m:r>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的值.</a:t>
                </a:r>
                <a:endParaRPr lang="en-US" altLang="zh-CN" sz="2400" dirty="0"/>
              </a:p>
            </p:txBody>
          </p:sp>
        </mc:Choice>
        <mc:Fallback xmlns="">
          <p:sp>
            <p:nvSpPr>
              <p:cNvPr id="2" name="QO_7_BD.2_1#858a98ad7?vcp=1&amp;pid=d5665c735&amp;color=0,0,0&amp;vtp=1&amp;bt=1&amp;bbb=1"/>
              <p:cNvSpPr>
                <a:spLocks noRot="1" noChangeAspect="1" noMove="1" noResize="1" noEditPoints="1" noAdjustHandles="1" noChangeArrowheads="1" noChangeShapeType="1" noTextEdit="1"/>
              </p:cNvSpPr>
              <p:nvPr/>
            </p:nvSpPr>
            <p:spPr>
              <a:xfrm>
                <a:off x="393192" y="613537"/>
                <a:ext cx="11402568" cy="488125"/>
              </a:xfrm>
              <a:prstGeom prst="rect">
                <a:avLst/>
              </a:prstGeom>
              <a:blipFill>
                <a:blip r:embed="rId3"/>
                <a:stretch>
                  <a:fillRect l="-1658" b="-36250"/>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QO_7_AS.3_1#858a98ad7?vcp=1&amp;pid=d5665c735&amp;color=0,0,0&amp;vtp=1&amp;bbb=1&amp;hb=1"/>
              <p:cNvSpPr/>
              <p:nvPr/>
            </p:nvSpPr>
            <p:spPr>
              <a:xfrm>
                <a:off x="393192" y="1113028"/>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①确定</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的分力方向</a:t>
                </a:r>
                <a:endParaRPr lang="en-US" altLang="zh-CN" sz="2400" dirty="0"/>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向下的力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产生的两个作用效果是分别向两个侧面挤压物体,沿这两个方向将</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分解为</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垂直侧面的两个分力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和</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3" name="QO_7_AS.3_1#858a98ad7?vcp=1&amp;pid=d5665c735&amp;color=0,0,0&amp;vtp=1&amp;bbb=1&amp;hb=1"/>
              <p:cNvSpPr>
                <a:spLocks noRot="1" noChangeAspect="1" noMove="1" noResize="1" noEditPoints="1" noAdjustHandles="1" noChangeArrowheads="1" noChangeShapeType="1" noTextEdit="1"/>
              </p:cNvSpPr>
              <p:nvPr/>
            </p:nvSpPr>
            <p:spPr>
              <a:xfrm>
                <a:off x="393192" y="1113028"/>
                <a:ext cx="11402568" cy="1596200"/>
              </a:xfrm>
              <a:prstGeom prst="rect">
                <a:avLst/>
              </a:prstGeom>
              <a:blipFill>
                <a:blip r:embed="rId4"/>
                <a:stretch>
                  <a:fillRect l="-1658" b="-11494"/>
                </a:stretch>
              </a:blipFill>
              <a:ln/>
            </p:spPr>
            <p:txBody>
              <a:bodyPr/>
              <a:lstStyle/>
              <a:p>
                <a:r>
                  <a:rPr lang="zh-CN" altLang="en-US">
                    <a:noFill/>
                  </a:rPr>
                  <a:t> </a:t>
                </a:r>
              </a:p>
            </p:txBody>
          </p:sp>
        </mc:Fallback>
      </mc:AlternateContent>
      <p:pic>
        <p:nvPicPr>
          <p:cNvPr id="4" name="QO_7_AS.3_2#858a98ad7?htil=2&amp;vcp=1&amp;pid=d5665c735&amp;color=0,0,0&amp;tib=255,255,255&amp;vtp=1&amp;hs=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8996263" y="2746248"/>
            <a:ext cx="2670048" cy="2432304"/>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xmlns:a14="http://schemas.microsoft.com/office/drawing/2010/main">
        <mc:Choice Requires="a14">
          <p:sp>
            <p:nvSpPr>
              <p:cNvPr id="5" name="QO_7_AS.3_3#858a98ad7?htil=2&amp;vcp=1&amp;pid=d5665c735&amp;color=0,0,0&amp;vtp=1&amp;bbb=1&amp;hb=1"/>
              <p:cNvSpPr/>
              <p:nvPr/>
            </p:nvSpPr>
            <p:spPr>
              <a:xfrm>
                <a:off x="393192" y="2700528"/>
                <a:ext cx="8595360" cy="1596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②作平行四边形</a:t>
                </a:r>
                <a:endParaRPr lang="en-US" altLang="zh-CN" sz="2400" dirty="0"/>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以</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为对角线,两个分力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和</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为邻边画出平行四边形</a:t>
                </a:r>
                <a:r>
                  <a:rPr lang="en-US" altLang="zh-CN" sz="2400" b="1" i="0">
                    <a:solidFill>
                      <a:srgbClr val="FF0000"/>
                    </a:solidFill>
                    <a:latin typeface="Times New Roman" pitchFamily="34" charset="0"/>
                    <a:ea typeface="微软雅黑" pitchFamily="34" charset="-122"/>
                    <a:cs typeface="Times New Roman" pitchFamily="34" charset="-120"/>
                  </a:rPr>
                  <a:t>,如图所</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示</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5" name="QO_7_AS.3_3#858a98ad7?htil=2&amp;vcp=1&amp;pid=d5665c735&amp;color=0,0,0&amp;vtp=1&amp;bbb=1&amp;hb=1"/>
              <p:cNvSpPr>
                <a:spLocks noRot="1" noChangeAspect="1" noMove="1" noResize="1" noEditPoints="1" noAdjustHandles="1" noChangeArrowheads="1" noChangeShapeType="1" noTextEdit="1"/>
              </p:cNvSpPr>
              <p:nvPr/>
            </p:nvSpPr>
            <p:spPr>
              <a:xfrm>
                <a:off x="393192" y="2700528"/>
                <a:ext cx="8595360" cy="1596200"/>
              </a:xfrm>
              <a:prstGeom prst="rect">
                <a:avLst/>
              </a:prstGeom>
              <a:blipFill>
                <a:blip r:embed="rId6"/>
                <a:stretch>
                  <a:fillRect l="-2199" b="-11069"/>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QO_7_AS.3_4#858a98ad7?htil=2&amp;vcp=1&amp;pid=d5665c735&amp;color=0,0,0&amp;vtp=1&amp;bbb=1&amp;hb=1"/>
              <p:cNvSpPr/>
              <p:nvPr/>
            </p:nvSpPr>
            <p:spPr>
              <a:xfrm>
                <a:off x="393192" y="4346638"/>
                <a:ext cx="8595360" cy="18796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③计算分力</a:t>
                </a:r>
                <a:endParaRPr lang="en-US" altLang="zh-CN" sz="2400" dirty="0"/>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由对称性可知</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，根据力三角形与几何三角形相似可得</a:t>
                </a:r>
              </a:p>
              <a:p>
                <a:pPr latinLnBrk="1">
                  <a:lnSpc>
                    <a:spcPts val="6000"/>
                  </a:lnSpc>
                </a:pPr>
                <a14:m>
                  <m:oMath xmlns:m="http://schemas.openxmlformats.org/officeDocument/2006/math">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1">
                                <a:solidFill>
                                  <a:srgbClr val="FF0000"/>
                                </a:solidFill>
                                <a:latin typeface="Cambria Math" pitchFamily="34" charset="0"/>
                                <a:ea typeface="Cambria Math" pitchFamily="34" charset="-122"/>
                                <a:cs typeface="Cambria Math" pitchFamily="34" charset="-120"/>
                              </a:rPr>
                              <m:t>𝟏</m:t>
                            </m:r>
                          </m:sub>
                        </m:sSub>
                      </m:num>
                      <m:den>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𝑭</m:t>
                            </m:r>
                          </m:num>
                          <m:den>
                            <m:r>
                              <a:rPr lang="en-US" altLang="zh-CN" sz="2400" b="1" i="1">
                                <a:solidFill>
                                  <a:srgbClr val="FF0000"/>
                                </a:solidFill>
                                <a:latin typeface="Cambria Math" pitchFamily="34" charset="0"/>
                                <a:ea typeface="Cambria Math" pitchFamily="34" charset="-122"/>
                                <a:cs typeface="Cambria Math" pitchFamily="34" charset="-120"/>
                              </a:rPr>
                              <m:t>𝟐</m:t>
                            </m:r>
                          </m:den>
                        </m:f>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𝒍</m:t>
                        </m:r>
                      </m:num>
                      <m:den>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𝒅</m:t>
                            </m:r>
                          </m:num>
                          <m:den>
                            <m:r>
                              <a:rPr lang="en-US" altLang="zh-CN" sz="2400" b="1" i="1">
                                <a:solidFill>
                                  <a:srgbClr val="FF0000"/>
                                </a:solidFill>
                                <a:latin typeface="Cambria Math" pitchFamily="34" charset="0"/>
                                <a:ea typeface="Cambria Math" pitchFamily="34" charset="-122"/>
                                <a:cs typeface="Cambria Math" pitchFamily="34" charset="-120"/>
                              </a:rPr>
                              <m:t>𝟐</m:t>
                            </m:r>
                          </m:den>
                        </m:f>
                      </m:den>
                    </m:f>
                  </m:oMath>
                </a14:m>
                <a:r>
                  <a:rPr lang="en-US" altLang="zh-CN" sz="2400" b="1" i="0" dirty="0">
                    <a:solidFill>
                      <a:srgbClr val="FF0000"/>
                    </a:solidFill>
                    <a:latin typeface="Times New Roman" pitchFamily="34" charset="0"/>
                    <a:ea typeface="微软雅黑" pitchFamily="34" charset="-122"/>
                    <a:cs typeface="Times New Roman" pitchFamily="34" charset="-120"/>
                  </a:rPr>
                  <a:t>,所以</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𝒍</m:t>
                        </m:r>
                      </m:num>
                      <m:den>
                        <m:r>
                          <a:rPr lang="en-US" altLang="zh-CN" sz="2400" b="1" i="1">
                            <a:solidFill>
                              <a:srgbClr val="FF0000"/>
                            </a:solidFill>
                            <a:latin typeface="Cambria Math" pitchFamily="34" charset="0"/>
                            <a:ea typeface="Cambria Math" pitchFamily="34" charset="-122"/>
                            <a:cs typeface="Cambria Math" pitchFamily="34" charset="-120"/>
                          </a:rPr>
                          <m:t>𝒅</m:t>
                        </m:r>
                      </m:den>
                    </m:f>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6" name="QO_7_AS.3_4#858a98ad7?htil=2&amp;vcp=1&amp;pid=d5665c735&amp;color=0,0,0&amp;vtp=1&amp;bbb=1&amp;hb=1"/>
              <p:cNvSpPr>
                <a:spLocks noRot="1" noChangeAspect="1" noMove="1" noResize="1" noEditPoints="1" noAdjustHandles="1" noChangeArrowheads="1" noChangeShapeType="1" noTextEdit="1"/>
              </p:cNvSpPr>
              <p:nvPr/>
            </p:nvSpPr>
            <p:spPr>
              <a:xfrm>
                <a:off x="393192" y="4346638"/>
                <a:ext cx="8595360" cy="1879600"/>
              </a:xfrm>
              <a:prstGeom prst="rect">
                <a:avLst/>
              </a:prstGeom>
              <a:blipFill>
                <a:blip r:embed="rId7"/>
                <a:stretch>
                  <a:fillRect l="-219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left)">
                                      <p:cBhvr>
                                        <p:cTn id="13" dur="500"/>
                                        <p:tgtEl>
                                          <p:spTgt spid="3">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5">
                                            <p:bg/>
                                          </p:spTgt>
                                        </p:tgtEl>
                                        <p:attrNameLst>
                                          <p:attrName>style.visibility</p:attrName>
                                        </p:attrNameLst>
                                      </p:cBhvr>
                                      <p:to>
                                        <p:strVal val="visible"/>
                                      </p:to>
                                    </p:set>
                                    <p:animEffect transition="in" filter="wipe(left)">
                                      <p:cBhvr>
                                        <p:cTn id="22" dur="500"/>
                                        <p:tgtEl>
                                          <p:spTgt spid="5">
                                            <p:bg/>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wipe(left)">
                                      <p:cBhvr>
                                        <p:cTn id="25" dur="500"/>
                                        <p:tgtEl>
                                          <p:spTgt spid="5">
                                            <p:txEl>
                                              <p:pRg st="0" end="0"/>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5">
                                            <p:txEl>
                                              <p:pRg st="1" end="1"/>
                                            </p:txEl>
                                          </p:spTgt>
                                        </p:tgtEl>
                                        <p:attrNameLst>
                                          <p:attrName>style.visibility</p:attrName>
                                        </p:attrNameLst>
                                      </p:cBhvr>
                                      <p:to>
                                        <p:strVal val="visible"/>
                                      </p:to>
                                    </p:set>
                                    <p:animEffect transition="in" filter="wipe(left)">
                                      <p:cBhvr>
                                        <p:cTn id="28" dur="500"/>
                                        <p:tgtEl>
                                          <p:spTgt spid="5">
                                            <p:txEl>
                                              <p:pRg st="1" end="1"/>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animEffect transition="in" filter="wipe(left)">
                                      <p:cBhvr>
                                        <p:cTn id="31" dur="500"/>
                                        <p:tgtEl>
                                          <p:spTgt spid="5">
                                            <p:txEl>
                                              <p:pRg st="2" end="2"/>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6">
                                            <p:bg/>
                                          </p:spTgt>
                                        </p:tgtEl>
                                        <p:attrNameLst>
                                          <p:attrName>style.visibility</p:attrName>
                                        </p:attrNameLst>
                                      </p:cBhvr>
                                      <p:to>
                                        <p:strVal val="visible"/>
                                      </p:to>
                                    </p:set>
                                    <p:animEffect transition="in" filter="wipe(left)">
                                      <p:cBhvr>
                                        <p:cTn id="34" dur="500"/>
                                        <p:tgtEl>
                                          <p:spTgt spid="6">
                                            <p:bg/>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6">
                                            <p:txEl>
                                              <p:pRg st="0" end="0"/>
                                            </p:txEl>
                                          </p:spTgt>
                                        </p:tgtEl>
                                        <p:attrNameLst>
                                          <p:attrName>style.visibility</p:attrName>
                                        </p:attrNameLst>
                                      </p:cBhvr>
                                      <p:to>
                                        <p:strVal val="visible"/>
                                      </p:to>
                                    </p:set>
                                    <p:animEffect transition="in" filter="wipe(left)">
                                      <p:cBhvr>
                                        <p:cTn id="37" dur="500"/>
                                        <p:tgtEl>
                                          <p:spTgt spid="6">
                                            <p:txEl>
                                              <p:pRg st="0" end="0"/>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6">
                                            <p:txEl>
                                              <p:pRg st="1" end="1"/>
                                            </p:txEl>
                                          </p:spTgt>
                                        </p:tgtEl>
                                        <p:attrNameLst>
                                          <p:attrName>style.visibility</p:attrName>
                                        </p:attrNameLst>
                                      </p:cBhvr>
                                      <p:to>
                                        <p:strVal val="visible"/>
                                      </p:to>
                                    </p:set>
                                    <p:animEffect transition="in" filter="wipe(left)">
                                      <p:cBhvr>
                                        <p:cTn id="40" dur="500"/>
                                        <p:tgtEl>
                                          <p:spTgt spid="6">
                                            <p:txEl>
                                              <p:pRg st="1" end="1"/>
                                            </p:txEl>
                                          </p:spTgt>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animEffect transition="in" filter="wipe(left)">
                                      <p:cBhvr>
                                        <p:cTn id="43"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P spid="6"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amp;si=9">
    <p:spTree>
      <p:nvGrpSpPr>
        <p:cNvPr id="1" name=""/>
        <p:cNvGrpSpPr/>
        <p:nvPr/>
      </p:nvGrpSpPr>
      <p:grpSpPr>
        <a:xfrm>
          <a:off x="0" y="0"/>
          <a:ext cx="0" cy="0"/>
          <a:chOff x="0" y="0"/>
          <a:chExt cx="0" cy="0"/>
        </a:xfrm>
      </p:grpSpPr>
      <p:sp>
        <p:nvSpPr>
          <p:cNvPr id="2" name="QO_7_BD.4_1#64509289f?vcp=1&amp;pid=d5665c735&amp;color=0,0,0&amp;vtp=1&amp;bt=1&amp;bbb=1"/>
          <p:cNvSpPr/>
          <p:nvPr/>
        </p:nvSpPr>
        <p:spPr>
          <a:xfrm>
            <a:off x="393192" y="2811272"/>
            <a:ext cx="11402568" cy="488125"/>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（2）说明为什么越锋利的切割工具越容易劈开物体.</a:t>
            </a:r>
            <a:endParaRPr lang="en-US" altLang="zh-CN" sz="2400" dirty="0"/>
          </a:p>
        </p:txBody>
      </p:sp>
      <mc:AlternateContent xmlns:mc="http://schemas.openxmlformats.org/markup-compatibility/2006" xmlns:a14="http://schemas.microsoft.com/office/drawing/2010/main">
        <mc:Choice Requires="a14">
          <p:sp>
            <p:nvSpPr>
              <p:cNvPr id="3" name="QO_7_AS.5_1#64509289f?vcp=1&amp;pid=d5665c735&amp;color=0,0,0&amp;vtp=1&amp;bbb=1"/>
              <p:cNvSpPr/>
              <p:nvPr/>
            </p:nvSpPr>
            <p:spPr>
              <a:xfrm>
                <a:off x="393192" y="3310763"/>
                <a:ext cx="11402568" cy="733552"/>
              </a:xfrm>
              <a:prstGeom prst="rect">
                <a:avLst/>
              </a:prstGeom>
              <a:noFill/>
              <a:ln/>
            </p:spPr>
            <p:txBody>
              <a:bodyPr wrap="none" lIns="0" tIns="0" rIns="0" bIns="0" rtlCol="0" anchor="t"/>
              <a:lstStyle/>
              <a:p>
                <a:pPr algn="l" latinLnBrk="1">
                  <a:lnSpc>
                    <a:spcPts val="63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劈越锋利，</a:t>
                </a:r>
                <a14:m>
                  <m:oMath xmlns:m="http://schemas.openxmlformats.org/officeDocument/2006/math">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𝒍</m:t>
                        </m:r>
                      </m:num>
                      <m:den>
                        <m:r>
                          <a:rPr lang="en-US" altLang="zh-CN" sz="2400" b="1" i="1">
                            <a:solidFill>
                              <a:srgbClr val="FF0000"/>
                            </a:solidFill>
                            <a:latin typeface="Cambria Math" pitchFamily="34" charset="0"/>
                            <a:ea typeface="Cambria Math" pitchFamily="34" charset="-122"/>
                            <a:cs typeface="Cambria Math" pitchFamily="34" charset="-120"/>
                          </a:rPr>
                          <m:t>𝒅</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越大，在</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一定时，分力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就越大，所以越容易劈开物体.</a:t>
                </a:r>
                <a:endParaRPr lang="en-US" altLang="zh-CN" sz="2400" dirty="0"/>
              </a:p>
            </p:txBody>
          </p:sp>
        </mc:Choice>
        <mc:Fallback xmlns="">
          <p:sp>
            <p:nvSpPr>
              <p:cNvPr id="3" name="QO_7_AS.5_1#64509289f?vcp=1&amp;pid=d5665c735&amp;color=0,0,0&amp;vtp=1&amp;bbb=1"/>
              <p:cNvSpPr>
                <a:spLocks noRot="1" noChangeAspect="1" noMove="1" noResize="1" noEditPoints="1" noAdjustHandles="1" noChangeArrowheads="1" noChangeShapeType="1" noTextEdit="1"/>
              </p:cNvSpPr>
              <p:nvPr/>
            </p:nvSpPr>
            <p:spPr>
              <a:xfrm>
                <a:off x="393192" y="3310763"/>
                <a:ext cx="11402568" cy="733552"/>
              </a:xfrm>
              <a:prstGeom prst="rect">
                <a:avLst/>
              </a:prstGeom>
              <a:blipFill>
                <a:blip r:embed="rId3"/>
                <a:stretch>
                  <a:fillRect l="-1658" b="-15000"/>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amp;si=10">
    <p:spTree>
      <p:nvGrpSpPr>
        <p:cNvPr id="1" name=""/>
        <p:cNvGrpSpPr/>
        <p:nvPr/>
      </p:nvGrpSpPr>
      <p:grpSpPr>
        <a:xfrm>
          <a:off x="0" y="0"/>
          <a:ext cx="0" cy="0"/>
          <a:chOff x="0" y="0"/>
          <a:chExt cx="0" cy="0"/>
        </a:xfrm>
      </p:grpSpPr>
      <p:sp>
        <p:nvSpPr>
          <p:cNvPr id="2" name="QC_6_BD.6_1#1507e0b63?vcp=1&amp;pid=d24a032fb&amp;color=0,0,0&amp;vtp=1&amp;bt=1&amp;bbb=1&amp;hb=1"/>
          <p:cNvSpPr/>
          <p:nvPr/>
        </p:nvSpPr>
        <p:spPr>
          <a:xfrm>
            <a:off x="393192" y="1324197"/>
            <a:ext cx="11402568" cy="10333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变式1-1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（2026·江西师大附中检测）</a:t>
            </a:r>
            <a:r>
              <a:rPr lang="en-US" altLang="zh-CN" sz="2400" b="0" i="0">
                <a:solidFill>
                  <a:srgbClr val="000000"/>
                </a:solidFill>
                <a:latin typeface="Times New Roman" pitchFamily="34" charset="0"/>
                <a:ea typeface="微软雅黑" pitchFamily="34" charset="-122"/>
                <a:cs typeface="Times New Roman" pitchFamily="34" charset="-120"/>
              </a:rPr>
              <a:t>将物体所受重力或拉力按力的效果进行分解，</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下列图中错误的是(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6_AN.7_1#1507e0b63.bracket?vcp=1&amp;pid=d24a032fb&amp;color=0,0,0&amp;vpa=1&amp;vtp=1"/>
          <p:cNvSpPr/>
          <p:nvPr/>
        </p:nvSpPr>
        <p:spPr>
          <a:xfrm>
            <a:off x="3064161" y="1871567"/>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D</a:t>
            </a:r>
            <a:endParaRPr lang="en-US" altLang="zh-CN" sz="2400" dirty="0"/>
          </a:p>
        </p:txBody>
      </p:sp>
      <p:sp>
        <p:nvSpPr>
          <p:cNvPr id="4" name="QC_6_BD.6_2#1507e0b63.choices?vcp=1&amp;pid=d24a032fb&amp;color=0,0,0&amp;vtp=1&amp;bbb=1"/>
          <p:cNvSpPr/>
          <p:nvPr/>
        </p:nvSpPr>
        <p:spPr>
          <a:xfrm>
            <a:off x="393192" y="2484722"/>
            <a:ext cx="11402568" cy="1454023"/>
          </a:xfrm>
          <a:prstGeom prst="rect">
            <a:avLst/>
          </a:prstGeom>
          <a:noFill/>
          <a:ln/>
        </p:spPr>
        <p:txBody>
          <a:bodyPr wrap="none" lIns="0" tIns="0" rIns="0" bIns="0" rtlCol="0" anchor="t"/>
          <a:lstStyle/>
          <a:p>
            <a:pPr latinLnBrk="1">
              <a:lnSpc>
                <a:spcPts val="13000"/>
              </a:lnSpc>
              <a:tabLst>
                <a:tab pos="2684902" algn="l"/>
                <a:tab pos="6093704" algn="l"/>
                <a:tab pos="8638906" algn="l"/>
              </a:tabLst>
            </a:pPr>
            <a:r>
              <a:rPr lang="en-US" altLang="zh-CN" sz="2400" b="0" i="0">
                <a:solidFill>
                  <a:srgbClr val="000000"/>
                </a:solidFill>
                <a:latin typeface="Times New Roman" pitchFamily="34" charset="0"/>
                <a:ea typeface="微软雅黑" pitchFamily="34" charset="-122"/>
                <a:cs typeface="Times New Roman" pitchFamily="34" charset="-120"/>
              </a:rPr>
              <a:t>A.</a:t>
            </a:r>
            <a:r>
              <a:rPr lang="en-US" altLang="zh-CN" sz="725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725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725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725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endParaRPr lang="en-US" altLang="zh-CN" sz="900" dirty="0">
              <a:latin typeface="SimSun" panose="02010600030101010101" pitchFamily="2" charset="-122"/>
            </a:endParaRPr>
          </a:p>
        </p:txBody>
      </p:sp>
      <p:pic>
        <p:nvPicPr>
          <p:cNvPr id="5" name="QC_6_BD.6_2#1507e0b63.choice_image?vcp=1&amp;pid=d24a032fb&amp;color=0,0,0&amp;tib=255,255,255&amp;iip=1&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695801" y="2489612"/>
            <a:ext cx="1645920" cy="1453896"/>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6" name="QC_6_BD.6_2#1507e0b63.choice_image?vcp=1&amp;pid=d24a032fb&amp;color=0,0,0&amp;tib=255,255,255&amp;iip=2&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3364262" y="2498756"/>
            <a:ext cx="2386584" cy="1444752"/>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7" name="QC_6_BD.6_2#1507e0b63.choice_image?vcp=1&amp;pid=d24a032fb&amp;color=0,0,0&amp;tib=255,255,255&amp;iip=3&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6769513" y="2498756"/>
            <a:ext cx="1536192" cy="1444752"/>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8" name="QC_6_BD.6_2#1507e0b63.choice_image?vcp=1&amp;pid=d24a032fb&amp;color=0,0,0&amp;tib=255,255,255&amp;iip=4&amp;vtp=1"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9354407" y="2498756"/>
            <a:ext cx="1892808" cy="1444752"/>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9" name="QC_6_AS.8_1#1507e0b63?vcp=1&amp;pid=d24a032fb&amp;color=0,0,0&amp;vtp=1&amp;bbb=1&amp;hb=1"/>
          <p:cNvSpPr/>
          <p:nvPr/>
        </p:nvSpPr>
        <p:spPr>
          <a:xfrm>
            <a:off x="393192" y="3940459"/>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重力产生了使物体沿斜面下滑的效果及压面的效果，故A正确</a:t>
            </a:r>
            <a:r>
              <a:rPr lang="en-US" altLang="zh-CN" sz="2400" b="1" i="0">
                <a:solidFill>
                  <a:srgbClr val="FF0000"/>
                </a:solidFill>
                <a:latin typeface="Times New Roman" pitchFamily="34" charset="0"/>
                <a:ea typeface="微软雅黑" pitchFamily="34" charset="-122"/>
                <a:cs typeface="Times New Roman" pitchFamily="34" charset="-120"/>
              </a:rPr>
              <a:t>；拉力产生了将</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物体向上抬升和向右拉动的效果</a:t>
            </a:r>
            <a:r>
              <a:rPr lang="en-US" altLang="zh-CN" sz="2400" b="1" i="0" dirty="0">
                <a:solidFill>
                  <a:srgbClr val="FF0000"/>
                </a:solidFill>
                <a:latin typeface="Times New Roman" pitchFamily="34" charset="0"/>
                <a:ea typeface="微软雅黑" pitchFamily="34" charset="-122"/>
                <a:cs typeface="Times New Roman" pitchFamily="34" charset="-120"/>
              </a:rPr>
              <a:t>，故B正确；重力产生了拉绳和挤压墙壁的效果，</a:t>
            </a:r>
            <a:r>
              <a:rPr lang="en-US" altLang="zh-CN" sz="2400" b="1" i="0">
                <a:solidFill>
                  <a:srgbClr val="FF0000"/>
                </a:solidFill>
                <a:latin typeface="Times New Roman" pitchFamily="34" charset="0"/>
                <a:ea typeface="微软雅黑" pitchFamily="34" charset="-122"/>
                <a:cs typeface="Times New Roman" pitchFamily="34" charset="-120"/>
              </a:rPr>
              <a:t>故C</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正确</a:t>
            </a:r>
            <a:r>
              <a:rPr lang="en-US" altLang="zh-CN" sz="2400" b="1" i="0" dirty="0">
                <a:solidFill>
                  <a:srgbClr val="FF0000"/>
                </a:solidFill>
                <a:latin typeface="Times New Roman" pitchFamily="34" charset="0"/>
                <a:ea typeface="微软雅黑" pitchFamily="34" charset="-122"/>
                <a:cs typeface="Times New Roman" pitchFamily="34" charset="-120"/>
              </a:rPr>
              <a:t>；重力产生了挤压墙壁的效果，两个分力应分别垂直于墙壁，故D错误.</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
                                            <p:bg/>
                                          </p:spTgt>
                                        </p:tgtEl>
                                        <p:attrNameLst>
                                          <p:attrName>style.visibility</p:attrName>
                                        </p:attrNameLst>
                                      </p:cBhvr>
                                      <p:to>
                                        <p:strVal val="visible"/>
                                      </p:to>
                                    </p:set>
                                    <p:animEffect transition="in" filter="wipe(left)">
                                      <p:cBhvr>
                                        <p:cTn id="15" dur="500"/>
                                        <p:tgtEl>
                                          <p:spTgt spid="9">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9">
                                            <p:txEl>
                                              <p:pRg st="0" end="0"/>
                                            </p:txEl>
                                          </p:spTgt>
                                        </p:tgtEl>
                                        <p:attrNameLst>
                                          <p:attrName>style.visibility</p:attrName>
                                        </p:attrNameLst>
                                      </p:cBhvr>
                                      <p:to>
                                        <p:strVal val="visible"/>
                                      </p:to>
                                    </p:set>
                                    <p:animEffect transition="in" filter="wipe(left)">
                                      <p:cBhvr>
                                        <p:cTn id="18" dur="500"/>
                                        <p:tgtEl>
                                          <p:spTgt spid="9">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animEffect transition="in" filter="wipe(left)">
                                      <p:cBhvr>
                                        <p:cTn id="21" dur="500"/>
                                        <p:tgtEl>
                                          <p:spTgt spid="9">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9">
                                            <p:txEl>
                                              <p:pRg st="2" end="2"/>
                                            </p:txEl>
                                          </p:spTgt>
                                        </p:tgtEl>
                                        <p:attrNameLst>
                                          <p:attrName>style.visibility</p:attrName>
                                        </p:attrNameLst>
                                      </p:cBhvr>
                                      <p:to>
                                        <p:strVal val="visible"/>
                                      </p:to>
                                    </p:set>
                                    <p:animEffect transition="in" filter="wipe(left)">
                                      <p:cBhvr>
                                        <p:cTn id="24"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9"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2&amp;si=12">
    <p:spTree>
      <p:nvGrpSpPr>
        <p:cNvPr id="1" name=""/>
        <p:cNvGrpSpPr/>
        <p:nvPr/>
      </p:nvGrpSpPr>
      <p:grpSpPr>
        <a:xfrm>
          <a:off x="0" y="0"/>
          <a:ext cx="0" cy="0"/>
          <a:chOff x="0" y="0"/>
          <a:chExt cx="0" cy="0"/>
        </a:xfrm>
      </p:grpSpPr>
      <p:sp>
        <p:nvSpPr>
          <p:cNvPr id="2" name="P_6#7f604a0b1?vcp=1&amp;pid=d24a032fb&amp;color=0,0,0&amp;vtp=1&amp;bt=1&amp;bbb=1"/>
          <p:cNvSpPr/>
          <p:nvPr/>
        </p:nvSpPr>
        <p:spPr>
          <a:xfrm>
            <a:off x="393192" y="1123760"/>
            <a:ext cx="11402568" cy="1040892"/>
          </a:xfrm>
          <a:prstGeom prst="rect">
            <a:avLst/>
          </a:prstGeom>
          <a:noFill/>
          <a:ln/>
        </p:spPr>
        <p:txBody>
          <a:bodyPr wrap="none" lIns="0" tIns="0" rIns="0" bIns="0" rtlCol="0" anchor="t"/>
          <a:lstStyle/>
          <a:p>
            <a:pPr algn="l"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名师点拨</a:t>
            </a:r>
            <a:endParaRPr lang="en-US" altLang="zh-CN" sz="2400" dirty="0"/>
          </a:p>
          <a:p>
            <a:pPr algn="ctr" latinLnBrk="1">
              <a:lnSpc>
                <a:spcPts val="4300"/>
              </a:lnSpc>
            </a:pPr>
            <a:r>
              <a:rPr lang="en-US" altLang="zh-CN" sz="2400" b="1" i="0">
                <a:solidFill>
                  <a:srgbClr val="000000"/>
                </a:solidFill>
                <a:latin typeface="Times New Roman" pitchFamily="34" charset="0"/>
                <a:ea typeface="微软雅黑" pitchFamily="34" charset="-122"/>
                <a:cs typeface="Times New Roman" pitchFamily="34" charset="-120"/>
              </a:rPr>
              <a:t>几种按效果分解力的实例</a:t>
            </a:r>
            <a:r>
              <a:rPr lang="en-US" altLang="zh-CN" sz="100" b="1" i="0" kern="0" spc="-99900" dirty="0">
                <a:solidFill>
                  <a:srgbClr val="FFFFFF"/>
                </a:solidFill>
                <a:latin typeface="Times New Roman" pitchFamily="34" charset="0"/>
                <a:ea typeface="微软雅黑" pitchFamily="34" charset="-122"/>
                <a:cs typeface="Times New Roman" pitchFamily="34" charset="-120"/>
              </a:rPr>
              <a:t>#3.1</a:t>
            </a:r>
            <a:endParaRPr lang="en-US" altLang="zh-CN" sz="2400" dirty="0"/>
          </a:p>
        </p:txBody>
      </p:sp>
      <mc:AlternateContent xmlns:mc="http://schemas.openxmlformats.org/markup-compatibility/2006" xmlns:a14="http://schemas.microsoft.com/office/drawing/2010/main">
        <mc:Choice Requires="a14">
          <p:graphicFrame>
            <p:nvGraphicFramePr>
              <p:cNvPr id="13" name="P_6_BD#7f604a0b1?colgroup=4,31&amp;vcp=1&amp;pid=d24a032fb&amp;color=0,0,0&amp;vtp=1&amp;bbb=1&amp;hb=1"/>
              <p:cNvGraphicFramePr>
                <a:graphicFrameLocks noGrp="1"/>
              </p:cNvGraphicFramePr>
              <p:nvPr>
                <p:extLst>
                  <p:ext uri="{D42A27DB-BD31-4B8C-83A1-F6EECF244321}">
                    <p14:modId xmlns:p14="http://schemas.microsoft.com/office/powerpoint/2010/main" val="784232042"/>
                  </p:ext>
                </p:extLst>
              </p:nvPr>
            </p:nvGraphicFramePr>
            <p:xfrm>
              <a:off x="393192" y="2285556"/>
              <a:ext cx="11375136" cy="3435985"/>
            </p:xfrm>
            <a:graphic>
              <a:graphicData uri="http://schemas.openxmlformats.org/drawingml/2006/table">
                <a:tbl>
                  <a:tblPr/>
                  <a:tblGrid>
                    <a:gridCol w="1517904">
                      <a:extLst>
                        <a:ext uri="{9D8B030D-6E8A-4147-A177-3AD203B41FA5}">
                          <a16:colId xmlns:a16="http://schemas.microsoft.com/office/drawing/2014/main" val="20000"/>
                        </a:ext>
                      </a:extLst>
                    </a:gridCol>
                    <a:gridCol w="9857232">
                      <a:extLst>
                        <a:ext uri="{9D8B030D-6E8A-4147-A177-3AD203B41FA5}">
                          <a16:colId xmlns:a16="http://schemas.microsoft.com/office/drawing/2014/main" val="20001"/>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实例</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分解思路</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471676">
                    <a:tc>
                      <a:txBody>
                        <a:bodyPr/>
                        <a:lstStyle/>
                        <a:p>
                          <a:pPr algn="ctr" latinLnBrk="1" hangingPunct="0">
                            <a:lnSpc>
                              <a:spcPts val="80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地面上的物体受到斜向上的拉力</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,拉力</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一方面使物体沿水平地面前进</a:t>
                          </a:r>
                          <a:r>
                            <a:rPr lang="en-US" altLang="zh-CN" sz="2400" b="0" i="0">
                              <a:solidFill>
                                <a:srgbClr val="000000"/>
                              </a:solidFill>
                              <a:latin typeface="Times New Roman" pitchFamily="34" charset="0"/>
                              <a:ea typeface="微软雅黑" pitchFamily="34" charset="-122"/>
                              <a:cs typeface="Times New Roman" pitchFamily="34" charset="-120"/>
                            </a:rPr>
                            <a:t>,另</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一方面向上提物体</a:t>
                          </a:r>
                          <a:r>
                            <a:rPr lang="en-US" altLang="zh-CN" sz="2400" b="0" i="0" dirty="0">
                              <a:solidFill>
                                <a:srgbClr val="000000"/>
                              </a:solidFill>
                              <a:latin typeface="Times New Roman" pitchFamily="34" charset="0"/>
                              <a:ea typeface="微软雅黑" pitchFamily="34" charset="-122"/>
                              <a:cs typeface="Times New Roman" pitchFamily="34" charset="-120"/>
                            </a:rPr>
                            <a:t>,因此拉力</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可分解为水平向前的力</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和竖直向上的力</a:t>
                          </a:r>
                        </a:p>
                        <a:p>
                          <a:pPr marL="0" lvl="0" indent="0" algn="l" latinLnBrk="1" hangingPunct="0">
                            <a:lnSpc>
                              <a:spcPts val="3600"/>
                            </a:lnSpc>
                          </a:pP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m:t>
                              </m:r>
                              <m:r>
                                <a:rPr lang="en-US" altLang="zh-CN" sz="2400" b="0" i="0" spc="-100">
                                  <a:solidFill>
                                    <a:srgbClr val="000000"/>
                                  </a:solidFill>
                                  <a:latin typeface="Cambria Math" pitchFamily="34" charset="0"/>
                                  <a:ea typeface="Cambria Math" pitchFamily="34" charset="-122"/>
                                  <a:cs typeface="Cambria Math" pitchFamily="34" charset="-120"/>
                                </a:rPr>
                                <m:t>𝐹</m:t>
                              </m:r>
                              <m:r>
                                <m:rPr>
                                  <m:sty m:val="p"/>
                                </m:rPr>
                                <a:rPr lang="en-US" altLang="zh-CN" sz="2400" b="0" i="0" spc="-100">
                                  <a:solidFill>
                                    <a:srgbClr val="000000"/>
                                  </a:solidFill>
                                  <a:latin typeface="Cambria Math" pitchFamily="34" charset="0"/>
                                  <a:ea typeface="Cambria Math" pitchFamily="34" charset="-122"/>
                                  <a:cs typeface="Cambria Math" pitchFamily="34" charset="-120"/>
                                </a:rPr>
                                <m:t>cos</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𝛼</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spc="-10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r>
                                <a:rPr lang="en-US" altLang="zh-CN" sz="2400" b="0" i="0" spc="-100">
                                  <a:solidFill>
                                    <a:srgbClr val="000000"/>
                                  </a:solidFill>
                                  <a:latin typeface="Cambria Math" pitchFamily="34" charset="0"/>
                                  <a:ea typeface="Cambria Math" pitchFamily="34" charset="-122"/>
                                  <a:cs typeface="Cambria Math" pitchFamily="34" charset="-120"/>
                                </a:rPr>
                                <m:t>=</m:t>
                              </m:r>
                              <m:r>
                                <a:rPr lang="en-US" altLang="zh-CN" sz="2400" b="0" i="0" spc="-100">
                                  <a:solidFill>
                                    <a:srgbClr val="000000"/>
                                  </a:solidFill>
                                  <a:latin typeface="Cambria Math" pitchFamily="34" charset="0"/>
                                  <a:ea typeface="Cambria Math" pitchFamily="34" charset="-122"/>
                                  <a:cs typeface="Cambria Math" pitchFamily="34" charset="-120"/>
                                </a:rPr>
                                <m:t>𝐹</m:t>
                              </m:r>
                              <m:r>
                                <m:rPr>
                                  <m:sty m:val="p"/>
                                </m:rPr>
                                <a:rPr lang="en-US" altLang="zh-CN" sz="2400" b="0" i="0" spc="-100">
                                  <a:solidFill>
                                    <a:srgbClr val="000000"/>
                                  </a:solidFill>
                                  <a:latin typeface="Cambria Math" pitchFamily="34" charset="0"/>
                                  <a:ea typeface="Cambria Math" pitchFamily="34" charset="-122"/>
                                  <a:cs typeface="Cambria Math" pitchFamily="34" charset="-120"/>
                                </a:rPr>
                                <m:t>sin</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𝛼</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71676">
                    <a:tc>
                      <a:txBody>
                        <a:bodyPr/>
                        <a:lstStyle/>
                        <a:p>
                          <a:pPr algn="ctr" latinLnBrk="1" hangingPunct="0">
                            <a:lnSpc>
                              <a:spcPts val="69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质量为</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𝑚</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的物体静止在斜面上</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其重力产生两个效果</a:t>
                          </a:r>
                          <a:r>
                            <a:rPr lang="en-US" altLang="zh-CN" sz="2400" b="0" i="0">
                              <a:solidFill>
                                <a:srgbClr val="000000"/>
                              </a:solidFill>
                              <a:latin typeface="Times New Roman" pitchFamily="34" charset="0"/>
                              <a:ea typeface="微软雅黑" pitchFamily="34" charset="-122"/>
                              <a:cs typeface="Times New Roman" pitchFamily="34" charset="-120"/>
                            </a:rPr>
                            <a:t>：一是使物体具有沿</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斜面下滑的分力</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oMath>
                          </a14:m>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二是使物体压紧斜面的分力</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m:t>
                              </m:r>
                              <m:r>
                                <a:rPr lang="en-US" altLang="zh-CN" sz="2400" b="0" i="0" spc="-100">
                                  <a:solidFill>
                                    <a:srgbClr val="000000"/>
                                  </a:solidFill>
                                  <a:latin typeface="Cambria Math" pitchFamily="34" charset="0"/>
                                  <a:ea typeface="Cambria Math" pitchFamily="34" charset="-122"/>
                                  <a:cs typeface="Cambria Math" pitchFamily="34" charset="-120"/>
                                </a:rPr>
                                <m:t>𝑚𝑔</m:t>
                              </m:r>
                              <m:r>
                                <m:rPr>
                                  <m:sty m:val="p"/>
                                </m:rPr>
                                <a:rPr lang="en-US" altLang="zh-CN" sz="2400" b="0" i="0" spc="-100">
                                  <a:solidFill>
                                    <a:srgbClr val="000000"/>
                                  </a:solidFill>
                                  <a:latin typeface="Cambria Math" pitchFamily="34" charset="0"/>
                                  <a:ea typeface="Cambria Math" pitchFamily="34" charset="-122"/>
                                  <a:cs typeface="Cambria Math" pitchFamily="34" charset="-120"/>
                                </a:rPr>
                                <m:t>sin</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𝛼</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p>
                        <a:p>
                          <a:pPr marL="0" lvl="0" indent="0" algn="l" latinLnBrk="1" hangingPunct="0">
                            <a:lnSpc>
                              <a:spcPts val="3500"/>
                            </a:lnSpc>
                          </a:pP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r>
                                <a:rPr lang="en-US" altLang="zh-CN" sz="2400" b="0" i="0" spc="-100">
                                  <a:solidFill>
                                    <a:srgbClr val="000000"/>
                                  </a:solidFill>
                                  <a:latin typeface="Cambria Math" pitchFamily="34" charset="0"/>
                                  <a:ea typeface="Cambria Math" pitchFamily="34" charset="-122"/>
                                  <a:cs typeface="Cambria Math" pitchFamily="34" charset="-120"/>
                                </a:rPr>
                                <m:t>=</m:t>
                              </m:r>
                              <m:r>
                                <a:rPr lang="en-US" altLang="zh-CN" sz="2400" b="0" i="0" spc="-100">
                                  <a:solidFill>
                                    <a:srgbClr val="000000"/>
                                  </a:solidFill>
                                  <a:latin typeface="Cambria Math" pitchFamily="34" charset="0"/>
                                  <a:ea typeface="Cambria Math" pitchFamily="34" charset="-122"/>
                                  <a:cs typeface="Cambria Math" pitchFamily="34" charset="-120"/>
                                </a:rPr>
                                <m:t>𝑚𝑔</m:t>
                              </m:r>
                              <m:r>
                                <m:rPr>
                                  <m:sty m:val="p"/>
                                </m:rPr>
                                <a:rPr lang="en-US" altLang="zh-CN" sz="2400" b="0" i="0" spc="-100">
                                  <a:solidFill>
                                    <a:srgbClr val="000000"/>
                                  </a:solidFill>
                                  <a:latin typeface="Cambria Math" pitchFamily="34" charset="0"/>
                                  <a:ea typeface="Cambria Math" pitchFamily="34" charset="-122"/>
                                  <a:cs typeface="Cambria Math" pitchFamily="34" charset="-120"/>
                                </a:rPr>
                                <m:t>cos</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𝛼</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13" name="P_6_BD#7f604a0b1?colgroup=4,31&amp;vcp=1&amp;pid=d24a032fb&amp;color=0,0,0&amp;vtp=1&amp;bbb=1&amp;hb=1"/>
              <p:cNvGraphicFramePr>
                <a:graphicFrameLocks noGrp="1"/>
              </p:cNvGraphicFramePr>
              <p:nvPr>
                <p:extLst>
                  <p:ext uri="{D42A27DB-BD31-4B8C-83A1-F6EECF244321}">
                    <p14:modId xmlns:p14="http://schemas.microsoft.com/office/powerpoint/2010/main" val="784232042"/>
                  </p:ext>
                </p:extLst>
              </p:nvPr>
            </p:nvGraphicFramePr>
            <p:xfrm>
              <a:off x="393192" y="2285556"/>
              <a:ext cx="11375136" cy="3435985"/>
            </p:xfrm>
            <a:graphic>
              <a:graphicData uri="http://schemas.openxmlformats.org/drawingml/2006/table">
                <a:tbl>
                  <a:tblPr/>
                  <a:tblGrid>
                    <a:gridCol w="1517904">
                      <a:extLst>
                        <a:ext uri="{9D8B030D-6E8A-4147-A177-3AD203B41FA5}">
                          <a16:colId xmlns:a16="http://schemas.microsoft.com/office/drawing/2014/main" val="20000"/>
                        </a:ext>
                      </a:extLst>
                    </a:gridCol>
                    <a:gridCol w="9857232">
                      <a:extLst>
                        <a:ext uri="{9D8B030D-6E8A-4147-A177-3AD203B41FA5}">
                          <a16:colId xmlns:a16="http://schemas.microsoft.com/office/drawing/2014/main" val="20001"/>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实例</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分解思路</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471676">
                    <a:tc>
                      <a:txBody>
                        <a:bodyPr/>
                        <a:lstStyle/>
                        <a:p>
                          <a:pPr algn="ctr" latinLnBrk="1" hangingPunct="0">
                            <a:lnSpc>
                              <a:spcPts val="80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15451" t="-33884" r="-124" b="-103719"/>
                          </a:stretch>
                        </a:blipFill>
                      </a:tcPr>
                    </a:tc>
                    <a:extLst>
                      <a:ext uri="{0D108BD9-81ED-4DB2-BD59-A6C34878D82A}">
                        <a16:rowId xmlns:a16="http://schemas.microsoft.com/office/drawing/2014/main" val="10001"/>
                      </a:ext>
                    </a:extLst>
                  </a:tr>
                  <a:tr h="1471676">
                    <a:tc>
                      <a:txBody>
                        <a:bodyPr/>
                        <a:lstStyle/>
                        <a:p>
                          <a:pPr algn="ctr" latinLnBrk="1" hangingPunct="0">
                            <a:lnSpc>
                              <a:spcPts val="69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15451" t="-133884" r="-124" b="-3719"/>
                          </a:stretch>
                        </a:blipFill>
                      </a:tcPr>
                    </a:tc>
                    <a:extLst>
                      <a:ext uri="{0D108BD9-81ED-4DB2-BD59-A6C34878D82A}">
                        <a16:rowId xmlns:a16="http://schemas.microsoft.com/office/drawing/2014/main" val="10002"/>
                      </a:ext>
                    </a:extLst>
                  </a:tr>
                </a:tbl>
              </a:graphicData>
            </a:graphic>
          </p:graphicFrame>
        </mc:Fallback>
      </mc:AlternateContent>
      <p:pic>
        <p:nvPicPr>
          <p:cNvPr id="4" name="P_6_BD#7f604a0b1.table_image?tii=2&amp;vcp=1&amp;pid=d24a032fb&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539496" y="3061399"/>
            <a:ext cx="1225296" cy="905256"/>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5" name="P_6_BD#7f604a0b1.table_image?tii=3&amp;vcp=1&amp;pid=d24a032fb&amp;color=0,0,0&amp;tib=255,255,255&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548640" y="4592510"/>
            <a:ext cx="1207008" cy="786384"/>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12.xml><?xml version="1.0" encoding="utf-8"?>
<p:sld xmlns:a="http://schemas.openxmlformats.org/drawingml/2006/main" xmlns:r="http://schemas.openxmlformats.org/officeDocument/2006/relationships" xmlns:p="http://schemas.openxmlformats.org/presentationml/2006/main">
  <p:cSld name="Slide 13&amp;si=13">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4" name="P_6_BD#7f604a0b1?colgroup=4,31&amp;vcp=1&amp;pid=d24a032fb&amp;color=0,0,0&amp;vtp=1&amp;bt=1&amp;bbb=1&amp;hb=1"/>
              <p:cNvGraphicFramePr>
                <a:graphicFrameLocks noGrp="1"/>
              </p:cNvGraphicFramePr>
              <p:nvPr>
                <p:extLst>
                  <p:ext uri="{D42A27DB-BD31-4B8C-83A1-F6EECF244321}">
                    <p14:modId xmlns:p14="http://schemas.microsoft.com/office/powerpoint/2010/main" val="1774741906"/>
                  </p:ext>
                </p:extLst>
              </p:nvPr>
            </p:nvGraphicFramePr>
            <p:xfrm>
              <a:off x="393192" y="1062609"/>
              <a:ext cx="11375136" cy="5334762"/>
            </p:xfrm>
            <a:graphic>
              <a:graphicData uri="http://schemas.openxmlformats.org/drawingml/2006/table">
                <a:tbl>
                  <a:tblPr/>
                  <a:tblGrid>
                    <a:gridCol w="1517904">
                      <a:extLst>
                        <a:ext uri="{9D8B030D-6E8A-4147-A177-3AD203B41FA5}">
                          <a16:colId xmlns:a16="http://schemas.microsoft.com/office/drawing/2014/main" val="20000"/>
                        </a:ext>
                      </a:extLst>
                    </a:gridCol>
                    <a:gridCol w="9857232">
                      <a:extLst>
                        <a:ext uri="{9D8B030D-6E8A-4147-A177-3AD203B41FA5}">
                          <a16:colId xmlns:a16="http://schemas.microsoft.com/office/drawing/2014/main" val="20001"/>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实例</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分解思路</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614043">
                    <a:tc>
                      <a:txBody>
                        <a:bodyPr/>
                        <a:lstStyle/>
                        <a:p>
                          <a:pPr algn="ctr" latinLnBrk="1" hangingPunct="0">
                            <a:lnSpc>
                              <a:spcPts val="62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质量为</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𝑚</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的光滑小球被竖直挡板挡住而静止于斜面上时</a:t>
                          </a:r>
                          <a:r>
                            <a:rPr lang="en-US" altLang="zh-CN" sz="2400" b="0" i="0">
                              <a:solidFill>
                                <a:srgbClr val="000000"/>
                              </a:solidFill>
                              <a:latin typeface="Times New Roman" pitchFamily="34" charset="0"/>
                              <a:ea typeface="微软雅黑" pitchFamily="34" charset="-122"/>
                              <a:cs typeface="Times New Roman" pitchFamily="34" charset="-120"/>
                            </a:rPr>
                            <a:t>,其重力产生两个</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效果</a:t>
                          </a:r>
                          <a:r>
                            <a:rPr lang="en-US" altLang="zh-CN" sz="2400" b="0" i="0" dirty="0">
                              <a:solidFill>
                                <a:srgbClr val="000000"/>
                              </a:solidFill>
                              <a:latin typeface="Times New Roman" pitchFamily="34" charset="0"/>
                              <a:ea typeface="微软雅黑" pitchFamily="34" charset="-122"/>
                              <a:cs typeface="Times New Roman" pitchFamily="34" charset="-120"/>
                            </a:rPr>
                            <a:t>:一是使球压紧挡板的分力</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,二是使球压紧斜面的分力</a:t>
                          </a:r>
                        </a:p>
                        <a:p>
                          <a:pPr marL="0" lvl="0" indent="0" algn="l" latinLnBrk="1" hangingPunct="0">
                            <a:lnSpc>
                              <a:spcPts val="3800"/>
                            </a:lnSpc>
                          </a:pP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m:t>
                              </m:r>
                              <m:r>
                                <a:rPr lang="en-US" altLang="zh-CN" sz="2400" b="0" i="0" spc="-100">
                                  <a:solidFill>
                                    <a:srgbClr val="000000"/>
                                  </a:solidFill>
                                  <a:latin typeface="Cambria Math" pitchFamily="34" charset="0"/>
                                  <a:ea typeface="Cambria Math" pitchFamily="34" charset="-122"/>
                                  <a:cs typeface="Cambria Math" pitchFamily="34" charset="-120"/>
                                </a:rPr>
                                <m:t>𝑚𝑔</m:t>
                              </m:r>
                              <m:r>
                                <m:rPr>
                                  <m:sty m:val="p"/>
                                </m:rPr>
                                <a:rPr lang="en-US" altLang="zh-CN" sz="2400" b="0" i="0" spc="-100">
                                  <a:solidFill>
                                    <a:srgbClr val="000000"/>
                                  </a:solidFill>
                                  <a:latin typeface="Cambria Math" pitchFamily="34" charset="0"/>
                                  <a:ea typeface="Cambria Math" pitchFamily="34" charset="-122"/>
                                  <a:cs typeface="Cambria Math" pitchFamily="34" charset="-120"/>
                                </a:rPr>
                                <m:t>tan</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𝛼</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r>
                                <a:rPr lang="en-US" altLang="zh-CN" sz="2400" b="0" i="0" spc="-100">
                                  <a:solidFill>
                                    <a:srgbClr val="000000"/>
                                  </a:solidFill>
                                  <a:latin typeface="Cambria Math" pitchFamily="34" charset="0"/>
                                  <a:ea typeface="Cambria Math" pitchFamily="34" charset="-122"/>
                                  <a:cs typeface="Cambria Math" pitchFamily="34" charset="-120"/>
                                </a:rPr>
                                <m:t>=</m:t>
                              </m:r>
                              <m:f>
                                <m:f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spc="-100">
                                      <a:solidFill>
                                        <a:srgbClr val="000000"/>
                                      </a:solidFill>
                                      <a:latin typeface="Cambria Math" pitchFamily="34" charset="0"/>
                                      <a:ea typeface="Cambria Math" pitchFamily="34" charset="-122"/>
                                      <a:cs typeface="Cambria Math" pitchFamily="34" charset="-120"/>
                                    </a:rPr>
                                    <m:t>𝑚𝑔</m:t>
                                  </m:r>
                                </m:num>
                                <m:den>
                                  <m:r>
                                    <m:rPr>
                                      <m:sty m:val="p"/>
                                    </m:rPr>
                                    <a:rPr lang="en-US" altLang="zh-CN" sz="2400" b="0" i="0" spc="-100">
                                      <a:solidFill>
                                        <a:srgbClr val="000000"/>
                                      </a:solidFill>
                                      <a:latin typeface="Cambria Math" pitchFamily="34" charset="0"/>
                                      <a:ea typeface="Cambria Math" pitchFamily="34" charset="-122"/>
                                      <a:cs typeface="Cambria Math" pitchFamily="34" charset="-120"/>
                                    </a:rPr>
                                    <m:t>cos</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𝛼</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14043">
                    <a:tc>
                      <a:txBody>
                        <a:bodyPr/>
                        <a:lstStyle/>
                        <a:p>
                          <a:pPr algn="ctr" latinLnBrk="1" hangingPunct="0">
                            <a:lnSpc>
                              <a:spcPts val="107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质量为</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𝑚</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的光滑小球被悬线挂靠在竖直墙壁上</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其重力产生两个效果</a:t>
                          </a:r>
                          <a:r>
                            <a:rPr lang="en-US" altLang="zh-CN" sz="2400" b="0" i="0">
                              <a:solidFill>
                                <a:srgbClr val="000000"/>
                              </a:solidFill>
                              <a:latin typeface="Times New Roman" pitchFamily="34" charset="0"/>
                              <a:ea typeface="微软雅黑" pitchFamily="34" charset="-122"/>
                              <a:cs typeface="Times New Roman" pitchFamily="34" charset="-120"/>
                            </a:rPr>
                            <a:t>：一</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是使球压紧竖直墙壁的分力</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,二是使球拉紧悬线的分力</a:t>
                          </a:r>
                        </a:p>
                        <a:p>
                          <a:pPr marL="0" lvl="0" indent="0" algn="l" latinLnBrk="1" hangingPunct="0">
                            <a:lnSpc>
                              <a:spcPts val="3800"/>
                            </a:lnSpc>
                          </a:pP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m:t>
                              </m:r>
                              <m:r>
                                <a:rPr lang="en-US" altLang="zh-CN" sz="2400" b="0" i="0" spc="-100">
                                  <a:solidFill>
                                    <a:srgbClr val="000000"/>
                                  </a:solidFill>
                                  <a:latin typeface="Cambria Math" pitchFamily="34" charset="0"/>
                                  <a:ea typeface="Cambria Math" pitchFamily="34" charset="-122"/>
                                  <a:cs typeface="Cambria Math" pitchFamily="34" charset="-120"/>
                                </a:rPr>
                                <m:t>𝑚𝑔</m:t>
                              </m:r>
                              <m:r>
                                <m:rPr>
                                  <m:sty m:val="p"/>
                                </m:rPr>
                                <a:rPr lang="en-US" altLang="zh-CN" sz="2400" b="0" i="0" spc="-100">
                                  <a:solidFill>
                                    <a:srgbClr val="000000"/>
                                  </a:solidFill>
                                  <a:latin typeface="Cambria Math" pitchFamily="34" charset="0"/>
                                  <a:ea typeface="Cambria Math" pitchFamily="34" charset="-122"/>
                                  <a:cs typeface="Cambria Math" pitchFamily="34" charset="-120"/>
                                </a:rPr>
                                <m:t>tan</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𝛼</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spc="-10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r>
                                <a:rPr lang="en-US" altLang="zh-CN" sz="2400" b="0" i="0" spc="-100">
                                  <a:solidFill>
                                    <a:srgbClr val="000000"/>
                                  </a:solidFill>
                                  <a:latin typeface="Cambria Math" pitchFamily="34" charset="0"/>
                                  <a:ea typeface="Cambria Math" pitchFamily="34" charset="-122"/>
                                  <a:cs typeface="Cambria Math" pitchFamily="34" charset="-120"/>
                                </a:rPr>
                                <m:t>=</m:t>
                              </m:r>
                              <m:f>
                                <m:f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spc="-100">
                                      <a:solidFill>
                                        <a:srgbClr val="000000"/>
                                      </a:solidFill>
                                      <a:latin typeface="Cambria Math" pitchFamily="34" charset="0"/>
                                      <a:ea typeface="Cambria Math" pitchFamily="34" charset="-122"/>
                                      <a:cs typeface="Cambria Math" pitchFamily="34" charset="-120"/>
                                    </a:rPr>
                                    <m:t>𝑚𝑔</m:t>
                                  </m:r>
                                </m:num>
                                <m:den>
                                  <m:r>
                                    <m:rPr>
                                      <m:sty m:val="p"/>
                                    </m:rPr>
                                    <a:rPr lang="en-US" altLang="zh-CN" sz="2400" b="0" i="0" spc="-100">
                                      <a:solidFill>
                                        <a:srgbClr val="000000"/>
                                      </a:solidFill>
                                      <a:latin typeface="Cambria Math" pitchFamily="34" charset="0"/>
                                      <a:ea typeface="Cambria Math" pitchFamily="34" charset="-122"/>
                                      <a:cs typeface="Cambria Math" pitchFamily="34" charset="-120"/>
                                    </a:rPr>
                                    <m:t>cos</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𝛼</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614043">
                    <a:tc>
                      <a:txBody>
                        <a:bodyPr/>
                        <a:lstStyle/>
                        <a:p>
                          <a:pPr algn="ctr" latinLnBrk="1" hangingPunct="0">
                            <a:lnSpc>
                              <a:spcPts val="112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𝐴</m:t>
                              </m:r>
                            </m:oMath>
                          </a14:m>
                          <a:r>
                            <a:rPr lang="en-US" altLang="zh-CN" sz="2400" b="0" i="0" spc="-10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两点位于同一平面上</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质量为</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𝑚</m:t>
                              </m:r>
                            </m:oMath>
                          </a14:m>
                          <a:r>
                            <a:rPr lang="en-US" altLang="zh-CN" sz="2400" b="0" i="0" dirty="0">
                              <a:solidFill>
                                <a:srgbClr val="000000"/>
                              </a:solidFill>
                              <a:latin typeface="Times New Roman" pitchFamily="34" charset="0"/>
                              <a:ea typeface="微软雅黑" pitchFamily="34" charset="-122"/>
                              <a:cs typeface="Times New Roman" pitchFamily="34" charset="-120"/>
                            </a:rPr>
                            <a:t>的物体被</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𝐴𝑂</m:t>
                              </m:r>
                            </m:oMath>
                          </a14:m>
                          <a:r>
                            <a:rPr lang="en-US" altLang="zh-CN" sz="2400" b="0" i="0" spc="-10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𝐵𝑂</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两条线拉住</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其</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重力产生两个效果</a:t>
                          </a:r>
                          <a:r>
                            <a:rPr lang="en-US" altLang="zh-CN" sz="2400" b="0" i="0" dirty="0">
                              <a:solidFill>
                                <a:srgbClr val="000000"/>
                              </a:solidFill>
                              <a:latin typeface="Times New Roman" pitchFamily="34" charset="0"/>
                              <a:ea typeface="微软雅黑" pitchFamily="34" charset="-122"/>
                              <a:cs typeface="Times New Roman" pitchFamily="34" charset="-120"/>
                            </a:rPr>
                            <a:t>：一是使物体拉紧</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𝐴𝑂</m:t>
                              </m:r>
                            </m:oMath>
                          </a14:m>
                          <a:r>
                            <a:rPr lang="en-US" altLang="zh-CN" sz="2400" b="0" i="0" dirty="0">
                              <a:solidFill>
                                <a:srgbClr val="000000"/>
                              </a:solidFill>
                              <a:latin typeface="Times New Roman" pitchFamily="34" charset="0"/>
                              <a:ea typeface="微软雅黑" pitchFamily="34" charset="-122"/>
                              <a:cs typeface="Times New Roman" pitchFamily="34" charset="-120"/>
                            </a:rPr>
                            <a:t>线的分力</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oMath>
                          </a14:m>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二是使物体拉紧</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𝐵𝑂</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00" b="0" i="0" kern="0" spc="-99900">
                            <a:solidFill>
                              <a:srgbClr val="FFFFFF"/>
                            </a:solidFill>
                            <a:latin typeface="Times New Roman" pitchFamily="34" charset="0"/>
                            <a:ea typeface="微软雅黑" pitchFamily="34" charset="-122"/>
                            <a:cs typeface="Times New Roman" pitchFamily="34" charset="-120"/>
                          </a:endParaRPr>
                        </a:p>
                        <a:p>
                          <a:pPr marL="0" lv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线的分力</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r>
                                <a:rPr lang="en-US" altLang="zh-CN" sz="2400" b="0" i="0" spc="-100">
                                  <a:solidFill>
                                    <a:srgbClr val="000000"/>
                                  </a:solidFill>
                                  <a:latin typeface="Cambria Math" pitchFamily="34" charset="0"/>
                                  <a:ea typeface="Cambria Math" pitchFamily="34" charset="-122"/>
                                  <a:cs typeface="Cambria Math" pitchFamily="34" charset="-120"/>
                                </a:rPr>
                                <m:t>=</m:t>
                              </m:r>
                              <m:f>
                                <m:f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spc="-100">
                                      <a:solidFill>
                                        <a:srgbClr val="000000"/>
                                      </a:solidFill>
                                      <a:latin typeface="Cambria Math" pitchFamily="34" charset="0"/>
                                      <a:ea typeface="Cambria Math" pitchFamily="34" charset="-122"/>
                                      <a:cs typeface="Cambria Math" pitchFamily="34" charset="-120"/>
                                    </a:rPr>
                                    <m:t>𝑚𝑔</m:t>
                                  </m:r>
                                </m:num>
                                <m:den>
                                  <m:r>
                                    <a:rPr lang="en-US" altLang="zh-CN" sz="2400" b="0" i="0" spc="-100">
                                      <a:solidFill>
                                        <a:srgbClr val="000000"/>
                                      </a:solidFill>
                                      <a:latin typeface="Cambria Math" pitchFamily="34" charset="0"/>
                                      <a:ea typeface="Cambria Math" pitchFamily="34" charset="-122"/>
                                      <a:cs typeface="Cambria Math" pitchFamily="34" charset="-120"/>
                                    </a:rPr>
                                    <m:t>2</m:t>
                                  </m:r>
                                  <m:r>
                                    <m:rPr>
                                      <m:sty m:val="p"/>
                                    </m:rPr>
                                    <a:rPr lang="en-US" altLang="zh-CN" sz="2400" b="0" i="0" spc="-100">
                                      <a:solidFill>
                                        <a:srgbClr val="000000"/>
                                      </a:solidFill>
                                      <a:latin typeface="Cambria Math" pitchFamily="34" charset="0"/>
                                      <a:ea typeface="Cambria Math" pitchFamily="34" charset="-122"/>
                                      <a:cs typeface="Cambria Math" pitchFamily="34" charset="-120"/>
                                    </a:rPr>
                                    <m:t>sin</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𝛼</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14" name="P_6_BD#7f604a0b1?colgroup=4,31&amp;vcp=1&amp;pid=d24a032fb&amp;color=0,0,0&amp;vtp=1&amp;bt=1&amp;bbb=1&amp;hb=1"/>
              <p:cNvGraphicFramePr>
                <a:graphicFrameLocks noGrp="1"/>
              </p:cNvGraphicFramePr>
              <p:nvPr>
                <p:extLst>
                  <p:ext uri="{D42A27DB-BD31-4B8C-83A1-F6EECF244321}">
                    <p14:modId xmlns:p14="http://schemas.microsoft.com/office/powerpoint/2010/main" val="1774741906"/>
                  </p:ext>
                </p:extLst>
              </p:nvPr>
            </p:nvGraphicFramePr>
            <p:xfrm>
              <a:off x="393192" y="1062609"/>
              <a:ext cx="11375136" cy="5334762"/>
            </p:xfrm>
            <a:graphic>
              <a:graphicData uri="http://schemas.openxmlformats.org/drawingml/2006/table">
                <a:tbl>
                  <a:tblPr/>
                  <a:tblGrid>
                    <a:gridCol w="1517904">
                      <a:extLst>
                        <a:ext uri="{9D8B030D-6E8A-4147-A177-3AD203B41FA5}">
                          <a16:colId xmlns:a16="http://schemas.microsoft.com/office/drawing/2014/main" val="20000"/>
                        </a:ext>
                      </a:extLst>
                    </a:gridCol>
                    <a:gridCol w="9857232">
                      <a:extLst>
                        <a:ext uri="{9D8B030D-6E8A-4147-A177-3AD203B41FA5}">
                          <a16:colId xmlns:a16="http://schemas.microsoft.com/office/drawing/2014/main" val="20001"/>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实例</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分解思路</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614043">
                    <a:tc>
                      <a:txBody>
                        <a:bodyPr/>
                        <a:lstStyle/>
                        <a:p>
                          <a:pPr algn="ctr" latinLnBrk="1" hangingPunct="0">
                            <a:lnSpc>
                              <a:spcPts val="62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15451" t="-30943" r="-124" b="-201132"/>
                          </a:stretch>
                        </a:blipFill>
                      </a:tcPr>
                    </a:tc>
                    <a:extLst>
                      <a:ext uri="{0D108BD9-81ED-4DB2-BD59-A6C34878D82A}">
                        <a16:rowId xmlns:a16="http://schemas.microsoft.com/office/drawing/2014/main" val="10001"/>
                      </a:ext>
                    </a:extLst>
                  </a:tr>
                  <a:tr h="1614043">
                    <a:tc>
                      <a:txBody>
                        <a:bodyPr/>
                        <a:lstStyle/>
                        <a:p>
                          <a:pPr algn="ctr" latinLnBrk="1" hangingPunct="0">
                            <a:lnSpc>
                              <a:spcPts val="107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15451" t="-130943" r="-124" b="-101132"/>
                          </a:stretch>
                        </a:blipFill>
                      </a:tcPr>
                    </a:tc>
                    <a:extLst>
                      <a:ext uri="{0D108BD9-81ED-4DB2-BD59-A6C34878D82A}">
                        <a16:rowId xmlns:a16="http://schemas.microsoft.com/office/drawing/2014/main" val="10002"/>
                      </a:ext>
                    </a:extLst>
                  </a:tr>
                  <a:tr h="1614043">
                    <a:tc>
                      <a:txBody>
                        <a:bodyPr/>
                        <a:lstStyle/>
                        <a:p>
                          <a:pPr algn="ctr" latinLnBrk="1" hangingPunct="0">
                            <a:lnSpc>
                              <a:spcPts val="112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15451" t="-230943" r="-124" b="-1132"/>
                          </a:stretch>
                        </a:blipFill>
                      </a:tcPr>
                    </a:tc>
                    <a:extLst>
                      <a:ext uri="{0D108BD9-81ED-4DB2-BD59-A6C34878D82A}">
                        <a16:rowId xmlns:a16="http://schemas.microsoft.com/office/drawing/2014/main" val="10003"/>
                      </a:ext>
                    </a:extLst>
                  </a:tr>
                </a:tbl>
              </a:graphicData>
            </a:graphic>
          </p:graphicFrame>
        </mc:Fallback>
      </mc:AlternateContent>
      <p:pic>
        <p:nvPicPr>
          <p:cNvPr id="3" name="P_6_BD#7f604a0b1.table_image?tii=4&amp;vcp=1&amp;pid=d24a032fb&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685800" y="2010219"/>
            <a:ext cx="932688" cy="704088"/>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4" name="P_6_BD#7f604a0b1.table_image?tii=5&amp;vcp=1&amp;pid=d24a032fb&amp;color=0,0,0&amp;tib=255,255,255&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790956" y="3372802"/>
            <a:ext cx="722376" cy="1207008"/>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5" name="P_6_BD#7f604a0b1.table_image?tii=6&amp;vcp=1&amp;pid=d24a032fb&amp;color=0,0,0&amp;tib=255,255,255&amp;vtp=1"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685800" y="4959413"/>
            <a:ext cx="932688" cy="1261872"/>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2" name="P_6_BD#7f604a0b1?colgroup=4,31&amp;vcp=1&amp;pid=d24a032fb&amp;color=0,0,0&amp;vtp=1&amp;bt=1&amp;bbb=1">
            <a:extLst>
              <a:ext uri="{FF2B5EF4-FFF2-40B4-BE49-F238E27FC236}">
                <a16:creationId xmlns:a16="http://schemas.microsoft.com/office/drawing/2014/main" id="{E3AA3DF8-C3B9-C71B-EF3E-C37FDB275F1D}"/>
              </a:ext>
            </a:extLst>
          </p:cNvPr>
          <p:cNvSpPr txBox="1"/>
          <p:nvPr/>
        </p:nvSpPr>
        <p:spPr>
          <a:xfrm>
            <a:off x="11152775" y="502920"/>
            <a:ext cx="615553" cy="445507"/>
          </a:xfrm>
          <a:prstGeom prst="rect">
            <a:avLst/>
          </a:prstGeom>
          <a:noFill/>
        </p:spPr>
        <p:txBody>
          <a:bodyPr vert="horz" wrap="none" lIns="0" tIns="0" rIns="0" bIns="0" rtlCol="0">
            <a:spAutoFit/>
          </a:bodyPr>
          <a:lstStyle/>
          <a:p>
            <a:pPr algn="r">
              <a:lnSpc>
                <a:spcPts val="3700"/>
              </a:lnSpc>
            </a:pPr>
            <a:r>
              <a:rPr lang="zh-CN" altLang="en-US" sz="2400">
                <a:latin typeface="Times New Roman" panose="02020603050405020304" pitchFamily="18" charset="0"/>
              </a:rPr>
              <a:t>续表</a:t>
            </a:r>
          </a:p>
        </p:txBody>
      </p:sp>
    </p:spTree>
  </p:cSld>
  <p:clrMapOvr>
    <a:masterClrMapping/>
  </p:clrMapOvr>
  <p:transition>
    <p:split dir="in"/>
  </p:transition>
</p:sld>
</file>

<file path=ppt/slides/slide13.xml><?xml version="1.0" encoding="utf-8"?>
<p:sld xmlns:a="http://schemas.openxmlformats.org/drawingml/2006/main" xmlns:r="http://schemas.openxmlformats.org/officeDocument/2006/relationships" xmlns:p="http://schemas.openxmlformats.org/presentationml/2006/main">
  <p:cSld name="Slide 14&amp;si=14">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5" name="P_6_BD#7f604a0b1?colgroup=4,31&amp;vcp=1&amp;pid=d24a032fb&amp;color=0,0,0&amp;vtp=1&amp;bt=1&amp;bbb=1&amp;hb=1"/>
              <p:cNvGraphicFramePr>
                <a:graphicFrameLocks noGrp="1"/>
              </p:cNvGraphicFramePr>
              <p:nvPr>
                <p:extLst>
                  <p:ext uri="{D42A27DB-BD31-4B8C-83A1-F6EECF244321}">
                    <p14:modId xmlns:p14="http://schemas.microsoft.com/office/powerpoint/2010/main" val="1375458405"/>
                  </p:ext>
                </p:extLst>
              </p:nvPr>
            </p:nvGraphicFramePr>
            <p:xfrm>
              <a:off x="393192" y="2799778"/>
              <a:ext cx="11375136" cy="1882013"/>
            </p:xfrm>
            <a:graphic>
              <a:graphicData uri="http://schemas.openxmlformats.org/drawingml/2006/table">
                <a:tbl>
                  <a:tblPr/>
                  <a:tblGrid>
                    <a:gridCol w="1517904">
                      <a:extLst>
                        <a:ext uri="{9D8B030D-6E8A-4147-A177-3AD203B41FA5}">
                          <a16:colId xmlns:a16="http://schemas.microsoft.com/office/drawing/2014/main" val="20000"/>
                        </a:ext>
                      </a:extLst>
                    </a:gridCol>
                    <a:gridCol w="9857232">
                      <a:extLst>
                        <a:ext uri="{9D8B030D-6E8A-4147-A177-3AD203B41FA5}">
                          <a16:colId xmlns:a16="http://schemas.microsoft.com/office/drawing/2014/main" val="20001"/>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实例</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分解思路</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389380">
                    <a:tc>
                      <a:txBody>
                        <a:bodyPr/>
                        <a:lstStyle/>
                        <a:p>
                          <a:pPr algn="ctr" latinLnBrk="1" hangingPunct="0">
                            <a:lnSpc>
                              <a:spcPts val="103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质量为</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𝑚</m:t>
                              </m:r>
                            </m:oMath>
                          </a14:m>
                          <a:r>
                            <a:rPr lang="en-US" altLang="zh-CN" sz="2400" b="0" i="0" dirty="0">
                              <a:solidFill>
                                <a:srgbClr val="000000"/>
                              </a:solidFill>
                              <a:latin typeface="Times New Roman" pitchFamily="34" charset="0"/>
                              <a:ea typeface="微软雅黑" pitchFamily="34" charset="-122"/>
                              <a:cs typeface="Times New Roman" pitchFamily="34" charset="-120"/>
                            </a:rPr>
                            <a:t>的物体悬挂在支架上且静止,其重力产生两个效果:一是拉伸</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𝐴𝐵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a:t>
                          </a:r>
                        </a:p>
                        <a:p>
                          <a:pPr marL="0" lv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分力</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,二是压缩</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𝐵𝐶</m:t>
                              </m:r>
                            </m:oMath>
                          </a14:m>
                          <a:r>
                            <a:rPr lang="en-US" altLang="zh-CN" sz="2400" b="0" i="0" dirty="0">
                              <a:solidFill>
                                <a:srgbClr val="000000"/>
                              </a:solidFill>
                              <a:latin typeface="Times New Roman" pitchFamily="34" charset="0"/>
                              <a:ea typeface="微软雅黑" pitchFamily="34" charset="-122"/>
                              <a:cs typeface="Times New Roman" pitchFamily="34" charset="-120"/>
                            </a:rPr>
                            <a:t>的分力</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m:t>
                              </m:r>
                              <m:r>
                                <a:rPr lang="en-US" altLang="zh-CN" sz="2400" b="0" i="0" spc="-100">
                                  <a:solidFill>
                                    <a:srgbClr val="000000"/>
                                  </a:solidFill>
                                  <a:latin typeface="Cambria Math" pitchFamily="34" charset="0"/>
                                  <a:ea typeface="Cambria Math" pitchFamily="34" charset="-122"/>
                                  <a:cs typeface="Cambria Math" pitchFamily="34" charset="-120"/>
                                </a:rPr>
                                <m:t>𝑚𝑔</m:t>
                              </m:r>
                              <m:r>
                                <m:rPr>
                                  <m:sty m:val="p"/>
                                </m:rPr>
                                <a:rPr lang="en-US" altLang="zh-CN" sz="2400" b="0" i="0" spc="-100">
                                  <a:solidFill>
                                    <a:srgbClr val="000000"/>
                                  </a:solidFill>
                                  <a:latin typeface="Cambria Math" pitchFamily="34" charset="0"/>
                                  <a:ea typeface="Cambria Math" pitchFamily="34" charset="-122"/>
                                  <a:cs typeface="Cambria Math" pitchFamily="34" charset="-120"/>
                                </a:rPr>
                                <m:t>tan</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𝛼</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r>
                                <a:rPr lang="en-US" altLang="zh-CN" sz="2400" b="0" i="0" spc="-100">
                                  <a:solidFill>
                                    <a:srgbClr val="000000"/>
                                  </a:solidFill>
                                  <a:latin typeface="Cambria Math" pitchFamily="34" charset="0"/>
                                  <a:ea typeface="Cambria Math" pitchFamily="34" charset="-122"/>
                                  <a:cs typeface="Cambria Math" pitchFamily="34" charset="-120"/>
                                </a:rPr>
                                <m:t>=</m:t>
                              </m:r>
                              <m:f>
                                <m:f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spc="-100">
                                      <a:solidFill>
                                        <a:srgbClr val="000000"/>
                                      </a:solidFill>
                                      <a:latin typeface="Cambria Math" pitchFamily="34" charset="0"/>
                                      <a:ea typeface="Cambria Math" pitchFamily="34" charset="-122"/>
                                      <a:cs typeface="Cambria Math" pitchFamily="34" charset="-120"/>
                                    </a:rPr>
                                    <m:t>𝑚𝑔</m:t>
                                  </m:r>
                                </m:num>
                                <m:den>
                                  <m:r>
                                    <m:rPr>
                                      <m:sty m:val="p"/>
                                    </m:rPr>
                                    <a:rPr lang="en-US" altLang="zh-CN" sz="2400" b="0" i="0" spc="-100">
                                      <a:solidFill>
                                        <a:srgbClr val="000000"/>
                                      </a:solidFill>
                                      <a:latin typeface="Cambria Math" pitchFamily="34" charset="0"/>
                                      <a:ea typeface="Cambria Math" pitchFamily="34" charset="-122"/>
                                      <a:cs typeface="Cambria Math" pitchFamily="34" charset="-120"/>
                                    </a:rPr>
                                    <m:t>cos</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𝛼</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15" name="P_6_BD#7f604a0b1?colgroup=4,31&amp;vcp=1&amp;pid=d24a032fb&amp;color=0,0,0&amp;vtp=1&amp;bt=1&amp;bbb=1&amp;hb=1"/>
              <p:cNvGraphicFramePr>
                <a:graphicFrameLocks noGrp="1"/>
              </p:cNvGraphicFramePr>
              <p:nvPr>
                <p:extLst>
                  <p:ext uri="{D42A27DB-BD31-4B8C-83A1-F6EECF244321}">
                    <p14:modId xmlns:p14="http://schemas.microsoft.com/office/powerpoint/2010/main" val="1375458405"/>
                  </p:ext>
                </p:extLst>
              </p:nvPr>
            </p:nvGraphicFramePr>
            <p:xfrm>
              <a:off x="393192" y="2799778"/>
              <a:ext cx="11375136" cy="1882013"/>
            </p:xfrm>
            <a:graphic>
              <a:graphicData uri="http://schemas.openxmlformats.org/drawingml/2006/table">
                <a:tbl>
                  <a:tblPr/>
                  <a:tblGrid>
                    <a:gridCol w="1517904">
                      <a:extLst>
                        <a:ext uri="{9D8B030D-6E8A-4147-A177-3AD203B41FA5}">
                          <a16:colId xmlns:a16="http://schemas.microsoft.com/office/drawing/2014/main" val="20000"/>
                        </a:ext>
                      </a:extLst>
                    </a:gridCol>
                    <a:gridCol w="9857232">
                      <a:extLst>
                        <a:ext uri="{9D8B030D-6E8A-4147-A177-3AD203B41FA5}">
                          <a16:colId xmlns:a16="http://schemas.microsoft.com/office/drawing/2014/main" val="20001"/>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实例</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分解思路</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389380">
                    <a:tc>
                      <a:txBody>
                        <a:bodyPr/>
                        <a:lstStyle/>
                        <a:p>
                          <a:pPr algn="ctr" latinLnBrk="1" hangingPunct="0">
                            <a:lnSpc>
                              <a:spcPts val="103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15451" t="-35808" r="-124" b="-437"/>
                          </a:stretch>
                        </a:blipFill>
                      </a:tcPr>
                    </a:tc>
                    <a:extLst>
                      <a:ext uri="{0D108BD9-81ED-4DB2-BD59-A6C34878D82A}">
                        <a16:rowId xmlns:a16="http://schemas.microsoft.com/office/drawing/2014/main" val="10001"/>
                      </a:ext>
                    </a:extLst>
                  </a:tr>
                </a:tbl>
              </a:graphicData>
            </a:graphic>
          </p:graphicFrame>
        </mc:Fallback>
      </mc:AlternateContent>
      <p:pic>
        <p:nvPicPr>
          <p:cNvPr id="3" name="P_6_BD#7f604a0b1.table_image?tii=7&amp;vcp=1&amp;pid=d24a032fb&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653796" y="3411030"/>
            <a:ext cx="996696" cy="1152144"/>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2" name="P_6_BD#7f604a0b1?colgroup=4,31&amp;vcp=1&amp;pid=d24a032fb&amp;color=0,0,0&amp;vtp=1&amp;bt=1&amp;bbb=1">
            <a:extLst>
              <a:ext uri="{FF2B5EF4-FFF2-40B4-BE49-F238E27FC236}">
                <a16:creationId xmlns:a16="http://schemas.microsoft.com/office/drawing/2014/main" id="{79CFD961-C84D-7E15-DF38-39A9E296BAD9}"/>
              </a:ext>
            </a:extLst>
          </p:cNvPr>
          <p:cNvSpPr txBox="1"/>
          <p:nvPr/>
        </p:nvSpPr>
        <p:spPr>
          <a:xfrm>
            <a:off x="11152775" y="2174304"/>
            <a:ext cx="615553" cy="503215"/>
          </a:xfrm>
          <a:prstGeom prst="rect">
            <a:avLst/>
          </a:prstGeom>
          <a:noFill/>
        </p:spPr>
        <p:txBody>
          <a:bodyPr vert="horz" wrap="none" lIns="0" tIns="0" rIns="0" bIns="0" rtlCol="0">
            <a:spAutoFit/>
          </a:bodyPr>
          <a:lstStyle/>
          <a:p>
            <a:pPr algn="r">
              <a:lnSpc>
                <a:spcPts val="4300"/>
              </a:lnSpc>
            </a:pPr>
            <a:r>
              <a:rPr lang="zh-CN" altLang="en-US" sz="2400">
                <a:latin typeface="Times New Roman" panose="02020603050405020304" pitchFamily="18" charset="0"/>
              </a:rPr>
              <a:t>续表</a:t>
            </a:r>
          </a:p>
        </p:txBody>
      </p:sp>
    </p:spTree>
  </p:cSld>
  <p:clrMapOvr>
    <a:masterClrMapping/>
  </p:clrMapOvr>
  <p:transition>
    <p:split dir="in"/>
  </p:transition>
</p:sld>
</file>

<file path=ppt/slides/slide14.xml><?xml version="1.0" encoding="utf-8"?>
<p:sld xmlns:a="http://schemas.openxmlformats.org/drawingml/2006/main" xmlns:r="http://schemas.openxmlformats.org/officeDocument/2006/relationships" xmlns:p="http://schemas.openxmlformats.org/presentationml/2006/main">
  <p:cSld name="Slide 15&amp;si=15">
    <p:spTree>
      <p:nvGrpSpPr>
        <p:cNvPr id="1" name=""/>
        <p:cNvGrpSpPr/>
        <p:nvPr/>
      </p:nvGrpSpPr>
      <p:grpSpPr>
        <a:xfrm>
          <a:off x="0" y="0"/>
          <a:ext cx="0" cy="0"/>
          <a:chOff x="0" y="0"/>
          <a:chExt cx="0" cy="0"/>
        </a:xfrm>
      </p:grpSpPr>
      <p:pic>
        <p:nvPicPr>
          <p:cNvPr id="2" name="C_5#5e493b389?vcp=1&amp;pid=094a4232a&amp;color=0,0,0&amp;tib=255,255,255&amp;vtp=1&amp;bt=1" descr="preencoded.png"/>
          <p:cNvPicPr>
            <a:picLocks noChangeAspect="1"/>
          </p:cNvPicPr>
          <p:nvPr/>
        </p:nvPicPr>
        <p:blipFill>
          <a:blip r:embed="rId3"/>
          <a:stretch>
            <a:fillRect/>
          </a:stretch>
        </p:blipFill>
        <p:spPr>
          <a:xfrm>
            <a:off x="411480" y="502920"/>
            <a:ext cx="11320272" cy="457200"/>
          </a:xfrm>
          <a:prstGeom prst="rect">
            <a:avLst/>
          </a:prstGeom>
        </p:spPr>
      </p:pic>
      <p:sp>
        <p:nvSpPr>
          <p:cNvPr id="3" name="C_5_BD#5e493b389?vcp=1&amp;pid=094a4232a&amp;color=255,255,255&amp;vtp=1"/>
          <p:cNvSpPr/>
          <p:nvPr/>
        </p:nvSpPr>
        <p:spPr>
          <a:xfrm>
            <a:off x="1225296"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2</a:t>
            </a:r>
            <a:endParaRPr lang="en-US" altLang="zh-CN" sz="2800" dirty="0"/>
          </a:p>
        </p:txBody>
      </p:sp>
      <p:sp>
        <p:nvSpPr>
          <p:cNvPr id="4" name="C_5_BD#5e493b389?vcp=1&amp;pid=094a4232a&amp;color=0,0,0&amp;vtp=1&amp;bbb=1"/>
          <p:cNvSpPr/>
          <p:nvPr/>
        </p:nvSpPr>
        <p:spPr>
          <a:xfrm>
            <a:off x="1837944"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力的正交分解</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易错点</a:t>
            </a:r>
            <a:endParaRPr lang="en-US" altLang="zh-CN" sz="2600" dirty="0"/>
          </a:p>
        </p:txBody>
      </p:sp>
      <mc:AlternateContent xmlns:mc="http://schemas.openxmlformats.org/markup-compatibility/2006" xmlns:a14="http://schemas.microsoft.com/office/drawing/2010/main">
        <mc:Choice Requires="a14">
          <p:sp>
            <p:nvSpPr>
              <p:cNvPr id="5" name="P_6#05dadfd75?vcp=1&amp;pid=5e493b389&amp;color=0,0,0&amp;vtp=1&amp;bbb=1&amp;hb=1"/>
              <p:cNvSpPr/>
              <p:nvPr/>
            </p:nvSpPr>
            <p:spPr>
              <a:xfrm>
                <a:off x="393192" y="1092200"/>
                <a:ext cx="11402568" cy="2203704"/>
              </a:xfrm>
              <a:prstGeom prst="rect">
                <a:avLst/>
              </a:prstGeom>
              <a:noFill/>
              <a:ln/>
            </p:spPr>
            <p:txBody>
              <a:bodyPr wrap="none" lIns="0" tIns="0" rIns="0" bIns="0" rtlCol="0" anchor="t"/>
              <a:lstStyle/>
              <a:p>
                <a:pPr algn="ctr"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.将一个力分解为相互垂直的两个分力的分解方法叫作力的正交分解法</a:t>
                </a:r>
                <a:r>
                  <a:rPr lang="en-US" altLang="zh-CN" sz="2400" b="0" i="0">
                    <a:solidFill>
                      <a:srgbClr val="000000"/>
                    </a:solidFill>
                    <a:latin typeface="Times New Roman" pitchFamily="34" charset="0"/>
                    <a:ea typeface="微软雅黑" pitchFamily="34" charset="-122"/>
                    <a:cs typeface="Times New Roman" pitchFamily="34" charset="-120"/>
                  </a:rPr>
                  <a:t>.如图甲所</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示</a:t>
                </a:r>
                <a:r>
                  <a:rPr lang="en-US" altLang="zh-CN" sz="2400" b="0" i="0" dirty="0">
                    <a:solidFill>
                      <a:srgbClr val="000000"/>
                    </a:solidFill>
                    <a:latin typeface="Times New Roman" pitchFamily="34" charset="0"/>
                    <a:ea typeface="微软雅黑" pitchFamily="34" charset="-122"/>
                    <a:cs typeface="Times New Roman" pitchFamily="34" charset="-120"/>
                  </a:rPr>
                  <a:t>，将力</a:t>
                </a:r>
                <a:r>
                  <a:rPr lang="en-US" altLang="zh-CN" sz="100" b="0" i="0" kern="0" spc="-99900" dirty="0">
                    <a:solidFill>
                      <a:srgbClr val="FFFFFF"/>
                    </a:solidFill>
                    <a:latin typeface="Times New Roman" pitchFamily="34" charset="0"/>
                    <a:ea typeface="微软雅黑" pitchFamily="34" charset="-122"/>
                    <a:cs typeface="Times New Roman" pitchFamily="34" charset="-120"/>
                  </a:rPr>
                  <a:t>&lt;m&gt;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&lt;/m&gt;</a:t>
                </a:r>
                <a:r>
                  <a:rPr lang="en-US" altLang="zh-CN" sz="2400" b="0" i="0" dirty="0">
                    <a:solidFill>
                      <a:srgbClr val="000000"/>
                    </a:solidFill>
                    <a:latin typeface="Times New Roman" pitchFamily="34" charset="0"/>
                    <a:ea typeface="微软雅黑" pitchFamily="34" charset="-122"/>
                    <a:cs typeface="Times New Roman" pitchFamily="34" charset="-120"/>
                  </a:rPr>
                  <a:t>沿</a:t>
                </a:r>
                <a:r>
                  <a:rPr lang="en-US" altLang="zh-CN" sz="100" b="0" i="0" kern="0" spc="-99900" dirty="0">
                    <a:solidFill>
                      <a:srgbClr val="FFFFFF"/>
                    </a:solidFill>
                    <a:latin typeface="Times New Roman" pitchFamily="34" charset="0"/>
                    <a:ea typeface="微软雅黑" pitchFamily="34" charset="-122"/>
                    <a:cs typeface="Times New Roman" pitchFamily="34" charset="-120"/>
                  </a:rPr>
                  <a:t>&lt;m&gt;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𝑥</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&lt;/m&gt;</a:t>
                </a:r>
                <a:r>
                  <a:rPr lang="en-US" altLang="zh-CN" sz="2400" b="0" i="0" dirty="0">
                    <a:solidFill>
                      <a:srgbClr val="000000"/>
                    </a:solidFill>
                    <a:latin typeface="Times New Roman" pitchFamily="34" charset="0"/>
                    <a:ea typeface="微软雅黑" pitchFamily="34" charset="-122"/>
                    <a:cs typeface="Times New Roman" pitchFamily="34" charset="-120"/>
                  </a:rPr>
                  <a:t>轴和</a:t>
                </a:r>
                <a:r>
                  <a:rPr lang="en-US" altLang="zh-CN" sz="100" b="0" i="0" kern="0" spc="-99900" dirty="0">
                    <a:solidFill>
                      <a:srgbClr val="FFFFFF"/>
                    </a:solidFill>
                    <a:latin typeface="Times New Roman" pitchFamily="34" charset="0"/>
                    <a:ea typeface="微软雅黑" pitchFamily="34" charset="-122"/>
                    <a:cs typeface="Times New Roman" pitchFamily="34" charset="-120"/>
                  </a:rPr>
                  <a:t>&lt;m&gt;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𝑦</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&lt;/m&gt;</a:t>
                </a:r>
                <a:r>
                  <a:rPr lang="en-US" altLang="zh-CN" sz="2400" b="0" i="0" dirty="0">
                    <a:solidFill>
                      <a:srgbClr val="000000"/>
                    </a:solidFill>
                    <a:latin typeface="Times New Roman" pitchFamily="34" charset="0"/>
                    <a:ea typeface="微软雅黑" pitchFamily="34" charset="-122"/>
                    <a:cs typeface="Times New Roman" pitchFamily="34" charset="-120"/>
                  </a:rPr>
                  <a:t>轴两个方向分解，则</a:t>
                </a:r>
                <a:endParaRPr lang="en-US" altLang="zh-CN" sz="2400" dirty="0"/>
              </a:p>
              <a:p>
                <a:pPr algn="ctr" latinLnBrk="1">
                  <a:lnSpc>
                    <a:spcPts val="4500"/>
                  </a:lnSpc>
                </a:pPr>
                <a:r>
                  <a:rPr lang="en-US" altLang="zh-CN" sz="100" b="0" i="0" kern="0" spc="-99900">
                    <a:solidFill>
                      <a:srgbClr val="FFFFFF"/>
                    </a:solidFill>
                    <a:latin typeface="Times New Roman" pitchFamily="34" charset="0"/>
                    <a:ea typeface="微软雅黑" pitchFamily="34" charset="-122"/>
                    <a:cs typeface="Times New Roman" pitchFamily="34" charset="-120"/>
                  </a:rPr>
                  <a:t>&lt;</a:t>
                </a:r>
                <a:r>
                  <a:rPr lang="en-US" altLang="zh-CN" sz="100" b="0" i="0" kern="0" spc="-99900" dirty="0">
                    <a:solidFill>
                      <a:srgbClr val="FFFFFF"/>
                    </a:solidFill>
                    <a:latin typeface="Times New Roman" pitchFamily="34" charset="0"/>
                    <a:ea typeface="微软雅黑" pitchFamily="34" charset="-122"/>
                    <a:cs typeface="Times New Roman" pitchFamily="34" charset="-120"/>
                  </a:rPr>
                  <a:t>m&gt;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𝑥</m:t>
                        </m:r>
                      </m:sub>
                    </m:sSub>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𝐹</m:t>
                    </m:r>
                    <m:r>
                      <m:rPr>
                        <m:sty m:val="p"/>
                      </m:rPr>
                      <a:rPr lang="en-US" altLang="zh-CN" sz="2400" b="0" i="0">
                        <a:solidFill>
                          <a:srgbClr val="000000"/>
                        </a:solidFill>
                        <a:latin typeface="Cambria Math" pitchFamily="34" charset="0"/>
                        <a:ea typeface="Cambria Math" pitchFamily="34" charset="-122"/>
                        <a:cs typeface="Cambria Math" pitchFamily="34" charset="-120"/>
                      </a:rPr>
                      <m:t>cos</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&lt;/m&gt;</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100" b="0" i="0" kern="0" spc="-99900" dirty="0">
                    <a:solidFill>
                      <a:srgbClr val="FFFFFF"/>
                    </a:solidFill>
                    <a:latin typeface="Times New Roman" pitchFamily="34" charset="0"/>
                    <a:ea typeface="微软雅黑" pitchFamily="34" charset="-122"/>
                    <a:cs typeface="Times New Roman" pitchFamily="34" charset="-120"/>
                  </a:rPr>
                  <a:t>&lt;m&gt;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𝑦</m:t>
                        </m:r>
                      </m:sub>
                    </m:sSub>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𝐹</m:t>
                    </m:r>
                    <m:r>
                      <m:rPr>
                        <m:sty m:val="p"/>
                      </m:rPr>
                      <a:rPr lang="en-US" altLang="zh-CN" sz="2400" b="0" i="0">
                        <a:solidFill>
                          <a:srgbClr val="000000"/>
                        </a:solidFill>
                        <a:latin typeface="Cambria Math" pitchFamily="34" charset="0"/>
                        <a:ea typeface="Cambria Math" pitchFamily="34" charset="-122"/>
                        <a:cs typeface="Cambria Math" pitchFamily="34" charset="-120"/>
                      </a:rPr>
                      <m:t>sin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&lt;/m&gt;</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5" name="P_6#05dadfd75?vcp=1&amp;pid=5e493b389&amp;color=0,0,0&amp;vtp=1&amp;bbb=1&amp;hb=1"/>
              <p:cNvSpPr>
                <a:spLocks noRot="1" noChangeAspect="1" noMove="1" noResize="1" noEditPoints="1" noAdjustHandles="1" noChangeArrowheads="1" noChangeShapeType="1" noTextEdit="1"/>
              </p:cNvSpPr>
              <p:nvPr/>
            </p:nvSpPr>
            <p:spPr>
              <a:xfrm>
                <a:off x="393192" y="1092200"/>
                <a:ext cx="11402568" cy="2203704"/>
              </a:xfrm>
              <a:prstGeom prst="rect">
                <a:avLst/>
              </a:prstGeom>
              <a:blipFill>
                <a:blip r:embed="rId4"/>
                <a:stretch>
                  <a:fillRect l="-1658" r="-588" b="-7182"/>
                </a:stretch>
              </a:blipFill>
              <a:ln/>
            </p:spPr>
            <p:txBody>
              <a:bodyPr/>
              <a:lstStyle/>
              <a:p>
                <a:r>
                  <a:rPr lang="zh-CN" altLang="en-US">
                    <a:noFill/>
                  </a:rPr>
                  <a:t> </a:t>
                </a:r>
              </a:p>
            </p:txBody>
          </p:sp>
        </mc:Fallback>
      </mc:AlternateContent>
      <p:pic>
        <p:nvPicPr>
          <p:cNvPr id="6" name="P_6_BD#05dadfd75?iti=1&amp;htil=1&amp;vcp=1&amp;pid=5e493b389&amp;color=0,0,0&amp;tib=255,255,255&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2505456" y="3452876"/>
            <a:ext cx="1481328" cy="1362456"/>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7" name="P_6_BD#05dadfd75?iti=2&amp;htil=1&amp;vcp=1&amp;pid=5e493b389&amp;color=0,0,0&amp;tib=255,255,255&amp;vtp=1"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8202168" y="3416300"/>
            <a:ext cx="1481328" cy="1399032"/>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8" name="P_6_BD#05dadfd75?iti=1&amp;htil=1&amp;vcp=1&amp;pid=5e493b389&amp;color=0,0,0&amp;vtp=1"/>
          <p:cNvSpPr/>
          <p:nvPr/>
        </p:nvSpPr>
        <p:spPr>
          <a:xfrm>
            <a:off x="3059589" y="4942332"/>
            <a:ext cx="373062" cy="895096"/>
          </a:xfrm>
          <a:prstGeom prst="rect">
            <a:avLst/>
          </a:prstGeom>
          <a:noFill/>
          <a:ln/>
        </p:spPr>
        <p:txBody>
          <a:bodyPr wrap="square" lIns="0" tIns="0" rIns="0" bIns="0" rtlCol="0" anchor="t"/>
          <a:lstStyle/>
          <a:p>
            <a:pPr algn="ctr" latinLnBrk="1">
              <a:lnSpc>
                <a:spcPct val="150000"/>
              </a:lnSpc>
            </a:pPr>
            <a:r>
              <a:rPr lang="en-US" altLang="zh-CN" sz="2400" b="0" i="0" dirty="0">
                <a:solidFill>
                  <a:srgbClr val="000000"/>
                </a:solidFill>
                <a:latin typeface="Times New Roman" pitchFamily="34" charset="0"/>
                <a:ea typeface="微软雅黑" pitchFamily="34" charset="-122"/>
                <a:cs typeface="Times New Roman" pitchFamily="34" charset="-120"/>
              </a:rPr>
              <a:t>甲</a:t>
            </a:r>
            <a:endParaRPr lang="en-US" altLang="zh-CN" sz="2400" dirty="0"/>
          </a:p>
        </p:txBody>
      </p:sp>
      <p:sp>
        <p:nvSpPr>
          <p:cNvPr id="9" name="P_6_BD#05dadfd75?iti=2&amp;htil=1&amp;vcp=1&amp;pid=5e493b389&amp;color=0,0,0&amp;vtp=1"/>
          <p:cNvSpPr/>
          <p:nvPr/>
        </p:nvSpPr>
        <p:spPr>
          <a:xfrm>
            <a:off x="8756301" y="4942332"/>
            <a:ext cx="373062" cy="895096"/>
          </a:xfrm>
          <a:prstGeom prst="rect">
            <a:avLst/>
          </a:prstGeom>
          <a:noFill/>
          <a:ln/>
        </p:spPr>
        <p:txBody>
          <a:bodyPr wrap="square" lIns="0" tIns="0" rIns="0" bIns="0" rtlCol="0" anchor="t"/>
          <a:lstStyle/>
          <a:p>
            <a:pPr algn="ctr" latinLnBrk="1">
              <a:lnSpc>
                <a:spcPct val="150000"/>
              </a:lnSpc>
            </a:pPr>
            <a:r>
              <a:rPr lang="en-US" altLang="zh-CN" sz="2400" b="0" i="0" dirty="0">
                <a:solidFill>
                  <a:srgbClr val="000000"/>
                </a:solidFill>
                <a:latin typeface="Times New Roman" pitchFamily="34" charset="0"/>
                <a:ea typeface="微软雅黑" pitchFamily="34" charset="-122"/>
                <a:cs typeface="Times New Roman" pitchFamily="34" charset="-120"/>
              </a:rPr>
              <a:t>乙</a:t>
            </a:r>
            <a:endParaRPr lang="en-US" altLang="zh-CN" sz="2400" dirty="0"/>
          </a:p>
        </p:txBody>
      </p:sp>
    </p:spTree>
  </p:cSld>
  <p:clrMapOvr>
    <a:masterClrMapping/>
  </p:clrMapOvr>
  <p:transition>
    <p:split dir="in"/>
  </p:transition>
</p:sld>
</file>

<file path=ppt/slides/slide15.xml><?xml version="1.0" encoding="utf-8"?>
<p:sld xmlns:a="http://schemas.openxmlformats.org/drawingml/2006/main" xmlns:r="http://schemas.openxmlformats.org/officeDocument/2006/relationships" xmlns:p="http://schemas.openxmlformats.org/presentationml/2006/main">
  <p:cSld name="Slide 16&amp;si=16">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P_6_BD#05dadfd75?vcp=1&amp;pid=5e493b389&amp;color=0,0,0&amp;mp=1&amp;vtp=1&amp;bt=1&amp;bbb=1&amp;hb=1"/>
              <p:cNvSpPr/>
              <p:nvPr/>
            </p:nvSpPr>
            <p:spPr>
              <a:xfrm>
                <a:off x="393192" y="743616"/>
                <a:ext cx="11402568" cy="52959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2.多个力合成的正交分解法的步骤：</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第一步</a:t>
                </a:r>
                <a:r>
                  <a:rPr lang="en-US" altLang="zh-CN" sz="2400" b="0" i="0" dirty="0">
                    <a:solidFill>
                      <a:srgbClr val="000000"/>
                    </a:solidFill>
                    <a:latin typeface="Times New Roman" pitchFamily="34" charset="0"/>
                    <a:ea typeface="微软雅黑" pitchFamily="34" charset="-122"/>
                    <a:cs typeface="Times New Roman" pitchFamily="34" charset="-120"/>
                  </a:rPr>
                  <a:t>：建立坐标系.以共点力的作用点为坐标原点，直角坐标</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𝑥</m:t>
                    </m:r>
                  </m:oMath>
                </a14:m>
                <a:r>
                  <a:rPr lang="en-US" altLang="zh-CN" sz="2400" b="0" i="0" dirty="0">
                    <a:solidFill>
                      <a:srgbClr val="000000"/>
                    </a:solidFill>
                    <a:latin typeface="Times New Roman" pitchFamily="34" charset="0"/>
                    <a:ea typeface="微软雅黑" pitchFamily="34" charset="-122"/>
                    <a:cs typeface="Times New Roman" pitchFamily="34" charset="-120"/>
                  </a:rPr>
                  <a:t>轴和</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𝑦</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轴的选择应</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使尽量多的力分布在坐标轴上</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第二步</a:t>
                </a:r>
                <a:r>
                  <a:rPr lang="en-US" altLang="zh-CN" sz="2400" b="0" i="0" dirty="0">
                    <a:solidFill>
                      <a:srgbClr val="000000"/>
                    </a:solidFill>
                    <a:latin typeface="Times New Roman" pitchFamily="34" charset="0"/>
                    <a:ea typeface="微软雅黑" pitchFamily="34" charset="-122"/>
                    <a:cs typeface="Times New Roman" pitchFamily="34" charset="-120"/>
                  </a:rPr>
                  <a:t>：正交分解各力.将每一个不在坐标轴上的力分解到</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𝑥</m:t>
                    </m:r>
                  </m:oMath>
                </a14:m>
                <a:r>
                  <a:rPr lang="en-US" altLang="zh-CN" sz="2400" b="0" i="0" dirty="0">
                    <a:solidFill>
                      <a:srgbClr val="000000"/>
                    </a:solidFill>
                    <a:latin typeface="Times New Roman" pitchFamily="34" charset="0"/>
                    <a:ea typeface="微软雅黑" pitchFamily="34" charset="-122"/>
                    <a:cs typeface="Times New Roman" pitchFamily="34" charset="-120"/>
                  </a:rPr>
                  <a:t>轴和</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𝑦</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轴上</a:t>
                </a:r>
                <a:r>
                  <a:rPr lang="en-US" altLang="zh-CN" sz="2400" b="0" i="0">
                    <a:solidFill>
                      <a:srgbClr val="000000"/>
                    </a:solidFill>
                    <a:latin typeface="Times New Roman" pitchFamily="34" charset="0"/>
                    <a:ea typeface="微软雅黑" pitchFamily="34" charset="-122"/>
                    <a:cs typeface="Times New Roman" pitchFamily="34" charset="-120"/>
                  </a:rPr>
                  <a:t>，并求出各</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分力的大小</a:t>
                </a:r>
                <a:r>
                  <a:rPr lang="en-US" altLang="zh-CN" sz="2400" b="0" i="0" dirty="0">
                    <a:solidFill>
                      <a:srgbClr val="000000"/>
                    </a:solidFill>
                    <a:latin typeface="Times New Roman" pitchFamily="34" charset="0"/>
                    <a:ea typeface="微软雅黑" pitchFamily="34" charset="-122"/>
                    <a:cs typeface="Times New Roman" pitchFamily="34" charset="-120"/>
                  </a:rPr>
                  <a:t>，如图乙所示.</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第三步</a:t>
                </a:r>
                <a:r>
                  <a:rPr lang="en-US" altLang="zh-CN" sz="2400" b="0" i="0" dirty="0">
                    <a:solidFill>
                      <a:srgbClr val="000000"/>
                    </a:solidFill>
                    <a:latin typeface="Times New Roman" pitchFamily="34" charset="0"/>
                    <a:ea typeface="微软雅黑" pitchFamily="34" charset="-122"/>
                    <a:cs typeface="Times New Roman" pitchFamily="34" charset="-120"/>
                  </a:rPr>
                  <a:t>：分别求</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𝑥</m:t>
                    </m:r>
                  </m:oMath>
                </a14:m>
                <a:r>
                  <a:rPr lang="en-US" altLang="zh-CN" sz="2400" b="0" i="0" dirty="0">
                    <a:solidFill>
                      <a:srgbClr val="000000"/>
                    </a:solidFill>
                    <a:latin typeface="Times New Roman" pitchFamily="34" charset="0"/>
                    <a:ea typeface="微软雅黑" pitchFamily="34" charset="-122"/>
                    <a:cs typeface="Times New Roman" pitchFamily="34" charset="-120"/>
                  </a:rPr>
                  <a:t>轴和</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𝑦</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轴上各分力的合力，即</a:t>
                </a:r>
                <a:endParaRPr lang="en-US" altLang="zh-CN" sz="2400" dirty="0"/>
              </a:p>
              <a:p>
                <a:pPr algn="ctr" latinLnBrk="1">
                  <a:lnSpc>
                    <a:spcPts val="4400"/>
                  </a:lnSpc>
                </a:pP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𝑥</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r>
                          <a:rPr lang="en-US" altLang="zh-CN" sz="2400" b="0" i="0">
                            <a:solidFill>
                              <a:srgbClr val="000000"/>
                            </a:solidFill>
                            <a:latin typeface="Cambria Math" pitchFamily="34" charset="0"/>
                            <a:ea typeface="Cambria Math" pitchFamily="34" charset="-122"/>
                            <a:cs typeface="Cambria Math" pitchFamily="34" charset="-120"/>
                          </a:rPr>
                          <m:t>𝑥</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𝑥</m:t>
                        </m:r>
                      </m:sub>
                    </m:sSub>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𝑦</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r>
                          <a:rPr lang="en-US" altLang="zh-CN" sz="2400" b="0" i="0">
                            <a:solidFill>
                              <a:srgbClr val="000000"/>
                            </a:solidFill>
                            <a:latin typeface="Cambria Math" pitchFamily="34" charset="0"/>
                            <a:ea typeface="Cambria Math" pitchFamily="34" charset="-122"/>
                            <a:cs typeface="Cambria Math" pitchFamily="34" charset="-120"/>
                          </a:rPr>
                          <m:t>𝑦</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𝑦</m:t>
                        </m:r>
                      </m:sub>
                    </m:sSub>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第四步</a:t>
                </a:r>
                <a:r>
                  <a:rPr lang="en-US" altLang="zh-CN" sz="2400" b="0" i="0" dirty="0">
                    <a:solidFill>
                      <a:srgbClr val="000000"/>
                    </a:solidFill>
                    <a:latin typeface="Times New Roman" pitchFamily="34" charset="0"/>
                    <a:ea typeface="微软雅黑" pitchFamily="34" charset="-122"/>
                    <a:cs typeface="Times New Roman" pitchFamily="34" charset="-120"/>
                  </a:rPr>
                  <a:t>：求</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𝑥</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𝑦</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的合力即为共点力的合力.</a:t>
                </a:r>
                <a:endParaRPr lang="en-US" altLang="zh-CN" sz="2400" dirty="0"/>
              </a:p>
              <a:p>
                <a:pPr latinLnBrk="1">
                  <a:lnSpc>
                    <a:spcPts val="65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合力大小</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r>
                      <a:rPr lang="en-US" altLang="zh-CN" sz="2400" b="0" i="0">
                        <a:solidFill>
                          <a:srgbClr val="000000"/>
                        </a:solidFill>
                        <a:latin typeface="Cambria Math" pitchFamily="34" charset="0"/>
                        <a:ea typeface="Cambria Math" pitchFamily="34" charset="-122"/>
                        <a:cs typeface="Cambria Math" pitchFamily="34" charset="-120"/>
                      </a:rPr>
                      <m:t>=</m:t>
                    </m:r>
                    <m:rad>
                      <m:radPr>
                        <m:degHide m:val="on"/>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radPr>
                      <m:deg/>
                      <m:e>
                        <m:sSubSup>
                          <m:sSub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Sup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𝑥</m:t>
                            </m:r>
                          </m:sub>
                          <m:sup>
                            <m:r>
                              <a:rPr lang="en-US" altLang="zh-CN" sz="2400" b="0" i="0">
                                <a:solidFill>
                                  <a:srgbClr val="000000"/>
                                </a:solidFill>
                                <a:latin typeface="Cambria Math" pitchFamily="34" charset="0"/>
                                <a:ea typeface="Cambria Math" pitchFamily="34" charset="-122"/>
                                <a:cs typeface="Cambria Math" pitchFamily="34" charset="-120"/>
                              </a:rPr>
                              <m:t>2</m:t>
                            </m:r>
                          </m:sup>
                        </m:sSubSup>
                        <m:r>
                          <a:rPr lang="en-US" altLang="zh-CN" sz="2400" b="0" i="0">
                            <a:solidFill>
                              <a:srgbClr val="000000"/>
                            </a:solidFill>
                            <a:latin typeface="Cambria Math" pitchFamily="34" charset="0"/>
                            <a:ea typeface="Cambria Math" pitchFamily="34" charset="-122"/>
                            <a:cs typeface="Cambria Math" pitchFamily="34" charset="-120"/>
                          </a:rPr>
                          <m:t>+</m:t>
                        </m:r>
                        <m:sSubSup>
                          <m:sSubSupPr>
                            <m:ctrlPr>
                              <a:rPr lang="en-US" altLang="zh-CN" sz="2400" b="0" i="1">
                                <a:solidFill>
                                  <a:srgbClr val="000000"/>
                                </a:solidFill>
                                <a:latin typeface="Cambria Math" panose="02040503050406030204" pitchFamily="18" charset="0"/>
                                <a:ea typeface="Cambria Math" pitchFamily="34" charset="-122"/>
                                <a:cs typeface="Cambria Math" pitchFamily="34" charset="-120"/>
                              </a:rPr>
                            </m:ctrlPr>
                          </m:sSubSup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𝑦</m:t>
                            </m:r>
                          </m:sub>
                          <m:sup>
                            <m:r>
                              <a:rPr lang="en-US" altLang="zh-CN" sz="2400" b="0" i="0">
                                <a:solidFill>
                                  <a:srgbClr val="000000"/>
                                </a:solidFill>
                                <a:latin typeface="Cambria Math" pitchFamily="34" charset="0"/>
                                <a:ea typeface="Cambria Math" pitchFamily="34" charset="-122"/>
                                <a:cs typeface="Cambria Math" pitchFamily="34" charset="-120"/>
                              </a:rPr>
                              <m:t>2</m:t>
                            </m:r>
                          </m:sup>
                        </m:sSubSup>
                      </m:e>
                    </m:rad>
                  </m:oMath>
                </a14:m>
                <a:r>
                  <a:rPr lang="en-US" altLang="zh-CN" sz="2400" b="0" i="0" dirty="0">
                    <a:solidFill>
                      <a:srgbClr val="000000"/>
                    </a:solidFill>
                    <a:latin typeface="Times New Roman" pitchFamily="34" charset="0"/>
                    <a:ea typeface="微软雅黑" pitchFamily="34" charset="-122"/>
                    <a:cs typeface="Times New Roman" pitchFamily="34" charset="-120"/>
                  </a:rPr>
                  <a:t>,合力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𝑥</m:t>
                    </m:r>
                  </m:oMath>
                </a14:m>
                <a:r>
                  <a:rPr lang="en-US" altLang="zh-CN" sz="2400" b="0" i="0" dirty="0">
                    <a:solidFill>
                      <a:srgbClr val="000000"/>
                    </a:solidFill>
                    <a:latin typeface="Times New Roman" pitchFamily="34" charset="0"/>
                    <a:ea typeface="微软雅黑" pitchFamily="34" charset="-122"/>
                    <a:cs typeface="Times New Roman" pitchFamily="34" charset="-120"/>
                  </a:rPr>
                  <a:t>轴间夹角：</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𝛼</m:t>
                    </m:r>
                    <m:r>
                      <a:rPr lang="en-US" altLang="zh-CN" sz="2400" b="0" i="0">
                        <a:solidFill>
                          <a:srgbClr val="000000"/>
                        </a:solidFill>
                        <a:latin typeface="Cambria Math" pitchFamily="34" charset="0"/>
                        <a:ea typeface="Cambria Math" pitchFamily="34" charset="-122"/>
                        <a:cs typeface="Cambria Math" pitchFamily="34" charset="-120"/>
                      </a:rPr>
                      <m:t>=</m:t>
                    </m:r>
                    <m:r>
                      <m:rPr>
                        <m:sty m:val="p"/>
                      </m:rPr>
                      <a:rPr lang="en-US" altLang="zh-CN" sz="2400" b="0" i="0">
                        <a:solidFill>
                          <a:srgbClr val="000000"/>
                        </a:solidFill>
                        <a:latin typeface="Cambria Math" pitchFamily="34" charset="0"/>
                        <a:ea typeface="Cambria Math" pitchFamily="34" charset="-122"/>
                        <a:cs typeface="Cambria Math" pitchFamily="34" charset="-120"/>
                      </a:rPr>
                      <m:t>arctan</m:t>
                    </m:r>
                    <m:r>
                      <m:rPr>
                        <m:nor/>
                      </m:rPr>
                      <a:rPr lang="en-US" altLang="zh-CN" sz="2400" b="0" i="0">
                        <a:solidFill>
                          <a:srgbClr val="000000"/>
                        </a:solidFill>
                        <a:latin typeface="Cambria Math" pitchFamily="34" charset="0"/>
                        <a:ea typeface="Cambria Math" pitchFamily="34" charset="-122"/>
                        <a:cs typeface="Cambria Math" pitchFamily="34" charset="-120"/>
                      </a:rPr>
                      <m:t> </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𝑦</m:t>
                            </m:r>
                          </m:sub>
                        </m:sSub>
                      </m:num>
                      <m:den>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𝑥</m:t>
                            </m:r>
                          </m:sub>
                        </m:sSub>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2" name="P_6_BD#05dadfd75?vcp=1&amp;pid=5e493b389&amp;color=0,0,0&amp;mp=1&amp;vtp=1&amp;bt=1&amp;bbb=1&amp;hb=1"/>
              <p:cNvSpPr>
                <a:spLocks noRot="1" noChangeAspect="1" noMove="1" noResize="1" noEditPoints="1" noAdjustHandles="1" noChangeArrowheads="1" noChangeShapeType="1" noTextEdit="1"/>
              </p:cNvSpPr>
              <p:nvPr/>
            </p:nvSpPr>
            <p:spPr>
              <a:xfrm>
                <a:off x="393192" y="743616"/>
                <a:ext cx="11402568" cy="5295900"/>
              </a:xfrm>
              <a:prstGeom prst="rect">
                <a:avLst/>
              </a:prstGeom>
              <a:blipFill>
                <a:blip r:embed="rId3"/>
                <a:stretch>
                  <a:fillRect l="-1658" r="-1604" b="-115"/>
                </a:stretch>
              </a:blipFill>
              <a:ln/>
            </p:spPr>
            <p:txBody>
              <a:bodyPr/>
              <a:lstStyle/>
              <a:p>
                <a:r>
                  <a:rPr lang="zh-CN" altLang="en-US">
                    <a:noFill/>
                  </a:rPr>
                  <a:t> </a:t>
                </a:r>
              </a:p>
            </p:txBody>
          </p:sp>
        </mc:Fallback>
      </mc:AlternateContent>
    </p:spTree>
  </p:cSld>
  <p:clrMapOvr>
    <a:masterClrMapping/>
  </p:clrMapOvr>
  <p:transition>
    <p:split dir="in"/>
  </p:transition>
</p:sld>
</file>

<file path=ppt/slides/slide16.xml><?xml version="1.0" encoding="utf-8"?>
<p:sld xmlns:a="http://schemas.openxmlformats.org/drawingml/2006/main" xmlns:r="http://schemas.openxmlformats.org/officeDocument/2006/relationships" xmlns:p="http://schemas.openxmlformats.org/presentationml/2006/main">
  <p:cSld name="Slide 17&amp;si=17">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QO_6_BD.9_1#47b1caf39?vcp=1&amp;pid=5e493b389&amp;color=0,0,0&amp;vtp=1&amp;bt=1&amp;bbb=1&amp;hb=1"/>
              <p:cNvSpPr/>
              <p:nvPr/>
            </p:nvSpPr>
            <p:spPr>
              <a:xfrm>
                <a:off x="393192" y="1826768"/>
                <a:ext cx="11402568" cy="1037400"/>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考题2</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在同一平面内的四个共点力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=20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a:solidFill>
                          <a:srgbClr val="000000"/>
                        </a:solidFill>
                        <a:latin typeface="Cambria Math" pitchFamily="34" charset="0"/>
                        <a:ea typeface="Cambria Math" pitchFamily="34" charset="-122"/>
                        <a:cs typeface="Cambria Math" pitchFamily="34" charset="-120"/>
                      </a:rPr>
                      <m:t>=30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3</m:t>
                        </m:r>
                      </m:sub>
                    </m:sSub>
                    <m:r>
                      <a:rPr lang="en-US" altLang="zh-CN" sz="2400" b="0" i="0">
                        <a:solidFill>
                          <a:srgbClr val="000000"/>
                        </a:solidFill>
                        <a:latin typeface="Cambria Math" pitchFamily="34" charset="0"/>
                        <a:ea typeface="Cambria Math" pitchFamily="34" charset="-122"/>
                        <a:cs typeface="Cambria Math" pitchFamily="34" charset="-120"/>
                      </a:rPr>
                      <m:t>=22</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4</m:t>
                        </m:r>
                      </m:sub>
                    </m:sSub>
                    <m:r>
                      <a:rPr lang="en-US" altLang="zh-CN" sz="2400" b="0" i="0">
                        <a:solidFill>
                          <a:srgbClr val="000000"/>
                        </a:solidFill>
                        <a:latin typeface="Cambria Math" pitchFamily="34" charset="0"/>
                        <a:ea typeface="Cambria Math" pitchFamily="34" charset="-122"/>
                        <a:cs typeface="Cambria Math" pitchFamily="34" charset="-120"/>
                      </a:rPr>
                      <m:t>=40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,方向</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如图所示</a:t>
                </a:r>
                <a:r>
                  <a:rPr lang="en-US" altLang="zh-CN" sz="2400" b="0" i="0" dirty="0">
                    <a:solidFill>
                      <a:srgbClr val="000000"/>
                    </a:solidFill>
                    <a:latin typeface="Times New Roman" pitchFamily="34" charset="0"/>
                    <a:ea typeface="微软雅黑" pitchFamily="34" charset="-122"/>
                    <a:cs typeface="Times New Roman" pitchFamily="34" charset="-120"/>
                  </a:rPr>
                  <a:t>，求它们的合力大小和方向.（已知</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sin</m:t>
                    </m:r>
                    <m:r>
                      <m:rPr>
                        <m:nor/>
                      </m:rPr>
                      <a:rPr lang="en-US" altLang="zh-CN" sz="2400" b="0" i="0">
                        <a:solidFill>
                          <a:srgbClr val="000000"/>
                        </a:solidFill>
                        <a:latin typeface="Cambria Math" pitchFamily="34" charset="0"/>
                        <a:ea typeface="Cambria Math" pitchFamily="34" charset="-122"/>
                        <a:cs typeface="Cambria Math" pitchFamily="34" charset="-120"/>
                      </a:rPr>
                      <m:t> </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37</m:t>
                        </m:r>
                      </m:e>
                      <m:sup>
                        <m:r>
                          <a:rPr lang="en-US" altLang="zh-CN" sz="2400" b="0" i="0">
                            <a:solidFill>
                              <a:srgbClr val="000000"/>
                            </a:solidFill>
                            <a:latin typeface="Cambria Math" pitchFamily="34" charset="0"/>
                            <a:ea typeface="Cambria Math" pitchFamily="34" charset="-122"/>
                            <a:cs typeface="Cambria Math" pitchFamily="34" charset="-120"/>
                          </a:rPr>
                          <m:t>∘</m:t>
                        </m:r>
                      </m:sup>
                    </m:sSup>
                    <m:r>
                      <a:rPr lang="en-US" altLang="zh-CN" sz="2400" b="0" i="0">
                        <a:solidFill>
                          <a:srgbClr val="000000"/>
                        </a:solidFill>
                        <a:latin typeface="Cambria Math" pitchFamily="34" charset="0"/>
                        <a:ea typeface="Cambria Math" pitchFamily="34" charset="-122"/>
                        <a:cs typeface="Cambria Math" pitchFamily="34" charset="-120"/>
                      </a:rPr>
                      <m:t>=0.6</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cos</m:t>
                    </m:r>
                    <m:r>
                      <m:rPr>
                        <m:nor/>
                      </m:rPr>
                      <a:rPr lang="en-US" altLang="zh-CN" sz="2400" b="0" i="0">
                        <a:solidFill>
                          <a:srgbClr val="000000"/>
                        </a:solidFill>
                        <a:latin typeface="Cambria Math" pitchFamily="34" charset="0"/>
                        <a:ea typeface="Cambria Math" pitchFamily="34" charset="-122"/>
                        <a:cs typeface="Cambria Math" pitchFamily="34" charset="-120"/>
                      </a:rPr>
                      <m:t> </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37</m:t>
                        </m:r>
                      </m:e>
                      <m:sup>
                        <m:r>
                          <a:rPr lang="en-US" altLang="zh-CN" sz="2400" b="0" i="0">
                            <a:solidFill>
                              <a:srgbClr val="000000"/>
                            </a:solidFill>
                            <a:latin typeface="Cambria Math" pitchFamily="34" charset="0"/>
                            <a:ea typeface="Cambria Math" pitchFamily="34" charset="-122"/>
                            <a:cs typeface="Cambria Math" pitchFamily="34" charset="-120"/>
                          </a:rPr>
                          <m:t>∘</m:t>
                        </m:r>
                      </m:sup>
                    </m:sSup>
                    <m:r>
                      <a:rPr lang="en-US" altLang="zh-CN" sz="2400" b="0" i="0">
                        <a:solidFill>
                          <a:srgbClr val="000000"/>
                        </a:solidFill>
                        <a:latin typeface="Cambria Math" pitchFamily="34" charset="0"/>
                        <a:ea typeface="Cambria Math" pitchFamily="34" charset="-122"/>
                        <a:cs typeface="Cambria Math" pitchFamily="34" charset="-120"/>
                      </a:rPr>
                      <m:t>=0.8</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2" name="QO_6_BD.9_1#47b1caf39?vcp=1&amp;pid=5e493b389&amp;color=0,0,0&amp;vtp=1&amp;bt=1&amp;bbb=1&amp;hb=1"/>
              <p:cNvSpPr>
                <a:spLocks noRot="1" noChangeAspect="1" noMove="1" noResize="1" noEditPoints="1" noAdjustHandles="1" noChangeArrowheads="1" noChangeShapeType="1" noTextEdit="1"/>
              </p:cNvSpPr>
              <p:nvPr/>
            </p:nvSpPr>
            <p:spPr>
              <a:xfrm>
                <a:off x="393192" y="1826768"/>
                <a:ext cx="11402568" cy="1037400"/>
              </a:xfrm>
              <a:prstGeom prst="rect">
                <a:avLst/>
              </a:prstGeom>
              <a:blipFill>
                <a:blip r:embed="rId3"/>
                <a:stretch>
                  <a:fillRect l="-1658" r="-1176" b="-17059"/>
                </a:stretch>
              </a:blipFill>
              <a:ln/>
            </p:spPr>
            <p:txBody>
              <a:bodyPr/>
              <a:lstStyle/>
              <a:p>
                <a:r>
                  <a:rPr lang="zh-CN" altLang="en-US">
                    <a:noFill/>
                  </a:rPr>
                  <a:t> </a:t>
                </a:r>
              </a:p>
            </p:txBody>
          </p:sp>
        </mc:Fallback>
      </mc:AlternateContent>
      <p:pic>
        <p:nvPicPr>
          <p:cNvPr id="3" name="QO_6_BD.9_2#47b1caf39?vcp=1&amp;pid=5e493b389&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4773168" y="2999994"/>
            <a:ext cx="2642616" cy="2029968"/>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17.xml><?xml version="1.0" encoding="utf-8"?>
<p:sld xmlns:a="http://schemas.openxmlformats.org/drawingml/2006/main" xmlns:r="http://schemas.openxmlformats.org/officeDocument/2006/relationships" xmlns:p="http://schemas.openxmlformats.org/presentationml/2006/main">
  <p:cSld name="Slide 18&amp;si=18">
    <p:spTree>
      <p:nvGrpSpPr>
        <p:cNvPr id="1" name=""/>
        <p:cNvGrpSpPr/>
        <p:nvPr/>
      </p:nvGrpSpPr>
      <p:grpSpPr>
        <a:xfrm>
          <a:off x="0" y="0"/>
          <a:ext cx="0" cy="0"/>
          <a:chOff x="0" y="0"/>
          <a:chExt cx="0" cy="0"/>
        </a:xfrm>
      </p:grpSpPr>
      <p:pic>
        <p:nvPicPr>
          <p:cNvPr id="2" name="QO_6_AS.10_1#47b1caf39?htil=4&amp;vcp=1&amp;pid=5e493b389&amp;color=0,0,0&amp;tib=255,255,255&amp;vtp=1&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8631936" y="813468"/>
            <a:ext cx="3145536" cy="2331720"/>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3" name="QO_6_AS.10_2#47b1caf39?htil=4&amp;vcp=1&amp;pid=5e493b389&amp;color=0,0,0&amp;vtp=1&amp;bt=1&amp;bbb=1&amp;hs=1"/>
          <p:cNvSpPr/>
          <p:nvPr/>
        </p:nvSpPr>
        <p:spPr>
          <a:xfrm>
            <a:off x="393192" y="767748"/>
            <a:ext cx="8119872" cy="948500"/>
          </a:xfrm>
          <a:prstGeom prst="rect">
            <a:avLst/>
          </a:prstGeom>
          <a:noFill/>
          <a:ln/>
        </p:spPr>
        <p:txBody>
          <a:bodyPr wrap="none" lIns="0" tIns="0" rIns="0" bIns="0" rtlCol="0" anchor="t"/>
          <a:lstStyle/>
          <a:p>
            <a:pPr algn="l" latinLnBrk="1">
              <a:lnSpc>
                <a:spcPts val="4000"/>
              </a:lnSpc>
            </a:pPr>
            <a:r>
              <a:rPr lang="en-US" altLang="zh-CN" sz="2400" b="1" i="0" dirty="0">
                <a:solidFill>
                  <a:srgbClr val="FF0000"/>
                </a:solidFill>
                <a:latin typeface="Times New Roman" pitchFamily="34" charset="0"/>
                <a:ea typeface="微软雅黑" pitchFamily="34" charset="-122"/>
                <a:cs typeface="Times New Roman" pitchFamily="34" charset="-120"/>
              </a:rPr>
              <a:t>［第1步：建立平面直角坐标系］</a:t>
            </a:r>
            <a:endParaRPr lang="en-US" altLang="zh-CN" sz="2400" dirty="0"/>
          </a:p>
          <a:p>
            <a:pPr latinLnBrk="1">
              <a:lnSpc>
                <a:spcPts val="3800"/>
              </a:lnSpc>
            </a:pPr>
            <a:r>
              <a:rPr lang="en-US" altLang="zh-CN" sz="2400" b="1" i="0">
                <a:solidFill>
                  <a:srgbClr val="FF0000"/>
                </a:solidFill>
                <a:latin typeface="Times New Roman" pitchFamily="34" charset="0"/>
                <a:ea typeface="微软雅黑" pitchFamily="34" charset="-122"/>
                <a:cs typeface="Times New Roman" pitchFamily="34" charset="-120"/>
              </a:rPr>
              <a:t>建立如图所示的坐标系</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AlternateContent xmlns:mc="http://schemas.openxmlformats.org/markup-compatibility/2006" xmlns:a14="http://schemas.microsoft.com/office/drawing/2010/main">
        <mc:Choice Requires="a14">
          <p:sp>
            <p:nvSpPr>
              <p:cNvPr id="4" name="QO_6_AS.10_3#47b1caf39?htil=4&amp;vcp=1&amp;pid=5e493b389&amp;color=0,0,0&amp;vtp=1&amp;bbb=1&amp;hb=1&amp;hs=1"/>
              <p:cNvSpPr/>
              <p:nvPr/>
            </p:nvSpPr>
            <p:spPr>
              <a:xfrm>
                <a:off x="393192" y="1719359"/>
                <a:ext cx="8119872" cy="1524000"/>
              </a:xfrm>
              <a:prstGeom prst="rect">
                <a:avLst/>
              </a:prstGeom>
              <a:noFill/>
              <a:ln/>
            </p:spPr>
            <p:txBody>
              <a:bodyPr wrap="none" lIns="0" tIns="0" rIns="0" bIns="0" rtlCol="0" anchor="t"/>
              <a:lstStyle/>
              <a:p>
                <a:pPr algn="l" latinLnBrk="1">
                  <a:lnSpc>
                    <a:spcPts val="4000"/>
                  </a:lnSpc>
                </a:pPr>
                <a:r>
                  <a:rPr lang="en-US" altLang="zh-CN" sz="2400" b="1" i="0" dirty="0">
                    <a:solidFill>
                      <a:srgbClr val="FF0000"/>
                    </a:solidFill>
                    <a:latin typeface="Times New Roman" pitchFamily="34" charset="0"/>
                    <a:ea typeface="微软雅黑" pitchFamily="34" charset="-122"/>
                    <a:cs typeface="Times New Roman" pitchFamily="34" charset="-120"/>
                  </a:rPr>
                  <a:t>［第2步：分别求</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oMath>
                </a14:m>
                <a:r>
                  <a:rPr lang="en-US" altLang="zh-CN" sz="2400" b="1" i="0" dirty="0">
                    <a:solidFill>
                      <a:srgbClr val="FF0000"/>
                    </a:solidFill>
                    <a:latin typeface="Times New Roman" pitchFamily="34" charset="0"/>
                    <a:ea typeface="微软雅黑" pitchFamily="34" charset="-122"/>
                    <a:cs typeface="Times New Roman" pitchFamily="34" charset="-120"/>
                  </a:rPr>
                  <a:t>轴和</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𝒚</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轴方向的合力］</a:t>
                </a:r>
                <a:endParaRPr lang="en-US" altLang="zh-CN" sz="2400" dirty="0"/>
              </a:p>
              <a:p>
                <a:pPr latinLnBrk="1">
                  <a:lnSpc>
                    <a:spcPts val="40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轴方向</a:t>
                </a:r>
                <a:r>
                  <a:rPr lang="en-US" altLang="zh-CN" sz="2400" b="1" i="0">
                    <a:solidFill>
                      <a:srgbClr val="FF0000"/>
                    </a:solidFill>
                    <a:latin typeface="Times New Roman" pitchFamily="34" charset="0"/>
                    <a:ea typeface="微软雅黑" pitchFamily="34" charset="-122"/>
                    <a:cs typeface="Times New Roman" pitchFamily="34" charset="-120"/>
                  </a:rPr>
                  <a:t>：合力</a:t>
                </a:r>
              </a:p>
              <a:p>
                <a:pPr latinLnBrk="1">
                  <a:lnSpc>
                    <a:spcPts val="40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𝒙</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𝟒</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𝟑𝟕</m:t>
                        </m:r>
                      </m:e>
                      <m:sup>
                        <m:r>
                          <a:rPr lang="en-US" altLang="zh-CN" sz="2400" b="1" i="0">
                            <a:solidFill>
                              <a:srgbClr val="FF0000"/>
                            </a:solidFill>
                            <a:latin typeface="Cambria Math" pitchFamily="34" charset="0"/>
                            <a:ea typeface="Cambria Math" pitchFamily="34" charset="-122"/>
                            <a:cs typeface="Cambria Math" pitchFamily="34" charset="-120"/>
                          </a:rPr>
                          <m:t>∘</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𝒚</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轴方向：</a:t>
                </a:r>
              </a:p>
              <a:p>
                <a:pPr latinLnBrk="1">
                  <a:lnSpc>
                    <a:spcPct val="150000"/>
                  </a:lnSpc>
                </a:pPr>
                <a:endParaRPr lang="en-US" altLang="zh-CN" sz="2400" dirty="0"/>
              </a:p>
            </p:txBody>
          </p:sp>
        </mc:Choice>
        <mc:Fallback xmlns="">
          <p:sp>
            <p:nvSpPr>
              <p:cNvPr id="4" name="QO_6_AS.10_3#47b1caf39?htil=4&amp;vcp=1&amp;pid=5e493b389&amp;color=0,0,0&amp;vtp=1&amp;bbb=1&amp;hb=1&amp;hs=1"/>
              <p:cNvSpPr>
                <a:spLocks noRot="1" noChangeAspect="1" noMove="1" noResize="1" noEditPoints="1" noAdjustHandles="1" noChangeArrowheads="1" noChangeShapeType="1" noTextEdit="1"/>
              </p:cNvSpPr>
              <p:nvPr/>
            </p:nvSpPr>
            <p:spPr>
              <a:xfrm>
                <a:off x="393192" y="1719359"/>
                <a:ext cx="8119872" cy="1524000"/>
              </a:xfrm>
              <a:prstGeom prst="rect">
                <a:avLst/>
              </a:prstGeom>
              <a:blipFill>
                <a:blip r:embed="rId4"/>
                <a:stretch>
                  <a:fillRect l="-2327" r="-2628" b="-8800"/>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QO_6_AS.10_3#47b1caf39?htil=4&amp;vcp=1&amp;pid=5e493b389&amp;color=0,0,0&amp;vtp=1&amp;bbb=1&amp;hb=1&amp;hs=1">
                <a:extLst>
                  <a:ext uri="{FF2B5EF4-FFF2-40B4-BE49-F238E27FC236}">
                    <a16:creationId xmlns:a16="http://schemas.microsoft.com/office/drawing/2014/main" id="{D7939F80-0BEF-2217-13D7-4A58EB418348}"/>
                  </a:ext>
                </a:extLst>
              </p:cNvPr>
              <p:cNvSpPr/>
              <p:nvPr/>
            </p:nvSpPr>
            <p:spPr>
              <a:xfrm>
                <a:off x="395996" y="3741895"/>
                <a:ext cx="11400008" cy="2290699"/>
              </a:xfrm>
              <a:prstGeom prst="rect">
                <a:avLst/>
              </a:prstGeom>
              <a:noFill/>
              <a:ln/>
            </p:spPr>
            <p:txBody>
              <a:bodyPr wrap="none" lIns="0" tIns="0" rIns="0" bIns="0" rtlCol="0" anchor="t"/>
              <a:lstStyle/>
              <a:p>
                <a:pPr latinLnBrk="1">
                  <a:lnSpc>
                    <a:spcPts val="4000"/>
                  </a:lnSpc>
                </a:pPr>
                <a:r>
                  <a:rPr lang="en-US" altLang="zh-CN" sz="2400" b="1" i="0">
                    <a:solidFill>
                      <a:srgbClr val="FF0000"/>
                    </a:solidFill>
                    <a:latin typeface="Times New Roman" pitchFamily="34" charset="0"/>
                    <a:ea typeface="微软雅黑" pitchFamily="34" charset="-122"/>
                    <a:cs typeface="Times New Roman" pitchFamily="34" charset="-120"/>
                  </a:rPr>
                  <a:t>［</a:t>
                </a:r>
                <a:r>
                  <a:rPr lang="en-US" altLang="zh-CN" sz="2400" b="1" i="0" dirty="0">
                    <a:solidFill>
                      <a:srgbClr val="FF0000"/>
                    </a:solidFill>
                    <a:latin typeface="Times New Roman" pitchFamily="34" charset="0"/>
                    <a:ea typeface="微软雅黑" pitchFamily="34" charset="-122"/>
                    <a:cs typeface="Times New Roman" pitchFamily="34" charset="-120"/>
                  </a:rPr>
                  <a:t>第3步：求总的合力］</a:t>
                </a:r>
                <a:endParaRPr lang="en-US" altLang="zh-CN" sz="2400" dirty="0"/>
              </a:p>
              <a:p>
                <a:pPr latinLnBrk="1">
                  <a:lnSpc>
                    <a:spcPts val="5900"/>
                  </a:lnSpc>
                </a:pPr>
                <a:r>
                  <a:rPr lang="en-US" altLang="zh-CN" sz="2400" b="1" i="0">
                    <a:solidFill>
                      <a:srgbClr val="FF0000"/>
                    </a:solidFill>
                    <a:latin typeface="Times New Roman" pitchFamily="34" charset="0"/>
                    <a:ea typeface="微软雅黑" pitchFamily="34" charset="-122"/>
                    <a:cs typeface="Times New Roman" pitchFamily="34" charset="-120"/>
                  </a:rPr>
                  <a:t>合力大小为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baseline="-10000">
                            <a:solidFill>
                              <a:srgbClr val="FF0000"/>
                            </a:solidFill>
                            <a:latin typeface="Cambria Math" panose="02040503050406030204" pitchFamily="18" charset="0"/>
                          </a:rPr>
                          <m:t>合</m:t>
                        </m:r>
                      </m:sub>
                    </m:sSub>
                    <m:r>
                      <a:rPr lang="en-US" altLang="zh-CN" sz="2400" b="1" i="0">
                        <a:solidFill>
                          <a:srgbClr val="FF0000"/>
                        </a:solidFill>
                        <a:latin typeface="Cambria Math" pitchFamily="34" charset="0"/>
                        <a:ea typeface="Cambria Math" pitchFamily="34" charset="-122"/>
                        <a:cs typeface="Cambria Math" pitchFamily="34" charset="-120"/>
                      </a:rPr>
                      <m:t>=</m:t>
                    </m:r>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sSubSup>
                          <m:sSub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Sup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𝒙</m:t>
                            </m:r>
                          </m:sub>
                          <m:sup>
                            <m:r>
                              <a:rPr lang="en-US" altLang="zh-CN" sz="2400" b="1" i="1">
                                <a:solidFill>
                                  <a:srgbClr val="FF0000"/>
                                </a:solidFill>
                                <a:latin typeface="Cambria Math" pitchFamily="34" charset="0"/>
                                <a:ea typeface="Cambria Math" pitchFamily="34" charset="-122"/>
                                <a:cs typeface="Cambria Math" pitchFamily="34" charset="-120"/>
                              </a:rPr>
                              <m:t>𝟐</m:t>
                            </m:r>
                          </m:sup>
                        </m:sSubSup>
                        <m:r>
                          <a:rPr lang="en-US" altLang="zh-CN" sz="2400" b="1" i="0">
                            <a:solidFill>
                              <a:srgbClr val="FF0000"/>
                            </a:solidFill>
                            <a:latin typeface="Cambria Math" pitchFamily="34" charset="0"/>
                            <a:ea typeface="Cambria Math" pitchFamily="34" charset="-122"/>
                            <a:cs typeface="Cambria Math" pitchFamily="34" charset="-120"/>
                          </a:rPr>
                          <m:t>+</m:t>
                        </m:r>
                        <m:sSubSup>
                          <m:sSubSupPr>
                            <m:ctrlPr>
                              <a:rPr lang="en-US" altLang="zh-CN" sz="2400" b="1" i="1">
                                <a:solidFill>
                                  <a:srgbClr val="FF0000"/>
                                </a:solidFill>
                                <a:latin typeface="Cambria Math" panose="02040503050406030204" pitchFamily="18" charset="0"/>
                                <a:ea typeface="Cambria Math" pitchFamily="34" charset="-122"/>
                                <a:cs typeface="Cambria Math" pitchFamily="34" charset="-120"/>
                              </a:rPr>
                            </m:ctrlPr>
                          </m:sSubSup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𝒚</m:t>
                            </m:r>
                          </m:sub>
                          <m:sup>
                            <m:r>
                              <a:rPr lang="en-US" altLang="zh-CN" sz="2400" b="1" i="1">
                                <a:solidFill>
                                  <a:srgbClr val="FF0000"/>
                                </a:solidFill>
                                <a:latin typeface="Cambria Math" pitchFamily="34" charset="0"/>
                                <a:ea typeface="Cambria Math" pitchFamily="34" charset="-122"/>
                                <a:cs typeface="Cambria Math" pitchFamily="34" charset="-120"/>
                              </a:rPr>
                              <m:t>𝟐</m:t>
                            </m:r>
                          </m:sup>
                        </m:sSubSup>
                      </m:e>
                    </m:rad>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𝟐𝟐</m:t>
                    </m:r>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r>
                          <a:rPr lang="en-US" altLang="zh-CN" sz="2400" b="1" i="1">
                            <a:solidFill>
                              <a:srgbClr val="FF0000"/>
                            </a:solidFill>
                            <a:latin typeface="Cambria Math" pitchFamily="34" charset="0"/>
                            <a:ea typeface="Cambria Math" pitchFamily="34" charset="-122"/>
                            <a:cs typeface="Cambria Math" pitchFamily="34" charset="-120"/>
                          </a:rPr>
                          <m:t>𝟐</m:t>
                        </m:r>
                      </m:e>
                    </m:rad>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2400" b="1" i="0" dirty="0">
                    <a:solidFill>
                      <a:srgbClr val="FF0000"/>
                    </a:solidFill>
                    <a:latin typeface="Times New Roman" pitchFamily="34" charset="0"/>
                    <a:ea typeface="微软雅黑" pitchFamily="34" charset="-122"/>
                    <a:cs typeface="Times New Roman" pitchFamily="34" charset="-120"/>
                  </a:rPr>
                  <a:t>,方向与</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oMath>
                </a14:m>
                <a:r>
                  <a:rPr lang="en-US" altLang="zh-CN" sz="2400" b="1" i="0" dirty="0">
                    <a:solidFill>
                      <a:srgbClr val="FF0000"/>
                    </a:solidFill>
                    <a:latin typeface="Times New Roman" pitchFamily="34" charset="0"/>
                    <a:ea typeface="微软雅黑" pitchFamily="34" charset="-122"/>
                    <a:cs typeface="Times New Roman" pitchFamily="34" charset="-120"/>
                  </a:rPr>
                  <a:t>轴的夹角</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𝜽</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SimSun" pitchFamily="34" charset="0"/>
                    <a:ea typeface="SimSun" pitchFamily="34" charset="-122"/>
                    <a:cs typeface="SimSu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满</a:t>
                </a:r>
              </a:p>
              <a:p>
                <a:pPr latinLnBrk="1">
                  <a:lnSpc>
                    <a:spcPts val="4700"/>
                  </a:lnSpc>
                </a:pPr>
                <a:r>
                  <a:rPr lang="en-US" altLang="zh-CN" sz="2400" b="1" i="0">
                    <a:solidFill>
                      <a:srgbClr val="FF0000"/>
                    </a:solidFill>
                    <a:latin typeface="Times New Roman" pitchFamily="34" charset="0"/>
                    <a:ea typeface="微软雅黑" pitchFamily="34" charset="-122"/>
                    <a:cs typeface="Times New Roman" pitchFamily="34" charset="-120"/>
                  </a:rPr>
                  <a:t>足</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𝐭𝐚𝐧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𝒚</m:t>
                            </m:r>
                          </m:sub>
                        </m:sSub>
                      </m:num>
                      <m:den>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𝒙</m:t>
                            </m:r>
                          </m:sub>
                        </m:sSub>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oMath>
                </a14:m>
                <a:r>
                  <a:rPr lang="en-US" altLang="zh-CN" sz="2400" b="1" i="0" dirty="0">
                    <a:solidFill>
                      <a:srgbClr val="FF0000"/>
                    </a:solidFill>
                    <a:latin typeface="Times New Roman" pitchFamily="34" charset="0"/>
                    <a:ea typeface="微软雅黑" pitchFamily="34" charset="-122"/>
                    <a:cs typeface="Times New Roman" pitchFamily="34" charset="-120"/>
                  </a:rPr>
                  <a:t>,解得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𝟒𝟓</m:t>
                        </m:r>
                      </m:e>
                      <m:sup>
                        <m:r>
                          <a:rPr lang="en-US" altLang="zh-CN" sz="2400" b="1" i="0">
                            <a:solidFill>
                              <a:srgbClr val="FF0000"/>
                            </a:solidFill>
                            <a:latin typeface="Cambria Math" pitchFamily="34" charset="0"/>
                            <a:ea typeface="Cambria Math" pitchFamily="34" charset="-122"/>
                            <a:cs typeface="Cambria Math" pitchFamily="34" charset="-120"/>
                          </a:rPr>
                          <m:t>∘</m:t>
                        </m:r>
                      </m:sup>
                    </m:sSup>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,即合力方向与</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𝟒</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方向间的夹</a:t>
                </a:r>
              </a:p>
              <a:p>
                <a:pPr latinLnBrk="1">
                  <a:lnSpc>
                    <a:spcPts val="3800"/>
                  </a:lnSpc>
                </a:pPr>
                <a:r>
                  <a:rPr lang="en-US" altLang="zh-CN" sz="2400" b="1" i="0">
                    <a:solidFill>
                      <a:srgbClr val="FF0000"/>
                    </a:solidFill>
                    <a:latin typeface="Times New Roman" pitchFamily="34" charset="0"/>
                    <a:ea typeface="微软雅黑" pitchFamily="34" charset="-122"/>
                    <a:cs typeface="Times New Roman" pitchFamily="34" charset="-120"/>
                  </a:rPr>
                  <a:t>角为</a:t>
                </a:r>
                <a14:m>
                  <m:oMath xmlns:m="http://schemas.openxmlformats.org/officeDocument/2006/math">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𝟒𝟓</m:t>
                        </m:r>
                      </m:e>
                      <m:sup>
                        <m:r>
                          <a:rPr lang="en-US" altLang="zh-CN" sz="2400" b="1" i="0">
                            <a:solidFill>
                              <a:srgbClr val="FF0000"/>
                            </a:solidFill>
                            <a:latin typeface="Cambria Math" pitchFamily="34" charset="0"/>
                            <a:ea typeface="Cambria Math" pitchFamily="34" charset="-122"/>
                            <a:cs typeface="Cambria Math" pitchFamily="34" charset="-120"/>
                          </a:rPr>
                          <m:t>∘</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斜向右下方.</a:t>
                </a:r>
                <a:endParaRPr lang="en-US" altLang="zh-CN" sz="2400" dirty="0"/>
              </a:p>
            </p:txBody>
          </p:sp>
        </mc:Choice>
        <mc:Fallback xmlns="">
          <p:sp>
            <p:nvSpPr>
              <p:cNvPr id="5" name="QO_6_AS.10_3#47b1caf39?htil=4&amp;vcp=1&amp;pid=5e493b389&amp;color=0,0,0&amp;vtp=1&amp;bbb=1&amp;hb=1&amp;hs=1">
                <a:extLst>
                  <a:ext uri="{FF2B5EF4-FFF2-40B4-BE49-F238E27FC236}">
                    <a16:creationId xmlns:a16="http://schemas.microsoft.com/office/drawing/2014/main" id="{D7939F80-0BEF-2217-13D7-4A58EB418348}"/>
                  </a:ext>
                </a:extLst>
              </p:cNvPr>
              <p:cNvSpPr>
                <a:spLocks noRot="1" noChangeAspect="1" noMove="1" noResize="1" noEditPoints="1" noAdjustHandles="1" noChangeArrowheads="1" noChangeShapeType="1" noTextEdit="1"/>
              </p:cNvSpPr>
              <p:nvPr/>
            </p:nvSpPr>
            <p:spPr>
              <a:xfrm>
                <a:off x="395996" y="3741895"/>
                <a:ext cx="11400008" cy="2290699"/>
              </a:xfrm>
              <a:prstGeom prst="rect">
                <a:avLst/>
              </a:prstGeom>
              <a:blipFill>
                <a:blip r:embed="rId5"/>
                <a:stretch>
                  <a:fillRect l="-1658" t="-266" b="-7979"/>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QO_6_AS.10_3#47b1caf39?htil=4&amp;vcp=1&amp;pid=5e493b389&amp;color=0,0,0&amp;vtp=1&amp;bbb=1&amp;hb=1&amp;hs=1">
                <a:extLst>
                  <a:ext uri="{FF2B5EF4-FFF2-40B4-BE49-F238E27FC236}">
                    <a16:creationId xmlns:a16="http://schemas.microsoft.com/office/drawing/2014/main" id="{AF4B5412-6F2D-4B4B-9009-CB0699AA557F}"/>
                  </a:ext>
                </a:extLst>
              </p:cNvPr>
              <p:cNvSpPr/>
              <p:nvPr/>
            </p:nvSpPr>
            <p:spPr>
              <a:xfrm>
                <a:off x="395996" y="3243358"/>
                <a:ext cx="11400008" cy="509397"/>
              </a:xfrm>
              <a:prstGeom prst="rect">
                <a:avLst/>
              </a:prstGeom>
              <a:noFill/>
              <a:ln/>
            </p:spPr>
            <p:txBody>
              <a:bodyPr wrap="none" lIns="0" tIns="0" rIns="0" bIns="0" rtlCol="0" anchor="t"/>
              <a:lstStyle/>
              <a:p>
                <a:pPr latinLnBrk="1">
                  <a:lnSpc>
                    <a:spcPts val="4300"/>
                  </a:lnSpc>
                </a:pPr>
                <a:r>
                  <a:rPr lang="en-US" altLang="zh-CN" sz="2400" b="1" i="0">
                    <a:solidFill>
                      <a:srgbClr val="FF0000"/>
                    </a:solidFill>
                    <a:latin typeface="Times New Roman" pitchFamily="34" charset="0"/>
                    <a:ea typeface="微软雅黑" pitchFamily="34" charset="-122"/>
                    <a:cs typeface="Times New Roman" pitchFamily="34" charset="-120"/>
                  </a:rPr>
                  <a:t>合力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𝒚</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𝟑𝟕</m:t>
                        </m:r>
                      </m:e>
                      <m:sup>
                        <m:r>
                          <a:rPr lang="en-US" altLang="zh-CN" sz="2400" b="1" i="0">
                            <a:solidFill>
                              <a:srgbClr val="FF0000"/>
                            </a:solidFill>
                            <a:latin typeface="Cambria Math" pitchFamily="34" charset="0"/>
                            <a:ea typeface="Cambria Math" pitchFamily="34" charset="-122"/>
                            <a:cs typeface="Cambria Math" pitchFamily="34" charset="-120"/>
                          </a:rPr>
                          <m:t>∘</m:t>
                        </m:r>
                      </m:sup>
                    </m:sSup>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𝟑</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𝟖</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6" name="QO_6_AS.10_3#47b1caf39?htil=4&amp;vcp=1&amp;pid=5e493b389&amp;color=0,0,0&amp;vtp=1&amp;bbb=1&amp;hb=1&amp;hs=1">
                <a:extLst>
                  <a:ext uri="{FF2B5EF4-FFF2-40B4-BE49-F238E27FC236}">
                    <a16:creationId xmlns:a16="http://schemas.microsoft.com/office/drawing/2014/main" id="{AF4B5412-6F2D-4B4B-9009-CB0699AA557F}"/>
                  </a:ext>
                </a:extLst>
              </p:cNvPr>
              <p:cNvSpPr>
                <a:spLocks noRot="1" noChangeAspect="1" noMove="1" noResize="1" noEditPoints="1" noAdjustHandles="1" noChangeArrowheads="1" noChangeShapeType="1" noTextEdit="1"/>
              </p:cNvSpPr>
              <p:nvPr/>
            </p:nvSpPr>
            <p:spPr>
              <a:xfrm>
                <a:off x="395996" y="3243358"/>
                <a:ext cx="11400008" cy="509397"/>
              </a:xfrm>
              <a:prstGeom prst="rect">
                <a:avLst/>
              </a:prstGeom>
              <a:blipFill>
                <a:blip r:embed="rId6"/>
                <a:stretch>
                  <a:fillRect l="-1658" b="-29762"/>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bg/>
                                          </p:spTgt>
                                        </p:tgtEl>
                                        <p:attrNameLst>
                                          <p:attrName>style.visibility</p:attrName>
                                        </p:attrNameLst>
                                      </p:cBhvr>
                                      <p:to>
                                        <p:strVal val="visible"/>
                                      </p:to>
                                    </p:set>
                                    <p:animEffect transition="in" filter="wipe(left)">
                                      <p:cBhvr>
                                        <p:cTn id="10" dur="500"/>
                                        <p:tgtEl>
                                          <p:spTgt spid="3">
                                            <p:bg/>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left)">
                                      <p:cBhvr>
                                        <p:cTn id="13" dur="500"/>
                                        <p:tgtEl>
                                          <p:spTgt spid="3">
                                            <p:txEl>
                                              <p:pRg st="0" end="0"/>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4">
                                            <p:bg/>
                                          </p:spTgt>
                                        </p:tgtEl>
                                        <p:attrNameLst>
                                          <p:attrName>style.visibility</p:attrName>
                                        </p:attrNameLst>
                                      </p:cBhvr>
                                      <p:to>
                                        <p:strVal val="visible"/>
                                      </p:to>
                                    </p:set>
                                    <p:animEffect transition="in" filter="wipe(left)">
                                      <p:cBhvr>
                                        <p:cTn id="19" dur="500"/>
                                        <p:tgtEl>
                                          <p:spTgt spid="4">
                                            <p:bg/>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wipe(left)">
                                      <p:cBhvr>
                                        <p:cTn id="22" dur="500"/>
                                        <p:tgtEl>
                                          <p:spTgt spid="4">
                                            <p:txEl>
                                              <p:pRg st="0" end="0"/>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wipe(left)">
                                      <p:cBhvr>
                                        <p:cTn id="25" dur="500"/>
                                        <p:tgtEl>
                                          <p:spTgt spid="4">
                                            <p:txEl>
                                              <p:pRg st="1" end="1"/>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wipe(left)">
                                      <p:cBhvr>
                                        <p:cTn id="28" dur="500"/>
                                        <p:tgtEl>
                                          <p:spTgt spid="4">
                                            <p:txEl>
                                              <p:pRg st="2" end="2"/>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6">
                                            <p:bg/>
                                          </p:spTgt>
                                        </p:tgtEl>
                                        <p:attrNameLst>
                                          <p:attrName>style.visibility</p:attrName>
                                        </p:attrNameLst>
                                      </p:cBhvr>
                                      <p:to>
                                        <p:strVal val="visible"/>
                                      </p:to>
                                    </p:set>
                                    <p:animEffect transition="in" filter="wipe(left)">
                                      <p:cBhvr>
                                        <p:cTn id="31" dur="500"/>
                                        <p:tgtEl>
                                          <p:spTgt spid="6">
                                            <p:bg/>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6">
                                            <p:txEl>
                                              <p:pRg st="0" end="0"/>
                                            </p:txEl>
                                          </p:spTgt>
                                        </p:tgtEl>
                                        <p:attrNameLst>
                                          <p:attrName>style.visibility</p:attrName>
                                        </p:attrNameLst>
                                      </p:cBhvr>
                                      <p:to>
                                        <p:strVal val="visible"/>
                                      </p:to>
                                    </p:set>
                                    <p:animEffect transition="in" filter="wipe(left)">
                                      <p:cBhvr>
                                        <p:cTn id="34" dur="500"/>
                                        <p:tgtEl>
                                          <p:spTgt spid="6">
                                            <p:txEl>
                                              <p:pRg st="0" end="0"/>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5">
                                            <p:bg/>
                                          </p:spTgt>
                                        </p:tgtEl>
                                        <p:attrNameLst>
                                          <p:attrName>style.visibility</p:attrName>
                                        </p:attrNameLst>
                                      </p:cBhvr>
                                      <p:to>
                                        <p:strVal val="visible"/>
                                      </p:to>
                                    </p:set>
                                    <p:animEffect transition="in" filter="wipe(left)">
                                      <p:cBhvr>
                                        <p:cTn id="37" dur="500"/>
                                        <p:tgtEl>
                                          <p:spTgt spid="5">
                                            <p:bg/>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5">
                                            <p:txEl>
                                              <p:pRg st="0" end="0"/>
                                            </p:txEl>
                                          </p:spTgt>
                                        </p:tgtEl>
                                        <p:attrNameLst>
                                          <p:attrName>style.visibility</p:attrName>
                                        </p:attrNameLst>
                                      </p:cBhvr>
                                      <p:to>
                                        <p:strVal val="visible"/>
                                      </p:to>
                                    </p:set>
                                    <p:animEffect transition="in" filter="wipe(left)">
                                      <p:cBhvr>
                                        <p:cTn id="40" dur="500"/>
                                        <p:tgtEl>
                                          <p:spTgt spid="5">
                                            <p:txEl>
                                              <p:pRg st="0" end="0"/>
                                            </p:txEl>
                                          </p:spTgt>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5">
                                            <p:txEl>
                                              <p:pRg st="1" end="1"/>
                                            </p:txEl>
                                          </p:spTgt>
                                        </p:tgtEl>
                                        <p:attrNameLst>
                                          <p:attrName>style.visibility</p:attrName>
                                        </p:attrNameLst>
                                      </p:cBhvr>
                                      <p:to>
                                        <p:strVal val="visible"/>
                                      </p:to>
                                    </p:set>
                                    <p:animEffect transition="in" filter="wipe(left)">
                                      <p:cBhvr>
                                        <p:cTn id="43" dur="500"/>
                                        <p:tgtEl>
                                          <p:spTgt spid="5">
                                            <p:txEl>
                                              <p:pRg st="1" end="1"/>
                                            </p:txEl>
                                          </p:spTgt>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5">
                                            <p:txEl>
                                              <p:pRg st="2" end="2"/>
                                            </p:txEl>
                                          </p:spTgt>
                                        </p:tgtEl>
                                        <p:attrNameLst>
                                          <p:attrName>style.visibility</p:attrName>
                                        </p:attrNameLst>
                                      </p:cBhvr>
                                      <p:to>
                                        <p:strVal val="visible"/>
                                      </p:to>
                                    </p:set>
                                    <p:animEffect transition="in" filter="wipe(left)">
                                      <p:cBhvr>
                                        <p:cTn id="46" dur="500"/>
                                        <p:tgtEl>
                                          <p:spTgt spid="5">
                                            <p:txEl>
                                              <p:pRg st="2" end="2"/>
                                            </p:txEl>
                                          </p:spTgt>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5">
                                            <p:txEl>
                                              <p:pRg st="3" end="3"/>
                                            </p:txEl>
                                          </p:spTgt>
                                        </p:tgtEl>
                                        <p:attrNameLst>
                                          <p:attrName>style.visibility</p:attrName>
                                        </p:attrNameLst>
                                      </p:cBhvr>
                                      <p:to>
                                        <p:strVal val="visible"/>
                                      </p:to>
                                    </p:set>
                                    <p:animEffect transition="in" filter="wipe(left)">
                                      <p:cBhvr>
                                        <p:cTn id="49"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P spid="5" grpId="0" build="p" animBg="1"/>
      <p:bldP spid="6"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9&amp;si=19">
    <p:spTree>
      <p:nvGrpSpPr>
        <p:cNvPr id="1" name=""/>
        <p:cNvGrpSpPr/>
        <p:nvPr/>
      </p:nvGrpSpPr>
      <p:grpSpPr>
        <a:xfrm>
          <a:off x="0" y="0"/>
          <a:ext cx="0" cy="0"/>
          <a:chOff x="0" y="0"/>
          <a:chExt cx="0" cy="0"/>
        </a:xfrm>
      </p:grpSpPr>
      <p:pic>
        <p:nvPicPr>
          <p:cNvPr id="2" name="QC_6_BD.11_1#4b069d1c0?htil=5&amp;vcp=1&amp;pid=5e493b389&amp;color=0,0,0&amp;tib=255,255,255&amp;vtp=1&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052560" y="1098867"/>
            <a:ext cx="2724912" cy="704088"/>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xmlns:a14="http://schemas.microsoft.com/office/drawing/2010/main">
        <mc:Choice Requires="a14">
          <p:sp>
            <p:nvSpPr>
              <p:cNvPr id="3" name="QC_6_BD.11_2#4b069d1c0?htil=5&amp;vcp=1&amp;pid=5e493b389&amp;color=0,0,0&amp;vtp=1&amp;bt=1&amp;bbb=1&amp;hb=1&amp;hs=1"/>
              <p:cNvSpPr/>
              <p:nvPr/>
            </p:nvSpPr>
            <p:spPr>
              <a:xfrm>
                <a:off x="393192" y="1053148"/>
                <a:ext cx="8549640" cy="10333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变式2-1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（多选题）如图所示，质量为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𝑚</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的物体放在水平地面上，</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在与水平方向成</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角的拉力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作用下保持静止</a:t>
                </a:r>
                <a:r>
                  <a:rPr lang="en-US" altLang="zh-CN" sz="2400" b="0" i="0">
                    <a:solidFill>
                      <a:srgbClr val="000000"/>
                    </a:solidFill>
                    <a:latin typeface="Times New Roman" pitchFamily="34" charset="0"/>
                    <a:ea typeface="微软雅黑" pitchFamily="34" charset="-122"/>
                    <a:cs typeface="Times New Roman" pitchFamily="34" charset="-120"/>
                  </a:rPr>
                  <a:t>，已知物体与地面</a:t>
                </a:r>
                <a:endParaRPr lang="en-US" altLang="zh-CN" sz="2400" dirty="0"/>
              </a:p>
            </p:txBody>
          </p:sp>
        </mc:Choice>
        <mc:Fallback xmlns="">
          <p:sp>
            <p:nvSpPr>
              <p:cNvPr id="3" name="QC_6_BD.11_2#4b069d1c0?htil=5&amp;vcp=1&amp;pid=5e493b389&amp;color=0,0,0&amp;vtp=1&amp;bt=1&amp;bbb=1&amp;hb=1&amp;hs=1"/>
              <p:cNvSpPr>
                <a:spLocks noRot="1" noChangeAspect="1" noMove="1" noResize="1" noEditPoints="1" noAdjustHandles="1" noChangeArrowheads="1" noChangeShapeType="1" noTextEdit="1"/>
              </p:cNvSpPr>
              <p:nvPr/>
            </p:nvSpPr>
            <p:spPr>
              <a:xfrm>
                <a:off x="393192" y="1053148"/>
                <a:ext cx="8549640" cy="1033399"/>
              </a:xfrm>
              <a:prstGeom prst="rect">
                <a:avLst/>
              </a:prstGeom>
              <a:blipFill>
                <a:blip r:embed="rId4"/>
                <a:stretch>
                  <a:fillRect l="-2211" r="-4494" b="-17751"/>
                </a:stretch>
              </a:blipFill>
              <a:ln/>
            </p:spPr>
            <p:txBody>
              <a:bodyPr/>
              <a:lstStyle/>
              <a:p>
                <a:r>
                  <a:rPr lang="zh-CN" altLang="en-US">
                    <a:noFill/>
                  </a:rPr>
                  <a:t> </a:t>
                </a:r>
              </a:p>
            </p:txBody>
          </p:sp>
        </mc:Fallback>
      </mc:AlternateContent>
      <p:sp>
        <p:nvSpPr>
          <p:cNvPr id="4" name="QC_6_AN.12_1#4b069d1c0.bracket?vcp=1&amp;pid=5e493b389&amp;color=0,0,0&amp;vpa=2&amp;vtp=1&amp;bbb=1"/>
          <p:cNvSpPr/>
          <p:nvPr/>
        </p:nvSpPr>
        <p:spPr>
          <a:xfrm>
            <a:off x="8144489" y="2140711"/>
            <a:ext cx="644525" cy="488125"/>
          </a:xfrm>
          <a:prstGeom prst="rect">
            <a:avLst/>
          </a:prstGeom>
          <a:noFill/>
          <a:ln/>
        </p:spPr>
        <p:txBody>
          <a:bodyPr wrap="none" lIns="0" tIns="0" rIns="0" bIns="0" rtlCol="0" anchor="t"/>
          <a:lstStyle/>
          <a:p>
            <a:pPr algn="ctr"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BD</a:t>
            </a:r>
            <a:endParaRPr lang="en-US" altLang="zh-CN" sz="2400" dirty="0"/>
          </a:p>
        </p:txBody>
      </p:sp>
      <mc:AlternateContent xmlns:mc="http://schemas.openxmlformats.org/markup-compatibility/2006" xmlns:a14="http://schemas.microsoft.com/office/drawing/2010/main">
        <mc:Choice Requires="a14">
          <p:sp>
            <p:nvSpPr>
              <p:cNvPr id="5" name="QC_6_BD.11_3#4b069d1c0.choices?vcp=1&amp;pid=5e493b389&amp;color=0,0,0&amp;vtp=1&amp;bbb=1"/>
              <p:cNvSpPr/>
              <p:nvPr/>
            </p:nvSpPr>
            <p:spPr>
              <a:xfrm>
                <a:off x="393192" y="2630868"/>
                <a:ext cx="11402568" cy="1027430"/>
              </a:xfrm>
              <a:prstGeom prst="rect">
                <a:avLst/>
              </a:prstGeom>
              <a:noFill/>
              <a:ln/>
            </p:spPr>
            <p:txBody>
              <a:bodyPr wrap="none" lIns="0" tIns="0" rIns="0" bIns="0" rtlCol="0" anchor="t"/>
              <a:lstStyle/>
              <a:p>
                <a:pPr latinLnBrk="1">
                  <a:lnSpc>
                    <a:spcPts val="4400"/>
                  </a:lnSpc>
                  <a:tabLst>
                    <a:tab pos="5807954" algn="l"/>
                  </a:tabLst>
                </a:pPr>
                <a:r>
                  <a:rPr lang="en-US" altLang="zh-CN" sz="2400" b="0" i="0" dirty="0">
                    <a:solidFill>
                      <a:srgbClr val="000000"/>
                    </a:solidFill>
                    <a:latin typeface="Times New Roman" pitchFamily="34" charset="0"/>
                    <a:ea typeface="微软雅黑" pitchFamily="34" charset="-122"/>
                    <a:cs typeface="Times New Roman" pitchFamily="34" charset="-120"/>
                  </a:rPr>
                  <a:t>A.物体对地面的压力为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𝑚𝑔</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.物体受到地面的支持力为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𝑚𝑔</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𝐹</m:t>
                    </m:r>
                    <m:r>
                      <m:rPr>
                        <m:sty m:val="p"/>
                      </m:rPr>
                      <a:rPr lang="en-US" altLang="zh-CN" sz="2400" b="0" i="0">
                        <a:solidFill>
                          <a:srgbClr val="000000"/>
                        </a:solidFill>
                        <a:latin typeface="Cambria Math" pitchFamily="34" charset="0"/>
                        <a:ea typeface="Cambria Math" pitchFamily="34" charset="-122"/>
                        <a:cs typeface="Cambria Math" pitchFamily="34" charset="-120"/>
                      </a:rPr>
                      <m:t>sin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200"/>
                  </a:lnSpc>
                  <a:tabLst>
                    <a:tab pos="5807954" algn="l"/>
                  </a:tabLst>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.物体受到的摩擦力为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.物体受到的摩擦力为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r>
                      <m:rPr>
                        <m:sty m:val="p"/>
                      </m:rPr>
                      <a:rPr lang="en-US" altLang="zh-CN" sz="2400" b="0" i="0">
                        <a:solidFill>
                          <a:srgbClr val="000000"/>
                        </a:solidFill>
                        <a:latin typeface="Cambria Math" pitchFamily="34" charset="0"/>
                        <a:ea typeface="Cambria Math" pitchFamily="34" charset="-122"/>
                        <a:cs typeface="Cambria Math" pitchFamily="34" charset="-120"/>
                      </a:rPr>
                      <m:t>cos</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xmlns="">
          <p:sp>
            <p:nvSpPr>
              <p:cNvPr id="5" name="QC_6_BD.11_3#4b069d1c0.choices?vcp=1&amp;pid=5e493b389&amp;color=0,0,0&amp;vtp=1&amp;bbb=1"/>
              <p:cNvSpPr>
                <a:spLocks noRot="1" noChangeAspect="1" noMove="1" noResize="1" noEditPoints="1" noAdjustHandles="1" noChangeArrowheads="1" noChangeShapeType="1" noTextEdit="1"/>
              </p:cNvSpPr>
              <p:nvPr/>
            </p:nvSpPr>
            <p:spPr>
              <a:xfrm>
                <a:off x="393192" y="2630868"/>
                <a:ext cx="11402568" cy="1027430"/>
              </a:xfrm>
              <a:prstGeom prst="rect">
                <a:avLst/>
              </a:prstGeom>
              <a:blipFill>
                <a:blip r:embed="rId5"/>
                <a:stretch>
                  <a:fillRect l="-1658" b="-18452"/>
                </a:stretch>
              </a:blipFill>
              <a:ln/>
            </p:spPr>
            <p:txBody>
              <a:bodyPr/>
              <a:lstStyle/>
              <a:p>
                <a:r>
                  <a:rPr lang="zh-CN" altLang="en-US">
                    <a:noFill/>
                  </a:rPr>
                  <a:t> </a:t>
                </a:r>
              </a:p>
            </p:txBody>
          </p:sp>
        </mc:Fallback>
      </mc:AlternateContent>
      <p:pic>
        <p:nvPicPr>
          <p:cNvPr id="6" name="QC_6_AS.13_1#4b069d1c0?htil=6&amp;vcp=1&amp;pid=5e493b389&amp;color=0,0,0&amp;tib=255,255,255&amp;vtp=1&amp;hs=1"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9153144" y="3759961"/>
            <a:ext cx="2624328" cy="1591056"/>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xmlns:a14="http://schemas.microsoft.com/office/drawing/2010/main">
        <mc:Choice Requires="a14">
          <p:sp>
            <p:nvSpPr>
              <p:cNvPr id="7" name="QC_6_AS.13_2#4b069d1c0?htil=6&amp;vcp=1&amp;pid=5e493b389&amp;color=0,0,0&amp;vtp=1&amp;bbb=1"/>
              <p:cNvSpPr/>
              <p:nvPr/>
            </p:nvSpPr>
            <p:spPr>
              <a:xfrm>
                <a:off x="393192" y="3714241"/>
                <a:ext cx="8641080" cy="484124"/>
              </a:xfrm>
              <a:prstGeom prst="rect">
                <a:avLst/>
              </a:prstGeom>
              <a:noFill/>
              <a:ln/>
            </p:spPr>
            <p:txBody>
              <a:bodyPr wrap="none" lIns="0" tIns="0" rIns="0" bIns="0" rtlCol="0" anchor="t"/>
              <a:lstStyle/>
              <a:p>
                <a:pPr algn="l"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对物体受力分析并将力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正交分解，如图所示.</a:t>
                </a:r>
                <a:endParaRPr lang="en-US" altLang="zh-CN" sz="2400" dirty="0"/>
              </a:p>
            </p:txBody>
          </p:sp>
        </mc:Choice>
        <mc:Fallback xmlns="">
          <p:sp>
            <p:nvSpPr>
              <p:cNvPr id="7" name="QC_6_AS.13_2#4b069d1c0?htil=6&amp;vcp=1&amp;pid=5e493b389&amp;color=0,0,0&amp;vtp=1&amp;bbb=1"/>
              <p:cNvSpPr>
                <a:spLocks noRot="1" noChangeAspect="1" noMove="1" noResize="1" noEditPoints="1" noAdjustHandles="1" noChangeArrowheads="1" noChangeShapeType="1" noTextEdit="1"/>
              </p:cNvSpPr>
              <p:nvPr/>
            </p:nvSpPr>
            <p:spPr>
              <a:xfrm>
                <a:off x="393192" y="3714241"/>
                <a:ext cx="8641080" cy="484124"/>
              </a:xfrm>
              <a:prstGeom prst="rect">
                <a:avLst/>
              </a:prstGeom>
              <a:blipFill>
                <a:blip r:embed="rId7"/>
                <a:stretch>
                  <a:fillRect l="-2188" b="-37500"/>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QC_6_AS.13_3#4b069d1c0?htil=6&amp;vcp=1&amp;pid=5e493b389&amp;color=0,0,0&amp;vtp=1&amp;bbb=1&amp;hb=1"/>
              <p:cNvSpPr/>
              <p:nvPr/>
            </p:nvSpPr>
            <p:spPr>
              <a:xfrm>
                <a:off x="393192" y="4202493"/>
                <a:ext cx="8641080" cy="1592199"/>
              </a:xfrm>
              <a:prstGeom prst="rect">
                <a:avLst/>
              </a:prstGeom>
              <a:noFill/>
              <a:ln/>
            </p:spPr>
            <p:txBody>
              <a:bodyPr wrap="none" lIns="0" tIns="0" rIns="0" bIns="0" rtlCol="0" anchor="t"/>
              <a:lstStyle/>
              <a:p>
                <a:pPr algn="l"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物体对地面的压力与地面对物体的支持力是一对作用力与反作用</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力</a:t>
                </a:r>
                <a:r>
                  <a:rPr lang="en-US" altLang="zh-CN" sz="2400" b="1" i="0" dirty="0">
                    <a:solidFill>
                      <a:srgbClr val="FF0000"/>
                    </a:solidFill>
                    <a:latin typeface="Times New Roman" pitchFamily="34" charset="0"/>
                    <a:ea typeface="微软雅黑" pitchFamily="34" charset="-122"/>
                    <a:cs typeface="Times New Roman" pitchFamily="34" charset="-120"/>
                  </a:rPr>
                  <a:t>，大小相等，方向相反，而支持力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r>
                  <a:rPr lang="en-US" altLang="zh-CN" sz="2400" b="1" i="0">
                    <a:solidFill>
                      <a:srgbClr val="FF0000"/>
                    </a:solidFill>
                    <a:latin typeface="Times New Roman" pitchFamily="34" charset="0"/>
                    <a:ea typeface="微软雅黑" pitchFamily="34" charset="-122"/>
                    <a:cs typeface="Times New Roman" pitchFamily="34" charset="-120"/>
                  </a:rPr>
                  <a:t>A错</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误</a:t>
                </a:r>
                <a:r>
                  <a:rPr lang="en-US" altLang="zh-CN" sz="2400" b="1" i="0" dirty="0">
                    <a:solidFill>
                      <a:srgbClr val="FF0000"/>
                    </a:solidFill>
                    <a:latin typeface="Times New Roman" pitchFamily="34" charset="0"/>
                    <a:ea typeface="微软雅黑" pitchFamily="34" charset="-122"/>
                    <a:cs typeface="Times New Roman" pitchFamily="34" charset="-120"/>
                  </a:rPr>
                  <a:t>，B正确；物体受到的摩擦力为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𝐟</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，C错误，D正确.</a:t>
                </a:r>
                <a:endParaRPr lang="en-US" altLang="zh-CN" sz="2400" dirty="0"/>
              </a:p>
            </p:txBody>
          </p:sp>
        </mc:Choice>
        <mc:Fallback xmlns="">
          <p:sp>
            <p:nvSpPr>
              <p:cNvPr id="8" name="QC_6_AS.13_3#4b069d1c0?htil=6&amp;vcp=1&amp;pid=5e493b389&amp;color=0,0,0&amp;vtp=1&amp;bbb=1&amp;hb=1"/>
              <p:cNvSpPr>
                <a:spLocks noRot="1" noChangeAspect="1" noMove="1" noResize="1" noEditPoints="1" noAdjustHandles="1" noChangeArrowheads="1" noChangeShapeType="1" noTextEdit="1"/>
              </p:cNvSpPr>
              <p:nvPr/>
            </p:nvSpPr>
            <p:spPr>
              <a:xfrm>
                <a:off x="393192" y="4202493"/>
                <a:ext cx="8641080" cy="1592199"/>
              </a:xfrm>
              <a:prstGeom prst="rect">
                <a:avLst/>
              </a:prstGeom>
              <a:blipFill>
                <a:blip r:embed="rId8"/>
                <a:stretch>
                  <a:fillRect l="-2188" r="-1694" b="-11450"/>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QC_6_BD.11_2#4b069d1c0?htil=5&amp;vcp=1&amp;pid=5e493b389&amp;color=0,0,0&amp;vtp=1&amp;bt=1&amp;bbb=1&amp;hb=1&amp;hs=1">
                <a:extLst>
                  <a:ext uri="{FF2B5EF4-FFF2-40B4-BE49-F238E27FC236}">
                    <a16:creationId xmlns:a16="http://schemas.microsoft.com/office/drawing/2014/main" id="{5A3AB869-AEB8-E38C-A1BE-311EC0428F0C}"/>
                  </a:ext>
                </a:extLst>
              </p:cNvPr>
              <p:cNvSpPr/>
              <p:nvPr/>
            </p:nvSpPr>
            <p:spPr>
              <a:xfrm>
                <a:off x="395996" y="2142616"/>
                <a:ext cx="11400008" cy="484124"/>
              </a:xfrm>
              <a:prstGeom prst="rect">
                <a:avLst/>
              </a:prstGeom>
              <a:noFill/>
              <a:ln/>
            </p:spPr>
            <p:txBody>
              <a:bodyPr wrap="none" lIns="0" tIns="0" rIns="0" bIns="0" rtlCol="0" anchor="t"/>
              <a:lstStyle/>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间的动摩擦因数为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𝜇</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,重力加速度为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,下列判断正确的是 (</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9" name="QC_6_BD.11_2#4b069d1c0?htil=5&amp;vcp=1&amp;pid=5e493b389&amp;color=0,0,0&amp;vtp=1&amp;bt=1&amp;bbb=1&amp;hb=1&amp;hs=1">
                <a:extLst>
                  <a:ext uri="{FF2B5EF4-FFF2-40B4-BE49-F238E27FC236}">
                    <a16:creationId xmlns:a16="http://schemas.microsoft.com/office/drawing/2014/main" id="{5A3AB869-AEB8-E38C-A1BE-311EC0428F0C}"/>
                  </a:ext>
                </a:extLst>
              </p:cNvPr>
              <p:cNvSpPr>
                <a:spLocks noRot="1" noChangeAspect="1" noMove="1" noResize="1" noEditPoints="1" noAdjustHandles="1" noChangeArrowheads="1" noChangeShapeType="1" noTextEdit="1"/>
              </p:cNvSpPr>
              <p:nvPr/>
            </p:nvSpPr>
            <p:spPr>
              <a:xfrm>
                <a:off x="395996" y="2142616"/>
                <a:ext cx="11400008" cy="484124"/>
              </a:xfrm>
              <a:prstGeom prst="rect">
                <a:avLst/>
              </a:prstGeom>
              <a:blipFill>
                <a:blip r:embed="rId9"/>
                <a:stretch>
                  <a:fillRect l="-1658" b="-37500"/>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
                                            <p:bg/>
                                          </p:spTgt>
                                        </p:tgtEl>
                                        <p:attrNameLst>
                                          <p:attrName>style.visibility</p:attrName>
                                        </p:attrNameLst>
                                      </p:cBhvr>
                                      <p:to>
                                        <p:strVal val="visible"/>
                                      </p:to>
                                    </p:set>
                                    <p:animEffect transition="in" filter="wipe(left)">
                                      <p:cBhvr>
                                        <p:cTn id="18" dur="500"/>
                                        <p:tgtEl>
                                          <p:spTgt spid="7">
                                            <p:bg/>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wipe(left)">
                                      <p:cBhvr>
                                        <p:cTn id="21" dur="500"/>
                                        <p:tgtEl>
                                          <p:spTgt spid="7">
                                            <p:txEl>
                                              <p:pRg st="0" end="0"/>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8">
                                            <p:bg/>
                                          </p:spTgt>
                                        </p:tgtEl>
                                        <p:attrNameLst>
                                          <p:attrName>style.visibility</p:attrName>
                                        </p:attrNameLst>
                                      </p:cBhvr>
                                      <p:to>
                                        <p:strVal val="visible"/>
                                      </p:to>
                                    </p:set>
                                    <p:animEffect transition="in" filter="wipe(left)">
                                      <p:cBhvr>
                                        <p:cTn id="24" dur="500"/>
                                        <p:tgtEl>
                                          <p:spTgt spid="8">
                                            <p:bg/>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wipe(left)">
                                      <p:cBhvr>
                                        <p:cTn id="27" dur="500"/>
                                        <p:tgtEl>
                                          <p:spTgt spid="8">
                                            <p:txEl>
                                              <p:pRg st="0" end="0"/>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8">
                                            <p:txEl>
                                              <p:pRg st="1" end="1"/>
                                            </p:txEl>
                                          </p:spTgt>
                                        </p:tgtEl>
                                        <p:attrNameLst>
                                          <p:attrName>style.visibility</p:attrName>
                                        </p:attrNameLst>
                                      </p:cBhvr>
                                      <p:to>
                                        <p:strVal val="visible"/>
                                      </p:to>
                                    </p:set>
                                    <p:animEffect transition="in" filter="wipe(left)">
                                      <p:cBhvr>
                                        <p:cTn id="30" dur="500"/>
                                        <p:tgtEl>
                                          <p:spTgt spid="8">
                                            <p:txEl>
                                              <p:pRg st="1" end="1"/>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8">
                                            <p:txEl>
                                              <p:pRg st="2" end="2"/>
                                            </p:txEl>
                                          </p:spTgt>
                                        </p:tgtEl>
                                        <p:attrNameLst>
                                          <p:attrName>style.visibility</p:attrName>
                                        </p:attrNameLst>
                                      </p:cBhvr>
                                      <p:to>
                                        <p:strVal val="visible"/>
                                      </p:to>
                                    </p:set>
                                    <p:animEffect transition="in" filter="wipe(left)">
                                      <p:cBhvr>
                                        <p:cTn id="33"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7" grpId="0" build="p" animBg="1"/>
      <p:bldP spid="8"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20&amp;si=20">
    <p:spTree>
      <p:nvGrpSpPr>
        <p:cNvPr id="1" name=""/>
        <p:cNvGrpSpPr/>
        <p:nvPr/>
      </p:nvGrpSpPr>
      <p:grpSpPr>
        <a:xfrm>
          <a:off x="0" y="0"/>
          <a:ext cx="0" cy="0"/>
          <a:chOff x="0" y="0"/>
          <a:chExt cx="0" cy="0"/>
        </a:xfrm>
      </p:grpSpPr>
      <p:sp>
        <p:nvSpPr>
          <p:cNvPr id="2" name="P_6_BD#a4d843b79?vcp=1&amp;pid=5e493b389&amp;color=0,0,0&amp;vtp=1&amp;bt=1&amp;bbb=1"/>
          <p:cNvSpPr/>
          <p:nvPr/>
        </p:nvSpPr>
        <p:spPr>
          <a:xfrm>
            <a:off x="393192" y="662940"/>
            <a:ext cx="11402568" cy="5497830"/>
          </a:xfrm>
          <a:prstGeom prst="rect">
            <a:avLst/>
          </a:prstGeom>
          <a:noFill/>
          <a:ln/>
        </p:spPr>
        <p:txBody>
          <a:bodyPr wrap="none" lIns="0" tIns="0" rIns="0" bIns="0" rtlCol="0" anchor="t"/>
          <a:lstStyle/>
          <a:p>
            <a:pPr algn="l"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名师点拨</a:t>
            </a:r>
            <a:endParaRPr lang="en-US" altLang="zh-CN" sz="2400" dirty="0"/>
          </a:p>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利用正交分解法求合力的思路</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1.清题意</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弄清楚题目的意思是解决问题的第一步</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也是最重要的一步.</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2.选对象</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选择好要研究的对象</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有助于更快地解决问题.</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3.分析力</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无论物体受力简单还是复杂</a:t>
            </a:r>
            <a:r>
              <a:rPr lang="en-US" altLang="zh-CN" sz="2400" b="0" i="0" dirty="0">
                <a:solidFill>
                  <a:srgbClr val="000000"/>
                </a:solidFill>
                <a:latin typeface="Times New Roman" pitchFamily="34" charset="0"/>
                <a:ea typeface="微软雅黑" pitchFamily="34" charset="-122"/>
                <a:cs typeface="Times New Roman" pitchFamily="34" charset="-120"/>
              </a:rPr>
              <a:t>，都要画出物体的受力分析图，要知道“</a:t>
            </a:r>
            <a:r>
              <a:rPr lang="en-US" altLang="zh-CN" sz="2400" b="0" i="0">
                <a:solidFill>
                  <a:srgbClr val="000000"/>
                </a:solidFill>
                <a:latin typeface="Times New Roman" pitchFamily="34" charset="0"/>
                <a:ea typeface="微软雅黑" pitchFamily="34" charset="-122"/>
                <a:cs typeface="Times New Roman" pitchFamily="34" charset="-120"/>
              </a:rPr>
              <a:t>无图无真相”.</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4.建坐标系</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建立合适的平面直角坐标系</a:t>
            </a:r>
            <a:r>
              <a:rPr lang="en-US" altLang="zh-CN" sz="2400" b="0" i="0" dirty="0">
                <a:solidFill>
                  <a:srgbClr val="000000"/>
                </a:solidFill>
                <a:latin typeface="Times New Roman" pitchFamily="34" charset="0"/>
                <a:ea typeface="微软雅黑" pitchFamily="34" charset="-122"/>
                <a:cs typeface="Times New Roman" pitchFamily="34" charset="-120"/>
              </a:rPr>
              <a:t>，分解尽可能少的力.</a:t>
            </a:r>
            <a:r>
              <a:rPr lang="en-US" altLang="zh-CN" sz="100" b="0" i="0" kern="0" spc="-99900" dirty="0">
                <a:solidFill>
                  <a:srgbClr val="FFFFFF"/>
                </a:solidFill>
                <a:latin typeface="Times New Roman" pitchFamily="34" charset="0"/>
                <a:ea typeface="微软雅黑" pitchFamily="34" charset="-122"/>
                <a:cs typeface="Times New Roman" pitchFamily="34" charset="-120"/>
              </a:rPr>
              <a:t>#5.1.4.1</a:t>
            </a:r>
            <a:endParaRPr lang="en-US" altLang="zh-CN" sz="2400" dirty="0"/>
          </a:p>
        </p:txBody>
      </p:sp>
    </p:spTree>
  </p:cSld>
  <p:clrMapOvr>
    <a:masterClrMapping/>
  </p:clrMapOvr>
  <p:transition>
    <p:split dir="in"/>
  </p:transition>
</p:sld>
</file>

<file path=ppt/slides/slide20.xml><?xml version="1.0" encoding="utf-8"?>
<p:sld xmlns:a="http://schemas.openxmlformats.org/drawingml/2006/main" xmlns:r="http://schemas.openxmlformats.org/officeDocument/2006/relationships" xmlns:p="http://schemas.openxmlformats.org/presentationml/2006/main">
  <p:cSld name="Slide 21&amp;si=21">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P_6_BD#a4d843b79?vcp=1&amp;pid=5e493b389&amp;color=0,0,0&amp;mp=1&amp;vtp=1&amp;bt=1&amp;bbb=1&amp;hb=1"/>
              <p:cNvSpPr/>
              <p:nvPr/>
            </p:nvSpPr>
            <p:spPr>
              <a:xfrm>
                <a:off x="393192" y="1592612"/>
                <a:ext cx="11402568" cy="3664204"/>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5</a:t>
                </a:r>
                <a:r>
                  <a:rPr lang="en-US" altLang="zh-CN" sz="2400" b="0" i="0">
                    <a:solidFill>
                      <a:srgbClr val="000000"/>
                    </a:solidFill>
                    <a:latin typeface="Times New Roman" pitchFamily="34" charset="0"/>
                    <a:ea typeface="微软雅黑" pitchFamily="34" charset="-122"/>
                    <a:cs typeface="Times New Roman" pitchFamily="34" charset="-120"/>
                  </a:rPr>
                  <a:t>.分解力</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把不在坐标轴上的力分解到坐标轴上</a:t>
                </a:r>
                <a:r>
                  <a:rPr lang="en-US" altLang="zh-CN" sz="2400" b="0" i="0" dirty="0">
                    <a:solidFill>
                      <a:srgbClr val="000000"/>
                    </a:solidFill>
                    <a:latin typeface="Times New Roman" pitchFamily="34" charset="0"/>
                    <a:ea typeface="微软雅黑" pitchFamily="34" charset="-122"/>
                    <a:cs typeface="Times New Roman" pitchFamily="34" charset="-120"/>
                  </a:rPr>
                  <a:t>.例如</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不在坐标轴上，则</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分解后必然有：</a:t>
                </a:r>
              </a:p>
              <a:p>
                <a:pPr latinLnBrk="1">
                  <a:lnSpc>
                    <a:spcPts val="7100"/>
                  </a:lnSpc>
                </a:pP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d>
                      <m:dPr>
                        <m:begChr m:val="{"/>
                        <m:endChr m:val=""/>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dPr>
                      <m:e>
                        <m:eqArr>
                          <m:eqArr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eqArrPr>
                          <m:e>
                            <m:r>
                              <a:rPr lang="en-US" altLang="zh-CN" sz="2400" b="0" i="0" dirty="0">
                                <a:solidFill>
                                  <a:srgbClr val="000000"/>
                                </a:solidFill>
                                <a:latin typeface="Cambria Math" panose="02040503050406030204" pitchFamily="18" charset="0"/>
                                <a:ea typeface="微软雅黑" pitchFamily="34" charset="-122"/>
                                <a:cs typeface="Times New Roman" pitchFamily="34" charset="-120"/>
                              </a:rPr>
                              <m:t>&amp;</m:t>
                            </m:r>
                            <m:r>
                              <a:rPr lang="en-US" altLang="zh-CN" sz="2400" b="0" i="0">
                                <a:solidFill>
                                  <a:srgbClr val="000000"/>
                                </a:solidFill>
                                <a:latin typeface="Cambria Math" pitchFamily="34" charset="0"/>
                                <a:ea typeface="Cambria Math" pitchFamily="34" charset="-122"/>
                                <a:cs typeface="Cambria Math" pitchFamily="34" charset="-120"/>
                              </a:rPr>
                              <m:t>𝐹</m:t>
                            </m:r>
                            <m:r>
                              <m:rPr>
                                <m:sty m:val="p"/>
                              </m:rPr>
                              <a:rPr lang="en-US" altLang="zh-CN" sz="2400" b="0" i="0">
                                <a:solidFill>
                                  <a:srgbClr val="000000"/>
                                </a:solidFill>
                                <a:latin typeface="Cambria Math" pitchFamily="34" charset="0"/>
                                <a:ea typeface="Cambria Math" pitchFamily="34" charset="-122"/>
                                <a:cs typeface="Cambria Math" pitchFamily="34" charset="-120"/>
                              </a:rPr>
                              <m:t>sin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r>
                              <a:rPr lang="en-US" altLang="zh-CN" sz="2400" b="0" i="0">
                                <a:solidFill>
                                  <a:srgbClr val="000000"/>
                                </a:solidFill>
                                <a:latin typeface="Cambria Math" pitchFamily="34" charset="0"/>
                                <a:ea typeface="Cambria Math" pitchFamily="34" charset="-122"/>
                                <a:cs typeface="Cambria Math" pitchFamily="34" charset="-120"/>
                              </a:rPr>
                              <m:t>,</m:t>
                            </m:r>
                          </m:e>
                          <m:e>
                            <m:r>
                              <a:rPr lang="en-US" altLang="zh-CN" sz="2400" b="0" i="0" dirty="0">
                                <a:solidFill>
                                  <a:srgbClr val="000000"/>
                                </a:solidFill>
                                <a:latin typeface="Cambria Math" panose="02040503050406030204" pitchFamily="18" charset="0"/>
                                <a:ea typeface="微软雅黑" pitchFamily="34" charset="-122"/>
                                <a:cs typeface="Times New Roman" pitchFamily="34" charset="-120"/>
                              </a:rPr>
                              <m:t>&amp;</m:t>
                            </m:r>
                            <m:r>
                              <a:rPr lang="en-US" altLang="zh-CN" sz="2400" b="0" i="0">
                                <a:solidFill>
                                  <a:srgbClr val="000000"/>
                                </a:solidFill>
                                <a:latin typeface="Cambria Math" pitchFamily="34" charset="0"/>
                                <a:ea typeface="Cambria Math" pitchFamily="34" charset="-122"/>
                                <a:cs typeface="Cambria Math" pitchFamily="34" charset="-120"/>
                              </a:rPr>
                              <m:t>𝐹</m:t>
                            </m:r>
                            <m:r>
                              <m:rPr>
                                <m:sty m:val="p"/>
                              </m:rPr>
                              <a:rPr lang="en-US" altLang="zh-CN" sz="2400" b="0" i="0">
                                <a:solidFill>
                                  <a:srgbClr val="000000"/>
                                </a:solidFill>
                                <a:latin typeface="Cambria Math" pitchFamily="34" charset="0"/>
                                <a:ea typeface="Cambria Math" pitchFamily="34" charset="-122"/>
                                <a:cs typeface="Cambria Math" pitchFamily="34" charset="-120"/>
                              </a:rPr>
                              <m:t>cos</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r>
                              <a:rPr lang="en-US" altLang="zh-CN" sz="2400" b="0" i="0">
                                <a:solidFill>
                                  <a:srgbClr val="000000"/>
                                </a:solidFill>
                                <a:latin typeface="Cambria Math" pitchFamily="34" charset="0"/>
                                <a:ea typeface="Cambria Math" pitchFamily="34" charset="-122"/>
                                <a:cs typeface="Cambria Math" pitchFamily="34" charset="-120"/>
                              </a:rPr>
                              <m:t>.</m:t>
                            </m:r>
                          </m:e>
                        </m:eqArr>
                      </m:e>
                    </m:d>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6.算清力</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将每一个力进行正交分解</a:t>
                </a:r>
                <a:r>
                  <a:rPr lang="en-US" altLang="zh-CN" sz="2400" b="0" i="0" dirty="0">
                    <a:solidFill>
                      <a:srgbClr val="000000"/>
                    </a:solidFill>
                    <a:latin typeface="Times New Roman" pitchFamily="34" charset="0"/>
                    <a:ea typeface="微软雅黑" pitchFamily="34" charset="-122"/>
                    <a:cs typeface="Times New Roman" pitchFamily="34" charset="-120"/>
                  </a:rPr>
                  <a:t>,并将沿坐标轴正方向的力定为“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”,沿坐标轴负方向的力</a:t>
                </a:r>
              </a:p>
              <a:p>
                <a:pPr latinLnBrk="1">
                  <a:lnSpc>
                    <a:spcPts val="4500"/>
                  </a:lnSpc>
                </a:pPr>
                <a:r>
                  <a:rPr lang="en-US" altLang="zh-CN" sz="2400" b="0" i="0">
                    <a:solidFill>
                      <a:srgbClr val="000000"/>
                    </a:solidFill>
                    <a:latin typeface="Times New Roman" pitchFamily="34" charset="0"/>
                    <a:ea typeface="微软雅黑" pitchFamily="34" charset="-122"/>
                    <a:cs typeface="Times New Roman" pitchFamily="34" charset="-120"/>
                  </a:rPr>
                  <a:t>定为</a:t>
                </a:r>
                <a:r>
                  <a:rPr lang="en-US" altLang="zh-CN" sz="2400" b="0" i="0" dirty="0">
                    <a:solidFill>
                      <a:srgbClr val="000000"/>
                    </a:solidFill>
                    <a:latin typeface="Times New Roman" pitchFamily="34" charset="0"/>
                    <a:ea typeface="微软雅黑" pitchFamily="34" charset="-122"/>
                    <a:cs typeface="Times New Roman" pitchFamily="34" charset="-120"/>
                  </a:rPr>
                  <a:t>“-”,得到</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r>
                          <a:rPr lang="en-US" altLang="zh-CN" sz="2400" b="0" i="0">
                            <a:solidFill>
                              <a:srgbClr val="000000"/>
                            </a:solidFill>
                            <a:latin typeface="Cambria Math" pitchFamily="34" charset="0"/>
                            <a:ea typeface="Cambria Math" pitchFamily="34" charset="-122"/>
                            <a:cs typeface="Cambria Math" pitchFamily="34" charset="-120"/>
                          </a:rPr>
                          <m:t>𝑥</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𝑥</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r>
                          <a:rPr lang="en-US" altLang="zh-CN" sz="2400" b="0" i="0">
                            <a:solidFill>
                              <a:srgbClr val="000000"/>
                            </a:solidFill>
                            <a:latin typeface="Cambria Math" pitchFamily="34" charset="0"/>
                            <a:ea typeface="Cambria Math" pitchFamily="34" charset="-122"/>
                            <a:cs typeface="Cambria Math" pitchFamily="34" charset="-120"/>
                          </a:rPr>
                          <m:t>𝑦</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𝑦</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100" b="0" i="0" kern="0" spc="-99900" dirty="0">
                    <a:solidFill>
                      <a:srgbClr val="FFFFFF"/>
                    </a:solidFill>
                    <a:latin typeface="Times New Roman" pitchFamily="34" charset="0"/>
                    <a:ea typeface="微软雅黑" pitchFamily="34" charset="-122"/>
                    <a:cs typeface="Times New Roman" pitchFamily="34" charset="-120"/>
                  </a:rPr>
                  <a:t>#5.1.6.1</a:t>
                </a:r>
                <a:endParaRPr lang="en-US" altLang="zh-CN" sz="2400" dirty="0"/>
              </a:p>
            </p:txBody>
          </p:sp>
        </mc:Choice>
        <mc:Fallback xmlns="">
          <p:sp>
            <p:nvSpPr>
              <p:cNvPr id="2" name="P_6_BD#a4d843b79?vcp=1&amp;pid=5e493b389&amp;color=0,0,0&amp;mp=1&amp;vtp=1&amp;bt=1&amp;bbb=1&amp;hb=1"/>
              <p:cNvSpPr>
                <a:spLocks noRot="1" noChangeAspect="1" noMove="1" noResize="1" noEditPoints="1" noAdjustHandles="1" noChangeArrowheads="1" noChangeShapeType="1" noTextEdit="1"/>
              </p:cNvSpPr>
              <p:nvPr/>
            </p:nvSpPr>
            <p:spPr>
              <a:xfrm>
                <a:off x="393192" y="1592612"/>
                <a:ext cx="11402568" cy="3664204"/>
              </a:xfrm>
              <a:prstGeom prst="rect">
                <a:avLst/>
              </a:prstGeom>
              <a:blipFill>
                <a:blip r:embed="rId3"/>
                <a:stretch>
                  <a:fillRect l="-1658" r="-909" b="-4493"/>
                </a:stretch>
              </a:blipFill>
              <a:ln/>
            </p:spPr>
            <p:txBody>
              <a:bodyPr/>
              <a:lstStyle/>
              <a:p>
                <a:r>
                  <a:rPr lang="zh-CN" altLang="en-US">
                    <a:noFill/>
                  </a:rPr>
                  <a:t> </a:t>
                </a:r>
              </a:p>
            </p:txBody>
          </p:sp>
        </mc:Fallback>
      </mc:AlternateContent>
    </p:spTree>
  </p:cSld>
  <p:clrMapOvr>
    <a:masterClrMapping/>
  </p:clrMapOvr>
  <p:transition>
    <p:split dir="in"/>
  </p:transition>
</p:sld>
</file>

<file path=ppt/slides/slide21.xml><?xml version="1.0" encoding="utf-8"?>
<p:sld xmlns:a="http://schemas.openxmlformats.org/drawingml/2006/main" xmlns:r="http://schemas.openxmlformats.org/officeDocument/2006/relationships" xmlns:p="http://schemas.openxmlformats.org/presentationml/2006/main">
  <p:cSld name="Slide 22&amp;si=22">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P_6_BD#a4d843b79?vcp=1&amp;pid=5e493b389&amp;color=0,0,0&amp;mp=1&amp;vtp=1&amp;bt=1&amp;bbb=1"/>
              <p:cNvSpPr/>
              <p:nvPr/>
            </p:nvSpPr>
            <p:spPr>
              <a:xfrm>
                <a:off x="393192" y="504000"/>
                <a:ext cx="11402568" cy="57364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7</a:t>
                </a:r>
                <a:r>
                  <a:rPr lang="en-US" altLang="zh-CN" sz="2400" b="0" i="0">
                    <a:solidFill>
                      <a:srgbClr val="000000"/>
                    </a:solidFill>
                    <a:latin typeface="Times New Roman" pitchFamily="34" charset="0"/>
                    <a:ea typeface="微软雅黑" pitchFamily="34" charset="-122"/>
                    <a:cs typeface="Times New Roman" pitchFamily="34" charset="-120"/>
                  </a:rPr>
                  <a:t>.求合力</a:t>
                </a:r>
                <a:endParaRPr lang="en-US" altLang="zh-CN" sz="2400" dirty="0"/>
              </a:p>
              <a:p>
                <a:pPr latinLnBrk="1">
                  <a:lnSpc>
                    <a:spcPts val="4400"/>
                  </a:lnSpc>
                </a:pPr>
                <a:r>
                  <a:rPr lang="en-US" altLang="zh-CN" sz="2400" b="0" i="0" kern="0">
                    <a:solidFill>
                      <a:srgbClr val="000000"/>
                    </a:solidFill>
                    <a:latin typeface="SimSun" panose="02010600030101010101" pitchFamily="2" charset="-122"/>
                    <a:ea typeface="微软雅黑" pitchFamily="34" charset="-122"/>
                    <a:cs typeface="Times New Roman" pitchFamily="34" charset="-120"/>
                  </a:rPr>
                  <a:t>    </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𝑥</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r>
                          <a:rPr lang="en-US" altLang="zh-CN" sz="2400" b="0" i="0">
                            <a:solidFill>
                              <a:srgbClr val="000000"/>
                            </a:solidFill>
                            <a:latin typeface="Cambria Math" pitchFamily="34" charset="0"/>
                            <a:ea typeface="Cambria Math" pitchFamily="34" charset="-122"/>
                            <a:cs typeface="Cambria Math" pitchFamily="34" charset="-120"/>
                          </a:rPr>
                          <m:t>𝑥</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𝑥</m:t>
                        </m:r>
                      </m:sub>
                    </m:sSub>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kern="0">
                    <a:solidFill>
                      <a:srgbClr val="000000"/>
                    </a:solidFill>
                    <a:latin typeface="SimSun" panose="02010600030101010101" pitchFamily="2" charset="-122"/>
                    <a:ea typeface="微软雅黑" pitchFamily="34" charset="-122"/>
                    <a:cs typeface="Times New Roman" pitchFamily="34" charset="-120"/>
                  </a:rPr>
                  <a:t>    </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𝑦</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r>
                          <a:rPr lang="en-US" altLang="zh-CN" sz="2400" b="0" i="0">
                            <a:solidFill>
                              <a:srgbClr val="000000"/>
                            </a:solidFill>
                            <a:latin typeface="Cambria Math" pitchFamily="34" charset="0"/>
                            <a:ea typeface="Cambria Math" pitchFamily="34" charset="-122"/>
                            <a:cs typeface="Cambria Math" pitchFamily="34" charset="-120"/>
                          </a:rPr>
                          <m:t>𝑦</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𝑦</m:t>
                        </m:r>
                      </m:sub>
                    </m:sSub>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59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合力大小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r>
                      <a:rPr lang="en-US" altLang="zh-CN" sz="2400" b="0" i="0">
                        <a:solidFill>
                          <a:srgbClr val="000000"/>
                        </a:solidFill>
                        <a:latin typeface="Cambria Math" pitchFamily="34" charset="0"/>
                        <a:ea typeface="Cambria Math" pitchFamily="34" charset="-122"/>
                        <a:cs typeface="Cambria Math" pitchFamily="34" charset="-120"/>
                      </a:rPr>
                      <m:t>=</m:t>
                    </m:r>
                    <m:rad>
                      <m:radPr>
                        <m:degHide m:val="on"/>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radPr>
                      <m:deg/>
                      <m:e>
                        <m:sSubSup>
                          <m:sSub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Sup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𝑥</m:t>
                            </m:r>
                          </m:sub>
                          <m:sup>
                            <m:r>
                              <a:rPr lang="en-US" altLang="zh-CN" sz="2400" b="0" i="0">
                                <a:solidFill>
                                  <a:srgbClr val="000000"/>
                                </a:solidFill>
                                <a:latin typeface="Cambria Math" pitchFamily="34" charset="0"/>
                                <a:ea typeface="Cambria Math" pitchFamily="34" charset="-122"/>
                                <a:cs typeface="Cambria Math" pitchFamily="34" charset="-120"/>
                              </a:rPr>
                              <m:t>2</m:t>
                            </m:r>
                          </m:sup>
                        </m:sSubSup>
                        <m:r>
                          <a:rPr lang="en-US" altLang="zh-CN" sz="2400" b="0" i="0">
                            <a:solidFill>
                              <a:srgbClr val="000000"/>
                            </a:solidFill>
                            <a:latin typeface="Cambria Math" pitchFamily="34" charset="0"/>
                            <a:ea typeface="Cambria Math" pitchFamily="34" charset="-122"/>
                            <a:cs typeface="Cambria Math" pitchFamily="34" charset="-120"/>
                          </a:rPr>
                          <m:t>+</m:t>
                        </m:r>
                        <m:sSubSup>
                          <m:sSubSupPr>
                            <m:ctrlPr>
                              <a:rPr lang="en-US" altLang="zh-CN" sz="2400" b="0" i="1">
                                <a:solidFill>
                                  <a:srgbClr val="000000"/>
                                </a:solidFill>
                                <a:latin typeface="Cambria Math" panose="02040503050406030204" pitchFamily="18" charset="0"/>
                                <a:ea typeface="Cambria Math" pitchFamily="34" charset="-122"/>
                                <a:cs typeface="Cambria Math" pitchFamily="34" charset="-120"/>
                              </a:rPr>
                            </m:ctrlPr>
                          </m:sSubSup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𝑦</m:t>
                            </m:r>
                          </m:sub>
                          <m:sup>
                            <m:r>
                              <a:rPr lang="en-US" altLang="zh-CN" sz="2400" b="0" i="0">
                                <a:solidFill>
                                  <a:srgbClr val="000000"/>
                                </a:solidFill>
                                <a:latin typeface="Cambria Math" pitchFamily="34" charset="0"/>
                                <a:ea typeface="Cambria Math" pitchFamily="34" charset="-122"/>
                                <a:cs typeface="Cambria Math" pitchFamily="34" charset="-120"/>
                              </a:rPr>
                              <m:t>2</m:t>
                            </m:r>
                          </m:sup>
                        </m:sSubSup>
                      </m:e>
                    </m:rad>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kern="0">
                    <a:solidFill>
                      <a:srgbClr val="000000"/>
                    </a:solidFill>
                    <a:latin typeface="SimSun" panose="02010600030101010101" pitchFamily="2" charset="-122"/>
                    <a:ea typeface="微软雅黑" pitchFamily="34" charset="-122"/>
                    <a:cs typeface="Times New Roman" pitchFamily="34" charset="-120"/>
                  </a:rPr>
                  <a:t>    </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𝑥</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轴间夹角</a:t>
                </a:r>
                <a:endParaRPr lang="en-US" altLang="zh-CN" sz="2400" dirty="0"/>
              </a:p>
              <a:p>
                <a:pPr latinLnBrk="1">
                  <a:lnSpc>
                    <a:spcPts val="4700"/>
                  </a:lnSpc>
                </a:pPr>
                <a:r>
                  <a:rPr lang="en-US" altLang="zh-CN" sz="2400" b="0" i="0" kern="0">
                    <a:solidFill>
                      <a:srgbClr val="000000"/>
                    </a:solidFill>
                    <a:latin typeface="SimSun" panose="02010600030101010101" pitchFamily="2" charset="-122"/>
                    <a:ea typeface="微软雅黑" pitchFamily="34" charset="-122"/>
                    <a:cs typeface="Times New Roman" pitchFamily="34" charset="-120"/>
                  </a:rPr>
                  <a:t>    </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𝛼</m:t>
                    </m:r>
                    <m:r>
                      <a:rPr lang="en-US" altLang="zh-CN" sz="2400" b="0" i="0">
                        <a:solidFill>
                          <a:srgbClr val="000000"/>
                        </a:solidFill>
                        <a:latin typeface="Cambria Math" pitchFamily="34" charset="0"/>
                        <a:ea typeface="Cambria Math" pitchFamily="34" charset="-122"/>
                        <a:cs typeface="Cambria Math" pitchFamily="34" charset="-120"/>
                      </a:rPr>
                      <m:t>=</m:t>
                    </m:r>
                    <m:r>
                      <m:rPr>
                        <m:sty m:val="p"/>
                      </m:rPr>
                      <a:rPr lang="en-US" altLang="zh-CN" sz="2400" b="0" i="0">
                        <a:solidFill>
                          <a:srgbClr val="000000"/>
                        </a:solidFill>
                        <a:latin typeface="Cambria Math" pitchFamily="34" charset="0"/>
                        <a:ea typeface="Cambria Math" pitchFamily="34" charset="-122"/>
                        <a:cs typeface="Cambria Math" pitchFamily="34" charset="-120"/>
                      </a:rPr>
                      <m:t>arctan</m:t>
                    </m:r>
                    <m:r>
                      <m:rPr>
                        <m:nor/>
                      </m:rPr>
                      <a:rPr lang="en-US" altLang="zh-CN" sz="2400" b="0" i="0">
                        <a:solidFill>
                          <a:srgbClr val="000000"/>
                        </a:solidFill>
                        <a:latin typeface="Cambria Math" pitchFamily="34" charset="0"/>
                        <a:ea typeface="Cambria Math" pitchFamily="34" charset="-122"/>
                        <a:cs typeface="Cambria Math" pitchFamily="34" charset="-120"/>
                      </a:rPr>
                      <m:t> </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𝑦</m:t>
                            </m:r>
                          </m:sub>
                        </m:sSub>
                      </m:num>
                      <m:den>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𝑥</m:t>
                            </m:r>
                          </m:sub>
                        </m:sSub>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100" b="0" i="0" kern="0" spc="-99900">
                  <a:solidFill>
                    <a:srgbClr val="FFFFFF"/>
                  </a:solidFill>
                  <a:latin typeface="Times New Roman" pitchFamily="34" charset="0"/>
                  <a:ea typeface="微软雅黑" pitchFamily="34" charset="-122"/>
                  <a:cs typeface="Times New Roman" pitchFamily="34" charset="-120"/>
                </a:endParaRPr>
              </a:p>
              <a:p>
                <a:pPr marL="0" marR="0" lvl="0" indent="0" defTabSz="914400" rtl="0" eaLnBrk="1" fontAlgn="auto" latinLnBrk="1" hangingPunct="1">
                  <a:lnSpc>
                    <a:spcPts val="4400"/>
                  </a:lnSpc>
                  <a:spcBef>
                    <a:spcPts val="0"/>
                  </a:spcBef>
                  <a:spcAft>
                    <a:spcPts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技巧点拨</a:t>
                </a:r>
                <a:endParaRPr kumimoji="0" lang="en-US" altLang="zh-CN" sz="24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rtl="0" eaLnBrk="1" fontAlgn="auto" latinLnBrk="1" hangingPunct="1">
                  <a:lnSpc>
                    <a:spcPts val="4400"/>
                  </a:lnSpc>
                  <a:spcBef>
                    <a:spcPts val="0"/>
                  </a:spcBef>
                  <a:spcAft>
                    <a:spcPts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正交分解法建立坐标轴的原则</a:t>
                </a:r>
                <a:endParaRPr kumimoji="0" lang="en-US" altLang="zh-CN" sz="24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defTabSz="914400" rtl="0" eaLnBrk="1" fontAlgn="auto" latinLnBrk="1" hangingPunct="1">
                  <a:lnSpc>
                    <a:spcPts val="4400"/>
                  </a:lnSpc>
                  <a:spcBef>
                    <a:spcPts val="0"/>
                  </a:spcBef>
                  <a:spcAft>
                    <a:spcPts val="0"/>
                  </a:spcAft>
                  <a:buClrTx/>
                  <a:buSzTx/>
                  <a:buFontTx/>
                  <a:buNone/>
                  <a:tabLst/>
                  <a:defRPr/>
                </a:pPr>
                <a:r>
                  <a:rPr kumimoji="0" lang="en-US" altLang="zh-CN" sz="2400" b="0" i="0" strike="noStrike" kern="1200" cap="none" spc="0" normalizeH="0" baseline="0" noProof="0">
                    <a:ln>
                      <a:noFill/>
                    </a:ln>
                    <a:solidFill>
                      <a:srgbClr val="000000"/>
                    </a:solidFill>
                    <a:effectLst/>
                    <a:uLnTx/>
                    <a:uFillTx/>
                    <a:latin typeface="SimSun" panose="02010600030101010101" pitchFamily="2" charset="-122"/>
                    <a:ea typeface="微软雅黑" pitchFamily="34" charset="-122"/>
                    <a:cs typeface="Times New Roman" pitchFamily="34" charset="-120"/>
                  </a:rPr>
                  <a:t>    </a:t>
                </a: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一般情况下，选共点力的作用点为原点，以少分解力和容易分解力为原则</a:t>
                </a:r>
              </a:p>
              <a:p>
                <a:pPr marL="0" marR="0" lvl="0" indent="0" defTabSz="914400" rtl="0" eaLnBrk="1" fontAlgn="auto" latinLnBrk="1" hangingPunct="1">
                  <a:lnSpc>
                    <a:spcPts val="42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（即尽可能让更多的力在坐标轴上）；另外一般情况下不分解待求的未知力.</a:t>
                </a:r>
                <a:endParaRPr lang="en-US" altLang="zh-CN" sz="2400" dirty="0"/>
              </a:p>
            </p:txBody>
          </p:sp>
        </mc:Choice>
        <mc:Fallback xmlns="">
          <p:sp>
            <p:nvSpPr>
              <p:cNvPr id="2" name="P_6_BD#a4d843b79?vcp=1&amp;pid=5e493b389&amp;color=0,0,0&amp;mp=1&amp;vtp=1&amp;bt=1&amp;bbb=1"/>
              <p:cNvSpPr>
                <a:spLocks noRot="1" noChangeAspect="1" noMove="1" noResize="1" noEditPoints="1" noAdjustHandles="1" noChangeArrowheads="1" noChangeShapeType="1" noTextEdit="1"/>
              </p:cNvSpPr>
              <p:nvPr/>
            </p:nvSpPr>
            <p:spPr>
              <a:xfrm>
                <a:off x="393192" y="504000"/>
                <a:ext cx="11402568" cy="5736400"/>
              </a:xfrm>
              <a:prstGeom prst="rect">
                <a:avLst/>
              </a:prstGeom>
              <a:blipFill>
                <a:blip r:embed="rId3"/>
                <a:stretch>
                  <a:fillRect l="-1658" b="-3082"/>
                </a:stretch>
              </a:blipFill>
              <a:ln/>
            </p:spPr>
            <p:txBody>
              <a:bodyPr/>
              <a:lstStyle/>
              <a:p>
                <a:r>
                  <a:rPr lang="zh-CN" altLang="en-US">
                    <a:noFill/>
                  </a:rPr>
                  <a:t> </a:t>
                </a:r>
              </a:p>
            </p:txBody>
          </p:sp>
        </mc:Fallback>
      </mc:AlternateContent>
    </p:spTree>
  </p:cSld>
  <p:clrMapOvr>
    <a:masterClrMapping/>
  </p:clrMapOvr>
  <p:transition>
    <p:split dir="in"/>
  </p:transition>
</p:sld>
</file>

<file path=ppt/slides/slide22.xml><?xml version="1.0" encoding="utf-8"?>
<p:sld xmlns:a="http://schemas.openxmlformats.org/drawingml/2006/main" xmlns:r="http://schemas.openxmlformats.org/officeDocument/2006/relationships" xmlns:p="http://schemas.openxmlformats.org/presentationml/2006/main">
  <p:cSld name="Slide 23&amp;si=23">
    <p:spTree>
      <p:nvGrpSpPr>
        <p:cNvPr id="1" name=""/>
        <p:cNvGrpSpPr/>
        <p:nvPr/>
      </p:nvGrpSpPr>
      <p:grpSpPr>
        <a:xfrm>
          <a:off x="0" y="0"/>
          <a:ext cx="0" cy="0"/>
          <a:chOff x="0" y="0"/>
          <a:chExt cx="0" cy="0"/>
        </a:xfrm>
      </p:grpSpPr>
      <p:pic>
        <p:nvPicPr>
          <p:cNvPr id="2" name="C_5#1a3e60bd3?vcp=1&amp;pid=094a4232a&amp;color=0,0,0&amp;tib=255,255,255&amp;vtp=1&amp;bt=1" descr="preencoded.png"/>
          <p:cNvPicPr>
            <a:picLocks noChangeAspect="1"/>
          </p:cNvPicPr>
          <p:nvPr/>
        </p:nvPicPr>
        <p:blipFill>
          <a:blip r:embed="rId3"/>
          <a:stretch>
            <a:fillRect/>
          </a:stretch>
        </p:blipFill>
        <p:spPr>
          <a:xfrm>
            <a:off x="411480" y="502920"/>
            <a:ext cx="11320272" cy="457200"/>
          </a:xfrm>
          <a:prstGeom prst="rect">
            <a:avLst/>
          </a:prstGeom>
        </p:spPr>
      </p:pic>
      <p:sp>
        <p:nvSpPr>
          <p:cNvPr id="3" name="C_5_BD#1a3e60bd3?vcp=1&amp;pid=094a4232a&amp;color=255,255,255&amp;vtp=1"/>
          <p:cNvSpPr/>
          <p:nvPr/>
        </p:nvSpPr>
        <p:spPr>
          <a:xfrm>
            <a:off x="1225296"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3</a:t>
            </a:r>
            <a:endParaRPr lang="en-US" altLang="zh-CN" sz="2800" dirty="0"/>
          </a:p>
        </p:txBody>
      </p:sp>
      <p:sp>
        <p:nvSpPr>
          <p:cNvPr id="4" name="C_5_BD#1a3e60bd3?vcp=1&amp;pid=094a4232a&amp;color=0,0,0&amp;vtp=1&amp;bbb=1"/>
          <p:cNvSpPr/>
          <p:nvPr/>
        </p:nvSpPr>
        <p:spPr>
          <a:xfrm>
            <a:off x="1837944"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力分解的多样性及极值问题</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难点</a:t>
            </a:r>
            <a:endParaRPr lang="en-US" altLang="zh-CN" sz="2600" dirty="0"/>
          </a:p>
        </p:txBody>
      </p:sp>
      <p:sp>
        <p:nvSpPr>
          <p:cNvPr id="5" name="P_6#6cf15277e?vcp=1&amp;pid=1a3e60bd3&amp;color=0,0,0&amp;vtp=1&amp;bbb=1"/>
          <p:cNvSpPr/>
          <p:nvPr/>
        </p:nvSpPr>
        <p:spPr>
          <a:xfrm>
            <a:off x="393192" y="1092200"/>
            <a:ext cx="11402568" cy="482092"/>
          </a:xfrm>
          <a:prstGeom prst="rect">
            <a:avLst/>
          </a:prstGeom>
          <a:noFill/>
          <a:ln/>
        </p:spPr>
        <p:txBody>
          <a:bodyPr wrap="none" lIns="0" tIns="0" rIns="0" bIns="0" rtlCol="0" anchor="t"/>
          <a:lstStyle/>
          <a:p>
            <a:pPr algn="ctr" latinLnBrk="1">
              <a:lnSpc>
                <a:spcPts val="43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r>
              <a:rPr lang="en-US" altLang="zh-CN" sz="100" b="1" i="0" kern="0" spc="-99900" dirty="0">
                <a:solidFill>
                  <a:srgbClr val="FFFFFF"/>
                </a:solidFill>
                <a:latin typeface="Times New Roman" pitchFamily="34" charset="0"/>
                <a:ea typeface="微软雅黑" pitchFamily="34" charset="-122"/>
                <a:cs typeface="Times New Roman" pitchFamily="34" charset="-120"/>
              </a:rPr>
              <a:t>#1</a:t>
            </a:r>
            <a:endParaRPr lang="en-US" altLang="zh-CN" sz="2400" dirty="0"/>
          </a:p>
        </p:txBody>
      </p:sp>
      <mc:AlternateContent xmlns:mc="http://schemas.openxmlformats.org/markup-compatibility/2006" xmlns:a14="http://schemas.microsoft.com/office/drawing/2010/main">
        <mc:Choice Requires="a14">
          <p:graphicFrame>
            <p:nvGraphicFramePr>
              <p:cNvPr id="24" name="P_6_BD#6cf15277e?colgroup=10,5,19&amp;vcp=1&amp;pid=1a3e60bd3&amp;color=0,0,0&amp;vtp=1&amp;bbb=1&amp;hb=1"/>
              <p:cNvGraphicFramePr>
                <a:graphicFrameLocks noGrp="1"/>
              </p:cNvGraphicFramePr>
              <p:nvPr>
                <p:extLst>
                  <p:ext uri="{D42A27DB-BD31-4B8C-83A1-F6EECF244321}">
                    <p14:modId xmlns:p14="http://schemas.microsoft.com/office/powerpoint/2010/main" val="2922912941"/>
                  </p:ext>
                </p:extLst>
              </p:nvPr>
            </p:nvGraphicFramePr>
            <p:xfrm>
              <a:off x="393192" y="1712595"/>
              <a:ext cx="11365992" cy="4642993"/>
            </p:xfrm>
            <a:graphic>
              <a:graphicData uri="http://schemas.openxmlformats.org/drawingml/2006/table">
                <a:tbl>
                  <a:tblPr/>
                  <a:tblGrid>
                    <a:gridCol w="3346704">
                      <a:extLst>
                        <a:ext uri="{9D8B030D-6E8A-4147-A177-3AD203B41FA5}">
                          <a16:colId xmlns:a16="http://schemas.microsoft.com/office/drawing/2014/main" val="20000"/>
                        </a:ext>
                      </a:extLst>
                    </a:gridCol>
                    <a:gridCol w="1865376">
                      <a:extLst>
                        <a:ext uri="{9D8B030D-6E8A-4147-A177-3AD203B41FA5}">
                          <a16:colId xmlns:a16="http://schemas.microsoft.com/office/drawing/2014/main" val="20001"/>
                        </a:ext>
                      </a:extLst>
                    </a:gridCol>
                    <a:gridCol w="6153912">
                      <a:extLst>
                        <a:ext uri="{9D8B030D-6E8A-4147-A177-3AD203B41FA5}">
                          <a16:colId xmlns:a16="http://schemas.microsoft.com/office/drawing/2014/main" val="20002"/>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已知条件</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示意图</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解的情况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74012">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已知两个分力的方向</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77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有唯一解</a:t>
                          </a:r>
                          <a:endParaRPr lang="en-US" altLang="zh-CN" sz="1200" dirty="0"/>
                        </a:p>
                        <a:p>
                          <a:pPr algn="ctr" latinLnBrk="1" hangingPunct="0">
                            <a:lnSpc>
                              <a:spcPts val="10300"/>
                            </a:lnSpc>
                          </a:pPr>
                          <a:r>
                            <a:rPr lang="en-US" altLang="zh-CN" sz="5800" b="0" i="0" kern="0" spc="-99900">
                              <a:solidFill>
                                <a:srgbClr val="FFFFFF">
                                  <a:alpha val="0"/>
                                </a:srgbClr>
                              </a:solidFill>
                              <a:latin typeface="Times New Roman" pitchFamily="34" charset="0"/>
                              <a:ea typeface="微软雅黑" pitchFamily="34" charset="-122"/>
                              <a:cs typeface="Times New Roman" pitchFamily="34" charset="-120"/>
                            </a:rPr>
                            <a:t>_</a:t>
                          </a:r>
                          <a:r>
                            <a:rPr lang="en-US" altLang="zh-CN" sz="900" b="0" i="0" kern="0" spc="0">
                              <a:solidFill>
                                <a:srgbClr val="FFFFFF">
                                  <a:alpha val="0"/>
                                </a:srgbClr>
                              </a:solidFill>
                              <a:latin typeface="SimSun" panose="02010600030101010101" pitchFamily="2" charset="-122"/>
                              <a:ea typeface="微软雅黑" pitchFamily="34" charset="-122"/>
                              <a:cs typeface="Times New Roman" pitchFamily="34" charset="-120"/>
                            </a:rPr>
                            <a:t>______________________</a:t>
                          </a: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76348">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已知两个分力的大小</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55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有两解或无解（当</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𝐹</m:t>
                              </m:r>
                              <m:r>
                                <a:rPr lang="en-US" altLang="zh-CN" sz="2400" b="0" i="0" spc="-100">
                                  <a:solidFill>
                                    <a:srgbClr val="000000"/>
                                  </a:solidFill>
                                  <a:latin typeface="Cambria Math" pitchFamily="34" charset="0"/>
                                  <a:ea typeface="Cambria Math" pitchFamily="34" charset="-122"/>
                                  <a:cs typeface="Cambria Math" pitchFamily="34" charset="-120"/>
                                </a:rPr>
                                <m:t>&lt;|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r>
                                <a:rPr lang="en-US" altLang="zh-CN" sz="2400" b="0" i="0" spc="-10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或</a:t>
                          </a:r>
                        </a:p>
                        <a:p>
                          <a:pPr marL="0" indent="0" algn="l" latinLnBrk="1" hangingPunct="0">
                            <a:lnSpc>
                              <a:spcPts val="38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𝐹</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&gt;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时无解）</a:t>
                          </a:r>
                          <a:endParaRPr lang="en-US" altLang="zh-CN" sz="1200" dirty="0"/>
                        </a:p>
                        <a:p>
                          <a:pPr marL="0" lvl="0" indent="0" algn="ctr" latinLnBrk="1" hangingPunct="0">
                            <a:lnSpc>
                              <a:spcPts val="9700"/>
                            </a:lnSpc>
                          </a:pPr>
                          <a:r>
                            <a:rPr lang="en-US" altLang="zh-CN" sz="5450" b="0" i="0" kern="0" spc="-99900">
                              <a:solidFill>
                                <a:srgbClr val="FFFFFF">
                                  <a:alpha val="0"/>
                                </a:srgbClr>
                              </a:solidFill>
                              <a:latin typeface="Times New Roman" pitchFamily="34" charset="0"/>
                              <a:ea typeface="微软雅黑" pitchFamily="34" charset="-122"/>
                              <a:cs typeface="Times New Roman" pitchFamily="34" charset="-120"/>
                            </a:rPr>
                            <a:t>_</a:t>
                          </a:r>
                          <a:r>
                            <a:rPr lang="en-US" altLang="zh-CN" sz="900" b="0" i="0" kern="0" spc="0">
                              <a:solidFill>
                                <a:srgbClr val="FFFFFF">
                                  <a:alpha val="0"/>
                                </a:srgbClr>
                              </a:solidFill>
                              <a:latin typeface="SimSun" panose="02010600030101010101" pitchFamily="2" charset="-122"/>
                              <a:ea typeface="微软雅黑" pitchFamily="34" charset="-122"/>
                              <a:cs typeface="Times New Roman" pitchFamily="34" charset="-120"/>
                            </a:rPr>
                            <a:t>_________________________________________</a:t>
                          </a: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4" name="P_6_BD#6cf15277e?colgroup=10,5,19&amp;vcp=1&amp;pid=1a3e60bd3&amp;color=0,0,0&amp;vtp=1&amp;bbb=1&amp;hb=1"/>
              <p:cNvGraphicFramePr>
                <a:graphicFrameLocks noGrp="1"/>
              </p:cNvGraphicFramePr>
              <p:nvPr>
                <p:extLst>
                  <p:ext uri="{D42A27DB-BD31-4B8C-83A1-F6EECF244321}">
                    <p14:modId xmlns:p14="http://schemas.microsoft.com/office/powerpoint/2010/main" val="2922912941"/>
                  </p:ext>
                </p:extLst>
              </p:nvPr>
            </p:nvGraphicFramePr>
            <p:xfrm>
              <a:off x="393192" y="1712595"/>
              <a:ext cx="11365992" cy="4642993"/>
            </p:xfrm>
            <a:graphic>
              <a:graphicData uri="http://schemas.openxmlformats.org/drawingml/2006/table">
                <a:tbl>
                  <a:tblPr/>
                  <a:tblGrid>
                    <a:gridCol w="3346704">
                      <a:extLst>
                        <a:ext uri="{9D8B030D-6E8A-4147-A177-3AD203B41FA5}">
                          <a16:colId xmlns:a16="http://schemas.microsoft.com/office/drawing/2014/main" val="20000"/>
                        </a:ext>
                      </a:extLst>
                    </a:gridCol>
                    <a:gridCol w="1865376">
                      <a:extLst>
                        <a:ext uri="{9D8B030D-6E8A-4147-A177-3AD203B41FA5}">
                          <a16:colId xmlns:a16="http://schemas.microsoft.com/office/drawing/2014/main" val="20001"/>
                        </a:ext>
                      </a:extLst>
                    </a:gridCol>
                    <a:gridCol w="6153912">
                      <a:extLst>
                        <a:ext uri="{9D8B030D-6E8A-4147-A177-3AD203B41FA5}">
                          <a16:colId xmlns:a16="http://schemas.microsoft.com/office/drawing/2014/main" val="20002"/>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已知条件</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示意图</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解的情况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74012">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已知两个分力的方向</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77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有唯一解</a:t>
                          </a:r>
                          <a:endParaRPr lang="en-US" altLang="zh-CN" sz="1200" dirty="0"/>
                        </a:p>
                        <a:p>
                          <a:pPr algn="ctr" latinLnBrk="1" hangingPunct="0">
                            <a:lnSpc>
                              <a:spcPts val="10300"/>
                            </a:lnSpc>
                          </a:pPr>
                          <a:r>
                            <a:rPr lang="en-US" altLang="zh-CN" sz="5800" b="0" i="0" kern="0" spc="-99900">
                              <a:solidFill>
                                <a:srgbClr val="FFFFFF">
                                  <a:alpha val="0"/>
                                </a:srgbClr>
                              </a:solidFill>
                              <a:latin typeface="Times New Roman" pitchFamily="34" charset="0"/>
                              <a:ea typeface="微软雅黑" pitchFamily="34" charset="-122"/>
                              <a:cs typeface="Times New Roman" pitchFamily="34" charset="-120"/>
                            </a:rPr>
                            <a:t>_</a:t>
                          </a:r>
                          <a:r>
                            <a:rPr lang="en-US" altLang="zh-CN" sz="900" b="0" i="0" kern="0" spc="0">
                              <a:solidFill>
                                <a:srgbClr val="FFFFFF">
                                  <a:alpha val="0"/>
                                </a:srgbClr>
                              </a:solidFill>
                              <a:latin typeface="SimSun" panose="02010600030101010101" pitchFamily="2" charset="-122"/>
                              <a:ea typeface="微软雅黑" pitchFamily="34" charset="-122"/>
                              <a:cs typeface="Times New Roman" pitchFamily="34" charset="-120"/>
                            </a:rPr>
                            <a:t>______________________</a:t>
                          </a: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76348">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已知两个分力的大小</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55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84752" t="-104278" r="-198" b="-13636"/>
                          </a:stretch>
                        </a:blipFill>
                      </a:tcPr>
                    </a:tc>
                    <a:extLst>
                      <a:ext uri="{0D108BD9-81ED-4DB2-BD59-A6C34878D82A}">
                        <a16:rowId xmlns:a16="http://schemas.microsoft.com/office/drawing/2014/main" val="10002"/>
                      </a:ext>
                    </a:extLst>
                  </a:tr>
                </a:tbl>
              </a:graphicData>
            </a:graphic>
          </p:graphicFrame>
        </mc:Fallback>
      </mc:AlternateContent>
      <p:pic>
        <p:nvPicPr>
          <p:cNvPr id="7" name="P_6_BD#6cf15277e.table_image?tii=8&amp;vcp=1&amp;pid=1a3e60bd3&amp;color=0,0,0&amp;tib=255,255,255&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4078224" y="2707894"/>
            <a:ext cx="1188720" cy="868680"/>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8" name="P_6_BD#6cf15277e.table_image?tii=9&amp;vcp=1&amp;pid=1a3e60bd3&amp;color=0,0,0&amp;tib=255,255,255&amp;vtp=1"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8046720" y="2802795"/>
            <a:ext cx="1271016" cy="1170432"/>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9" name="P_6_BD#6cf15277e.table_image?tii=10&amp;vcp=1&amp;pid=1a3e60bd3&amp;color=0,0,0&amp;tib=255,255,255&amp;vtp=1" descr="preencoded.png"/>
          <p:cNvPicPr>
            <a:picLocks noChangeAspect="1"/>
          </p:cNvPicPr>
          <p:nvPr/>
        </p:nvPicPr>
        <p:blipFill>
          <a:blip r:embed="rId7">
            <a:clrChange>
              <a:clrFrom>
                <a:srgbClr val="FFFFFF"/>
              </a:clrFrom>
              <a:clrTo>
                <a:srgbClr val="FFFFFF">
                  <a:alpha val="0"/>
                </a:srgbClr>
              </a:clrTo>
            </a:clrChange>
          </a:blip>
          <a:stretch>
            <a:fillRect/>
          </a:stretch>
        </p:blipFill>
        <p:spPr>
          <a:xfrm>
            <a:off x="4005072" y="4901946"/>
            <a:ext cx="1335024" cy="630936"/>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10" name="P_6_BD#6cf15277e.table_image?tii=11&amp;vcp=1&amp;pid=1a3e60bd3&amp;color=0,0,0&amp;tib=255,255,255&amp;vtp=1" descr="preencoded.png"/>
          <p:cNvPicPr>
            <a:picLocks noChangeAspect="1"/>
          </p:cNvPicPr>
          <p:nvPr/>
        </p:nvPicPr>
        <p:blipFill>
          <a:blip r:embed="rId8">
            <a:clrChange>
              <a:clrFrom>
                <a:srgbClr val="FFFFFF"/>
              </a:clrFrom>
              <a:clrTo>
                <a:srgbClr val="FFFFFF">
                  <a:alpha val="0"/>
                </a:srgbClr>
              </a:clrTo>
            </a:clrChange>
          </a:blip>
          <a:stretch>
            <a:fillRect/>
          </a:stretch>
        </p:blipFill>
        <p:spPr>
          <a:xfrm>
            <a:off x="7507224" y="5150929"/>
            <a:ext cx="2350008" cy="1097280"/>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23.xml><?xml version="1.0" encoding="utf-8"?>
<p:sld xmlns:a="http://schemas.openxmlformats.org/drawingml/2006/main" xmlns:r="http://schemas.openxmlformats.org/officeDocument/2006/relationships" xmlns:p="http://schemas.openxmlformats.org/presentationml/2006/main">
  <p:cSld name="Slide 24&amp;si=24">
    <p:spTree>
      <p:nvGrpSpPr>
        <p:cNvPr id="1" name=""/>
        <p:cNvGrpSpPr/>
        <p:nvPr/>
      </p:nvGrpSpPr>
      <p:grpSpPr>
        <a:xfrm>
          <a:off x="0" y="0"/>
          <a:ext cx="0" cy="0"/>
          <a:chOff x="0" y="0"/>
          <a:chExt cx="0" cy="0"/>
        </a:xfrm>
      </p:grpSpPr>
      <p:graphicFrame>
        <p:nvGraphicFramePr>
          <p:cNvPr id="25" name="P_6_BD#6cf15277e?colgroup=10,5,19&amp;vcp=1&amp;pid=1a3e60bd3&amp;color=0,0,0&amp;vtp=1&amp;bt=1&amp;bbb=1&amp;hb=1"/>
          <p:cNvGraphicFramePr>
            <a:graphicFrameLocks noGrp="1"/>
          </p:cNvGraphicFramePr>
          <p:nvPr>
            <p:extLst>
              <p:ext uri="{D42A27DB-BD31-4B8C-83A1-F6EECF244321}">
                <p14:modId xmlns:p14="http://schemas.microsoft.com/office/powerpoint/2010/main" val="1864678967"/>
              </p:ext>
            </p:extLst>
          </p:nvPr>
        </p:nvGraphicFramePr>
        <p:xfrm>
          <a:off x="393192" y="2648934"/>
          <a:ext cx="11365992" cy="2183702"/>
        </p:xfrm>
        <a:graphic>
          <a:graphicData uri="http://schemas.openxmlformats.org/drawingml/2006/table">
            <a:tbl>
              <a:tblPr/>
              <a:tblGrid>
                <a:gridCol w="3346704">
                  <a:extLst>
                    <a:ext uri="{9D8B030D-6E8A-4147-A177-3AD203B41FA5}">
                      <a16:colId xmlns:a16="http://schemas.microsoft.com/office/drawing/2014/main" val="20000"/>
                    </a:ext>
                  </a:extLst>
                </a:gridCol>
                <a:gridCol w="1865376">
                  <a:extLst>
                    <a:ext uri="{9D8B030D-6E8A-4147-A177-3AD203B41FA5}">
                      <a16:colId xmlns:a16="http://schemas.microsoft.com/office/drawing/2014/main" val="20001"/>
                    </a:ext>
                  </a:extLst>
                </a:gridCol>
                <a:gridCol w="6153912">
                  <a:extLst>
                    <a:ext uri="{9D8B030D-6E8A-4147-A177-3AD203B41FA5}">
                      <a16:colId xmlns:a16="http://schemas.microsoft.com/office/drawing/2014/main" val="20002"/>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已知条件</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示意图</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解的情况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691069">
                <a:tc>
                  <a:txBody>
                    <a:bodyPr/>
                    <a:lstStyle/>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已知一个分力的大小和</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方向</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3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有唯一解（可由三角形确定）</a:t>
                      </a:r>
                      <a:endParaRPr lang="en-US" altLang="zh-CN" sz="1200" dirty="0"/>
                    </a:p>
                    <a:p>
                      <a:pPr algn="ctr" latinLnBrk="1" hangingPunct="0">
                        <a:lnSpc>
                          <a:spcPts val="10100"/>
                        </a:lnSpc>
                      </a:pPr>
                      <a:r>
                        <a:rPr lang="en-US" altLang="zh-CN" sz="5650" b="0" i="0" kern="0" spc="-99900">
                          <a:solidFill>
                            <a:srgbClr val="FFFFFF">
                              <a:alpha val="0"/>
                            </a:srgbClr>
                          </a:solidFill>
                          <a:latin typeface="Times New Roman" pitchFamily="34" charset="0"/>
                          <a:ea typeface="微软雅黑" pitchFamily="34" charset="-122"/>
                          <a:cs typeface="Times New Roman" pitchFamily="34" charset="-120"/>
                        </a:rPr>
                        <a:t>_</a:t>
                      </a:r>
                      <a:r>
                        <a:rPr lang="en-US" altLang="zh-CN" sz="900" b="0" i="0" kern="0" spc="0">
                          <a:solidFill>
                            <a:srgbClr val="FFFFFF">
                              <a:alpha val="0"/>
                            </a:srgbClr>
                          </a:solidFill>
                          <a:latin typeface="SimSun" panose="02010600030101010101" pitchFamily="2" charset="-122"/>
                          <a:ea typeface="微软雅黑" pitchFamily="34" charset="-122"/>
                          <a:cs typeface="Times New Roman" pitchFamily="34" charset="-120"/>
                        </a:rPr>
                        <a:t>________________</a:t>
                      </a: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3" name="P_6_BD#6cf15277e.table_image?tii=12&amp;vcp=1&amp;pid=1a3e60bd3&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4197096" y="3767646"/>
            <a:ext cx="950976" cy="438912"/>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4" name="P_6_BD#6cf15277e.table_image?tii=13&amp;vcp=1&amp;pid=1a3e60bd3&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8206739" y="3664045"/>
            <a:ext cx="950976" cy="1133856"/>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2" name="P_6_BD#6cf15277e?colgroup=10,5,19&amp;vcp=1&amp;pid=1a3e60bd3&amp;color=0,0,0&amp;vtp=1&amp;bt=1&amp;bbb=1">
            <a:extLst>
              <a:ext uri="{FF2B5EF4-FFF2-40B4-BE49-F238E27FC236}">
                <a16:creationId xmlns:a16="http://schemas.microsoft.com/office/drawing/2014/main" id="{5C02DB33-7656-9638-33AF-6A3A5470DF40}"/>
              </a:ext>
            </a:extLst>
          </p:cNvPr>
          <p:cNvSpPr txBox="1"/>
          <p:nvPr/>
        </p:nvSpPr>
        <p:spPr>
          <a:xfrm>
            <a:off x="11143632" y="2023459"/>
            <a:ext cx="615553" cy="503215"/>
          </a:xfrm>
          <a:prstGeom prst="rect">
            <a:avLst/>
          </a:prstGeom>
          <a:noFill/>
        </p:spPr>
        <p:txBody>
          <a:bodyPr vert="horz" wrap="none" lIns="0" tIns="0" rIns="0" bIns="0" rtlCol="0">
            <a:spAutoFit/>
          </a:bodyPr>
          <a:lstStyle/>
          <a:p>
            <a:pPr algn="r">
              <a:lnSpc>
                <a:spcPts val="4300"/>
              </a:lnSpc>
            </a:pPr>
            <a:r>
              <a:rPr lang="zh-CN" altLang="en-US" sz="2400">
                <a:latin typeface="Times New Roman" panose="02020603050405020304" pitchFamily="18" charset="0"/>
              </a:rPr>
              <a:t>续表</a:t>
            </a:r>
          </a:p>
        </p:txBody>
      </p:sp>
    </p:spTree>
  </p:cSld>
  <p:clrMapOvr>
    <a:masterClrMapping/>
  </p:clrMapOvr>
  <p:transition>
    <p:split dir="in"/>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P_6_BD#6cf15277e?colgroup=10,5,19&amp;vcp=1&amp;pid=1a3e60bd3&amp;color=0,0,0&amp;vtp=1&amp;bt=1&amp;bbb=1&amp;hb=1">
                <a:extLst>
                  <a:ext uri="{FF2B5EF4-FFF2-40B4-BE49-F238E27FC236}">
                    <a16:creationId xmlns:a16="http://schemas.microsoft.com/office/drawing/2014/main" id="{20F225F9-08D8-AC1B-142E-5695C681E7A8}"/>
                  </a:ext>
                </a:extLst>
              </p:cNvPr>
              <p:cNvGraphicFramePr>
                <a:graphicFrameLocks noGrp="1"/>
              </p:cNvGraphicFramePr>
              <p:nvPr>
                <p:extLst>
                  <p:ext uri="{D42A27DB-BD31-4B8C-83A1-F6EECF244321}">
                    <p14:modId xmlns:p14="http://schemas.microsoft.com/office/powerpoint/2010/main" val="1642221985"/>
                  </p:ext>
                </p:extLst>
              </p:nvPr>
            </p:nvGraphicFramePr>
            <p:xfrm>
              <a:off x="393192" y="1793113"/>
              <a:ext cx="11365992" cy="3855085"/>
            </p:xfrm>
            <a:graphic>
              <a:graphicData uri="http://schemas.openxmlformats.org/drawingml/2006/table">
                <a:tbl>
                  <a:tblPr/>
                  <a:tblGrid>
                    <a:gridCol w="3346704">
                      <a:extLst>
                        <a:ext uri="{9D8B030D-6E8A-4147-A177-3AD203B41FA5}">
                          <a16:colId xmlns:a16="http://schemas.microsoft.com/office/drawing/2014/main" val="20000"/>
                        </a:ext>
                      </a:extLst>
                    </a:gridCol>
                    <a:gridCol w="1865376">
                      <a:extLst>
                        <a:ext uri="{9D8B030D-6E8A-4147-A177-3AD203B41FA5}">
                          <a16:colId xmlns:a16="http://schemas.microsoft.com/office/drawing/2014/main" val="20001"/>
                        </a:ext>
                      </a:extLst>
                    </a:gridCol>
                    <a:gridCol w="6153912">
                      <a:extLst>
                        <a:ext uri="{9D8B030D-6E8A-4147-A177-3AD203B41FA5}">
                          <a16:colId xmlns:a16="http://schemas.microsoft.com/office/drawing/2014/main" val="20002"/>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已知条件</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示意图</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解的情况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93936">
                    <a:tc>
                      <a:txBody>
                        <a:bodyPr/>
                        <a:lstStyle/>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已知一个分力的大小和</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另一个分力的方向</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122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①当</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m:t>
                              </m:r>
                              <m:r>
                                <a:rPr lang="en-US" altLang="zh-CN" sz="2400" b="0" i="0" spc="-100">
                                  <a:solidFill>
                                    <a:srgbClr val="000000"/>
                                  </a:solidFill>
                                  <a:latin typeface="Cambria Math" pitchFamily="34" charset="0"/>
                                  <a:ea typeface="Cambria Math" pitchFamily="34" charset="-122"/>
                                  <a:cs typeface="Cambria Math" pitchFamily="34" charset="-120"/>
                                </a:rPr>
                                <m:t>𝐹</m:t>
                              </m:r>
                              <m:r>
                                <m:rPr>
                                  <m:sty m:val="p"/>
                                </m:rPr>
                                <a:rPr lang="en-US" altLang="zh-CN" sz="2400" b="0" i="0" spc="-100">
                                  <a:solidFill>
                                    <a:srgbClr val="000000"/>
                                  </a:solidFill>
                                  <a:latin typeface="Cambria Math" pitchFamily="34" charset="0"/>
                                  <a:ea typeface="Cambria Math" pitchFamily="34" charset="-122"/>
                                  <a:cs typeface="Cambria Math" pitchFamily="34" charset="-120"/>
                                </a:rPr>
                                <m:t>sin</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时,有唯一解（图a）</a:t>
                          </a:r>
                          <a:r>
                            <a:rPr lang="en-US" altLang="zh-CN" sz="2400" b="0" i="0" spc="-100" dirty="0">
                              <a:solidFill>
                                <a:srgbClr val="000000"/>
                              </a:solidFill>
                              <a:latin typeface="Times New Roman" pitchFamily="34" charset="0"/>
                              <a:ea typeface="微软雅黑" pitchFamily="34" charset="-122"/>
                              <a:cs typeface="Times New Roman" pitchFamily="34" charset="-120"/>
                            </a:rPr>
                            <a:t>；</a:t>
                          </a:r>
                          <a:endParaRPr lang="en-US" altLang="zh-CN" sz="1200" spc="-100" dirty="0"/>
                        </a:p>
                        <a:p>
                          <a:pPr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②</a:t>
                          </a:r>
                          <a:r>
                            <a:rPr lang="en-US" altLang="zh-CN" sz="2400" b="0" i="0" dirty="0">
                              <a:solidFill>
                                <a:srgbClr val="000000"/>
                              </a:solidFill>
                              <a:latin typeface="Times New Roman" pitchFamily="34" charset="0"/>
                              <a:ea typeface="微软雅黑" pitchFamily="34" charset="-122"/>
                              <a:cs typeface="Times New Roman" pitchFamily="34" charset="-120"/>
                            </a:rPr>
                            <a:t>当</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𝐹</m:t>
                              </m:r>
                              <m:r>
                                <a:rPr lang="en-US" altLang="zh-CN" sz="2400" b="0" i="0" spc="-100">
                                  <a:solidFill>
                                    <a:srgbClr val="000000"/>
                                  </a:solidFill>
                                  <a:latin typeface="Cambria Math" pitchFamily="34" charset="0"/>
                                  <a:ea typeface="Cambria Math" pitchFamily="34" charset="-122"/>
                                  <a:cs typeface="Cambria Math" pitchFamily="34" charset="-120"/>
                                </a:rPr>
                                <m:t>&gt;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&gt;</m:t>
                              </m:r>
                              <m:r>
                                <a:rPr lang="en-US" altLang="zh-CN" sz="2400" b="0" i="0" spc="-100">
                                  <a:solidFill>
                                    <a:srgbClr val="000000"/>
                                  </a:solidFill>
                                  <a:latin typeface="Cambria Math" pitchFamily="34" charset="0"/>
                                  <a:ea typeface="Cambria Math" pitchFamily="34" charset="-122"/>
                                  <a:cs typeface="Cambria Math" pitchFamily="34" charset="-120"/>
                                </a:rPr>
                                <m:t>𝐹</m:t>
                              </m:r>
                              <m:r>
                                <m:rPr>
                                  <m:sty m:val="p"/>
                                </m:rPr>
                                <a:rPr lang="en-US" altLang="zh-CN" sz="2400" b="0" i="0" spc="-100">
                                  <a:solidFill>
                                    <a:srgbClr val="000000"/>
                                  </a:solidFill>
                                  <a:latin typeface="Cambria Math" pitchFamily="34" charset="0"/>
                                  <a:ea typeface="Cambria Math" pitchFamily="34" charset="-122"/>
                                  <a:cs typeface="Cambria Math" pitchFamily="34" charset="-120"/>
                                </a:rPr>
                                <m:t>sin</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时,有两解（图b）</a:t>
                          </a:r>
                          <a:r>
                            <a:rPr lang="en-US" altLang="zh-CN" sz="2400" b="0" i="0" spc="-100" dirty="0">
                              <a:solidFill>
                                <a:srgbClr val="000000"/>
                              </a:solidFill>
                              <a:latin typeface="Times New Roman" pitchFamily="34" charset="0"/>
                              <a:ea typeface="微软雅黑" pitchFamily="34" charset="-122"/>
                              <a:cs typeface="Times New Roman" pitchFamily="34" charset="-120"/>
                            </a:rPr>
                            <a:t>；</a:t>
                          </a:r>
                          <a:endParaRPr lang="en-US" altLang="zh-CN" sz="1200" spc="-100" dirty="0"/>
                        </a:p>
                        <a:p>
                          <a:pPr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③</a:t>
                          </a:r>
                          <a:r>
                            <a:rPr lang="en-US" altLang="zh-CN" sz="2400" b="0" i="0" dirty="0">
                              <a:solidFill>
                                <a:srgbClr val="000000"/>
                              </a:solidFill>
                              <a:latin typeface="Times New Roman" pitchFamily="34" charset="0"/>
                              <a:ea typeface="微软雅黑" pitchFamily="34" charset="-122"/>
                              <a:cs typeface="Times New Roman" pitchFamily="34" charset="-120"/>
                            </a:rPr>
                            <a:t>当</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m:t>
                              </m:r>
                              <m:r>
                                <a:rPr lang="en-US" altLang="zh-CN" sz="2400" b="0" i="0" spc="-10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时,有唯一解（图c）</a:t>
                          </a:r>
                          <a:r>
                            <a:rPr lang="en-US" altLang="zh-CN" sz="2400" b="0" i="0" spc="-100" dirty="0">
                              <a:solidFill>
                                <a:srgbClr val="000000"/>
                              </a:solidFill>
                              <a:latin typeface="Times New Roman" pitchFamily="34" charset="0"/>
                              <a:ea typeface="微软雅黑" pitchFamily="34" charset="-122"/>
                              <a:cs typeface="Times New Roman" pitchFamily="34" charset="-120"/>
                            </a:rPr>
                            <a:t>；</a:t>
                          </a:r>
                          <a:endParaRPr lang="en-US" altLang="zh-CN" sz="1200" spc="-100" dirty="0"/>
                        </a:p>
                        <a:p>
                          <a:pPr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④</a:t>
                          </a:r>
                          <a:r>
                            <a:rPr lang="en-US" altLang="zh-CN" sz="2400" b="0" i="0" dirty="0">
                              <a:solidFill>
                                <a:srgbClr val="000000"/>
                              </a:solidFill>
                              <a:latin typeface="Times New Roman" pitchFamily="34" charset="0"/>
                              <a:ea typeface="微软雅黑" pitchFamily="34" charset="-122"/>
                              <a:cs typeface="Times New Roman" pitchFamily="34" charset="-120"/>
                            </a:rPr>
                            <a:t>当</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&lt;</m:t>
                              </m:r>
                              <m:r>
                                <a:rPr lang="en-US" altLang="zh-CN" sz="2400" b="0" i="0" spc="-100">
                                  <a:solidFill>
                                    <a:srgbClr val="000000"/>
                                  </a:solidFill>
                                  <a:latin typeface="Cambria Math" pitchFamily="34" charset="0"/>
                                  <a:ea typeface="Cambria Math" pitchFamily="34" charset="-122"/>
                                  <a:cs typeface="Cambria Math" pitchFamily="34" charset="-120"/>
                                </a:rPr>
                                <m:t>𝐹</m:t>
                              </m:r>
                              <m:r>
                                <m:rPr>
                                  <m:sty m:val="p"/>
                                </m:rPr>
                                <a:rPr lang="en-US" altLang="zh-CN" sz="2400" b="0" i="0" spc="-100">
                                  <a:solidFill>
                                    <a:srgbClr val="000000"/>
                                  </a:solidFill>
                                  <a:latin typeface="Cambria Math" pitchFamily="34" charset="0"/>
                                  <a:ea typeface="Cambria Math" pitchFamily="34" charset="-122"/>
                                  <a:cs typeface="Cambria Math" pitchFamily="34" charset="-120"/>
                                </a:rPr>
                                <m:t>sin</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时</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无解（图d）</a:t>
                          </a:r>
                          <a:endParaRPr lang="en-US" altLang="zh-CN" sz="1200" dirty="0"/>
                        </a:p>
                        <a:p>
                          <a:pPr algn="ctr" latinLnBrk="1" hangingPunct="0">
                            <a:lnSpc>
                              <a:spcPts val="12800"/>
                            </a:lnSpc>
                          </a:pPr>
                          <a:r>
                            <a:rPr lang="en-US" altLang="zh-CN" sz="7150" b="0" i="0" kern="0" spc="-99900">
                              <a:solidFill>
                                <a:srgbClr val="FFFFFF">
                                  <a:alpha val="0"/>
                                </a:srgbClr>
                              </a:solidFill>
                              <a:latin typeface="Times New Roman" pitchFamily="34" charset="0"/>
                              <a:ea typeface="微软雅黑" pitchFamily="34" charset="-122"/>
                              <a:cs typeface="Times New Roman" pitchFamily="34" charset="-120"/>
                            </a:rPr>
                            <a:t>_</a:t>
                          </a:r>
                          <a:r>
                            <a:rPr lang="en-US" altLang="zh-CN" sz="900" b="0" i="0" kern="0" spc="0">
                              <a:solidFill>
                                <a:srgbClr val="FFFFFF">
                                  <a:alpha val="0"/>
                                </a:srgbClr>
                              </a:solidFill>
                              <a:latin typeface="SimSun" panose="02010600030101010101" pitchFamily="2" charset="-122"/>
                              <a:ea typeface="微软雅黑" pitchFamily="34" charset="-122"/>
                              <a:cs typeface="Times New Roman" pitchFamily="34" charset="-120"/>
                            </a:rPr>
                            <a:t>___________________________________________________________________________________</a:t>
                          </a: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P_6_BD#6cf15277e?colgroup=10,5,19&amp;vcp=1&amp;pid=1a3e60bd3&amp;color=0,0,0&amp;vtp=1&amp;bt=1&amp;bbb=1&amp;hb=1">
                <a:extLst>
                  <a:ext uri="{FF2B5EF4-FFF2-40B4-BE49-F238E27FC236}">
                    <a16:creationId xmlns:a16="http://schemas.microsoft.com/office/drawing/2014/main" id="{20F225F9-08D8-AC1B-142E-5695C681E7A8}"/>
                  </a:ext>
                </a:extLst>
              </p:cNvPr>
              <p:cNvGraphicFramePr>
                <a:graphicFrameLocks noGrp="1"/>
              </p:cNvGraphicFramePr>
              <p:nvPr>
                <p:extLst>
                  <p:ext uri="{D42A27DB-BD31-4B8C-83A1-F6EECF244321}">
                    <p14:modId xmlns:p14="http://schemas.microsoft.com/office/powerpoint/2010/main" val="1642221985"/>
                  </p:ext>
                </p:extLst>
              </p:nvPr>
            </p:nvGraphicFramePr>
            <p:xfrm>
              <a:off x="393192" y="1793113"/>
              <a:ext cx="11365992" cy="3855085"/>
            </p:xfrm>
            <a:graphic>
              <a:graphicData uri="http://schemas.openxmlformats.org/drawingml/2006/table">
                <a:tbl>
                  <a:tblPr/>
                  <a:tblGrid>
                    <a:gridCol w="3346704">
                      <a:extLst>
                        <a:ext uri="{9D8B030D-6E8A-4147-A177-3AD203B41FA5}">
                          <a16:colId xmlns:a16="http://schemas.microsoft.com/office/drawing/2014/main" val="20000"/>
                        </a:ext>
                      </a:extLst>
                    </a:gridCol>
                    <a:gridCol w="1865376">
                      <a:extLst>
                        <a:ext uri="{9D8B030D-6E8A-4147-A177-3AD203B41FA5}">
                          <a16:colId xmlns:a16="http://schemas.microsoft.com/office/drawing/2014/main" val="20001"/>
                        </a:ext>
                      </a:extLst>
                    </a:gridCol>
                    <a:gridCol w="6153912">
                      <a:extLst>
                        <a:ext uri="{9D8B030D-6E8A-4147-A177-3AD203B41FA5}">
                          <a16:colId xmlns:a16="http://schemas.microsoft.com/office/drawing/2014/main" val="20002"/>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已知条件</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示意图</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解的情况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362452">
                    <a:tc>
                      <a:txBody>
                        <a:bodyPr/>
                        <a:lstStyle/>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已知一个分力的大小和</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另一个分力的方向</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122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2"/>
                          <a:stretch>
                            <a:fillRect l="-84752" t="-15036" r="-198" b="-16304"/>
                          </a:stretch>
                        </a:blipFill>
                      </a:tcPr>
                    </a:tc>
                    <a:extLst>
                      <a:ext uri="{0D108BD9-81ED-4DB2-BD59-A6C34878D82A}">
                        <a16:rowId xmlns:a16="http://schemas.microsoft.com/office/drawing/2014/main" val="10002"/>
                      </a:ext>
                    </a:extLst>
                  </a:tr>
                </a:tbl>
              </a:graphicData>
            </a:graphic>
          </p:graphicFrame>
        </mc:Fallback>
      </mc:AlternateContent>
      <p:sp>
        <p:nvSpPr>
          <p:cNvPr id="3" name="P_6_BD#6cf15277e?colgroup=10,5,19&amp;vcp=1&amp;pid=1a3e60bd3&amp;color=0,0,0&amp;vtp=1&amp;bt=1&amp;bbb=1&amp;hb=1">
            <a:extLst>
              <a:ext uri="{FF2B5EF4-FFF2-40B4-BE49-F238E27FC236}">
                <a16:creationId xmlns:a16="http://schemas.microsoft.com/office/drawing/2014/main" id="{B1A9043F-0790-5F71-BF42-5766A1016276}"/>
              </a:ext>
            </a:extLst>
          </p:cNvPr>
          <p:cNvSpPr txBox="1"/>
          <p:nvPr/>
        </p:nvSpPr>
        <p:spPr>
          <a:xfrm>
            <a:off x="9219185" y="1168718"/>
            <a:ext cx="2540000" cy="503215"/>
          </a:xfrm>
          <a:prstGeom prst="rect">
            <a:avLst/>
          </a:prstGeom>
          <a:noFill/>
        </p:spPr>
        <p:txBody>
          <a:bodyPr vert="horz" lIns="0" tIns="0" rIns="0" bIns="0" rtlCol="0">
            <a:spAutoFit/>
          </a:bodyPr>
          <a:lstStyle/>
          <a:p>
            <a:pPr algn="r">
              <a:lnSpc>
                <a:spcPts val="4300"/>
              </a:lnSpc>
            </a:pPr>
            <a:r>
              <a:rPr lang="zh-CN" altLang="en-US" sz="2400">
                <a:latin typeface="Times New Roman" panose="02020603050405020304" pitchFamily="18" charset="0"/>
              </a:rPr>
              <a:t>续表</a:t>
            </a:r>
          </a:p>
        </p:txBody>
      </p:sp>
      <p:pic>
        <p:nvPicPr>
          <p:cNvPr id="4" name="P_6_BD#6cf15277e.table_image?tii=14&amp;vcp=1&amp;pid=1a3e60bd3&amp;color=0,0,0&amp;tib=255,255,255&amp;vtp=1" descr="preencoded.png">
            <a:extLst>
              <a:ext uri="{FF2B5EF4-FFF2-40B4-BE49-F238E27FC236}">
                <a16:creationId xmlns:a16="http://schemas.microsoft.com/office/drawing/2014/main" id="{93234BC6-3F2B-EEE7-D67A-992BB1F116B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913632" y="3296189"/>
            <a:ext cx="1517904" cy="1380744"/>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5" name="P_6_BD#6cf15277e.table_image?tii=15&amp;vcp=1&amp;pid=1a3e60bd3&amp;color=0,0,0&amp;tib=255,255,255&amp;vtp=1" descr="preencoded.png">
            <a:extLst>
              <a:ext uri="{FF2B5EF4-FFF2-40B4-BE49-F238E27FC236}">
                <a16:creationId xmlns:a16="http://schemas.microsoft.com/office/drawing/2014/main" id="{C328AD63-F069-ABB7-2DBB-CDB035EA36C1}"/>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291072" y="4248658"/>
            <a:ext cx="4379724" cy="1314755"/>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extLst>
      <p:ext uri="{BB962C8B-B14F-4D97-AF65-F5344CB8AC3E}">
        <p14:creationId xmlns:p14="http://schemas.microsoft.com/office/powerpoint/2010/main" val="3850526978"/>
      </p:ext>
    </p:extLst>
  </p:cSld>
  <p:clrMapOvr>
    <a:masterClrMapping/>
  </p:clrMapOvr>
  <p:transition>
    <p:split dir="in"/>
  </p:transition>
</p:sld>
</file>

<file path=ppt/slides/slide25.xml><?xml version="1.0" encoding="utf-8"?>
<p:sld xmlns:a="http://schemas.openxmlformats.org/drawingml/2006/main" xmlns:r="http://schemas.openxmlformats.org/officeDocument/2006/relationships" xmlns:p="http://schemas.openxmlformats.org/presentationml/2006/main">
  <p:cSld name="Slide 25&amp;si=25">
    <p:spTree>
      <p:nvGrpSpPr>
        <p:cNvPr id="1" name=""/>
        <p:cNvGrpSpPr/>
        <p:nvPr/>
      </p:nvGrpSpPr>
      <p:grpSpPr>
        <a:xfrm>
          <a:off x="0" y="0"/>
          <a:ext cx="0" cy="0"/>
          <a:chOff x="0" y="0"/>
          <a:chExt cx="0" cy="0"/>
        </a:xfrm>
      </p:grpSpPr>
      <p:pic>
        <p:nvPicPr>
          <p:cNvPr id="2" name="QC_6_BD.14_1#bed28ad60?htil=7&amp;vcp=1&amp;pid=1a3e60bd3&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10595764" y="1195831"/>
            <a:ext cx="1133856" cy="1618488"/>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xmlns:a14="http://schemas.microsoft.com/office/drawing/2010/main">
        <mc:Choice Requires="a14">
          <p:sp>
            <p:nvSpPr>
              <p:cNvPr id="3" name="QC_6_BD.14_2#bed28ad60?htil=7&amp;vcp=1&amp;pid=1a3e60bd3&amp;color=0,0,0&amp;vtp=1&amp;bt=1&amp;bbb=1&amp;hb=1"/>
              <p:cNvSpPr/>
              <p:nvPr/>
            </p:nvSpPr>
            <p:spPr>
              <a:xfrm>
                <a:off x="393192" y="1150112"/>
                <a:ext cx="10131552" cy="15921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考题3</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（2026·湖南株洲二中检测）</a:t>
                </a:r>
                <a:r>
                  <a:rPr lang="en-US" altLang="zh-CN" sz="2400" b="0" i="0" dirty="0">
                    <a:solidFill>
                      <a:srgbClr val="000000"/>
                    </a:solidFill>
                    <a:latin typeface="Times New Roman" pitchFamily="34" charset="0"/>
                    <a:ea typeface="微软雅黑" pitchFamily="34" charset="-122"/>
                    <a:cs typeface="Times New Roman" pitchFamily="34" charset="-120"/>
                  </a:rPr>
                  <a:t>如图所示</a:t>
                </a:r>
                <a:r>
                  <a:rPr lang="en-US" altLang="zh-CN" sz="2400" b="0" i="0">
                    <a:solidFill>
                      <a:srgbClr val="000000"/>
                    </a:solidFill>
                    <a:latin typeface="Times New Roman" pitchFamily="34" charset="0"/>
                    <a:ea typeface="微软雅黑" pitchFamily="34" charset="-122"/>
                    <a:cs typeface="Times New Roman" pitchFamily="34" charset="-120"/>
                  </a:rPr>
                  <a:t>，一物块在光滑水平面上仅受</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一恒力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作用，现要使该物块所受合力沿直线</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方向</a:t>
                </a:r>
                <a:r>
                  <a:rPr lang="en-US" altLang="zh-CN" sz="2400" b="0" i="0">
                    <a:solidFill>
                      <a:srgbClr val="000000"/>
                    </a:solidFill>
                    <a:latin typeface="Times New Roman" pitchFamily="34" charset="0"/>
                    <a:ea typeface="微软雅黑" pitchFamily="34" charset="-122"/>
                    <a:cs typeface="Times New Roman" pitchFamily="34" charset="-120"/>
                  </a:rPr>
                  <a:t>，应该再加上另一个力</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的作用</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则加上去的这个力的最小值为(</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3" name="QC_6_BD.14_2#bed28ad60?htil=7&amp;vcp=1&amp;pid=1a3e60bd3&amp;color=0,0,0&amp;vtp=1&amp;bt=1&amp;bbb=1&amp;hb=1"/>
              <p:cNvSpPr>
                <a:spLocks noRot="1" noChangeAspect="1" noMove="1" noResize="1" noEditPoints="1" noAdjustHandles="1" noChangeArrowheads="1" noChangeShapeType="1" noTextEdit="1"/>
              </p:cNvSpPr>
              <p:nvPr/>
            </p:nvSpPr>
            <p:spPr>
              <a:xfrm>
                <a:off x="393192" y="1150112"/>
                <a:ext cx="10131552" cy="1592199"/>
              </a:xfrm>
              <a:prstGeom prst="rect">
                <a:avLst/>
              </a:prstGeom>
              <a:blipFill>
                <a:blip r:embed="rId4"/>
                <a:stretch>
                  <a:fillRect l="-1865" r="-1083" b="-11494"/>
                </a:stretch>
              </a:blipFill>
              <a:ln/>
            </p:spPr>
            <p:txBody>
              <a:bodyPr/>
              <a:lstStyle/>
              <a:p>
                <a:r>
                  <a:rPr lang="zh-CN" altLang="en-US">
                    <a:noFill/>
                  </a:rPr>
                  <a:t> </a:t>
                </a:r>
              </a:p>
            </p:txBody>
          </p:sp>
        </mc:Fallback>
      </mc:AlternateContent>
      <p:sp>
        <p:nvSpPr>
          <p:cNvPr id="4" name="QC_6_AN.15_1#bed28ad60.bracket?vcp=1&amp;pid=1a3e60bd3&amp;color=0,0,0&amp;vpa=3&amp;vtp=1"/>
          <p:cNvSpPr/>
          <p:nvPr/>
        </p:nvSpPr>
        <p:spPr>
          <a:xfrm>
            <a:off x="5820060" y="2256282"/>
            <a:ext cx="423863"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mc:AlternateContent xmlns:mc="http://schemas.openxmlformats.org/markup-compatibility/2006" xmlns:a14="http://schemas.microsoft.com/office/drawing/2010/main">
        <mc:Choice Requires="a14">
          <p:sp>
            <p:nvSpPr>
              <p:cNvPr id="5" name="QC_6_BD.14_3#bed28ad60.choices?htil=7&amp;vcp=1&amp;pid=1a3e60bd3&amp;color=0,0,0&amp;vtp=1&amp;bbb=1"/>
              <p:cNvSpPr/>
              <p:nvPr/>
            </p:nvSpPr>
            <p:spPr>
              <a:xfrm>
                <a:off x="393192" y="2743707"/>
                <a:ext cx="10131552" cy="710883"/>
              </a:xfrm>
              <a:prstGeom prst="rect">
                <a:avLst/>
              </a:prstGeom>
              <a:noFill/>
              <a:ln/>
            </p:spPr>
            <p:txBody>
              <a:bodyPr wrap="none" lIns="0" tIns="0" rIns="0" bIns="0" rtlCol="0" anchor="t"/>
              <a:lstStyle/>
              <a:p>
                <a:pPr latinLnBrk="1">
                  <a:lnSpc>
                    <a:spcPts val="6100"/>
                  </a:lnSpc>
                  <a:tabLst>
                    <a:tab pos="2691638" algn="l"/>
                    <a:tab pos="5307076" algn="l"/>
                    <a:tab pos="7960614"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r>
                      <m:rPr>
                        <m:sty m:val="p"/>
                      </m:rPr>
                      <a:rPr lang="en-US" altLang="zh-CN" sz="2400" b="0" i="0">
                        <a:solidFill>
                          <a:srgbClr val="000000"/>
                        </a:solidFill>
                        <a:latin typeface="Cambria Math" pitchFamily="34" charset="0"/>
                        <a:ea typeface="Cambria Math" pitchFamily="34" charset="-122"/>
                        <a:cs typeface="Cambria Math" pitchFamily="34" charset="-120"/>
                      </a:rPr>
                      <m:t>cos</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r>
                      <m:rPr>
                        <m:sty m:val="p"/>
                      </m:rPr>
                      <a:rPr lang="en-US" altLang="zh-CN" sz="2400" b="0" i="0">
                        <a:solidFill>
                          <a:srgbClr val="000000"/>
                        </a:solidFill>
                        <a:latin typeface="Cambria Math" pitchFamily="34" charset="0"/>
                        <a:ea typeface="Cambria Math" pitchFamily="34" charset="-122"/>
                        <a:cs typeface="Cambria Math" pitchFamily="34" charset="-120"/>
                      </a:rPr>
                      <m:t>sin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r>
                      <m:rPr>
                        <m:sty m:val="p"/>
                      </m:rPr>
                      <a:rPr lang="en-US" altLang="zh-CN" sz="2400" b="0" i="0">
                        <a:solidFill>
                          <a:srgbClr val="000000"/>
                        </a:solidFill>
                        <a:latin typeface="Cambria Math" pitchFamily="34" charset="0"/>
                        <a:ea typeface="Cambria Math" pitchFamily="34" charset="-122"/>
                        <a:cs typeface="Cambria Math" pitchFamily="34" charset="-120"/>
                      </a:rPr>
                      <m:t>tan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𝐹</m:t>
                        </m:r>
                      </m:num>
                      <m:den>
                        <m:r>
                          <m:rPr>
                            <m:sty m:val="p"/>
                          </m:rPr>
                          <a:rPr lang="en-US" altLang="zh-CN" sz="2400" b="0" i="0">
                            <a:solidFill>
                              <a:srgbClr val="000000"/>
                            </a:solidFill>
                            <a:latin typeface="Cambria Math" pitchFamily="34" charset="0"/>
                            <a:ea typeface="Cambria Math" pitchFamily="34" charset="-122"/>
                            <a:cs typeface="Cambria Math" pitchFamily="34" charset="-120"/>
                          </a:rPr>
                          <m:t>tan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xmlns="">
          <p:sp>
            <p:nvSpPr>
              <p:cNvPr id="5" name="QC_6_BD.14_3#bed28ad60.choices?htil=7&amp;vcp=1&amp;pid=1a3e60bd3&amp;color=0,0,0&amp;vtp=1&amp;bbb=1"/>
              <p:cNvSpPr>
                <a:spLocks noRot="1" noChangeAspect="1" noMove="1" noResize="1" noEditPoints="1" noAdjustHandles="1" noChangeArrowheads="1" noChangeShapeType="1" noTextEdit="1"/>
              </p:cNvSpPr>
              <p:nvPr/>
            </p:nvSpPr>
            <p:spPr>
              <a:xfrm>
                <a:off x="393192" y="2743707"/>
                <a:ext cx="10131552" cy="710883"/>
              </a:xfrm>
              <a:prstGeom prst="rect">
                <a:avLst/>
              </a:prstGeom>
              <a:blipFill>
                <a:blip r:embed="rId5"/>
                <a:stretch>
                  <a:fillRect l="-1865" b="-14530"/>
                </a:stretch>
              </a:blipFill>
              <a:ln/>
            </p:spPr>
            <p:txBody>
              <a:bodyPr/>
              <a:lstStyle/>
              <a:p>
                <a:r>
                  <a:rPr lang="zh-CN" altLang="en-US">
                    <a:noFill/>
                  </a:rPr>
                  <a:t> </a:t>
                </a:r>
              </a:p>
            </p:txBody>
          </p:sp>
        </mc:Fallback>
      </mc:AlternateContent>
      <p:pic>
        <p:nvPicPr>
          <p:cNvPr id="6" name="QC_6_AS.16_1#bed28ad60?htil=8&amp;vcp=1&amp;pid=1a3e60bd3&amp;color=0,0,0&amp;tib=255,255,255&amp;vtp=1"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9902952" y="3519106"/>
            <a:ext cx="1874520" cy="2185416"/>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xmlns:a14="http://schemas.microsoft.com/office/drawing/2010/main">
        <mc:Choice Requires="a14">
          <p:sp>
            <p:nvSpPr>
              <p:cNvPr id="7" name="QC_6_AS.16_2#bed28ad60?htil=8&amp;vcp=1&amp;pid=1a3e60bd3&amp;color=0,0,0&amp;vtp=1&amp;bbb=1&amp;hb=1"/>
              <p:cNvSpPr/>
              <p:nvPr/>
            </p:nvSpPr>
            <p:spPr>
              <a:xfrm>
                <a:off x="393192" y="3464242"/>
                <a:ext cx="9390888" cy="1033399"/>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要使物块所受合力沿</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𝑨𝑩</m:t>
                    </m:r>
                  </m:oMath>
                </a14:m>
                <a:r>
                  <a:rPr lang="en-US" altLang="zh-CN" sz="2400" b="1" i="0" dirty="0">
                    <a:solidFill>
                      <a:srgbClr val="FF0000"/>
                    </a:solidFill>
                    <a:latin typeface="Times New Roman" pitchFamily="34" charset="0"/>
                    <a:ea typeface="微软雅黑" pitchFamily="34" charset="-122"/>
                    <a:cs typeface="Times New Roman" pitchFamily="34" charset="-120"/>
                  </a:rPr>
                  <a:t>方向，当加上的这个力与</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𝑨𝑩</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方向垂直</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时有最小值</a:t>
                </a:r>
                <a:r>
                  <a:rPr lang="en-US" altLang="zh-CN" sz="2400" b="1" i="0" dirty="0">
                    <a:solidFill>
                      <a:srgbClr val="FF0000"/>
                    </a:solidFill>
                    <a:latin typeface="Times New Roman" pitchFamily="34" charset="0"/>
                    <a:ea typeface="微软雅黑" pitchFamily="34" charset="-122"/>
                    <a:cs typeface="Times New Roman" pitchFamily="34" charset="-120"/>
                  </a:rPr>
                  <a:t>，如图所示，故最小值</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,B正确.</a:t>
                </a:r>
                <a:endParaRPr lang="en-US" altLang="zh-CN" sz="2400" dirty="0"/>
              </a:p>
            </p:txBody>
          </p:sp>
        </mc:Choice>
        <mc:Fallback xmlns="">
          <p:sp>
            <p:nvSpPr>
              <p:cNvPr id="7" name="QC_6_AS.16_2#bed28ad60?htil=8&amp;vcp=1&amp;pid=1a3e60bd3&amp;color=0,0,0&amp;vtp=1&amp;bbb=1&amp;hb=1"/>
              <p:cNvSpPr>
                <a:spLocks noRot="1" noChangeAspect="1" noMove="1" noResize="1" noEditPoints="1" noAdjustHandles="1" noChangeArrowheads="1" noChangeShapeType="1" noTextEdit="1"/>
              </p:cNvSpPr>
              <p:nvPr/>
            </p:nvSpPr>
            <p:spPr>
              <a:xfrm>
                <a:off x="393192" y="3464242"/>
                <a:ext cx="9390888" cy="1033399"/>
              </a:xfrm>
              <a:prstGeom prst="rect">
                <a:avLst/>
              </a:prstGeom>
              <a:blipFill>
                <a:blip r:embed="rId7"/>
                <a:stretch>
                  <a:fillRect l="-2013" b="-17647"/>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
                                            <p:bg/>
                                          </p:spTgt>
                                        </p:tgtEl>
                                        <p:attrNameLst>
                                          <p:attrName>style.visibility</p:attrName>
                                        </p:attrNameLst>
                                      </p:cBhvr>
                                      <p:to>
                                        <p:strVal val="visible"/>
                                      </p:to>
                                    </p:set>
                                    <p:animEffect transition="in" filter="wipe(left)">
                                      <p:cBhvr>
                                        <p:cTn id="18" dur="500"/>
                                        <p:tgtEl>
                                          <p:spTgt spid="7">
                                            <p:bg/>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wipe(left)">
                                      <p:cBhvr>
                                        <p:cTn id="21" dur="500"/>
                                        <p:tgtEl>
                                          <p:spTgt spid="7">
                                            <p:txEl>
                                              <p:pRg st="0" end="0"/>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wipe(left)">
                                      <p:cBhvr>
                                        <p:cTn id="24"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7" grpId="0" build="p"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amp;si=26">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QB_6_BD.17_1#8dec6f258?vcp=1&amp;pid=1a3e60bd3&amp;color=0,0,0&amp;vtp=1&amp;bt=1&amp;bbb=1&amp;hb=1"/>
              <p:cNvSpPr/>
              <p:nvPr/>
            </p:nvSpPr>
            <p:spPr>
              <a:xfrm>
                <a:off x="393192" y="1208025"/>
                <a:ext cx="11402568" cy="15921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变式3-1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把一个力分解为两个力</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，已知合力</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𝐹</m:t>
                    </m:r>
                    <m:r>
                      <a:rPr lang="en-US" altLang="zh-CN" sz="2400" b="0" i="0" smtClean="0">
                        <a:solidFill>
                          <a:srgbClr val="000000"/>
                        </a:solidFill>
                        <a:latin typeface="Cambria Math" pitchFamily="34" charset="0"/>
                        <a:ea typeface="Cambria Math" pitchFamily="34" charset="-122"/>
                        <a:cs typeface="Cambria Math" pitchFamily="34" charset="-120"/>
                      </a:rPr>
                      <m:t>=40</m:t>
                    </m:r>
                    <m:r>
                      <m:rPr>
                        <m:nor/>
                      </m:rPr>
                      <a:rPr lang="en-US" altLang="zh-CN" sz="2400" b="0" i="0" smtClean="0">
                        <a:solidFill>
                          <a:srgbClr val="000000"/>
                        </a:solidFill>
                        <a:latin typeface="Cambria Math" pitchFamily="34" charset="0"/>
                        <a:ea typeface="Cambria Math" pitchFamily="34" charset="-122"/>
                        <a:cs typeface="Cambria Math" pitchFamily="34" charset="-120"/>
                      </a:rPr>
                      <m:t> </m:t>
                    </m:r>
                    <m:r>
                      <m:rPr>
                        <m:sty m:val="p"/>
                      </m:rPr>
                      <a:rPr lang="en-US" altLang="zh-CN" sz="2400" b="0" i="0" smtClean="0">
                        <a:solidFill>
                          <a:srgbClr val="000000"/>
                        </a:solidFill>
                        <a:latin typeface="Cambria Math" pitchFamily="34" charset="0"/>
                        <a:ea typeface="Cambria Math" pitchFamily="34" charset="-122"/>
                        <a:cs typeface="Cambria Math" pitchFamily="34" charset="-120"/>
                      </a:rPr>
                      <m:t>N</m:t>
                    </m:r>
                  </m:oMath>
                </a14:m>
                <a:r>
                  <a:rPr lang="en-US" altLang="zh-CN" sz="2400" b="0" i="0" dirty="0">
                    <a:solidFill>
                      <a:srgbClr val="000000"/>
                    </a:solidFill>
                    <a:latin typeface="Times New Roman" pitchFamily="34" charset="0"/>
                    <a:ea typeface="微软雅黑" pitchFamily="34" charset="-122"/>
                    <a:cs typeface="Times New Roman" pitchFamily="34" charset="-120"/>
                  </a:rPr>
                  <a:t>,分力</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与合力</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的夹角为</a:t>
                </a:r>
              </a:p>
              <a:p>
                <a:pPr latinLnBrk="1">
                  <a:lnSpc>
                    <a:spcPts val="4400"/>
                  </a:lnSpc>
                </a:pPr>
                <a14:m>
                  <m:oMath xmlns:m="http://schemas.openxmlformats.org/officeDocument/2006/math">
                    <m:sSup>
                      <m:sSup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30</m:t>
                        </m:r>
                      </m:e>
                      <m:sup>
                        <m:r>
                          <a:rPr lang="en-US" altLang="zh-CN" sz="2400" b="0" i="0">
                            <a:solidFill>
                              <a:srgbClr val="000000"/>
                            </a:solidFill>
                            <a:latin typeface="Cambria Math" pitchFamily="34" charset="0"/>
                            <a:ea typeface="Cambria Math" pitchFamily="34" charset="-122"/>
                            <a:cs typeface="Cambria Math" pitchFamily="34" charset="-120"/>
                          </a:rPr>
                          <m:t>∘</m:t>
                        </m:r>
                      </m:sup>
                    </m:sSup>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.若</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取某一数值，可使</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有两个大小不同的数值，则</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的取值范围是</a:t>
                </a:r>
                <a:r>
                  <a:rPr lang="en-US" altLang="zh-CN" sz="2400" i="0">
                    <a:solidFill>
                      <a:srgbClr val="000000"/>
                    </a:solidFill>
                    <a:latin typeface="SimSun" pitchFamily="34" charset="0"/>
                    <a:ea typeface="SimSun" pitchFamily="34" charset="-122"/>
                    <a:cs typeface="SimSun" pitchFamily="34" charset="-120"/>
                  </a:rPr>
                  <a:t>__________</a:t>
                </a:r>
              </a:p>
              <a:p>
                <a:pPr latinLnBrk="1">
                  <a:lnSpc>
                    <a:spcPts val="4200"/>
                  </a:lnSpc>
                </a:pPr>
                <a:r>
                  <a:rPr lang="en-US" altLang="zh-CN" sz="2400" i="0">
                    <a:solidFill>
                      <a:srgbClr val="000000"/>
                    </a:solidFill>
                    <a:latin typeface="SimSun" pitchFamily="34" charset="0"/>
                    <a:ea typeface="SimSun" pitchFamily="34" charset="-122"/>
                    <a:cs typeface="SimSun" pitchFamily="34" charset="-120"/>
                  </a:rPr>
                  <a:t>__________</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solidFill>
                    <a:srgbClr val="000000"/>
                  </a:solidFill>
                </a:endParaRPr>
              </a:p>
            </p:txBody>
          </p:sp>
        </mc:Choice>
        <mc:Fallback xmlns="">
          <p:sp>
            <p:nvSpPr>
              <p:cNvPr id="2" name="QB_6_BD.17_1#8dec6f258?vcp=1&amp;pid=1a3e60bd3&amp;color=0,0,0&amp;vtp=1&amp;bt=1&amp;bbb=1&amp;hb=1"/>
              <p:cNvSpPr>
                <a:spLocks noRot="1" noChangeAspect="1" noMove="1" noResize="1" noEditPoints="1" noAdjustHandles="1" noChangeArrowheads="1" noChangeShapeType="1" noTextEdit="1"/>
              </p:cNvSpPr>
              <p:nvPr/>
            </p:nvSpPr>
            <p:spPr>
              <a:xfrm>
                <a:off x="393192" y="1208025"/>
                <a:ext cx="11402568" cy="1592199"/>
              </a:xfrm>
              <a:prstGeom prst="rect">
                <a:avLst/>
              </a:prstGeom>
              <a:blipFill>
                <a:blip r:embed="rId3"/>
                <a:stretch>
                  <a:fillRect l="-1658" r="-749" b="-11877"/>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QB_6_AN.18_1#8dec6f258.blank?vcp=1&amp;pid=1a3e60bd3&amp;color=0,0,0&amp;vpa=4&amp;vtp=1&amp;bbb=1&amp;hb=1"/>
              <p:cNvSpPr/>
              <p:nvPr/>
            </p:nvSpPr>
            <p:spPr>
              <a:xfrm>
                <a:off x="393192" y="1728725"/>
                <a:ext cx="11402568" cy="978916"/>
              </a:xfrm>
              <a:prstGeom prst="rect">
                <a:avLst/>
              </a:prstGeom>
              <a:noFill/>
              <a:ln/>
            </p:spPr>
            <p:txBody>
              <a:bodyPr wrap="square" lIns="0" tIns="0" rIns="0" bIns="0" rtlCol="0" anchor="t"/>
              <a:lstStyle/>
              <a:p>
                <a:pPr latinLnBrk="1">
                  <a:lnSpc>
                    <a:spcPts val="4145"/>
                  </a:lnSpc>
                </a:pPr>
                <a:r>
                  <a:rPr lang="en-US" altLang="zh-CN" sz="2400" b="1" i="0" kern="0">
                    <a:solidFill>
                      <a:srgbClr val="FFFFFF"/>
                    </a:solidFill>
                    <a:latin typeface="SimSun" panose="02010600030101010101" pitchFamily="2" charset="-122"/>
                    <a:ea typeface="微软雅黑" pitchFamily="34" charset="-122"/>
                    <a:cs typeface="Times New Roman" pitchFamily="34" charset="-120"/>
                  </a:rPr>
                  <a:t>                                                                 </a:t>
                </a: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𝟐𝟎</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𝐍</m:t>
                    </m:r>
                    <m:r>
                      <a:rPr lang="en-US" altLang="zh-CN" sz="2400" b="1" i="0" smtClean="0">
                        <a:solidFill>
                          <a:srgbClr val="FF0000"/>
                        </a:solidFill>
                        <a:latin typeface="Cambria Math" pitchFamily="34" charset="0"/>
                        <a:ea typeface="Cambria Math" pitchFamily="34" charset="-122"/>
                        <a:cs typeface="Cambria Math" pitchFamily="34" charset="-120"/>
                      </a:rPr>
                      <m:t>&lt;</m:t>
                    </m:r>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smtClean="0">
                        <a:solidFill>
                          <a:srgbClr val="FF0000"/>
                        </a:solidFill>
                        <a:latin typeface="Cambria Math" pitchFamily="34" charset="0"/>
                        <a:ea typeface="Cambria Math" pitchFamily="34" charset="-122"/>
                        <a:cs typeface="Cambria Math" pitchFamily="34" charset="-120"/>
                      </a:rPr>
                      <m:t>&lt;</m:t>
                    </m:r>
                    <m:r>
                      <a:rPr lang="en-US" altLang="zh-CN" sz="2400" b="1" i="1" smtClean="0">
                        <a:solidFill>
                          <a:srgbClr val="FF0000"/>
                        </a:solidFill>
                        <a:latin typeface="Cambria Math" pitchFamily="34" charset="0"/>
                        <a:ea typeface="Cambria Math" pitchFamily="34" charset="-122"/>
                        <a:cs typeface="Cambria Math" pitchFamily="34" charset="-120"/>
                      </a:rPr>
                      <m:t>𝟒𝟎</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endParaRPr lang="en-US" altLang="zh-CN" sz="100" dirty="0"/>
              </a:p>
            </p:txBody>
          </p:sp>
        </mc:Choice>
        <mc:Fallback xmlns="">
          <p:sp>
            <p:nvSpPr>
              <p:cNvPr id="3" name="QB_6_AN.18_1#8dec6f258.blank?vcp=1&amp;pid=1a3e60bd3&amp;color=0,0,0&amp;vpa=4&amp;vtp=1&amp;bbb=1&amp;hb=1"/>
              <p:cNvSpPr>
                <a:spLocks noRot="1" noChangeAspect="1" noMove="1" noResize="1" noEditPoints="1" noAdjustHandles="1" noChangeArrowheads="1" noChangeShapeType="1" noTextEdit="1"/>
              </p:cNvSpPr>
              <p:nvPr/>
            </p:nvSpPr>
            <p:spPr>
              <a:xfrm>
                <a:off x="393192" y="1728725"/>
                <a:ext cx="11402568" cy="978916"/>
              </a:xfrm>
              <a:prstGeom prst="rect">
                <a:avLst/>
              </a:prstGeom>
              <a:blipFill>
                <a:blip r:embed="rId4"/>
                <a:stretch>
                  <a:fillRect l="-963" b="-7500"/>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QB_6_AS.19_1#8dec6f258?vcp=1&amp;pid=1a3e60bd3&amp;color=0,0,0&amp;vtp=1&amp;bbb=1&amp;hb=1"/>
              <p:cNvSpPr/>
              <p:nvPr/>
            </p:nvSpPr>
            <p:spPr>
              <a:xfrm>
                <a:off x="393192" y="2801619"/>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如图所示，当</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𝑭</m:t>
                    </m:r>
                    <m:r>
                      <a:rPr lang="en-US" altLang="zh-CN" sz="2400" b="1" i="0" smtClean="0">
                        <a:solidFill>
                          <a:srgbClr val="FF0000"/>
                        </a:solidFill>
                        <a:latin typeface="Cambria Math" pitchFamily="34" charset="0"/>
                        <a:ea typeface="Cambria Math" pitchFamily="34" charset="-122"/>
                        <a:cs typeface="Cambria Math" pitchFamily="34" charset="-120"/>
                      </a:rPr>
                      <m:t>𝐬𝐢𝐧</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sSup>
                      <m:sSup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𝟑𝟎</m:t>
                        </m:r>
                      </m:e>
                      <m:sup>
                        <m:r>
                          <a:rPr lang="en-US" altLang="zh-CN" sz="2400" b="1" i="0">
                            <a:solidFill>
                              <a:srgbClr val="FF0000"/>
                            </a:solidFill>
                            <a:latin typeface="Cambria Math" pitchFamily="34" charset="0"/>
                            <a:ea typeface="Cambria Math" pitchFamily="34" charset="-122"/>
                            <a:cs typeface="Cambria Math" pitchFamily="34" charset="-120"/>
                          </a:rPr>
                          <m:t>∘</m:t>
                        </m:r>
                      </m:sup>
                    </m:sSup>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𝟐𝟎</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𝐍</m:t>
                    </m:r>
                  </m:oMath>
                </a14:m>
                <a:r>
                  <a:rPr lang="en-US" altLang="zh-CN" sz="2400" b="1" i="0" dirty="0">
                    <a:solidFill>
                      <a:srgbClr val="FF0000"/>
                    </a:solidFill>
                    <a:latin typeface="Times New Roman" pitchFamily="34" charset="0"/>
                    <a:ea typeface="微软雅黑" pitchFamily="34" charset="-122"/>
                    <a:cs typeface="Times New Roman" pitchFamily="34" charset="-120"/>
                  </a:rPr>
                  <a:t>时，</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有唯一确定的解.当</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smtClean="0">
                        <a:solidFill>
                          <a:srgbClr val="FF0000"/>
                        </a:solidFill>
                        <a:latin typeface="Cambria Math" pitchFamily="34" charset="0"/>
                        <a:ea typeface="Cambria Math" pitchFamily="34" charset="-122"/>
                        <a:cs typeface="Cambria Math" pitchFamily="34" charset="-120"/>
                      </a:rPr>
                      <m:t>&gt;</m:t>
                    </m:r>
                    <m:r>
                      <a:rPr lang="en-US" altLang="zh-CN" sz="2400" b="1" i="1" smtClean="0">
                        <a:solidFill>
                          <a:srgbClr val="FF0000"/>
                        </a:solidFill>
                        <a:latin typeface="Cambria Math" pitchFamily="34" charset="0"/>
                        <a:ea typeface="Cambria Math" pitchFamily="34" charset="-122"/>
                        <a:cs typeface="Cambria Math" pitchFamily="34" charset="-120"/>
                      </a:rPr>
                      <m:t>𝟐𝟎</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endParaRPr lang="en-US" altLang="zh-CN" sz="100" b="1" i="0" kern="0" spc="-99900">
                  <a:solidFill>
                    <a:srgbClr val="FFFFFF"/>
                  </a:solidFill>
                  <a:latin typeface="Times New Roman" pitchFamily="34" charset="0"/>
                  <a:ea typeface="微软雅黑" pitchFamily="34" charset="-122"/>
                  <a:cs typeface="Times New Roman" pitchFamily="34" charset="-120"/>
                </a:endParaRP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时</a:t>
                </a:r>
                <a:r>
                  <a:rPr lang="en-US" altLang="zh-CN" sz="2400" b="1" i="0" dirty="0">
                    <a:solidFill>
                      <a:srgbClr val="FF0000"/>
                    </a:solidFill>
                    <a:latin typeface="Times New Roman" pitchFamily="34" charset="0"/>
                    <a:ea typeface="微软雅黑" pitchFamily="34" charset="-122"/>
                    <a:cs typeface="Times New Roman" pitchFamily="34" charset="-120"/>
                  </a:rPr>
                  <a:t>，如图中</a:t>
                </a: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𝑨𝑫</m:t>
                    </m:r>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𝑨𝑪</m:t>
                    </m:r>
                  </m:oMath>
                </a14:m>
                <a:r>
                  <a:rPr lang="en-US" altLang="zh-CN" sz="2400" b="1" i="0" dirty="0">
                    <a:solidFill>
                      <a:srgbClr val="FF0000"/>
                    </a:solidFill>
                    <a:latin typeface="Times New Roman" pitchFamily="34" charset="0"/>
                    <a:ea typeface="微软雅黑" pitchFamily="34" charset="-122"/>
                    <a:cs typeface="Times New Roman" pitchFamily="34" charset="-120"/>
                  </a:rPr>
                  <a:t>表示力</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的大小，则</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必有两解，即</a:t>
                </a: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𝑶𝑪</m:t>
                    </m:r>
                  </m:oMath>
                </a14:m>
                <a:r>
                  <a:rPr lang="en-US" altLang="zh-CN" sz="2400" b="1" i="0" dirty="0">
                    <a:solidFill>
                      <a:srgbClr val="FF0000"/>
                    </a:solidFill>
                    <a:latin typeface="Times New Roman" pitchFamily="34" charset="0"/>
                    <a:ea typeface="微软雅黑" pitchFamily="34" charset="-122"/>
                    <a:cs typeface="Times New Roman" pitchFamily="34" charset="-120"/>
                  </a:rPr>
                  <a:t>和</a:t>
                </a: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𝑶𝑫</m:t>
                    </m:r>
                  </m:oMath>
                </a14:m>
                <a:r>
                  <a:rPr lang="en-US" altLang="zh-CN" sz="2400" b="1" i="0" dirty="0">
                    <a:solidFill>
                      <a:srgbClr val="FF0000"/>
                    </a:solidFill>
                    <a:latin typeface="Times New Roman" pitchFamily="34" charset="0"/>
                    <a:ea typeface="微软雅黑" pitchFamily="34" charset="-122"/>
                    <a:cs typeface="Times New Roman" pitchFamily="34" charset="-120"/>
                  </a:rPr>
                  <a:t>分别为</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的对应值，</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当</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增大到</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时，则</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只有一解.所以</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的取值范围应为</a:t>
                </a: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𝟐𝟎</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𝐍</m:t>
                    </m:r>
                    <m:r>
                      <a:rPr lang="en-US" altLang="zh-CN" sz="2400" b="1" i="0" smtClean="0">
                        <a:solidFill>
                          <a:srgbClr val="FF0000"/>
                        </a:solidFill>
                        <a:latin typeface="Cambria Math" pitchFamily="34" charset="0"/>
                        <a:ea typeface="Cambria Math" pitchFamily="34" charset="-122"/>
                        <a:cs typeface="Cambria Math" pitchFamily="34" charset="-120"/>
                      </a:rPr>
                      <m:t>&lt;</m:t>
                    </m:r>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smtClean="0">
                        <a:solidFill>
                          <a:srgbClr val="FF0000"/>
                        </a:solidFill>
                        <a:latin typeface="Cambria Math" pitchFamily="34" charset="0"/>
                        <a:ea typeface="Cambria Math" pitchFamily="34" charset="-122"/>
                        <a:cs typeface="Cambria Math" pitchFamily="34" charset="-120"/>
                      </a:rPr>
                      <m:t>&lt;</m:t>
                    </m:r>
                    <m:r>
                      <a:rPr lang="en-US" altLang="zh-CN" sz="2400" b="1" i="1" smtClean="0">
                        <a:solidFill>
                          <a:srgbClr val="FF0000"/>
                        </a:solidFill>
                        <a:latin typeface="Cambria Math" pitchFamily="34" charset="0"/>
                        <a:ea typeface="Cambria Math" pitchFamily="34" charset="-122"/>
                        <a:cs typeface="Cambria Math" pitchFamily="34" charset="-120"/>
                      </a:rPr>
                      <m:t>𝟒𝟎</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solidFill>
                    <a:srgbClr val="FF0000"/>
                  </a:solidFill>
                </a:endParaRPr>
              </a:p>
            </p:txBody>
          </p:sp>
        </mc:Choice>
        <mc:Fallback xmlns="">
          <p:sp>
            <p:nvSpPr>
              <p:cNvPr id="4" name="QB_6_AS.19_1#8dec6f258?vcp=1&amp;pid=1a3e60bd3&amp;color=0,0,0&amp;vtp=1&amp;bbb=1&amp;hb=1"/>
              <p:cNvSpPr>
                <a:spLocks noRot="1" noChangeAspect="1" noMove="1" noResize="1" noEditPoints="1" noAdjustHandles="1" noChangeArrowheads="1" noChangeShapeType="1" noTextEdit="1"/>
              </p:cNvSpPr>
              <p:nvPr/>
            </p:nvSpPr>
            <p:spPr>
              <a:xfrm>
                <a:off x="393192" y="2801619"/>
                <a:ext cx="11402568" cy="1596200"/>
              </a:xfrm>
              <a:prstGeom prst="rect">
                <a:avLst/>
              </a:prstGeom>
              <a:blipFill>
                <a:blip r:embed="rId5"/>
                <a:stretch>
                  <a:fillRect l="-1658" r="-3743" b="-11494"/>
                </a:stretch>
              </a:blipFill>
              <a:ln/>
            </p:spPr>
            <p:txBody>
              <a:bodyPr/>
              <a:lstStyle/>
              <a:p>
                <a:r>
                  <a:rPr lang="zh-CN" altLang="en-US">
                    <a:noFill/>
                  </a:rPr>
                  <a:t> </a:t>
                </a:r>
              </a:p>
            </p:txBody>
          </p:sp>
        </mc:Fallback>
      </mc:AlternateContent>
      <p:pic>
        <p:nvPicPr>
          <p:cNvPr id="5" name="QB_6_AS.19_2#8dec6f258?vcp=1&amp;pid=1a3e60bd3&amp;color=0,0,0&amp;tib=255,255,255&amp;vtp=1"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4608576" y="4516120"/>
            <a:ext cx="2971800" cy="1133856"/>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animEffect transition="in" filter="wipe(left)">
                                      <p:cBhvr>
                                        <p:cTn id="15" dur="500"/>
                                        <p:tgtEl>
                                          <p:spTgt spid="4">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left)">
                                      <p:cBhvr>
                                        <p:cTn id="18" dur="500"/>
                                        <p:tgtEl>
                                          <p:spTgt spid="4">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wipe(left)">
                                      <p:cBhvr>
                                        <p:cTn id="21" dur="500"/>
                                        <p:tgtEl>
                                          <p:spTgt spid="4">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wipe(left)">
                                      <p:cBhvr>
                                        <p:cTn id="24" dur="500"/>
                                        <p:tgtEl>
                                          <p:spTgt spid="4">
                                            <p:txEl>
                                              <p:pRg st="2" end="2"/>
                                            </p:txEl>
                                          </p:spTgt>
                                        </p:tgtEl>
                                      </p:cBhvr>
                                    </p:animEffect>
                                  </p:childTnLst>
                                </p:cTn>
                              </p:par>
                              <p:par>
                                <p:cTn id="25" presetID="22" presetClass="entr" presetSubtype="8"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amp;si=27">
    <p:spTree>
      <p:nvGrpSpPr>
        <p:cNvPr id="1" name=""/>
        <p:cNvGrpSpPr/>
        <p:nvPr/>
      </p:nvGrpSpPr>
      <p:grpSpPr>
        <a:xfrm>
          <a:off x="0" y="0"/>
          <a:ext cx="0" cy="0"/>
          <a:chOff x="0" y="0"/>
          <a:chExt cx="0" cy="0"/>
        </a:xfrm>
      </p:grpSpPr>
      <p:sp>
        <p:nvSpPr>
          <p:cNvPr id="2" name="P_6_BD#9bc805e5b?vcp=1&amp;pid=1a3e60bd3&amp;color=0,0,0&amp;vtp=1&amp;bt=1&amp;bbb=1"/>
          <p:cNvSpPr/>
          <p:nvPr/>
        </p:nvSpPr>
        <p:spPr>
          <a:xfrm>
            <a:off x="393192" y="1100646"/>
            <a:ext cx="11402568" cy="1040892"/>
          </a:xfrm>
          <a:prstGeom prst="rect">
            <a:avLst/>
          </a:prstGeom>
          <a:noFill/>
          <a:ln/>
        </p:spPr>
        <p:txBody>
          <a:bodyPr wrap="none" lIns="0" tIns="0" rIns="0" bIns="0" rtlCol="0" anchor="t"/>
          <a:lstStyle/>
          <a:p>
            <a:pPr algn="l"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方法梳理</a:t>
            </a:r>
            <a:endParaRPr lang="en-US" altLang="zh-CN" sz="2400" dirty="0"/>
          </a:p>
          <a:p>
            <a:pPr algn="ctr" latinLnBrk="1">
              <a:lnSpc>
                <a:spcPts val="4300"/>
              </a:lnSpc>
            </a:pPr>
            <a:r>
              <a:rPr lang="en-US" altLang="zh-CN" sz="2400" b="1" i="0">
                <a:solidFill>
                  <a:srgbClr val="000000"/>
                </a:solidFill>
                <a:latin typeface="Times New Roman" pitchFamily="34" charset="0"/>
                <a:ea typeface="微软雅黑" pitchFamily="34" charset="-122"/>
                <a:cs typeface="Times New Roman" pitchFamily="34" charset="-120"/>
              </a:rPr>
              <a:t>三角形法与多边形法</a:t>
            </a:r>
            <a:r>
              <a:rPr lang="en-US" altLang="zh-CN" sz="100" b="1" i="0" kern="0" spc="-99900" dirty="0">
                <a:solidFill>
                  <a:srgbClr val="FFFFFF"/>
                </a:solidFill>
                <a:latin typeface="Times New Roman" pitchFamily="34" charset="0"/>
                <a:ea typeface="微软雅黑" pitchFamily="34" charset="-122"/>
                <a:cs typeface="Times New Roman" pitchFamily="34" charset="-120"/>
              </a:rPr>
              <a:t>#4.1</a:t>
            </a:r>
            <a:endParaRPr lang="en-US" altLang="zh-CN" sz="2400" dirty="0"/>
          </a:p>
        </p:txBody>
      </p:sp>
      <mc:AlternateContent xmlns:mc="http://schemas.openxmlformats.org/markup-compatibility/2006" xmlns:a14="http://schemas.microsoft.com/office/drawing/2010/main">
        <mc:Choice Requires="a14">
          <p:graphicFrame>
            <p:nvGraphicFramePr>
              <p:cNvPr id="28" name="P_6_BD#9bc805e5b?colgroup=4,15,15&amp;vcp=1&amp;pid=1a3e60bd3&amp;color=0,0,0&amp;vtp=1&amp;bbb=1&amp;hb=1"/>
              <p:cNvGraphicFramePr>
                <a:graphicFrameLocks noGrp="1"/>
              </p:cNvGraphicFramePr>
              <p:nvPr>
                <p:extLst>
                  <p:ext uri="{D42A27DB-BD31-4B8C-83A1-F6EECF244321}">
                    <p14:modId xmlns:p14="http://schemas.microsoft.com/office/powerpoint/2010/main" val="73531103"/>
                  </p:ext>
                </p:extLst>
              </p:nvPr>
            </p:nvGraphicFramePr>
            <p:xfrm>
              <a:off x="393192" y="2262442"/>
              <a:ext cx="11365992" cy="3482213"/>
            </p:xfrm>
            <a:graphic>
              <a:graphicData uri="http://schemas.openxmlformats.org/drawingml/2006/table">
                <a:tbl>
                  <a:tblPr/>
                  <a:tblGrid>
                    <a:gridCol w="1453896">
                      <a:extLst>
                        <a:ext uri="{9D8B030D-6E8A-4147-A177-3AD203B41FA5}">
                          <a16:colId xmlns:a16="http://schemas.microsoft.com/office/drawing/2014/main" val="20000"/>
                        </a:ext>
                      </a:extLst>
                    </a:gridCol>
                    <a:gridCol w="4956048">
                      <a:extLst>
                        <a:ext uri="{9D8B030D-6E8A-4147-A177-3AD203B41FA5}">
                          <a16:colId xmlns:a16="http://schemas.microsoft.com/office/drawing/2014/main" val="20001"/>
                        </a:ext>
                      </a:extLst>
                    </a:gridCol>
                    <a:gridCol w="4956048">
                      <a:extLst>
                        <a:ext uri="{9D8B030D-6E8A-4147-A177-3AD203B41FA5}">
                          <a16:colId xmlns:a16="http://schemas.microsoft.com/office/drawing/2014/main" val="20002"/>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名称</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内容</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与平行四边形定则的关系</a:t>
                          </a:r>
                          <a:r>
                            <a:rPr lang="en-US" altLang="zh-CN" sz="2400" b="1" i="0" dirty="0">
                              <a:solidFill>
                                <a:srgbClr val="000000"/>
                              </a:solidFill>
                              <a:latin typeface="Times New Roman" pitchFamily="34" charset="0"/>
                              <a:ea typeface="微软雅黑" pitchFamily="34" charset="-122"/>
                              <a:cs typeface="Times New Roman" pitchFamily="34" charset="-120"/>
                            </a:rPr>
                            <a:t>（</a:t>
                          </a:r>
                          <a:r>
                            <a:rPr lang="en-US" altLang="zh-CN" sz="2400" b="1" i="0">
                              <a:solidFill>
                                <a:srgbClr val="000000"/>
                              </a:solidFill>
                              <a:latin typeface="Times New Roman" pitchFamily="34" charset="0"/>
                              <a:ea typeface="微软雅黑" pitchFamily="34" charset="-122"/>
                              <a:cs typeface="Times New Roman" pitchFamily="34" charset="-120"/>
                            </a:rPr>
                            <a:t>图示）</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89580">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三角形法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把表示</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oMath>
                          </a14:m>
                          <a:r>
                            <a:rPr lang="en-US" altLang="zh-CN" sz="2400" b="0" i="0" spc="-10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的有向线段依次首尾</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相连</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再把代表</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线段的起点和代</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表</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线段的终点相连</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得到合力</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spc="-100">
                              <a:solidFill>
                                <a:srgbClr val="000000"/>
                              </a:solidFill>
                              <a:latin typeface="Times New Roman" pitchFamily="34" charset="0"/>
                              <a:ea typeface="微软雅黑" pitchFamily="34" charset="-122"/>
                              <a:cs typeface="Times New Roman" pitchFamily="34" charset="-120"/>
                            </a:rPr>
                            <a:t>，</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这一方法称为三角形法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235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8" name="P_6_BD#9bc805e5b?colgroup=4,15,15&amp;vcp=1&amp;pid=1a3e60bd3&amp;color=0,0,0&amp;vtp=1&amp;bbb=1&amp;hb=1"/>
              <p:cNvGraphicFramePr>
                <a:graphicFrameLocks noGrp="1"/>
              </p:cNvGraphicFramePr>
              <p:nvPr>
                <p:extLst>
                  <p:ext uri="{D42A27DB-BD31-4B8C-83A1-F6EECF244321}">
                    <p14:modId xmlns:p14="http://schemas.microsoft.com/office/powerpoint/2010/main" val="73531103"/>
                  </p:ext>
                </p:extLst>
              </p:nvPr>
            </p:nvGraphicFramePr>
            <p:xfrm>
              <a:off x="393192" y="2262442"/>
              <a:ext cx="11365992" cy="3482213"/>
            </p:xfrm>
            <a:graphic>
              <a:graphicData uri="http://schemas.openxmlformats.org/drawingml/2006/table">
                <a:tbl>
                  <a:tblPr/>
                  <a:tblGrid>
                    <a:gridCol w="1453896">
                      <a:extLst>
                        <a:ext uri="{9D8B030D-6E8A-4147-A177-3AD203B41FA5}">
                          <a16:colId xmlns:a16="http://schemas.microsoft.com/office/drawing/2014/main" val="20000"/>
                        </a:ext>
                      </a:extLst>
                    </a:gridCol>
                    <a:gridCol w="4956048">
                      <a:extLst>
                        <a:ext uri="{9D8B030D-6E8A-4147-A177-3AD203B41FA5}">
                          <a16:colId xmlns:a16="http://schemas.microsoft.com/office/drawing/2014/main" val="20001"/>
                        </a:ext>
                      </a:extLst>
                    </a:gridCol>
                    <a:gridCol w="4956048">
                      <a:extLst>
                        <a:ext uri="{9D8B030D-6E8A-4147-A177-3AD203B41FA5}">
                          <a16:colId xmlns:a16="http://schemas.microsoft.com/office/drawing/2014/main" val="20002"/>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名称</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内容</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与平行四边形定则的关系</a:t>
                          </a:r>
                          <a:r>
                            <a:rPr lang="en-US" altLang="zh-CN" sz="2400" b="1" i="0" dirty="0">
                              <a:solidFill>
                                <a:srgbClr val="000000"/>
                              </a:solidFill>
                              <a:latin typeface="Times New Roman" pitchFamily="34" charset="0"/>
                              <a:ea typeface="微软雅黑" pitchFamily="34" charset="-122"/>
                              <a:cs typeface="Times New Roman" pitchFamily="34" charset="-120"/>
                            </a:rPr>
                            <a:t>（</a:t>
                          </a:r>
                          <a:r>
                            <a:rPr lang="en-US" altLang="zh-CN" sz="2400" b="1" i="0">
                              <a:solidFill>
                                <a:srgbClr val="000000"/>
                              </a:solidFill>
                              <a:latin typeface="Times New Roman" pitchFamily="34" charset="0"/>
                              <a:ea typeface="微软雅黑" pitchFamily="34" charset="-122"/>
                              <a:cs typeface="Times New Roman" pitchFamily="34" charset="-120"/>
                            </a:rPr>
                            <a:t>图示）</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89580">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三角形法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29520" t="-16904" r="-100246" b="-204"/>
                          </a:stretch>
                        </a:blipFill>
                      </a:tcPr>
                    </a:tc>
                    <a:tc>
                      <a:txBody>
                        <a:bodyPr/>
                        <a:lstStyle/>
                        <a:p>
                          <a:pPr algn="ctr" latinLnBrk="1" hangingPunct="0">
                            <a:lnSpc>
                              <a:spcPts val="235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pic>
        <p:nvPicPr>
          <p:cNvPr id="4" name="P_6_BD#9bc805e5b.table_image?tii=16&amp;vcp=1&amp;pid=1a3e60bd3&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8659368" y="2873693"/>
            <a:ext cx="1243584" cy="2752344"/>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28.xml><?xml version="1.0" encoding="utf-8"?>
<p:sld xmlns:a="http://schemas.openxmlformats.org/drawingml/2006/main" xmlns:r="http://schemas.openxmlformats.org/officeDocument/2006/relationships" xmlns:p="http://schemas.openxmlformats.org/presentationml/2006/main">
  <p:cSld name="Slide 28&amp;si=28">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9" name="P_6_BD#9bc805e5b?colgroup=4,15,15&amp;vcp=1&amp;pid=1a3e60bd3&amp;color=0,0,0&amp;mp=1&amp;vtp=1&amp;bt=1&amp;bbb=1&amp;hb=1"/>
              <p:cNvGraphicFramePr>
                <a:graphicFrameLocks noGrp="1"/>
              </p:cNvGraphicFramePr>
              <p:nvPr>
                <p:extLst>
                  <p:ext uri="{D42A27DB-BD31-4B8C-83A1-F6EECF244321}">
                    <p14:modId xmlns:p14="http://schemas.microsoft.com/office/powerpoint/2010/main" val="1839127184"/>
                  </p:ext>
                </p:extLst>
              </p:nvPr>
            </p:nvGraphicFramePr>
            <p:xfrm>
              <a:off x="393192" y="1985962"/>
              <a:ext cx="11365992" cy="3509645"/>
            </p:xfrm>
            <a:graphic>
              <a:graphicData uri="http://schemas.openxmlformats.org/drawingml/2006/table">
                <a:tbl>
                  <a:tblPr/>
                  <a:tblGrid>
                    <a:gridCol w="1453896">
                      <a:extLst>
                        <a:ext uri="{9D8B030D-6E8A-4147-A177-3AD203B41FA5}">
                          <a16:colId xmlns:a16="http://schemas.microsoft.com/office/drawing/2014/main" val="20000"/>
                        </a:ext>
                      </a:extLst>
                    </a:gridCol>
                    <a:gridCol w="4956048">
                      <a:extLst>
                        <a:ext uri="{9D8B030D-6E8A-4147-A177-3AD203B41FA5}">
                          <a16:colId xmlns:a16="http://schemas.microsoft.com/office/drawing/2014/main" val="20001"/>
                        </a:ext>
                      </a:extLst>
                    </a:gridCol>
                    <a:gridCol w="4956048">
                      <a:extLst>
                        <a:ext uri="{9D8B030D-6E8A-4147-A177-3AD203B41FA5}">
                          <a16:colId xmlns:a16="http://schemas.microsoft.com/office/drawing/2014/main" val="20002"/>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名称</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内容</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与平行四边形定则的关系</a:t>
                          </a:r>
                          <a:r>
                            <a:rPr lang="en-US" altLang="zh-CN" sz="2400" b="1" i="0" dirty="0">
                              <a:solidFill>
                                <a:srgbClr val="000000"/>
                              </a:solidFill>
                              <a:latin typeface="Times New Roman" pitchFamily="34" charset="0"/>
                              <a:ea typeface="微软雅黑" pitchFamily="34" charset="-122"/>
                              <a:cs typeface="Times New Roman" pitchFamily="34" charset="-120"/>
                            </a:rPr>
                            <a:t>（</a:t>
                          </a:r>
                          <a:r>
                            <a:rPr lang="en-US" altLang="zh-CN" sz="2400" b="1" i="0">
                              <a:solidFill>
                                <a:srgbClr val="000000"/>
                              </a:solidFill>
                              <a:latin typeface="Times New Roman" pitchFamily="34" charset="0"/>
                              <a:ea typeface="微软雅黑" pitchFamily="34" charset="-122"/>
                              <a:cs typeface="Times New Roman" pitchFamily="34" charset="-120"/>
                            </a:rPr>
                            <a:t>图示）</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17012">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多边形法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把代表</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oMath>
                          </a14:m>
                          <a:r>
                            <a:rPr lang="en-US" altLang="zh-CN" sz="2400" b="0" i="0" spc="-10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oMath>
                          </a14:m>
                          <a:r>
                            <a:rPr lang="en-US" altLang="zh-CN" sz="2400" b="0" i="0" spc="-10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3</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的有向线段依次</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首尾相连</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再把代表</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线段的起点</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和代表</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3</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线段的终点相连</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得到合</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力</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这一方法称为多边形法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237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9" name="P_6_BD#9bc805e5b?colgroup=4,15,15&amp;vcp=1&amp;pid=1a3e60bd3&amp;color=0,0,0&amp;mp=1&amp;vtp=1&amp;bt=1&amp;bbb=1&amp;hb=1"/>
              <p:cNvGraphicFramePr>
                <a:graphicFrameLocks noGrp="1"/>
              </p:cNvGraphicFramePr>
              <p:nvPr>
                <p:extLst>
                  <p:ext uri="{D42A27DB-BD31-4B8C-83A1-F6EECF244321}">
                    <p14:modId xmlns:p14="http://schemas.microsoft.com/office/powerpoint/2010/main" val="1839127184"/>
                  </p:ext>
                </p:extLst>
              </p:nvPr>
            </p:nvGraphicFramePr>
            <p:xfrm>
              <a:off x="393192" y="1985962"/>
              <a:ext cx="11365992" cy="3509645"/>
            </p:xfrm>
            <a:graphic>
              <a:graphicData uri="http://schemas.openxmlformats.org/drawingml/2006/table">
                <a:tbl>
                  <a:tblPr/>
                  <a:tblGrid>
                    <a:gridCol w="1453896">
                      <a:extLst>
                        <a:ext uri="{9D8B030D-6E8A-4147-A177-3AD203B41FA5}">
                          <a16:colId xmlns:a16="http://schemas.microsoft.com/office/drawing/2014/main" val="20000"/>
                        </a:ext>
                      </a:extLst>
                    </a:gridCol>
                    <a:gridCol w="4956048">
                      <a:extLst>
                        <a:ext uri="{9D8B030D-6E8A-4147-A177-3AD203B41FA5}">
                          <a16:colId xmlns:a16="http://schemas.microsoft.com/office/drawing/2014/main" val="20001"/>
                        </a:ext>
                      </a:extLst>
                    </a:gridCol>
                    <a:gridCol w="4956048">
                      <a:extLst>
                        <a:ext uri="{9D8B030D-6E8A-4147-A177-3AD203B41FA5}">
                          <a16:colId xmlns:a16="http://schemas.microsoft.com/office/drawing/2014/main" val="20002"/>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名称</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内容</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与平行四边形定则的关系</a:t>
                          </a:r>
                          <a:r>
                            <a:rPr lang="en-US" altLang="zh-CN" sz="2400" b="1" i="0" dirty="0">
                              <a:solidFill>
                                <a:srgbClr val="000000"/>
                              </a:solidFill>
                              <a:latin typeface="Times New Roman" pitchFamily="34" charset="0"/>
                              <a:ea typeface="微软雅黑" pitchFamily="34" charset="-122"/>
                              <a:cs typeface="Times New Roman" pitchFamily="34" charset="-120"/>
                            </a:rPr>
                            <a:t>（</a:t>
                          </a:r>
                          <a:r>
                            <a:rPr lang="en-US" altLang="zh-CN" sz="2400" b="1" i="0">
                              <a:solidFill>
                                <a:srgbClr val="000000"/>
                              </a:solidFill>
                              <a:latin typeface="Times New Roman" pitchFamily="34" charset="0"/>
                              <a:ea typeface="微软雅黑" pitchFamily="34" charset="-122"/>
                              <a:cs typeface="Times New Roman" pitchFamily="34" charset="-120"/>
                            </a:rPr>
                            <a:t>图示）</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17012">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多边形法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29520" t="-16532" r="-100246" b="-403"/>
                          </a:stretch>
                        </a:blipFill>
                      </a:tcPr>
                    </a:tc>
                    <a:tc>
                      <a:txBody>
                        <a:bodyPr/>
                        <a:lstStyle/>
                        <a:p>
                          <a:pPr algn="ctr" latinLnBrk="1" hangingPunct="0">
                            <a:lnSpc>
                              <a:spcPts val="237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pic>
        <p:nvPicPr>
          <p:cNvPr id="3" name="P_6_BD#9bc805e5b.table_image?tii=17&amp;vcp=1&amp;pid=1a3e60bd3&amp;color=0,0,0&amp;mp=1&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8645652" y="2597213"/>
            <a:ext cx="1271016" cy="2779776"/>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2" name="P_6_BD#9bc805e5b?colgroup=4,15,15&amp;vcp=1&amp;pid=1a3e60bd3&amp;color=0,0,0&amp;mp=1&amp;vtp=1&amp;bt=1&amp;bbb=1">
            <a:extLst>
              <a:ext uri="{FF2B5EF4-FFF2-40B4-BE49-F238E27FC236}">
                <a16:creationId xmlns:a16="http://schemas.microsoft.com/office/drawing/2014/main" id="{E85DBEC5-0125-D817-4118-2C9F28FA10F1}"/>
              </a:ext>
            </a:extLst>
          </p:cNvPr>
          <p:cNvSpPr txBox="1"/>
          <p:nvPr/>
        </p:nvSpPr>
        <p:spPr>
          <a:xfrm>
            <a:off x="11143632" y="1360487"/>
            <a:ext cx="615553" cy="503215"/>
          </a:xfrm>
          <a:prstGeom prst="rect">
            <a:avLst/>
          </a:prstGeom>
          <a:noFill/>
        </p:spPr>
        <p:txBody>
          <a:bodyPr vert="horz" wrap="none" lIns="0" tIns="0" rIns="0" bIns="0" rtlCol="0">
            <a:spAutoFit/>
          </a:bodyPr>
          <a:lstStyle/>
          <a:p>
            <a:pPr algn="r">
              <a:lnSpc>
                <a:spcPts val="4300"/>
              </a:lnSpc>
            </a:pPr>
            <a:r>
              <a:rPr lang="zh-CN" altLang="en-US" sz="2400">
                <a:latin typeface="Times New Roman" panose="02020603050405020304" pitchFamily="18" charset="0"/>
              </a:rPr>
              <a:t>续表</a:t>
            </a:r>
          </a:p>
        </p:txBody>
      </p:sp>
    </p:spTree>
  </p:cSld>
  <p:clrMapOvr>
    <a:masterClrMapping/>
  </p:clrMapOvr>
  <p:transition>
    <p:split dir="in"/>
  </p:transition>
</p:sld>
</file>

<file path=ppt/slides/slide29.xml><?xml version="1.0" encoding="utf-8"?>
<p:sld xmlns:a="http://schemas.openxmlformats.org/drawingml/2006/main" xmlns:r="http://schemas.openxmlformats.org/officeDocument/2006/relationships" xmlns:p="http://schemas.openxmlformats.org/presentationml/2006/main">
  <p:cSld name="Slide 29&amp;si=29">
    <p:spTree>
      <p:nvGrpSpPr>
        <p:cNvPr id="1" name=""/>
        <p:cNvGrpSpPr/>
        <p:nvPr/>
      </p:nvGrpSpPr>
      <p:grpSpPr>
        <a:xfrm>
          <a:off x="0" y="0"/>
          <a:ext cx="0" cy="0"/>
          <a:chOff x="0" y="0"/>
          <a:chExt cx="0" cy="0"/>
        </a:xfrm>
      </p:grpSpPr>
      <p:sp>
        <p:nvSpPr>
          <p:cNvPr id="2" name="P_6_BD#9bc805e5b?vcp=1&amp;pid=1a3e60bd3&amp;color=0,0,0&amp;vtp=1&amp;bt=1&amp;bbb=1&amp;hb=1"/>
          <p:cNvSpPr/>
          <p:nvPr/>
        </p:nvSpPr>
        <p:spPr>
          <a:xfrm>
            <a:off x="393192" y="2350326"/>
            <a:ext cx="11402568" cy="2150999"/>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规律总结</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.合力方向一定，其中一个分力的大小和方向都一定</a:t>
            </a:r>
            <a:r>
              <a:rPr lang="en-US" altLang="zh-CN" sz="2400" b="0" i="0">
                <a:solidFill>
                  <a:srgbClr val="000000"/>
                </a:solidFill>
                <a:latin typeface="Times New Roman" pitchFamily="34" charset="0"/>
                <a:ea typeface="微软雅黑" pitchFamily="34" charset="-122"/>
                <a:cs typeface="Times New Roman" pitchFamily="34" charset="-120"/>
              </a:rPr>
              <a:t>，当另一个分力与合力方向</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垂直时</a:t>
            </a:r>
            <a:r>
              <a:rPr lang="en-US" altLang="zh-CN" sz="2400" b="0" i="0" dirty="0">
                <a:solidFill>
                  <a:srgbClr val="000000"/>
                </a:solidFill>
                <a:latin typeface="Times New Roman" pitchFamily="34" charset="0"/>
                <a:ea typeface="微软雅黑" pitchFamily="34" charset="-122"/>
                <a:cs typeface="Times New Roman" pitchFamily="34" charset="-120"/>
              </a:rPr>
              <a:t>，这一分力最小.</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.合力一定，其中一个分力的方向一定，当两个分力垂直时，另一个分力最小.</a:t>
            </a:r>
            <a:endParaRPr lang="en-US" altLang="zh-CN" sz="2400" dirty="0"/>
          </a:p>
        </p:txBody>
      </p:sp>
    </p:spTree>
  </p:cSld>
  <p:clrMapOvr>
    <a:masterClrMapping/>
  </p:clrMapOvr>
  <p:transition>
    <p:split dir="in"/>
  </p:transition>
</p:sld>
</file>

<file path=ppt/slides/slide30.xml><?xml version="1.0" encoding="utf-8"?>
<p:sld xmlns:a="http://schemas.openxmlformats.org/drawingml/2006/main" xmlns:r="http://schemas.openxmlformats.org/officeDocument/2006/relationships" xmlns:p="http://schemas.openxmlformats.org/presentationml/2006/main">
  <p:cSld name="Slide 30&amp;si=30">
    <p:spTree>
      <p:nvGrpSpPr>
        <p:cNvPr id="1" name=""/>
        <p:cNvGrpSpPr/>
        <p:nvPr/>
      </p:nvGrpSpPr>
      <p:grpSpPr>
        <a:xfrm>
          <a:off x="0" y="0"/>
          <a:ext cx="0" cy="0"/>
          <a:chOff x="0" y="0"/>
          <a:chExt cx="0" cy="0"/>
        </a:xfrm>
      </p:grpSpPr>
    </p:spTree>
  </p:cSld>
  <p:clrMapOvr>
    <a:masterClrMapping/>
  </p:clrMapOvr>
  <p:transition>
    <p:split dir="in"/>
  </p:transition>
</p:sld>
</file>

<file path=ppt/theme/theme1.xml><?xml version="1.0" encoding="utf-8"?>
<a:theme xmlns:a="http://schemas.openxmlformats.org/drawingml/2006/ma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1279</Words>
  <Application>Microsoft Office PowerPoint</Application>
  <PresentationFormat>宽屏</PresentationFormat>
  <Paragraphs>236</Paragraphs>
  <Slides>30</Slides>
  <Notes>29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30</vt:i4>
      </vt:variant>
    </vt:vector>
  </HeadingPairs>
  <TitlesOfParts>
    <vt:vector size="39" baseType="lpstr">
      <vt:lpstr>SimHei</vt:lpstr>
      <vt:lpstr>KaiTi</vt:lpstr>
      <vt:lpstr>SimSun</vt:lpstr>
      <vt:lpstr>微软雅黑</vt:lpstr>
      <vt:lpstr>Arial</vt:lpstr>
      <vt:lpstr>Calibri</vt:lpstr>
      <vt:lpstr>Cambria Math</vt:lpstr>
      <vt:lpstr>Times New Roman</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Administrator</cp:lastModifiedBy>
  <cp:revision>3</cp:revision>
  <dcterms:created xsi:type="dcterms:W3CDTF">2026-05-25T08:05:46Z</dcterms:created>
  <dcterms:modified xsi:type="dcterms:W3CDTF">2026-05-25T08:33:35Z</dcterms:modified>
  <cp:category/>
  <cp:contentStatus/>
</cp:coreProperties>
</file>