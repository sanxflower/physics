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7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2762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xin?subject=physics#pid=6a0d1e829b2d2ba91f04ee84#tid=6a13c06328bacd03a259d378#sourcefrom=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1261872" y="1078992"/>
            <a:ext cx="719632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8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8800" dirty="0"/>
          </a:p>
        </p:txBody>
      </p:sp>
      <p:sp>
        <p:nvSpPr>
          <p:cNvPr id="4" name="MasterShapeName"/>
          <p:cNvSpPr/>
          <p:nvPr/>
        </p:nvSpPr>
        <p:spPr>
          <a:xfrm>
            <a:off x="1581912" y="2770632"/>
            <a:ext cx="6839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3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36576"/>
            <a:ext cx="1911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2400" dirty="0"/>
          </a:p>
        </p:txBody>
      </p:sp>
      <p:sp>
        <p:nvSpPr>
          <p:cNvPr id="4" name="MasterShapeName"/>
          <p:cNvSpPr/>
          <p:nvPr/>
        </p:nvSpPr>
        <p:spPr>
          <a:xfrm>
            <a:off x="2340864" y="146304"/>
            <a:ext cx="36027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df=1185791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疑难专题7 动态平衡问题</a:t>
            </a: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&amp;si=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&amp;si=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2#1185791de.fixed?vcp=1&amp;pid=46eb467af&amp;color=0,112,192&amp;vtp=1&amp;bbb=1"/>
          <p:cNvSpPr/>
          <p:nvPr/>
        </p:nvSpPr>
        <p:spPr>
          <a:xfrm>
            <a:off x="0" y="2157984"/>
            <a:ext cx="12188952" cy="7955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6000"/>
              </a:lnSpc>
            </a:pP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第三章</a:t>
            </a:r>
            <a:r>
              <a:rPr lang="en-US" altLang="zh-CN" sz="48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相互作用——力</a:t>
            </a:r>
            <a:endParaRPr lang="en-US" altLang="zh-CN" sz="4800" dirty="0"/>
          </a:p>
        </p:txBody>
      </p:sp>
      <p:sp>
        <p:nvSpPr>
          <p:cNvPr id="3" name="C_2_BD#1185791de.fixed?vcp=1&amp;pid=46eb467af&amp;color=0,0,0&amp;vtp=1&amp;bbb=1"/>
          <p:cNvSpPr/>
          <p:nvPr/>
        </p:nvSpPr>
        <p:spPr>
          <a:xfrm>
            <a:off x="265176" y="3602736"/>
            <a:ext cx="11521440" cy="1281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5400"/>
              </a:lnSpc>
            </a:pP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疑难专题7</a:t>
            </a:r>
            <a:r>
              <a:rPr lang="en-US" altLang="zh-CN" sz="4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动态平衡问题</a:t>
            </a:r>
            <a:endParaRPr lang="en-US" altLang="zh-CN" sz="4400" dirty="0"/>
          </a:p>
        </p:txBody>
      </p:sp>
    </p:spTree>
  </p:cSld>
  <p:clrMapOvr>
    <a:masterClrMapping/>
  </p:clrMapOvr>
  <p:transition>
    <p:split dir="in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&amp;si=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3#dcc0f8095?vcp=1&amp;pid=1185791de&amp;color=0,0,0&amp;tib=255,255,255&amp;vtp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11320272" cy="466344"/>
          </a:xfrm>
          <a:prstGeom prst="rect">
            <a:avLst/>
          </a:prstGeom>
        </p:spPr>
      </p:pic>
      <p:sp>
        <p:nvSpPr>
          <p:cNvPr id="3" name="C_3_BD#dcc0f8095?vcp=1&amp;pid=1185791de&amp;color=255,255,255&amp;vtp=1&amp;bt=1&amp;bbb=1"/>
          <p:cNvSpPr/>
          <p:nvPr/>
        </p:nvSpPr>
        <p:spPr>
          <a:xfrm>
            <a:off x="393192" y="502920"/>
            <a:ext cx="89611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考点</a:t>
            </a:r>
            <a:endParaRPr lang="en-US" altLang="zh-CN" sz="2600" dirty="0"/>
          </a:p>
        </p:txBody>
      </p:sp>
      <p:sp>
        <p:nvSpPr>
          <p:cNvPr id="4" name="C_3_BD#dcc0f8095?vcp=1&amp;pid=1185791de&amp;color=255,255,255&amp;vtp=1"/>
          <p:cNvSpPr/>
          <p:nvPr/>
        </p:nvSpPr>
        <p:spPr>
          <a:xfrm>
            <a:off x="1298448" y="50292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1</a:t>
            </a:r>
            <a:endParaRPr lang="en-US" altLang="zh-CN" sz="2800" dirty="0"/>
          </a:p>
        </p:txBody>
      </p:sp>
      <p:sp>
        <p:nvSpPr>
          <p:cNvPr id="5" name="C_3_BD#dcc0f8095?vcp=1&amp;pid=1185791de&amp;color=0,0,0&amp;vtp=1&amp;bbb=1"/>
          <p:cNvSpPr/>
          <p:nvPr/>
        </p:nvSpPr>
        <p:spPr>
          <a:xfrm>
            <a:off x="1911096" y="50292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解析法求解动态平衡问题</a:t>
            </a:r>
            <a:endParaRPr lang="en-US" altLang="zh-CN" sz="2600" dirty="0"/>
          </a:p>
        </p:txBody>
      </p:sp>
      <p:sp>
        <p:nvSpPr>
          <p:cNvPr id="6" name="P_4_BD#e83de9fdb?vcp=1&amp;pid=dcc0f8095&amp;color=0,0,0&amp;vtp=1&amp;bbb=1&amp;hb=1"/>
          <p:cNvSpPr/>
          <p:nvPr/>
        </p:nvSpPr>
        <p:spPr>
          <a:xfrm>
            <a:off x="393192" y="965200"/>
            <a:ext cx="11402568" cy="327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1.动态平衡问题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所谓动态平衡问题是指通过控制某些物理量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，使物体的状态发生缓慢变化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，而在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这个过程中物体又始终处于一系列的平衡状态.</a:t>
            </a:r>
          </a:p>
          <a:p>
            <a:pPr marL="0" marR="0" lvl="0" indent="0" defTabSz="914400" rtl="0" eaLnBrk="1" fontAlgn="auto" latinLnBrk="1" hangingPunct="1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Sun" panose="02010600030101010101" pitchFamily="2" charset="-122"/>
                <a:ea typeface="SimSun" pitchFamily="34" charset="-122"/>
                <a:cs typeface="SimSun" pitchFamily="34" charset="-120"/>
              </a:rPr>
              <a:t>    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2.动态平衡问题的解法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  <a:p>
            <a:pPr marL="0" marR="0" lvl="0" indent="0" defTabSz="914400" rtl="0" eaLnBrk="1" fontAlgn="auto" latinLnBrk="1" hangingPunct="1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对研究对象的任一状态进行受力分析，建立平衡方程，求出因变量与自变量的函</a:t>
            </a:r>
          </a:p>
          <a:p>
            <a:pPr marL="0" marR="0" lvl="0" indent="0" defTabSz="914400" rtl="0" eaLnBrk="1" fontAlgn="auto" latinLnBrk="1" hangingPunct="1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数关系，然后根据自变量的变化确定因变量的变化.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&amp;si=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1_1#2ce621621?vcp=1&amp;pid=dcc0f8095&amp;color=0,0,0&amp;mp=1&amp;vtp=1&amp;bt=1&amp;bbb=1&amp;hb=1"/>
              <p:cNvSpPr/>
              <p:nvPr/>
            </p:nvSpPr>
            <p:spPr>
              <a:xfrm>
                <a:off x="393192" y="1632204"/>
                <a:ext cx="11402568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例1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半圆柱体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𝑃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放在粗糙的水平地面上，其右端有固定放置的竖直挡板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𝑀𝑁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𝑃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𝑀𝑁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之间放有一个光滑均匀的小圆柱体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𝑄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，整个装置处于静止状态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，如图所示是这个装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置的纵截面图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.若用外力使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𝑀𝑁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保持竖直、缓慢地向右移动，在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𝑄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落到地面以前，发现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𝑃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0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始终保持静止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.在此过程中，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下列说法中正确的是(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1_1#2ce621621?vcp=1&amp;pid=dcc0f8095&amp;color=0,0,0&amp;mp=1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632204"/>
                <a:ext cx="11402568" cy="2150999"/>
              </a:xfrm>
              <a:prstGeom prst="rect">
                <a:avLst/>
              </a:prstGeom>
              <a:blipFill>
                <a:blip r:embed="rId3"/>
                <a:stretch>
                  <a:fillRect l="-1658" r="-1337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2_1#2ce621621.bracket?vcp=1&amp;pid=dcc0f8095&amp;color=0,0,0&amp;mp=1&amp;vpa=1&amp;vtp=1"/>
          <p:cNvSpPr/>
          <p:nvPr/>
        </p:nvSpPr>
        <p:spPr>
          <a:xfrm>
            <a:off x="7115461" y="3297174"/>
            <a:ext cx="423863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endParaRPr lang="en-US" altLang="zh-CN" sz="2400" dirty="0"/>
          </a:p>
        </p:txBody>
      </p:sp>
      <p:pic>
        <p:nvPicPr>
          <p:cNvPr id="4" name="QC_4_BD.1_2#2ce621621?htil=1&amp;vcp=1&amp;pid=dcc0f8095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981594" y="3817620"/>
            <a:ext cx="2578608" cy="1408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1_3#2ce621621.choices?htil=1&amp;vcp=1&amp;pid=dcc0f8095&amp;color=0,0,0&amp;vtp=1&amp;bbb=1"/>
              <p:cNvSpPr/>
              <p:nvPr/>
            </p:nvSpPr>
            <p:spPr>
              <a:xfrm>
                <a:off x="393192" y="3771899"/>
                <a:ext cx="8695944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  <a:tabLst>
                    <a:tab pos="4455922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𝑀𝑁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𝑄</m:t>
                    </m:r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的弹力逐渐减小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.地面对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𝑃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的摩擦力逐渐增大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  <a:tabLst>
                    <a:tab pos="4455922" algn="l"/>
                  </a:tabLst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𝑃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𝑄</m:t>
                    </m:r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间的弹力先减小后增大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𝑄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所受的合力逐渐增大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1_3#2ce621621.choices?htil=1&amp;vcp=1&amp;pid=dcc0f8095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771899"/>
                <a:ext cx="8695944" cy="1033399"/>
              </a:xfrm>
              <a:prstGeom prst="rect">
                <a:avLst/>
              </a:prstGeom>
              <a:blipFill>
                <a:blip r:embed="rId5"/>
                <a:stretch>
                  <a:fillRect l="-2174" b="-1775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&amp;si=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3_1#2ce621621?vcp=1&amp;pid=dcc0f8095&amp;color=0,0,0&amp;vtp=1&amp;bt=1&amp;bbb=1&amp;hb=1"/>
              <p:cNvSpPr/>
              <p:nvPr/>
            </p:nvSpPr>
            <p:spPr>
              <a:xfrm>
                <a:off x="393192" y="1021334"/>
                <a:ext cx="11402568" cy="27097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𝑸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进行受力分析，如图所示，球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𝑸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受重力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𝑴𝑵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板对小圆柱体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𝑸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的弹力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𝑴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𝑵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，圆柱体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𝑷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对小圆柱体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𝑸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的弹力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𝑷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三个力而平衡.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𝑷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𝑴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𝑵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𝑷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所以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𝑷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𝒎𝒈</m:t>
                        </m:r>
                      </m:num>
                      <m:den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𝐬𝐢𝐧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𝜽</m:t>
                        </m:r>
                      </m:den>
                    </m:f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𝑴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𝑵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𝐜𝐨𝐭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𝑴𝑵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缓慢向右移动时，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逐渐减小，由上式知随着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的减小，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𝑷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𝑴</m:t>
                        </m:r>
                        <m:r>
                          <m:rPr>
                            <m:nor/>
                          </m:rP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𝑵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都将逐渐增大.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3_1#2ce621621?vcp=1&amp;pid=dcc0f8095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021334"/>
                <a:ext cx="11402568" cy="2709799"/>
              </a:xfrm>
              <a:prstGeom prst="rect">
                <a:avLst/>
              </a:prstGeom>
              <a:blipFill>
                <a:blip r:embed="rId3"/>
                <a:stretch>
                  <a:fillRect l="-1658" r="-1872" b="-675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QC_4_AS.3_2#2ce621621?vcp=1&amp;pid=dcc0f8095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91456" y="3870769"/>
            <a:ext cx="2615184" cy="1773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&amp;si=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4_1#48c5460d7?vcp=1&amp;pid=dcc0f8095&amp;color=0,0,0&amp;vtp=1&amp;bt=1&amp;bbb=1&amp;hb=1"/>
              <p:cNvSpPr/>
              <p:nvPr/>
            </p:nvSpPr>
            <p:spPr>
              <a:xfrm>
                <a:off x="393192" y="1003618"/>
                <a:ext cx="11402568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变式1-1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（2026·安徽合肥一中检测</a:t>
                </a:r>
                <a:r>
                  <a:rPr lang="en-US" altLang="zh-CN" sz="2400" b="0" i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）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翻斗车自卸货物的过程可以简化成如图所示模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型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，翻斗车始终静止在水平地面上，原来处于水平的车厢，在液压机的作用下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，与水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平方向的夹角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开始缓慢增大（货物下滑过程中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也在增加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）.下列说法正确的是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4_1#48c5460d7?vcp=1&amp;pid=dcc0f8095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003618"/>
                <a:ext cx="11402568" cy="2150999"/>
              </a:xfrm>
              <a:prstGeom prst="rect">
                <a:avLst/>
              </a:prstGeom>
              <a:blipFill>
                <a:blip r:embed="rId3"/>
                <a:stretch>
                  <a:fillRect l="-1658" r="-535" b="-880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5_1#48c5460d7.bracket?vcp=1&amp;pid=dcc0f8095&amp;color=0,0,0&amp;vpa=2&amp;vtp=1"/>
          <p:cNvSpPr/>
          <p:nvPr/>
        </p:nvSpPr>
        <p:spPr>
          <a:xfrm>
            <a:off x="638460" y="2668588"/>
            <a:ext cx="423863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endParaRPr lang="en-US" altLang="zh-CN" sz="2400" dirty="0"/>
          </a:p>
        </p:txBody>
      </p:sp>
      <p:pic>
        <p:nvPicPr>
          <p:cNvPr id="4" name="QC_4_BD.4_2#48c5460d7?vcp=1&amp;pid=dcc0f8095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864608" y="3270314"/>
            <a:ext cx="2468880" cy="1408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5" name="QC_4_BD.4_3#48c5460d7.choices?vcp=1&amp;pid=dcc0f8095&amp;color=0,0,0&amp;vtp=1&amp;bbb=1"/>
          <p:cNvSpPr/>
          <p:nvPr/>
        </p:nvSpPr>
        <p:spPr>
          <a:xfrm>
            <a:off x="393192" y="4807014"/>
            <a:ext cx="11402568" cy="1033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atinLnBrk="1">
              <a:lnSpc>
                <a:spcPts val="4400"/>
              </a:lnSpc>
              <a:tabLst>
                <a:tab pos="5807954" algn="l"/>
              </a:tabLst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.货物受到的支持力先减小后增大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.货物受到的支持力一直减小</a:t>
            </a:r>
            <a:endParaRPr lang="en-US" altLang="zh-CN" sz="2400" dirty="0"/>
          </a:p>
          <a:p>
            <a:pPr latinLnBrk="1">
              <a:lnSpc>
                <a:spcPts val="4200"/>
              </a:lnSpc>
              <a:tabLst>
                <a:tab pos="5807954" algn="l"/>
              </a:tabLst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C.货物受到的摩擦力一直增大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.货物受到的摩擦力一直减小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&amp;si=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6_1#48c5460d7?vcp=1&amp;pid=dcc0f8095&amp;color=0,0,0&amp;vtp=1&amp;bt=1&amp;bbb=1&amp;hb=1"/>
              <p:cNvSpPr/>
              <p:nvPr/>
            </p:nvSpPr>
            <p:spPr>
              <a:xfrm>
                <a:off x="393192" y="1812385"/>
                <a:ext cx="11402568" cy="3272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较小时，货物相对车厢静止，货物受到重力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、支持力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和摩擦力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𝒇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，处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于动态平衡状态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，有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𝒇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,可知随着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增大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，货物所受的支持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减小，摩擦力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𝒇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增大；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增大到一定程度，货物开始相对车厢下滑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，此时货物所受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的支持力大小为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,滑动摩擦力大小为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𝒇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𝝁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，随着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增大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，货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物受到的支持力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减小，货物受到的摩擦力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𝒇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减小.综上，整个卸货过程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，货物受到的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支持力一直减小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，货物受到的摩擦力先增大后减小，故选B.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6_1#48c5460d7?vcp=1&amp;pid=dcc0f8095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812385"/>
                <a:ext cx="11402568" cy="3272600"/>
              </a:xfrm>
              <a:prstGeom prst="rect">
                <a:avLst/>
              </a:prstGeom>
              <a:blipFill>
                <a:blip r:embed="rId3"/>
                <a:stretch>
                  <a:fillRect l="-1658" r="-1444" b="-558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&amp;si=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3#5e7b90c6c?vcp=1&amp;pid=1185791de&amp;color=0,0,0&amp;tib=255,255,255&amp;vtp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11320272" cy="466344"/>
          </a:xfrm>
          <a:prstGeom prst="rect">
            <a:avLst/>
          </a:prstGeom>
        </p:spPr>
      </p:pic>
      <p:sp>
        <p:nvSpPr>
          <p:cNvPr id="3" name="C_3_BD#5e7b90c6c?vcp=1&amp;pid=1185791de&amp;color=255,255,255&amp;vtp=1&amp;bt=1&amp;bbb=1"/>
          <p:cNvSpPr/>
          <p:nvPr/>
        </p:nvSpPr>
        <p:spPr>
          <a:xfrm>
            <a:off x="393192" y="502920"/>
            <a:ext cx="89611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考点</a:t>
            </a:r>
            <a:endParaRPr lang="en-US" altLang="zh-CN" sz="2600" dirty="0"/>
          </a:p>
        </p:txBody>
      </p:sp>
      <p:sp>
        <p:nvSpPr>
          <p:cNvPr id="4" name="C_3_BD#5e7b90c6c?vcp=1&amp;pid=1185791de&amp;color=255,255,255&amp;vtp=1"/>
          <p:cNvSpPr/>
          <p:nvPr/>
        </p:nvSpPr>
        <p:spPr>
          <a:xfrm>
            <a:off x="1298448" y="50292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2</a:t>
            </a:r>
            <a:endParaRPr lang="en-US" altLang="zh-CN" sz="2800" dirty="0"/>
          </a:p>
        </p:txBody>
      </p:sp>
      <p:sp>
        <p:nvSpPr>
          <p:cNvPr id="5" name="C_3_BD#5e7b90c6c?vcp=1&amp;pid=1185791de&amp;color=0,0,0&amp;vtp=1&amp;bbb=1"/>
          <p:cNvSpPr/>
          <p:nvPr/>
        </p:nvSpPr>
        <p:spPr>
          <a:xfrm>
            <a:off x="1911096" y="50292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图解法求解动态平衡问题</a:t>
            </a:r>
            <a:endParaRPr lang="en-US" altLang="zh-CN" sz="2600" dirty="0"/>
          </a:p>
        </p:txBody>
      </p:sp>
      <p:sp>
        <p:nvSpPr>
          <p:cNvPr id="6" name="P_4_BD#0d3db14d9?vcp=1&amp;pid=5e7b90c6c&amp;color=0,0,0&amp;vtp=1&amp;bbb=1&amp;hb=1"/>
          <p:cNvSpPr/>
          <p:nvPr/>
        </p:nvSpPr>
        <p:spPr>
          <a:xfrm>
            <a:off x="393192" y="965200"/>
            <a:ext cx="11402568" cy="1596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对研究对象在状态变化过程中的若干状态进行受力分析,依据某一参量的变化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,在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同一图中作出物体在若干状态下的平衡力图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（力的平行四边形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）,再由动态的力的平行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四边形各边长度变化及角度变化确定力的大小及方向的变化情况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</a:t>
            </a:r>
            <a:endParaRPr lang="en-US" altLang="zh-CN" sz="2400" dirty="0"/>
          </a:p>
        </p:txBody>
      </p:sp>
      <p:pic>
        <p:nvPicPr>
          <p:cNvPr id="7" name="QC_4_BD.7_1#0958e5928?htil=2&amp;vcp=1&amp;pid=5e7b90c6c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415045" y="2598419"/>
            <a:ext cx="2276856" cy="2093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QC_4_BD.7_2#0958e5928?htil=2&amp;vcp=1&amp;pid=5e7b90c6c&amp;color=0,0,0&amp;vtp=1&amp;bbb=1&amp;hb=1"/>
              <p:cNvSpPr/>
              <p:nvPr/>
            </p:nvSpPr>
            <p:spPr>
              <a:xfrm>
                <a:off x="393192" y="2552700"/>
                <a:ext cx="8988552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例2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（2026·江西吉安一中检测）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𝑂𝐶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都为不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可伸长的轻绳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绳水平，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𝑂𝐶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绳下悬挂有一小球（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可视为质点）.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现将一水平力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作用于小球上，将小球缓慢拉高，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在这个过程中，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两绳以及结点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的位置不变，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8" name="QC_4_BD.7_2#0958e5928?htil=2&amp;vcp=1&amp;pid=5e7b90c6c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552700"/>
                <a:ext cx="8988552" cy="2150999"/>
              </a:xfrm>
              <a:prstGeom prst="rect">
                <a:avLst/>
              </a:prstGeom>
              <a:blipFill>
                <a:blip r:embed="rId5"/>
                <a:stretch>
                  <a:fillRect l="-2103" r="-407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QC_4_AN.8_1#0958e5928.bracket?vcp=1&amp;pid=5e7b90c6c&amp;color=0,0,0&amp;vpa=3&amp;vtp=1"/>
          <p:cNvSpPr/>
          <p:nvPr/>
        </p:nvSpPr>
        <p:spPr>
          <a:xfrm>
            <a:off x="5924392" y="4217670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QC_4_BD.7_3#0958e5928.choices?htil=2&amp;vcp=1&amp;pid=5e7b90c6c&amp;color=0,0,0&amp;vtp=1&amp;bbb=1"/>
              <p:cNvSpPr/>
              <p:nvPr/>
            </p:nvSpPr>
            <p:spPr>
              <a:xfrm>
                <a:off x="393192" y="4686300"/>
                <a:ext cx="8988552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  <a:tabLst>
                    <a:tab pos="4602226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A.拉力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增大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.绳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𝐴𝑂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的拉力不变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  <a:tabLst>
                    <a:tab pos="4602226" algn="l"/>
                  </a:tabLst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.绳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𝐵𝑂</m:t>
                    </m:r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的拉力减小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.绳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𝐶𝑂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的拉力先减小后增大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10" name="QC_4_BD.7_3#0958e5928.choices?htil=2&amp;vcp=1&amp;pid=5e7b90c6c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686300"/>
                <a:ext cx="8988552" cy="1033399"/>
              </a:xfrm>
              <a:prstGeom prst="rect">
                <a:avLst/>
              </a:prstGeom>
              <a:blipFill>
                <a:blip r:embed="rId6"/>
                <a:stretch>
                  <a:fillRect l="-2103" b="-1775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&amp;si=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9_1#0958e5928?vcp=1&amp;pid=5e7b90c6c&amp;color=0,0,0&amp;vtp=1&amp;bt=1&amp;bbb=1&amp;hb=1"/>
              <p:cNvSpPr/>
              <p:nvPr/>
            </p:nvSpPr>
            <p:spPr>
              <a:xfrm>
                <a:off x="393192" y="1167638"/>
                <a:ext cx="11402568" cy="2713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对小球进行受力分析，小球受重力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、绳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𝑪𝑶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的拉力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𝑪𝑶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和水平力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而处于动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态平衡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，将小球缓慢拉高的过程中，作出力的示意图如图甲所示，可知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𝑪𝑶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𝑭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均增大，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正确，D错误；对结点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进行受力分析，结点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受绳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𝑨𝑶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的拉力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𝑨𝑶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、绳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𝑩𝑶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的拉力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𝑩𝑶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1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和绳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𝑶𝑪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的拉力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𝑪𝑶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而处于动态平衡，作出力的示意图如图乙所示，可知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𝑨𝑶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增大，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𝑩𝑶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不变，B、C错误.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9_1#0958e5928?vcp=1&amp;pid=5e7b90c6c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167638"/>
                <a:ext cx="11402568" cy="2713800"/>
              </a:xfrm>
              <a:prstGeom prst="rect">
                <a:avLst/>
              </a:prstGeom>
              <a:blipFill>
                <a:blip r:embed="rId3"/>
                <a:stretch>
                  <a:fillRect l="-1658" r="-4011" b="-651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QC_4_AS.9_2#0958e5928?vcp=1&amp;pid=5e7b90c6c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977640" y="3980434"/>
            <a:ext cx="4233672" cy="1709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&amp;si=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10_1#10a01bba1?vcp=1&amp;pid=5e7b90c6c&amp;color=0,0,0&amp;vtp=1&amp;bt=1&amp;bbb=1&amp;hb=1"/>
              <p:cNvSpPr/>
              <p:nvPr/>
            </p:nvSpPr>
            <p:spPr>
              <a:xfrm>
                <a:off x="393192" y="1549908"/>
                <a:ext cx="11402568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变式2-1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如图，一粗糙的固定斜杆与水平方向成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角，一定质量的滑环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静止悬挂在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杆上某位置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.现用一根轻质细绳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一端与滑环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相连，另一端与小球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相连，且轻绳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斜杆垂直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.另一轻质细绳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𝑁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沿水平方向拉小球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，使小球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保持静止.将水平轻绳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𝑁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端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沿圆弧缓慢移动到竖直位置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的位置始终不变,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则在此过程中(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10_1#10a01bba1?vcp=1&amp;pid=5e7b90c6c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49908"/>
                <a:ext cx="11402568" cy="2150999"/>
              </a:xfrm>
              <a:prstGeom prst="rect">
                <a:avLst/>
              </a:prstGeom>
              <a:blipFill>
                <a:blip r:embed="rId3"/>
                <a:stretch>
                  <a:fillRect l="-1658" r="-1444" b="-878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11_1#10a01bba1.bracket?vcp=1&amp;pid=5e7b90c6c&amp;color=0,0,0&amp;vpa=4&amp;vtp=1"/>
          <p:cNvSpPr/>
          <p:nvPr/>
        </p:nvSpPr>
        <p:spPr>
          <a:xfrm>
            <a:off x="8834978" y="3214878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endParaRPr lang="en-US" altLang="zh-CN" sz="2400" dirty="0"/>
          </a:p>
        </p:txBody>
      </p:sp>
      <p:pic>
        <p:nvPicPr>
          <p:cNvPr id="4" name="QC_4_BD.10_2#10a01bba1?htil=3&amp;vcp=1&amp;pid=5e7b90c6c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444255" y="3735324"/>
            <a:ext cx="2185416" cy="1572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10_3#10a01bba1.choices?htil=3&amp;vcp=1&amp;pid=5e7b90c6c&amp;color=0,0,0&amp;vtp=1&amp;bbb=1"/>
              <p:cNvSpPr/>
              <p:nvPr/>
            </p:nvSpPr>
            <p:spPr>
              <a:xfrm>
                <a:off x="393192" y="3689603"/>
                <a:ext cx="9079992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  <a:tabLst>
                    <a:tab pos="4647946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A.轻绳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上的拉力先减小后增大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.轻绳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𝑁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上的拉力先增大后减小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  <a:tabLst>
                    <a:tab pos="4647946" algn="l"/>
                  </a:tabLst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.斜杆对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的支持力一直在减小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.斜杆对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的摩擦力一直在减小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10_3#10a01bba1.choices?htil=3&amp;vcp=1&amp;pid=5e7b90c6c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689603"/>
                <a:ext cx="9079992" cy="1033399"/>
              </a:xfrm>
              <a:prstGeom prst="rect">
                <a:avLst/>
              </a:prstGeom>
              <a:blipFill>
                <a:blip r:embed="rId5"/>
                <a:stretch>
                  <a:fillRect l="-2082" b="-1764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&amp;si=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12_1#10a01bba1?vcp=1&amp;pid=5e7b90c6c&amp;color=0,0,0&amp;vtp=1&amp;bt=1&amp;bbb=1&amp;hb=1"/>
              <p:cNvSpPr/>
              <p:nvPr/>
            </p:nvSpPr>
            <p:spPr>
              <a:xfrm>
                <a:off x="393192" y="1053338"/>
                <a:ext cx="11402568" cy="27097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由题意知，小球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处于平衡状态，对小球受力分析，如图甲所示，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𝑵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由水平方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向变为竖直方向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，由矢量三角形的动态分析可以看出，轻绳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𝑵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上的拉力先减小后增大，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轻绳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上的拉力一直在减小，故A、B错误.滑环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静止，对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受力分析，如图乙所示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.由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绳对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的拉力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𝐓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一直在减小，故斜杆对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的支持力也一直在减小，斜杆对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的摩擦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力一直等于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</m:t>
                        </m:r>
                      </m:sub>
                    </m:sSub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𝜽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,保持不变，故C正确，D错误.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12_1#10a01bba1?vcp=1&amp;pid=5e7b90c6c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053338"/>
                <a:ext cx="11402568" cy="2709799"/>
              </a:xfrm>
              <a:prstGeom prst="rect">
                <a:avLst/>
              </a:prstGeom>
              <a:blipFill>
                <a:blip r:embed="rId3"/>
                <a:stretch>
                  <a:fillRect l="-1658" r="-2567" b="-675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QC_4_AS.12_2#10a01bba1?vcp=1&amp;pid=5e7b90c6c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151376" y="3866134"/>
            <a:ext cx="3886200" cy="1938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&amp;si=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3#403f9bdda?vcp=1&amp;pid=1185791de&amp;color=0,0,0&amp;tib=255,255,255&amp;vtp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11320272" cy="466344"/>
          </a:xfrm>
          <a:prstGeom prst="rect">
            <a:avLst/>
          </a:prstGeom>
        </p:spPr>
      </p:pic>
      <p:sp>
        <p:nvSpPr>
          <p:cNvPr id="3" name="C_3_BD#403f9bdda?vcp=1&amp;pid=1185791de&amp;color=255,255,255&amp;vtp=1&amp;bt=1&amp;bbb=1"/>
          <p:cNvSpPr/>
          <p:nvPr/>
        </p:nvSpPr>
        <p:spPr>
          <a:xfrm>
            <a:off x="393192" y="502920"/>
            <a:ext cx="89611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考点</a:t>
            </a:r>
            <a:endParaRPr lang="en-US" altLang="zh-CN" sz="2600" dirty="0"/>
          </a:p>
        </p:txBody>
      </p:sp>
      <p:sp>
        <p:nvSpPr>
          <p:cNvPr id="4" name="C_3_BD#403f9bdda?vcp=1&amp;pid=1185791de&amp;color=255,255,255&amp;vtp=1"/>
          <p:cNvSpPr/>
          <p:nvPr/>
        </p:nvSpPr>
        <p:spPr>
          <a:xfrm>
            <a:off x="1298448" y="50292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3</a:t>
            </a:r>
            <a:endParaRPr lang="en-US" altLang="zh-CN" sz="2800" dirty="0"/>
          </a:p>
        </p:txBody>
      </p:sp>
      <p:sp>
        <p:nvSpPr>
          <p:cNvPr id="5" name="C_3_BD#403f9bdda?vcp=1&amp;pid=1185791de&amp;color=0,0,0&amp;vtp=1&amp;bbb=1"/>
          <p:cNvSpPr/>
          <p:nvPr/>
        </p:nvSpPr>
        <p:spPr>
          <a:xfrm>
            <a:off x="1911096" y="50292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辅助圆法求解动态平衡问题</a:t>
            </a:r>
            <a:endParaRPr lang="en-US" altLang="zh-CN" sz="2600" dirty="0"/>
          </a:p>
        </p:txBody>
      </p:sp>
      <p:sp>
        <p:nvSpPr>
          <p:cNvPr id="6" name="P_4_BD#cb5edca10?vcp=1&amp;pid=403f9bdda&amp;color=0,0,0&amp;vtp=1&amp;bbb=1&amp;hb=1"/>
          <p:cNvSpPr/>
          <p:nvPr/>
        </p:nvSpPr>
        <p:spPr>
          <a:xfrm>
            <a:off x="393192" y="965200"/>
            <a:ext cx="11402568" cy="1037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spc="-5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 spc="-5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对于三个共点力作用下的动态平衡问题，若有两个力的方向在变化</a:t>
            </a:r>
            <a:r>
              <a:rPr lang="en-US" altLang="zh-CN" sz="2400" b="0" i="0" spc="-5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，但是方向变化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 spc="-5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的两个力的夹角保持不变</a:t>
            </a:r>
            <a:r>
              <a:rPr lang="en-US" altLang="zh-CN" sz="2400" b="0" i="0" spc="-5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，可以建立辅助圆，用“同弧所对的圆周角相等”的规律解题.</a:t>
            </a:r>
            <a:endParaRPr lang="en-US" altLang="zh-CN" sz="2400" spc="-50" dirty="0"/>
          </a:p>
        </p:txBody>
      </p:sp>
      <p:pic>
        <p:nvPicPr>
          <p:cNvPr id="7" name="QC_4_BD.13_1#ba9ec81eb?htil=4&amp;vcp=1&amp;pid=403f9bdda&amp;color=0,0,0&amp;tib=255,255,255&amp;vtp=1&amp;hs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419711" y="2060194"/>
            <a:ext cx="1271016" cy="199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QC_4_BD.13_2#ba9ec81eb?htil=4&amp;vcp=1&amp;pid=403f9bdda&amp;color=0,0,0&amp;vtp=1&amp;bbb=1&amp;hb=1&amp;hs=1"/>
              <p:cNvSpPr/>
              <p:nvPr/>
            </p:nvSpPr>
            <p:spPr>
              <a:xfrm>
                <a:off x="393192" y="2005330"/>
                <a:ext cx="9994392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例3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［经典高考题］（多选题）如图，柔软轻绳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𝑂𝑁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的一端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固定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，其中间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某点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拴一重物，用手拉住绳的另一端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𝑁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.初始时，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𝑂𝑀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竖直且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𝑀𝑁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被拉直，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𝑂𝑀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𝑀𝑁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之间的夹角为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𝛼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𝛼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π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.现将重物向右上方缓慢拉起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，并保持夹角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𝛼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不变.在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𝑂𝑀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由竖直被拉到水平的过程中(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8" name="QC_4_BD.13_2#ba9ec81eb?htil=4&amp;vcp=1&amp;pid=403f9bdda&amp;color=0,0,0&amp;vtp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005330"/>
                <a:ext cx="9994392" cy="2150999"/>
              </a:xfrm>
              <a:prstGeom prst="rect">
                <a:avLst/>
              </a:prstGeom>
              <a:blipFill>
                <a:blip r:embed="rId5"/>
                <a:stretch>
                  <a:fillRect l="-1891" r="-427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QC_4_AN.14_1#ba9ec81eb.bracket?vcp=1&amp;pid=403f9bdda&amp;color=0,0,0&amp;vpa=5&amp;vtp=1&amp;bbb=1"/>
          <p:cNvSpPr/>
          <p:nvPr/>
        </p:nvSpPr>
        <p:spPr>
          <a:xfrm>
            <a:off x="6141497" y="3670300"/>
            <a:ext cx="661988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AD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QC_4_BD.13_3#ba9ec81eb.choices?vcp=1&amp;pid=403f9bdda&amp;color=0,0,0&amp;vtp=1&amp;bbb=1&amp;hs=1"/>
              <p:cNvSpPr/>
              <p:nvPr/>
            </p:nvSpPr>
            <p:spPr>
              <a:xfrm>
                <a:off x="393192" y="4156329"/>
                <a:ext cx="1140256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  <a:tabLst>
                    <a:tab pos="5807954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𝑀𝑁</m:t>
                    </m:r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上的张力逐渐增大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𝑀𝑁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上的张力先增大后减小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  <a:tabLst>
                    <a:tab pos="5807954" algn="l"/>
                  </a:tabLst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𝑂𝑀</m:t>
                    </m:r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上的张力逐渐增大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𝑂𝑀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上的张力先增大后减小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10" name="QC_4_BD.13_3#ba9ec81eb.choices?vcp=1&amp;pid=403f9bdda&amp;color=0,0,0&amp;vtp=1&amp;bb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156329"/>
                <a:ext cx="11402568" cy="1033399"/>
              </a:xfrm>
              <a:prstGeom prst="rect">
                <a:avLst/>
              </a:prstGeom>
              <a:blipFill>
                <a:blip r:embed="rId6"/>
                <a:stretch>
                  <a:fillRect l="-1658" b="-1775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&amp;si=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4_AS.15_1#ba9ec81eb?htil=5&amp;vcp=1&amp;pid=403f9bdda&amp;color=0,0,0&amp;tib=255,255,255&amp;vtp=1&amp;hs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64093" y="1338167"/>
            <a:ext cx="2596896" cy="2313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C_4_AS.15_2#ba9ec81eb?htil=5&amp;vcp=1&amp;pid=403f9bdda&amp;color=0,0,0&amp;vtp=1&amp;bt=1&amp;bbb=1&amp;hb=1&amp;hs=1"/>
              <p:cNvSpPr/>
              <p:nvPr/>
            </p:nvSpPr>
            <p:spPr>
              <a:xfrm>
                <a:off x="393192" y="1292447"/>
                <a:ext cx="8668512" cy="271399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根据题意，对重物进行受力分析，其受重力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𝑮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𝑶𝑴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绳上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的张力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𝑴𝑵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绳上的张力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，三个力合力始终为0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，将它们首尾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相连构成闭合的矢量三角形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𝑴𝑩𝑨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，如图所示，重力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𝑮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不变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，且绳</a:t>
                </a:r>
              </a:p>
              <a:p>
                <a:pPr latinLnBrk="1">
                  <a:lnSpc>
                    <a:spcPts val="44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𝑶𝑴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𝑴𝑵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的夹角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𝜶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保持不变，以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𝑨𝑴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为固定弦长作三角形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𝑴𝑩𝑨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外接圆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，其中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𝑨𝑴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的圆周角为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𝛑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，从图中分析可知，在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𝑶𝑴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C_4_AS.15_2#ba9ec81eb?htil=5&amp;vcp=1&amp;pid=403f9bdda&amp;color=0,0,0&amp;vtp=1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292447"/>
                <a:ext cx="8668512" cy="2713990"/>
              </a:xfrm>
              <a:prstGeom prst="rect">
                <a:avLst/>
              </a:prstGeom>
              <a:blipFill>
                <a:blip r:embed="rId4"/>
                <a:stretch>
                  <a:fillRect l="-2180" r="-2039" b="-674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4_AS.15_2#ba9ec81eb?htil=5&amp;vcp=1&amp;pid=403f9bdda&amp;color=0,0,0&amp;vtp=1&amp;bt=1&amp;bbb=1&amp;hb=1&amp;hs=1">
                <a:extLst>
                  <a:ext uri="{FF2B5EF4-FFF2-40B4-BE49-F238E27FC236}">
                    <a16:creationId xmlns:a16="http://schemas.microsoft.com/office/drawing/2014/main" id="{C88C213F-AB8A-18A3-9CFB-5D5845E075D1}"/>
                  </a:ext>
                </a:extLst>
              </p:cNvPr>
              <p:cNvSpPr/>
              <p:nvPr/>
            </p:nvSpPr>
            <p:spPr>
              <a:xfrm>
                <a:off x="393192" y="3978243"/>
                <a:ext cx="11400008" cy="1596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竖直拉到水平的过程中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，矢量三角形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𝑴𝑩𝑨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的顶点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在圆上从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点逆时针旋转到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，对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矢量线段的长度变化进行分析可知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𝑴𝑵</m:t>
                    </m:r>
                  </m:oMath>
                </a14:m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上的张力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逐渐增大，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𝑶𝑴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上的张力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先增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大后减小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，B、C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错误，A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、D正确.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4_AS.15_2#ba9ec81eb?htil=5&amp;vcp=1&amp;pid=403f9bdda&amp;color=0,0,0&amp;vtp=1&amp;bt=1&amp;bbb=1&amp;hb=1&amp;hs=1">
                <a:extLst>
                  <a:ext uri="{FF2B5EF4-FFF2-40B4-BE49-F238E27FC236}">
                    <a16:creationId xmlns:a16="http://schemas.microsoft.com/office/drawing/2014/main" id="{C88C213F-AB8A-18A3-9CFB-5D5845E075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978243"/>
                <a:ext cx="11400008" cy="1596200"/>
              </a:xfrm>
              <a:prstGeom prst="rect">
                <a:avLst/>
              </a:prstGeom>
              <a:blipFill>
                <a:blip r:embed="rId5"/>
                <a:stretch>
                  <a:fillRect l="-1658" r="-1337" b="-11494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&amp;si=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16_1#bff90312b?vcp=1&amp;pid=403f9bdda&amp;color=0,0,0&amp;vtp=1&amp;bt=1&amp;bbb=1&amp;hb=1"/>
              <p:cNvSpPr/>
              <p:nvPr/>
            </p:nvSpPr>
            <p:spPr>
              <a:xfrm>
                <a:off x="393192" y="1347788"/>
                <a:ext cx="11402568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变式3-1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（多选题）如图所示的装置中，两根不可伸长的细绳拴住一小球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，保持两细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绳间的夹角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120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不变，若把整个装置在竖直平面内顺时针缓慢转过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90</m:t>
                        </m:r>
                      </m:e>
                      <m: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，则在转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动过程中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绳的拉力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T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大小和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绳的拉力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T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的大小变化情况是(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16_1#bff90312b?vcp=1&amp;pid=403f9bdda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347788"/>
                <a:ext cx="11402568" cy="1592199"/>
              </a:xfrm>
              <a:prstGeom prst="rect">
                <a:avLst/>
              </a:prstGeom>
              <a:blipFill>
                <a:blip r:embed="rId3"/>
                <a:stretch>
                  <a:fillRect l="-1658" r="-1551" b="-1187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17_1#bff90312b.bracket?vcp=1&amp;pid=403f9bdda&amp;color=0,0,0&amp;vpa=6&amp;vtp=1&amp;bbb=1"/>
          <p:cNvSpPr/>
          <p:nvPr/>
        </p:nvSpPr>
        <p:spPr>
          <a:xfrm>
            <a:off x="9612535" y="2453958"/>
            <a:ext cx="865188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BCD</a:t>
            </a:r>
            <a:endParaRPr lang="en-US" altLang="zh-CN" sz="2400" dirty="0"/>
          </a:p>
        </p:txBody>
      </p:sp>
      <p:pic>
        <p:nvPicPr>
          <p:cNvPr id="4" name="QC_4_BD.16_2#bff90312b?vcp=1&amp;pid=403f9bdda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157216" y="3068383"/>
            <a:ext cx="1874520" cy="1819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4_BD.16_3#bff90312b.choices?vcp=1&amp;pid=403f9bdda&amp;color=0,0,0&amp;vtp=1&amp;bbb=1"/>
              <p:cNvSpPr/>
              <p:nvPr/>
            </p:nvSpPr>
            <p:spPr>
              <a:xfrm>
                <a:off x="393192" y="5024183"/>
                <a:ext cx="11402568" cy="48412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300"/>
                  </a:lnSpc>
                  <a:tabLst>
                    <a:tab pos="2726177" algn="l"/>
                    <a:tab pos="6036554" algn="l"/>
                    <a:tab pos="8737331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T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一直增大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T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先增大后减小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T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一直减小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𝐹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T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最终变为0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4_BD.16_3#bff90312b.choices?vcp=1&amp;pid=403f9bdda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024183"/>
                <a:ext cx="11402568" cy="484124"/>
              </a:xfrm>
              <a:prstGeom prst="rect">
                <a:avLst/>
              </a:prstGeom>
              <a:blipFill>
                <a:blip r:embed="rId5"/>
                <a:stretch>
                  <a:fillRect l="-1658" b="-3750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&amp;si=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AS.18_1#bff90312b?vcp=1&amp;pid=403f9bdda&amp;color=0,0,0&amp;vtp=1&amp;bt=1&amp;bbb=1&amp;hb=1"/>
              <p:cNvSpPr/>
              <p:nvPr/>
            </p:nvSpPr>
            <p:spPr>
              <a:xfrm>
                <a:off x="393192" y="787654"/>
                <a:ext cx="11402568" cy="3272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画出小球的受力分析图，构建力的矢量三角形，由于小球的重力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𝑮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大小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、方向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不变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𝐓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𝐓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的夹角保持不变，这类似于圆周角对应弦长的关系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，作初始三角形的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外接圆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，然后让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𝐓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𝐓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的交点在圆周上按题中转动规律转动，如图所示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，由几何知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识可知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，力的三角形的外接圆正好是以初态时的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𝐓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为直径的圆周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，可知在顺时针转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过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𝟗𝟎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的过程中，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𝐓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先变大，然后再变小，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𝐓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一直变小，转到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𝟗𝟎</m:t>
                        </m:r>
                      </m:e>
                      <m: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𝑪𝑨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绳沿竖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直方向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，此时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𝑭</m:t>
                        </m:r>
                      </m:e>
                      <m:sub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𝐓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为0，B、C、D正确.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AS.18_1#bff90312b?vcp=1&amp;pid=403f9bdda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787654"/>
                <a:ext cx="11402568" cy="3272600"/>
              </a:xfrm>
              <a:prstGeom prst="rect">
                <a:avLst/>
              </a:prstGeom>
              <a:blipFill>
                <a:blip r:embed="rId3"/>
                <a:stretch>
                  <a:fillRect l="-1658" r="-1070" b="-558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QC_4_AS.18_2#bff90312b?vcp=1&amp;pid=403f9bdda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111496" y="4159250"/>
            <a:ext cx="1975104" cy="1911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&amp;si=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3#e2db6e487?vcp=1&amp;pid=1185791de&amp;color=0,0,0&amp;tib=255,255,255&amp;vtp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11320272" cy="466344"/>
          </a:xfrm>
          <a:prstGeom prst="rect">
            <a:avLst/>
          </a:prstGeom>
        </p:spPr>
      </p:pic>
      <p:sp>
        <p:nvSpPr>
          <p:cNvPr id="3" name="C_3_BD#e2db6e487?vcp=1&amp;pid=1185791de&amp;color=255,255,255&amp;vtp=1&amp;bt=1&amp;bbb=1"/>
          <p:cNvSpPr/>
          <p:nvPr/>
        </p:nvSpPr>
        <p:spPr>
          <a:xfrm>
            <a:off x="393192" y="502920"/>
            <a:ext cx="89611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考点</a:t>
            </a:r>
            <a:endParaRPr lang="en-US" altLang="zh-CN" sz="2600" dirty="0"/>
          </a:p>
        </p:txBody>
      </p:sp>
      <p:sp>
        <p:nvSpPr>
          <p:cNvPr id="4" name="C_3_BD#e2db6e487?vcp=1&amp;pid=1185791de&amp;color=255,255,255&amp;vtp=1"/>
          <p:cNvSpPr/>
          <p:nvPr/>
        </p:nvSpPr>
        <p:spPr>
          <a:xfrm>
            <a:off x="1298448" y="50292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4</a:t>
            </a:r>
            <a:endParaRPr lang="en-US" altLang="zh-CN" sz="2800" dirty="0"/>
          </a:p>
        </p:txBody>
      </p:sp>
      <p:sp>
        <p:nvSpPr>
          <p:cNvPr id="5" name="C_3_BD#e2db6e487?vcp=1&amp;pid=1185791de&amp;color=0,0,0&amp;vtp=1&amp;bbb=1"/>
          <p:cNvSpPr/>
          <p:nvPr/>
        </p:nvSpPr>
        <p:spPr>
          <a:xfrm>
            <a:off x="1911096" y="50292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动态平衡中的晾衣杆模型</a:t>
            </a:r>
            <a:endParaRPr lang="en-US" altLang="zh-CN" sz="2600" dirty="0"/>
          </a:p>
        </p:txBody>
      </p:sp>
      <p:pic>
        <p:nvPicPr>
          <p:cNvPr id="6" name="P_4_BD#4c53b885f?htil=6&amp;vcp=1&amp;pid=e2db6e487&amp;color=0,0,0&amp;tib=255,255,255&amp;vtp=1&amp;hs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490101" y="1010920"/>
            <a:ext cx="2231136" cy="2112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P_4_BD#4c53b885f?htil=6&amp;vcp=1&amp;pid=e2db6e487&amp;color=0,0,0&amp;vtp=1&amp;bbb=1&amp;hb=1&amp;hs=1"/>
              <p:cNvSpPr/>
              <p:nvPr/>
            </p:nvSpPr>
            <p:spPr>
              <a:xfrm>
                <a:off x="393192" y="965200"/>
                <a:ext cx="9034272" cy="2870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如图所示，衣架可视为动滑轮，两侧的绳子拉力大小相等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，因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两侧绳子的水平分力相等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，即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sin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𝜃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sin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𝜃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𝜃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𝜃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50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根据几何关系可知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sin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𝑑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𝑑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𝐿</m:t>
                        </m:r>
                      </m:den>
                    </m:f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，若两杆间的距离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𝑑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不变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上下移动绳子结点时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不变，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也不变，若两杆间的距离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𝑑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减小，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减小，由于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cos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𝜃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𝑚𝑔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𝐹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𝑚𝑔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cos</m:t>
                        </m:r>
                        <m:r>
                          <m:rPr>
                            <m:nor/>
                          </m:rP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 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𝜃</m:t>
                        </m:r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也减小.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7" name="P_4_BD#4c53b885f?htil=6&amp;vcp=1&amp;pid=e2db6e487&amp;color=0,0,0&amp;vtp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965200"/>
                <a:ext cx="9034272" cy="2870200"/>
              </a:xfrm>
              <a:prstGeom prst="rect">
                <a:avLst/>
              </a:prstGeom>
              <a:blipFill>
                <a:blip r:embed="rId5"/>
                <a:stretch>
                  <a:fillRect l="-2092" r="-1012" b="-360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_4_BD#4c53b885f?vcp=1&amp;pid=e2db6e487&amp;color=0,0,0&amp;vtp=1&amp;bbb=1&amp;hb=1&amp;hs=1"/>
          <p:cNvSpPr/>
          <p:nvPr/>
        </p:nvSpPr>
        <p:spPr>
          <a:xfrm>
            <a:off x="393192" y="3835654"/>
            <a:ext cx="11402568" cy="1037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［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规律］</a:t>
            </a:r>
            <a:r>
              <a:rPr lang="en-US" altLang="zh-CN" sz="2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如果绳子的悬结点仅上下移动，两侧绳子间的夹角不变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，衣架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或滑轮）在另一侧绳子所在倾斜直线上移动、绳中张力不变.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&amp;si=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4_BD.19_1#6955b1f37?vcp=1&amp;pid=e2db6e487&amp;color=0,0,0&amp;vtp=1&amp;bt=1&amp;bbb=1&amp;hb=1"/>
              <p:cNvSpPr/>
              <p:nvPr/>
            </p:nvSpPr>
            <p:spPr>
              <a:xfrm>
                <a:off x="393192" y="808038"/>
                <a:ext cx="11402568" cy="1037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例4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如图所示，轻质不可伸长的晾衣绳两端分别固定在竖直杆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𝑁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上的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𝑏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两点，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悬挂衣服的衣架挂钩是光滑的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，挂于绳上处于静止状态.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4_BD.19_1#6955b1f37?vcp=1&amp;pid=e2db6e487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808038"/>
                <a:ext cx="11402568" cy="1037400"/>
              </a:xfrm>
              <a:prstGeom prst="rect">
                <a:avLst/>
              </a:prstGeom>
              <a:blipFill>
                <a:blip r:embed="rId3"/>
                <a:stretch>
                  <a:fillRect l="-1658" b="-1705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QO_4_BD.19_2#6955b1f37?vcp=1&amp;pid=e2db6e487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626864" y="1981264"/>
            <a:ext cx="2935224" cy="2404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QO_5_BD.20_1#5d71e12e6?vcp=1&amp;pid=6955b1f37&amp;color=0,0,0&amp;vtp=1&amp;bbb=1"/>
              <p:cNvSpPr/>
              <p:nvPr/>
            </p:nvSpPr>
            <p:spPr>
              <a:xfrm>
                <a:off x="393192" y="4521264"/>
                <a:ext cx="11402568" cy="48812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（1）绳子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段的力与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𝑂𝑏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段的力是否相等？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O_5_BD.20_1#5d71e12e6?vcp=1&amp;pid=6955b1f37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521264"/>
                <a:ext cx="11402568" cy="488125"/>
              </a:xfrm>
              <a:prstGeom prst="rect">
                <a:avLst/>
              </a:prstGeom>
              <a:blipFill>
                <a:blip r:embed="rId5"/>
                <a:stretch>
                  <a:fillRect l="-1658" b="-3625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QO_5_AS.21_1#5d71e12e6?vcp=1&amp;pid=6955b1f37&amp;color=0,0,0&amp;vtp=1&amp;bbb=1"/>
              <p:cNvSpPr/>
              <p:nvPr/>
            </p:nvSpPr>
            <p:spPr>
              <a:xfrm>
                <a:off x="393192" y="5070602"/>
                <a:ext cx="11402568" cy="48412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因为挂钩是光滑的，是“活结”，所以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𝑶𝒂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𝑶𝒃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O_5_AS.21_1#5d71e12e6?vcp=1&amp;pid=6955b1f37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070602"/>
                <a:ext cx="11402568" cy="484124"/>
              </a:xfrm>
              <a:prstGeom prst="rect">
                <a:avLst/>
              </a:prstGeom>
              <a:blipFill>
                <a:blip r:embed="rId6"/>
                <a:stretch>
                  <a:fillRect l="-1658" b="-379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QO_5_AN.22_1#5d71e12e6?vcp=1&amp;pid=6955b1f37&amp;color=0,0,0&amp;vtp=1&amp;bbb=1"/>
          <p:cNvSpPr/>
          <p:nvPr/>
        </p:nvSpPr>
        <p:spPr>
          <a:xfrm>
            <a:off x="393192" y="5558854"/>
            <a:ext cx="11402568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[答案]</a:t>
            </a:r>
            <a:r>
              <a:rPr lang="en-US" altLang="zh-CN" sz="2400" b="1" i="0" dirty="0">
                <a:solidFill>
                  <a:srgbClr val="FF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相等.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  <p:bldP spid="6" grpId="0" build="p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&amp;si=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5_BD.23_1#3d062661b?vcp=1&amp;pid=6955b1f37&amp;color=0,0,0&amp;vtp=1&amp;bt=1&amp;bbb=1"/>
              <p:cNvSpPr/>
              <p:nvPr/>
            </p:nvSpPr>
            <p:spPr>
              <a:xfrm>
                <a:off x="393192" y="1589088"/>
                <a:ext cx="11402568" cy="48412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（2）绳子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𝑂𝑎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段与竖直方向的夹角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𝛼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和绳子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𝑂𝑏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段与竖直方向的夹角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𝛽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是否相等？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5_BD.23_1#3d062661b?vcp=1&amp;pid=6955b1f37&amp;color=0,0,0&amp;vtp=1&amp;bt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89088"/>
                <a:ext cx="11402568" cy="484124"/>
              </a:xfrm>
              <a:prstGeom prst="rect">
                <a:avLst/>
              </a:prstGeom>
              <a:blipFill>
                <a:blip r:embed="rId3"/>
                <a:stretch>
                  <a:fillRect l="-1658" b="-3797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QO_5_AS.24_1#3d062661b?vcp=1&amp;pid=6955b1f37&amp;color=0,0,0&amp;vtp=1&amp;bbb=1&amp;hb=1"/>
              <p:cNvSpPr/>
              <p:nvPr/>
            </p:nvSpPr>
            <p:spPr>
              <a:xfrm>
                <a:off x="393192" y="2075879"/>
                <a:ext cx="11402568" cy="27097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方法一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因为衣服处于静止状态，所以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𝑶𝒂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𝑶𝒃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的合力与衣服（含衣架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）的重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力等大反向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，合力方向竖直向上.又因为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𝑶𝒂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𝑶𝒃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𝑶𝒂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𝑶𝒃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为邻边作出的平行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四边形是菱形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，则合力所在直线与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𝒂𝑶𝒃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的角平分线所在直线重合，所以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𝜶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𝜷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方法二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以结点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为研究对象，因为衣服处于静止状态，所以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𝑶𝒂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𝑶𝒃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在水平方向的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合力为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0，即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𝑶𝒂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𝜶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𝑶𝒃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𝜷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，又因为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𝑶𝒂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𝑻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𝑶𝒃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，所以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𝜶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𝜷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O_5_AS.24_1#3d062661b?vcp=1&amp;pid=6955b1f37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075879"/>
                <a:ext cx="11402568" cy="2709799"/>
              </a:xfrm>
              <a:prstGeom prst="rect">
                <a:avLst/>
              </a:prstGeom>
              <a:blipFill>
                <a:blip r:embed="rId4"/>
                <a:stretch>
                  <a:fillRect l="-1658" r="-963" b="-675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QO_5_AN.25_1#3d062661b?vcp=1&amp;pid=6955b1f37&amp;color=0,0,0&amp;vtp=1&amp;bbb=1"/>
          <p:cNvSpPr/>
          <p:nvPr/>
        </p:nvSpPr>
        <p:spPr>
          <a:xfrm>
            <a:off x="393192" y="4780979"/>
            <a:ext cx="11402568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[答案]</a:t>
            </a:r>
            <a:r>
              <a:rPr lang="en-US" altLang="zh-CN" sz="2400" b="1" i="0" dirty="0">
                <a:solidFill>
                  <a:srgbClr val="FF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相等.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build="p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&amp;si=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5_BD.26_1#460c1244c?vcp=1&amp;pid=b77322db5&amp;color=0,0,0&amp;vtp=1&amp;bt=1&amp;bbb=1&amp;hb=1"/>
              <p:cNvSpPr/>
              <p:nvPr/>
            </p:nvSpPr>
            <p:spPr>
              <a:xfrm>
                <a:off x="393192" y="764762"/>
                <a:ext cx="11402568" cy="90004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38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变式4-1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（1）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在例4中，其他条件不变，当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𝑏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点上下移动或竖直杆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𝑁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左右移动时，</a:t>
                </a:r>
              </a:p>
              <a:p>
                <a:pPr latinLnBrk="1">
                  <a:lnSpc>
                    <a:spcPts val="36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cos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𝛼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如何变化？绳子上的拉力大小怎样变化？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5_BD.26_1#460c1244c?vcp=1&amp;pid=b77322db5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764762"/>
                <a:ext cx="11402568" cy="900049"/>
              </a:xfrm>
              <a:prstGeom prst="rect">
                <a:avLst/>
              </a:prstGeom>
              <a:blipFill>
                <a:blip r:embed="rId3"/>
                <a:stretch>
                  <a:fillRect l="-1658" t="-2703" b="-2027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QO_5_AN.27_1#460c1244c?htil=7&amp;vcp=1&amp;pid=b77322db5&amp;color=0,0,0&amp;tib=255,255,255&amp;vtp=1&amp;hs=1&amp;hs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924545" y="1659859"/>
            <a:ext cx="2428697" cy="2055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QO_5_AN.27_2#460c1244c?htil=7&amp;vcp=1&amp;pid=b77322db5&amp;color=0,0,0&amp;vtp=1&amp;bbb=1&amp;hb=1&amp;hs=1"/>
              <p:cNvSpPr/>
              <p:nvPr/>
            </p:nvSpPr>
            <p:spPr>
              <a:xfrm>
                <a:off x="393192" y="1665954"/>
                <a:ext cx="8412480" cy="192411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38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[答案]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设晾衣绳的长度为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𝒍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，竖直杆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𝑵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之间的距离为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𝒅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.如图</a:t>
                </a:r>
              </a:p>
              <a:p>
                <a:pPr latinLnBrk="1">
                  <a:lnSpc>
                    <a:spcPts val="38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所示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𝒂𝑶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的延长线交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𝑵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于点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𝒄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,过点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𝒄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作水平线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𝒄𝒆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交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于点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𝒆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.三角</a:t>
                </a:r>
              </a:p>
              <a:p>
                <a:pPr latinLnBrk="1">
                  <a:lnSpc>
                    <a:spcPts val="38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形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𝑶𝒃𝒄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是一个等腰三角形，其中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𝑶𝒃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𝑶𝒄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.在直角三角形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𝒂𝒆𝒄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1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3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中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𝒂𝒄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𝒍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𝒄𝒆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𝒅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,则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𝜶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𝒅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𝒍</m:t>
                        </m:r>
                      </m:den>
                    </m:f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O_5_AN.27_2#460c1244c?htil=7&amp;vcp=1&amp;pid=b77322db5&amp;color=0,0,0&amp;vtp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665954"/>
                <a:ext cx="8412480" cy="1924114"/>
              </a:xfrm>
              <a:prstGeom prst="rect">
                <a:avLst/>
              </a:prstGeom>
              <a:blipFill>
                <a:blip r:embed="rId5"/>
                <a:stretch>
                  <a:fillRect l="-2246" t="-1266" r="-580" b="-538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QO_5_AN.27_3#460c1244c?htil=7&amp;vcp=1&amp;pid=b77322db5&amp;color=0,0,0&amp;vtp=1&amp;bbb=1&amp;hb=1&amp;hs=1"/>
              <p:cNvSpPr/>
              <p:nvPr/>
            </p:nvSpPr>
            <p:spPr>
              <a:xfrm>
                <a:off x="395996" y="3590068"/>
                <a:ext cx="11400008" cy="43116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37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设绳子上的拉力为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𝑻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，衣服（含衣架）的质量为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，由母题的分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O_5_AN.27_3#460c1244c?htil=7&amp;vcp=1&amp;pid=b77322db5&amp;color=0,0,0&amp;vtp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996" y="3590068"/>
                <a:ext cx="11400008" cy="431165"/>
              </a:xfrm>
              <a:prstGeom prst="rect">
                <a:avLst/>
              </a:prstGeom>
              <a:blipFill>
                <a:blip r:embed="rId6"/>
                <a:stretch>
                  <a:fillRect l="-1658" t="-8451" b="-40845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QO_5_AN.27_3#460c1244c?htil=7&amp;vcp=1&amp;pid=b77322db5&amp;color=0,0,0&amp;vtp=1&amp;bbb=1&amp;hb=1&amp;hs=1">
                <a:extLst>
                  <a:ext uri="{FF2B5EF4-FFF2-40B4-BE49-F238E27FC236}">
                    <a16:creationId xmlns:a16="http://schemas.microsoft.com/office/drawing/2014/main" id="{30E4F65C-6B5F-FE71-5A0F-E3A9E71EC5BF}"/>
                  </a:ext>
                </a:extLst>
              </p:cNvPr>
              <p:cNvSpPr/>
              <p:nvPr/>
            </p:nvSpPr>
            <p:spPr>
              <a:xfrm>
                <a:off x="395996" y="4030377"/>
                <a:ext cx="11400008" cy="186524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38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析知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𝑻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𝜶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𝒎𝒈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38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𝒃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点上下移动时，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𝒅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不变，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𝜶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不变，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𝜶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不变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，则拉力大小不变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</a:t>
                </a:r>
                <a:endParaRPr lang="en-US" altLang="zh-CN" sz="2400" dirty="0"/>
              </a:p>
              <a:p>
                <a:pPr latinLnBrk="1">
                  <a:lnSpc>
                    <a:spcPts val="38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当竖直杆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𝑵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左移时，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𝒅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变小，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𝜶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变小，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𝜶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变大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，则拉力减小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</a:t>
                </a:r>
                <a:endParaRPr lang="en-US" altLang="zh-CN" sz="2400" dirty="0"/>
              </a:p>
              <a:p>
                <a:pPr latinLnBrk="1">
                  <a:lnSpc>
                    <a:spcPts val="36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当竖直杆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𝑵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右移时，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𝒅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变大，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𝐬𝐢𝐧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𝜶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变大，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𝐜𝐨𝐬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 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𝜶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变小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，则拉力增大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QO_5_AN.27_3#460c1244c?htil=7&amp;vcp=1&amp;pid=b77322db5&amp;color=0,0,0&amp;vtp=1&amp;bbb=1&amp;hb=1&amp;hs=1">
                <a:extLst>
                  <a:ext uri="{FF2B5EF4-FFF2-40B4-BE49-F238E27FC236}">
                    <a16:creationId xmlns:a16="http://schemas.microsoft.com/office/drawing/2014/main" id="{30E4F65C-6B5F-FE71-5A0F-E3A9E71EC5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996" y="4030377"/>
                <a:ext cx="11400008" cy="1865249"/>
              </a:xfrm>
              <a:prstGeom prst="rect">
                <a:avLst/>
              </a:prstGeom>
              <a:blipFill>
                <a:blip r:embed="rId7"/>
                <a:stretch>
                  <a:fillRect l="-1658" t="-1307" b="-1013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build="p" animBg="1"/>
      <p:bldP spid="6" grpId="0" build="p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&amp;si=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O_5_BD.28_1#743c3326c?vcp=1&amp;pid=b77322db5&amp;color=0,0,0&amp;vtp=1&amp;bt=1&amp;bbb=1"/>
              <p:cNvSpPr/>
              <p:nvPr/>
            </p:nvSpPr>
            <p:spPr>
              <a:xfrm>
                <a:off x="393192" y="1617567"/>
                <a:ext cx="11850688" cy="48812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（2）在例4中，其他条件不变，当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𝑏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点下移到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𝑏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″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点，重新平衡后，悬挂点在哪个位置？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O_5_BD.28_1#743c3326c?vcp=1&amp;pid=b77322db5&amp;color=0,0,0&amp;vtp=1&amp;bt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617567"/>
                <a:ext cx="11850688" cy="488125"/>
              </a:xfrm>
              <a:prstGeom prst="rect">
                <a:avLst/>
              </a:prstGeom>
              <a:blipFill>
                <a:blip r:embed="rId3"/>
                <a:stretch>
                  <a:fillRect l="-1595" b="-3750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QO_5_AN.29_1#743c3326c?vcp=1&amp;pid=b77322db5&amp;color=0,0,0&amp;vtp=1&amp;bbb=1&amp;hb=1"/>
              <p:cNvSpPr/>
              <p:nvPr/>
            </p:nvSpPr>
            <p:spPr>
              <a:xfrm>
                <a:off x="393192" y="2117058"/>
                <a:ext cx="11402568" cy="1037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[答案]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𝒃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点下移到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𝒃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″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点后，并没有改变绳子的拉力和角度，因此，过点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𝒃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″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作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𝑶𝒃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的平行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线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𝒂𝑶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的延长线的交点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𝑶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′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即为悬挂点的新位置.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O_5_AN.29_1#743c3326c?vcp=1&amp;pid=b77322db5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117058"/>
                <a:ext cx="11402568" cy="1037400"/>
              </a:xfrm>
              <a:prstGeom prst="rect">
                <a:avLst/>
              </a:prstGeom>
              <a:blipFill>
                <a:blip r:embed="rId4"/>
                <a:stretch>
                  <a:fillRect l="-1658" r="-1070" b="-1764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QO_5_BD.30_1#252f3bf36?vcp=1&amp;pid=b77322db5&amp;color=0,0,0&amp;vtp=1&amp;bbb=1&amp;hb=1"/>
          <p:cNvSpPr/>
          <p:nvPr/>
        </p:nvSpPr>
        <p:spPr>
          <a:xfrm>
            <a:off x="393192" y="3157188"/>
            <a:ext cx="11402568" cy="1037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（3）在例4中，其他条件不变，若换挂质量更大的衣服，重新平衡后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，悬挂点的位置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变化吗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？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QO_5_AN.31_1#252f3bf36?vcp=1&amp;pid=b77322db5&amp;color=0,0,0&amp;vtp=1&amp;bbb=1&amp;hb=1"/>
              <p:cNvSpPr/>
              <p:nvPr/>
            </p:nvSpPr>
            <p:spPr>
              <a:xfrm>
                <a:off x="393192" y="4197318"/>
                <a:ext cx="11402568" cy="1037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[答案]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绳长和两杆距离不变的情况下，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𝜶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不变，所以挂的衣服质量变化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，不会影响平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衡时悬挂点的位置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O_5_AN.31_1#252f3bf36?vcp=1&amp;pid=b77322db5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197318"/>
                <a:ext cx="11402568" cy="1037400"/>
              </a:xfrm>
              <a:prstGeom prst="rect">
                <a:avLst/>
              </a:prstGeom>
              <a:blipFill>
                <a:blip r:embed="rId5"/>
                <a:stretch>
                  <a:fillRect l="-1658" r="-1551" b="-1705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 build="p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&amp;si=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theme/theme1.xml><?xml version="1.0" encoding="utf-8"?>
<a:theme xmlns:a="http://schemas.openxmlformats.org/drawingml/2006/mai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1158</Words>
  <Application>Microsoft Office PowerPoint</Application>
  <PresentationFormat>宽屏</PresentationFormat>
  <Paragraphs>158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0" baseType="lpstr">
      <vt:lpstr>SimHei</vt:lpstr>
      <vt:lpstr>KaiTi</vt:lpstr>
      <vt:lpstr>SimSun</vt:lpstr>
      <vt:lpstr>微软雅黑</vt:lpstr>
      <vt:lpstr>Arial</vt:lpstr>
      <vt:lpstr>Calibri</vt:lpstr>
      <vt:lpstr>Cambria Math</vt:lpstr>
      <vt:lpstr>Times New Roman</vt:lpstr>
      <vt:lpstr/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Administrator</cp:lastModifiedBy>
  <cp:revision>2</cp:revision>
  <dcterms:created xsi:type="dcterms:W3CDTF">2026-05-25T08:08:44Z</dcterms:created>
  <dcterms:modified xsi:type="dcterms:W3CDTF">2026-05-25T08:10:15Z</dcterms:modified>
  <cp:category/>
  <cp:contentStatus/>
</cp:coreProperties>
</file>