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79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6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64f66c7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疑难专题5 摩擦力的综合分析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64f66c76b.fixed?vcp=1&amp;pid=46eb467af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64f66c76b.fixed?vcp=1&amp;pid=46eb467af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疑难专题5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摩擦力的综合分析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65ba3cbd9?vcp=1&amp;pid=64f66c76b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65ba3cbd9?vcp=1&amp;pid=64f66c76b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65ba3cbd9?vcp=1&amp;pid=64f66c76b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65ba3cbd9?vcp=1&amp;pid=64f66c76b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静摩擦力有无及方向的判定</a:t>
            </a:r>
            <a:endParaRPr lang="en-US" altLang="zh-CN" sz="2600" dirty="0"/>
          </a:p>
        </p:txBody>
      </p:sp>
      <p:sp>
        <p:nvSpPr>
          <p:cNvPr id="6" name="P_4_BD#8c5b952f4?vcp=1&amp;pid=65ba3cbd9&amp;color=0,0,0&amp;vtp=1&amp;bbb=1"/>
          <p:cNvSpPr/>
          <p:nvPr/>
        </p:nvSpPr>
        <p:spPr>
          <a:xfrm>
            <a:off x="393192" y="96520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1.静摩擦力有无的判断</a:t>
            </a:r>
            <a:endParaRPr lang="en-US" altLang="zh-CN" sz="2400" dirty="0"/>
          </a:p>
        </p:txBody>
      </p:sp>
      <p:pic>
        <p:nvPicPr>
          <p:cNvPr id="7" name="P_4_BD#8c5b952f4?vcp=1&amp;pid=65ba3cbd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46704" y="1585595"/>
            <a:ext cx="5495544" cy="2578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4_BD#8c5b952f4?vcp=1&amp;pid=65ba3cbd9&amp;color=0,0,0&amp;vtp=1&amp;bt=1&amp;bbb=1"/>
          <p:cNvSpPr/>
          <p:nvPr/>
        </p:nvSpPr>
        <p:spPr>
          <a:xfrm>
            <a:off x="393192" y="817626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2.静摩擦力方向的判断</a:t>
            </a:r>
            <a:endParaRPr lang="en-US" altLang="zh-CN" sz="2400" dirty="0"/>
          </a:p>
        </p:txBody>
      </p:sp>
      <p:pic>
        <p:nvPicPr>
          <p:cNvPr id="3" name="P_4_BD#8c5b952f4?vcp=1&amp;pid=65ba3cbd9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74720" y="1430401"/>
            <a:ext cx="5248656" cy="180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4_BD#8c5b952f4?vcp=1&amp;pid=65ba3cbd9&amp;color=0,0,0&amp;vtp=1&amp;bbb=1"/>
          <p:cNvSpPr/>
          <p:nvPr/>
        </p:nvSpPr>
        <p:spPr>
          <a:xfrm>
            <a:off x="393192" y="3360801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3.特别说明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明晰摩擦力中的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“三个方向”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P_4_BD#8c5b952f4?colgroup=12,23&amp;vcp=1&amp;pid=65ba3cbd9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3171713"/>
                  </p:ext>
                </p:extLst>
              </p:nvPr>
            </p:nvGraphicFramePr>
            <p:xfrm>
              <a:off x="393192" y="4527931"/>
              <a:ext cx="11375136" cy="1496568"/>
            </p:xfrm>
            <a:graphic>
              <a:graphicData uri="http://schemas.openxmlformats.org/drawingml/2006/table">
                <a:tbl>
                  <a:tblPr/>
                  <a:tblGrid>
                    <a:gridCol w="40965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78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一般指物体相对地面的运动方向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相对运动方向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为参考系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的运动方向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反之亦然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相对运动趋势的方向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假设静摩擦力不存在时物体的相对运动方向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P_4_BD#8c5b952f4?colgroup=12,23&amp;vcp=1&amp;pid=65ba3cbd9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3171713"/>
                  </p:ext>
                </p:extLst>
              </p:nvPr>
            </p:nvGraphicFramePr>
            <p:xfrm>
              <a:off x="393192" y="4527931"/>
              <a:ext cx="11375136" cy="1496568"/>
            </p:xfrm>
            <a:graphic>
              <a:graphicData uri="http://schemas.openxmlformats.org/drawingml/2006/table">
                <a:tbl>
                  <a:tblPr/>
                  <a:tblGrid>
                    <a:gridCol w="40965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786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一般指物体相对地面的运动方向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相对运动方向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318" t="-100000" r="-167" b="-1265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相对运动趋势的方向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假设静摩擦力不存在时物体的相对运动方向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_1#f8877af05?vcp=1&amp;pid=65ba3cbd9&amp;color=0,0,0&amp;vtp=1&amp;bt=1&amp;bbb=1&amp;hb=1"/>
              <p:cNvSpPr/>
              <p:nvPr/>
            </p:nvSpPr>
            <p:spPr>
              <a:xfrm>
                <a:off x="393192" y="187147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如图所示的四种情形中，物体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受摩擦力作用且摩擦力方向与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的运动方向相反的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_1#f8877af05?vcp=1&amp;pid=65ba3cbd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71473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283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_1#f8877af05.bracket?vcp=1&amp;pid=65ba3cbd9&amp;color=0,0,0&amp;vpa=1&amp;vtp=1"/>
          <p:cNvSpPr/>
          <p:nvPr/>
        </p:nvSpPr>
        <p:spPr>
          <a:xfrm>
            <a:off x="930560" y="241884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_2#f8877af05.choice_image?htil=1&amp;vcp=1&amp;pid=65ba3cbd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3192" y="3031998"/>
            <a:ext cx="1600200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_3#f8877af05?htil=1&amp;vcp=1&amp;pid=65ba3cbd9&amp;color=0,0,0&amp;vtp=1&amp;bbb=1&amp;hb=1"/>
              <p:cNvSpPr/>
              <p:nvPr/>
            </p:nvSpPr>
            <p:spPr>
              <a:xfrm>
                <a:off x="393192" y="3946398"/>
                <a:ext cx="285292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、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相对静止向右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_3#f8877af05?htil=1&amp;vcp=1&amp;pid=65ba3cbd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46398"/>
                <a:ext cx="2852928" cy="1037590"/>
              </a:xfrm>
              <a:prstGeom prst="rect">
                <a:avLst/>
              </a:prstGeom>
              <a:blipFill>
                <a:blip r:embed="rId5"/>
                <a:stretch>
                  <a:fillRect l="-6624" r="-5769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4_BD.1_4#f8877af05.choice_image?htil=1&amp;vcp=1&amp;pid=65ba3cbd9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46120" y="3031998"/>
            <a:ext cx="158191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5#f8877af05?htil=1&amp;vcp=1&amp;pid=65ba3cbd9&amp;color=0,0,0&amp;vtp=1&amp;bbb=1&amp;hb=1"/>
              <p:cNvSpPr/>
              <p:nvPr/>
            </p:nvSpPr>
            <p:spPr>
              <a:xfrm>
                <a:off x="3246120" y="3946398"/>
                <a:ext cx="285292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、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相对静止向右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5#f8877af05?htil=1&amp;vcp=1&amp;pid=65ba3cbd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3946398"/>
                <a:ext cx="2852928" cy="1037590"/>
              </a:xfrm>
              <a:prstGeom prst="rect">
                <a:avLst/>
              </a:prstGeom>
              <a:blipFill>
                <a:blip r:embed="rId7"/>
                <a:stretch>
                  <a:fillRect l="-6624" r="-5128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QC_4_BD.1_6#f8877af05.choice_image?htil=1&amp;vcp=1&amp;pid=65ba3cbd9&amp;color=0,0,0&amp;tib=255,255,255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9048" y="3031998"/>
            <a:ext cx="107899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QC_4_BD.1_7#f8877af05?htil=1&amp;vcp=1&amp;pid=65ba3cbd9&amp;color=0,0,0&amp;vtp=1&amp;bbb=1&amp;hb=1"/>
              <p:cNvSpPr/>
              <p:nvPr/>
            </p:nvSpPr>
            <p:spPr>
              <a:xfrm>
                <a:off x="6099048" y="3946398"/>
                <a:ext cx="285292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相对传送带静止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向上匀速运动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QC_4_BD.1_7#f8877af05?htil=1&amp;vcp=1&amp;pid=65ba3cbd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048" y="3946398"/>
                <a:ext cx="2852928" cy="1037590"/>
              </a:xfrm>
              <a:prstGeom prst="rect">
                <a:avLst/>
              </a:prstGeom>
              <a:blipFill>
                <a:blip r:embed="rId9"/>
                <a:stretch>
                  <a:fillRect l="-6624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QC_4_BD.1_8#f8877af05.choice_image?htil=1&amp;vcp=1&amp;pid=65ba3cbd9&amp;color=0,0,0&amp;tib=255,255,255&amp;vtp=1" descr="preencoded.png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42832" y="3031998"/>
            <a:ext cx="1143000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QC_4_BD.1_9#f8877af05?htil=1&amp;vcp=1&amp;pid=65ba3cbd9&amp;color=0,0,0&amp;vtp=1&amp;bbb=1&amp;hb=1"/>
              <p:cNvSpPr/>
              <p:nvPr/>
            </p:nvSpPr>
            <p:spPr>
              <a:xfrm>
                <a:off x="8942832" y="3946398"/>
                <a:ext cx="285292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相对传送带静止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向下匀速运动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1" name="QC_4_BD.1_9#f8877af05?htil=1&amp;vcp=1&amp;pid=65ba3cbd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832" y="3946398"/>
                <a:ext cx="2852928" cy="1037590"/>
              </a:xfrm>
              <a:prstGeom prst="rect">
                <a:avLst/>
              </a:prstGeom>
              <a:blipFill>
                <a:blip r:embed="rId11"/>
                <a:stretch>
                  <a:fillRect l="-6410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f8877af05?vcp=1&amp;pid=65ba3cbd9&amp;color=0,0,0&amp;vtp=1&amp;bt=1&amp;bbb=1&amp;hb=1"/>
              <p:cNvSpPr/>
              <p:nvPr/>
            </p:nvSpPr>
            <p:spPr>
              <a:xfrm>
                <a:off x="393192" y="989425"/>
                <a:ext cx="11402568" cy="4949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A项中，当物体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相对静止一起向右匀速运动时，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处于平衡状态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受静摩擦力作用，则物体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的平衡状态被破坏，因此假设不成立，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不受摩擦力作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𝐁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项中，假设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的上表面光滑，则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不受摩擦力作用，此时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不可能与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起向右加速运动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，故假设是不成立的，因此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受向右的静摩擦力，静摩擦力方向与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运动方向相同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项中，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相对传送带静止向上匀速运动时，假设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与传送带的接触面光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不受摩擦力作用，此时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将相对传送带向下滑动，故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受到沿传送带向上的静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摩擦力作用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，静摩擦力方向与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的运动方向相同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项中，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相对传送带静止向下匀速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与传送带的接触面光滑，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将相对传送带向下滑动，则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必受到沿传送带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向上的静摩擦力作用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，静摩擦力方向与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的运动方向相反.故D符合题意.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f8877af05?vcp=1&amp;pid=65ba3cbd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89425"/>
                <a:ext cx="11402568" cy="4949000"/>
              </a:xfrm>
              <a:prstGeom prst="rect">
                <a:avLst/>
              </a:prstGeom>
              <a:blipFill>
                <a:blip r:embed="rId3"/>
                <a:stretch>
                  <a:fillRect l="-1658" r="-1390" b="-36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d746c1026?vcp=1&amp;pid=65ba3cbd9&amp;color=0,0,0&amp;vtp=1&amp;bt=1&amp;bbb=1&amp;hb=1"/>
              <p:cNvSpPr/>
              <p:nvPr/>
            </p:nvSpPr>
            <p:spPr>
              <a:xfrm>
                <a:off x="393192" y="504000"/>
                <a:ext cx="11402568" cy="15318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（2026·湖北荆州中学模拟）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的作用下分别在地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面和斜面上一起以速率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的方向做匀速直线运动，下列关于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受到摩擦力的情况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d746c1026?vcp=1&amp;pid=65ba3cbd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531874"/>
              </a:xfrm>
              <a:prstGeom prst="rect">
                <a:avLst/>
              </a:prstGeom>
              <a:blipFill>
                <a:blip r:embed="rId3"/>
                <a:stretch>
                  <a:fillRect l="-1658" t="-797" r="-267" b="-119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d746c1026.bracket?vcp=1&amp;pid=65ba3cbd9&amp;color=0,0,0&amp;vpa=2&amp;vtp=1"/>
          <p:cNvSpPr/>
          <p:nvPr/>
        </p:nvSpPr>
        <p:spPr>
          <a:xfrm>
            <a:off x="2467261" y="1563561"/>
            <a:ext cx="423863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4_2#d746c1026?vcp=1&amp;pid=65ba3cbd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83864" y="2172652"/>
            <a:ext cx="5221224" cy="136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d746c1026.choices?vcp=1&amp;pid=65ba3cbd9&amp;color=0,0,0&amp;vtp=1&amp;bbb=1&amp;hb=1"/>
              <p:cNvSpPr/>
              <p:nvPr/>
            </p:nvSpPr>
            <p:spPr>
              <a:xfrm>
                <a:off x="393192" y="3671252"/>
                <a:ext cx="11402568" cy="26026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A.图甲中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只受地面的摩擦力，图乙中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不受摩擦力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.图甲中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只受地面的摩擦力，图乙中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的摩擦力和斜面对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.图甲中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受地面的摩擦力和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的摩擦力，图乙中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的摩擦力和斜面对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.图甲中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只受地面的摩擦力，图乙中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只受斜面的摩擦力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d746c1026.choices?vcp=1&amp;pid=65ba3cbd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71252"/>
                <a:ext cx="11402568" cy="2602675"/>
              </a:xfrm>
              <a:prstGeom prst="rect">
                <a:avLst/>
              </a:prstGeom>
              <a:blipFill>
                <a:blip r:embed="rId5"/>
                <a:stretch>
                  <a:fillRect l="-1658" b="-70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d746c1026?vcp=1&amp;pid=65ba3cbd9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由于题图甲、乙中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一起做匀速直线运动，且保持相对静止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，故均处于受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力平衡状态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.题图甲中以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整体为研究对象，受力分析可知，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受地面的摩擦力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不受摩擦力，所以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只受地面的摩擦力；题图乙中以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整体为研究对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象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，受力分析可知，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受斜面的摩擦力，对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对它沿斜面向上的摩擦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的摩擦力和斜面对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的摩擦力，综上所述，B正确，A、C、D错误.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d746c1026?vcp=1&amp;pid=65ba3cbd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497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dc7689075?vcp=1&amp;pid=64f66c76b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dc7689075?vcp=1&amp;pid=64f66c76b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dc7689075?vcp=1&amp;pid=64f66c76b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dc7689075?vcp=1&amp;pid=64f66c76b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静摩擦力大小的计算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4_BD#fb5888643?vcp=1&amp;pid=dc7689075&amp;color=0,0,0&amp;vtp=1&amp;bbb=1&amp;hb=1"/>
              <p:cNvSpPr/>
              <p:nvPr/>
            </p:nvSpPr>
            <p:spPr>
              <a:xfrm>
                <a:off x="393192" y="965200"/>
                <a:ext cx="11402568" cy="4944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静摩擦力是被动力，由状态及外界决定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.静摩擦力的大小总等于使物体产生相对运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动趋势的外力的大小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.可以根据二力平衡或运动与力的关系（下一章学习）进行求解.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静摩擦力的增大有一个限度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.静摩擦力的最大值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在数值上等于物体即将开始运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动时的拉力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.两物体间实际产生的静摩擦力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在0与最大静摩擦力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0&lt;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对最大静摩擦力的理解应注意以下两点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1）最大静摩擦力的大小与正压力成正比，即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max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为静摩擦因数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取决于接触面的材料和粗糙程度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2）非最大静摩擦力的大小不能套用上述公式计算，可根据二力平衡求得.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4_BD#fb5888643?vcp=1&amp;pid=dc768907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11402568" cy="4944999"/>
              </a:xfrm>
              <a:prstGeom prst="rect">
                <a:avLst/>
              </a:prstGeom>
              <a:blipFill>
                <a:blip r:embed="rId4"/>
                <a:stretch>
                  <a:fillRect l="-1658" r="-1230" b="-36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7_1#a159f494b?vcp=1&amp;pid=dc7689075&amp;color=0,0,0&amp;vtp=1&amp;bt=1&amp;bbb=1&amp;hb=1"/>
              <p:cNvSpPr/>
              <p:nvPr/>
            </p:nvSpPr>
            <p:spPr>
              <a:xfrm>
                <a:off x="393192" y="595916"/>
                <a:ext cx="11402568" cy="32720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（2026·浙江杭州二中教学质检）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如图所示，一根原长为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、劲度系数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的轻弹簧被压缩在物体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压在粗糙竖直墙面上恰好能保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持静止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，弹簧的另一端连接在物体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放置在粗糙水平桌面上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，再用一根刚性轻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绳连接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，另一端跨过桌子右端的光滑轻质定滑轮悬挂一个轻质吊盘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，整个装置的结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构如图所示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与墙面间的动摩擦因数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与桌面间的动摩擦因数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=0.4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，滑动摩擦力等于最大静摩擦力，取重力加速度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7_1#a159f494b?vcp=1&amp;pid=dc76890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5916"/>
                <a:ext cx="11402568" cy="3272028"/>
              </a:xfrm>
              <a:prstGeom prst="rect">
                <a:avLst/>
              </a:prstGeom>
              <a:blipFill>
                <a:blip r:embed="rId3"/>
                <a:stretch>
                  <a:fillRect l="-1658" r="-1497" b="-54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7_2#a159f494b?vcp=1&amp;pid=dc768907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0640" y="3967512"/>
            <a:ext cx="1956816" cy="112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8_1#0edcbd6a9?vcp=1&amp;pid=a159f494b&amp;color=0,0,0&amp;vtp=1&amp;bbb=1"/>
              <p:cNvSpPr/>
              <p:nvPr/>
            </p:nvSpPr>
            <p:spPr>
              <a:xfrm>
                <a:off x="393192" y="522481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（1）求墙面对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的摩擦力的大小.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8_1#0edcbd6a9?vcp=1&amp;pid=a159f494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224812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9_1#0edcbd6a9?vcp=1&amp;pid=a159f494b&amp;color=0,0,0&amp;vtp=1&amp;bbb=1"/>
              <p:cNvSpPr/>
              <p:nvPr/>
            </p:nvSpPr>
            <p:spPr>
              <a:xfrm>
                <a:off x="393192" y="5774150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受力分析，由受力平衡可得墙面对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9_1#0edcbd6a9?vcp=1&amp;pid=a159f494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74150"/>
                <a:ext cx="11402568" cy="484124"/>
              </a:xfrm>
              <a:prstGeom prst="rect">
                <a:avLst/>
              </a:prstGeom>
              <a:blipFill>
                <a:blip r:embed="rId6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0_1#9f749c130?vcp=1&amp;pid=a159f494b&amp;color=0,0,0&amp;vtp=1&amp;bt=1&amp;bbb=1"/>
              <p:cNvSpPr/>
              <p:nvPr/>
            </p:nvSpPr>
            <p:spPr>
              <a:xfrm>
                <a:off x="393192" y="1038447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（2）求弹簧的长度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0_1#9f749c130?vcp=1&amp;pid=a159f494b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38447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11_1#9f749c130?vcp=1&amp;pid=a159f494b&amp;color=0,0,0&amp;vtp=1&amp;bbb=1"/>
              <p:cNvSpPr/>
              <p:nvPr/>
            </p:nvSpPr>
            <p:spPr>
              <a:xfrm>
                <a:off x="393192" y="1537938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恰好静止，则有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联立解得弹簧的长度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11_1#9f749c130?vcp=1&amp;pid=a159f494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37938"/>
                <a:ext cx="11402568" cy="1596200"/>
              </a:xfrm>
              <a:prstGeom prst="rect">
                <a:avLst/>
              </a:prstGeom>
              <a:blipFill>
                <a:blip r:embed="rId4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12_1#ea4b3830f?vcp=1&amp;pid=a159f494b&amp;color=0,0,0&amp;vtp=1&amp;bbb=1&amp;hb=1"/>
              <p:cNvSpPr/>
              <p:nvPr/>
            </p:nvSpPr>
            <p:spPr>
              <a:xfrm>
                <a:off x="393192" y="3135154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（3）轻轻地在吊盘中放入一质量为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物体，要使整个装置保持静止，求物块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的范围.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12_1#ea4b3830f?vcp=1&amp;pid=a159f494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5154"/>
                <a:ext cx="11402568" cy="1037400"/>
              </a:xfrm>
              <a:prstGeom prst="rect">
                <a:avLst/>
              </a:prstGeom>
              <a:blipFill>
                <a:blip r:embed="rId5"/>
                <a:stretch>
                  <a:fillRect l="-1658" r="-107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13_1#ea4b3830f?vcp=1&amp;pid=a159f494b&amp;color=0,0,0&amp;vtp=1&amp;bbb=1&amp;hb=1"/>
              <p:cNvSpPr/>
              <p:nvPr/>
            </p:nvSpPr>
            <p:spPr>
              <a:xfrm>
                <a:off x="393192" y="4175284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恰好处于静止状态时，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受到的静摩擦力达到最大，大小为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,在水平方向上有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.要使整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个装置保持静止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的质量应满足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13_1#ea4b3830f?vcp=1&amp;pid=a159f494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75284"/>
                <a:ext cx="11402568" cy="1596200"/>
              </a:xfrm>
              <a:prstGeom prst="rect">
                <a:avLst/>
              </a:prstGeom>
              <a:blipFill>
                <a:blip r:embed="rId6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6763882cf?vcp=1&amp;pid=dc7689075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的木块放在水平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桌面上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，在水平方向受到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作用而处于静止状态，其中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木块与地面间的动摩擦因数为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,最大静摩擦力等于滑动摩擦力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.重力加速度大小取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,则木块在水平方向受到的摩擦力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6763882cf?vcp=1&amp;pid=dc76890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856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6763882cf.bracket?vcp=1&amp;pid=dc7689075&amp;color=0,0,0&amp;vpa=3&amp;vtp=1"/>
          <p:cNvSpPr/>
          <p:nvPr/>
        </p:nvSpPr>
        <p:spPr>
          <a:xfrm>
            <a:off x="9645809" y="2937097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14_2#6763882cf?htil=1&amp;vcp=1&amp;pid=dc768907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7208" y="3457542"/>
            <a:ext cx="1892808" cy="48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4_3#6763882cf.choices?htil=1&amp;vcp=1&amp;pid=dc7689075&amp;color=0,0,0&amp;vtp=1&amp;bbb=1"/>
              <p:cNvSpPr/>
              <p:nvPr/>
            </p:nvSpPr>
            <p:spPr>
              <a:xfrm>
                <a:off x="393192" y="3411822"/>
                <a:ext cx="938174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A.若撤去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,方向向左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,方向向右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,方向向左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,方向向左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4_3#6763882cf.choices?htil=1&amp;vcp=1&amp;pid=dc768907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9381744" cy="2155000"/>
              </a:xfrm>
              <a:prstGeom prst="rect">
                <a:avLst/>
              </a:prstGeom>
              <a:blipFill>
                <a:blip r:embed="rId5"/>
                <a:stretch>
                  <a:fillRect l="-201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6_1#6763882cf?vcp=1&amp;pid=dc7689075&amp;color=0,0,0&amp;vtp=1&amp;bt=1&amp;bbb=1&amp;hb=1"/>
              <p:cNvSpPr/>
              <p:nvPr/>
            </p:nvSpPr>
            <p:spPr>
              <a:xfrm>
                <a:off x="393192" y="2047271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木块的最大静摩擦力大小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，可知木块仍然保持静止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，则木块受到的静摩擦力为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，方向向右，故A错误，B正确；若撤去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，可知木块将向右运动，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则木块受到的摩擦力为滑动摩擦力，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，方向向左，故C、D错误.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6_1#6763882cf?vcp=1&amp;pid=dc76890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47271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123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e7381d96c?vcp=1&amp;pid=64f66c76b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e7381d96c?vcp=1&amp;pid=64f66c76b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e7381d96c?vcp=1&amp;pid=64f66c76b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5" name="C_3_BD#e7381d96c?vcp=1&amp;pid=64f66c76b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摩擦力的突变问题</a:t>
            </a:r>
            <a:endParaRPr lang="en-US" altLang="zh-CN" sz="2600" dirty="0"/>
          </a:p>
        </p:txBody>
      </p:sp>
      <p:sp>
        <p:nvSpPr>
          <p:cNvPr id="6" name="P_4#f1ce14020?vcp=1&amp;pid=e7381d96c&amp;color=0,0,0&amp;vtp=1&amp;bbb=1"/>
          <p:cNvSpPr/>
          <p:nvPr/>
        </p:nvSpPr>
        <p:spPr>
          <a:xfrm>
            <a:off x="393192" y="965200"/>
            <a:ext cx="11402568" cy="48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摩擦力“突变”的常见情形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#1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P_4_BD#f1ce14020?colgroup=3,16,16&amp;vcp=1&amp;pid=e7381d96c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4736195"/>
                  </p:ext>
                </p:extLst>
              </p:nvPr>
            </p:nvGraphicFramePr>
            <p:xfrm>
              <a:off x="393192" y="1585595"/>
              <a:ext cx="11365992" cy="3564509"/>
            </p:xfrm>
            <a:graphic>
              <a:graphicData uri="http://schemas.openxmlformats.org/drawingml/2006/table">
                <a:tbl>
                  <a:tblPr/>
                  <a:tblGrid>
                    <a:gridCol w="10881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03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7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案例图示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71876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—静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物体在摩擦力和其他力作用下处于平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衡状态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当作用在物体上的其他力发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生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如果物体仍能保持静止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状态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则物体受到的静摩擦力的大小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或方向将会发生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在水平力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作用下物体静止于斜面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上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突然增大时物体仍静止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则物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体所受静摩擦力的大小或方向将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8600"/>
                            </a:lnSpc>
                          </a:pPr>
                          <a:r>
                            <a:rPr lang="en-US" altLang="zh-CN" sz="48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P_4_BD#f1ce14020?colgroup=3,16,16&amp;vcp=1&amp;pid=e7381d96c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4736195"/>
                  </p:ext>
                </p:extLst>
              </p:nvPr>
            </p:nvGraphicFramePr>
            <p:xfrm>
              <a:off x="393192" y="1585595"/>
              <a:ext cx="11365992" cy="3564509"/>
            </p:xfrm>
            <a:graphic>
              <a:graphicData uri="http://schemas.openxmlformats.org/drawingml/2006/table">
                <a:tbl>
                  <a:tblPr/>
                  <a:tblGrid>
                    <a:gridCol w="10881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03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7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案例图示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71876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—静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物体在摩擦力和其他力作用下处于平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衡状态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当作用在物体上的其他力发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生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如果物体仍能保持静止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状态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则物体受到的静摩擦力的大小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或方向将会发生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5362" t="-16468" r="-242" b="-91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_4_BD#f1ce14020.table_image?tii=1&amp;vcp=1&amp;pid=e7381d96c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14232" y="4094925"/>
            <a:ext cx="1042416" cy="96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P_4_BD#f1ce14020?colgroup=3,16,16&amp;vcp=1&amp;pid=e7381d96c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078824"/>
                  </p:ext>
                </p:extLst>
              </p:nvPr>
            </p:nvGraphicFramePr>
            <p:xfrm>
              <a:off x="393192" y="2278570"/>
              <a:ext cx="11365992" cy="2924429"/>
            </p:xfrm>
            <a:graphic>
              <a:graphicData uri="http://schemas.openxmlformats.org/drawingml/2006/table">
                <a:tbl>
                  <a:tblPr/>
                  <a:tblGrid>
                    <a:gridCol w="10881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03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7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案例图示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31796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—动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物体在摩擦力和其他力作用下处于静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止状态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当其他力变化时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如果物体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不能保持静止状态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则物体受到的静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摩擦力将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“突变”为滑动摩擦力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物体放在粗糙水平面上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水平作用力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从0开始逐渐增大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物体开始滑动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物体受到的摩擦力由静摩擦力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突变”为滑动摩擦力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P_4_BD#f1ce14020?colgroup=3,16,16&amp;vcp=1&amp;pid=e7381d96c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078824"/>
                  </p:ext>
                </p:extLst>
              </p:nvPr>
            </p:nvGraphicFramePr>
            <p:xfrm>
              <a:off x="393192" y="2278570"/>
              <a:ext cx="11365992" cy="2924429"/>
            </p:xfrm>
            <a:graphic>
              <a:graphicData uri="http://schemas.openxmlformats.org/drawingml/2006/table">
                <a:tbl>
                  <a:tblPr/>
                  <a:tblGrid>
                    <a:gridCol w="10881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03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7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案例图示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31796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—动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物体在摩擦力和其他力作用下处于静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止状态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当其他力变化时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如果物体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不能保持静止状态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则物体受到的静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摩擦力将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“突变”为滑动摩擦力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5362" t="-20500" r="-242" b="-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f1ce14020.table_image?tii=2&amp;vcp=1&amp;pid=e7381d9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95944" y="4702969"/>
            <a:ext cx="1078992" cy="32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f1ce14020?colgroup=3,16,16&amp;vcp=1&amp;pid=e7381d96c&amp;color=0,0,0&amp;vtp=1&amp;bt=1&amp;bbb=1">
            <a:extLst>
              <a:ext uri="{FF2B5EF4-FFF2-40B4-BE49-F238E27FC236}">
                <a16:creationId xmlns:a16="http://schemas.microsoft.com/office/drawing/2014/main" id="{DDD587BC-1343-B3C4-35A2-2B4523EFA003}"/>
              </a:ext>
            </a:extLst>
          </p:cNvPr>
          <p:cNvSpPr txBox="1"/>
          <p:nvPr/>
        </p:nvSpPr>
        <p:spPr>
          <a:xfrm>
            <a:off x="11143632" y="1653095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P_4_BD#f1ce14020?colgroup=3,16,16&amp;vcp=1&amp;pid=e7381d96c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9586487"/>
                  </p:ext>
                </p:extLst>
              </p:nvPr>
            </p:nvGraphicFramePr>
            <p:xfrm>
              <a:off x="393192" y="2196275"/>
              <a:ext cx="11365992" cy="3089021"/>
            </p:xfrm>
            <a:graphic>
              <a:graphicData uri="http://schemas.openxmlformats.org/drawingml/2006/table">
                <a:tbl>
                  <a:tblPr/>
                  <a:tblGrid>
                    <a:gridCol w="10881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03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7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案例图示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6388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—静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在摩擦力和其他力的作用下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做减速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运动的物体突然停止滑行时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物体将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不受滑动摩擦力作用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或滑动摩擦力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突变”为静摩擦力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滑块以初速度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冲上斜面做减速运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当到达某位置静止时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滑动摩擦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“突变”为静摩擦力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8500"/>
                            </a:lnSpc>
                          </a:pPr>
                          <a:r>
                            <a:rPr lang="en-US" altLang="zh-CN" sz="47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P_4_BD#f1ce14020?colgroup=3,16,16&amp;vcp=1&amp;pid=e7381d96c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9586487"/>
                  </p:ext>
                </p:extLst>
              </p:nvPr>
            </p:nvGraphicFramePr>
            <p:xfrm>
              <a:off x="393192" y="2196275"/>
              <a:ext cx="11365992" cy="3089021"/>
            </p:xfrm>
            <a:graphic>
              <a:graphicData uri="http://schemas.openxmlformats.org/drawingml/2006/table">
                <a:tbl>
                  <a:tblPr/>
                  <a:tblGrid>
                    <a:gridCol w="10881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03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7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案例图示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6388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—静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在摩擦力和其他力的作用下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做减速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运动的物体突然停止滑行时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物体将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不受滑动摩擦力作用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或滑动摩擦力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突变”为静摩擦力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5362" t="-19204" r="-242" b="-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f1ce14020.table_image?tii=3&amp;vcp=1&amp;pid=e7381d9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14232" y="4228783"/>
            <a:ext cx="1042416" cy="96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f1ce14020?colgroup=3,16,16&amp;vcp=1&amp;pid=e7381d96c&amp;color=0,0,0&amp;vtp=1&amp;bt=1&amp;bbb=1">
            <a:extLst>
              <a:ext uri="{FF2B5EF4-FFF2-40B4-BE49-F238E27FC236}">
                <a16:creationId xmlns:a16="http://schemas.microsoft.com/office/drawing/2014/main" id="{0867F250-2DD9-D202-8F7F-F6EF194F178C}"/>
              </a:ext>
            </a:extLst>
          </p:cNvPr>
          <p:cNvSpPr txBox="1"/>
          <p:nvPr/>
        </p:nvSpPr>
        <p:spPr>
          <a:xfrm>
            <a:off x="11143632" y="1570800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P_4_BD#f1ce14020?colgroup=3,16,16&amp;vcp=1&amp;pid=e7381d96c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5975131"/>
                  </p:ext>
                </p:extLst>
              </p:nvPr>
            </p:nvGraphicFramePr>
            <p:xfrm>
              <a:off x="393192" y="2219134"/>
              <a:ext cx="11365992" cy="3043301"/>
            </p:xfrm>
            <a:graphic>
              <a:graphicData uri="http://schemas.openxmlformats.org/drawingml/2006/table">
                <a:tbl>
                  <a:tblPr/>
                  <a:tblGrid>
                    <a:gridCol w="10881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03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7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案例图示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50668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—动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某物体相对于另一物体滑动的过程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若突然相对运动方向变了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则滑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动摩擦力方向发生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水平传送带的速度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大于滑块的速度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,滑块受到的滑动摩擦力方向向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右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当传送带突然被卡住时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,滑块受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到的滑动摩擦力方向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“突变”为向左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P_4_BD#f1ce14020?colgroup=3,16,16&amp;vcp=1&amp;pid=e7381d96c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5975131"/>
                  </p:ext>
                </p:extLst>
              </p:nvPr>
            </p:nvGraphicFramePr>
            <p:xfrm>
              <a:off x="393192" y="2219134"/>
              <a:ext cx="11365992" cy="3043301"/>
            </p:xfrm>
            <a:graphic>
              <a:graphicData uri="http://schemas.openxmlformats.org/drawingml/2006/table">
                <a:tbl>
                  <a:tblPr/>
                  <a:tblGrid>
                    <a:gridCol w="10881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03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7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案例图示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50668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—动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某物体相对于另一物体滑动的过程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若突然相对运动方向变了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则滑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动摩擦力方向发生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“突变”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5362" t="-19809" r="-242" b="-42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f1ce14020.table_image?tii=4&amp;vcp=1&amp;pid=e7381d9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73084" y="4702969"/>
            <a:ext cx="1124712" cy="44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f1ce14020?colgroup=3,16,16&amp;vcp=1&amp;pid=e7381d96c&amp;color=0,0,0&amp;vtp=1&amp;bt=1&amp;bbb=1">
            <a:extLst>
              <a:ext uri="{FF2B5EF4-FFF2-40B4-BE49-F238E27FC236}">
                <a16:creationId xmlns:a16="http://schemas.microsoft.com/office/drawing/2014/main" id="{E2104B89-7C02-9747-17FD-BD0CC7D89586}"/>
              </a:ext>
            </a:extLst>
          </p:cNvPr>
          <p:cNvSpPr txBox="1"/>
          <p:nvPr/>
        </p:nvSpPr>
        <p:spPr>
          <a:xfrm>
            <a:off x="11143632" y="1593659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7_1#ee744de01?vcp=1&amp;pid=e7381d96c&amp;color=0,0,0&amp;vtp=1&amp;bt=1&amp;bbb=1&amp;hb=1"/>
              <p:cNvSpPr/>
              <p:nvPr/>
            </p:nvSpPr>
            <p:spPr>
              <a:xfrm>
                <a:off x="393192" y="726027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（2026·湖北黄冈中学模拟）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）小宁同学在网上购买了一箱纸巾和一摞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捆好的书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，快递员将书置于箱子上放在小宁家门口，如图甲所示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，为了将包裹拖进房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，小宁需要从0开始逐渐增大作用在箱子上的水平拉力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.纸巾箱子与书之间的摩擦力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、箱子与地面间的摩擦力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的大小随水平拉力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变化的情况如图乙所示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.已知箱子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含纸巾）的质量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，书的质量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，最大静摩擦力等于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滑动摩擦力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7_1#ee744de01?vcp=1&amp;pid=e7381d96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26027"/>
                <a:ext cx="11402568" cy="3268599"/>
              </a:xfrm>
              <a:prstGeom prst="rect">
                <a:avLst/>
              </a:prstGeom>
              <a:blipFill>
                <a:blip r:embed="rId3"/>
                <a:stretch>
                  <a:fillRect l="-1658" r="-1604" b="-57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8_1#ee744de01.bracket?vcp=1&amp;pid=e7381d96c&amp;color=0,0,0&amp;vpa=4&amp;vtp=1&amp;bbb=1"/>
          <p:cNvSpPr/>
          <p:nvPr/>
        </p:nvSpPr>
        <p:spPr>
          <a:xfrm>
            <a:off x="4715160" y="3508597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p:pic>
        <p:nvPicPr>
          <p:cNvPr id="4" name="QC_4_BD.17_2#ee744de01?htil=2&amp;vcp=1&amp;pid=e7381d9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12693" y="4003642"/>
            <a:ext cx="4489704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7_3#ee744de01.choices?htil=2&amp;vcp=1&amp;pid=e7381d96c&amp;color=0,0,0&amp;vtp=1&amp;bbb=1"/>
              <p:cNvSpPr/>
              <p:nvPr/>
            </p:nvSpPr>
            <p:spPr>
              <a:xfrm>
                <a:off x="393192" y="3957922"/>
                <a:ext cx="678484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0&lt;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时，箱子与书保持静止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&lt;90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时，箱子与书发生相对运动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.箱子与地面之间的动摩擦因数为0.2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.箱子与书之间的动摩擦因数为0.2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7_3#ee744de01.choices?htil=2&amp;vcp=1&amp;pid=e7381d96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57922"/>
                <a:ext cx="6784848" cy="2155000"/>
              </a:xfrm>
              <a:prstGeom prst="rect">
                <a:avLst/>
              </a:prstGeom>
              <a:blipFill>
                <a:blip r:embed="rId5"/>
                <a:stretch>
                  <a:fillRect l="-2785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9_1#ee744de01?vcp=1&amp;pid=e7381d96c&amp;color=0,0,0&amp;vtp=1&amp;bt=1&amp;bbb=1&amp;hb=1"/>
              <p:cNvSpPr/>
              <p:nvPr/>
            </p:nvSpPr>
            <p:spPr>
              <a:xfrm>
                <a:off x="393192" y="1245267"/>
                <a:ext cx="11402568" cy="439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时，由题图乙可知，箱子与书之间没有摩擦力作用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,因此箱子与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书处于静止状态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，A正确；当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时，由题图乙可知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，箱子与地面之间的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摩擦力是滑动摩擦力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，而箱子与书之间的摩擦力是静摩擦力，箱子在地面上滑动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箱子与书保持相对静止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,B错误；对书和箱子整体受力分析可知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，整体的重力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总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,地面给箱子的支持力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总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,整体与地面之间的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滑动摩擦力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总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,C正确；对书受力分析可知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，书的重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，箱子给书的支持力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,箱子与书之间的滑动摩擦力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9_1#ee744de01?vcp=1&amp;pid=e7381d96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45267"/>
                <a:ext cx="11402568" cy="4390200"/>
              </a:xfrm>
              <a:prstGeom prst="rect">
                <a:avLst/>
              </a:prstGeom>
              <a:blipFill>
                <a:blip r:embed="rId3"/>
                <a:stretch>
                  <a:fillRect l="-1658" r="-1604" b="-41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0_1#f026c23cb?vcp=1&amp;pid=e7381d96c&amp;color=0,0,0&amp;vtp=1&amp;bt=1&amp;bbb=1&amp;hb=1"/>
              <p:cNvSpPr/>
              <p:nvPr/>
            </p:nvSpPr>
            <p:spPr>
              <a:xfrm>
                <a:off x="393192" y="64474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的物体与地面间的动摩擦因数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开始以一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定的初速度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沿水平地面向右滑行，同时受到一个水平向左的恒力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，取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，以水平向右为正方向，该物体受到的摩擦力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变化的图像是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（最大静摩擦力等于滑动摩擦力）(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0_1#f026c23cb?vcp=1&amp;pid=e7381d96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4474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60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1_1#f026c23cb.bracket?vcp=1&amp;pid=e7381d96c&amp;color=0,0,0&amp;vpa=5&amp;vtp=1"/>
          <p:cNvSpPr/>
          <p:nvPr/>
        </p:nvSpPr>
        <p:spPr>
          <a:xfrm>
            <a:off x="5197760" y="230971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20_2#f026c23cb?htil=3&amp;vcp=1&amp;pid=e7381d96c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42813" y="3039458"/>
            <a:ext cx="2194560" cy="55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20_3#f026c23cb.choices?htil=3&amp;vcp=1&amp;pid=e7381d96c&amp;color=0,0,0&amp;vtp=1&amp;bbb=1&amp;hs=1"/>
          <p:cNvSpPr/>
          <p:nvPr/>
        </p:nvSpPr>
        <p:spPr>
          <a:xfrm>
            <a:off x="393192" y="2911442"/>
            <a:ext cx="9070848" cy="171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5300"/>
              </a:lnSpc>
              <a:tabLst>
                <a:tab pos="2264537" algn="l"/>
                <a:tab pos="4668774" algn="l"/>
                <a:tab pos="7022211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8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85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85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85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6" name="QC_4_BD.20_3#f026c23cb.choice_image?htil=3&amp;vcp=1&amp;pid=e7381d96c&amp;color=0,0,0&amp;tib=255,255,255&amp;iip=1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9231" y="2930111"/>
            <a:ext cx="1353312" cy="1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4_BD.20_3#f026c23cb.choice_image?htil=3&amp;vcp=1&amp;pid=e7381d96c&amp;color=0,0,0&amp;tib=255,255,255&amp;iip=2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40463" y="2911823"/>
            <a:ext cx="1536192" cy="1709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4_BD.20_3#f026c23cb.choice_image?htil=3&amp;vcp=1&amp;pid=e7381d96c&amp;color=0,0,0&amp;tib=255,255,255&amp;iip=3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48002" y="2920967"/>
            <a:ext cx="1472184" cy="170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4_BD.20_3#f026c23cb.choice_image?htil=3&amp;vcp=1&amp;pid=e7381d96c&amp;color=0,0,0&amp;tib=255,255,255&amp;iip=4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21695" y="2920967"/>
            <a:ext cx="1353312" cy="170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QC_4_AS.22_1#f026c23cb?vcp=1&amp;pid=e7381d96c&amp;color=0,0,0&amp;vtp=1&amp;bbb=1&amp;hb=1&amp;hs=1"/>
              <p:cNvSpPr/>
              <p:nvPr/>
            </p:nvSpPr>
            <p:spPr>
              <a:xfrm>
                <a:off x="393192" y="4625942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物体向右运动的过程中，受水平向左的滑动摩擦力作用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，当物体速度减为0时，因为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，所以物体静止在水平地面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，此后受到水平向右的静摩擦力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QC_4_AS.22_1#f026c23cb?vcp=1&amp;pid=e7381d96c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25942"/>
                <a:ext cx="11402568" cy="1596200"/>
              </a:xfrm>
              <a:prstGeom prst="rect">
                <a:avLst/>
              </a:prstGeom>
              <a:blipFill>
                <a:blip r:embed="rId9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0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f5c2df6c4?vcp=1&amp;pid=64f66c76b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f5c2df6c4?vcp=1&amp;pid=64f66c76b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f5c2df6c4?vcp=1&amp;pid=64f66c76b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5" name="C_3_BD#f5c2df6c4?vcp=1&amp;pid=64f66c76b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摩擦力的综合分析</a:t>
            </a:r>
            <a:endParaRPr lang="en-US" altLang="zh-CN" sz="2600" dirty="0"/>
          </a:p>
        </p:txBody>
      </p:sp>
      <p:sp>
        <p:nvSpPr>
          <p:cNvPr id="6" name="P_4_BD#5cd1298f2?vcp=1&amp;pid=f5c2df6c4&amp;color=0,0,0&amp;vtp=1&amp;bbb=1"/>
          <p:cNvSpPr/>
          <p:nvPr/>
        </p:nvSpPr>
        <p:spPr>
          <a:xfrm>
            <a:off x="393192" y="965200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摩擦力大小的求解思路</a:t>
            </a:r>
            <a:endParaRPr lang="en-US" altLang="zh-CN" sz="2400" dirty="0"/>
          </a:p>
        </p:txBody>
      </p:sp>
      <p:pic>
        <p:nvPicPr>
          <p:cNvPr id="7" name="P_4_BD#5cd1298f2?vcp=1&amp;pid=f5c2df6c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66160" y="1585595"/>
            <a:ext cx="5056632" cy="300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23_1#73b1fae12?vcp=1&amp;pid=f5c2df6c4&amp;color=0,0,0&amp;vtp=1&amp;bt=1&amp;bbb=1&amp;hb=1"/>
              <p:cNvSpPr/>
              <p:nvPr/>
            </p:nvSpPr>
            <p:spPr>
              <a:xfrm>
                <a:off x="393192" y="750824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在粗糙水平地面上，有一块上下表面粗糙程度不同、质量为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的长木板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上方有一个材质与水平地面相同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，此时木板与水平地面间的动摩擦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，物块与木板之间的动摩擦因数为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，物块受到水平拉力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，木板和物块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相对静止一起在水平地面上做匀速直线运动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，若最大静摩擦力等于滑动摩擦力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23_1#73b1fae12?vcp=1&amp;pid=f5c2df6c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0824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337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23_2#73b1fae12?vcp=1&amp;pid=f5c2df6c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83480" y="3563620"/>
            <a:ext cx="2221992" cy="57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24_1#489ea99cd?vcp=1&amp;pid=73b1fae12&amp;color=0,0,0&amp;vtp=1&amp;bbb=1"/>
              <p:cNvSpPr/>
              <p:nvPr/>
            </p:nvSpPr>
            <p:spPr>
              <a:xfrm>
                <a:off x="393192" y="4274820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至少多大.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24_1#489ea99cd?vcp=1&amp;pid=73b1fae1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74820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25_1#489ea99cd?vcp=1&amp;pid=73b1fae12&amp;color=0,0,0&amp;vtp=1&amp;bbb=1&amp;hb=1"/>
              <p:cNvSpPr/>
              <p:nvPr/>
            </p:nvSpPr>
            <p:spPr>
              <a:xfrm>
                <a:off x="393192" y="4768215"/>
                <a:ext cx="11402568" cy="119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物块与木板没有相对滑动，说明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的大小不大于物块与木板间的最大静摩擦力，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25_1#489ea99cd?vcp=1&amp;pid=73b1fae1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68215"/>
                <a:ext cx="11402568" cy="1193800"/>
              </a:xfrm>
              <a:prstGeom prst="rect">
                <a:avLst/>
              </a:prstGeom>
              <a:blipFill>
                <a:blip r:embed="rId6"/>
                <a:stretch>
                  <a:fillRect l="-1658" r="-2727" b="-51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6_1#20154cea2?vcp=1&amp;pid=73b1fae12&amp;color=0,0,0&amp;vtp=1&amp;bt=1&amp;bbb=1"/>
              <p:cNvSpPr/>
              <p:nvPr/>
            </p:nvSpPr>
            <p:spPr>
              <a:xfrm>
                <a:off x="393192" y="2228691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6_1#20154cea2?vcp=1&amp;pid=73b1fae12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28691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27_1#20154cea2?vcp=1&amp;pid=73b1fae12&amp;color=0,0,0&amp;vtp=1&amp;bbb=1&amp;hb=1"/>
              <p:cNvSpPr/>
              <p:nvPr/>
            </p:nvSpPr>
            <p:spPr>
              <a:xfrm>
                <a:off x="393192" y="2728182"/>
                <a:ext cx="11402568" cy="175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木板和物块相对静止一起在水平地面上做匀速直线运动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，将木板和物块看作一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个整体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，在水平方向上受力平衡，有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27_1#20154cea2?vcp=1&amp;pid=73b1fae1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28182"/>
                <a:ext cx="11402568" cy="1752600"/>
              </a:xfrm>
              <a:prstGeom prst="rect">
                <a:avLst/>
              </a:prstGeom>
              <a:blipFill>
                <a:blip r:embed="rId4"/>
                <a:stretch>
                  <a:fillRect l="-1658" r="-1016" b="-31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28_1#e2fa29802?vcp=1&amp;pid=73b1fae12&amp;color=0,0,0&amp;vtp=1&amp;bt=1&amp;bbb=1&amp;hb=1"/>
          <p:cNvSpPr/>
          <p:nvPr/>
        </p:nvSpPr>
        <p:spPr>
          <a:xfrm>
            <a:off x="393192" y="1264031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（3）若将木板上下翻面（即接触面间的动摩擦因数互换），其余条件均不变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，试求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物块与木板间的摩擦力大小以及木板与地面间的摩擦力大小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29_1#e2fa29802?vcp=1&amp;pid=73b1fae12&amp;color=0,0,0&amp;vtp=1&amp;bbb=1&amp;hb=1"/>
              <p:cNvSpPr/>
              <p:nvPr/>
            </p:nvSpPr>
            <p:spPr>
              <a:xfrm>
                <a:off x="393192" y="2368867"/>
                <a:ext cx="11402568" cy="3263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木板上下翻面后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，木板与物块间的最大静摩擦力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,木板与地面间的最大静摩擦力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板地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,则物块与木板间有相对滑动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，物块与木板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板块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,木板在地面上静止不动，根据二力平衡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，木板与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地面间的摩擦力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板地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板块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29_1#e2fa29802?vcp=1&amp;pid=73b1fae1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68867"/>
                <a:ext cx="11402568" cy="3263900"/>
              </a:xfrm>
              <a:prstGeom prst="rect">
                <a:avLst/>
              </a:prstGeom>
              <a:blipFill>
                <a:blip r:embed="rId3"/>
                <a:stretch>
                  <a:fillRect l="-1658" b="-18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4_BD.30_1#dc178692a?vcp=1&amp;pid=f5c2df6c4&amp;color=0,0,0&amp;vtp=1&amp;bt=1&amp;bbb=1&amp;hb=1"/>
              <p:cNvSpPr/>
              <p:nvPr/>
            </p:nvSpPr>
            <p:spPr>
              <a:xfrm>
                <a:off x="393192" y="826008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（生活情境）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（2026·西安高新第一中学检测）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如图所示为打印机送纸装置.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搓纸轮旋转带动纸张前进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，摩擦片在纸张下方贴紧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，整个装置可以保证只有一张纸前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，且避免两张纸同时送入.已知搓纸轮和纸张之间的动摩擦因数为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，纸张之间的动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,纸张和摩擦片之间的动摩擦因数为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设最大静摩擦力等于滑动摩擦力,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不计纸张质量及空气阻力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.为保证送纸装置正常工作，则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的大小关系为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4_BD.30_1#dc178692a?vcp=1&amp;pid=f5c2df6c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26008"/>
                <a:ext cx="11402568" cy="3268599"/>
              </a:xfrm>
              <a:prstGeom prst="rect">
                <a:avLst/>
              </a:prstGeom>
              <a:blipFill>
                <a:blip r:embed="rId3"/>
                <a:stretch>
                  <a:fillRect l="-1658" r="-1176" b="-55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4_AN.31_1#dc178692a.blank?vcp=1&amp;pid=f5c2df6c4&amp;color=0,0,0&amp;vpa=6&amp;vtp=1&amp;bbb=1"/>
              <p:cNvSpPr/>
              <p:nvPr/>
            </p:nvSpPr>
            <p:spPr>
              <a:xfrm>
                <a:off x="404304" y="3677474"/>
                <a:ext cx="1970342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4_AN.31_1#dc178692a.blank?vcp=1&amp;pid=f5c2df6c4&amp;color=0,0,0&amp;vpa=6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04" y="3677474"/>
                <a:ext cx="1970342" cy="353441"/>
              </a:xfrm>
              <a:prstGeom prst="rect">
                <a:avLst/>
              </a:prstGeom>
              <a:blipFill>
                <a:blip r:embed="rId4"/>
                <a:stretch>
                  <a:fillRect l="-1852" b="-2931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B_4_BD.30_2#dc178692a?vcp=1&amp;pid=f5c2df6c4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80560" y="4184903"/>
            <a:ext cx="3236976" cy="18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4_AS.32_1#dc178692a?vcp=1&amp;pid=f5c2df6c4&amp;color=0,0,0&amp;vtp=1&amp;bt=1&amp;bbb=1"/>
              <p:cNvSpPr/>
              <p:nvPr/>
            </p:nvSpPr>
            <p:spPr>
              <a:xfrm>
                <a:off x="393192" y="1950720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第1步：比较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4_AS.32_1#dc178692a?vcp=1&amp;pid=f5c2df6c4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50720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B_4_AS.32_2#dc178692a?vcp=1&amp;pid=f5c2df6c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2152" y="2564511"/>
            <a:ext cx="5184648" cy="234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4_AS.32_4#dc178692a?vcp=1&amp;pid=f5c2df6c4&amp;color=0,0,0&amp;vtp=1&amp;bt=1&amp;bbb=1"/>
              <p:cNvSpPr/>
              <p:nvPr/>
            </p:nvSpPr>
            <p:spPr>
              <a:xfrm>
                <a:off x="393192" y="626173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第2步：比较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4_AS.32_4#dc178692a?vcp=1&amp;pid=f5c2df6c4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6173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B_4_AS.32_5#dc178692a?vcp=1&amp;pid=f5c2df6c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38728" y="1252664"/>
            <a:ext cx="5120640" cy="211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4_AS.32_6#dc178692a?vcp=1&amp;pid=f5c2df6c4&amp;color=0,0,0&amp;vtp=1&amp;bbb=1"/>
              <p:cNvSpPr/>
              <p:nvPr/>
            </p:nvSpPr>
            <p:spPr>
              <a:xfrm>
                <a:off x="393192" y="3500565"/>
                <a:ext cx="11402568" cy="271729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3步：比较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假设纸槽内只有一张纸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，仍需保证纸张可被送进打印机，故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4步：得出结论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综上所述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4_AS.32_6#dc178692a?vcp=1&amp;pid=f5c2df6c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00565"/>
                <a:ext cx="11402568" cy="2717292"/>
              </a:xfrm>
              <a:prstGeom prst="rect">
                <a:avLst/>
              </a:prstGeom>
              <a:blipFill>
                <a:blip r:embed="rId5"/>
                <a:stretch>
                  <a:fillRect l="-1658" b="-69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1472</Words>
  <Application>Microsoft Office PowerPoint</Application>
  <PresentationFormat>宽屏</PresentationFormat>
  <Paragraphs>247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2026-05-25T08:30:56Z</dcterms:created>
  <dcterms:modified xsi:type="dcterms:W3CDTF">2026-05-25T08:32:25Z</dcterms:modified>
  <cp:category/>
  <cp:contentStatus/>
</cp:coreProperties>
</file>