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78"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0733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328bacd03a259d379#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81db1c6d2">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疑难专题8 动态平衡中的临界与极值问题</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81db1c6d2.fixed?vcp=1&amp;pid=46eb467af&amp;color=0,112,192&amp;vtp=1&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第三章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相互作用——力</a:t>
            </a:r>
            <a:endParaRPr lang="en-US" altLang="zh-CN" sz="4800" dirty="0"/>
          </a:p>
        </p:txBody>
      </p:sp>
      <p:sp>
        <p:nvSpPr>
          <p:cNvPr id="3" name="C_2_BD#81db1c6d2.fixed?vcp=1&amp;pid=46eb467af&amp;color=0,0,0&amp;vtp=1&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疑难专题8</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动态平衡中的临界与极值问题</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P_3_BD#9a629384c?vcp=1&amp;pid=81db1c6d2&amp;color=0,0,0&amp;vtp=1&amp;bt=1&amp;bbb=1&amp;hb=1"/>
          <p:cNvSpPr/>
          <p:nvPr/>
        </p:nvSpPr>
        <p:spPr>
          <a:xfrm>
            <a:off x="393192" y="502920"/>
            <a:ext cx="11402568" cy="593007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1.临界问题</a:t>
            </a:r>
            <a:endParaRPr lang="en-US" altLang="zh-CN" sz="2400" dirty="0"/>
          </a:p>
          <a:p>
            <a:pPr latinLnBrk="1">
              <a:lnSpc>
                <a:spcPts val="43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1）当某物理量变化时，会引起其他物理量的变化</a:t>
            </a:r>
            <a:r>
              <a:rPr lang="en-US" altLang="zh-CN" sz="2400" b="0" i="0">
                <a:solidFill>
                  <a:srgbClr val="000000"/>
                </a:solidFill>
                <a:latin typeface="Times New Roman" pitchFamily="34" charset="0"/>
                <a:ea typeface="微软雅黑" pitchFamily="34" charset="-122"/>
                <a:cs typeface="Times New Roman" pitchFamily="34" charset="-120"/>
              </a:rPr>
              <a:t>，从而使物体所处的平衡状</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态</a:t>
            </a:r>
            <a:r>
              <a:rPr lang="en-US" altLang="zh-CN" sz="2400" b="0" i="0" dirty="0">
                <a:solidFill>
                  <a:srgbClr val="000000"/>
                </a:solidFill>
                <a:latin typeface="Times New Roman" pitchFamily="34" charset="0"/>
                <a:ea typeface="微软雅黑" pitchFamily="34" charset="-122"/>
                <a:cs typeface="Times New Roman" pitchFamily="34" charset="-120"/>
              </a:rPr>
              <a:t>“恰好出现”或“恰好不出现”，发生转折的状态叫临界状态.在问题的描述中常用</a:t>
            </a:r>
            <a:r>
              <a:rPr lang="en-US" altLang="zh-CN" sz="2400" b="0" i="0">
                <a:solidFill>
                  <a:srgbClr val="000000"/>
                </a:solidFill>
                <a:latin typeface="Times New Roman" pitchFamily="34" charset="0"/>
                <a:ea typeface="微软雅黑" pitchFamily="34" charset="-122"/>
                <a:cs typeface="Times New Roman" pitchFamily="34" charset="-120"/>
              </a:rPr>
              <a:t>“刚</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好</a:t>
            </a:r>
            <a:r>
              <a:rPr lang="en-US" altLang="zh-CN" sz="2400" b="0" i="0" dirty="0">
                <a:solidFill>
                  <a:srgbClr val="000000"/>
                </a:solidFill>
                <a:latin typeface="Times New Roman" pitchFamily="34" charset="0"/>
                <a:ea typeface="微软雅黑" pitchFamily="34" charset="-122"/>
                <a:cs typeface="Times New Roman" pitchFamily="34" charset="-120"/>
              </a:rPr>
              <a:t>”“恰好”等语言叙述.</a:t>
            </a:r>
            <a:endParaRPr lang="en-US" altLang="zh-CN" sz="2400" dirty="0"/>
          </a:p>
          <a:p>
            <a:pPr latinLnBrk="1">
              <a:lnSpc>
                <a:spcPts val="43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2）常见的临界状态有：</a:t>
            </a:r>
            <a:endParaRPr lang="en-US" altLang="zh-CN" sz="2400" dirty="0"/>
          </a:p>
          <a:p>
            <a:pPr latinLnBrk="1">
              <a:lnSpc>
                <a:spcPts val="43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①</a:t>
            </a:r>
            <a:r>
              <a:rPr lang="en-US" altLang="zh-CN" sz="2400" b="0" i="0" dirty="0">
                <a:solidFill>
                  <a:srgbClr val="000000"/>
                </a:solidFill>
                <a:latin typeface="Times New Roman" pitchFamily="34" charset="0"/>
                <a:ea typeface="微软雅黑" pitchFamily="34" charset="-122"/>
                <a:cs typeface="Times New Roman" pitchFamily="34" charset="-120"/>
              </a:rPr>
              <a:t>两接触物体脱离与不脱离的临界条件是相互作用力为0</a:t>
            </a:r>
            <a:r>
              <a:rPr lang="en-US" altLang="zh-CN" sz="2400" b="0" i="0">
                <a:solidFill>
                  <a:srgbClr val="000000"/>
                </a:solidFill>
                <a:latin typeface="Times New Roman" pitchFamily="34" charset="0"/>
                <a:ea typeface="微软雅黑" pitchFamily="34" charset="-122"/>
                <a:cs typeface="Times New Roman" pitchFamily="34" charset="-120"/>
              </a:rPr>
              <a:t>（主要体现为两物体间</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的弹力为</a:t>
            </a:r>
            <a:r>
              <a:rPr lang="en-US" altLang="zh-CN" sz="2400" b="0" i="0" dirty="0">
                <a:solidFill>
                  <a:srgbClr val="000000"/>
                </a:solidFill>
                <a:latin typeface="Times New Roman" pitchFamily="34" charset="0"/>
                <a:ea typeface="微软雅黑" pitchFamily="34" charset="-122"/>
                <a:cs typeface="Times New Roman" pitchFamily="34" charset="-120"/>
              </a:rPr>
              <a:t>0）.</a:t>
            </a:r>
            <a:endParaRPr lang="en-US" altLang="zh-CN" sz="2400" dirty="0"/>
          </a:p>
          <a:p>
            <a:pPr latinLnBrk="1">
              <a:lnSpc>
                <a:spcPts val="43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②</a:t>
            </a:r>
            <a:r>
              <a:rPr lang="en-US" altLang="zh-CN" sz="2400" b="0" i="0" dirty="0">
                <a:solidFill>
                  <a:srgbClr val="000000"/>
                </a:solidFill>
                <a:latin typeface="Times New Roman" pitchFamily="34" charset="0"/>
                <a:ea typeface="微软雅黑" pitchFamily="34" charset="-122"/>
                <a:cs typeface="Times New Roman" pitchFamily="34" charset="-120"/>
              </a:rPr>
              <a:t>绳子断与不断的临界条件为绳中张力达到最大值</a:t>
            </a:r>
            <a:r>
              <a:rPr lang="en-US" altLang="zh-CN" sz="2400" b="0" i="0">
                <a:solidFill>
                  <a:srgbClr val="000000"/>
                </a:solidFill>
                <a:latin typeface="Times New Roman" pitchFamily="34" charset="0"/>
                <a:ea typeface="微软雅黑" pitchFamily="34" charset="-122"/>
                <a:cs typeface="Times New Roman" pitchFamily="34" charset="-120"/>
              </a:rPr>
              <a:t>，绳子绷紧与松弛的临界条件</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为绳中张力为</a:t>
            </a:r>
            <a:r>
              <a:rPr lang="en-US" altLang="zh-CN" sz="2400" b="0" i="0" dirty="0">
                <a:solidFill>
                  <a:srgbClr val="000000"/>
                </a:solidFill>
                <a:latin typeface="Times New Roman" pitchFamily="34" charset="0"/>
                <a:ea typeface="微软雅黑" pitchFamily="34" charset="-122"/>
                <a:cs typeface="Times New Roman" pitchFamily="34" charset="-120"/>
              </a:rPr>
              <a:t>0.</a:t>
            </a:r>
            <a:endParaRPr lang="en-US" altLang="zh-CN" sz="2400" dirty="0"/>
          </a:p>
          <a:p>
            <a:pPr latinLnBrk="1">
              <a:lnSpc>
                <a:spcPts val="43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③存在摩擦力作用的两物体间发生相对滑动或相对静止的临界条件为静摩擦力达</a:t>
            </a:r>
          </a:p>
          <a:p>
            <a:pPr latinLnBrk="1">
              <a:lnSpc>
                <a:spcPts val="4100"/>
              </a:lnSpc>
            </a:pPr>
            <a:r>
              <a:rPr lang="en-US" altLang="zh-CN" sz="2400" b="0" i="0">
                <a:solidFill>
                  <a:srgbClr val="000000"/>
                </a:solidFill>
                <a:latin typeface="Times New Roman" pitchFamily="34" charset="0"/>
                <a:ea typeface="微软雅黑" pitchFamily="34" charset="-122"/>
                <a:cs typeface="Times New Roman" pitchFamily="34" charset="-120"/>
              </a:rPr>
              <a:t>到最大</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sp>
        <p:nvSpPr>
          <p:cNvPr id="2" name="P_3_BD#9a629384c?vcp=1&amp;pid=81db1c6d2&amp;color=0,0,0&amp;vtp=1&amp;bt=1&amp;bbb=1&amp;hb=1"/>
          <p:cNvSpPr/>
          <p:nvPr/>
        </p:nvSpPr>
        <p:spPr>
          <a:xfrm>
            <a:off x="393192" y="1347978"/>
            <a:ext cx="11402568"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2.极值问题</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平衡状态中的极值问题</a:t>
            </a:r>
            <a:r>
              <a:rPr lang="en-US" altLang="zh-CN" sz="2400" b="0" i="0" dirty="0">
                <a:solidFill>
                  <a:srgbClr val="000000"/>
                </a:solidFill>
                <a:latin typeface="Times New Roman" pitchFamily="34" charset="0"/>
                <a:ea typeface="微软雅黑" pitchFamily="34" charset="-122"/>
                <a:cs typeface="Times New Roman" pitchFamily="34" charset="-120"/>
              </a:rPr>
              <a:t>，一般指在力的变化过程中的最大值和最小值问题</a:t>
            </a:r>
            <a:r>
              <a:rPr lang="en-US" altLang="zh-CN" sz="2400" b="0" i="0">
                <a:solidFill>
                  <a:srgbClr val="000000"/>
                </a:solidFill>
                <a:latin typeface="Times New Roman" pitchFamily="34" charset="0"/>
                <a:ea typeface="微软雅黑" pitchFamily="34" charset="-122"/>
                <a:cs typeface="Times New Roman" pitchFamily="34" charset="-120"/>
              </a:rPr>
              <a:t>.一般用</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解析法</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图解法或极限分析法进行分析.</a:t>
            </a:r>
          </a:p>
          <a:p>
            <a:pPr latinLnBrk="1">
              <a:lnSpc>
                <a:spcPts val="4200"/>
              </a:lnSpc>
            </a:pPr>
            <a:r>
              <a:rPr kumimoji="0" lang="en-US" altLang="zh-CN" sz="2400" b="0" i="0" u="none" strike="noStrike" kern="1200" cap="none" spc="0" normalizeH="0" baseline="0" noProof="0">
                <a:ln>
                  <a:noFill/>
                </a:ln>
                <a:solidFill>
                  <a:srgbClr val="000000"/>
                </a:solidFill>
                <a:effectLst/>
                <a:uLnTx/>
                <a:uFillTx/>
                <a:latin typeface="SimSun" panose="02010600030101010101" pitchFamily="2" charset="-122"/>
                <a:ea typeface="SimSun" pitchFamily="34" charset="-122"/>
                <a:cs typeface="SimSu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3.解决临界和极值问题的思路与方法</a:t>
            </a:r>
            <a:endParaRPr lang="en-US" altLang="zh-CN" sz="2400" dirty="0"/>
          </a:p>
        </p:txBody>
      </p:sp>
      <p:pic>
        <p:nvPicPr>
          <p:cNvPr id="4" name="P_3_BD#9a629384c?vcp=1&amp;pid=81db1c6d2&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3502152" y="3613658"/>
            <a:ext cx="5184648" cy="1883664"/>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pic>
        <p:nvPicPr>
          <p:cNvPr id="2" name="C_3#a7196600e?vcp=1&amp;pid=81db1c6d2&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a7196600e?vcp=1&amp;pid=81db1c6d2&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a7196600e?vcp=1&amp;pid=81db1c6d2&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3_BD#a7196600e?vcp=1&amp;pid=81db1c6d2&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解析法求解临界与极值问题</a:t>
            </a:r>
            <a:endParaRPr lang="en-US" altLang="zh-CN" sz="2600" dirty="0"/>
          </a:p>
        </p:txBody>
      </p:sp>
      <mc:AlternateContent xmlns:mc="http://schemas.openxmlformats.org/markup-compatibility/2006">
        <mc:Choice xmlns:a14="http://schemas.microsoft.com/office/drawing/2010/main" Requires="a14">
          <p:sp>
            <p:nvSpPr>
              <p:cNvPr id="6" name="QO_4_BD.1_1#cf3242293?vcp=1&amp;pid=a7196600e&amp;color=0,0,0&amp;vtp=1&amp;bbb=1&amp;hb=1"/>
              <p:cNvSpPr/>
              <p:nvPr/>
            </p:nvSpPr>
            <p:spPr>
              <a:xfrm>
                <a:off x="393192" y="965200"/>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例1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如图所示，物体的质量为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2400" b="0" i="0" dirty="0">
                    <a:solidFill>
                      <a:srgbClr val="000000"/>
                    </a:solidFill>
                    <a:latin typeface="Times New Roman" pitchFamily="34" charset="0"/>
                    <a:ea typeface="微软雅黑" pitchFamily="34" charset="-122"/>
                    <a:cs typeface="Times New Roman" pitchFamily="34" charset="-120"/>
                  </a:rPr>
                  <a:t>，两根轻细绳</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𝐴𝐵</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𝐴𝐶</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的一端连接于竖直墙上</a:t>
                </a:r>
                <a:r>
                  <a:rPr lang="en-US" altLang="zh-CN" sz="2400" b="0" i="0">
                    <a:solidFill>
                      <a:srgbClr val="000000"/>
                    </a:solidFill>
                    <a:latin typeface="Times New Roman" pitchFamily="34" charset="0"/>
                    <a:ea typeface="微软雅黑" pitchFamily="34" charset="-122"/>
                    <a:cs typeface="Times New Roman" pitchFamily="34" charset="-120"/>
                  </a:rPr>
                  <a:t>，另一</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端系于物体上</a:t>
                </a:r>
                <a:r>
                  <a:rPr lang="en-US" altLang="zh-CN" sz="2400" b="0" i="0" dirty="0">
                    <a:solidFill>
                      <a:srgbClr val="000000"/>
                    </a:solidFill>
                    <a:latin typeface="Times New Roman" pitchFamily="34" charset="0"/>
                    <a:ea typeface="微软雅黑" pitchFamily="34" charset="-122"/>
                    <a:cs typeface="Times New Roman" pitchFamily="34" charset="-120"/>
                  </a:rPr>
                  <a:t>，在物体上另施加一个方向与水平线成</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60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的拉力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，若要使绳都</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能伸直</a:t>
                </a:r>
                <a:r>
                  <a:rPr lang="en-US" altLang="zh-CN" sz="2400" b="0" i="0" dirty="0">
                    <a:solidFill>
                      <a:srgbClr val="000000"/>
                    </a:solidFill>
                    <a:latin typeface="Times New Roman" pitchFamily="34" charset="0"/>
                    <a:ea typeface="微软雅黑" pitchFamily="34" charset="-122"/>
                    <a:cs typeface="Times New Roman" pitchFamily="34" charset="-120"/>
                  </a:rPr>
                  <a:t>，求拉力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的大小范围.</a:t>
                </a:r>
                <a:endParaRPr lang="en-US" altLang="zh-CN" sz="2400" dirty="0"/>
              </a:p>
            </p:txBody>
          </p:sp>
        </mc:Choice>
        <mc:Fallback>
          <p:sp>
            <p:nvSpPr>
              <p:cNvPr id="6" name="QO_4_BD.1_1#cf3242293?vcp=1&amp;pid=a7196600e&amp;color=0,0,0&amp;vtp=1&amp;bbb=1&amp;hb=1"/>
              <p:cNvSpPr>
                <a:spLocks noRot="1" noChangeAspect="1" noMove="1" noResize="1" noEditPoints="1" noAdjustHandles="1" noChangeArrowheads="1" noChangeShapeType="1" noTextEdit="1"/>
              </p:cNvSpPr>
              <p:nvPr/>
            </p:nvSpPr>
            <p:spPr>
              <a:xfrm>
                <a:off x="393192" y="965200"/>
                <a:ext cx="11402568" cy="1596200"/>
              </a:xfrm>
              <a:prstGeom prst="rect">
                <a:avLst/>
              </a:prstGeom>
              <a:blipFill>
                <a:blip r:embed="rId4"/>
                <a:stretch>
                  <a:fillRect l="-1658" r="-1604" b="-11450"/>
                </a:stretch>
              </a:blipFill>
              <a:ln/>
            </p:spPr>
            <p:txBody>
              <a:bodyPr/>
              <a:lstStyle/>
              <a:p>
                <a:r>
                  <a:rPr lang="zh-CN" altLang="en-US">
                    <a:noFill/>
                  </a:rPr>
                  <a:t> </a:t>
                </a:r>
              </a:p>
            </p:txBody>
          </p:sp>
        </mc:Fallback>
      </mc:AlternateContent>
      <p:pic>
        <p:nvPicPr>
          <p:cNvPr id="7" name="QO_4_BD.1_2#cf3242293?vcp=1&amp;pid=a7196600e&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5184648" y="2679700"/>
            <a:ext cx="1828800" cy="1554480"/>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p:pic>
        <p:nvPicPr>
          <p:cNvPr id="2" name="QO_4_AS.2_1#cf3242293?htil=1&amp;vcp=1&amp;pid=a7196600e&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106911" y="549719"/>
            <a:ext cx="1106424" cy="154533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O_4_AS.2_2#cf3242293?htil=1&amp;vcp=1&amp;pid=a7196600e&amp;color=0,0,0&amp;vtp=1&amp;bt=1&amp;bbb=1"/>
              <p:cNvSpPr/>
              <p:nvPr/>
            </p:nvSpPr>
            <p:spPr>
              <a:xfrm>
                <a:off x="393192" y="504000"/>
                <a:ext cx="10158984" cy="5723255"/>
              </a:xfrm>
              <a:prstGeom prst="rect">
                <a:avLst/>
              </a:prstGeom>
              <a:noFill/>
              <a:ln/>
            </p:spPr>
            <p:txBody>
              <a:bodyPr wrap="none" lIns="0" tIns="0" rIns="0" bIns="0" rtlCol="0" anchor="t"/>
              <a:lstStyle/>
              <a:p>
                <a:pPr algn="l" latinLnBrk="1">
                  <a:lnSpc>
                    <a:spcPts val="40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作出物体的受力情况如图所示，由平衡条件有</a:t>
                </a:r>
                <a:endParaRPr lang="en-US" altLang="zh-CN" sz="2400" dirty="0"/>
              </a:p>
              <a:p>
                <a:pPr latinLnBrk="1">
                  <a:lnSpc>
                    <a:spcPts val="4000"/>
                  </a:lnSpc>
                </a:pP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𝒙</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.①</a:t>
                </a:r>
                <a:endParaRPr lang="en-US" altLang="zh-CN" sz="2400" dirty="0"/>
              </a:p>
              <a:p>
                <a:pPr latinLnBrk="1">
                  <a:lnSpc>
                    <a:spcPts val="4300"/>
                  </a:lnSpc>
                </a:pP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𝒚</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.②</a:t>
                </a:r>
                <a:endParaRPr lang="en-US" altLang="zh-CN" sz="2400" dirty="0"/>
              </a:p>
              <a:p>
                <a:pPr latinLnBrk="1">
                  <a:lnSpc>
                    <a:spcPts val="5300"/>
                  </a:lnSpc>
                </a:pPr>
                <a:r>
                  <a:rPr lang="en-US" altLang="zh-CN" sz="2400" b="1" i="0">
                    <a:solidFill>
                      <a:srgbClr val="FF0000"/>
                    </a:solidFill>
                    <a:latin typeface="Times New Roman" pitchFamily="34" charset="0"/>
                    <a:ea typeface="微软雅黑" pitchFamily="34" charset="-122"/>
                    <a:cs typeface="Times New Roman" pitchFamily="34" charset="-120"/>
                  </a:rPr>
                  <a:t>由</a:t>
                </a:r>
                <a:r>
                  <a:rPr lang="en-US" altLang="zh-CN" sz="2400" b="1" i="0" dirty="0">
                    <a:solidFill>
                      <a:srgbClr val="FF0000"/>
                    </a:solidFill>
                    <a:latin typeface="Times New Roman" pitchFamily="34" charset="0"/>
                    <a:ea typeface="微软雅黑" pitchFamily="34" charset="-122"/>
                    <a:cs typeface="Times New Roman" pitchFamily="34" charset="-120"/>
                  </a:rPr>
                  <a:t>①②式得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，③</a:t>
                </a:r>
                <a:endParaRPr lang="en-US" altLang="zh-CN" sz="2400" dirty="0"/>
              </a:p>
              <a:p>
                <a:pPr latinLnBrk="1">
                  <a:lnSpc>
                    <a:spcPts val="57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.④</a:t>
                </a:r>
                <a:endParaRPr lang="en-US" altLang="zh-CN" sz="2400" dirty="0"/>
              </a:p>
              <a:p>
                <a:pPr latinLnBrk="1">
                  <a:lnSpc>
                    <a:spcPts val="4000"/>
                  </a:lnSpc>
                </a:pPr>
                <a:r>
                  <a:rPr lang="en-US" altLang="zh-CN" sz="2400" b="1" i="0">
                    <a:solidFill>
                      <a:srgbClr val="FF0000"/>
                    </a:solidFill>
                    <a:latin typeface="Times New Roman" pitchFamily="34" charset="0"/>
                    <a:ea typeface="微软雅黑" pitchFamily="34" charset="-122"/>
                    <a:cs typeface="Times New Roman" pitchFamily="34" charset="-120"/>
                  </a:rPr>
                  <a:t>要使两绳都能伸直</a:t>
                </a:r>
                <a:r>
                  <a:rPr lang="en-US" altLang="zh-CN" sz="2400" b="1" i="0" dirty="0">
                    <a:solidFill>
                      <a:srgbClr val="FF0000"/>
                    </a:solidFill>
                    <a:latin typeface="Times New Roman" pitchFamily="34" charset="0"/>
                    <a:ea typeface="微软雅黑" pitchFamily="34" charset="-122"/>
                    <a:cs typeface="Times New Roman" pitchFamily="34" charset="-120"/>
                  </a:rPr>
                  <a:t>，则有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，⑤</a:t>
                </a:r>
                <a:endParaRPr lang="en-US" altLang="zh-CN" sz="2400" dirty="0"/>
              </a:p>
              <a:p>
                <a:pPr latinLnBrk="1">
                  <a:lnSpc>
                    <a:spcPts val="40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.⑥</a:t>
                </a:r>
                <a:endParaRPr lang="en-US" altLang="zh-CN" sz="2400" dirty="0"/>
              </a:p>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由</a:t>
                </a:r>
                <a:r>
                  <a:rPr lang="en-US" altLang="zh-CN" sz="2400" b="1" i="0" dirty="0">
                    <a:solidFill>
                      <a:srgbClr val="FF0000"/>
                    </a:solidFill>
                    <a:latin typeface="Times New Roman" pitchFamily="34" charset="0"/>
                    <a:ea typeface="微软雅黑" pitchFamily="34" charset="-122"/>
                    <a:cs typeface="Times New Roman" pitchFamily="34" charset="-120"/>
                  </a:rPr>
                  <a:t>③⑤式得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有最大值</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𝐦𝐚𝐱</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𝟒𝟎</m:t>
                        </m:r>
                      </m:num>
                      <m:den>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den>
                    </m:f>
                  </m:oMath>
                </a14:m>
                <a:r>
                  <a:rPr lang="en-US" altLang="zh-CN" sz="2400" b="1" i="0" dirty="0">
                    <a:solidFill>
                      <a:srgbClr val="FF0000"/>
                    </a:solidFill>
                    <a:latin typeface="SimSun" pitchFamily="34" charset="0"/>
                    <a:ea typeface="SimSun" pitchFamily="34" charset="-122"/>
                    <a:cs typeface="SimSun" pitchFamily="34" charset="-120"/>
                  </a:rPr>
                  <a:t> </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由</a:t>
                </a:r>
                <a:r>
                  <a:rPr lang="en-US" altLang="zh-CN" sz="2400" b="1" i="0" dirty="0">
                    <a:solidFill>
                      <a:srgbClr val="FF0000"/>
                    </a:solidFill>
                    <a:latin typeface="Times New Roman" pitchFamily="34" charset="0"/>
                    <a:ea typeface="微软雅黑" pitchFamily="34" charset="-122"/>
                    <a:cs typeface="Times New Roman" pitchFamily="34" charset="-120"/>
                  </a:rPr>
                  <a:t>④⑥式得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有最小值</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𝐦𝐢𝐧</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𝟐𝟎</m:t>
                        </m:r>
                      </m:num>
                      <m:den>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den>
                    </m:f>
                  </m:oMath>
                </a14:m>
                <a:r>
                  <a:rPr lang="en-US" altLang="zh-CN" sz="2400" b="1" i="0" dirty="0">
                    <a:solidFill>
                      <a:srgbClr val="FF0000"/>
                    </a:solidFill>
                    <a:latin typeface="SimSun" pitchFamily="34" charset="0"/>
                    <a:ea typeface="SimSun" pitchFamily="34" charset="-122"/>
                    <a:cs typeface="SimSun" pitchFamily="34" charset="-120"/>
                  </a:rPr>
                  <a:t> </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5500"/>
                  </a:lnSpc>
                </a:pPr>
                <a:r>
                  <a:rPr lang="en-US" altLang="zh-CN" sz="2400" b="1" i="0">
                    <a:solidFill>
                      <a:srgbClr val="FF0000"/>
                    </a:solidFill>
                    <a:latin typeface="Times New Roman" pitchFamily="34" charset="0"/>
                    <a:ea typeface="微软雅黑" pitchFamily="34" charset="-122"/>
                    <a:cs typeface="Times New Roman" pitchFamily="34" charset="-120"/>
                  </a:rPr>
                  <a:t>综合得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的取值范围</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𝟐𝟎</m:t>
                        </m:r>
                      </m:num>
                      <m:den>
                        <m:r>
                          <a:rPr lang="en-US" altLang="zh-CN" sz="2400" b="1" i="1">
                            <a:solidFill>
                              <a:srgbClr val="FF0000"/>
                            </a:solidFill>
                            <a:latin typeface="Cambria Math" pitchFamily="34" charset="0"/>
                            <a:ea typeface="Cambria Math" pitchFamily="34" charset="-122"/>
                            <a:cs typeface="Cambria Math" pitchFamily="34" charset="-120"/>
                          </a:rPr>
                          <m:t>𝟑</m:t>
                        </m:r>
                      </m:den>
                    </m:f>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𝟒𝟎</m:t>
                        </m:r>
                      </m:num>
                      <m:den>
                        <m:r>
                          <a:rPr lang="en-US" altLang="zh-CN" sz="2400" b="1" i="1">
                            <a:solidFill>
                              <a:srgbClr val="FF0000"/>
                            </a:solidFill>
                            <a:latin typeface="Cambria Math" pitchFamily="34" charset="0"/>
                            <a:ea typeface="Cambria Math" pitchFamily="34" charset="-122"/>
                            <a:cs typeface="Cambria Math" pitchFamily="34" charset="-120"/>
                          </a:rPr>
                          <m:t>𝟑</m:t>
                        </m:r>
                      </m:den>
                    </m:f>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3" name="QO_4_AS.2_2#cf3242293?htil=1&amp;vcp=1&amp;pid=a7196600e&amp;color=0,0,0&amp;vtp=1&amp;bt=1&amp;bbb=1"/>
              <p:cNvSpPr>
                <a:spLocks noRot="1" noChangeAspect="1" noMove="1" noResize="1" noEditPoints="1" noAdjustHandles="1" noChangeArrowheads="1" noChangeShapeType="1" noTextEdit="1"/>
              </p:cNvSpPr>
              <p:nvPr/>
            </p:nvSpPr>
            <p:spPr>
              <a:xfrm>
                <a:off x="393192" y="504000"/>
                <a:ext cx="10158984" cy="5723255"/>
              </a:xfrm>
              <a:prstGeom prst="rect">
                <a:avLst/>
              </a:prstGeom>
              <a:blipFill>
                <a:blip r:embed="rId4"/>
                <a:stretch>
                  <a:fillRect l="-1861" t="-106" b="-170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left)">
                                      <p:cBhvr>
                                        <p:cTn id="10" dur="500"/>
                                        <p:tgtEl>
                                          <p:spTgt spid="3">
                                            <p:bg/>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left)">
                                      <p:cBhvr>
                                        <p:cTn id="28" dur="500"/>
                                        <p:tgtEl>
                                          <p:spTgt spid="3">
                                            <p:txEl>
                                              <p:pRg st="5" end="5"/>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left)">
                                      <p:cBhvr>
                                        <p:cTn id="34" dur="500"/>
                                        <p:tgtEl>
                                          <p:spTgt spid="3">
                                            <p:txEl>
                                              <p:pRg st="7" end="7"/>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left)">
                                      <p:cBhvr>
                                        <p:cTn id="37" dur="500"/>
                                        <p:tgtEl>
                                          <p:spTgt spid="3">
                                            <p:txEl>
                                              <p:pRg st="8" end="8"/>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wipe(left)">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p:pic>
        <p:nvPicPr>
          <p:cNvPr id="2" name="QC_4_BD.3_1#d7dc8c857?htil=2&amp;vcp=1&amp;pid=a7196600e&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516520" y="663320"/>
            <a:ext cx="3209544" cy="1499616"/>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C_4_BD.3_2#d7dc8c857?htil=2&amp;vcp=1&amp;pid=a7196600e&amp;color=0,0,0&amp;vtp=1&amp;bt=1&amp;bbb=1&amp;hb=1&amp;hs=1"/>
          <p:cNvSpPr/>
          <p:nvPr/>
        </p:nvSpPr>
        <p:spPr>
          <a:xfrm>
            <a:off x="393192" y="617601"/>
            <a:ext cx="8055864" cy="15962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［经典·浙江选考</a:t>
            </a:r>
            <a:r>
              <a:rPr lang="en-US" altLang="zh-CN" sz="2400" b="0" i="0">
                <a:solidFill>
                  <a:srgbClr val="000000"/>
                </a:solidFill>
                <a:latin typeface="Times New Roman" pitchFamily="34" charset="0"/>
                <a:ea typeface="微软雅黑" pitchFamily="34" charset="-122"/>
                <a:cs typeface="Times New Roman" pitchFamily="34" charset="-120"/>
              </a:rPr>
              <a:t>］小明在观察如图所示的沙子堆积</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时</a:t>
            </a:r>
            <a:r>
              <a:rPr lang="en-US" altLang="zh-CN" sz="2400" b="0" i="0" dirty="0">
                <a:solidFill>
                  <a:srgbClr val="000000"/>
                </a:solidFill>
                <a:latin typeface="Times New Roman" pitchFamily="34" charset="0"/>
                <a:ea typeface="微软雅黑" pitchFamily="34" charset="-122"/>
                <a:cs typeface="Times New Roman" pitchFamily="34" charset="-120"/>
              </a:rPr>
              <a:t>，发现沙子会自然堆积成圆锥体，</a:t>
            </a:r>
            <a:r>
              <a:rPr lang="en-US" altLang="zh-CN" sz="2400" b="0" i="0">
                <a:solidFill>
                  <a:srgbClr val="000000"/>
                </a:solidFill>
                <a:latin typeface="Times New Roman" pitchFamily="34" charset="0"/>
                <a:ea typeface="微软雅黑" pitchFamily="34" charset="-122"/>
                <a:cs typeface="Times New Roman" pitchFamily="34" charset="-120"/>
              </a:rPr>
              <a:t>且在不断堆积过程中，</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材料相同的沙子自然堆积成的圆锥体的最大底角都是相同的.</a:t>
            </a:r>
            <a:endParaRPr lang="en-US" altLang="zh-CN" sz="2400" dirty="0"/>
          </a:p>
        </p:txBody>
      </p:sp>
      <p:sp>
        <p:nvSpPr>
          <p:cNvPr id="4" name="QC_4_AN.4_1#d7dc8c857.bracket?vcp=1&amp;pid=a7196600e&amp;color=0,0,0&amp;vpa=1&amp;vtp=1"/>
          <p:cNvSpPr/>
          <p:nvPr/>
        </p:nvSpPr>
        <p:spPr>
          <a:xfrm>
            <a:off x="4664360" y="2758566"/>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mc:AlternateContent xmlns:mc="http://schemas.openxmlformats.org/markup-compatibility/2006">
        <mc:Choice xmlns:a14="http://schemas.microsoft.com/office/drawing/2010/main" Requires="a14">
          <p:sp>
            <p:nvSpPr>
              <p:cNvPr id="5" name="QC_4_BD.3_3#d7dc8c857.choices?vcp=1&amp;pid=a7196600e&amp;color=0,0,0&amp;vtp=1&amp;bbb=1"/>
              <p:cNvSpPr/>
              <p:nvPr/>
            </p:nvSpPr>
            <p:spPr>
              <a:xfrm>
                <a:off x="393192" y="3307270"/>
                <a:ext cx="11402568" cy="477330"/>
              </a:xfrm>
              <a:prstGeom prst="rect">
                <a:avLst/>
              </a:prstGeom>
              <a:noFill/>
              <a:ln/>
            </p:spPr>
            <p:txBody>
              <a:bodyPr wrap="none" lIns="0" tIns="0" rIns="0" bIns="0" rtlCol="0" anchor="t"/>
              <a:lstStyle/>
              <a:p>
                <a:pPr latinLnBrk="1">
                  <a:lnSpc>
                    <a:spcPts val="4300"/>
                  </a:lnSpc>
                  <a:tabLst>
                    <a:tab pos="2792852" algn="l"/>
                    <a:tab pos="5725404" algn="l"/>
                    <a:tab pos="8657956"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60</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m</m:t>
                        </m:r>
                      </m:e>
                      <m:sup>
                        <m:r>
                          <a:rPr lang="en-US" altLang="zh-CN" sz="2400" b="0" i="0">
                            <a:solidFill>
                              <a:srgbClr val="000000"/>
                            </a:solidFill>
                            <a:latin typeface="Cambria Math" pitchFamily="34" charset="0"/>
                            <a:ea typeface="Cambria Math" pitchFamily="34" charset="-122"/>
                            <a:cs typeface="Cambria Math" pitchFamily="34" charset="-120"/>
                          </a:rPr>
                          <m:t>3</m:t>
                        </m:r>
                      </m:sup>
                    </m:sSup>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200</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m</m:t>
                        </m:r>
                      </m:e>
                      <m:sup>
                        <m:r>
                          <a:rPr lang="en-US" altLang="zh-CN" sz="2400" b="0" i="0">
                            <a:solidFill>
                              <a:srgbClr val="000000"/>
                            </a:solidFill>
                            <a:latin typeface="Cambria Math" pitchFamily="34" charset="0"/>
                            <a:ea typeface="Cambria Math" pitchFamily="34" charset="-122"/>
                            <a:cs typeface="Cambria Math" pitchFamily="34" charset="-120"/>
                          </a:rPr>
                          <m:t>3</m:t>
                        </m:r>
                      </m:sup>
                    </m:sSup>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250</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m</m:t>
                        </m:r>
                      </m:e>
                      <m:sup>
                        <m:r>
                          <a:rPr lang="en-US" altLang="zh-CN" sz="2400" b="0" i="0">
                            <a:solidFill>
                              <a:srgbClr val="000000"/>
                            </a:solidFill>
                            <a:latin typeface="Cambria Math" pitchFamily="34" charset="0"/>
                            <a:ea typeface="Cambria Math" pitchFamily="34" charset="-122"/>
                            <a:cs typeface="Cambria Math" pitchFamily="34" charset="-120"/>
                          </a:rPr>
                          <m:t>3</m:t>
                        </m:r>
                      </m:sup>
                    </m:sSup>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500</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m</m:t>
                        </m:r>
                      </m:e>
                      <m:sup>
                        <m:r>
                          <a:rPr lang="en-US" altLang="zh-CN" sz="2400" b="0" i="0">
                            <a:solidFill>
                              <a:srgbClr val="000000"/>
                            </a:solidFill>
                            <a:latin typeface="Cambria Math" pitchFamily="34" charset="0"/>
                            <a:ea typeface="Cambria Math" pitchFamily="34" charset="-122"/>
                            <a:cs typeface="Cambria Math" pitchFamily="34" charset="-120"/>
                          </a:rPr>
                          <m:t>3</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3_3#d7dc8c857.choices?vcp=1&amp;pid=a7196600e&amp;color=0,0,0&amp;vtp=1&amp;bbb=1"/>
              <p:cNvSpPr>
                <a:spLocks noRot="1" noChangeAspect="1" noMove="1" noResize="1" noEditPoints="1" noAdjustHandles="1" noChangeArrowheads="1" noChangeShapeType="1" noTextEdit="1"/>
              </p:cNvSpPr>
              <p:nvPr/>
            </p:nvSpPr>
            <p:spPr>
              <a:xfrm>
                <a:off x="393192" y="3307270"/>
                <a:ext cx="11402568" cy="477330"/>
              </a:xfrm>
              <a:prstGeom prst="rect">
                <a:avLst/>
              </a:prstGeom>
              <a:blipFill>
                <a:blip r:embed="rId4"/>
                <a:stretch>
                  <a:fillRect l="-1658" b="-39744"/>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AS.5_1#d7dc8c857?vcp=1&amp;pid=a7196600e&amp;color=0,0,0&amp;vtp=1&amp;bbb=1&amp;hb=1"/>
              <p:cNvSpPr/>
              <p:nvPr/>
            </p:nvSpPr>
            <p:spPr>
              <a:xfrm>
                <a:off x="393192" y="3795521"/>
                <a:ext cx="11402568" cy="22987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根据这堆沙子的底部周长为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𝟑𝟏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可知，利用圆的周长公式</a:t>
                </a:r>
                <a:r>
                  <a:rPr lang="en-US" altLang="zh-CN" sz="2400" b="1" i="0">
                    <a:solidFill>
                      <a:srgbClr val="FF0000"/>
                    </a:solidFill>
                    <a:latin typeface="Times New Roman" pitchFamily="34" charset="0"/>
                    <a:ea typeface="微软雅黑" pitchFamily="34" charset="-122"/>
                    <a:cs typeface="Times New Roman" pitchFamily="34" charset="-120"/>
                  </a:rPr>
                  <a:t>，可求得沙堆的</a:t>
                </a: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圆锥底面半径</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𝑹</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𝒄</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𝛑</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𝟑𝟏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num>
                      <m:den>
                        <m:r>
                          <a:rPr lang="en-US" altLang="zh-CN" sz="2400" b="1" i="1">
                            <a:solidFill>
                              <a:srgbClr val="FF0000"/>
                            </a:solidFill>
                            <a:latin typeface="Cambria Math" pitchFamily="34" charset="0"/>
                            <a:ea typeface="Cambria Math" pitchFamily="34" charset="-122"/>
                            <a:cs typeface="Cambria Math" pitchFamily="34" charset="-120"/>
                          </a:rPr>
                          <m:t>𝟔</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𝟐𝟖</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.根据沙子之间的动摩擦因数为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，由</a:t>
                </a:r>
              </a:p>
              <a:p>
                <a:pPr latinLnBrk="1">
                  <a:lnSpc>
                    <a:spcPts val="47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可得</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𝒉</m:t>
                        </m:r>
                      </m:num>
                      <m:den>
                        <m:r>
                          <a:rPr lang="en-US" altLang="zh-CN" sz="2400" b="1" i="1">
                            <a:solidFill>
                              <a:srgbClr val="FF0000"/>
                            </a:solidFill>
                            <a:latin typeface="Cambria Math" pitchFamily="34" charset="0"/>
                            <a:ea typeface="Cambria Math" pitchFamily="34" charset="-122"/>
                            <a:cs typeface="Cambria Math" pitchFamily="34" charset="-120"/>
                          </a:rPr>
                          <m:t>𝑹</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oMath>
                </a14:m>
                <a:r>
                  <a:rPr lang="en-US" altLang="zh-CN" sz="2400" b="1" i="0" dirty="0">
                    <a:solidFill>
                      <a:srgbClr val="FF0000"/>
                    </a:solidFill>
                    <a:latin typeface="Times New Roman" pitchFamily="34" charset="0"/>
                    <a:ea typeface="微软雅黑" pitchFamily="34" charset="-122"/>
                    <a:cs typeface="Times New Roman" pitchFamily="34" charset="-120"/>
                  </a:rPr>
                  <a:t>，所以沙堆的高度</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.则这堆</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沙子的体积为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𝑽</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𝟑</m:t>
                        </m:r>
                      </m:den>
                    </m:f>
                    <m:r>
                      <a:rPr lang="en-US" altLang="zh-CN" sz="2400" b="1" i="0">
                        <a:solidFill>
                          <a:srgbClr val="FF0000"/>
                        </a:solidFill>
                        <a:latin typeface="Cambria Math" pitchFamily="34" charset="0"/>
                        <a:ea typeface="Cambria Math" pitchFamily="34" charset="-122"/>
                        <a:cs typeface="Cambria Math" pitchFamily="34" charset="-120"/>
                      </a:rPr>
                      <m:t>𝛑</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𝑹</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1">
                        <a:solidFill>
                          <a:srgbClr val="FF0000"/>
                        </a:solidFill>
                        <a:latin typeface="Cambria Math" pitchFamily="34" charset="0"/>
                        <a:ea typeface="Cambria Math" pitchFamily="34" charset="-122"/>
                        <a:cs typeface="Cambria Math" pitchFamily="34" charset="-120"/>
                      </a:rPr>
                      <m:t>𝒉</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𝟑</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𝟏𝟒</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𝟓</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𝐦</m:t>
                        </m:r>
                      </m:e>
                      <m:sup>
                        <m:r>
                          <a:rPr lang="en-US" altLang="zh-CN" sz="2400" b="1" i="1">
                            <a:solidFill>
                              <a:srgbClr val="FF0000"/>
                            </a:solidFill>
                            <a:latin typeface="Cambria Math" pitchFamily="34" charset="0"/>
                            <a:ea typeface="Cambria Math" pitchFamily="34" charset="-122"/>
                            <a:cs typeface="Cambria Math" pitchFamily="34" charset="-120"/>
                          </a:rPr>
                          <m:t>𝟑</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𝟔𝟑</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𝐦</m:t>
                        </m:r>
                      </m:e>
                      <m:sup>
                        <m:r>
                          <a:rPr lang="en-US" altLang="zh-CN" sz="2400" b="1" i="1">
                            <a:solidFill>
                              <a:srgbClr val="FF0000"/>
                            </a:solidFill>
                            <a:latin typeface="Cambria Math" pitchFamily="34" charset="0"/>
                            <a:ea typeface="Cambria Math" pitchFamily="34" charset="-122"/>
                            <a:cs typeface="Cambria Math" pitchFamily="34" charset="-120"/>
                          </a:rPr>
                          <m:t>𝟑</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，故A正确.</a:t>
                </a:r>
                <a:endParaRPr lang="en-US" altLang="zh-CN" sz="2400" dirty="0"/>
              </a:p>
            </p:txBody>
          </p:sp>
        </mc:Choice>
        <mc:Fallback>
          <p:sp>
            <p:nvSpPr>
              <p:cNvPr id="6" name="QC_4_AS.5_1#d7dc8c857?vcp=1&amp;pid=a7196600e&amp;color=0,0,0&amp;vtp=1&amp;bbb=1&amp;hb=1"/>
              <p:cNvSpPr>
                <a:spLocks noRot="1" noChangeAspect="1" noMove="1" noResize="1" noEditPoints="1" noAdjustHandles="1" noChangeArrowheads="1" noChangeShapeType="1" noTextEdit="1"/>
              </p:cNvSpPr>
              <p:nvPr/>
            </p:nvSpPr>
            <p:spPr>
              <a:xfrm>
                <a:off x="393192" y="3795521"/>
                <a:ext cx="11402568" cy="2298700"/>
              </a:xfrm>
              <a:prstGeom prst="rect">
                <a:avLst/>
              </a:prstGeom>
              <a:blipFill>
                <a:blip r:embed="rId5"/>
                <a:stretch>
                  <a:fillRect l="-1658" r="-1070" b="-450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QC_4_BD.3_2#d7dc8c857?htil=2&amp;vcp=1&amp;pid=a7196600e&amp;color=0,0,0&amp;vtp=1&amp;bt=1&amp;bbb=1&amp;hb=1&amp;hs=1">
                <a:extLst>
                  <a:ext uri="{FF2B5EF4-FFF2-40B4-BE49-F238E27FC236}">
                    <a16:creationId xmlns:a16="http://schemas.microsoft.com/office/drawing/2014/main" id="{95F4CB3B-B692-D551-87FB-DFBFCB2FE886}"/>
                  </a:ext>
                </a:extLst>
              </p:cNvPr>
              <p:cNvSpPr/>
              <p:nvPr/>
            </p:nvSpPr>
            <p:spPr>
              <a:xfrm>
                <a:off x="393192" y="2211196"/>
                <a:ext cx="11400008" cy="1033399"/>
              </a:xfrm>
              <a:prstGeom prst="rect">
                <a:avLst/>
              </a:prstGeom>
              <a:noFill/>
              <a:ln/>
            </p:spPr>
            <p:txBody>
              <a:bodyPr wrap="none" lIns="0" tIns="0" rIns="0" bIns="0" rtlCol="0" anchor="t"/>
              <a:lstStyle/>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小明测出这堆沙子的底部周长为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31.4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a:solidFill>
                      <a:srgbClr val="000000"/>
                    </a:solidFill>
                    <a:latin typeface="Times New Roman" pitchFamily="34" charset="0"/>
                    <a:ea typeface="微软雅黑" pitchFamily="34" charset="-122"/>
                    <a:cs typeface="Times New Roman" pitchFamily="34" charset="-120"/>
                  </a:rPr>
                  <a:t>，利用物理知识测得沙子之间的摩擦因数为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0.5</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估算出这堆沙子的体积最接近 (</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7" name="QC_4_BD.3_2#d7dc8c857?htil=2&amp;vcp=1&amp;pid=a7196600e&amp;color=0,0,0&amp;vtp=1&amp;bt=1&amp;bbb=1&amp;hb=1&amp;hs=1">
                <a:extLst>
                  <a:ext uri="{FF2B5EF4-FFF2-40B4-BE49-F238E27FC236}">
                    <a16:creationId xmlns:a16="http://schemas.microsoft.com/office/drawing/2014/main" id="{95F4CB3B-B692-D551-87FB-DFBFCB2FE886}"/>
                  </a:ext>
                </a:extLst>
              </p:cNvPr>
              <p:cNvSpPr>
                <a:spLocks noRot="1" noChangeAspect="1" noMove="1" noResize="1" noEditPoints="1" noAdjustHandles="1" noChangeArrowheads="1" noChangeShapeType="1" noTextEdit="1"/>
              </p:cNvSpPr>
              <p:nvPr/>
            </p:nvSpPr>
            <p:spPr>
              <a:xfrm>
                <a:off x="393192" y="2211196"/>
                <a:ext cx="11400008" cy="1033399"/>
              </a:xfrm>
              <a:prstGeom prst="rect">
                <a:avLst/>
              </a:prstGeom>
              <a:blipFill>
                <a:blip r:embed="rId6"/>
                <a:stretch>
                  <a:fillRect l="-1658" r="-3797" b="-1775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p:pic>
        <p:nvPicPr>
          <p:cNvPr id="2" name="C_3#4c2f04863?vcp=1&amp;pid=81db1c6d2&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4c2f04863?vcp=1&amp;pid=81db1c6d2&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4c2f04863?vcp=1&amp;pid=81db1c6d2&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5" name="C_3_BD#4c2f04863?vcp=1&amp;pid=81db1c6d2&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图解法求解临界与极值问题</a:t>
            </a:r>
            <a:endParaRPr lang="en-US" altLang="zh-CN" sz="2600" dirty="0"/>
          </a:p>
        </p:txBody>
      </p:sp>
      <mc:AlternateContent xmlns:mc="http://schemas.openxmlformats.org/markup-compatibility/2006">
        <mc:Choice xmlns:a14="http://schemas.microsoft.com/office/drawing/2010/main" Requires="a14">
          <p:sp>
            <p:nvSpPr>
              <p:cNvPr id="6" name="QC_4_BD.6_1#661707603?vcp=1&amp;pid=4c2f04863&amp;color=0,0,0&amp;vtp=1&amp;bbb=1&amp;hb=1"/>
              <p:cNvSpPr/>
              <p:nvPr/>
            </p:nvSpPr>
            <p:spPr>
              <a:xfrm>
                <a:off x="393192" y="965200"/>
                <a:ext cx="11402568" cy="2830449"/>
              </a:xfrm>
              <a:prstGeom prst="rect">
                <a:avLst/>
              </a:prstGeom>
              <a:noFill/>
              <a:ln/>
            </p:spPr>
            <p:txBody>
              <a:bodyPr wrap="none" lIns="0" tIns="0" rIns="0" bIns="0" rtlCol="0" anchor="t"/>
              <a:lstStyle/>
              <a:p>
                <a:pPr algn="l" latinLnBrk="1">
                  <a:lnSpc>
                    <a:spcPts val="3800"/>
                  </a:lnSpc>
                </a:pPr>
                <a:r>
                  <a:rPr lang="en-US" altLang="zh-CN" sz="2400" b="1" i="0" dirty="0">
                    <a:solidFill>
                      <a:srgbClr val="0070C0"/>
                    </a:solidFill>
                    <a:latin typeface="Times New Roman" pitchFamily="34" charset="0"/>
                    <a:ea typeface="微软雅黑" pitchFamily="34" charset="-122"/>
                    <a:cs typeface="Times New Roman" pitchFamily="34" charset="-120"/>
                  </a:rPr>
                  <a:t>例2</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[2026⋅</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鄂东南高一检测］（多选题）如图所示，倾角为</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30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、质量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𝑀</m:t>
                    </m:r>
                    <m:r>
                      <a:rPr lang="en-US" altLang="zh-CN" sz="2400" b="0" i="0">
                        <a:solidFill>
                          <a:srgbClr val="000000"/>
                        </a:solidFill>
                        <a:latin typeface="Cambria Math" pitchFamily="34" charset="0"/>
                        <a:ea typeface="Cambria Math" pitchFamily="34" charset="-122"/>
                        <a:cs typeface="Cambria Math" pitchFamily="34" charset="-120"/>
                      </a:rPr>
                      <m:t>=6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的斜</a:t>
                </a:r>
              </a:p>
              <a:p>
                <a:pPr latinLnBrk="1">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面体</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2400" b="0" i="0" dirty="0">
                    <a:solidFill>
                      <a:srgbClr val="000000"/>
                    </a:solidFill>
                    <a:latin typeface="Times New Roman" pitchFamily="34" charset="0"/>
                    <a:ea typeface="微软雅黑" pitchFamily="34" charset="-122"/>
                    <a:cs typeface="Times New Roman" pitchFamily="34" charset="-120"/>
                  </a:rPr>
                  <a:t>置于粗糙水平地面上，质量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2400" b="0" i="0" dirty="0">
                    <a:solidFill>
                      <a:srgbClr val="000000"/>
                    </a:solidFill>
                    <a:latin typeface="Times New Roman" pitchFamily="34" charset="0"/>
                    <a:ea typeface="微软雅黑" pitchFamily="34" charset="-122"/>
                    <a:cs typeface="Times New Roman" pitchFamily="34" charset="-120"/>
                  </a:rPr>
                  <a:t>的小物块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放在粗糙斜面上，连接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的轻绳</a:t>
                </a:r>
              </a:p>
              <a:p>
                <a:pPr latinLnBrk="1">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与斜面平行</a:t>
                </a:r>
                <a:r>
                  <a:rPr lang="en-US" altLang="zh-CN" sz="2400" b="0" i="0" dirty="0">
                    <a:solidFill>
                      <a:srgbClr val="000000"/>
                    </a:solidFill>
                    <a:latin typeface="Times New Roman" pitchFamily="34" charset="0"/>
                    <a:ea typeface="微软雅黑" pitchFamily="34" charset="-122"/>
                    <a:cs typeface="Times New Roman" pitchFamily="34" charset="-120"/>
                  </a:rPr>
                  <a:t>，轻绳跨过光滑轻质小滑轮</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2400" b="0" i="0" dirty="0">
                    <a:solidFill>
                      <a:srgbClr val="000000"/>
                    </a:solidFill>
                    <a:latin typeface="Times New Roman" pitchFamily="34" charset="0"/>
                    <a:ea typeface="微软雅黑" pitchFamily="34" charset="-122"/>
                    <a:cs typeface="Times New Roman" pitchFamily="34" charset="-120"/>
                  </a:rPr>
                  <a:t>与质量为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𝐴</m:t>
                        </m:r>
                      </m:sub>
                    </m:sSub>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2400" b="0" i="0" dirty="0">
                    <a:solidFill>
                      <a:srgbClr val="000000"/>
                    </a:solidFill>
                    <a:latin typeface="Times New Roman" pitchFamily="34" charset="0"/>
                    <a:ea typeface="微软雅黑" pitchFamily="34" charset="-122"/>
                    <a:cs typeface="Times New Roman" pitchFamily="34" charset="-120"/>
                  </a:rPr>
                  <a:t>的物块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相连.开始时</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静</a:t>
                </a:r>
              </a:p>
              <a:p>
                <a:pPr latinLnBrk="1">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止在滑轮正下方</a:t>
                </a:r>
                <a:r>
                  <a:rPr lang="en-US" altLang="zh-CN" sz="2400" b="0" i="0" dirty="0">
                    <a:solidFill>
                      <a:srgbClr val="000000"/>
                    </a:solidFill>
                    <a:latin typeface="Times New Roman" pitchFamily="34" charset="0"/>
                    <a:ea typeface="微软雅黑" pitchFamily="34" charset="-122"/>
                    <a:cs typeface="Times New Roman" pitchFamily="34" charset="-120"/>
                  </a:rPr>
                  <a:t>，现对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施加一个拉力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缓慢移动，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与连接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的轻绳</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的夹角始</a:t>
                </a:r>
              </a:p>
              <a:p>
                <a:pPr latinLnBrk="1">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终为</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120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，直至轻绳</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水平.此过程中</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2400" b="0" i="0" dirty="0">
                    <a:solidFill>
                      <a:srgbClr val="000000"/>
                    </a:solidFill>
                    <a:latin typeface="Times New Roman" pitchFamily="34" charset="0"/>
                    <a:ea typeface="微软雅黑" pitchFamily="34" charset="-122"/>
                    <a:cs typeface="Times New Roman" pitchFamily="34" charset="-120"/>
                  </a:rPr>
                  <a:t>始终保持静止状态.重力加速度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取</a:t>
                </a:r>
              </a:p>
              <a:p>
                <a:pPr latinLnBrk="1">
                  <a:lnSpc>
                    <a:spcPts val="36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则(</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6" name="QC_4_BD.6_1#661707603?vcp=1&amp;pid=4c2f04863&amp;color=0,0,0&amp;vtp=1&amp;bbb=1&amp;hb=1"/>
              <p:cNvSpPr>
                <a:spLocks noRot="1" noChangeAspect="1" noMove="1" noResize="1" noEditPoints="1" noAdjustHandles="1" noChangeArrowheads="1" noChangeShapeType="1" noTextEdit="1"/>
              </p:cNvSpPr>
              <p:nvPr/>
            </p:nvSpPr>
            <p:spPr>
              <a:xfrm>
                <a:off x="393192" y="965200"/>
                <a:ext cx="11402568" cy="2830449"/>
              </a:xfrm>
              <a:prstGeom prst="rect">
                <a:avLst/>
              </a:prstGeom>
              <a:blipFill>
                <a:blip r:embed="rId4"/>
                <a:stretch>
                  <a:fillRect l="-1658" t="-1075" r="-642" b="-6452"/>
                </a:stretch>
              </a:blipFill>
              <a:ln/>
            </p:spPr>
            <p:txBody>
              <a:bodyPr/>
              <a:lstStyle/>
              <a:p>
                <a:r>
                  <a:rPr lang="zh-CN" altLang="en-US">
                    <a:noFill/>
                  </a:rPr>
                  <a:t> </a:t>
                </a:r>
              </a:p>
            </p:txBody>
          </p:sp>
        </mc:Fallback>
      </mc:AlternateContent>
      <p:sp>
        <p:nvSpPr>
          <p:cNvPr id="7" name="QC_4_AN.7_1#661707603.bracket?vcp=1&amp;pid=4c2f04863&amp;color=0,0,0&amp;vpa=2&amp;vtp=1&amp;bbb=1"/>
          <p:cNvSpPr/>
          <p:nvPr/>
        </p:nvSpPr>
        <p:spPr>
          <a:xfrm>
            <a:off x="2337150" y="3364484"/>
            <a:ext cx="882650" cy="421450"/>
          </a:xfrm>
          <a:prstGeom prst="rect">
            <a:avLst/>
          </a:prstGeom>
          <a:noFill/>
          <a:ln/>
        </p:spPr>
        <p:txBody>
          <a:bodyPr wrap="none" lIns="0" tIns="0" rIns="0" bIns="0" rtlCol="0" anchor="t"/>
          <a:lstStyle/>
          <a:p>
            <a:pPr algn="ctr" latinLnBrk="1">
              <a:lnSpc>
                <a:spcPts val="3600"/>
              </a:lnSpc>
            </a:pPr>
            <a:r>
              <a:rPr lang="en-US" altLang="zh-CN" sz="2400" b="1" i="0" dirty="0">
                <a:solidFill>
                  <a:srgbClr val="FF0000"/>
                </a:solidFill>
                <a:latin typeface="Times New Roman" pitchFamily="34" charset="0"/>
                <a:ea typeface="微软雅黑" pitchFamily="34" charset="-122"/>
                <a:cs typeface="Times New Roman" pitchFamily="34" charset="-120"/>
              </a:rPr>
              <a:t>ACD</a:t>
            </a:r>
            <a:endParaRPr lang="en-US" altLang="zh-CN" sz="2400" dirty="0"/>
          </a:p>
        </p:txBody>
      </p:sp>
      <p:pic>
        <p:nvPicPr>
          <p:cNvPr id="8" name="QC_4_BD.6_2#661707603?htil=3&amp;vcp=1&amp;pid=4c2f04863&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8942832" y="3366135"/>
            <a:ext cx="2834640" cy="165506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9" name="QC_4_BD.6_3#661707603.choices?htil=3&amp;vcp=1&amp;pid=4c2f04863&amp;color=0,0,0&amp;vtp=1&amp;bbb=1"/>
              <p:cNvSpPr/>
              <p:nvPr/>
            </p:nvSpPr>
            <p:spPr>
              <a:xfrm>
                <a:off x="393192" y="3784600"/>
                <a:ext cx="8430768" cy="2225548"/>
              </a:xfrm>
              <a:prstGeom prst="rect">
                <a:avLst/>
              </a:prstGeom>
              <a:noFill/>
              <a:ln/>
            </p:spPr>
            <p:txBody>
              <a:bodyPr wrap="none" lIns="0" tIns="0" rIns="0" bIns="0" rtlCol="0" anchor="t"/>
              <a:lstStyle/>
              <a:p>
                <a:pPr algn="l" latinLnBrk="1">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A.开始时，</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所受摩擦力大小为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6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水平时，轻绳拉力大小为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10</m:t>
                        </m:r>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r>
                              <a:rPr lang="en-US" altLang="zh-CN" sz="2400" b="0" i="0">
                                <a:solidFill>
                                  <a:srgbClr val="000000"/>
                                </a:solidFill>
                                <a:latin typeface="Cambria Math" pitchFamily="34" charset="0"/>
                                <a:ea typeface="Cambria Math" pitchFamily="34" charset="-122"/>
                                <a:cs typeface="Cambria Math" pitchFamily="34" charset="-120"/>
                              </a:rPr>
                              <m:t>3</m:t>
                            </m:r>
                          </m:e>
                        </m:rad>
                      </m:num>
                      <m:den>
                        <m:r>
                          <a:rPr lang="en-US" altLang="zh-CN" sz="2400" b="0" i="0">
                            <a:solidFill>
                              <a:srgbClr val="000000"/>
                            </a:solidFill>
                            <a:latin typeface="Cambria Math" pitchFamily="34" charset="0"/>
                            <a:ea typeface="Cambria Math" pitchFamily="34" charset="-122"/>
                            <a:cs typeface="Cambria Math" pitchFamily="34" charset="-120"/>
                          </a:rPr>
                          <m:t>3</m:t>
                        </m:r>
                      </m:den>
                    </m:f>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6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水平时，地面对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2400" b="0" i="0" dirty="0">
                    <a:solidFill>
                      <a:srgbClr val="000000"/>
                    </a:solidFill>
                    <a:latin typeface="Times New Roman" pitchFamily="34" charset="0"/>
                    <a:ea typeface="微软雅黑" pitchFamily="34" charset="-122"/>
                    <a:cs typeface="Times New Roman" pitchFamily="34" charset="-120"/>
                  </a:rPr>
                  <a:t>的支持力大小为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(110−</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10</m:t>
                        </m:r>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r>
                              <a:rPr lang="en-US" altLang="zh-CN" sz="2400" b="0" i="0">
                                <a:solidFill>
                                  <a:srgbClr val="000000"/>
                                </a:solidFill>
                                <a:latin typeface="Cambria Math" pitchFamily="34" charset="0"/>
                                <a:ea typeface="Cambria Math" pitchFamily="34" charset="-122"/>
                                <a:cs typeface="Cambria Math" pitchFamily="34" charset="-120"/>
                              </a:rPr>
                              <m:t>3</m:t>
                            </m:r>
                          </m:e>
                        </m:rad>
                      </m:num>
                      <m:den>
                        <m:r>
                          <a:rPr lang="en-US" altLang="zh-CN" sz="2400" b="0" i="0">
                            <a:solidFill>
                              <a:srgbClr val="000000"/>
                            </a:solidFill>
                            <a:latin typeface="Cambria Math" pitchFamily="34" charset="0"/>
                            <a:ea typeface="Cambria Math" pitchFamily="34" charset="-122"/>
                            <a:cs typeface="Cambria Math" pitchFamily="34" charset="-120"/>
                          </a:rPr>
                          <m:t>3</m:t>
                        </m:r>
                      </m:den>
                    </m:f>
                    <m:r>
                      <a:rPr lang="en-US" altLang="zh-CN" sz="2400" b="0" i="0">
                        <a:solidFill>
                          <a:srgbClr val="000000"/>
                        </a:solidFill>
                        <a:latin typeface="Cambria Math" pitchFamily="34" charset="0"/>
                        <a:ea typeface="Cambria Math" pitchFamily="34" charset="-122"/>
                        <a:cs typeface="Cambria Math" pitchFamily="34" charset="-120"/>
                      </a:rPr>
                      <m:t>)</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5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缓慢移动过程中，轻绳拉力的最大值为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40</m:t>
                        </m:r>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r>
                              <a:rPr lang="en-US" altLang="zh-CN" sz="2400" b="0" i="0">
                                <a:solidFill>
                                  <a:srgbClr val="000000"/>
                                </a:solidFill>
                                <a:latin typeface="Cambria Math" pitchFamily="34" charset="0"/>
                                <a:ea typeface="Cambria Math" pitchFamily="34" charset="-122"/>
                                <a:cs typeface="Cambria Math" pitchFamily="34" charset="-120"/>
                              </a:rPr>
                              <m:t>3</m:t>
                            </m:r>
                          </m:e>
                        </m:rad>
                      </m:num>
                      <m:den>
                        <m:r>
                          <a:rPr lang="en-US" altLang="zh-CN" sz="2400" b="0" i="0">
                            <a:solidFill>
                              <a:srgbClr val="000000"/>
                            </a:solidFill>
                            <a:latin typeface="Cambria Math" pitchFamily="34" charset="0"/>
                            <a:ea typeface="Cambria Math" pitchFamily="34" charset="-122"/>
                            <a:cs typeface="Cambria Math" pitchFamily="34" charset="-120"/>
                          </a:rPr>
                          <m:t>3</m:t>
                        </m:r>
                      </m:den>
                    </m:f>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9" name="QC_4_BD.6_3#661707603.choices?htil=3&amp;vcp=1&amp;pid=4c2f04863&amp;color=0,0,0&amp;vtp=1&amp;bbb=1"/>
              <p:cNvSpPr>
                <a:spLocks noRot="1" noChangeAspect="1" noMove="1" noResize="1" noEditPoints="1" noAdjustHandles="1" noChangeArrowheads="1" noChangeShapeType="1" noTextEdit="1"/>
              </p:cNvSpPr>
              <p:nvPr/>
            </p:nvSpPr>
            <p:spPr>
              <a:xfrm>
                <a:off x="393192" y="3784600"/>
                <a:ext cx="8430768" cy="2225548"/>
              </a:xfrm>
              <a:prstGeom prst="rect">
                <a:avLst/>
              </a:prstGeom>
              <a:blipFill>
                <a:blip r:embed="rId6"/>
                <a:stretch>
                  <a:fillRect l="-2242" t="-1370" b="-4658"/>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wipe(left)">
                                      <p:cBhvr>
                                        <p:cTn id="7" dur="500"/>
                                        <p:tgtEl>
                                          <p:spTgt spid="7">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wipe(left)">
                                      <p:cBhvr>
                                        <p:cTn id="10"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pic>
        <p:nvPicPr>
          <p:cNvPr id="2" name="QC_4_AS.8_1#661707603?htil=4&amp;vcp=1&amp;pid=4c2f04863&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130767" y="664272"/>
            <a:ext cx="2230174" cy="226346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AS.8_2#661707603?htil=4&amp;vcp=1&amp;pid=4c2f04863&amp;color=0,0,0&amp;vtp=1&amp;bt=1&amp;bbb=1&amp;hb=1&amp;hs=1"/>
              <p:cNvSpPr/>
              <p:nvPr/>
            </p:nvSpPr>
            <p:spPr>
              <a:xfrm>
                <a:off x="393192" y="618554"/>
                <a:ext cx="8202168" cy="3357499"/>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开始时，对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受力分析，</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受重力、拉力</a:t>
                </a:r>
                <a:r>
                  <a:rPr lang="en-US" altLang="zh-CN" sz="2400" b="1" i="0">
                    <a:solidFill>
                      <a:srgbClr val="FF0000"/>
                    </a:solidFill>
                    <a:latin typeface="Times New Roman" pitchFamily="34" charset="0"/>
                    <a:ea typeface="微软雅黑" pitchFamily="34" charset="-122"/>
                    <a:cs typeface="Times New Roman" pitchFamily="34" charset="-120"/>
                  </a:rPr>
                  <a:t>、支持力和摩</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擦力</a:t>
                </a:r>
                <a:r>
                  <a:rPr lang="en-US" altLang="zh-CN" sz="2400" b="1" i="0" dirty="0">
                    <a:solidFill>
                      <a:srgbClr val="FF0000"/>
                    </a:solidFill>
                    <a:latin typeface="Times New Roman" pitchFamily="34" charset="0"/>
                    <a:ea typeface="微软雅黑" pitchFamily="34" charset="-122"/>
                    <a:cs typeface="Times New Roman" pitchFamily="34" charset="-120"/>
                  </a:rPr>
                  <a:t>，合力为0，拉力为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𝑨</m:t>
                        </m:r>
                      </m:sub>
                    </m:sSub>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所受摩擦力大小为</a:t>
                </a:r>
              </a:p>
              <a:p>
                <a:pPr latinLnBrk="1">
                  <a:lnSpc>
                    <a:spcPts val="44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𝒇</m:t>
                        </m:r>
                      </m:e>
                      <m:sub>
                        <m:r>
                          <a:rPr lang="en-US" altLang="zh-CN" sz="2400" b="1" i="1">
                            <a:solidFill>
                              <a:srgbClr val="FF0000"/>
                            </a:solidFill>
                            <a:latin typeface="Cambria Math" pitchFamily="34" charset="0"/>
                            <a:ea typeface="Cambria Math" pitchFamily="34" charset="-122"/>
                            <a:cs typeface="Cambria Math" pitchFamily="34" charset="-120"/>
                          </a:rPr>
                          <m:t>𝑩</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2400" b="1" i="0" dirty="0">
                    <a:solidFill>
                      <a:srgbClr val="FF0000"/>
                    </a:solidFill>
                    <a:latin typeface="Times New Roman" pitchFamily="34" charset="0"/>
                    <a:ea typeface="微软雅黑" pitchFamily="34" charset="-122"/>
                    <a:cs typeface="Times New Roman" pitchFamily="34" charset="-120"/>
                  </a:rPr>
                  <a:t>，联立解得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𝒇</m:t>
                        </m:r>
                      </m:e>
                      <m:sub>
                        <m:r>
                          <a:rPr lang="en-US" altLang="zh-CN" sz="2400" b="1" i="1">
                            <a:solidFill>
                              <a:srgbClr val="FF0000"/>
                            </a:solidFill>
                            <a:latin typeface="Cambria Math" pitchFamily="34" charset="0"/>
                            <a:ea typeface="Cambria Math" pitchFamily="34" charset="-122"/>
                            <a:cs typeface="Cambria Math" pitchFamily="34" charset="-120"/>
                          </a:rPr>
                          <m:t>𝑩</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，故A正确；</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水</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平时</a:t>
                </a:r>
                <a:r>
                  <a:rPr lang="en-US" altLang="zh-CN" sz="2400" b="1" i="0" dirty="0">
                    <a:solidFill>
                      <a:srgbClr val="FF0000"/>
                    </a:solidFill>
                    <a:latin typeface="Times New Roman" pitchFamily="34" charset="0"/>
                    <a:ea typeface="微软雅黑" pitchFamily="34" charset="-122"/>
                    <a:cs typeface="Times New Roman" pitchFamily="34" charset="-120"/>
                  </a:rPr>
                  <a:t>，物块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的受力示意图如图1，有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𝑨</m:t>
                        </m:r>
                      </m:sub>
                    </m:sSub>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5100"/>
                  </a:lnSpc>
                </a:pPr>
                <a:r>
                  <a:rPr lang="en-US" altLang="zh-CN" sz="2400" b="1" i="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𝟐𝟎</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num>
                      <m:den>
                        <m:r>
                          <a:rPr lang="en-US" altLang="zh-CN" sz="2400" b="1" i="1">
                            <a:solidFill>
                              <a:srgbClr val="FF0000"/>
                            </a:solidFill>
                            <a:latin typeface="Cambria Math" pitchFamily="34" charset="0"/>
                            <a:ea typeface="Cambria Math" pitchFamily="34" charset="-122"/>
                            <a:cs typeface="Cambria Math" pitchFamily="34" charset="-120"/>
                          </a:rPr>
                          <m:t>𝟑</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，故B错误；</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𝑶𝑨</m:t>
                    </m:r>
                  </m:oMath>
                </a14:m>
                <a:r>
                  <a:rPr lang="en-US" altLang="zh-CN" sz="2400" b="1" i="0" dirty="0">
                    <a:solidFill>
                      <a:srgbClr val="FF0000"/>
                    </a:solidFill>
                    <a:latin typeface="Times New Roman" pitchFamily="34" charset="0"/>
                    <a:ea typeface="微软雅黑" pitchFamily="34" charset="-122"/>
                    <a:cs typeface="Times New Roman" pitchFamily="34" charset="-120"/>
                  </a:rPr>
                  <a:t>水平时，以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𝑪</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作为整体，</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其受力示意图如图</a:t>
                </a:r>
                <a:r>
                  <a:rPr lang="en-US" altLang="zh-CN" sz="2400" b="1" i="0" dirty="0">
                    <a:solidFill>
                      <a:srgbClr val="FF0000"/>
                    </a:solidFill>
                    <a:latin typeface="Times New Roman" pitchFamily="34" charset="0"/>
                    <a:ea typeface="微软雅黑" pitchFamily="34" charset="-122"/>
                    <a:cs typeface="Times New Roman" pitchFamily="34" charset="-120"/>
                  </a:rPr>
                  <a:t>2，有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𝑴</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，解</a:t>
                </a:r>
                <a:endParaRPr lang="en-US" altLang="zh-CN" sz="2400" dirty="0"/>
              </a:p>
            </p:txBody>
          </p:sp>
        </mc:Choice>
        <mc:Fallback>
          <p:sp>
            <p:nvSpPr>
              <p:cNvPr id="3" name="QC_4_AS.8_2#661707603?htil=4&amp;vcp=1&amp;pid=4c2f04863&amp;color=0,0,0&amp;vtp=1&amp;bt=1&amp;bbb=1&amp;hb=1&amp;hs=1"/>
              <p:cNvSpPr>
                <a:spLocks noRot="1" noChangeAspect="1" noMove="1" noResize="1" noEditPoints="1" noAdjustHandles="1" noChangeArrowheads="1" noChangeShapeType="1" noTextEdit="1"/>
              </p:cNvSpPr>
              <p:nvPr/>
            </p:nvSpPr>
            <p:spPr>
              <a:xfrm>
                <a:off x="393192" y="618554"/>
                <a:ext cx="8202168" cy="3357499"/>
              </a:xfrm>
              <a:prstGeom prst="rect">
                <a:avLst/>
              </a:prstGeom>
              <a:blipFill>
                <a:blip r:embed="rId4"/>
                <a:stretch>
                  <a:fillRect l="-2305" r="-3271" b="-5626"/>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QC_4_AS.8_2#661707603?htil=4&amp;vcp=1&amp;pid=4c2f04863&amp;color=0,0,0&amp;vtp=1&amp;bt=1&amp;bbb=1&amp;hb=1&amp;hs=1">
                <a:extLst>
                  <a:ext uri="{FF2B5EF4-FFF2-40B4-BE49-F238E27FC236}">
                    <a16:creationId xmlns:a16="http://schemas.microsoft.com/office/drawing/2014/main" id="{66901B2E-B84F-7CE7-5BEA-EBC023E92B58}"/>
                  </a:ext>
                </a:extLst>
              </p:cNvPr>
              <p:cNvSpPr/>
              <p:nvPr/>
            </p:nvSpPr>
            <p:spPr>
              <a:xfrm>
                <a:off x="393192" y="3946334"/>
                <a:ext cx="11400008" cy="2324100"/>
              </a:xfrm>
              <a:prstGeom prst="rect">
                <a:avLst/>
              </a:prstGeom>
              <a:noFill/>
              <a:ln/>
            </p:spPr>
            <p:txBody>
              <a:bodyPr wrap="none" lIns="0" tIns="0" rIns="0" bIns="0" rtlCol="0" anchor="t"/>
              <a:lstStyle/>
              <a:p>
                <a:pPr latinLnBrk="1">
                  <a:lnSpc>
                    <a:spcPts val="5100"/>
                  </a:lnSpc>
                </a:pPr>
                <a:r>
                  <a:rPr lang="en-US" altLang="zh-CN" sz="2400" b="1" i="0">
                    <a:solidFill>
                      <a:srgbClr val="FF0000"/>
                    </a:solidFill>
                    <a:latin typeface="Times New Roman" pitchFamily="34" charset="0"/>
                    <a:ea typeface="微软雅黑" pitchFamily="34" charset="-122"/>
                    <a:cs typeface="Times New Roman" pitchFamily="34" charset="-120"/>
                  </a:rPr>
                  <a:t>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𝟏𝟏𝟎</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𝟏𝟎</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num>
                      <m:den>
                        <m:r>
                          <a:rPr lang="en-US" altLang="zh-CN" sz="2400" b="1" i="1">
                            <a:solidFill>
                              <a:srgbClr val="FF0000"/>
                            </a:solidFill>
                            <a:latin typeface="Cambria Math" pitchFamily="34" charset="0"/>
                            <a:ea typeface="Cambria Math" pitchFamily="34" charset="-122"/>
                            <a:cs typeface="Cambria Math" pitchFamily="34" charset="-120"/>
                          </a:rPr>
                          <m:t>𝟑</m:t>
                        </m:r>
                      </m:den>
                    </m:f>
                    <m:r>
                      <a:rPr lang="en-US" altLang="zh-CN" sz="2400" b="1" i="0">
                        <a:solidFill>
                          <a:srgbClr val="FF0000"/>
                        </a:solidFill>
                        <a:latin typeface="Cambria Math" pitchFamily="34" charset="0"/>
                        <a:ea typeface="Cambria Math" pitchFamily="34" charset="-122"/>
                        <a:cs typeface="Cambria Math" pitchFamily="34" charset="-120"/>
                      </a:rPr>
                      <m:t>)</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，故C正确；物块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在重力、拉力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和</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轻绳拉力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作用下始终处于平衡状态</a:t>
                </a:r>
                <a:r>
                  <a:rPr lang="en-US" altLang="zh-CN" sz="2400" b="1" i="0">
                    <a:solidFill>
                      <a:srgbClr val="FF0000"/>
                    </a:solidFill>
                    <a:latin typeface="Times New Roman" pitchFamily="34" charset="0"/>
                    <a:ea typeface="微软雅黑" pitchFamily="34" charset="-122"/>
                    <a:cs typeface="Times New Roman" pitchFamily="34" charset="-120"/>
                  </a:rPr>
                  <a:t>，所以三个力的合力等于</a:t>
                </a:r>
                <a:r>
                  <a:rPr lang="en-US" altLang="zh-CN" sz="2400" b="1" i="0" dirty="0">
                    <a:solidFill>
                      <a:srgbClr val="FF0000"/>
                    </a:solidFill>
                    <a:latin typeface="Times New Roman" pitchFamily="34" charset="0"/>
                    <a:ea typeface="微软雅黑" pitchFamily="34" charset="-122"/>
                    <a:cs typeface="Times New Roman" pitchFamily="34" charset="-120"/>
                  </a:rPr>
                  <a:t>0，</a:t>
                </a:r>
                <a:r>
                  <a:rPr lang="en-US" altLang="zh-CN" sz="2400" b="1" i="0">
                    <a:solidFill>
                      <a:srgbClr val="FF0000"/>
                    </a:solidFill>
                    <a:latin typeface="Times New Roman" pitchFamily="34" charset="0"/>
                    <a:ea typeface="微软雅黑" pitchFamily="34" charset="-122"/>
                    <a:cs typeface="Times New Roman" pitchFamily="34" charset="-120"/>
                  </a:rPr>
                  <a:t>根据三角形法则，</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这三个力通过平行移动可以构成一个闭合的矢量三角形</a:t>
                </a:r>
                <a:r>
                  <a:rPr lang="en-US" altLang="zh-CN" sz="2400" b="1" i="0" dirty="0">
                    <a:solidFill>
                      <a:srgbClr val="FF0000"/>
                    </a:solidFill>
                    <a:latin typeface="Times New Roman" pitchFamily="34" charset="0"/>
                    <a:ea typeface="微软雅黑" pitchFamily="34" charset="-122"/>
                    <a:cs typeface="Times New Roman" pitchFamily="34" charset="-120"/>
                  </a:rPr>
                  <a:t>，如图3所示，在</a:t>
                </a:r>
                <a14:m>
                  <m:oMath xmlns:m="http://schemas.openxmlformats.org/officeDocument/2006/math">
                    <m:r>
                      <m:rPr>
                        <m:nor/>
                      </m:rPr>
                      <a:rPr lang="en-US" altLang="zh-CN" sz="2400" b="1" i="0">
                        <a:solidFill>
                          <a:srgbClr val="FF0000"/>
                        </a:solidFill>
                        <a:latin typeface="SimSun" pitchFamily="34" charset="0"/>
                        <a:ea typeface="SimSun" pitchFamily="34" charset="-122"/>
                        <a:cs typeface="SimSun"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𝑷𝑴𝑵</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中，</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𝑴𝑵</m:t>
                    </m:r>
                  </m:oMath>
                </a14:m>
                <a:r>
                  <a:rPr lang="en-US" altLang="zh-CN" sz="2400" b="1" i="0">
                    <a:solidFill>
                      <a:srgbClr val="FF0000"/>
                    </a:solidFill>
                    <a:latin typeface="Times New Roman" pitchFamily="34" charset="0"/>
                    <a:ea typeface="微软雅黑" pitchFamily="34" charset="-122"/>
                    <a:cs typeface="Times New Roman" pitchFamily="34" charset="-120"/>
                  </a:rPr>
                  <a:t>对应重力</a:t>
                </a:r>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𝑵𝑷</m:t>
                    </m:r>
                  </m:oMath>
                </a14:m>
                <a:r>
                  <a:rPr lang="en-US" altLang="zh-CN" sz="2400" b="1" i="0" dirty="0">
                    <a:solidFill>
                      <a:srgbClr val="FF0000"/>
                    </a:solidFill>
                    <a:latin typeface="Times New Roman" pitchFamily="34" charset="0"/>
                    <a:ea typeface="微软雅黑" pitchFamily="34" charset="-122"/>
                    <a:cs typeface="Times New Roman" pitchFamily="34" charset="-120"/>
                  </a:rPr>
                  <a:t>对应拉力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𝑷𝑴</m:t>
                    </m:r>
                  </m:oMath>
                </a14:m>
                <a:r>
                  <a:rPr lang="en-US" altLang="zh-CN" sz="2400" b="1" i="0" dirty="0">
                    <a:solidFill>
                      <a:srgbClr val="FF0000"/>
                    </a:solidFill>
                    <a:latin typeface="Times New Roman" pitchFamily="34" charset="0"/>
                    <a:ea typeface="微软雅黑" pitchFamily="34" charset="-122"/>
                    <a:cs typeface="Times New Roman" pitchFamily="34" charset="-120"/>
                  </a:rPr>
                  <a:t>对应轻绳拉力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，拉力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a:solidFill>
                      <a:srgbClr val="FF0000"/>
                    </a:solidFill>
                    <a:latin typeface="Times New Roman" pitchFamily="34" charset="0"/>
                    <a:ea typeface="微软雅黑" pitchFamily="34" charset="-122"/>
                    <a:cs typeface="Times New Roman" pitchFamily="34" charset="-120"/>
                  </a:rPr>
                  <a:t>与轻绳拉力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之间的夹角</a:t>
                </a:r>
              </a:p>
              <a:p>
                <a:pPr latinLnBrk="1">
                  <a:lnSpc>
                    <a:spcPct val="150000"/>
                  </a:lnSpc>
                </a:pPr>
                <a:endParaRPr lang="en-US" altLang="zh-CN" sz="2400" dirty="0"/>
              </a:p>
            </p:txBody>
          </p:sp>
        </mc:Choice>
        <mc:Fallback>
          <p:sp>
            <p:nvSpPr>
              <p:cNvPr id="4" name="QC_4_AS.8_2#661707603?htil=4&amp;vcp=1&amp;pid=4c2f04863&amp;color=0,0,0&amp;vtp=1&amp;bt=1&amp;bbb=1&amp;hb=1&amp;hs=1">
                <a:extLst>
                  <a:ext uri="{FF2B5EF4-FFF2-40B4-BE49-F238E27FC236}">
                    <a16:creationId xmlns:a16="http://schemas.microsoft.com/office/drawing/2014/main" id="{66901B2E-B84F-7CE7-5BEA-EBC023E92B58}"/>
                  </a:ext>
                </a:extLst>
              </p:cNvPr>
              <p:cNvSpPr>
                <a:spLocks noRot="1" noChangeAspect="1" noMove="1" noResize="1" noEditPoints="1" noAdjustHandles="1" noChangeArrowheads="1" noChangeShapeType="1" noTextEdit="1"/>
              </p:cNvSpPr>
              <p:nvPr/>
            </p:nvSpPr>
            <p:spPr>
              <a:xfrm>
                <a:off x="393192" y="3946334"/>
                <a:ext cx="11400008" cy="2324100"/>
              </a:xfrm>
              <a:prstGeom prst="rect">
                <a:avLst/>
              </a:prstGeom>
              <a:blipFill>
                <a:blip r:embed="rId5"/>
                <a:stretch>
                  <a:fillRect l="-1658" r="-1390" b="-497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left)">
                                      <p:cBhvr>
                                        <p:cTn id="10" dur="500"/>
                                        <p:tgtEl>
                                          <p:spTgt spid="3">
                                            <p:bg/>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left)">
                                      <p:cBhvr>
                                        <p:cTn id="28" dur="500"/>
                                        <p:tgtEl>
                                          <p:spTgt spid="3">
                                            <p:txEl>
                                              <p:pRg st="5" end="5"/>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
                                            <p:bg/>
                                          </p:spTgt>
                                        </p:tgtEl>
                                        <p:attrNameLst>
                                          <p:attrName>style.visibility</p:attrName>
                                        </p:attrNameLst>
                                      </p:cBhvr>
                                      <p:to>
                                        <p:strVal val="visible"/>
                                      </p:to>
                                    </p:set>
                                    <p:animEffect transition="in" filter="wipe(left)">
                                      <p:cBhvr>
                                        <p:cTn id="31" dur="500"/>
                                        <p:tgtEl>
                                          <p:spTgt spid="4">
                                            <p:bg/>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wipe(left)">
                                      <p:cBhvr>
                                        <p:cTn id="34" dur="500"/>
                                        <p:tgtEl>
                                          <p:spTgt spid="4">
                                            <p:txEl>
                                              <p:pRg st="0" end="0"/>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wipe(left)">
                                      <p:cBhvr>
                                        <p:cTn id="37" dur="500"/>
                                        <p:tgtEl>
                                          <p:spTgt spid="4">
                                            <p:txEl>
                                              <p:pRg st="1" end="1"/>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4">
                                            <p:txEl>
                                              <p:pRg st="2" end="2"/>
                                            </p:txEl>
                                          </p:spTgt>
                                        </p:tgtEl>
                                        <p:attrNameLst>
                                          <p:attrName>style.visibility</p:attrName>
                                        </p:attrNameLst>
                                      </p:cBhvr>
                                      <p:to>
                                        <p:strVal val="visible"/>
                                      </p:to>
                                    </p:set>
                                    <p:animEffect transition="in" filter="wipe(left)">
                                      <p:cBhvr>
                                        <p:cTn id="40" dur="500"/>
                                        <p:tgtEl>
                                          <p:spTgt spid="4">
                                            <p:txEl>
                                              <p:pRg st="2" end="2"/>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animEffect transition="in" filter="wipe(left)">
                                      <p:cBhvr>
                                        <p:cTn id="43"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8_2#661707603?htil=4&amp;vcp=1&amp;pid=4c2f04863&amp;color=0,0,0&amp;vtp=1&amp;bt=1&amp;bbb=1&amp;hb=1&amp;hs=1">
                <a:extLst>
                  <a:ext uri="{FF2B5EF4-FFF2-40B4-BE49-F238E27FC236}">
                    <a16:creationId xmlns:a16="http://schemas.microsoft.com/office/drawing/2014/main" id="{EFF6B339-F415-108E-F481-E9CC86787BAA}"/>
                  </a:ext>
                </a:extLst>
              </p:cNvPr>
              <p:cNvSpPr/>
              <p:nvPr/>
            </p:nvSpPr>
            <p:spPr>
              <a:xfrm>
                <a:off x="393192" y="2564098"/>
                <a:ext cx="11400008" cy="1740980"/>
              </a:xfrm>
              <a:prstGeom prst="rect">
                <a:avLst/>
              </a:prstGeom>
              <a:noFill/>
              <a:ln/>
            </p:spPr>
            <p:txBody>
              <a:bodyPr wrap="none" lIns="0" tIns="0" rIns="0" bIns="0" rtlCol="0" anchor="t"/>
              <a:lstStyle/>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保持不变</a:t>
                </a:r>
                <a:r>
                  <a:rPr lang="en-US" altLang="zh-CN" sz="2400" b="1" i="0" dirty="0">
                    <a:solidFill>
                      <a:srgbClr val="FF0000"/>
                    </a:solidFill>
                    <a:latin typeface="Times New Roman" pitchFamily="34" charset="0"/>
                    <a:ea typeface="微软雅黑" pitchFamily="34" charset="-122"/>
                    <a:cs typeface="Times New Roman" pitchFamily="34" charset="-120"/>
                  </a:rPr>
                  <a:t>，构建辅助圆，</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m:t>
                    </m:r>
                  </m:oMath>
                </a14:m>
                <a:r>
                  <a:rPr lang="en-US" altLang="zh-CN" sz="2400" b="1" i="0" dirty="0">
                    <a:solidFill>
                      <a:srgbClr val="FF0000"/>
                    </a:solidFill>
                    <a:latin typeface="Times New Roman" pitchFamily="34" charset="0"/>
                    <a:ea typeface="微软雅黑" pitchFamily="34" charset="-122"/>
                    <a:cs typeface="Times New Roman" pitchFamily="34" charset="-120"/>
                  </a:rPr>
                  <a:t>为动点，当</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m:t>
                    </m:r>
                  </m:oMath>
                </a14:m>
                <a:r>
                  <a:rPr lang="en-US" altLang="zh-CN" sz="2400" b="1" i="0">
                    <a:solidFill>
                      <a:srgbClr val="FF0000"/>
                    </a:solidFill>
                    <a:latin typeface="Times New Roman" pitchFamily="34" charset="0"/>
                    <a:ea typeface="微软雅黑" pitchFamily="34" charset="-122"/>
                    <a:cs typeface="Times New Roman" pitchFamily="34" charset="-120"/>
                  </a:rPr>
                  <a:t>移动到</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𝑷</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点时</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𝑷𝑴</m:t>
                    </m:r>
                  </m:oMath>
                </a14:m>
                <a:r>
                  <a:rPr lang="en-US" altLang="zh-CN" sz="2400" b="1" i="0" dirty="0">
                    <a:solidFill>
                      <a:srgbClr val="FF0000"/>
                    </a:solidFill>
                    <a:latin typeface="Times New Roman" pitchFamily="34" charset="0"/>
                    <a:ea typeface="微软雅黑" pitchFamily="34" charset="-122"/>
                    <a:cs typeface="Times New Roman" pitchFamily="34" charset="-120"/>
                  </a:rPr>
                  <a:t>经过圆心，这时</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𝑷𝑴</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对应的</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细绳拉力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最大</a:t>
                </a:r>
                <a:r>
                  <a:rPr lang="en-US" altLang="zh-CN" sz="2400" b="1" i="0">
                    <a:solidFill>
                      <a:srgbClr val="FF0000"/>
                    </a:solidFill>
                    <a:latin typeface="Times New Roman" pitchFamily="34" charset="0"/>
                    <a:ea typeface="微软雅黑" pitchFamily="34" charset="-122"/>
                    <a:cs typeface="Times New Roman" pitchFamily="34" charset="-120"/>
                  </a:rPr>
                  <a:t>，有</a:t>
                </a:r>
              </a:p>
              <a:p>
                <a:pPr latinLnBrk="1">
                  <a:lnSpc>
                    <a:spcPts val="50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𝐓𝐦𝐚𝐱</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𝑨</m:t>
                            </m:r>
                          </m:sub>
                        </m:sSub>
                        <m:r>
                          <a:rPr lang="en-US" altLang="zh-CN" sz="2400" b="1" i="1">
                            <a:solidFill>
                              <a:srgbClr val="FF0000"/>
                            </a:solidFill>
                            <a:latin typeface="Cambria Math" pitchFamily="34" charset="0"/>
                            <a:ea typeface="Cambria Math" pitchFamily="34" charset="-122"/>
                            <a:cs typeface="Cambria Math" pitchFamily="34" charset="-120"/>
                          </a:rPr>
                          <m:t>𝒈</m:t>
                        </m:r>
                      </m:num>
                      <m:den>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𝟔𝟎</m:t>
                            </m:r>
                          </m:e>
                          <m:sup>
                            <m:r>
                              <a:rPr lang="en-US" altLang="zh-CN" sz="2400" b="1" i="0">
                                <a:solidFill>
                                  <a:srgbClr val="FF0000"/>
                                </a:solidFill>
                                <a:latin typeface="Cambria Math" pitchFamily="34" charset="0"/>
                                <a:ea typeface="Cambria Math" pitchFamily="34" charset="-122"/>
                                <a:cs typeface="Cambria Math" pitchFamily="34" charset="-120"/>
                              </a:rPr>
                              <m:t>∘</m:t>
                            </m:r>
                          </m:sup>
                        </m:sSup>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𝟒𝟎</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num>
                      <m:den>
                        <m:r>
                          <a:rPr lang="en-US" altLang="zh-CN" sz="2400" b="1" i="1">
                            <a:solidFill>
                              <a:srgbClr val="FF0000"/>
                            </a:solidFill>
                            <a:latin typeface="Cambria Math" pitchFamily="34" charset="0"/>
                            <a:ea typeface="Cambria Math" pitchFamily="34" charset="-122"/>
                            <a:cs typeface="Cambria Math" pitchFamily="34" charset="-120"/>
                          </a:rPr>
                          <m:t>𝟑</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，故D正确.</a:t>
                </a:r>
                <a:endParaRPr lang="en-US" altLang="zh-CN" sz="2400" dirty="0"/>
              </a:p>
            </p:txBody>
          </p:sp>
        </mc:Choice>
        <mc:Fallback>
          <p:sp>
            <p:nvSpPr>
              <p:cNvPr id="2" name="QC_4_AS.8_2#661707603?htil=4&amp;vcp=1&amp;pid=4c2f04863&amp;color=0,0,0&amp;vtp=1&amp;bt=1&amp;bbb=1&amp;hb=1&amp;hs=1">
                <a:extLst>
                  <a:ext uri="{FF2B5EF4-FFF2-40B4-BE49-F238E27FC236}">
                    <a16:creationId xmlns:a16="http://schemas.microsoft.com/office/drawing/2014/main" id="{EFF6B339-F415-108E-F481-E9CC86787BAA}"/>
                  </a:ext>
                </a:extLst>
              </p:cNvPr>
              <p:cNvSpPr>
                <a:spLocks noRot="1" noChangeAspect="1" noMove="1" noResize="1" noEditPoints="1" noAdjustHandles="1" noChangeArrowheads="1" noChangeShapeType="1" noTextEdit="1"/>
              </p:cNvSpPr>
              <p:nvPr/>
            </p:nvSpPr>
            <p:spPr>
              <a:xfrm>
                <a:off x="393192" y="2564098"/>
                <a:ext cx="11400008" cy="1740980"/>
              </a:xfrm>
              <a:prstGeom prst="rect">
                <a:avLst/>
              </a:prstGeom>
              <a:blipFill>
                <a:blip r:embed="rId2"/>
                <a:stretch>
                  <a:fillRect l="-1658" b="-5965"/>
                </a:stretch>
              </a:blipFill>
              <a:ln/>
            </p:spPr>
            <p:txBody>
              <a:bodyPr/>
              <a:lstStyle/>
              <a:p>
                <a:r>
                  <a:rPr lang="zh-CN" altLang="en-US">
                    <a:noFill/>
                  </a:rPr>
                  <a:t> </a:t>
                </a:r>
              </a:p>
            </p:txBody>
          </p:sp>
        </mc:Fallback>
      </mc:AlternateContent>
    </p:spTree>
    <p:extLst>
      <p:ext uri="{BB962C8B-B14F-4D97-AF65-F5344CB8AC3E}">
        <p14:creationId xmlns:p14="http://schemas.microsoft.com/office/powerpoint/2010/main" val="509600875"/>
      </p:ext>
    </p:extLst>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p:pic>
        <p:nvPicPr>
          <p:cNvPr id="2" name="QC_4_BD.9_1#4f1163946?htil=5&amp;vcp=1&amp;pid=4c2f04863&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822715" y="549720"/>
            <a:ext cx="1920240" cy="179222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BD.9_2#4f1163946?htil=5&amp;vcp=1&amp;pid=4c2f04863&amp;color=0,0,0&amp;vtp=1&amp;bt=1&amp;bbb=1&amp;hb=1&amp;hs=1"/>
              <p:cNvSpPr/>
              <p:nvPr/>
            </p:nvSpPr>
            <p:spPr>
              <a:xfrm>
                <a:off x="393192" y="504000"/>
                <a:ext cx="9345168" cy="1998599"/>
              </a:xfrm>
              <a:prstGeom prst="rect">
                <a:avLst/>
              </a:prstGeom>
              <a:noFill/>
              <a:ln/>
            </p:spPr>
            <p:txBody>
              <a:bodyPr wrap="none" lIns="0" tIns="0" rIns="0" bIns="0" rtlCol="0" anchor="t"/>
              <a:lstStyle/>
              <a:p>
                <a:pPr algn="l" latinLnBrk="1">
                  <a:lnSpc>
                    <a:spcPts val="41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（2026·浙江杭州学军中学检测）</a:t>
                </a:r>
                <a:r>
                  <a:rPr lang="en-US" altLang="zh-CN" sz="2400" b="0" i="0" dirty="0">
                    <a:solidFill>
                      <a:srgbClr val="000000"/>
                    </a:solidFill>
                    <a:latin typeface="Times New Roman" pitchFamily="34" charset="0"/>
                    <a:ea typeface="微软雅黑" pitchFamily="34" charset="-122"/>
                    <a:cs typeface="Times New Roman" pitchFamily="34" charset="-120"/>
                  </a:rPr>
                  <a:t>（多选题）一盏重力为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𝐺</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a:t>
                </a:r>
              </a:p>
              <a:p>
                <a:pPr latinLnBrk="1">
                  <a:lnSpc>
                    <a:spcPts val="4100"/>
                  </a:lnSpc>
                </a:pPr>
                <a:r>
                  <a:rPr lang="en-US" altLang="zh-CN" sz="2400" b="0" i="0">
                    <a:solidFill>
                      <a:srgbClr val="000000"/>
                    </a:solidFill>
                    <a:latin typeface="Times New Roman" pitchFamily="34" charset="0"/>
                    <a:ea typeface="微软雅黑" pitchFamily="34" charset="-122"/>
                    <a:cs typeface="Times New Roman" pitchFamily="34" charset="-120"/>
                  </a:rPr>
                  <a:t>电灯悬挂于天花板上的</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点，在电线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2400" b="0" i="0" dirty="0">
                    <a:solidFill>
                      <a:srgbClr val="000000"/>
                    </a:solidFill>
                    <a:latin typeface="Times New Roman" pitchFamily="34" charset="0"/>
                    <a:ea typeface="微软雅黑" pitchFamily="34" charset="-122"/>
                    <a:cs typeface="Times New Roman" pitchFamily="34" charset="-120"/>
                  </a:rPr>
                  <a:t>处系一细线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，使电线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与竖</a:t>
                </a:r>
              </a:p>
              <a:p>
                <a:pPr latinLnBrk="1">
                  <a:lnSpc>
                    <a:spcPts val="4100"/>
                  </a:lnSpc>
                </a:pPr>
                <a:r>
                  <a:rPr lang="en-US" altLang="zh-CN" sz="2400" b="0" i="0">
                    <a:solidFill>
                      <a:srgbClr val="000000"/>
                    </a:solidFill>
                    <a:latin typeface="Times New Roman" pitchFamily="34" charset="0"/>
                    <a:ea typeface="微软雅黑" pitchFamily="34" charset="-122"/>
                    <a:cs typeface="Times New Roman" pitchFamily="34" charset="-120"/>
                  </a:rPr>
                  <a:t>直方向的夹角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𝛽</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30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与水平方向成</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𝛼</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角，如图所示.现保持</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点</a:t>
                </a:r>
              </a:p>
              <a:p>
                <a:pPr latinLnBrk="1">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位置不变</a:t>
                </a:r>
                <a:r>
                  <a:rPr lang="en-US" altLang="zh-CN" sz="2400" b="0" i="0" dirty="0">
                    <a:solidFill>
                      <a:srgbClr val="000000"/>
                    </a:solidFill>
                    <a:latin typeface="Times New Roman" pitchFamily="34" charset="0"/>
                    <a:ea typeface="微软雅黑" pitchFamily="34" charset="-122"/>
                    <a:cs typeface="Times New Roman" pitchFamily="34" charset="-120"/>
                  </a:rPr>
                  <a:t>，使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𝛼</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由</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缓慢增加到</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90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在此过程中(</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3" name="QC_4_BD.9_2#4f1163946?htil=5&amp;vcp=1&amp;pid=4c2f04863&amp;color=0,0,0&amp;vtp=1&amp;bt=1&amp;bbb=1&amp;hb=1&amp;hs=1"/>
              <p:cNvSpPr>
                <a:spLocks noRot="1" noChangeAspect="1" noMove="1" noResize="1" noEditPoints="1" noAdjustHandles="1" noChangeArrowheads="1" noChangeShapeType="1" noTextEdit="1"/>
              </p:cNvSpPr>
              <p:nvPr/>
            </p:nvSpPr>
            <p:spPr>
              <a:xfrm>
                <a:off x="393192" y="504000"/>
                <a:ext cx="9345168" cy="1998599"/>
              </a:xfrm>
              <a:prstGeom prst="rect">
                <a:avLst/>
              </a:prstGeom>
              <a:blipFill>
                <a:blip r:embed="rId4"/>
                <a:stretch>
                  <a:fillRect l="-2022" t="-1220" r="-1500" b="-9146"/>
                </a:stretch>
              </a:blipFill>
              <a:ln/>
            </p:spPr>
            <p:txBody>
              <a:bodyPr/>
              <a:lstStyle/>
              <a:p>
                <a:r>
                  <a:rPr lang="zh-CN" altLang="en-US">
                    <a:noFill/>
                  </a:rPr>
                  <a:t> </a:t>
                </a:r>
              </a:p>
            </p:txBody>
          </p:sp>
        </mc:Fallback>
      </mc:AlternateContent>
      <p:sp>
        <p:nvSpPr>
          <p:cNvPr id="4" name="QC_4_AN.10_1#4f1163946.bracket?vcp=1&amp;pid=4c2f04863&amp;color=0,0,0&amp;vpa=3&amp;vtp=1&amp;bbb=1"/>
          <p:cNvSpPr/>
          <p:nvPr/>
        </p:nvSpPr>
        <p:spPr>
          <a:xfrm>
            <a:off x="7513478" y="2046732"/>
            <a:ext cx="865188" cy="440500"/>
          </a:xfrm>
          <a:prstGeom prst="rect">
            <a:avLst/>
          </a:prstGeom>
          <a:noFill/>
          <a:ln/>
        </p:spPr>
        <p:txBody>
          <a:bodyPr wrap="none" lIns="0" tIns="0" rIns="0" bIns="0" rtlCol="0" anchor="t"/>
          <a:lstStyle/>
          <a:p>
            <a:pPr algn="ctr" latinLnBrk="1">
              <a:lnSpc>
                <a:spcPts val="3800"/>
              </a:lnSpc>
            </a:pPr>
            <a:r>
              <a:rPr lang="en-US" altLang="zh-CN" sz="2400" b="1" i="0" dirty="0">
                <a:solidFill>
                  <a:srgbClr val="FF0000"/>
                </a:solidFill>
                <a:latin typeface="Times New Roman" pitchFamily="34" charset="0"/>
                <a:ea typeface="微软雅黑" pitchFamily="34" charset="-122"/>
                <a:cs typeface="Times New Roman" pitchFamily="34" charset="-120"/>
              </a:rPr>
              <a:t>ABC</a:t>
            </a:r>
            <a:endParaRPr lang="en-US" altLang="zh-CN" sz="2400" dirty="0"/>
          </a:p>
        </p:txBody>
      </p:sp>
      <mc:AlternateContent xmlns:mc="http://schemas.openxmlformats.org/markup-compatibility/2006">
        <mc:Choice xmlns:a14="http://schemas.microsoft.com/office/drawing/2010/main" Requires="a14">
          <p:sp>
            <p:nvSpPr>
              <p:cNvPr id="5" name="QC_4_BD.9_3#4f1163946.choices?vcp=1&amp;pid=4c2f04863&amp;color=0,0,0&amp;vtp=1&amp;bbb=1&amp;hs=1"/>
              <p:cNvSpPr/>
              <p:nvPr/>
            </p:nvSpPr>
            <p:spPr>
              <a:xfrm>
                <a:off x="393192" y="2491296"/>
                <a:ext cx="11402568" cy="1094740"/>
              </a:xfrm>
              <a:prstGeom prst="rect">
                <a:avLst/>
              </a:prstGeom>
              <a:noFill/>
              <a:ln/>
            </p:spPr>
            <p:txBody>
              <a:bodyPr wrap="none" lIns="0" tIns="0" rIns="0" bIns="0" rtlCol="0" anchor="t"/>
              <a:lstStyle/>
              <a:p>
                <a:pPr latinLnBrk="1">
                  <a:lnSpc>
                    <a:spcPts val="41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A.电线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𝑂𝐵</m:t>
                    </m:r>
                  </m:oMath>
                </a14:m>
                <a:r>
                  <a:rPr lang="en-US" altLang="zh-CN" sz="2400" b="0" i="0">
                    <a:solidFill>
                      <a:srgbClr val="000000"/>
                    </a:solidFill>
                    <a:latin typeface="Times New Roman" pitchFamily="34" charset="0"/>
                    <a:ea typeface="微软雅黑" pitchFamily="34" charset="-122"/>
                    <a:cs typeface="Times New Roman" pitchFamily="34" charset="-120"/>
                  </a:rPr>
                  <a:t>的拉力逐渐减小</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.细线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的拉力先减小后增大</a:t>
                </a:r>
                <a:endParaRPr lang="en-US" altLang="zh-CN" sz="2400" dirty="0"/>
              </a:p>
              <a:p>
                <a:pPr latinLnBrk="1">
                  <a:lnSpc>
                    <a:spcPts val="45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.细线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的拉力的最小值为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𝐺</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.细线</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的拉力的最小值为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r>
                              <a:rPr lang="en-US" altLang="zh-CN" sz="2400" b="0" i="0">
                                <a:solidFill>
                                  <a:srgbClr val="000000"/>
                                </a:solidFill>
                                <a:latin typeface="Cambria Math" pitchFamily="34" charset="0"/>
                                <a:ea typeface="Cambria Math" pitchFamily="34" charset="-122"/>
                                <a:cs typeface="Cambria Math" pitchFamily="34" charset="-120"/>
                              </a:rPr>
                              <m:t>3</m:t>
                            </m:r>
                          </m:e>
                        </m:rad>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𝐺</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9_3#4f1163946.choices?vcp=1&amp;pid=4c2f04863&amp;color=0,0,0&amp;vtp=1&amp;bbb=1&amp;hs=1"/>
              <p:cNvSpPr>
                <a:spLocks noRot="1" noChangeAspect="1" noMove="1" noResize="1" noEditPoints="1" noAdjustHandles="1" noChangeArrowheads="1" noChangeShapeType="1" noTextEdit="1"/>
              </p:cNvSpPr>
              <p:nvPr/>
            </p:nvSpPr>
            <p:spPr>
              <a:xfrm>
                <a:off x="393192" y="2491296"/>
                <a:ext cx="11402568" cy="1094740"/>
              </a:xfrm>
              <a:prstGeom prst="rect">
                <a:avLst/>
              </a:prstGeom>
              <a:blipFill>
                <a:blip r:embed="rId5"/>
                <a:stretch>
                  <a:fillRect l="-1658" b="-9497"/>
                </a:stretch>
              </a:blipFill>
              <a:ln/>
            </p:spPr>
            <p:txBody>
              <a:bodyPr/>
              <a:lstStyle/>
              <a:p>
                <a:r>
                  <a:rPr lang="zh-CN" altLang="en-US">
                    <a:noFill/>
                  </a:rPr>
                  <a:t> </a:t>
                </a:r>
              </a:p>
            </p:txBody>
          </p:sp>
        </mc:Fallback>
      </mc:AlternateContent>
      <p:pic>
        <p:nvPicPr>
          <p:cNvPr id="6" name="QC_4_AS.11_1#4f1163946?htil=6&amp;vcp=1&amp;pid=4c2f04863&amp;color=0,0,0&amp;tib=255,255,255&amp;vtp=1&amp;hs=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10104120" y="3638359"/>
            <a:ext cx="1673352" cy="241401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7" name="QC_4_AS.11_2#4f1163946?htil=6&amp;vcp=1&amp;pid=4c2f04863&amp;color=0,0,0&amp;vtp=1&amp;bbb=1&amp;hb=1"/>
              <p:cNvSpPr/>
              <p:nvPr/>
            </p:nvSpPr>
            <p:spPr>
              <a:xfrm>
                <a:off x="393192" y="3583496"/>
                <a:ext cx="9592056" cy="2532825"/>
              </a:xfrm>
              <a:prstGeom prst="rect">
                <a:avLst/>
              </a:prstGeom>
              <a:noFill/>
              <a:ln/>
            </p:spPr>
            <p:txBody>
              <a:bodyPr wrap="none" lIns="0" tIns="0" rIns="0" bIns="0" rtlCol="0" anchor="t"/>
              <a:lstStyle/>
              <a:p>
                <a:pPr algn="l" latinLnBrk="1">
                  <a:lnSpc>
                    <a:spcPts val="41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对点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2400" b="1" i="0" dirty="0">
                    <a:solidFill>
                      <a:srgbClr val="FF0000"/>
                    </a:solidFill>
                    <a:latin typeface="Times New Roman" pitchFamily="34" charset="0"/>
                    <a:ea typeface="微软雅黑" pitchFamily="34" charset="-122"/>
                    <a:cs typeface="Times New Roman" pitchFamily="34" charset="-120"/>
                  </a:rPr>
                  <a:t>受力分析，由平衡条件可知，细线</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𝑶𝑨</m:t>
                    </m:r>
                  </m:oMath>
                </a14:m>
                <a:r>
                  <a:rPr lang="en-US" altLang="zh-CN" sz="2400" b="1" i="0" dirty="0">
                    <a:solidFill>
                      <a:srgbClr val="FF0000"/>
                    </a:solidFill>
                    <a:latin typeface="Times New Roman" pitchFamily="34" charset="0"/>
                    <a:ea typeface="微软雅黑" pitchFamily="34" charset="-122"/>
                    <a:cs typeface="Times New Roman" pitchFamily="34" charset="-120"/>
                  </a:rPr>
                  <a:t>和电线</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的拉力的</a:t>
                </a:r>
              </a:p>
              <a:p>
                <a:pPr latinLnBrk="1">
                  <a:lnSpc>
                    <a:spcPts val="4100"/>
                  </a:lnSpc>
                </a:pPr>
                <a:r>
                  <a:rPr lang="en-US" altLang="zh-CN" sz="2400" b="1" i="0">
                    <a:solidFill>
                      <a:srgbClr val="FF0000"/>
                    </a:solidFill>
                    <a:latin typeface="Times New Roman" pitchFamily="34" charset="0"/>
                    <a:ea typeface="微软雅黑" pitchFamily="34" charset="-122"/>
                    <a:cs typeface="Times New Roman" pitchFamily="34" charset="-120"/>
                  </a:rPr>
                  <a:t>合力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2400" b="1" i="0" dirty="0">
                    <a:solidFill>
                      <a:srgbClr val="FF0000"/>
                    </a:solidFill>
                    <a:latin typeface="Times New Roman" pitchFamily="34" charset="0"/>
                    <a:ea typeface="微软雅黑" pitchFamily="34" charset="-122"/>
                    <a:cs typeface="Times New Roman" pitchFamily="34" charset="-120"/>
                  </a:rPr>
                  <a:t>一定竖直向上，与</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平衡.</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𝜶</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a:t>
                </a:r>
                <a14:m>
                  <m:oMath xmlns:m="http://schemas.openxmlformats.org/officeDocument/2006/math">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缓慢增加到</a:t>
                </a:r>
                <a14:m>
                  <m:oMath xmlns:m="http://schemas.openxmlformats.org/officeDocument/2006/math">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𝟗𝟎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的过程</a:t>
                </a:r>
                <a:r>
                  <a:rPr lang="en-US" altLang="zh-CN" sz="2400" b="1" i="0">
                    <a:solidFill>
                      <a:srgbClr val="FF0000"/>
                    </a:solidFill>
                    <a:latin typeface="Times New Roman" pitchFamily="34" charset="0"/>
                    <a:ea typeface="微软雅黑" pitchFamily="34" charset="-122"/>
                    <a:cs typeface="Times New Roman" pitchFamily="34" charset="-120"/>
                  </a:rPr>
                  <a:t>，画出</a:t>
                </a:r>
              </a:p>
              <a:p>
                <a:pPr latinLnBrk="1">
                  <a:lnSpc>
                    <a:spcPts val="4100"/>
                  </a:lnSpc>
                </a:pPr>
                <a:r>
                  <a:rPr lang="en-US" altLang="zh-CN" sz="2400" b="1" i="0">
                    <a:solidFill>
                      <a:srgbClr val="FF0000"/>
                    </a:solidFill>
                    <a:latin typeface="Times New Roman" pitchFamily="34" charset="0"/>
                    <a:ea typeface="微软雅黑" pitchFamily="34" charset="-122"/>
                    <a:cs typeface="Times New Roman" pitchFamily="34" charset="-120"/>
                  </a:rPr>
                  <a:t>动态分析图如图所示</a:t>
                </a:r>
                <a:r>
                  <a:rPr lang="en-US" altLang="zh-CN" sz="2400" b="1" i="0" dirty="0">
                    <a:solidFill>
                      <a:srgbClr val="FF0000"/>
                    </a:solidFill>
                    <a:latin typeface="Times New Roman" pitchFamily="34" charset="0"/>
                    <a:ea typeface="微软雅黑" pitchFamily="34" charset="-122"/>
                    <a:cs typeface="Times New Roman" pitchFamily="34" charset="-120"/>
                  </a:rPr>
                  <a:t>，由图可知，细线</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上的拉力先减小后增大</a:t>
                </a:r>
                <a:r>
                  <a:rPr lang="en-US" altLang="zh-CN" sz="2400" b="1" i="0">
                    <a:solidFill>
                      <a:srgbClr val="FF0000"/>
                    </a:solidFill>
                    <a:latin typeface="Times New Roman" pitchFamily="34" charset="0"/>
                    <a:ea typeface="微软雅黑" pitchFamily="34" charset="-122"/>
                    <a:cs typeface="Times New Roman" pitchFamily="34" charset="-120"/>
                  </a:rPr>
                  <a:t>，且当</a:t>
                </a:r>
              </a:p>
              <a:p>
                <a:pPr latinLnBrk="1">
                  <a:lnSpc>
                    <a:spcPts val="41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𝜶</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𝑨</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最小，最小值为</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𝑮</m:t>
                        </m:r>
                      </m:num>
                      <m:den>
                        <m:r>
                          <a:rPr lang="en-US" altLang="zh-CN" sz="2400" b="1" i="1">
                            <a:solidFill>
                              <a:srgbClr val="FF0000"/>
                            </a:solidFill>
                            <a:latin typeface="Cambria Math" pitchFamily="34" charset="0"/>
                            <a:ea typeface="Cambria Math" pitchFamily="34" charset="-122"/>
                            <a:cs typeface="Cambria Math" pitchFamily="34" charset="-120"/>
                          </a:rPr>
                          <m:t>𝟐</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，而电线</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上的拉力逐渐减小，故</a:t>
                </a:r>
                <a:r>
                  <a:rPr lang="en-US" altLang="zh-CN" sz="2400" b="1" i="0">
                    <a:solidFill>
                      <a:srgbClr val="FF0000"/>
                    </a:solidFill>
                    <a:latin typeface="Times New Roman" pitchFamily="34" charset="0"/>
                    <a:ea typeface="微软雅黑" pitchFamily="34" charset="-122"/>
                    <a:cs typeface="Times New Roman" pitchFamily="34" charset="-120"/>
                  </a:rPr>
                  <a:t>A、</a:t>
                </a:r>
              </a:p>
              <a:p>
                <a:pPr latinLnBrk="1">
                  <a:lnSpc>
                    <a:spcPts val="3900"/>
                  </a:lnSpc>
                </a:pPr>
                <a:r>
                  <a:rPr lang="en-US" altLang="zh-CN" sz="2400" b="1" i="0">
                    <a:solidFill>
                      <a:srgbClr val="FF0000"/>
                    </a:solidFill>
                    <a:latin typeface="Times New Roman" pitchFamily="34" charset="0"/>
                    <a:ea typeface="微软雅黑" pitchFamily="34" charset="-122"/>
                    <a:cs typeface="Times New Roman" pitchFamily="34" charset="-120"/>
                  </a:rPr>
                  <a:t>B</a:t>
                </a:r>
                <a:r>
                  <a:rPr lang="en-US" altLang="zh-CN" sz="2400" b="1" i="0" dirty="0">
                    <a:solidFill>
                      <a:srgbClr val="FF0000"/>
                    </a:solidFill>
                    <a:latin typeface="Times New Roman" pitchFamily="34" charset="0"/>
                    <a:ea typeface="微软雅黑" pitchFamily="34" charset="-122"/>
                    <a:cs typeface="Times New Roman" pitchFamily="34" charset="-120"/>
                  </a:rPr>
                  <a:t>、C正确，D错误.</a:t>
                </a:r>
                <a:endParaRPr lang="en-US" altLang="zh-CN" sz="2400" dirty="0"/>
              </a:p>
            </p:txBody>
          </p:sp>
        </mc:Choice>
        <mc:Fallback>
          <p:sp>
            <p:nvSpPr>
              <p:cNvPr id="7" name="QC_4_AS.11_2#4f1163946?htil=6&amp;vcp=1&amp;pid=4c2f04863&amp;color=0,0,0&amp;vtp=1&amp;bbb=1&amp;hb=1"/>
              <p:cNvSpPr>
                <a:spLocks noRot="1" noChangeAspect="1" noMove="1" noResize="1" noEditPoints="1" noAdjustHandles="1" noChangeArrowheads="1" noChangeShapeType="1" noTextEdit="1"/>
              </p:cNvSpPr>
              <p:nvPr/>
            </p:nvSpPr>
            <p:spPr>
              <a:xfrm>
                <a:off x="393192" y="3583496"/>
                <a:ext cx="9592056" cy="2532825"/>
              </a:xfrm>
              <a:prstGeom prst="rect">
                <a:avLst/>
              </a:prstGeom>
              <a:blipFill>
                <a:blip r:embed="rId7"/>
                <a:stretch>
                  <a:fillRect l="-1971" r="-3179" b="-722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bg/>
                                          </p:spTgt>
                                        </p:tgtEl>
                                        <p:attrNameLst>
                                          <p:attrName>style.visibility</p:attrName>
                                        </p:attrNameLst>
                                      </p:cBhvr>
                                      <p:to>
                                        <p:strVal val="visible"/>
                                      </p:to>
                                    </p:set>
                                    <p:animEffect transition="in" filter="wipe(left)">
                                      <p:cBhvr>
                                        <p:cTn id="18" dur="500"/>
                                        <p:tgtEl>
                                          <p:spTgt spid="7">
                                            <p:bg/>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500"/>
                                        <p:tgtEl>
                                          <p:spTgt spid="7">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wipe(left)">
                                      <p:cBhvr>
                                        <p:cTn id="24" dur="500"/>
                                        <p:tgtEl>
                                          <p:spTgt spid="7">
                                            <p:txEl>
                                              <p:pRg st="1" end="1"/>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wipe(left)">
                                      <p:cBhvr>
                                        <p:cTn id="27" dur="500"/>
                                        <p:tgtEl>
                                          <p:spTgt spid="7">
                                            <p:txEl>
                                              <p:pRg st="2" end="2"/>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wipe(left)">
                                      <p:cBhvr>
                                        <p:cTn id="30" dur="500"/>
                                        <p:tgtEl>
                                          <p:spTgt spid="7">
                                            <p:txEl>
                                              <p:pRg st="3" end="3"/>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wipe(left)">
                                      <p:cBhvr>
                                        <p:cTn id="33"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p:pic>
        <p:nvPicPr>
          <p:cNvPr id="2" name="C_3#dbaa304cf?vcp=1&amp;pid=81db1c6d2&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dbaa304cf?vcp=1&amp;pid=81db1c6d2&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dbaa304cf?vcp=1&amp;pid=81db1c6d2&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3</a:t>
            </a:r>
            <a:endParaRPr lang="en-US" altLang="zh-CN" sz="2800" dirty="0"/>
          </a:p>
        </p:txBody>
      </p:sp>
      <p:sp>
        <p:nvSpPr>
          <p:cNvPr id="5" name="C_3_BD#dbaa304cf?vcp=1&amp;pid=81db1c6d2&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极限法求解动态平衡问题</a:t>
            </a:r>
            <a:endParaRPr lang="en-US" altLang="zh-CN" sz="2600" dirty="0"/>
          </a:p>
        </p:txBody>
      </p:sp>
      <p:sp>
        <p:nvSpPr>
          <p:cNvPr id="6" name="P_4_BD#97768f406?vcp=1&amp;pid=dbaa304cf&amp;color=0,0,0&amp;vtp=1&amp;bbb=1&amp;hb=1"/>
          <p:cNvSpPr/>
          <p:nvPr/>
        </p:nvSpPr>
        <p:spPr>
          <a:xfrm>
            <a:off x="393192" y="965200"/>
            <a:ext cx="11402568" cy="15962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在题目中如果出现“最大”“最小”“刚好”等关键词时,一般隐藏着临界问题</a:t>
            </a:r>
            <a:r>
              <a:rPr lang="en-US" altLang="zh-CN" sz="2400" b="0" i="0">
                <a:solidFill>
                  <a:srgbClr val="000000"/>
                </a:solidFill>
                <a:latin typeface="Times New Roman" pitchFamily="34" charset="0"/>
                <a:ea typeface="微软雅黑" pitchFamily="34" charset="-122"/>
                <a:cs typeface="Times New Roman" pitchFamily="34" charset="-120"/>
              </a:rPr>
              <a:t>,处理这类</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问题时</a:t>
            </a:r>
            <a:r>
              <a:rPr lang="en-US" altLang="zh-CN" sz="2400" b="0" i="0" dirty="0">
                <a:solidFill>
                  <a:srgbClr val="000000"/>
                </a:solidFill>
                <a:latin typeface="Times New Roman" pitchFamily="34" charset="0"/>
                <a:ea typeface="微软雅黑" pitchFamily="34" charset="-122"/>
                <a:cs typeface="Times New Roman" pitchFamily="34" charset="-120"/>
              </a:rPr>
              <a:t>,常常把物理问题或过程推向极端，从而将临界状态及临界条件显露出来</a:t>
            </a:r>
            <a:r>
              <a:rPr lang="en-US" altLang="zh-CN" sz="2400" b="0" i="0">
                <a:solidFill>
                  <a:srgbClr val="000000"/>
                </a:solidFill>
                <a:latin typeface="Times New Roman" pitchFamily="34" charset="0"/>
                <a:ea typeface="微软雅黑" pitchFamily="34" charset="-122"/>
                <a:cs typeface="Times New Roman" pitchFamily="34" charset="-120"/>
              </a:rPr>
              <a:t>,达到</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尽快求解的目的</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sld>
</file>

<file path=ppt/slides/slide13.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2_1#36fff456c?vcp=1&amp;pid=dbaa304cf&amp;color=0,0,0&amp;vtp=1&amp;bt=1&amp;bbb=1&amp;hb=1"/>
              <p:cNvSpPr/>
              <p:nvPr/>
            </p:nvSpPr>
            <p:spPr>
              <a:xfrm>
                <a:off x="393192" y="842518"/>
                <a:ext cx="11402568" cy="27097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例3</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（2026·广东深圳中学检测）</a:t>
                </a:r>
                <a:r>
                  <a:rPr lang="en-US" altLang="zh-CN" sz="2400" b="0" i="0" dirty="0">
                    <a:solidFill>
                      <a:srgbClr val="000000"/>
                    </a:solidFill>
                    <a:latin typeface="Times New Roman" pitchFamily="34" charset="0"/>
                    <a:ea typeface="微软雅黑" pitchFamily="34" charset="-122"/>
                    <a:cs typeface="Times New Roman" pitchFamily="34" charset="-120"/>
                  </a:rPr>
                  <a:t>筷子是中国人常用的饮食工具</a:t>
                </a:r>
                <a:r>
                  <a:rPr lang="en-US" altLang="zh-CN" sz="2400" b="0" i="0">
                    <a:solidFill>
                      <a:srgbClr val="000000"/>
                    </a:solidFill>
                    <a:latin typeface="Times New Roman" pitchFamily="34" charset="0"/>
                    <a:ea typeface="微软雅黑" pitchFamily="34" charset="-122"/>
                    <a:cs typeface="Times New Roman" pitchFamily="34" charset="-120"/>
                  </a:rPr>
                  <a:t>，也是中华饮食文化</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的标志之一</a:t>
                </a:r>
                <a:r>
                  <a:rPr lang="en-US" altLang="zh-CN" sz="2400" b="0" i="0" dirty="0">
                    <a:solidFill>
                      <a:srgbClr val="000000"/>
                    </a:solidFill>
                    <a:latin typeface="Times New Roman" pitchFamily="34" charset="0"/>
                    <a:ea typeface="微软雅黑" pitchFamily="34" charset="-122"/>
                    <a:cs typeface="Times New Roman" pitchFamily="34" charset="-120"/>
                  </a:rPr>
                  <a:t>.筷子在先秦时称为“梜”，汉代时称“箸”，明代开始称“筷”.如图所示</a:t>
                </a:r>
                <a:r>
                  <a:rPr lang="en-US" altLang="zh-CN" sz="2400" b="0" i="0">
                    <a:solidFill>
                      <a:srgbClr val="000000"/>
                    </a:solidFill>
                    <a:latin typeface="Times New Roman" pitchFamily="34" charset="0"/>
                    <a:ea typeface="微软雅黑" pitchFamily="34" charset="-122"/>
                    <a:cs typeface="Times New Roman" pitchFamily="34" charset="-120"/>
                  </a:rPr>
                  <a:t>，用筷</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子夹质量为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2400" b="0" i="0" dirty="0">
                    <a:solidFill>
                      <a:srgbClr val="000000"/>
                    </a:solidFill>
                    <a:latin typeface="Times New Roman" pitchFamily="34" charset="0"/>
                    <a:ea typeface="微软雅黑" pitchFamily="34" charset="-122"/>
                    <a:cs typeface="Times New Roman" pitchFamily="34" charset="-120"/>
                  </a:rPr>
                  <a:t>的小球，筷子在同一竖直平面内，且每根筷子和竖直方向的夹角均为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已知小球与筷子之间的动摩擦因数为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𝜇</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𝜇</m:t>
                    </m:r>
                    <m:r>
                      <a:rPr lang="en-US" altLang="zh-CN" sz="2400" b="0" i="0">
                        <a:solidFill>
                          <a:srgbClr val="000000"/>
                        </a:solidFill>
                        <a:latin typeface="Cambria Math" pitchFamily="34" charset="0"/>
                        <a:ea typeface="Cambria Math" pitchFamily="34" charset="-122"/>
                        <a:cs typeface="Cambria Math" pitchFamily="34" charset="-120"/>
                      </a:rPr>
                      <m:t>&lt;</m:t>
                    </m:r>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最大静摩擦力等于滑动摩擦力，</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重力加速度为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.为使小球静止，</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2_1#36fff456c?vcp=1&amp;pid=dbaa304cf&amp;color=0,0,0&amp;vtp=1&amp;bt=1&amp;bbb=1&amp;hb=1"/>
              <p:cNvSpPr>
                <a:spLocks noRot="1" noChangeAspect="1" noMove="1" noResize="1" noEditPoints="1" noAdjustHandles="1" noChangeArrowheads="1" noChangeShapeType="1" noTextEdit="1"/>
              </p:cNvSpPr>
              <p:nvPr/>
            </p:nvSpPr>
            <p:spPr>
              <a:xfrm>
                <a:off x="393192" y="842518"/>
                <a:ext cx="11402568" cy="2709799"/>
              </a:xfrm>
              <a:prstGeom prst="rect">
                <a:avLst/>
              </a:prstGeom>
              <a:blipFill>
                <a:blip r:embed="rId3"/>
                <a:stretch>
                  <a:fillRect l="-1658" r="-3102" b="-6742"/>
                </a:stretch>
              </a:blipFill>
              <a:ln/>
            </p:spPr>
            <p:txBody>
              <a:bodyPr/>
              <a:lstStyle/>
              <a:p>
                <a:r>
                  <a:rPr lang="zh-CN" altLang="en-US">
                    <a:noFill/>
                  </a:rPr>
                  <a:t> </a:t>
                </a:r>
              </a:p>
            </p:txBody>
          </p:sp>
        </mc:Fallback>
      </mc:AlternateContent>
      <p:sp>
        <p:nvSpPr>
          <p:cNvPr id="3" name="QC_4_AN.13_1#36fff456c.bracket?vcp=1&amp;pid=dbaa304cf&amp;color=0,0,0&amp;vpa=4&amp;vtp=1"/>
          <p:cNvSpPr/>
          <p:nvPr/>
        </p:nvSpPr>
        <p:spPr>
          <a:xfrm>
            <a:off x="7293706" y="3066288"/>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D</a:t>
            </a:r>
            <a:endParaRPr lang="en-US" altLang="zh-CN" sz="2400" dirty="0"/>
          </a:p>
        </p:txBody>
      </p:sp>
      <p:pic>
        <p:nvPicPr>
          <p:cNvPr id="4" name="QC_4_BD.12_2#36fff456c?htil=7&amp;vcp=1&amp;pid=dbaa304cf&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712131" y="3638042"/>
            <a:ext cx="1591056" cy="237744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2_3#36fff456c.choices?htil=7&amp;vcp=1&amp;pid=dbaa304cf&amp;color=0,0,0&amp;vtp=1&amp;bbb=1"/>
              <p:cNvSpPr/>
              <p:nvPr/>
            </p:nvSpPr>
            <p:spPr>
              <a:xfrm>
                <a:off x="393192" y="3528313"/>
                <a:ext cx="9674352" cy="2231200"/>
              </a:xfrm>
              <a:prstGeom prst="rect">
                <a:avLst/>
              </a:prstGeom>
              <a:noFill/>
              <a:ln/>
            </p:spPr>
            <p:txBody>
              <a:bodyPr wrap="none" lIns="0" tIns="0" rIns="0" bIns="0" rtlCol="0" anchor="t"/>
              <a:lstStyle/>
              <a:p>
                <a:pPr algn="l" latinLnBrk="1">
                  <a:lnSpc>
                    <a:spcPts val="4700"/>
                  </a:lnSpc>
                </a:pPr>
                <a:r>
                  <a:rPr lang="en-US" altLang="zh-CN" sz="2400" b="0" i="0" dirty="0">
                    <a:solidFill>
                      <a:srgbClr val="000000"/>
                    </a:solidFill>
                    <a:latin typeface="Times New Roman" pitchFamily="34" charset="0"/>
                    <a:ea typeface="微软雅黑" pitchFamily="34" charset="-122"/>
                    <a:cs typeface="Times New Roman" pitchFamily="34" charset="-120"/>
                  </a:rPr>
                  <a:t>A.每根筷子对小球的压力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𝑁</m:t>
                    </m:r>
                  </m:oMath>
                </a14:m>
                <a:r>
                  <a:rPr lang="en-US" altLang="zh-CN" sz="2400" b="0" i="0" dirty="0">
                    <a:solidFill>
                      <a:srgbClr val="000000"/>
                    </a:solidFill>
                    <a:latin typeface="Times New Roman" pitchFamily="34" charset="0"/>
                    <a:ea typeface="微软雅黑" pitchFamily="34" charset="-122"/>
                    <a:cs typeface="Times New Roman" pitchFamily="34" charset="-120"/>
                  </a:rPr>
                  <a:t>的最大值为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𝑚𝑔</m:t>
                        </m:r>
                      </m:num>
                      <m:den>
                        <m:r>
                          <a:rPr lang="en-US" altLang="zh-CN" sz="2400" b="0" i="0">
                            <a:solidFill>
                              <a:srgbClr val="000000"/>
                            </a:solidFill>
                            <a:latin typeface="Cambria Math" pitchFamily="34" charset="0"/>
                            <a:ea typeface="Cambria Math" pitchFamily="34" charset="-122"/>
                            <a:cs typeface="Cambria Math" pitchFamily="34" charset="-120"/>
                          </a:rPr>
                          <m:t>2(</m:t>
                        </m:r>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𝜇</m:t>
                        </m:r>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7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.每根筷子对小球的压力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𝑁</m:t>
                    </m:r>
                  </m:oMath>
                </a14:m>
                <a:r>
                  <a:rPr lang="en-US" altLang="zh-CN" sz="2400" b="0" i="0" dirty="0">
                    <a:solidFill>
                      <a:srgbClr val="000000"/>
                    </a:solidFill>
                    <a:latin typeface="Times New Roman" pitchFamily="34" charset="0"/>
                    <a:ea typeface="微软雅黑" pitchFamily="34" charset="-122"/>
                    <a:cs typeface="Times New Roman" pitchFamily="34" charset="-120"/>
                  </a:rPr>
                  <a:t>的最小值为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𝑚𝑔</m:t>
                        </m:r>
                      </m:num>
                      <m:den>
                        <m:r>
                          <a:rPr lang="en-US" altLang="zh-CN" sz="2400" b="0" i="0">
                            <a:solidFill>
                              <a:srgbClr val="000000"/>
                            </a:solidFill>
                            <a:latin typeface="Cambria Math" pitchFamily="34" charset="0"/>
                            <a:ea typeface="Cambria Math" pitchFamily="34" charset="-122"/>
                            <a:cs typeface="Cambria Math" pitchFamily="34" charset="-120"/>
                          </a:rPr>
                          <m:t>2(</m:t>
                        </m:r>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𝜇</m:t>
                        </m:r>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.筷子对小球的摩擦力不可能为0</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.筷子对小球的摩擦力可以沿接触面向下</a:t>
                </a:r>
                <a:endParaRPr lang="en-US" altLang="zh-CN" sz="2400" dirty="0"/>
              </a:p>
            </p:txBody>
          </p:sp>
        </mc:Choice>
        <mc:Fallback>
          <p:sp>
            <p:nvSpPr>
              <p:cNvPr id="5" name="QC_4_BD.12_3#36fff456c.choices?htil=7&amp;vcp=1&amp;pid=dbaa304cf&amp;color=0,0,0&amp;vtp=1&amp;bbb=1"/>
              <p:cNvSpPr>
                <a:spLocks noRot="1" noChangeAspect="1" noMove="1" noResize="1" noEditPoints="1" noAdjustHandles="1" noChangeArrowheads="1" noChangeShapeType="1" noTextEdit="1"/>
              </p:cNvSpPr>
              <p:nvPr/>
            </p:nvSpPr>
            <p:spPr>
              <a:xfrm>
                <a:off x="393192" y="3528313"/>
                <a:ext cx="9674352" cy="2231200"/>
              </a:xfrm>
              <a:prstGeom prst="rect">
                <a:avLst/>
              </a:prstGeom>
              <a:blipFill>
                <a:blip r:embed="rId5"/>
                <a:stretch>
                  <a:fillRect l="-1953" b="-7923"/>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p:pic>
        <p:nvPicPr>
          <p:cNvPr id="2" name="QC_4_AS.14_1#36fff456c?htil=8&amp;vcp=1&amp;pid=dbaa304cf&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7511918" y="697325"/>
            <a:ext cx="4251960" cy="213055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AS.14_2#36fff456c?htil=8&amp;vcp=1&amp;pid=dbaa304cf&amp;color=0,0,0&amp;vtp=1&amp;bt=1&amp;bbb=1&amp;hb=1&amp;hs=1"/>
              <p:cNvSpPr/>
              <p:nvPr/>
            </p:nvSpPr>
            <p:spPr>
              <a:xfrm>
                <a:off x="393192" y="651605"/>
                <a:ext cx="7013448" cy="22733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筷子对小球的压力较小时</a:t>
                </a:r>
                <a:r>
                  <a:rPr lang="en-US" altLang="zh-CN" sz="2400" b="1" i="0">
                    <a:solidFill>
                      <a:srgbClr val="FF0000"/>
                    </a:solidFill>
                    <a:latin typeface="Times New Roman" pitchFamily="34" charset="0"/>
                    <a:ea typeface="微软雅黑" pitchFamily="34" charset="-122"/>
                    <a:cs typeface="Times New Roman" pitchFamily="34" charset="-120"/>
                  </a:rPr>
                  <a:t>，小球有下滑的趋</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势</a:t>
                </a:r>
                <a:r>
                  <a:rPr lang="en-US" altLang="zh-CN" sz="2400" b="1" i="0" dirty="0">
                    <a:solidFill>
                      <a:srgbClr val="FF0000"/>
                    </a:solidFill>
                    <a:latin typeface="Times New Roman" pitchFamily="34" charset="0"/>
                    <a:ea typeface="微软雅黑" pitchFamily="34" charset="-122"/>
                    <a:cs typeface="Times New Roman" pitchFamily="34" charset="-120"/>
                  </a:rPr>
                  <a:t>，最大静摩擦力方向沿筷子向上，如图甲所示</a:t>
                </a:r>
                <a:r>
                  <a:rPr lang="en-US" altLang="zh-CN" sz="2400" b="1" i="0">
                    <a:solidFill>
                      <a:srgbClr val="FF0000"/>
                    </a:solidFill>
                    <a:latin typeface="Times New Roman" pitchFamily="34" charset="0"/>
                    <a:ea typeface="微软雅黑" pitchFamily="34" charset="-122"/>
                    <a:cs typeface="Times New Roman" pitchFamily="34" charset="-120"/>
                  </a:rPr>
                  <a:t>，小</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球平衡时</a:t>
                </a:r>
                <a:r>
                  <a:rPr lang="en-US" altLang="zh-CN" sz="2400" b="1" i="0" dirty="0">
                    <a:solidFill>
                      <a:srgbClr val="FF0000"/>
                    </a:solidFill>
                    <a:latin typeface="Times New Roman" pitchFamily="34" charset="0"/>
                    <a:ea typeface="微软雅黑" pitchFamily="34" charset="-122"/>
                    <a:cs typeface="Times New Roman" pitchFamily="34" charset="-120"/>
                  </a:rPr>
                  <a:t>，有</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𝑵</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联立解得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；筷子对小球的压力较大</a:t>
                </a:r>
                <a:endParaRPr lang="en-US" altLang="zh-CN" sz="2400" dirty="0"/>
              </a:p>
            </p:txBody>
          </p:sp>
        </mc:Choice>
        <mc:Fallback>
          <p:sp>
            <p:nvSpPr>
              <p:cNvPr id="3" name="QC_4_AS.14_2#36fff456c?htil=8&amp;vcp=1&amp;pid=dbaa304cf&amp;color=0,0,0&amp;vtp=1&amp;bt=1&amp;bbb=1&amp;hb=1&amp;hs=1"/>
              <p:cNvSpPr>
                <a:spLocks noRot="1" noChangeAspect="1" noMove="1" noResize="1" noEditPoints="1" noAdjustHandles="1" noChangeArrowheads="1" noChangeShapeType="1" noTextEdit="1"/>
              </p:cNvSpPr>
              <p:nvPr/>
            </p:nvSpPr>
            <p:spPr>
              <a:xfrm>
                <a:off x="393192" y="651605"/>
                <a:ext cx="7013448" cy="2273300"/>
              </a:xfrm>
              <a:prstGeom prst="rect">
                <a:avLst/>
              </a:prstGeom>
              <a:blipFill>
                <a:blip r:embed="rId4"/>
                <a:stretch>
                  <a:fillRect l="-2696" r="-2609" b="-2413"/>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QC_4_AS.14_2#36fff456c?htil=8&amp;vcp=1&amp;pid=dbaa304cf&amp;color=0,0,0&amp;vtp=1&amp;bt=1&amp;bbb=1&amp;hb=1&amp;hs=1">
                <a:extLst>
                  <a:ext uri="{FF2B5EF4-FFF2-40B4-BE49-F238E27FC236}">
                    <a16:creationId xmlns:a16="http://schemas.microsoft.com/office/drawing/2014/main" id="{ABDC016B-7DC5-00CB-DF0A-4974D19CFE98}"/>
                  </a:ext>
                </a:extLst>
              </p:cNvPr>
              <p:cNvSpPr/>
              <p:nvPr/>
            </p:nvSpPr>
            <p:spPr>
              <a:xfrm>
                <a:off x="393192" y="2892901"/>
                <a:ext cx="11400008" cy="3348800"/>
              </a:xfrm>
              <a:prstGeom prst="rect">
                <a:avLst/>
              </a:prstGeom>
              <a:noFill/>
              <a:ln/>
            </p:spPr>
            <p:txBody>
              <a:bodyPr wrap="none" lIns="0" tIns="0" rIns="0" bIns="0" rtlCol="0" anchor="t"/>
              <a:lstStyle/>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时</a:t>
                </a:r>
                <a:r>
                  <a:rPr lang="en-US" altLang="zh-CN" sz="2400" b="1" i="0" dirty="0">
                    <a:solidFill>
                      <a:srgbClr val="FF0000"/>
                    </a:solidFill>
                    <a:latin typeface="Times New Roman" pitchFamily="34" charset="0"/>
                    <a:ea typeface="微软雅黑" pitchFamily="34" charset="-122"/>
                    <a:cs typeface="Times New Roman" pitchFamily="34" charset="-120"/>
                  </a:rPr>
                  <a:t>，小球有上滑的趋势</a:t>
                </a:r>
                <a:r>
                  <a:rPr lang="en-US" altLang="zh-CN" sz="2400" b="1" i="0">
                    <a:solidFill>
                      <a:srgbClr val="FF0000"/>
                    </a:solidFill>
                    <a:latin typeface="Times New Roman" pitchFamily="34" charset="0"/>
                    <a:ea typeface="微软雅黑" pitchFamily="34" charset="-122"/>
                    <a:cs typeface="Times New Roman" pitchFamily="34" charset="-120"/>
                  </a:rPr>
                  <a:t>，最大静摩擦力方向沿筷子向下</a:t>
                </a:r>
                <a:r>
                  <a:rPr lang="en-US" altLang="zh-CN" sz="2400" b="1" i="0" dirty="0">
                    <a:solidFill>
                      <a:srgbClr val="FF0000"/>
                    </a:solidFill>
                    <a:latin typeface="Times New Roman" pitchFamily="34" charset="0"/>
                    <a:ea typeface="微软雅黑" pitchFamily="34" charset="-122"/>
                    <a:cs typeface="Times New Roman" pitchFamily="34" charset="-120"/>
                  </a:rPr>
                  <a:t>，如图乙所示，</a:t>
                </a:r>
                <a:r>
                  <a:rPr lang="en-US" altLang="zh-CN" sz="2400" b="1" i="0">
                    <a:solidFill>
                      <a:srgbClr val="FF0000"/>
                    </a:solidFill>
                    <a:latin typeface="Times New Roman" pitchFamily="34" charset="0"/>
                    <a:ea typeface="微软雅黑" pitchFamily="34" charset="-122"/>
                    <a:cs typeface="Times New Roman" pitchFamily="34" charset="-120"/>
                  </a:rPr>
                  <a:t>小球平衡时，</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有</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，联立解得</a:t>
                </a:r>
              </a:p>
              <a:p>
                <a:pPr latinLnBrk="1">
                  <a:lnSpc>
                    <a:spcPts val="47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，综上</a:t>
                </a:r>
                <a:r>
                  <a:rPr lang="en-US" altLang="zh-CN" sz="2400" b="1" i="0">
                    <a:solidFill>
                      <a:srgbClr val="FF0000"/>
                    </a:solidFill>
                    <a:latin typeface="Times New Roman" pitchFamily="34" charset="0"/>
                    <a:ea typeface="微软雅黑" pitchFamily="34" charset="-122"/>
                    <a:cs typeface="Times New Roman" pitchFamily="34" charset="-120"/>
                  </a:rPr>
                  <a:t>，每根筷子对小球的压力的</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取值范围为</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𝐜𝐨𝐬</m:t>
                        </m:r>
                        <m:r>
                          <a:rPr lang="en-US" altLang="zh-CN" sz="2400" b="1" i="1">
                            <a:solidFill>
                              <a:srgbClr val="FF0000"/>
                            </a:solidFill>
                            <a:latin typeface="Cambria Math" pitchFamily="34" charset="0"/>
                            <a:ea typeface="Cambria Math" pitchFamily="34" charset="-122"/>
                            <a:cs typeface="Cambria Math" pitchFamily="34" charset="-120"/>
                          </a:rPr>
                          <m:t>𝜽</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a:t>
                </a:r>
                <a:r>
                  <a:rPr lang="en-US" altLang="zh-CN" sz="2400" b="1" i="0">
                    <a:solidFill>
                      <a:srgbClr val="FF0000"/>
                    </a:solidFill>
                    <a:latin typeface="Times New Roman" pitchFamily="34" charset="0"/>
                    <a:ea typeface="微软雅黑" pitchFamily="34" charset="-122"/>
                    <a:cs typeface="Times New Roman" pitchFamily="34" charset="-120"/>
                  </a:rPr>
                  <a:t>、B</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错误</a:t>
                </a:r>
                <a:r>
                  <a:rPr lang="en-US" altLang="zh-CN" sz="2400" b="1" i="0" dirty="0">
                    <a:solidFill>
                      <a:srgbClr val="FF0000"/>
                    </a:solidFill>
                    <a:latin typeface="Times New Roman" pitchFamily="34" charset="0"/>
                    <a:ea typeface="微软雅黑" pitchFamily="34" charset="-122"/>
                    <a:cs typeface="Times New Roman" pitchFamily="34" charset="-120"/>
                  </a:rPr>
                  <a:t>，D正确</a:t>
                </a:r>
                <a:r>
                  <a:rPr lang="en-US" altLang="zh-CN" sz="2400" b="1" i="0">
                    <a:solidFill>
                      <a:srgbClr val="FF0000"/>
                    </a:solidFill>
                    <a:latin typeface="Times New Roman" pitchFamily="34" charset="0"/>
                    <a:ea typeface="微软雅黑" pitchFamily="34" charset="-122"/>
                    <a:cs typeface="Times New Roman" pitchFamily="34" charset="-120"/>
                  </a:rPr>
                  <a:t>.当每根筷子对小球的压力在竖直方向的合力等于小球重力时，筷子对小</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球的摩擦力等于0，故</a:t>
                </a:r>
                <a:r>
                  <a:rPr lang="en-US" altLang="zh-CN" sz="2400" b="1" i="0" dirty="0">
                    <a:solidFill>
                      <a:srgbClr val="FF0000"/>
                    </a:solidFill>
                    <a:latin typeface="Times New Roman" pitchFamily="34" charset="0"/>
                    <a:ea typeface="微软雅黑" pitchFamily="34" charset="-122"/>
                    <a:cs typeface="Times New Roman" pitchFamily="34" charset="-120"/>
                  </a:rPr>
                  <a:t>C错误.</a:t>
                </a:r>
                <a:endParaRPr lang="en-US" altLang="zh-CN" sz="2400" dirty="0"/>
              </a:p>
            </p:txBody>
          </p:sp>
        </mc:Choice>
        <mc:Fallback>
          <p:sp>
            <p:nvSpPr>
              <p:cNvPr id="4" name="QC_4_AS.14_2#36fff456c?htil=8&amp;vcp=1&amp;pid=dbaa304cf&amp;color=0,0,0&amp;vtp=1&amp;bt=1&amp;bbb=1&amp;hb=1&amp;hs=1">
                <a:extLst>
                  <a:ext uri="{FF2B5EF4-FFF2-40B4-BE49-F238E27FC236}">
                    <a16:creationId xmlns:a16="http://schemas.microsoft.com/office/drawing/2014/main" id="{ABDC016B-7DC5-00CB-DF0A-4974D19CFE98}"/>
                  </a:ext>
                </a:extLst>
              </p:cNvPr>
              <p:cNvSpPr>
                <a:spLocks noRot="1" noChangeAspect="1" noMove="1" noResize="1" noEditPoints="1" noAdjustHandles="1" noChangeArrowheads="1" noChangeShapeType="1" noTextEdit="1"/>
              </p:cNvSpPr>
              <p:nvPr/>
            </p:nvSpPr>
            <p:spPr>
              <a:xfrm>
                <a:off x="393192" y="2892901"/>
                <a:ext cx="11400008" cy="3348800"/>
              </a:xfrm>
              <a:prstGeom prst="rect">
                <a:avLst/>
              </a:prstGeom>
              <a:blipFill>
                <a:blip r:embed="rId5"/>
                <a:stretch>
                  <a:fillRect l="-1658" r="-535" b="-5282"/>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left)">
                                      <p:cBhvr>
                                        <p:cTn id="10" dur="500"/>
                                        <p:tgtEl>
                                          <p:spTgt spid="3">
                                            <p:bg/>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animEffect transition="in" filter="wipe(left)">
                                      <p:cBhvr>
                                        <p:cTn id="25" dur="500"/>
                                        <p:tgtEl>
                                          <p:spTgt spid="4">
                                            <p:bg/>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wipe(left)">
                                      <p:cBhvr>
                                        <p:cTn id="28" dur="500"/>
                                        <p:tgtEl>
                                          <p:spTgt spid="4">
                                            <p:txEl>
                                              <p:pRg st="0" end="0"/>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Effect transition="in" filter="wipe(left)">
                                      <p:cBhvr>
                                        <p:cTn id="31" dur="500"/>
                                        <p:tgtEl>
                                          <p:spTgt spid="4">
                                            <p:txEl>
                                              <p:pRg st="1" end="1"/>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
                                            <p:txEl>
                                              <p:pRg st="2" end="2"/>
                                            </p:txEl>
                                          </p:spTgt>
                                        </p:tgtEl>
                                        <p:attrNameLst>
                                          <p:attrName>style.visibility</p:attrName>
                                        </p:attrNameLst>
                                      </p:cBhvr>
                                      <p:to>
                                        <p:strVal val="visible"/>
                                      </p:to>
                                    </p:set>
                                    <p:animEffect transition="in" filter="wipe(left)">
                                      <p:cBhvr>
                                        <p:cTn id="34" dur="500"/>
                                        <p:tgtEl>
                                          <p:spTgt spid="4">
                                            <p:txEl>
                                              <p:pRg st="2" end="2"/>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wipe(left)">
                                      <p:cBhvr>
                                        <p:cTn id="37" dur="500"/>
                                        <p:tgtEl>
                                          <p:spTgt spid="4">
                                            <p:txEl>
                                              <p:pRg st="3" end="3"/>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Effect transition="in" filter="wipe(left)">
                                      <p:cBhvr>
                                        <p:cTn id="40" dur="500"/>
                                        <p:tgtEl>
                                          <p:spTgt spid="4">
                                            <p:txEl>
                                              <p:pRg st="4" end="4"/>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animEffect transition="in" filter="wipe(left)">
                                      <p:cBhvr>
                                        <p:cTn id="43"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5_1#49dc5c043?vcp=1&amp;pid=dbaa304cf&amp;color=0,0,0&amp;vtp=1&amp;bt=1&amp;bbb=1&amp;hb=1"/>
              <p:cNvSpPr/>
              <p:nvPr/>
            </p:nvSpPr>
            <p:spPr>
              <a:xfrm>
                <a:off x="393192" y="1586134"/>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变式3-1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（2026·浙江湖州中学检测）</a:t>
                </a:r>
                <a:r>
                  <a:rPr lang="en-US" altLang="zh-CN" sz="2400" b="0" i="0" dirty="0">
                    <a:solidFill>
                      <a:srgbClr val="000000"/>
                    </a:solidFill>
                    <a:latin typeface="Times New Roman" pitchFamily="34" charset="0"/>
                    <a:ea typeface="微软雅黑" pitchFamily="34" charset="-122"/>
                    <a:cs typeface="Times New Roman" pitchFamily="34" charset="-120"/>
                  </a:rPr>
                  <a:t>课堂上，</a:t>
                </a:r>
                <a:r>
                  <a:rPr lang="en-US" altLang="zh-CN" sz="2400" b="0" i="0">
                    <a:solidFill>
                      <a:srgbClr val="000000"/>
                    </a:solidFill>
                    <a:latin typeface="Times New Roman" pitchFamily="34" charset="0"/>
                    <a:ea typeface="微软雅黑" pitchFamily="34" charset="-122"/>
                    <a:cs typeface="Times New Roman" pitchFamily="34" charset="-120"/>
                  </a:rPr>
                  <a:t>老师准备了横截面为“</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”形的光滑木</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板和三个完全相同</a:t>
                </a:r>
                <a:r>
                  <a:rPr lang="en-US" altLang="zh-CN" sz="2400" b="0" i="0" dirty="0">
                    <a:solidFill>
                      <a:srgbClr val="000000"/>
                    </a:solidFill>
                    <a:latin typeface="Times New Roman" pitchFamily="34" charset="0"/>
                    <a:ea typeface="微软雅黑" pitchFamily="34" charset="-122"/>
                    <a:cs typeface="Times New Roman" pitchFamily="34" charset="-120"/>
                  </a:rPr>
                  <a:t>、外表面光滑的匀质圆柱体积木</a:t>
                </a:r>
                <a:r>
                  <a:rPr lang="en-US" altLang="zh-CN" sz="2400" b="0" i="0">
                    <a:solidFill>
                      <a:srgbClr val="000000"/>
                    </a:solidFill>
                    <a:latin typeface="Times New Roman" pitchFamily="34" charset="0"/>
                    <a:ea typeface="微软雅黑" pitchFamily="34" charset="-122"/>
                    <a:cs typeface="Times New Roman" pitchFamily="34" charset="-120"/>
                  </a:rPr>
                  <a:t>，要将三个积木按如图所示</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截面图）方式堆放在木板上，则木板与水平面夹角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的最大值为(</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5_1#49dc5c043?vcp=1&amp;pid=dbaa304cf&amp;color=0,0,0&amp;vtp=1&amp;bt=1&amp;bbb=1&amp;hb=1"/>
              <p:cNvSpPr>
                <a:spLocks noRot="1" noChangeAspect="1" noMove="1" noResize="1" noEditPoints="1" noAdjustHandles="1" noChangeArrowheads="1" noChangeShapeType="1" noTextEdit="1"/>
              </p:cNvSpPr>
              <p:nvPr/>
            </p:nvSpPr>
            <p:spPr>
              <a:xfrm>
                <a:off x="393192" y="1586134"/>
                <a:ext cx="11402568" cy="1592199"/>
              </a:xfrm>
              <a:prstGeom prst="rect">
                <a:avLst/>
              </a:prstGeom>
              <a:blipFill>
                <a:blip r:embed="rId3"/>
                <a:stretch>
                  <a:fillRect l="-1658" b="-11877"/>
                </a:stretch>
              </a:blipFill>
              <a:ln/>
            </p:spPr>
            <p:txBody>
              <a:bodyPr/>
              <a:lstStyle/>
              <a:p>
                <a:r>
                  <a:rPr lang="zh-CN" altLang="en-US">
                    <a:noFill/>
                  </a:rPr>
                  <a:t> </a:t>
                </a:r>
              </a:p>
            </p:txBody>
          </p:sp>
        </mc:Fallback>
      </mc:AlternateContent>
      <p:pic>
        <p:nvPicPr>
          <p:cNvPr id="3" name="QC_4_BD.15_1#49dc5c043?vcp=1&amp;pid=dbaa304cf&amp;color=0,0,0&amp;tib=255,255,255&amp;iip=1&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9633236" y="1759870"/>
            <a:ext cx="265176" cy="201168"/>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QC_4_AN.16_1#49dc5c043.bracket?vcp=1&amp;pid=dbaa304cf&amp;color=0,0,0&amp;vpa=5&amp;vtp=1"/>
          <p:cNvSpPr/>
          <p:nvPr/>
        </p:nvSpPr>
        <p:spPr>
          <a:xfrm>
            <a:off x="9492965" y="269230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pic>
        <p:nvPicPr>
          <p:cNvPr id="5" name="QC_4_BD.15_2#49dc5c043?vcp=1&amp;pid=dbaa304cf&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5102352" y="3306730"/>
            <a:ext cx="1993392" cy="135331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6" name="QC_4_BD.15_3#49dc5c043.choices?vcp=1&amp;pid=dbaa304cf&amp;color=0,0,0&amp;vtp=1&amp;bbb=1"/>
              <p:cNvSpPr/>
              <p:nvPr/>
            </p:nvSpPr>
            <p:spPr>
              <a:xfrm>
                <a:off x="393192" y="4792630"/>
                <a:ext cx="11402568" cy="477330"/>
              </a:xfrm>
              <a:prstGeom prst="rect">
                <a:avLst/>
              </a:prstGeom>
              <a:noFill/>
              <a:ln/>
            </p:spPr>
            <p:txBody>
              <a:bodyPr wrap="none" lIns="0" tIns="0" rIns="0" bIns="0" rtlCol="0" anchor="t"/>
              <a:lstStyle/>
              <a:p>
                <a:pPr latinLnBrk="1">
                  <a:lnSpc>
                    <a:spcPts val="4300"/>
                  </a:lnSpc>
                  <a:tabLst>
                    <a:tab pos="2916677" algn="l"/>
                    <a:tab pos="5807954" algn="l"/>
                    <a:tab pos="8699231"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30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45</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60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90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6" name="QC_4_BD.15_3#49dc5c043.choices?vcp=1&amp;pid=dbaa304cf&amp;color=0,0,0&amp;vtp=1&amp;bbb=1"/>
              <p:cNvSpPr>
                <a:spLocks noRot="1" noChangeAspect="1" noMove="1" noResize="1" noEditPoints="1" noAdjustHandles="1" noChangeArrowheads="1" noChangeShapeType="1" noTextEdit="1"/>
              </p:cNvSpPr>
              <p:nvPr/>
            </p:nvSpPr>
            <p:spPr>
              <a:xfrm>
                <a:off x="393192" y="4792630"/>
                <a:ext cx="11402568" cy="477330"/>
              </a:xfrm>
              <a:prstGeom prst="rect">
                <a:avLst/>
              </a:prstGeom>
              <a:blipFill>
                <a:blip r:embed="rId6"/>
                <a:stretch>
                  <a:fillRect l="-1658" b="-41026"/>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17_1#49dc5c043?vcp=1&amp;pid=dbaa304cf&amp;color=0,0,0&amp;vtp=1&amp;bt=1&amp;bbb=1&amp;hb=1"/>
              <p:cNvSpPr/>
              <p:nvPr/>
            </p:nvSpPr>
            <p:spPr>
              <a:xfrm>
                <a:off x="393192" y="1538065"/>
                <a:ext cx="11402568" cy="3831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取</a:t>
                </a:r>
                <a14:m>
                  <m:oMath xmlns:m="http://schemas.openxmlformats.org/officeDocument/2006/math">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时，下面两圆柱将会分开，无法稳定，应适当增大</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以保持系统稳定，</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此时下面两圆柱之间有弹力</a:t>
                </a:r>
                <a:r>
                  <a:rPr lang="en-US" altLang="zh-CN" sz="2400" b="1" i="0" dirty="0">
                    <a:solidFill>
                      <a:srgbClr val="FF0000"/>
                    </a:solidFill>
                    <a:latin typeface="Times New Roman" pitchFamily="34" charset="0"/>
                    <a:ea typeface="微软雅黑" pitchFamily="34" charset="-122"/>
                    <a:cs typeface="Times New Roman" pitchFamily="34" charset="-120"/>
                  </a:rPr>
                  <a:t>；当下面两圆柱之间的弹力恰好为0时，对应的</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为最小</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值</a:t>
                </a:r>
                <a:r>
                  <a:rPr lang="en-US" altLang="zh-CN" sz="2400" b="1" i="0" dirty="0">
                    <a:solidFill>
                      <a:srgbClr val="FF0000"/>
                    </a:solidFill>
                    <a:latin typeface="Times New Roman" pitchFamily="34" charset="0"/>
                    <a:ea typeface="微软雅黑" pitchFamily="34" charset="-122"/>
                    <a:cs typeface="Times New Roman" pitchFamily="34" charset="-120"/>
                  </a:rPr>
                  <a:t>；继续增大</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，右圆柱和上圆柱之间弹力减小，若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太大，此两圆柱将分开</a:t>
                </a:r>
                <a:r>
                  <a:rPr lang="en-US" altLang="zh-CN" sz="2400" b="1" i="0">
                    <a:solidFill>
                      <a:srgbClr val="FF0000"/>
                    </a:solidFill>
                    <a:latin typeface="Times New Roman" pitchFamily="34" charset="0"/>
                    <a:ea typeface="微软雅黑" pitchFamily="34" charset="-122"/>
                    <a:cs typeface="Times New Roman" pitchFamily="34" charset="-120"/>
                  </a:rPr>
                  <a:t>，当上</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圆柱和右圆柱之间的弹力恰好为</a:t>
                </a:r>
                <a:r>
                  <a:rPr lang="en-US" altLang="zh-CN" sz="2400" b="1" i="0" dirty="0">
                    <a:solidFill>
                      <a:srgbClr val="FF0000"/>
                    </a:solidFill>
                    <a:latin typeface="Times New Roman" pitchFamily="34" charset="0"/>
                    <a:ea typeface="微软雅黑" pitchFamily="34" charset="-122"/>
                    <a:cs typeface="Times New Roman" pitchFamily="34" charset="-120"/>
                  </a:rPr>
                  <a:t>0时，对应的</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为最大值.临界情况为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取</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𝜽</m:t>
                        </m:r>
                      </m:e>
                      <m:sub>
                        <m:r>
                          <a:rPr lang="en-US" altLang="zh-CN" sz="2400" b="1" i="0">
                            <a:solidFill>
                              <a:srgbClr val="FF0000"/>
                            </a:solidFill>
                            <a:latin typeface="Cambria Math" pitchFamily="34" charset="0"/>
                            <a:ea typeface="Cambria Math" pitchFamily="34" charset="-122"/>
                            <a:cs typeface="Cambria Math" pitchFamily="34" charset="-120"/>
                          </a:rPr>
                          <m:t>𝐦𝐚𝐱</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a:t>
                </a:r>
                <a:r>
                  <a:rPr lang="en-US" altLang="zh-CN" sz="2400" b="1" i="0">
                    <a:solidFill>
                      <a:srgbClr val="FF0000"/>
                    </a:solidFill>
                    <a:latin typeface="Times New Roman" pitchFamily="34" charset="0"/>
                    <a:ea typeface="微软雅黑" pitchFamily="34" charset="-122"/>
                    <a:cs typeface="Times New Roman" pitchFamily="34" charset="-120"/>
                  </a:rPr>
                  <a:t>，左</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边两圆柱的圆心连线在竖直方向上，保证上圆柱只受到两个力的作用恰好处于平衡状</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态</a:t>
                </a:r>
                <a:r>
                  <a:rPr lang="en-US" altLang="zh-CN" sz="2400" b="1" i="0" dirty="0">
                    <a:solidFill>
                      <a:srgbClr val="FF0000"/>
                    </a:solidFill>
                    <a:latin typeface="Times New Roman" pitchFamily="34" charset="0"/>
                    <a:ea typeface="微软雅黑" pitchFamily="34" charset="-122"/>
                    <a:cs typeface="Times New Roman" pitchFamily="34" charset="-120"/>
                  </a:rPr>
                  <a:t>，此时上圆柱与右圆柱间相互接触且无弹力，根据几何关系可得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𝜽</m:t>
                        </m:r>
                      </m:e>
                      <m:sub>
                        <m:r>
                          <a:rPr lang="en-US" altLang="zh-CN" sz="2400" b="1" i="0">
                            <a:solidFill>
                              <a:srgbClr val="FF0000"/>
                            </a:solidFill>
                            <a:latin typeface="Cambria Math" pitchFamily="34" charset="0"/>
                            <a:ea typeface="Cambria Math" pitchFamily="34" charset="-122"/>
                            <a:cs typeface="Cambria Math" pitchFamily="34" charset="-120"/>
                          </a:rPr>
                          <m:t>𝐦𝐚𝐱</m:t>
                        </m:r>
                      </m:sub>
                    </m:sSub>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a:solidFill>
                      <a:srgbClr val="FF0000"/>
                    </a:solidFill>
                    <a:latin typeface="Times New Roman" pitchFamily="34" charset="0"/>
                    <a:ea typeface="微软雅黑" pitchFamily="34" charset="-122"/>
                    <a:cs typeface="Times New Roman" pitchFamily="34" charset="-120"/>
                  </a:rPr>
                  <a:t>故A</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项正确</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AS.17_1#49dc5c043?vcp=1&amp;pid=dbaa304cf&amp;color=0,0,0&amp;vtp=1&amp;bt=1&amp;bbb=1&amp;hb=1"/>
              <p:cNvSpPr>
                <a:spLocks noRot="1" noChangeAspect="1" noMove="1" noResize="1" noEditPoints="1" noAdjustHandles="1" noChangeArrowheads="1" noChangeShapeType="1" noTextEdit="1"/>
              </p:cNvSpPr>
              <p:nvPr/>
            </p:nvSpPr>
            <p:spPr>
              <a:xfrm>
                <a:off x="393192" y="1538065"/>
                <a:ext cx="11402568" cy="3831400"/>
              </a:xfrm>
              <a:prstGeom prst="rect">
                <a:avLst/>
              </a:prstGeom>
              <a:blipFill>
                <a:blip r:embed="rId3"/>
                <a:stretch>
                  <a:fillRect l="-1658" r="-2941" b="-476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p:pic>
        <p:nvPicPr>
          <p:cNvPr id="2" name="C_3#302cd15e5?vcp=1&amp;pid=81db1c6d2&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302cd15e5?vcp=1&amp;pid=81db1c6d2&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302cd15e5?vcp=1&amp;pid=81db1c6d2&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4</a:t>
            </a:r>
            <a:endParaRPr lang="en-US" altLang="zh-CN" sz="2800" dirty="0"/>
          </a:p>
        </p:txBody>
      </p:sp>
      <p:sp>
        <p:nvSpPr>
          <p:cNvPr id="5" name="C_3_BD#302cd15e5?vcp=1&amp;pid=81db1c6d2&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全反力与摩擦角法求解临界与极值问题</a:t>
            </a:r>
            <a:endParaRPr lang="en-US" altLang="zh-CN" sz="2600" dirty="0"/>
          </a:p>
        </p:txBody>
      </p:sp>
      <p:pic>
        <p:nvPicPr>
          <p:cNvPr id="6" name="P_4_BD#22945dccf?htil=9&amp;vcp=1&amp;pid=302cd15e5&amp;color=0,0,0&amp;tib=255,255,255&amp;vtp=1&amp;hs=1&amp;hs=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9674352" y="952500"/>
            <a:ext cx="2053756" cy="1339406"/>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7" name="P_4_BD#22945dccf?htil=9&amp;vcp=1&amp;pid=302cd15e5&amp;color=0,0,0&amp;vtp=1&amp;bbb=1&amp;hs=1"/>
          <p:cNvSpPr/>
          <p:nvPr/>
        </p:nvSpPr>
        <p:spPr>
          <a:xfrm>
            <a:off x="393192" y="965200"/>
            <a:ext cx="9162288" cy="417449"/>
          </a:xfrm>
          <a:prstGeom prst="rect">
            <a:avLst/>
          </a:prstGeom>
          <a:noFill/>
          <a:ln/>
        </p:spPr>
        <p:txBody>
          <a:bodyPr wrap="none" lIns="0" tIns="0" rIns="0" bIns="0" rtlCol="0" anchor="t"/>
          <a:lstStyle/>
          <a:p>
            <a:pPr algn="l" latinLnBrk="1">
              <a:lnSpc>
                <a:spcPts val="36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1.全反力与摩擦角</a:t>
            </a:r>
            <a:endParaRPr lang="en-US" altLang="zh-CN" sz="2400" dirty="0"/>
          </a:p>
        </p:txBody>
      </p:sp>
      <p:sp>
        <p:nvSpPr>
          <p:cNvPr id="8" name="P_4_BD#22945dccf?htil=9&amp;vcp=1&amp;pid=302cd15e5&amp;color=0,0,0&amp;vtp=1&amp;bbb=1&amp;hb=1&amp;hs=1"/>
          <p:cNvSpPr/>
          <p:nvPr/>
        </p:nvSpPr>
        <p:spPr>
          <a:xfrm>
            <a:off x="393192" y="1433004"/>
            <a:ext cx="9162288" cy="881825"/>
          </a:xfrm>
          <a:prstGeom prst="rect">
            <a:avLst/>
          </a:prstGeom>
          <a:noFill/>
          <a:ln/>
        </p:spPr>
        <p:txBody>
          <a:bodyPr wrap="none" lIns="0" tIns="0" rIns="0" bIns="0" rtlCol="0" anchor="t"/>
          <a:lstStyle/>
          <a:p>
            <a:pPr algn="l" latinLnBrk="1">
              <a:lnSpc>
                <a:spcPts val="37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当一个物体在另一个物体表面（或支持面）静止或滑动时</a:t>
            </a:r>
            <a:r>
              <a:rPr lang="en-US" altLang="zh-CN" sz="2400" b="0" i="0">
                <a:solidFill>
                  <a:srgbClr val="000000"/>
                </a:solidFill>
                <a:latin typeface="Times New Roman" pitchFamily="34" charset="0"/>
                <a:ea typeface="微软雅黑" pitchFamily="34" charset="-122"/>
                <a:cs typeface="Times New Roman" pitchFamily="34" charset="-120"/>
              </a:rPr>
              <a:t>，如果</a:t>
            </a:r>
          </a:p>
          <a:p>
            <a:pPr latinLnBrk="1">
              <a:lnSpc>
                <a:spcPts val="3500"/>
              </a:lnSpc>
            </a:pPr>
            <a:r>
              <a:rPr lang="en-US" altLang="zh-CN" sz="2400" b="0" i="0">
                <a:solidFill>
                  <a:srgbClr val="000000"/>
                </a:solidFill>
                <a:latin typeface="Times New Roman" pitchFamily="34" charset="0"/>
                <a:ea typeface="微软雅黑" pitchFamily="34" charset="-122"/>
                <a:cs typeface="Times New Roman" pitchFamily="34" charset="-120"/>
              </a:rPr>
              <a:t>受到摩擦力的作用</a:t>
            </a:r>
            <a:r>
              <a:rPr lang="en-US" altLang="zh-CN" sz="2400" b="0" i="0" dirty="0">
                <a:solidFill>
                  <a:srgbClr val="000000"/>
                </a:solidFill>
                <a:latin typeface="Times New Roman" pitchFamily="34" charset="0"/>
                <a:ea typeface="微软雅黑" pitchFamily="34" charset="-122"/>
                <a:cs typeface="Times New Roman" pitchFamily="34" charset="-120"/>
              </a:rPr>
              <a:t>，必定也会受到弹力的作用</a:t>
            </a:r>
            <a:r>
              <a:rPr lang="en-US" altLang="zh-CN" sz="2400" b="0" i="0">
                <a:solidFill>
                  <a:srgbClr val="000000"/>
                </a:solidFill>
                <a:latin typeface="Times New Roman" pitchFamily="34" charset="0"/>
                <a:ea typeface="微软雅黑" pitchFamily="34" charset="-122"/>
                <a:cs typeface="Times New Roman" pitchFamily="34" charset="-120"/>
              </a:rPr>
              <a:t>.即支持面对物体施加</a:t>
            </a:r>
            <a:endParaRPr lang="en-US" altLang="zh-CN" sz="2400" dirty="0"/>
          </a:p>
        </p:txBody>
      </p:sp>
      <mc:AlternateContent xmlns:mc="http://schemas.openxmlformats.org/markup-compatibility/2006">
        <mc:Choice xmlns:a14="http://schemas.microsoft.com/office/drawing/2010/main" Requires="a14">
          <p:sp>
            <p:nvSpPr>
              <p:cNvPr id="9" name="P_4_BD#22945dccf?vcp=1&amp;pid=302cd15e5&amp;color=0,0,0&amp;vtp=1&amp;bbb=1&amp;hb=1"/>
              <p:cNvSpPr/>
              <p:nvPr/>
            </p:nvSpPr>
            <p:spPr>
              <a:xfrm>
                <a:off x="393192" y="3673729"/>
                <a:ext cx="11402568" cy="2405825"/>
              </a:xfrm>
              <a:prstGeom prst="rect">
                <a:avLst/>
              </a:prstGeom>
              <a:noFill/>
              <a:ln/>
            </p:spPr>
            <p:txBody>
              <a:bodyPr wrap="none" lIns="0" tIns="0" rIns="0" bIns="0" rtlCol="0" anchor="t"/>
              <a:lstStyle/>
              <a:p>
                <a:pPr algn="l" latinLnBrk="1">
                  <a:lnSpc>
                    <a:spcPts val="37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定义：将支持力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与滑动摩擦力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𝑓</m:t>
                    </m:r>
                  </m:oMath>
                </a14:m>
                <a:r>
                  <a:rPr lang="en-US" altLang="zh-CN" sz="2400" b="0" i="0" dirty="0">
                    <a:solidFill>
                      <a:srgbClr val="000000"/>
                    </a:solidFill>
                    <a:latin typeface="Times New Roman" pitchFamily="34" charset="0"/>
                    <a:ea typeface="微软雅黑" pitchFamily="34" charset="-122"/>
                    <a:cs typeface="Times New Roman" pitchFamily="34" charset="-120"/>
                  </a:rPr>
                  <a:t>的合力叫作全反力，设全反力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aseline="-10000">
                            <a:solidFill>
                              <a:srgbClr val="000000"/>
                            </a:solidFill>
                            <a:latin typeface="Cambria Math" panose="02040503050406030204" pitchFamily="18" charset="0"/>
                          </a:rPr>
                          <m:t>全</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与支持力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之</a:t>
                </a:r>
              </a:p>
              <a:p>
                <a:pPr latinLnBrk="1">
                  <a:lnSpc>
                    <a:spcPts val="4600"/>
                  </a:lnSpc>
                </a:pPr>
                <a:r>
                  <a:rPr lang="en-US" altLang="zh-CN" sz="2400" b="0" i="0">
                    <a:solidFill>
                      <a:srgbClr val="000000"/>
                    </a:solidFill>
                    <a:latin typeface="Times New Roman" pitchFamily="34" charset="0"/>
                    <a:ea typeface="微软雅黑" pitchFamily="34" charset="-122"/>
                    <a:cs typeface="Times New Roman" pitchFamily="34" charset="-120"/>
                  </a:rPr>
                  <a:t>间的夹角为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𝛼</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，则</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𝛼</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𝑓</m:t>
                        </m:r>
                      </m:num>
                      <m:den>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sub>
                        </m:sSub>
                      </m:den>
                    </m:f>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𝜇</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.由于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𝜇</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为定值，所以夹角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𝛼</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也是一个定值</a:t>
                </a:r>
                <a:r>
                  <a:rPr lang="en-US" altLang="zh-CN" sz="2400" b="0" i="0">
                    <a:solidFill>
                      <a:srgbClr val="000000"/>
                    </a:solidFill>
                    <a:latin typeface="Times New Roman" pitchFamily="34" charset="0"/>
                    <a:ea typeface="微软雅黑" pitchFamily="34" charset="-122"/>
                    <a:cs typeface="Times New Roman" pitchFamily="34" charset="-120"/>
                  </a:rPr>
                  <a:t>，我们</a:t>
                </a:r>
              </a:p>
              <a:p>
                <a:pPr latinLnBrk="1">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把这个角叫作摩擦角</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37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由摩擦角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𝛼</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不变的特点可知，随着弹力和摩擦力的大小变化，</a:t>
                </a:r>
                <a:r>
                  <a:rPr lang="en-US" altLang="zh-CN" sz="2400" b="0" i="0">
                    <a:solidFill>
                      <a:srgbClr val="000000"/>
                    </a:solidFill>
                    <a:latin typeface="Times New Roman" pitchFamily="34" charset="0"/>
                    <a:ea typeface="微软雅黑" pitchFamily="34" charset="-122"/>
                    <a:cs typeface="Times New Roman" pitchFamily="34" charset="-120"/>
                  </a:rPr>
                  <a:t>全反力的大小可变，</a:t>
                </a:r>
              </a:p>
              <a:p>
                <a:pPr latinLnBrk="1">
                  <a:lnSpc>
                    <a:spcPts val="3500"/>
                  </a:lnSpc>
                </a:pPr>
                <a:r>
                  <a:rPr lang="en-US" altLang="zh-CN" sz="2400" b="0" i="0">
                    <a:solidFill>
                      <a:srgbClr val="000000"/>
                    </a:solidFill>
                    <a:latin typeface="Times New Roman" pitchFamily="34" charset="0"/>
                    <a:ea typeface="微软雅黑" pitchFamily="34" charset="-122"/>
                    <a:cs typeface="Times New Roman" pitchFamily="34" charset="-120"/>
                  </a:rPr>
                  <a:t>但方向不变</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9" name="P_4_BD#22945dccf?vcp=1&amp;pid=302cd15e5&amp;color=0,0,0&amp;vtp=1&amp;bbb=1&amp;hb=1"/>
              <p:cNvSpPr>
                <a:spLocks noRot="1" noChangeAspect="1" noMove="1" noResize="1" noEditPoints="1" noAdjustHandles="1" noChangeArrowheads="1" noChangeShapeType="1" noTextEdit="1"/>
              </p:cNvSpPr>
              <p:nvPr/>
            </p:nvSpPr>
            <p:spPr>
              <a:xfrm>
                <a:off x="393192" y="3673729"/>
                <a:ext cx="11402568" cy="2405825"/>
              </a:xfrm>
              <a:prstGeom prst="rect">
                <a:avLst/>
              </a:prstGeom>
              <a:blipFill>
                <a:blip r:embed="rId5"/>
                <a:stretch>
                  <a:fillRect l="-1658" t="-1523" r="-3529" b="-7614"/>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P_4_BD#22945dccf?htil=9&amp;vcp=1&amp;pid=302cd15e5&amp;color=0,0,0&amp;vtp=1&amp;bbb=1&amp;hb=1&amp;hs=1">
                <a:extLst>
                  <a:ext uri="{FF2B5EF4-FFF2-40B4-BE49-F238E27FC236}">
                    <a16:creationId xmlns:a16="http://schemas.microsoft.com/office/drawing/2014/main" id="{5493C78C-899E-C418-1ED0-84D5660BA036}"/>
                  </a:ext>
                </a:extLst>
              </p:cNvPr>
              <p:cNvSpPr/>
              <p:nvPr/>
            </p:nvSpPr>
            <p:spPr>
              <a:xfrm>
                <a:off x="393192" y="2314829"/>
                <a:ext cx="11400008" cy="1357249"/>
              </a:xfrm>
              <a:prstGeom prst="rect">
                <a:avLst/>
              </a:prstGeom>
              <a:noFill/>
              <a:ln/>
            </p:spPr>
            <p:txBody>
              <a:bodyPr wrap="none" lIns="0" tIns="0" rIns="0" bIns="0" rtlCol="0" anchor="t"/>
              <a:lstStyle/>
              <a:p>
                <a:pPr latinLnBrk="1">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的作用力同时包括垂直于支持面的法向作用力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（弹力</a:t>
                </a:r>
                <a:r>
                  <a:rPr lang="en-US" altLang="zh-CN" sz="2400" b="0" i="0">
                    <a:solidFill>
                      <a:srgbClr val="000000"/>
                    </a:solidFill>
                    <a:latin typeface="Times New Roman" pitchFamily="34" charset="0"/>
                    <a:ea typeface="微软雅黑" pitchFamily="34" charset="-122"/>
                    <a:cs typeface="Times New Roman" pitchFamily="34" charset="-120"/>
                  </a:rPr>
                  <a:t>）和平行于支持面的切向作用</a:t>
                </a:r>
              </a:p>
              <a:p>
                <a:pPr latinLnBrk="1">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𝑓</m:t>
                    </m:r>
                  </m:oMath>
                </a14:m>
                <a:r>
                  <a:rPr lang="en-US" altLang="zh-CN" sz="2400" b="0" i="0" dirty="0">
                    <a:solidFill>
                      <a:srgbClr val="000000"/>
                    </a:solidFill>
                    <a:latin typeface="Times New Roman" pitchFamily="34" charset="0"/>
                    <a:ea typeface="微软雅黑" pitchFamily="34" charset="-122"/>
                    <a:cs typeface="Times New Roman" pitchFamily="34" charset="-120"/>
                  </a:rPr>
                  <a:t>（摩擦力）两个力，如图所示</a:t>
                </a:r>
                <a:r>
                  <a:rPr lang="en-US" altLang="zh-CN" sz="2400" b="0" i="0">
                    <a:solidFill>
                      <a:srgbClr val="000000"/>
                    </a:solidFill>
                    <a:latin typeface="Times New Roman" pitchFamily="34" charset="0"/>
                    <a:ea typeface="微软雅黑" pitchFamily="34" charset="-122"/>
                    <a:cs typeface="Times New Roman" pitchFamily="34" charset="-120"/>
                  </a:rPr>
                  <a:t>.当摩擦力为滑动摩擦力时</a:t>
                </a:r>
                <a:r>
                  <a:rPr lang="en-US" altLang="zh-CN" sz="2400" b="0" i="0" dirty="0">
                    <a:solidFill>
                      <a:srgbClr val="000000"/>
                    </a:solidFill>
                    <a:latin typeface="Times New Roman" pitchFamily="34" charset="0"/>
                    <a:ea typeface="微软雅黑" pitchFamily="34" charset="-122"/>
                    <a:cs typeface="Times New Roman" pitchFamily="34" charset="-120"/>
                  </a:rPr>
                  <a:t>，摩擦力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𝑓</m:t>
                    </m:r>
                  </m:oMath>
                </a14:m>
                <a:r>
                  <a:rPr lang="en-US" altLang="zh-CN" sz="2400" b="0" i="0" dirty="0">
                    <a:solidFill>
                      <a:srgbClr val="000000"/>
                    </a:solidFill>
                    <a:latin typeface="Times New Roman" pitchFamily="34" charset="0"/>
                    <a:ea typeface="微软雅黑" pitchFamily="34" charset="-122"/>
                    <a:cs typeface="Times New Roman" pitchFamily="34" charset="-120"/>
                  </a:rPr>
                  <a:t>与弹力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总是</a:t>
                </a:r>
              </a:p>
              <a:p>
                <a:pPr latinLnBrk="1">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成正比</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且满足关系式：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𝑓</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𝜇</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𝜇</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为动摩擦因数</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10" name="P_4_BD#22945dccf?htil=9&amp;vcp=1&amp;pid=302cd15e5&amp;color=0,0,0&amp;vtp=1&amp;bbb=1&amp;hb=1&amp;hs=1">
                <a:extLst>
                  <a:ext uri="{FF2B5EF4-FFF2-40B4-BE49-F238E27FC236}">
                    <a16:creationId xmlns:a16="http://schemas.microsoft.com/office/drawing/2014/main" id="{5493C78C-899E-C418-1ED0-84D5660BA036}"/>
                  </a:ext>
                </a:extLst>
              </p:cNvPr>
              <p:cNvSpPr>
                <a:spLocks noRot="1" noChangeAspect="1" noMove="1" noResize="1" noEditPoints="1" noAdjustHandles="1" noChangeArrowheads="1" noChangeShapeType="1" noTextEdit="1"/>
              </p:cNvSpPr>
              <p:nvPr/>
            </p:nvSpPr>
            <p:spPr>
              <a:xfrm>
                <a:off x="393192" y="2314829"/>
                <a:ext cx="11400008" cy="1357249"/>
              </a:xfrm>
              <a:prstGeom prst="rect">
                <a:avLst/>
              </a:prstGeom>
              <a:blipFill>
                <a:blip r:embed="rId6"/>
                <a:stretch>
                  <a:fillRect l="-1658" t="-2703" r="-802" b="-13514"/>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8.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p:pic>
        <p:nvPicPr>
          <p:cNvPr id="2" name="P_4_BD#22945dccf?htil=10&amp;vcp=1&amp;pid=302cd15e5&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415076" y="2505456"/>
            <a:ext cx="2240280" cy="199339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P_4_BD#22945dccf?htil=10&amp;vcp=1&amp;pid=302cd15e5&amp;color=0,0,0&amp;vtp=1&amp;bt=1&amp;bbb=1&amp;hb=1"/>
              <p:cNvSpPr/>
              <p:nvPr/>
            </p:nvSpPr>
            <p:spPr>
              <a:xfrm>
                <a:off x="393192" y="2359152"/>
                <a:ext cx="9025128" cy="1637602"/>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2.自锁现象</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如图所示</a:t>
                </a:r>
                <a:r>
                  <a:rPr lang="en-US" altLang="zh-CN" sz="2400" b="0" i="0" dirty="0">
                    <a:solidFill>
                      <a:srgbClr val="000000"/>
                    </a:solidFill>
                    <a:latin typeface="Times New Roman" pitchFamily="34" charset="0"/>
                    <a:ea typeface="微软雅黑" pitchFamily="34" charset="-122"/>
                    <a:cs typeface="Times New Roman" pitchFamily="34" charset="-120"/>
                  </a:rPr>
                  <a:t>，若外力与支持力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𝑁</m:t>
                    </m:r>
                  </m:oMath>
                </a14:m>
                <a:r>
                  <a:rPr lang="en-US" altLang="zh-CN" sz="2400" b="0" i="0" dirty="0">
                    <a:solidFill>
                      <a:srgbClr val="000000"/>
                    </a:solidFill>
                    <a:latin typeface="Times New Roman" pitchFamily="34" charset="0"/>
                    <a:ea typeface="微软雅黑" pitchFamily="34" charset="-122"/>
                    <a:cs typeface="Times New Roman" pitchFamily="34" charset="-120"/>
                  </a:rPr>
                  <a:t>的夹角小于或等于摩擦角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𝛼</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，则</a:t>
                </a:r>
              </a:p>
              <a:p>
                <a:pPr latinLnBrk="1">
                  <a:lnSpc>
                    <a:spcPts val="4500"/>
                  </a:lnSpc>
                </a:pPr>
                <a:r>
                  <a:rPr lang="en-US" altLang="zh-CN" sz="2400" b="0" i="0">
                    <a:solidFill>
                      <a:srgbClr val="000000"/>
                    </a:solidFill>
                    <a:latin typeface="Times New Roman" pitchFamily="34" charset="0"/>
                    <a:ea typeface="微软雅黑" pitchFamily="34" charset="-122"/>
                    <a:cs typeface="Times New Roman" pitchFamily="34" charset="-120"/>
                  </a:rPr>
                  <a:t>物体自锁</a:t>
                </a:r>
                <a:r>
                  <a:rPr lang="en-US" altLang="zh-CN" sz="2400" b="0" i="0" dirty="0">
                    <a:solidFill>
                      <a:srgbClr val="000000"/>
                    </a:solidFill>
                    <a:latin typeface="Times New Roman" pitchFamily="34" charset="0"/>
                    <a:ea typeface="微软雅黑" pitchFamily="34" charset="-122"/>
                    <a:cs typeface="Times New Roman" pitchFamily="34" charset="-120"/>
                  </a:rPr>
                  <a:t>，无论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aseline="-10000">
                            <a:solidFill>
                              <a:srgbClr val="000000"/>
                            </a:solidFill>
                            <a:latin typeface="Cambria Math" panose="02040503050406030204" pitchFamily="18" charset="0"/>
                          </a:rPr>
                          <m:t>外</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多大，物体都将处于静止状态.</a:t>
                </a:r>
                <a:endParaRPr lang="en-US" altLang="zh-CN" sz="2400" dirty="0"/>
              </a:p>
            </p:txBody>
          </p:sp>
        </mc:Choice>
        <mc:Fallback>
          <p:sp>
            <p:nvSpPr>
              <p:cNvPr id="3" name="P_4_BD#22945dccf?htil=10&amp;vcp=1&amp;pid=302cd15e5&amp;color=0,0,0&amp;vtp=1&amp;bt=1&amp;bbb=1&amp;hb=1"/>
              <p:cNvSpPr>
                <a:spLocks noRot="1" noChangeAspect="1" noMove="1" noResize="1" noEditPoints="1" noAdjustHandles="1" noChangeArrowheads="1" noChangeShapeType="1" noTextEdit="1"/>
              </p:cNvSpPr>
              <p:nvPr/>
            </p:nvSpPr>
            <p:spPr>
              <a:xfrm>
                <a:off x="393192" y="2359152"/>
                <a:ext cx="9025128" cy="1637602"/>
              </a:xfrm>
              <a:prstGeom prst="rect">
                <a:avLst/>
              </a:prstGeom>
              <a:blipFill>
                <a:blip r:embed="rId4"/>
                <a:stretch>
                  <a:fillRect l="-2095" b="-10037"/>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9.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8_1#63d326a9a?vcp=1&amp;pid=302cd15e5&amp;color=0,0,0&amp;vtp=1&amp;bt=1&amp;bbb=1&amp;hb=1"/>
              <p:cNvSpPr/>
              <p:nvPr/>
            </p:nvSpPr>
            <p:spPr>
              <a:xfrm>
                <a:off x="393192" y="1434751"/>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例4</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［经典·浙江选考］如图所示，学校门口水平地面上有一质量为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的石墩</a:t>
                </a:r>
                <a:r>
                  <a:rPr lang="en-US" altLang="zh-CN" sz="2400" b="0" i="0">
                    <a:solidFill>
                      <a:srgbClr val="000000"/>
                    </a:solidFill>
                    <a:latin typeface="Times New Roman" pitchFamily="34" charset="0"/>
                    <a:ea typeface="微软雅黑" pitchFamily="34" charset="-122"/>
                    <a:cs typeface="Times New Roman" pitchFamily="34" charset="-120"/>
                  </a:rPr>
                  <a:t>，石墩与</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水平地面间的动摩擦因数为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𝜇</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，工作人员用轻绳按图示方式匀速移动石墩时</a:t>
                </a:r>
                <a:r>
                  <a:rPr lang="en-US" altLang="zh-CN" sz="2400" b="0" i="0">
                    <a:solidFill>
                      <a:srgbClr val="000000"/>
                    </a:solidFill>
                    <a:latin typeface="Times New Roman" pitchFamily="34" charset="0"/>
                    <a:ea typeface="微软雅黑" pitchFamily="34" charset="-122"/>
                    <a:cs typeface="Times New Roman" pitchFamily="34" charset="-120"/>
                  </a:rPr>
                  <a:t>，两平行</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轻绳与水平面间的夹角均为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则下列说法正确的是(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8_1#63d326a9a?vcp=1&amp;pid=302cd15e5&amp;color=0,0,0&amp;vtp=1&amp;bt=1&amp;bbb=1&amp;hb=1"/>
              <p:cNvSpPr>
                <a:spLocks noRot="1" noChangeAspect="1" noMove="1" noResize="1" noEditPoints="1" noAdjustHandles="1" noChangeArrowheads="1" noChangeShapeType="1" noTextEdit="1"/>
              </p:cNvSpPr>
              <p:nvPr/>
            </p:nvSpPr>
            <p:spPr>
              <a:xfrm>
                <a:off x="393192" y="1434751"/>
                <a:ext cx="11402568" cy="1592199"/>
              </a:xfrm>
              <a:prstGeom prst="rect">
                <a:avLst/>
              </a:prstGeom>
              <a:blipFill>
                <a:blip r:embed="rId3"/>
                <a:stretch>
                  <a:fillRect l="-1658" r="-1070" b="-11450"/>
                </a:stretch>
              </a:blipFill>
              <a:ln/>
            </p:spPr>
            <p:txBody>
              <a:bodyPr/>
              <a:lstStyle/>
              <a:p>
                <a:r>
                  <a:rPr lang="zh-CN" altLang="en-US">
                    <a:noFill/>
                  </a:rPr>
                  <a:t> </a:t>
                </a:r>
              </a:p>
            </p:txBody>
          </p:sp>
        </mc:Fallback>
      </mc:AlternateContent>
      <p:sp>
        <p:nvSpPr>
          <p:cNvPr id="3" name="QC_4_AN.19_1#63d326a9a.bracket?vcp=1&amp;pid=302cd15e5&amp;color=0,0,0&amp;vpa=6&amp;vtp=1"/>
          <p:cNvSpPr/>
          <p:nvPr/>
        </p:nvSpPr>
        <p:spPr>
          <a:xfrm>
            <a:off x="7676865" y="2540921"/>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p:pic>
        <p:nvPicPr>
          <p:cNvPr id="4" name="QC_4_BD.18_2#63d326a9a?htil=11&amp;vcp=1&amp;pid=302cd15e5&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667745" y="3138074"/>
            <a:ext cx="1856232" cy="158191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8_3#63d326a9a.choices?htil=11&amp;vcp=1&amp;pid=302cd15e5&amp;color=0,0,0&amp;vtp=1&amp;bbb=1"/>
              <p:cNvSpPr/>
              <p:nvPr/>
            </p:nvSpPr>
            <p:spPr>
              <a:xfrm>
                <a:off x="393192" y="3028346"/>
                <a:ext cx="9409176" cy="2180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A.轻绳的合拉力大小为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𝜇</m:t>
                        </m:r>
                        <m:r>
                          <a:rPr lang="en-US" altLang="zh-CN" sz="2400" b="0" i="0">
                            <a:solidFill>
                              <a:srgbClr val="000000"/>
                            </a:solidFill>
                            <a:latin typeface="Cambria Math" pitchFamily="34" charset="0"/>
                            <a:ea typeface="Cambria Math" pitchFamily="34" charset="-122"/>
                            <a:cs typeface="Cambria Math" pitchFamily="34" charset="-120"/>
                          </a:rPr>
                          <m:t>𝑚𝑔</m:t>
                        </m:r>
                      </m:num>
                      <m:den>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6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.轻绳的合拉力大小为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𝜇</m:t>
                        </m:r>
                        <m:r>
                          <a:rPr lang="en-US" altLang="zh-CN" sz="2400" b="0" i="0">
                            <a:solidFill>
                              <a:srgbClr val="000000"/>
                            </a:solidFill>
                            <a:latin typeface="Cambria Math" pitchFamily="34" charset="0"/>
                            <a:ea typeface="Cambria Math" pitchFamily="34" charset="-122"/>
                            <a:cs typeface="Cambria Math" pitchFamily="34" charset="-120"/>
                          </a:rPr>
                          <m:t>𝑚𝑔</m:t>
                        </m:r>
                      </m:num>
                      <m:den>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𝜇</m:t>
                        </m:r>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.减小夹角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，轻绳的合拉力一定减小</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.轻绳的合拉力最小时，地面对石墩的摩擦力也最小</a:t>
                </a:r>
                <a:endParaRPr lang="en-US" altLang="zh-CN" sz="2400" dirty="0"/>
              </a:p>
            </p:txBody>
          </p:sp>
        </mc:Choice>
        <mc:Fallback>
          <p:sp>
            <p:nvSpPr>
              <p:cNvPr id="5" name="QC_4_BD.18_3#63d326a9a.choices?htil=11&amp;vcp=1&amp;pid=302cd15e5&amp;color=0,0,0&amp;vtp=1&amp;bbb=1"/>
              <p:cNvSpPr>
                <a:spLocks noRot="1" noChangeAspect="1" noMove="1" noResize="1" noEditPoints="1" noAdjustHandles="1" noChangeArrowheads="1" noChangeShapeType="1" noTextEdit="1"/>
              </p:cNvSpPr>
              <p:nvPr/>
            </p:nvSpPr>
            <p:spPr>
              <a:xfrm>
                <a:off x="393192" y="3028346"/>
                <a:ext cx="9409176" cy="2180400"/>
              </a:xfrm>
              <a:prstGeom prst="rect">
                <a:avLst/>
              </a:prstGeom>
              <a:blipFill>
                <a:blip r:embed="rId5"/>
                <a:stretch>
                  <a:fillRect l="-2009" b="-8403"/>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pic>
        <p:nvPicPr>
          <p:cNvPr id="2" name="QC_4_AS.20_1#63d326a9a?htil=12&amp;vcp=1&amp;pid=302cd15e5&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361578" y="938339"/>
            <a:ext cx="2395728" cy="198424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AS.20_2#63d326a9a?htil=12&amp;vcp=1&amp;pid=302cd15e5&amp;color=0,0,0&amp;vtp=1&amp;bt=1&amp;bbb=1&amp;hb=1&amp;hs=1"/>
              <p:cNvSpPr/>
              <p:nvPr/>
            </p:nvSpPr>
            <p:spPr>
              <a:xfrm>
                <a:off x="393192" y="892619"/>
                <a:ext cx="8869680" cy="22606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设轻绳的合拉力大小为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，对石墩受力分析，如图所示</a:t>
                </a:r>
                <a:r>
                  <a:rPr lang="en-US" altLang="zh-CN" sz="2400" b="1" i="0">
                    <a:solidFill>
                      <a:srgbClr val="FF0000"/>
                    </a:solidFill>
                    <a:latin typeface="Times New Roman" pitchFamily="34" charset="0"/>
                    <a:ea typeface="微软雅黑" pitchFamily="34" charset="-122"/>
                    <a:cs typeface="Times New Roman" pitchFamily="34" charset="-120"/>
                  </a:rPr>
                  <a:t>.由平</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衡条件</a:t>
                </a:r>
                <a:r>
                  <a:rPr lang="en-US" altLang="zh-CN" sz="2400" b="1" i="0" dirty="0">
                    <a:solidFill>
                      <a:srgbClr val="FF0000"/>
                    </a:solidFill>
                    <a:latin typeface="Times New Roman" pitchFamily="34" charset="0"/>
                    <a:ea typeface="微软雅黑" pitchFamily="34" charset="-122"/>
                    <a:cs typeface="Times New Roman" pitchFamily="34" charset="-120"/>
                  </a:rPr>
                  <a:t>，可知在水平方向上有</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𝒇</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，竖直方向上有</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2400" b="1" i="0" dirty="0">
                    <a:solidFill>
                      <a:srgbClr val="FF0000"/>
                    </a:solidFill>
                    <a:latin typeface="Times New Roman" pitchFamily="34" charset="0"/>
                    <a:ea typeface="微软雅黑" pitchFamily="34" charset="-122"/>
                    <a:cs typeface="Times New Roman" pitchFamily="34" charset="-120"/>
                  </a:rPr>
                  <a:t>，且</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𝑵</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，联立解得轻绳的合拉力大小为</a:t>
                </a:r>
              </a:p>
              <a:p>
                <a:pPr latinLnBrk="1">
                  <a:lnSpc>
                    <a:spcPts val="46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，故A错误，B正确；由三角函数知识知</a:t>
                </a:r>
                <a:r>
                  <a:rPr lang="en-US" altLang="zh-CN" sz="2400" b="1" i="0">
                    <a:solidFill>
                      <a:srgbClr val="FF0000"/>
                    </a:solidFill>
                    <a:latin typeface="Times New Roman" pitchFamily="34" charset="0"/>
                    <a:ea typeface="微软雅黑" pitchFamily="34" charset="-122"/>
                    <a:cs typeface="Times New Roman" pitchFamily="34" charset="-120"/>
                  </a:rPr>
                  <a:t>，合拉力的</a:t>
                </a:r>
                <a:endParaRPr lang="en-US" altLang="zh-CN" sz="2400" dirty="0"/>
              </a:p>
            </p:txBody>
          </p:sp>
        </mc:Choice>
        <mc:Fallback>
          <p:sp>
            <p:nvSpPr>
              <p:cNvPr id="3" name="QC_4_AS.20_2#63d326a9a?htil=12&amp;vcp=1&amp;pid=302cd15e5&amp;color=0,0,0&amp;vtp=1&amp;bt=1&amp;bbb=1&amp;hb=1&amp;hs=1"/>
              <p:cNvSpPr>
                <a:spLocks noRot="1" noChangeAspect="1" noMove="1" noResize="1" noEditPoints="1" noAdjustHandles="1" noChangeArrowheads="1" noChangeShapeType="1" noTextEdit="1"/>
              </p:cNvSpPr>
              <p:nvPr/>
            </p:nvSpPr>
            <p:spPr>
              <a:xfrm>
                <a:off x="393192" y="892619"/>
                <a:ext cx="8869680" cy="2260600"/>
              </a:xfrm>
              <a:prstGeom prst="rect">
                <a:avLst/>
              </a:prstGeom>
              <a:blipFill>
                <a:blip r:embed="rId4"/>
                <a:stretch>
                  <a:fillRect l="-2131" r="-1924" b="-2965"/>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QC_4_AS.20_2#63d326a9a?htil=12&amp;vcp=1&amp;pid=302cd15e5&amp;color=0,0,0&amp;vtp=1&amp;bt=1&amp;bbb=1&amp;hb=1&amp;hs=1">
                <a:extLst>
                  <a:ext uri="{FF2B5EF4-FFF2-40B4-BE49-F238E27FC236}">
                    <a16:creationId xmlns:a16="http://schemas.microsoft.com/office/drawing/2014/main" id="{DCC0532F-DFA8-2610-CDBB-F94B465104FD}"/>
                  </a:ext>
                </a:extLst>
              </p:cNvPr>
              <p:cNvSpPr/>
              <p:nvPr/>
            </p:nvSpPr>
            <p:spPr>
              <a:xfrm>
                <a:off x="395996" y="3121152"/>
                <a:ext cx="11400008" cy="2866200"/>
              </a:xfrm>
              <a:prstGeom prst="rect">
                <a:avLst/>
              </a:prstGeom>
              <a:noFill/>
              <a:ln/>
            </p:spPr>
            <p:txBody>
              <a:bodyPr wrap="none" lIns="0" tIns="0" rIns="0" bIns="0" rtlCol="0" anchor="t"/>
              <a:lstStyle/>
              <a:p>
                <a:pPr latinLnBrk="1">
                  <a:lnSpc>
                    <a:spcPts val="5000"/>
                  </a:lnSpc>
                </a:pPr>
                <a:r>
                  <a:rPr lang="en-US" altLang="zh-CN" sz="2400" b="1" i="0">
                    <a:solidFill>
                      <a:srgbClr val="FF0000"/>
                    </a:solidFill>
                    <a:latin typeface="Times New Roman" pitchFamily="34" charset="0"/>
                    <a:ea typeface="微软雅黑" pitchFamily="34" charset="-122"/>
                    <a:cs typeface="Times New Roman" pitchFamily="34" charset="-120"/>
                  </a:rPr>
                  <a:t>大小为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𝒎𝒈</m:t>
                        </m:r>
                      </m:num>
                      <m:den>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𝝁</m:t>
                                </m:r>
                              </m:e>
                              <m:sup>
                                <m:r>
                                  <a:rPr lang="en-US" altLang="zh-CN" sz="2400" b="1" i="1">
                                    <a:solidFill>
                                      <a:srgbClr val="FF0000"/>
                                    </a:solidFill>
                                    <a:latin typeface="Cambria Math" pitchFamily="34" charset="0"/>
                                    <a:ea typeface="Cambria Math" pitchFamily="34" charset="-122"/>
                                    <a:cs typeface="Cambria Math" pitchFamily="34" charset="-120"/>
                                  </a:rPr>
                                  <m:t>𝟐</m:t>
                                </m:r>
                              </m:sup>
                            </m:sSup>
                          </m:e>
                        </m:rad>
                        <m:r>
                          <a:rPr lang="en-US" altLang="zh-CN" sz="2400" b="1" i="0">
                            <a:solidFill>
                              <a:srgbClr val="FF0000"/>
                            </a:solidFill>
                            <a:latin typeface="Cambria Math" pitchFamily="34" charset="0"/>
                            <a:ea typeface="Cambria Math" pitchFamily="34" charset="-122"/>
                            <a:cs typeface="Cambria Math" pitchFamily="34" charset="-120"/>
                          </a:rPr>
                          <m:t>𝐬𝐢𝐧</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𝜶</m:t>
                        </m:r>
                        <m:r>
                          <a:rPr lang="en-US" altLang="zh-CN" sz="2400" b="1" i="0">
                            <a:solidFill>
                              <a:srgbClr val="FF0000"/>
                            </a:solidFill>
                            <a:latin typeface="Cambria Math" pitchFamily="34" charset="0"/>
                            <a:ea typeface="Cambria Math" pitchFamily="34" charset="-122"/>
                            <a:cs typeface="Cambria Math" pitchFamily="34" charset="-120"/>
                          </a:rPr>
                          <m:t>)</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，其中</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𝜶</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𝝁</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，可知当</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𝜶</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𝟗𝟎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时，拉力有最小值，即减小夹角</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，轻绳的合拉力不一定减小</a:t>
                </a:r>
                <a:r>
                  <a:rPr lang="en-US" altLang="zh-CN" sz="2400" b="1" i="0" dirty="0">
                    <a:solidFill>
                      <a:srgbClr val="FF0000"/>
                    </a:solidFill>
                    <a:latin typeface="Times New Roman" pitchFamily="34" charset="0"/>
                    <a:ea typeface="微软雅黑" pitchFamily="34" charset="-122"/>
                    <a:cs typeface="Times New Roman" pitchFamily="34" charset="-120"/>
                  </a:rPr>
                  <a:t>，故</a:t>
                </a:r>
                <a:r>
                  <a:rPr lang="en-US" altLang="zh-CN" sz="2400" b="1" i="0">
                    <a:solidFill>
                      <a:srgbClr val="FF0000"/>
                    </a:solidFill>
                    <a:latin typeface="Times New Roman" pitchFamily="34" charset="0"/>
                    <a:ea typeface="微软雅黑" pitchFamily="34" charset="-122"/>
                    <a:cs typeface="Times New Roman" pitchFamily="34" charset="-120"/>
                  </a:rPr>
                  <a:t>C错</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误；摩擦力大小</a:t>
                </a:r>
              </a:p>
              <a:p>
                <a:pPr latinLnBrk="1">
                  <a:lnSpc>
                    <a:spcPts val="50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num>
                      <m:den>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𝒎𝒈</m:t>
                        </m:r>
                      </m:num>
                      <m:den>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，可知增大夹角</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，摩擦力一</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直减小</a:t>
                </a:r>
                <a:r>
                  <a:rPr lang="en-US" altLang="zh-CN" sz="2400" b="1" i="0" dirty="0">
                    <a:solidFill>
                      <a:srgbClr val="FF0000"/>
                    </a:solidFill>
                    <a:latin typeface="Times New Roman" pitchFamily="34" charset="0"/>
                    <a:ea typeface="微软雅黑" pitchFamily="34" charset="-122"/>
                    <a:cs typeface="Times New Roman" pitchFamily="34" charset="-120"/>
                  </a:rPr>
                  <a:t>，故轻绳的合拉力最小时，</a:t>
                </a:r>
                <a:r>
                  <a:rPr lang="en-US" altLang="zh-CN" sz="2400" b="1" i="0">
                    <a:solidFill>
                      <a:srgbClr val="FF0000"/>
                    </a:solidFill>
                    <a:latin typeface="Times New Roman" pitchFamily="34" charset="0"/>
                    <a:ea typeface="微软雅黑" pitchFamily="34" charset="-122"/>
                    <a:cs typeface="Times New Roman" pitchFamily="34" charset="-120"/>
                  </a:rPr>
                  <a:t>地面对石墩的摩擦力不是最小，故</a:t>
                </a:r>
                <a:r>
                  <a:rPr lang="en-US" altLang="zh-CN" sz="2400" b="1" i="0" dirty="0">
                    <a:solidFill>
                      <a:srgbClr val="FF0000"/>
                    </a:solidFill>
                    <a:latin typeface="Times New Roman" pitchFamily="34" charset="0"/>
                    <a:ea typeface="微软雅黑" pitchFamily="34" charset="-122"/>
                    <a:cs typeface="Times New Roman" pitchFamily="34" charset="-120"/>
                  </a:rPr>
                  <a:t>D错误.</a:t>
                </a:r>
                <a:endParaRPr lang="en-US" altLang="zh-CN" sz="2400" dirty="0"/>
              </a:p>
            </p:txBody>
          </p:sp>
        </mc:Choice>
        <mc:Fallback>
          <p:sp>
            <p:nvSpPr>
              <p:cNvPr id="4" name="QC_4_AS.20_2#63d326a9a?htil=12&amp;vcp=1&amp;pid=302cd15e5&amp;color=0,0,0&amp;vtp=1&amp;bt=1&amp;bbb=1&amp;hb=1&amp;hs=1">
                <a:extLst>
                  <a:ext uri="{FF2B5EF4-FFF2-40B4-BE49-F238E27FC236}">
                    <a16:creationId xmlns:a16="http://schemas.microsoft.com/office/drawing/2014/main" id="{DCC0532F-DFA8-2610-CDBB-F94B465104FD}"/>
                  </a:ext>
                </a:extLst>
              </p:cNvPr>
              <p:cNvSpPr>
                <a:spLocks noRot="1" noChangeAspect="1" noMove="1" noResize="1" noEditPoints="1" noAdjustHandles="1" noChangeArrowheads="1" noChangeShapeType="1" noTextEdit="1"/>
              </p:cNvSpPr>
              <p:nvPr/>
            </p:nvSpPr>
            <p:spPr>
              <a:xfrm>
                <a:off x="395996" y="3121152"/>
                <a:ext cx="11400008" cy="2866200"/>
              </a:xfrm>
              <a:prstGeom prst="rect">
                <a:avLst/>
              </a:prstGeom>
              <a:blipFill>
                <a:blip r:embed="rId5"/>
                <a:stretch>
                  <a:fillRect l="-1658" b="-617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left)">
                                      <p:cBhvr>
                                        <p:cTn id="10" dur="500"/>
                                        <p:tgtEl>
                                          <p:spTgt spid="3">
                                            <p:bg/>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animEffect transition="in" filter="wipe(left)">
                                      <p:cBhvr>
                                        <p:cTn id="25" dur="500"/>
                                        <p:tgtEl>
                                          <p:spTgt spid="4">
                                            <p:bg/>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wipe(left)">
                                      <p:cBhvr>
                                        <p:cTn id="28" dur="500"/>
                                        <p:tgtEl>
                                          <p:spTgt spid="4">
                                            <p:txEl>
                                              <p:pRg st="0" end="0"/>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Effect transition="in" filter="wipe(left)">
                                      <p:cBhvr>
                                        <p:cTn id="31" dur="500"/>
                                        <p:tgtEl>
                                          <p:spTgt spid="4">
                                            <p:txEl>
                                              <p:pRg st="1" end="1"/>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
                                            <p:txEl>
                                              <p:pRg st="2" end="2"/>
                                            </p:txEl>
                                          </p:spTgt>
                                        </p:tgtEl>
                                        <p:attrNameLst>
                                          <p:attrName>style.visibility</p:attrName>
                                        </p:attrNameLst>
                                      </p:cBhvr>
                                      <p:to>
                                        <p:strVal val="visible"/>
                                      </p:to>
                                    </p:set>
                                    <p:animEffect transition="in" filter="wipe(left)">
                                      <p:cBhvr>
                                        <p:cTn id="34" dur="500"/>
                                        <p:tgtEl>
                                          <p:spTgt spid="4">
                                            <p:txEl>
                                              <p:pRg st="2" end="2"/>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wipe(left)">
                                      <p:cBhvr>
                                        <p:cTn id="37" dur="500"/>
                                        <p:tgtEl>
                                          <p:spTgt spid="4">
                                            <p:txEl>
                                              <p:pRg st="3" end="3"/>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Effect transition="in" filter="wipe(left)">
                                      <p:cBhvr>
                                        <p:cTn id="40"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0&amp;si=2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21_1#216937596?vcp=1&amp;pid=302cd15e5&amp;color=0,0,0&amp;vtp=1&amp;bt=1&amp;bbb=1&amp;hb=1"/>
              <p:cNvSpPr/>
              <p:nvPr/>
            </p:nvSpPr>
            <p:spPr>
              <a:xfrm>
                <a:off x="393192" y="1430560"/>
                <a:ext cx="11402568" cy="21509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变式4-1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（多选题）如图所示，位于水平地面上的物体在斜向上的拉力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的作用下，</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做速度大小为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oMath>
                </a14:m>
                <a:r>
                  <a:rPr lang="en-US" altLang="zh-CN" sz="2400" b="0" i="0" dirty="0">
                    <a:solidFill>
                      <a:srgbClr val="000000"/>
                    </a:solidFill>
                    <a:latin typeface="Times New Roman" pitchFamily="34" charset="0"/>
                    <a:ea typeface="微软雅黑" pitchFamily="34" charset="-122"/>
                    <a:cs typeface="Times New Roman" pitchFamily="34" charset="-120"/>
                  </a:rPr>
                  <a:t>的匀速运动，拉力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与水平方向的夹角为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，已知物体质量为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，重力</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加速度大小为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，物体与地面间的动摩擦因数为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𝜇</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的最小值</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min</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及最小拉力与水</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平方向夹角的正切值是(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21_1#216937596?vcp=1&amp;pid=302cd15e5&amp;color=0,0,0&amp;vtp=1&amp;bt=1&amp;bbb=1&amp;hb=1"/>
              <p:cNvSpPr>
                <a:spLocks noRot="1" noChangeAspect="1" noMove="1" noResize="1" noEditPoints="1" noAdjustHandles="1" noChangeArrowheads="1" noChangeShapeType="1" noTextEdit="1"/>
              </p:cNvSpPr>
              <p:nvPr/>
            </p:nvSpPr>
            <p:spPr>
              <a:xfrm>
                <a:off x="393192" y="1430560"/>
                <a:ext cx="11402568" cy="2150999"/>
              </a:xfrm>
              <a:prstGeom prst="rect">
                <a:avLst/>
              </a:prstGeom>
              <a:blipFill>
                <a:blip r:embed="rId3"/>
                <a:stretch>
                  <a:fillRect l="-1658" r="-1230" b="-8499"/>
                </a:stretch>
              </a:blipFill>
              <a:ln/>
            </p:spPr>
            <p:txBody>
              <a:bodyPr/>
              <a:lstStyle/>
              <a:p>
                <a:r>
                  <a:rPr lang="zh-CN" altLang="en-US">
                    <a:noFill/>
                  </a:rPr>
                  <a:t> </a:t>
                </a:r>
              </a:p>
            </p:txBody>
          </p:sp>
        </mc:Fallback>
      </mc:AlternateContent>
      <p:sp>
        <p:nvSpPr>
          <p:cNvPr id="3" name="QC_4_AN.22_1#216937596.bracket?vcp=1&amp;pid=302cd15e5&amp;color=0,0,0&amp;vpa=7&amp;vtp=1&amp;bbb=1"/>
          <p:cNvSpPr/>
          <p:nvPr/>
        </p:nvSpPr>
        <p:spPr>
          <a:xfrm>
            <a:off x="3724560" y="3095530"/>
            <a:ext cx="661988"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AC</a:t>
            </a:r>
            <a:endParaRPr lang="en-US" altLang="zh-CN" sz="2400" dirty="0"/>
          </a:p>
        </p:txBody>
      </p:sp>
      <p:pic>
        <p:nvPicPr>
          <p:cNvPr id="4" name="QC_4_BD.21_2#216937596?vcp=1&amp;pid=302cd15e5&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5056632" y="3697255"/>
            <a:ext cx="2075688" cy="90525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21_3#216937596.choices?vcp=1&amp;pid=302cd15e5&amp;color=0,0,0&amp;vtp=1&amp;bbb=1"/>
              <p:cNvSpPr/>
              <p:nvPr/>
            </p:nvSpPr>
            <p:spPr>
              <a:xfrm>
                <a:off x="393192" y="4738655"/>
                <a:ext cx="11402568" cy="698500"/>
              </a:xfrm>
              <a:prstGeom prst="rect">
                <a:avLst/>
              </a:prstGeom>
              <a:noFill/>
              <a:ln/>
            </p:spPr>
            <p:txBody>
              <a:bodyPr wrap="none" lIns="0" tIns="0" rIns="0" bIns="0" rtlCol="0" anchor="t"/>
              <a:lstStyle/>
              <a:p>
                <a:pPr latinLnBrk="1">
                  <a:lnSpc>
                    <a:spcPts val="5500"/>
                  </a:lnSpc>
                  <a:tabLst>
                    <a:tab pos="3138927" algn="l"/>
                    <a:tab pos="6303254" algn="l"/>
                    <a:tab pos="8946881"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min</m:t>
                        </m:r>
                      </m:sub>
                    </m:sSub>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𝜇</m:t>
                        </m:r>
                        <m:r>
                          <a:rPr lang="en-US" altLang="zh-CN" sz="2400" b="0" i="0">
                            <a:solidFill>
                              <a:srgbClr val="000000"/>
                            </a:solidFill>
                            <a:latin typeface="Cambria Math" pitchFamily="34" charset="0"/>
                            <a:ea typeface="Cambria Math" pitchFamily="34" charset="-122"/>
                            <a:cs typeface="Cambria Math" pitchFamily="34" charset="-120"/>
                          </a:rPr>
                          <m:t>𝑚𝑔</m:t>
                        </m:r>
                      </m:num>
                      <m:den>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r>
                              <a:rPr lang="en-US" altLang="zh-CN" sz="2400" b="0" i="0">
                                <a:solidFill>
                                  <a:srgbClr val="000000"/>
                                </a:solidFill>
                                <a:latin typeface="Cambria Math" pitchFamily="34" charset="0"/>
                                <a:ea typeface="Cambria Math" pitchFamily="34" charset="-122"/>
                                <a:cs typeface="Cambria Math" pitchFamily="34" charset="-120"/>
                              </a:rPr>
                              <m:t>1+</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𝜇</m:t>
                                </m:r>
                              </m:e>
                              <m:sup>
                                <m:r>
                                  <a:rPr lang="en-US" altLang="zh-CN" sz="2400" b="0" i="0">
                                    <a:solidFill>
                                      <a:srgbClr val="000000"/>
                                    </a:solidFill>
                                    <a:latin typeface="Cambria Math" pitchFamily="34" charset="0"/>
                                    <a:ea typeface="Cambria Math" pitchFamily="34" charset="-122"/>
                                    <a:cs typeface="Cambria Math" pitchFamily="34" charset="-120"/>
                                  </a:rPr>
                                  <m:t>2</m:t>
                                </m:r>
                              </m:sup>
                            </m:sSup>
                          </m:e>
                        </m:rad>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min</m:t>
                        </m:r>
                      </m:sub>
                    </m:sSub>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r>
                              <a:rPr lang="en-US" altLang="zh-CN" sz="2400" b="0" i="0">
                                <a:solidFill>
                                  <a:srgbClr val="000000"/>
                                </a:solidFill>
                                <a:latin typeface="Cambria Math" pitchFamily="34" charset="0"/>
                                <a:ea typeface="Cambria Math" pitchFamily="34" charset="-122"/>
                                <a:cs typeface="Cambria Math" pitchFamily="34" charset="-120"/>
                              </a:rPr>
                              <m:t>2</m:t>
                            </m:r>
                          </m:e>
                        </m:rad>
                        <m:r>
                          <a:rPr lang="en-US" altLang="zh-CN" sz="2400" b="0" i="0">
                            <a:solidFill>
                              <a:srgbClr val="000000"/>
                            </a:solidFill>
                            <a:latin typeface="Cambria Math" pitchFamily="34" charset="0"/>
                            <a:ea typeface="Cambria Math" pitchFamily="34" charset="-122"/>
                            <a:cs typeface="Cambria Math" pitchFamily="34" charset="-120"/>
                          </a:rPr>
                          <m:t>𝜇</m:t>
                        </m:r>
                        <m:r>
                          <a:rPr lang="en-US" altLang="zh-CN" sz="2400" b="0" i="0">
                            <a:solidFill>
                              <a:srgbClr val="000000"/>
                            </a:solidFill>
                            <a:latin typeface="Cambria Math" pitchFamily="34" charset="0"/>
                            <a:ea typeface="Cambria Math" pitchFamily="34" charset="-122"/>
                            <a:cs typeface="Cambria Math" pitchFamily="34" charset="-120"/>
                          </a:rPr>
                          <m:t>𝑚𝑔</m:t>
                        </m:r>
                      </m:num>
                      <m:den>
                        <m:r>
                          <a:rPr lang="en-US" altLang="zh-CN" sz="2400" b="0" i="0">
                            <a:solidFill>
                              <a:srgbClr val="000000"/>
                            </a:solidFill>
                            <a:latin typeface="Cambria Math" pitchFamily="34" charset="0"/>
                            <a:ea typeface="Cambria Math" pitchFamily="34" charset="-122"/>
                            <a:cs typeface="Cambria Math" pitchFamily="34" charset="-120"/>
                          </a:rPr>
                          <m:t>1+</m:t>
                        </m:r>
                        <m:r>
                          <a:rPr lang="en-US" altLang="zh-CN" sz="2400" b="0" i="0">
                            <a:solidFill>
                              <a:srgbClr val="000000"/>
                            </a:solidFill>
                            <a:latin typeface="Cambria Math" pitchFamily="34" charset="0"/>
                            <a:ea typeface="Cambria Math" pitchFamily="34" charset="-122"/>
                            <a:cs typeface="Cambria Math" pitchFamily="34" charset="-120"/>
                          </a:rPr>
                          <m:t>𝜇</m:t>
                        </m:r>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𝜇</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=1</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21_3#216937596.choices?vcp=1&amp;pid=302cd15e5&amp;color=0,0,0&amp;vtp=1&amp;bbb=1"/>
              <p:cNvSpPr>
                <a:spLocks noRot="1" noChangeAspect="1" noMove="1" noResize="1" noEditPoints="1" noAdjustHandles="1" noChangeArrowheads="1" noChangeShapeType="1" noTextEdit="1"/>
              </p:cNvSpPr>
              <p:nvPr/>
            </p:nvSpPr>
            <p:spPr>
              <a:xfrm>
                <a:off x="393192" y="4738655"/>
                <a:ext cx="11402568" cy="698500"/>
              </a:xfrm>
              <a:prstGeom prst="rect">
                <a:avLst/>
              </a:prstGeom>
              <a:blipFill>
                <a:blip r:embed="rId5"/>
                <a:stretch>
                  <a:fillRect l="-1658" b="-521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1&amp;si=21">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23_1#216937596?vcp=1&amp;pid=302cd15e5&amp;color=0,0,0&amp;vtp=1&amp;bt=1&amp;bbb=1&amp;hb=1"/>
              <p:cNvSpPr/>
              <p:nvPr/>
            </p:nvSpPr>
            <p:spPr>
              <a:xfrm>
                <a:off x="393192" y="585502"/>
                <a:ext cx="11402568" cy="40259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物体受四个力作用，即重力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𝑮</m:t>
                    </m:r>
                  </m:oMath>
                </a14:m>
                <a:r>
                  <a:rPr lang="en-US" altLang="zh-CN" sz="2400" b="1" i="0" dirty="0">
                    <a:solidFill>
                      <a:srgbClr val="FF0000"/>
                    </a:solidFill>
                    <a:latin typeface="Times New Roman" pitchFamily="34" charset="0"/>
                    <a:ea typeface="微软雅黑" pitchFamily="34" charset="-122"/>
                    <a:cs typeface="Times New Roman" pitchFamily="34" charset="-120"/>
                  </a:rPr>
                  <a:t>、拉力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、水平地面对物体的支持力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𝑵</m:t>
                    </m:r>
                  </m:oMath>
                </a14:m>
                <a:r>
                  <a:rPr lang="en-US" altLang="zh-CN" sz="2400" b="1" i="0" dirty="0">
                    <a:solidFill>
                      <a:srgbClr val="FF0000"/>
                    </a:solidFill>
                    <a:latin typeface="Times New Roman" pitchFamily="34" charset="0"/>
                    <a:ea typeface="微软雅黑" pitchFamily="34" charset="-122"/>
                    <a:cs typeface="Times New Roman" pitchFamily="34" charset="-120"/>
                  </a:rPr>
                  <a:t>和摩擦力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𝒇</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由于拉力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的变化，必将引起支持力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𝑵</m:t>
                    </m:r>
                  </m:oMath>
                </a14:m>
                <a:r>
                  <a:rPr lang="en-US" altLang="zh-CN" sz="2400" b="1" i="0" dirty="0">
                    <a:solidFill>
                      <a:srgbClr val="FF0000"/>
                    </a:solidFill>
                    <a:latin typeface="Times New Roman" pitchFamily="34" charset="0"/>
                    <a:ea typeface="微软雅黑" pitchFamily="34" charset="-122"/>
                    <a:cs typeface="Times New Roman" pitchFamily="34" charset="-120"/>
                  </a:rPr>
                  <a:t>和摩擦力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𝒇</m:t>
                    </m:r>
                  </m:oMath>
                </a14:m>
                <a:r>
                  <a:rPr lang="en-US" altLang="zh-CN" sz="2400" b="1" i="0" dirty="0">
                    <a:solidFill>
                      <a:srgbClr val="FF0000"/>
                    </a:solidFill>
                    <a:latin typeface="Times New Roman" pitchFamily="34" charset="0"/>
                    <a:ea typeface="微软雅黑" pitchFamily="34" charset="-122"/>
                    <a:cs typeface="Times New Roman" pitchFamily="34" charset="-120"/>
                  </a:rPr>
                  <a:t>的变化，但由于</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𝒇</m:t>
                        </m:r>
                      </m:num>
                      <m:den>
                        <m:r>
                          <a:rPr lang="en-US" altLang="zh-CN" sz="2400" b="1" i="1">
                            <a:solidFill>
                              <a:srgbClr val="FF0000"/>
                            </a:solidFill>
                            <a:latin typeface="Cambria Math" pitchFamily="34" charset="0"/>
                            <a:ea typeface="Cambria Math" pitchFamily="34" charset="-122"/>
                            <a:cs typeface="Cambria Math" pitchFamily="34" charset="-120"/>
                          </a:rPr>
                          <m:t>𝑵</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,令</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𝜶</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𝜶</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不变，即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𝒇</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𝑵</m:t>
                    </m:r>
                  </m:oMath>
                </a14:m>
                <a:r>
                  <a:rPr lang="en-US" altLang="zh-CN" sz="2400" b="1" i="0" dirty="0">
                    <a:solidFill>
                      <a:srgbClr val="FF0000"/>
                    </a:solidFill>
                    <a:latin typeface="Times New Roman" pitchFamily="34" charset="0"/>
                    <a:ea typeface="微软雅黑" pitchFamily="34" charset="-122"/>
                    <a:cs typeface="Times New Roman" pitchFamily="34" charset="-120"/>
                  </a:rPr>
                  <a:t>的合力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的方向不变，如图所示</a:t>
                </a:r>
                <a:r>
                  <a:rPr lang="en-US" altLang="zh-CN" sz="2400" b="1" i="0">
                    <a:solidFill>
                      <a:srgbClr val="FF0000"/>
                    </a:solidFill>
                    <a:latin typeface="Times New Roman" pitchFamily="34" charset="0"/>
                    <a:ea typeface="微软雅黑" pitchFamily="34" charset="-122"/>
                    <a:cs typeface="Times New Roman" pitchFamily="34" charset="-120"/>
                  </a:rPr>
                  <a:t>，因此将物体受四个力的作用转化</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为物体受三个力的作用</a:t>
                </a:r>
                <a:r>
                  <a:rPr lang="en-US" altLang="zh-CN" sz="2400" b="1" i="0" dirty="0">
                    <a:solidFill>
                      <a:srgbClr val="FF0000"/>
                    </a:solidFill>
                    <a:latin typeface="Times New Roman" pitchFamily="34" charset="0"/>
                    <a:ea typeface="微软雅黑" pitchFamily="34" charset="-122"/>
                    <a:cs typeface="Times New Roman" pitchFamily="34" charset="-120"/>
                  </a:rPr>
                  <a:t>，即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𝑮</m:t>
                    </m:r>
                  </m:oMath>
                </a14:m>
                <a:r>
                  <a:rPr lang="en-US" altLang="zh-CN" sz="2400" b="1" i="0" dirty="0">
                    <a:solidFill>
                      <a:srgbClr val="FF0000"/>
                    </a:solidFill>
                    <a:latin typeface="Times New Roman" pitchFamily="34" charset="0"/>
                    <a:ea typeface="微软雅黑" pitchFamily="34" charset="-122"/>
                    <a:cs typeface="Times New Roman" pitchFamily="34" charset="-120"/>
                  </a:rPr>
                  <a:t>的大小、方向不变，</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2400" b="1" i="0" dirty="0">
                    <a:solidFill>
                      <a:srgbClr val="FF0000"/>
                    </a:solidFill>
                    <a:latin typeface="Times New Roman" pitchFamily="34" charset="0"/>
                    <a:ea typeface="微软雅黑" pitchFamily="34" charset="-122"/>
                    <a:cs typeface="Times New Roman" pitchFamily="34" charset="-120"/>
                  </a:rPr>
                  <a:t>的大小变化、方向不变，</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大小、</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方向都发生变化</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由动态矢量三角形可知</a:t>
                </a:r>
                <a:r>
                  <a:rPr lang="en-US" altLang="zh-CN" sz="2400" b="1" i="0" dirty="0">
                    <a:solidFill>
                      <a:srgbClr val="FF0000"/>
                    </a:solidFill>
                    <a:latin typeface="Times New Roman" pitchFamily="34" charset="0"/>
                    <a:ea typeface="微软雅黑" pitchFamily="34" charset="-122"/>
                    <a:cs typeface="Times New Roman" pitchFamily="34" charset="-120"/>
                  </a:rPr>
                  <a:t>，当</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2400" b="1" i="0" dirty="0">
                    <a:solidFill>
                      <a:srgbClr val="FF0000"/>
                    </a:solidFill>
                    <a:latin typeface="Times New Roman" pitchFamily="34" charset="0"/>
                    <a:ea typeface="微软雅黑" pitchFamily="34" charset="-122"/>
                    <a:cs typeface="Times New Roman" pitchFamily="34" charset="-120"/>
                  </a:rPr>
                  <a:t>垂直时，</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有最小值，</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𝐦𝐢𝐧</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𝜶</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，结合</a:t>
                </a:r>
              </a:p>
              <a:p>
                <a:pPr latinLnBrk="1">
                  <a:lnSpc>
                    <a:spcPts val="50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𝜶</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𝐦𝐢𝐧</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𝝁</m:t>
                        </m:r>
                        <m:r>
                          <a:rPr lang="en-US" altLang="zh-CN" sz="2400" b="1" i="1">
                            <a:solidFill>
                              <a:srgbClr val="FF0000"/>
                            </a:solidFill>
                            <a:latin typeface="Cambria Math" pitchFamily="34" charset="0"/>
                            <a:ea typeface="Cambria Math" pitchFamily="34" charset="-122"/>
                            <a:cs typeface="Cambria Math" pitchFamily="34" charset="-120"/>
                          </a:rPr>
                          <m:t>𝒎𝒈</m:t>
                        </m:r>
                      </m:num>
                      <m:den>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𝝁</m:t>
                                </m:r>
                              </m:e>
                              <m:sup>
                                <m:r>
                                  <a:rPr lang="en-US" altLang="zh-CN" sz="2400" b="1" i="1">
                                    <a:solidFill>
                                      <a:srgbClr val="FF0000"/>
                                    </a:solidFill>
                                    <a:latin typeface="Cambria Math" pitchFamily="34" charset="0"/>
                                    <a:ea typeface="Cambria Math" pitchFamily="34" charset="-122"/>
                                    <a:cs typeface="Cambria Math" pitchFamily="34" charset="-120"/>
                                  </a:rPr>
                                  <m:t>𝟐</m:t>
                                </m:r>
                              </m:sup>
                            </m:sSup>
                          </m:e>
                        </m:rad>
                      </m:den>
                    </m:f>
                  </m:oMath>
                </a14:m>
                <a:r>
                  <a:rPr lang="en-US" altLang="zh-CN" sz="2400" b="1" i="0" dirty="0">
                    <a:solidFill>
                      <a:srgbClr val="FF0000"/>
                    </a:solidFill>
                    <a:latin typeface="Times New Roman" pitchFamily="34" charset="0"/>
                    <a:ea typeface="微软雅黑" pitchFamily="34" charset="-122"/>
                    <a:cs typeface="Times New Roman" pitchFamily="34" charset="-120"/>
                  </a:rPr>
                  <a:t>,且此时</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𝜶</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𝝁</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，A、C正确.</a:t>
                </a:r>
                <a:endParaRPr lang="en-US" altLang="zh-CN" sz="2400" dirty="0"/>
              </a:p>
            </p:txBody>
          </p:sp>
        </mc:Choice>
        <mc:Fallback>
          <p:sp>
            <p:nvSpPr>
              <p:cNvPr id="2" name="QC_4_AS.23_1#216937596?vcp=1&amp;pid=302cd15e5&amp;color=0,0,0&amp;vtp=1&amp;bt=1&amp;bbb=1&amp;hb=1"/>
              <p:cNvSpPr>
                <a:spLocks noRot="1" noChangeAspect="1" noMove="1" noResize="1" noEditPoints="1" noAdjustHandles="1" noChangeArrowheads="1" noChangeShapeType="1" noTextEdit="1"/>
              </p:cNvSpPr>
              <p:nvPr/>
            </p:nvSpPr>
            <p:spPr>
              <a:xfrm>
                <a:off x="393192" y="585502"/>
                <a:ext cx="11402568" cy="4025900"/>
              </a:xfrm>
              <a:prstGeom prst="rect">
                <a:avLst/>
              </a:prstGeom>
              <a:blipFill>
                <a:blip r:embed="rId3"/>
                <a:stretch>
                  <a:fillRect l="-1658" r="-3476" b="-758"/>
                </a:stretch>
              </a:blipFill>
              <a:ln/>
            </p:spPr>
            <p:txBody>
              <a:bodyPr/>
              <a:lstStyle/>
              <a:p>
                <a:r>
                  <a:rPr lang="zh-CN" altLang="en-US">
                    <a:noFill/>
                  </a:rPr>
                  <a:t> </a:t>
                </a:r>
              </a:p>
            </p:txBody>
          </p:sp>
        </mc:Fallback>
      </mc:AlternateContent>
      <p:pic>
        <p:nvPicPr>
          <p:cNvPr id="3" name="QC_4_AS.23_2#216937596?vcp=1&amp;pid=302cd15e5&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5023106" y="4668298"/>
            <a:ext cx="2151887" cy="1591500"/>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2&amp;si=22">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1424</Words>
  <Application>Microsoft Office PowerPoint</Application>
  <PresentationFormat>宽屏</PresentationFormat>
  <Paragraphs>190</Paragraphs>
  <Slides>23</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vt:i4>
      </vt:variant>
    </vt:vector>
  </HeadingPairs>
  <TitlesOfParts>
    <vt:vector size="31" baseType="lpstr">
      <vt:lpstr>SimHei</vt:lpstr>
      <vt:lpstr>KaiTi</vt:lpstr>
      <vt:lpstr>SimSun</vt:lpstr>
      <vt:lpstr>微软雅黑</vt:lpstr>
      <vt:lpstr>Arial</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2026-05-25T08:09:26Z</dcterms:created>
  <dcterms:modified xsi:type="dcterms:W3CDTF">2026-05-25T08:11:34Z</dcterms:modified>
  <cp:category/>
  <cp:contentStatus/>
</cp:coreProperties>
</file>