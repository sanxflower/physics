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7903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328bacd03a259d377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63d42198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疑难专题6 整体法与隔离法的综合应用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63d42198b.fixed?vcp=1&amp;pid=46eb467af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相互作用——力</a:t>
            </a:r>
            <a:endParaRPr lang="en-US" altLang="zh-CN" sz="4800" dirty="0"/>
          </a:p>
        </p:txBody>
      </p:sp>
      <p:sp>
        <p:nvSpPr>
          <p:cNvPr id="3" name="C_2_BD#63d42198b.fixed?vcp=1&amp;pid=46eb467af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疑难专题6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整体法与隔离法的综合应用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09a057005?vcp=1&amp;pid=63d42198b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09a057005?vcp=1&amp;pid=63d42198b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09a057005?vcp=1&amp;pid=63d42198b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3_BD#09a057005?vcp=1&amp;pid=63d42198b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对整体法与隔离法的理解</a:t>
            </a:r>
            <a:endParaRPr lang="en-US" altLang="zh-CN" sz="2600" dirty="0"/>
          </a:p>
        </p:txBody>
      </p:sp>
      <p:graphicFrame>
        <p:nvGraphicFramePr>
          <p:cNvPr id="6" name="P_4_BD#26b3a58e1?colgroup=4,12,18&amp;vcp=1&amp;pid=09a057005&amp;color=0,0,0&amp;vtp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480153"/>
              </p:ext>
            </p:extLst>
          </p:nvPr>
        </p:nvGraphicFramePr>
        <p:xfrm>
          <a:off x="393192" y="1092200"/>
          <a:ext cx="11365992" cy="3415665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5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633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100"/>
                        </a:lnSpc>
                      </a:pP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整体法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隔离法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4344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概念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将处于平衡状态的几个物体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作为一个整体来分析的方法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将研究对象与周围物体分隔开分析的方法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4344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选用原则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研究系统外的物体对系统整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体的作用力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研究系统内物体之间的相互作用力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4344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注意问题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受力分析时不要再考虑系统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内物体间的相互作用力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一般隔离受力较少的物体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1_1#cbeec70d0?htil=1&amp;vcp=1&amp;pid=09a057005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15272" y="808576"/>
            <a:ext cx="1481328" cy="1956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1_2#cbeec70d0?htil=1&amp;vcp=1&amp;pid=09a057005&amp;color=0,0,0&amp;vtp=1&amp;bt=1&amp;bbb=1&amp;hb=1&amp;hs=1"/>
              <p:cNvSpPr/>
              <p:nvPr/>
            </p:nvSpPr>
            <p:spPr>
              <a:xfrm>
                <a:off x="393192" y="762858"/>
                <a:ext cx="9784080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（2026·湖北武汉二中检测）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两物体叠放在一起，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在竖直向上的恒力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作用下，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一起沿粗糙竖直墙面向上做匀速直线运动，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则下列关于两物体受力情况的说法正确的是(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1_2#cbeec70d0?htil=1&amp;vcp=1&amp;pid=09a057005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62858"/>
                <a:ext cx="9784080" cy="1592199"/>
              </a:xfrm>
              <a:prstGeom prst="rect">
                <a:avLst/>
              </a:prstGeom>
              <a:blipFill>
                <a:blip r:embed="rId4"/>
                <a:stretch>
                  <a:fillRect l="-1931" r="-436" b="-118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2_1#cbeec70d0.bracket?vcp=1&amp;pid=09a057005&amp;color=0,0,0&amp;vpa=1&amp;vtp=1"/>
          <p:cNvSpPr/>
          <p:nvPr/>
        </p:nvSpPr>
        <p:spPr>
          <a:xfrm>
            <a:off x="6416961" y="186902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_3#cbeec70d0.choices?htil=1&amp;vcp=1&amp;pid=09a057005&amp;color=0,0,0&amp;vtp=1&amp;bbb=1&amp;hs=1"/>
              <p:cNvSpPr/>
              <p:nvPr/>
            </p:nvSpPr>
            <p:spPr>
              <a:xfrm>
                <a:off x="393192" y="2356452"/>
                <a:ext cx="9784080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4999990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之间无摩擦力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受到5个力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4999990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4个力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的重力之和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_3#cbeec70d0.choices?htil=1&amp;vcp=1&amp;pid=09a057005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56452"/>
                <a:ext cx="9784080" cy="1033399"/>
              </a:xfrm>
              <a:prstGeom prst="rect">
                <a:avLst/>
              </a:prstGeom>
              <a:blipFill>
                <a:blip r:embed="rId5"/>
                <a:stretch>
                  <a:fillRect l="-1931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AS.3_1#cbeec70d0?vcp=1&amp;pid=09a057005&amp;color=0,0,0&amp;vtp=1&amp;bbb=1&amp;hb=1&amp;hs=1"/>
              <p:cNvSpPr/>
              <p:nvPr/>
            </p:nvSpPr>
            <p:spPr>
              <a:xfrm>
                <a:off x="393192" y="3396582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视为整体，竖直方向平衡，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的重力之和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，水平方向上没有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外力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与墙之间没有弹力，所以物体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受到重力、竖直向上的外力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的弹力和摩擦力共4个力，故C正确，D错误；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两物体叠放在一起沿粗糙竖直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墙面向上做匀速直线运动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，由平衡条件知物体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受到重力、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的弹力和摩擦力，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共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3个力，故A、B错误.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AS.3_1#cbeec70d0?vcp=1&amp;pid=09a057005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96582"/>
                <a:ext cx="11402568" cy="2713800"/>
              </a:xfrm>
              <a:prstGeom prst="rect">
                <a:avLst/>
              </a:prstGeom>
              <a:blipFill>
                <a:blip r:embed="rId6"/>
                <a:stretch>
                  <a:fillRect l="-1658" r="-1016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4_1#7f92c5d4e?vcp=1&amp;pid=09a057005&amp;color=0,0,0&amp;vtp=1&amp;bt=1&amp;bbb=1&amp;hb=1"/>
              <p:cNvSpPr/>
              <p:nvPr/>
            </p:nvSpPr>
            <p:spPr>
              <a:xfrm>
                <a:off x="393192" y="1548289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变式1-1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（2026·广西师大附中高一检测）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如图所示，倾角为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的斜面体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静止在水平桌面上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的木块静止在斜面体上，重力加速度为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.下面结论正确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4_1#7f92c5d4e?vcp=1&amp;pid=09a05700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48289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07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5_1#7f92c5d4e.bracket?vcp=1&amp;pid=09a057005&amp;color=0,0,0&amp;vpa=2&amp;vtp=1"/>
          <p:cNvSpPr/>
          <p:nvPr/>
        </p:nvSpPr>
        <p:spPr>
          <a:xfrm>
            <a:off x="1235360" y="2654459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4_BD.4_2#7f92c5d4e?htil=2&amp;vcp=1&amp;pid=09a05700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27035" y="3187604"/>
            <a:ext cx="1773936" cy="93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4_3#7f92c5d4e.choices?htil=2&amp;vcp=1&amp;pid=09a057005&amp;color=0,0,0&amp;vtp=1&amp;bbb=1"/>
              <p:cNvSpPr/>
              <p:nvPr/>
            </p:nvSpPr>
            <p:spPr>
              <a:xfrm>
                <a:off x="393192" y="3141884"/>
                <a:ext cx="9491472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A.木块受到的摩擦力大小是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.木块对斜面体的压力大小是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.桌面对斜面体的摩擦力大小是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.桌面对斜面体的支持力大小是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4_3#7f92c5d4e.choices?htil=2&amp;vcp=1&amp;pid=09a05700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41884"/>
                <a:ext cx="9491472" cy="2158302"/>
              </a:xfrm>
              <a:prstGeom prst="rect">
                <a:avLst/>
              </a:prstGeom>
              <a:blipFill>
                <a:blip r:embed="rId5"/>
                <a:stretch>
                  <a:fillRect l="-1991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6_1#7f92c5d4e?vcp=1&amp;pid=09a057005&amp;color=0,0,0&amp;vtp=1&amp;bt=1&amp;bbb=1&amp;hb=1"/>
              <p:cNvSpPr/>
              <p:nvPr/>
            </p:nvSpPr>
            <p:spPr>
              <a:xfrm>
                <a:off x="393192" y="1446530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如图所示，对木块受力分析，受到重力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、支持力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和静摩擦力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，根据平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衡条件得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，由牛顿第三定律知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，木块对斜面体的压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，故A、B错误；对木块和斜面体整体受力分析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，受到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重力和支持力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，二力平衡，故桌面对斜面体的支持力为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″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，桌面对斜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面体的摩擦力为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0，故C错误，D正确.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6_1#7f92c5d4e?vcp=1&amp;pid=09a05700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46530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909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AS.6_2#7f92c5d4e?vcp=1&amp;pid=09a05700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30368" y="4259326"/>
            <a:ext cx="1728216" cy="1152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12c9ef13c?vcp=1&amp;pid=63d42198b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12c9ef13c?vcp=1&amp;pid=63d42198b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12c9ef13c?vcp=1&amp;pid=63d42198b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5" name="C_3_BD#12c9ef13c?vcp=1&amp;pid=63d42198b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整体法和隔离法的应用</a:t>
            </a:r>
            <a:endParaRPr lang="en-US" altLang="zh-CN" sz="2600" dirty="0"/>
          </a:p>
        </p:txBody>
      </p:sp>
      <p:sp>
        <p:nvSpPr>
          <p:cNvPr id="6" name="P_4_BD#e1ff532c7?vcp=1&amp;pid=12c9ef13c&amp;color=0,0,0&amp;vtp=1&amp;bbb=1&amp;hb=1"/>
          <p:cNvSpPr/>
          <p:nvPr/>
        </p:nvSpPr>
        <p:spPr>
          <a:xfrm>
            <a:off x="393192" y="965200"/>
            <a:ext cx="11402568" cy="327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1.选用原则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 spc="-5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spc="-5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1）当只涉及系统而不涉及系统内部某些物体的力和运动时，一般可采用整体法.</a:t>
            </a:r>
            <a:endParaRPr lang="en-US" altLang="zh-CN" sz="2400" spc="-5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2）为了弄清系统内某个物体的受力和运动情况时，一般可采用隔离法.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3）对于连接体问题，多数情况既要分析外力，又要分析内力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，这时我们可以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采取先整体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（解决外力）后隔离（解决内力）的交叉运用方法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，当然个别情况也可采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用先隔离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（由已知内力求解未知外力）再整体的顺序运用.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4_BD#e1ff532c7?vcp=1&amp;pid=12c9ef13c&amp;color=0,0,0&amp;vtp=1&amp;bt=1&amp;bbb=1"/>
          <p:cNvSpPr/>
          <p:nvPr/>
        </p:nvSpPr>
        <p:spPr>
          <a:xfrm>
            <a:off x="393192" y="1868932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2.基本步骤</a:t>
            </a:r>
            <a:endParaRPr lang="en-US" altLang="zh-CN" sz="2400" dirty="0"/>
          </a:p>
        </p:txBody>
      </p:sp>
      <p:pic>
        <p:nvPicPr>
          <p:cNvPr id="3" name="P_4_BD#e1ff532c7?htil=1&amp;vcp=1&amp;pid=12c9ef13c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1248" y="2637155"/>
            <a:ext cx="4809744" cy="2350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P_4_BD#e1ff532c7?htil=1&amp;vcp=1&amp;pid=12c9ef13c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73952" y="2481707"/>
            <a:ext cx="4937760" cy="2505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7_1#088eaefbf?vcp=1&amp;pid=12c9ef13c&amp;color=0,0,0&amp;vtp=1&amp;bt=1&amp;bbb=1&amp;hb=1"/>
              <p:cNvSpPr/>
              <p:nvPr/>
            </p:nvSpPr>
            <p:spPr>
              <a:xfrm>
                <a:off x="393192" y="719677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如图所示，用轻质细绳把两个质量未知的小球悬挂起来，对小球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持续施加一个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向左偏下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的恒力，并对小球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持续施加一个向右偏上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的同样大的恒力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，最后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达到平衡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下列可表示平衡状态的图可能是(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7_1#088eaefbf?vcp=1&amp;pid=12c9ef13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19677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b="-118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8_1#088eaefbf.bracket?vcp=1&amp;pid=12c9ef13c&amp;color=0,0,0&amp;vpa=3&amp;vtp=1"/>
          <p:cNvSpPr/>
          <p:nvPr/>
        </p:nvSpPr>
        <p:spPr>
          <a:xfrm>
            <a:off x="6201060" y="1825847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4_BD.7_2#088eaefbf?htil=4&amp;vcp=1&amp;pid=12c9ef13c&amp;color=0,0,0&amp;tib=255,255,255&amp;vtp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51472" y="2586576"/>
            <a:ext cx="713232" cy="1271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4_BD.7_3#088eaefbf.choices?htil=4&amp;vcp=1&amp;pid=12c9ef13c&amp;color=0,0,0&amp;vtp=1&amp;bbb=1&amp;hs=1"/>
          <p:cNvSpPr/>
          <p:nvPr/>
        </p:nvSpPr>
        <p:spPr>
          <a:xfrm>
            <a:off x="393192" y="2440272"/>
            <a:ext cx="10552176" cy="1353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12100"/>
              </a:lnSpc>
              <a:tabLst>
                <a:tab pos="2517394" algn="l"/>
                <a:tab pos="5466588" algn="l"/>
                <a:tab pos="8301483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</a:t>
            </a:r>
            <a:r>
              <a:rPr lang="en-US" altLang="zh-CN" sz="67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</a:t>
            </a:r>
            <a:r>
              <a:rPr lang="en-US" altLang="zh-CN" sz="67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</a:t>
            </a:r>
            <a:r>
              <a:rPr lang="en-US" altLang="zh-CN" sz="67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D.</a:t>
            </a:r>
            <a:r>
              <a:rPr lang="en-US" altLang="zh-CN" sz="67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</a:t>
            </a:r>
            <a:endParaRPr lang="en-US" altLang="zh-CN" sz="900" dirty="0">
              <a:latin typeface="SimSun" panose="02010600030101010101" pitchFamily="2" charset="-122"/>
            </a:endParaRPr>
          </a:p>
        </p:txBody>
      </p:sp>
      <p:pic>
        <p:nvPicPr>
          <p:cNvPr id="6" name="QC_4_BD.7_3#088eaefbf.choice_image?htil=4&amp;vcp=1&amp;pid=12c9ef13c&amp;color=0,0,0&amp;tib=255,255,255&amp;iip=1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3516" y="2445162"/>
            <a:ext cx="1078992" cy="1353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7" name="QC_4_BD.7_3#088eaefbf.choice_image?htil=4&amp;vcp=1&amp;pid=12c9ef13c&amp;color=0,0,0&amp;tib=255,255,255&amp;iip=2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93193" y="2445162"/>
            <a:ext cx="1536192" cy="1353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8" name="QC_4_BD.7_3#088eaefbf.choice_image?htil=4&amp;vcp=1&amp;pid=12c9ef13c&amp;color=0,0,0&amp;tib=255,255,255&amp;iip=3&amp;vtp=1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58770" y="2445162"/>
            <a:ext cx="1389888" cy="1353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9" name="QC_4_BD.7_3#088eaefbf.choice_image?htil=4&amp;vcp=1&amp;pid=12c9ef13c&amp;color=0,0,0&amp;tib=255,255,255&amp;iip=4&amp;vtp=1" descr="preencoded.png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98300" y="2445162"/>
            <a:ext cx="1014984" cy="1353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QC_4_AS.9_1#088eaefbf?vcp=1&amp;pid=12c9ef13c&amp;color=0,0,0&amp;vtp=1&amp;bbb=1&amp;hb=1&amp;hs=1"/>
              <p:cNvSpPr/>
              <p:nvPr/>
            </p:nvSpPr>
            <p:spPr>
              <a:xfrm>
                <a:off x="393192" y="3984909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对于连接体问题既可以采用整体法，也可以采用隔离法或者两者交替使用.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方法一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两球及两球间的绳看作一个物体系统，以这个系统为研究对象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.因为作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上的恒力等大、反向，其合外力为0，而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所受的重力竖直向下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，要保持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平衡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到悬点的细绳的力必然沿竖直方向向上.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10" name="QC_4_AS.9_1#088eaefbf?vcp=1&amp;pid=12c9ef13c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84909"/>
                <a:ext cx="11402568" cy="2155000"/>
              </a:xfrm>
              <a:prstGeom prst="rect">
                <a:avLst/>
              </a:prstGeom>
              <a:blipFill>
                <a:blip r:embed="rId9"/>
                <a:stretch>
                  <a:fillRect l="-1658" r="-481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10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9_2#088eaefbf?htil=5&amp;vcp=1&amp;pid=12c9ef13c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53235" y="549720"/>
            <a:ext cx="3108960" cy="269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9_3#088eaefbf?htil=5&amp;vcp=1&amp;pid=12c9ef13c&amp;color=0,0,0&amp;vtp=1&amp;bt=1&amp;bbb=1&amp;hb=1"/>
              <p:cNvSpPr/>
              <p:nvPr/>
            </p:nvSpPr>
            <p:spPr>
              <a:xfrm>
                <a:off x="393192" y="504000"/>
                <a:ext cx="8156448" cy="25986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分别进行受力分析，如图所示.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：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水平方向平衡有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𝜷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：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水平方向平衡有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𝜷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𝟗𝟎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9_3#088eaefbf?htil=5&amp;vcp=1&amp;pid=12c9ef13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8156448" cy="2598674"/>
              </a:xfrm>
              <a:prstGeom prst="rect">
                <a:avLst/>
              </a:prstGeom>
              <a:blipFill>
                <a:blip r:embed="rId4"/>
                <a:stretch>
                  <a:fillRect l="-2317" b="-70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9_4#088eaefbf?htil=5&amp;vcp=1&amp;pid=12c9ef13c&amp;color=0,0,0&amp;vtp=1&amp;bbb=1&amp;hb=1"/>
              <p:cNvSpPr/>
              <p:nvPr/>
            </p:nvSpPr>
            <p:spPr>
              <a:xfrm>
                <a:off x="393192" y="3100896"/>
                <a:ext cx="8156448" cy="31360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方法三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合成法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先分析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球：受三力平衡知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的合力跟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等大反向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竖直向上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.再分析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球：因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等大反向,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等大反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的合力竖直向下,且大小等于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，这样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三力的合力竖直向下,要保持平衡，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到悬点的细绳的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必然沿竖直向上方向.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9_4#088eaefbf?htil=5&amp;vcp=1&amp;pid=12c9ef13c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00896"/>
                <a:ext cx="8156448" cy="3136075"/>
              </a:xfrm>
              <a:prstGeom prst="rect">
                <a:avLst/>
              </a:prstGeom>
              <a:blipFill>
                <a:blip r:embed="rId5"/>
                <a:stretch>
                  <a:fillRect l="-2317" r="-2167" b="-583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0_1#7e48120d9?vcp=1&amp;pid=12c9ef13c&amp;color=0,0,0&amp;vtp=1&amp;bt=1&amp;bbb=1&amp;hb=1"/>
              <p:cNvSpPr/>
              <p:nvPr/>
            </p:nvSpPr>
            <p:spPr>
              <a:xfrm>
                <a:off x="393192" y="732377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变式2-1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如图所示，倾角为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的斜面体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置于水平面上，物体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置于斜面上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，通过细绳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跨过光滑的定滑轮与物体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相连接，连接物体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的一段细绳与斜面平行，物体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斜面体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都处于静止状态，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0_1#7e48120d9?vcp=1&amp;pid=12c9ef13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32377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230" b="-118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1_1#7e48120d9.bracket?vcp=1&amp;pid=12c9ef13c&amp;color=0,0,0&amp;vpa=4&amp;vtp=1"/>
          <p:cNvSpPr/>
          <p:nvPr/>
        </p:nvSpPr>
        <p:spPr>
          <a:xfrm>
            <a:off x="4479322" y="183854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4_BD.10_2#7e48120d9?vcp=1&amp;pid=12c9ef13c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74920" y="2452972"/>
            <a:ext cx="2039112" cy="1362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0_3#7e48120d9.choices?vcp=1&amp;pid=12c9ef13c&amp;color=0,0,0&amp;vtp=1&amp;bbb=1"/>
              <p:cNvSpPr/>
              <p:nvPr/>
            </p:nvSpPr>
            <p:spPr>
              <a:xfrm>
                <a:off x="393192" y="3951572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受到斜面体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的摩擦力一定不为0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.斜面体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受到水平面的摩擦力一定为0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.水平面对斜面体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的支持力与物体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和斜面体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的总重力大小相等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.若将细绳剪断，物体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依然静止在斜面上，此时水平面对斜面体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的摩擦力为0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0_3#7e48120d9.choices?vcp=1&amp;pid=12c9ef13c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51572"/>
                <a:ext cx="11402568" cy="2155000"/>
              </a:xfrm>
              <a:prstGeom prst="rect">
                <a:avLst/>
              </a:prstGeom>
              <a:blipFill>
                <a:blip r:embed="rId5"/>
                <a:stretch>
                  <a:fillRect l="-1658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2_1#7e48120d9?vcp=1&amp;pid=12c9ef13c&amp;color=0,0,0&amp;vtp=1&amp;bt=1&amp;bbb=1&amp;hb=1"/>
              <p:cNvSpPr/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若细绳对物体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的拉力恰好与物体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的重力沿斜面向下的分力相等，则物体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斜面体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之间的摩擦力为0，A错误；利用整体法判断，斜面体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一定受到水平面给的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向左的摩擦力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，B错误；同理，在竖直方向上利用整体法判断，水平面对斜面体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的支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持力小于物体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和斜面体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的总重力，C错误；利用整体法判断，剪断细绳后物体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斜面体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组成的系统在水平方向不受外力作用，D正确.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2_1#7e48120d9?vcp=1&amp;pid=12c9ef13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1444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587</Words>
  <Application>Microsoft Office PowerPoint</Application>
  <PresentationFormat>宽屏</PresentationFormat>
  <Paragraphs>99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SimHei</vt:lpstr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2026-05-25T08:08:20Z</dcterms:created>
  <dcterms:modified xsi:type="dcterms:W3CDTF">2026-05-25T08:09:18Z</dcterms:modified>
  <cp:category/>
  <cp:contentStatus/>
</cp:coreProperties>
</file>