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7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2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-107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37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3a54e5c3696ff3981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8562102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课时2 实验:探究弹簧弹力与形变量的关系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f7f0dabb1?lid=a94b95e55&amp;cid=a94b95e55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f7f0dabb1?lid=aec1fca84&amp;cid=aec1fca84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#856210259.fixed?vcp=1&amp;pid=f7f0dabb1&amp;color=0,112,192&amp;bbb=1"/>
          <p:cNvSpPr/>
          <p:nvPr/>
        </p:nvSpPr>
        <p:spPr>
          <a:xfrm>
            <a:off x="0" y="1801368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3#856210259.fixed?vcp=1&amp;pid=f7f0dabb1&amp;color=0,0,0&amp;bbb=1"/>
          <p:cNvSpPr/>
          <p:nvPr/>
        </p:nvSpPr>
        <p:spPr>
          <a:xfrm>
            <a:off x="265176" y="3063240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第9讲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重力与弹力</a:t>
            </a:r>
            <a:endParaRPr lang="en-US" altLang="zh-CN" sz="4400" dirty="0"/>
          </a:p>
        </p:txBody>
      </p:sp>
      <p:sp>
        <p:nvSpPr>
          <p:cNvPr id="4" name="C_3_BD#856210259.fixed?vcp=1&amp;pid=f7f0dabb1&amp;color=0,0,0&amp;bbb=1"/>
          <p:cNvSpPr/>
          <p:nvPr/>
        </p:nvSpPr>
        <p:spPr>
          <a:xfrm>
            <a:off x="265176" y="4142232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课时2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实验:探究弹簧弹力与形变量的关系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_BD#a94b95e55?vcp=1&amp;pid=856210259&amp;color=0,112,192&amp;tib=255,255,255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4727448" cy="548640"/>
          </a:xfrm>
          <a:prstGeom prst="rect">
            <a:avLst/>
          </a:prstGeom>
        </p:spPr>
      </p:pic>
      <p:graphicFrame>
        <p:nvGraphicFramePr>
          <p:cNvPr id="5" name="P_5_BD#9f8e98af9?colgroup=15,4,15&amp;vcp=1&amp;pid=a94b95e55&amp;color=0,0,0&amp;bb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628366"/>
              </p:ext>
            </p:extLst>
          </p:nvPr>
        </p:nvGraphicFramePr>
        <p:xfrm>
          <a:off x="393192" y="1181100"/>
          <a:ext cx="11400702" cy="2367661"/>
        </p:xfrm>
        <a:graphic>
          <a:graphicData uri="http://schemas.openxmlformats.org/drawingml/2006/table">
            <a:tbl>
              <a:tblPr/>
              <a:tblGrid>
                <a:gridCol w="4848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2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考点分析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核心素养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知识图解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31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1.实验原理.（★）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178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2.实验操作.（★★）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科学探究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3.数据处理与误差分析.（★★）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_5_BD#9f8e98af9.table_image?tii=1&amp;vcp=1&amp;pid=a94b95e55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74168" y="1671733"/>
            <a:ext cx="3252361" cy="175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_BD#aec1fca84?vcp=1&amp;pid=856210259&amp;color=0,112,192&amp;tib=255,255,255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4727448" cy="548640"/>
          </a:xfrm>
          <a:prstGeom prst="rect">
            <a:avLst/>
          </a:prstGeom>
        </p:spPr>
      </p:pic>
      <p:pic>
        <p:nvPicPr>
          <p:cNvPr id="3" name="C_5#3e0effc51?vcp=1&amp;pid=aec1fca84&amp;color=0,0,0&amp;tib=255,255,25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1181100"/>
            <a:ext cx="11356848" cy="457200"/>
          </a:xfrm>
          <a:prstGeom prst="rect">
            <a:avLst/>
          </a:prstGeom>
        </p:spPr>
      </p:pic>
      <p:sp>
        <p:nvSpPr>
          <p:cNvPr id="4" name="C_5_BD#3e0effc51?vcp=1&amp;pid=aec1fca84&amp;color=255,255,255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5_BD#3e0effc51?vcp=1&amp;pid=aec1fca84&amp;color=0,0,0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实验原理及操作步骤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p:pic>
        <p:nvPicPr>
          <p:cNvPr id="6" name="P_6_BD#39de482a5?htil=1&amp;vcp=1&amp;pid=3e0effc51&amp;color=0,0,0&amp;tib=255,255,255&amp;hs=1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56698" y="1823720"/>
            <a:ext cx="4114800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7" name="P_6_BD#39de482a5?htil=1&amp;vcp=1&amp;pid=3e0effc51&amp;color=0,0,0&amp;bbb=1&amp;hb=1&amp;hs=1"/>
          <p:cNvSpPr/>
          <p:nvPr/>
        </p:nvSpPr>
        <p:spPr>
          <a:xfrm>
            <a:off x="393192" y="1778000"/>
            <a:ext cx="7187184" cy="2532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.实验原理</a:t>
            </a:r>
            <a:endParaRPr lang="en-US" altLang="zh-CN" sz="2400" dirty="0"/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1）如图甲所示，在弹簧下端悬挂钩码时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，弹簧</a:t>
            </a:r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会伸长，平衡时弹簧的弹力与所挂钩码受到的重力大</a:t>
            </a:r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小相等.弹簧的原长与挂上钩码后弹簧的长度可以用刻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_6_BD#39de482a5?vcp=1&amp;pid=3e0effc51&amp;color=0,0,0&amp;bbb=1&amp;hb=1"/>
              <p:cNvSpPr/>
              <p:nvPr/>
            </p:nvSpPr>
            <p:spPr>
              <a:xfrm>
                <a:off x="393192" y="4842764"/>
                <a:ext cx="11402568" cy="14914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（2）建立坐标系，以纵坐标表示弹力大小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，以横坐标表示弹簧的伸长量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坐标系中描出实验所测得的各组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对应的点，用平滑的曲线连接起来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.根据实验所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得的图线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，就可探知弹力大小与弹簧伸长量之间的关系.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8" name="P_6_BD#39de482a5?vcp=1&amp;pid=3e0effc51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842764"/>
                <a:ext cx="11402568" cy="1491425"/>
              </a:xfrm>
              <a:prstGeom prst="rect">
                <a:avLst/>
              </a:prstGeom>
              <a:blipFill>
                <a:blip r:embed="rId6"/>
                <a:stretch>
                  <a:fillRect l="-1658" b="-122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_6_BD#39de482a5?htil=1&amp;vcp=1&amp;pid=3e0effc51&amp;color=0,0,0&amp;bbb=1&amp;hb=1&amp;hs=1">
                <a:extLst>
                  <a:ext uri="{FF2B5EF4-FFF2-40B4-BE49-F238E27FC236}">
                    <a16:creationId xmlns:a16="http://schemas.microsoft.com/office/drawing/2014/main" id="{BF4B295A-A4C5-5B70-F0C3-CF5C572C12BD}"/>
                  </a:ext>
                </a:extLst>
              </p:cNvPr>
              <p:cNvSpPr/>
              <p:nvPr/>
            </p:nvSpPr>
            <p:spPr>
              <a:xfrm>
                <a:off x="395996" y="4373880"/>
                <a:ext cx="11400008" cy="45955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度尺测出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，其伸长量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可以用弹簧的长度减去原长来求得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9" name="P_6_BD#39de482a5?htil=1&amp;vcp=1&amp;pid=3e0effc51&amp;color=0,0,0&amp;bbb=1&amp;hb=1&amp;hs=1">
                <a:extLst>
                  <a:ext uri="{FF2B5EF4-FFF2-40B4-BE49-F238E27FC236}">
                    <a16:creationId xmlns:a16="http://schemas.microsoft.com/office/drawing/2014/main" id="{BF4B295A-A4C5-5B70-F0C3-CF5C572C12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373880"/>
                <a:ext cx="11400008" cy="459550"/>
              </a:xfrm>
              <a:prstGeom prst="rect">
                <a:avLst/>
              </a:prstGeom>
              <a:blipFill>
                <a:blip r:embed="rId7"/>
                <a:stretch>
                  <a:fillRect l="-1658" t="-1333" b="-400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6_BD#39de482a5?vcp=1&amp;pid=3e0effc51&amp;color=0,0,0&amp;bt=1&amp;bbb=1&amp;hb=1"/>
              <p:cNvSpPr/>
              <p:nvPr/>
            </p:nvSpPr>
            <p:spPr>
              <a:xfrm>
                <a:off x="393192" y="1244695"/>
                <a:ext cx="11402568" cy="4390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2.实验步骤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1）将弹簧的一端挂在铁架台上，让其自然下垂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，用刻度尺测出弹簧自然伸长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状态时的长度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，即为原长.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2）如图乙所示，在弹簧下端挂质量为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的钩码，测出此时弹簧的长度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,记录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，填入自己设计的表格中.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3）改变所挂钩码的个数，测出对应的弹簧长度，记录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和相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应的弹簧长度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，得出每次弹簧的伸长量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，并将所得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数据填入表格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6_BD#39de482a5?vcp=1&amp;pid=3e0effc51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44695"/>
                <a:ext cx="11402568" cy="4390200"/>
              </a:xfrm>
              <a:prstGeom prst="rect">
                <a:avLst/>
              </a:prstGeom>
              <a:blipFill>
                <a:blip r:embed="rId3"/>
                <a:stretch>
                  <a:fillRect l="-1658" r="-535" b="-41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6_BD.1_1#dd7190ffc?vcp=1&amp;pid=3e0effc51&amp;color=0,0,0&amp;bt=1&amp;bbb=1&amp;hb=1"/>
          <p:cNvSpPr/>
          <p:nvPr/>
        </p:nvSpPr>
        <p:spPr>
          <a:xfrm>
            <a:off x="393192" y="1351280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（2026·浙江杭州学军中学检测</a:t>
            </a:r>
            <a:r>
              <a:rPr lang="en-US" altLang="zh-CN" sz="2400" b="0" i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某同学用如图甲所示装置探究弹簧弹力与形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变量的关系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pic>
        <p:nvPicPr>
          <p:cNvPr id="3" name="QO_6_BD.1_2#dd7190ffc?vcp=1&amp;pid=3e0effc51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91840" y="2524506"/>
            <a:ext cx="5605272" cy="298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7_BD.2_1#c795e2c04?vcp=1&amp;pid=dd7190ffc&amp;color=0,0,0&amp;bt=1&amp;bbb=1"/>
          <p:cNvSpPr/>
          <p:nvPr/>
        </p:nvSpPr>
        <p:spPr>
          <a:xfrm>
            <a:off x="393192" y="767176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）下列主要操作步骤的正确顺序是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3" name="QC_7_AN.3_1#c795e2c04.blank?vcp=1&amp;pid=dd7190ffc&amp;color=0,0,0&amp;vpa=1&amp;bbb=1"/>
          <p:cNvSpPr/>
          <p:nvPr/>
        </p:nvSpPr>
        <p:spPr>
          <a:xfrm>
            <a:off x="5439060" y="727171"/>
            <a:ext cx="1289050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CBEDA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C_7_BD.2_2#c795e2c04.choices?vcp=1&amp;pid=dd7190ffc&amp;color=0,0,0&amp;bbb=1&amp;hb=1"/>
              <p:cNvSpPr/>
              <p:nvPr/>
            </p:nvSpPr>
            <p:spPr>
              <a:xfrm>
                <a:off x="393192" y="1252950"/>
                <a:ext cx="11402568" cy="38315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A.写出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.记下弹簧不挂钩码时，其下端在刻度尺上的刻度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.将铁架台固定在水平桌面上，弹簧上端系在横杆上，在弹簧附近竖直固定刻度尺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.计算弹簧弹力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𝑛𝑚𝑔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为重力加速度），以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为横轴、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为纵轴建立平面直角坐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标系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，用描点法作出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E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.依次在弹簧下端挂上1个、2个、3个、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⋯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个质量均为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的钩码，当钩码静止时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，记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下弹簧下端所对应的刻度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，并记录在表格内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C_7_BD.2_2#c795e2c04.choices?vcp=1&amp;pid=dd7190ffc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52950"/>
                <a:ext cx="11402568" cy="3831590"/>
              </a:xfrm>
              <a:prstGeom prst="rect">
                <a:avLst/>
              </a:prstGeom>
              <a:blipFill>
                <a:blip r:embed="rId3"/>
                <a:stretch>
                  <a:fillRect l="-1658" r="-160" b="-47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7_AS.4_1#c795e2c04?vcp=1&amp;pid=dd7190ffc&amp;color=0,0,0&amp;bbb=1&amp;hb=1"/>
              <p:cNvSpPr/>
              <p:nvPr/>
            </p:nvSpPr>
            <p:spPr>
              <a:xfrm>
                <a:off x="393192" y="5037549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应先组装器材，测量弹簧原长，再进行实验，进行数据分析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，则正确排序为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𝐂𝐁𝐄𝐃𝐀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7_AS.4_1#c795e2c04?vcp=1&amp;pid=dd7190ffc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37549"/>
                <a:ext cx="11402568" cy="1037400"/>
              </a:xfrm>
              <a:prstGeom prst="rect">
                <a:avLst/>
              </a:prstGeom>
              <a:blipFill>
                <a:blip r:embed="rId4"/>
                <a:stretch>
                  <a:fillRect l="-1658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B_7_BD.5_1#430ab7ac9?vcp=1&amp;pid=dd7190ffc&amp;color=0,0,0&amp;bt=1&amp;bbb=1"/>
              <p:cNvSpPr/>
              <p:nvPr/>
            </p:nvSpPr>
            <p:spPr>
              <a:xfrm>
                <a:off x="393192" y="591630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（2）某次测量如图乙所示（刻度尺的分度值为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mm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）,指针示数为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QB_7_BD.5_1#430ab7ac9?vcp=1&amp;pid=dd7190ffc&amp;color=0,0,0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91630"/>
                <a:ext cx="11402568" cy="484124"/>
              </a:xfrm>
              <a:prstGeom prst="rect">
                <a:avLst/>
              </a:prstGeom>
              <a:blipFill>
                <a:blip r:embed="rId3"/>
                <a:stretch>
                  <a:fillRect l="-1658" b="-39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7_AN.6_1#430ab7ac9.blank?vcp=1&amp;pid=dd7190ffc&amp;color=0,0,0&amp;vpa=2&amp;bbb=1"/>
          <p:cNvSpPr/>
          <p:nvPr/>
        </p:nvSpPr>
        <p:spPr>
          <a:xfrm>
            <a:off x="9268111" y="551625"/>
            <a:ext cx="906463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17.90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B_7_AS.7_1#430ab7ac9?vcp=1&amp;pid=dd7190ffc&amp;color=0,0,0&amp;bbb=1"/>
              <p:cNvSpPr/>
              <p:nvPr/>
            </p:nvSpPr>
            <p:spPr>
              <a:xfrm>
                <a:off x="393192" y="1133347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刻度尺分度值为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，读数为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𝟏𝟕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𝟗𝟎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QB_7_AS.7_1#430ab7ac9?vcp=1&amp;pid=dd7190ffc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33347"/>
                <a:ext cx="11402568" cy="484124"/>
              </a:xfrm>
              <a:prstGeom prst="rect">
                <a:avLst/>
              </a:prstGeom>
              <a:blipFill>
                <a:blip r:embed="rId4"/>
                <a:stretch>
                  <a:fillRect l="-1658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B_7_BD.8_1#eeb771314?vcp=1&amp;pid=dd7190ffc&amp;color=0,0,0&amp;bbb=1&amp;hb=1"/>
              <p:cNvSpPr/>
              <p:nvPr/>
            </p:nvSpPr>
            <p:spPr>
              <a:xfrm>
                <a:off x="393192" y="1621599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（3）根据实验记录，作出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图像，如图丙所示，则弹簧的劲度系数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结果保留三位有效数字）.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QB_7_BD.8_1#eeb771314?vcp=1&amp;pid=dd7190ffc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21599"/>
                <a:ext cx="11402568" cy="1037400"/>
              </a:xfrm>
              <a:prstGeom prst="rect">
                <a:avLst/>
              </a:prstGeom>
              <a:blipFill>
                <a:blip r:embed="rId5"/>
                <a:stretch>
                  <a:fillRect l="-1658" r="-107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B_7_AN.9_1#eeb771314.blank?vcp=1&amp;pid=dd7190ffc&amp;color=0,0,0&amp;vpa=3&amp;bbb=1"/>
          <p:cNvSpPr/>
          <p:nvPr/>
        </p:nvSpPr>
        <p:spPr>
          <a:xfrm>
            <a:off x="10336245" y="1593659"/>
            <a:ext cx="754063" cy="49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13.2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QB_7_AS.10_1#eeb771314?vcp=1&amp;pid=dd7190ffc&amp;color=0,0,0&amp;bbb=1"/>
              <p:cNvSpPr/>
              <p:nvPr/>
            </p:nvSpPr>
            <p:spPr>
              <a:xfrm>
                <a:off x="393192" y="2661729"/>
                <a:ext cx="11402568" cy="647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1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根据胡克定律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𝟎𝟏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𝟏𝟑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QB_7_AS.10_1#eeb771314?vcp=1&amp;pid=dd7190ffc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61729"/>
                <a:ext cx="11402568" cy="647700"/>
              </a:xfrm>
              <a:prstGeom prst="rect">
                <a:avLst/>
              </a:prstGeom>
              <a:blipFill>
                <a:blip r:embed="rId6"/>
                <a:stretch>
                  <a:fillRect l="-1658" b="-849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QB_7_BD.11_1#79163c85b?vcp=1&amp;pid=dd7190ffc&amp;color=0,0,0&amp;bbb=1&amp;hb=1"/>
              <p:cNvSpPr/>
              <p:nvPr/>
            </p:nvSpPr>
            <p:spPr>
              <a:xfrm>
                <a:off x="393192" y="3309429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（4）若以钩码个数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为横轴、弹簧下端对应刻度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为纵轴建立平面直角坐标系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，拟合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直线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.测得直线斜率为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,则弹簧劲度系数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的表达式为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（用已知量和测量量的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符号表示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8" name="QB_7_BD.11_1#79163c85b?vcp=1&amp;pid=dd7190ffc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09429"/>
                <a:ext cx="11402568" cy="1596200"/>
              </a:xfrm>
              <a:prstGeom prst="rect">
                <a:avLst/>
              </a:prstGeom>
              <a:blipFill>
                <a:blip r:embed="rId7"/>
                <a:stretch>
                  <a:fillRect l="-1658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QB_7_AN.12_1#79163c85b.blank?vcp=1&amp;pid=dd7190ffc&amp;color=0,0,0&amp;vpa=4&amp;bbb=1&amp;rh=38.41"/>
              <p:cNvSpPr/>
              <p:nvPr/>
            </p:nvSpPr>
            <p:spPr>
              <a:xfrm>
                <a:off x="7909368" y="3821112"/>
                <a:ext cx="512763" cy="48780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9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 xmlns="">
          <p:sp>
            <p:nvSpPr>
              <p:cNvPr id="9" name="QB_7_AN.12_1#79163c85b.blank?vcp=1&amp;pid=dd7190ffc&amp;color=0,0,0&amp;vpa=4&amp;bbb=1&amp;rh=38.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368" y="3821112"/>
                <a:ext cx="512763" cy="487807"/>
              </a:xfrm>
              <a:prstGeom prst="rect">
                <a:avLst/>
              </a:prstGeom>
              <a:blipFill>
                <a:blip r:embed="rId8"/>
                <a:stretch>
                  <a:fillRect b="-2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QB_7_AS.13_1#79163c85b?vcp=1&amp;pid=dd7190ffc&amp;color=0,0,0&amp;bbb=1&amp;hb=1"/>
              <p:cNvSpPr/>
              <p:nvPr/>
            </p:nvSpPr>
            <p:spPr>
              <a:xfrm>
                <a:off x="393192" y="4896929"/>
                <a:ext cx="11402568" cy="139198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8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根据共点力平衡条件有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𝒏𝒎𝒈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,整</a:t>
                </a:r>
              </a:p>
              <a:p>
                <a:pPr latinLnBrk="1">
                  <a:lnSpc>
                    <a:spcPts val="5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理得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QB_7_AS.13_1#79163c85b?vcp=1&amp;pid=dd7190ffc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896929"/>
                <a:ext cx="11402568" cy="1391984"/>
              </a:xfrm>
              <a:prstGeom prst="rect">
                <a:avLst/>
              </a:prstGeom>
              <a:blipFill>
                <a:blip r:embed="rId9"/>
                <a:stretch>
                  <a:fillRect l="-1658" b="-742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6" grpId="0" build="p" animBg="1"/>
      <p:bldP spid="7" grpId="0" build="p" animBg="1"/>
      <p:bldP spid="9" grpId="0" build="p" animBg="1"/>
      <p:bldP spid="10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6_BD.14_1#c925beaac?vcp=1&amp;pid=3e0effc51&amp;color=0,0,0&amp;bt=1&amp;bbb=1&amp;hb=1"/>
          <p:cNvSpPr/>
          <p:nvPr/>
        </p:nvSpPr>
        <p:spPr>
          <a:xfrm>
            <a:off x="393192" y="870268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变式1-1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（2026·湖北武汉外国语学校检测）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同学们利用如图所示的装置做实验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，探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究在弹性限度内弹簧弹力与形变量的关系，下列说法中能正确反映探究结果的是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6_AN.15_1#c925beaac.bracket?vcp=1&amp;pid=3e0effc51&amp;color=0,0,0&amp;vpa=5"/>
          <p:cNvSpPr/>
          <p:nvPr/>
        </p:nvSpPr>
        <p:spPr>
          <a:xfrm>
            <a:off x="625760" y="1976438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4" name="QC_6_BD.14_2#c925beaac?vcp=1&amp;pid=3e0effc51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2000" y="2590864"/>
            <a:ext cx="3054096" cy="221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6_BD.14_3#c925beaac.choices?vcp=1&amp;pid=3e0effc51&amp;color=0,0,0&amp;bbb=1"/>
          <p:cNvSpPr/>
          <p:nvPr/>
        </p:nvSpPr>
        <p:spPr>
          <a:xfrm>
            <a:off x="393192" y="4940364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5807954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.弹簧弹力与形变量成正比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.弹簧弹力与形变量成反比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C.弹簧弹力与形变量的二次方成正比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.弹簧弹力与形变量的二次方成反比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6_BD#3601f01ee?vcp=1&amp;pid=3e0effc51&amp;color=0,0,0&amp;bt=1&amp;bbb=1&amp;hb=1"/>
          <p:cNvSpPr/>
          <p:nvPr/>
        </p:nvSpPr>
        <p:spPr>
          <a:xfrm>
            <a:off x="393192" y="679006"/>
            <a:ext cx="11402568" cy="5503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注意事项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.所挂钩码不要过重，以免弹簧超出它的弹性限度.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.每次所挂钩码的质量差尽量大一些，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从而使坐标纸上描出的点尽可能稀疏一些，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这样作出的图线较为精确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.测弹簧长度时，一定要在弹簧竖直悬挂且处于平衡状态时测量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，刻度尺要保持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竖直并靠近弹簧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，以免增大误差.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.描点画线时，所描的点不一定都落在一条曲线上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，但应注意一定要使各点均匀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分布在曲线的两侧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5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.记录数据时要注意弹力及弹簧伸长量的对应关系和单位.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5#9342adf21?vcp=1&amp;pid=aec1fca84&amp;color=0,0,0&amp;tib=255,255,255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11356848" cy="457200"/>
          </a:xfrm>
          <a:prstGeom prst="rect">
            <a:avLst/>
          </a:prstGeom>
        </p:spPr>
      </p:pic>
      <p:sp>
        <p:nvSpPr>
          <p:cNvPr id="3" name="C_5_BD#9342adf21?vcp=1&amp;pid=aec1fca84&amp;color=255,255,255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5_BD#9342adf21?vcp=1&amp;pid=aec1fca84&amp;color=0,0,0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数据处理及误差分析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6_BD#5e7b9b6e9?vcp=1&amp;pid=9342adf21&amp;color=0,0,0&amp;bbb=1&amp;hb=1"/>
              <p:cNvSpPr/>
              <p:nvPr/>
            </p:nvSpPr>
            <p:spPr>
              <a:xfrm>
                <a:off x="393192" y="1092200"/>
                <a:ext cx="11402568" cy="52696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.弹簧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图像问题的求解三法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1）利用图像在横轴上的截距，求弹簧的原长.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2）利用图像的斜率，求弹簧的劲度系数.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3）利用图像上的点（数据）列方程（或方程组）求解弹簧的原长或劲度系数.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.误差分析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1）由于弹簧原长及伸长量的测量都不便于操作,故存在较大的测量误差.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2）由于弹簧自身的重力影响造成误差.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3）当未放重物时,弹簧在自身重力的作用下,已经有一个伸长量,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这样在作图时, 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轴有一截距.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6_BD#5e7b9b6e9?vcp=1&amp;pid=9342adf21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5269675"/>
              </a:xfrm>
              <a:prstGeom prst="rect">
                <a:avLst/>
              </a:prstGeom>
              <a:blipFill>
                <a:blip r:embed="rId4"/>
                <a:stretch>
                  <a:fillRect l="-1658" b="-346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6_BD.16_1#31530dff1?vcp=1&amp;pid=9342adf21&amp;color=0,0,0&amp;bt=1&amp;bbb=1&amp;hb=1"/>
          <p:cNvSpPr/>
          <p:nvPr/>
        </p:nvSpPr>
        <p:spPr>
          <a:xfrm>
            <a:off x="393192" y="2070036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考题2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（2026·南京师大附中模拟）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在“探究弹簧弹力与形变量的关系”的实验中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，某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实验小组利用智能手机中自带的定位传感器设计了如图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（a）所示的实验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，手机软件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中的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“定位”功能可以测量手机竖直方向的位移,某次实验中记录的数据如下表所示.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QO_6_BD.16_2#31530dff1?colgroup=7,4,4,4,4,4,4&amp;vcp=1&amp;pid=9342adf21&amp;color=0,0,0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4282707"/>
                  </p:ext>
                </p:extLst>
              </p:nvPr>
            </p:nvGraphicFramePr>
            <p:xfrm>
              <a:off x="393192" y="3790632"/>
              <a:ext cx="11365992" cy="997332"/>
            </p:xfrm>
            <a:graphic>
              <a:graphicData uri="http://schemas.openxmlformats.org/drawingml/2006/table">
                <a:tbl>
                  <a:tblPr/>
                  <a:tblGrid>
                    <a:gridCol w="25328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21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721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7218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7218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47218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47218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钩码数目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弹簧伸长量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cm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0.49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1.01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1.51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1.99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2.39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2.51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QO_6_BD.16_2#31530dff1?colgroup=7,4,4,4,4,4,4&amp;vcp=1&amp;pid=9342adf21&amp;color=0,0,0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4282707"/>
                  </p:ext>
                </p:extLst>
              </p:nvPr>
            </p:nvGraphicFramePr>
            <p:xfrm>
              <a:off x="393192" y="3790632"/>
              <a:ext cx="11365992" cy="997332"/>
            </p:xfrm>
            <a:graphic>
              <a:graphicData uri="http://schemas.openxmlformats.org/drawingml/2006/table">
                <a:tbl>
                  <a:tblPr/>
                  <a:tblGrid>
                    <a:gridCol w="25328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21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721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7218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7218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47218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47218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4986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0" r="-348798" b="-1277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0" t="-101220" r="-348798" b="-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0.49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1.01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1.51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1.99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2.39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2.51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6_BD.16_3#31530dff1?htil=2&amp;vcp=1&amp;pid=9342adf21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80498" y="2029968"/>
            <a:ext cx="4114800" cy="2843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QO_7_BD.17_1#6a6371cac?htil=2&amp;vcp=1&amp;pid=31530dff1&amp;color=0,0,0&amp;bt=1&amp;bbb=1&amp;hb=1"/>
              <p:cNvSpPr/>
              <p:nvPr/>
            </p:nvSpPr>
            <p:spPr>
              <a:xfrm>
                <a:off x="393192" y="1984248"/>
                <a:ext cx="7187184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（1）根据表格中的数据，在图（b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）中描点并作出钩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码数量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与弹簧伸长量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的关系图像.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O_7_BD.17_1#6a6371cac?htil=2&amp;vcp=1&amp;pid=31530dff1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84248"/>
                <a:ext cx="7187184" cy="1037400"/>
              </a:xfrm>
              <a:prstGeom prst="rect">
                <a:avLst/>
              </a:prstGeom>
              <a:blipFill>
                <a:blip r:embed="rId4"/>
                <a:stretch>
                  <a:fillRect l="-2629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7_AS.18_1#6a6371cac?htil=3&amp;vcp=1&amp;pid=31530dff1&amp;color=0,0,0&amp;tib=255,255,255" descr="preencoded.png">
            <a:extLst>
              <a:ext uri="{FF2B5EF4-FFF2-40B4-BE49-F238E27FC236}">
                <a16:creationId xmlns:a16="http://schemas.microsoft.com/office/drawing/2014/main" id="{42C0C3E3-DFB2-0AB9-9BD1-B28266F794A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85930" y="2061972"/>
            <a:ext cx="2843784" cy="277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QO_7_AS.18_2#6a6371cac?htil=3&amp;vcp=1&amp;pid=31530dff1&amp;color=0,0,0&amp;bbb=1&amp;hb=1">
                <a:extLst>
                  <a:ext uri="{FF2B5EF4-FFF2-40B4-BE49-F238E27FC236}">
                    <a16:creationId xmlns:a16="http://schemas.microsoft.com/office/drawing/2014/main" id="{8CC119B3-3E60-20B9-B5B6-B6DC71C3A06D}"/>
                  </a:ext>
                </a:extLst>
              </p:cNvPr>
              <p:cNvSpPr/>
              <p:nvPr/>
            </p:nvSpPr>
            <p:spPr>
              <a:xfrm>
                <a:off x="393192" y="2016252"/>
                <a:ext cx="8467344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为横坐标，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为纵坐标，在坐标纸中描点画线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，让多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数的点分布在直线上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，其余点均匀分布在直线两侧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，偏差太大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的点舍弃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，所得图像如图所示.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O_7_AS.18_2#6a6371cac?htil=3&amp;vcp=1&amp;pid=31530dff1&amp;color=0,0,0&amp;bbb=1&amp;hb=1">
                <a:extLst>
                  <a:ext uri="{FF2B5EF4-FFF2-40B4-BE49-F238E27FC236}">
                    <a16:creationId xmlns:a16="http://schemas.microsoft.com/office/drawing/2014/main" id="{8CC119B3-3E60-20B9-B5B6-B6DC71C3A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16252"/>
                <a:ext cx="8467344" cy="1596200"/>
              </a:xfrm>
              <a:prstGeom prst="rect">
                <a:avLst/>
              </a:prstGeom>
              <a:blipFill>
                <a:blip r:embed="rId3"/>
                <a:stretch>
                  <a:fillRect l="-2232" r="-792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O_7_AN.19_1#6a6371cac?htil=3&amp;vcp=1&amp;pid=31530dff1&amp;color=0,0,0&amp;bbb=1">
            <a:extLst>
              <a:ext uri="{FF2B5EF4-FFF2-40B4-BE49-F238E27FC236}">
                <a16:creationId xmlns:a16="http://schemas.microsoft.com/office/drawing/2014/main" id="{3AA07883-8824-9918-6E5B-920917DB3CF2}"/>
              </a:ext>
            </a:extLst>
          </p:cNvPr>
          <p:cNvSpPr/>
          <p:nvPr/>
        </p:nvSpPr>
        <p:spPr>
          <a:xfrm>
            <a:off x="393192" y="3663695"/>
            <a:ext cx="8467344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[答案]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见解析.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845008040"/>
      </p:ext>
    </p:extLst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B_7_BD.20_1#eefd4ca88?vcp=1&amp;pid=31530dff1&amp;color=0,0,0&amp;bt=1&amp;bbb=1&amp;hb=1"/>
          <p:cNvSpPr/>
          <p:nvPr/>
        </p:nvSpPr>
        <p:spPr>
          <a:xfrm>
            <a:off x="393192" y="765143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）根据图像可得出弹簧弹力与弹簧伸长量的关系是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___________________________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_________________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3" name="QB_7_AN.21_1#eefd4ca88.blank?vcp=1&amp;pid=31530dff1&amp;color=0,0,0&amp;vpa=6&amp;bbb=1&amp;hb=1"/>
          <p:cNvSpPr/>
          <p:nvPr/>
        </p:nvSpPr>
        <p:spPr>
          <a:xfrm>
            <a:off x="393192" y="737203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            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在弹性限度内，弹簧的弹力与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弹簧伸长量成正比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B_7_AS.22_1#eefd4ca88?vcp=1&amp;pid=31530dff1&amp;color=0,0,0&amp;bbb=1&amp;hb=1"/>
              <p:cNvSpPr/>
              <p:nvPr/>
            </p:nvSpPr>
            <p:spPr>
              <a:xfrm>
                <a:off x="393192" y="1810353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图像为过原点的直线可知，钩码数量与弹簧伸长量成正比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.又因为每个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钩码质量相等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，弹簧弹力等于钩码总重力，故在弹性限度内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，弹簧的弹力与弹簧伸长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量成正比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B_7_AS.22_1#eefd4ca88?vcp=1&amp;pid=31530dff1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0353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r="-749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B_7_BD.23_1#fff2ef7bd?vcp=1&amp;pid=31530dff1&amp;color=0,0,0&amp;bbb=1&amp;hb=1"/>
              <p:cNvSpPr/>
              <p:nvPr/>
            </p:nvSpPr>
            <p:spPr>
              <a:xfrm>
                <a:off x="393192" y="3397852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（3）已知每个钩码的质量为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，由图像可以求得弹簧的劲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度系数为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（结果保留两位有效数字）.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B_7_BD.23_1#fff2ef7bd?vcp=1&amp;pid=31530dff1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97852"/>
                <a:ext cx="11402568" cy="1033399"/>
              </a:xfrm>
              <a:prstGeom prst="rect">
                <a:avLst/>
              </a:prstGeom>
              <a:blipFill>
                <a:blip r:embed="rId4"/>
                <a:stretch>
                  <a:fillRect l="-1658" r="-481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B_7_AN.24_1#fff2ef7bd.blank?vcp=1&amp;pid=31530dff1&amp;color=0,0,0&amp;vpa=7&amp;bbb=1"/>
          <p:cNvSpPr/>
          <p:nvPr/>
        </p:nvSpPr>
        <p:spPr>
          <a:xfrm>
            <a:off x="1629061" y="3907123"/>
            <a:ext cx="5254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10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QB_7_AS.25_1#fff2ef7bd?vcp=1&amp;pid=31530dff1&amp;color=0,0,0&amp;bbb=1&amp;hb=1"/>
              <p:cNvSpPr/>
              <p:nvPr/>
            </p:nvSpPr>
            <p:spPr>
              <a:xfrm>
                <a:off x="393192" y="4437982"/>
                <a:ext cx="11402568" cy="1697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5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设弹簧劲度系数为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，由题意知每个钩码质量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,根据二力平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衡有弹簧弹力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,整理得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,结合图像斜率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,代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入数据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7" name="QB_7_AS.25_1#fff2ef7bd?vcp=1&amp;pid=31530dff1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437982"/>
                <a:ext cx="11402568" cy="1697800"/>
              </a:xfrm>
              <a:prstGeom prst="rect">
                <a:avLst/>
              </a:prstGeom>
              <a:blipFill>
                <a:blip r:embed="rId5"/>
                <a:stretch>
                  <a:fillRect l="-1658" r="-428" b="-1075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6" grpId="0" build="p" animBg="1"/>
      <p:bldP spid="7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B_7_BD.26_1#6653a7e16?vcp=1&amp;pid=31530dff1&amp;color=0,0,0&amp;bt=1&amp;bbb=1&amp;hb=1"/>
          <p:cNvSpPr/>
          <p:nvPr/>
        </p:nvSpPr>
        <p:spPr>
          <a:xfrm>
            <a:off x="393192" y="1753013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（4）实验中未考虑弹簧自身受到的重力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，这对弹簧劲度系数的测量结果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填“有”或“无”）影响.</a:t>
            </a:r>
            <a:endParaRPr lang="en-US" altLang="zh-CN" sz="2400" dirty="0"/>
          </a:p>
        </p:txBody>
      </p:sp>
      <p:sp>
        <p:nvSpPr>
          <p:cNvPr id="3" name="QB_7_AN.27_1#6653a7e16.blank?vcp=1&amp;pid=31530dff1&amp;color=0,0,0&amp;vpa=8"/>
          <p:cNvSpPr/>
          <p:nvPr/>
        </p:nvSpPr>
        <p:spPr>
          <a:xfrm>
            <a:off x="10011061" y="1725073"/>
            <a:ext cx="525463" cy="49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无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B_7_AS.28_1#6653a7e16?vcp=1&amp;pid=31530dff1&amp;color=0,0,0&amp;bbb=1&amp;hb=1"/>
              <p:cNvSpPr/>
              <p:nvPr/>
            </p:nvSpPr>
            <p:spPr>
              <a:xfrm>
                <a:off x="393192" y="2798222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若考虑弹簧自身重力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，则未挂钩码时，弹簧伸长量为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,挂上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钩码后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，联立整理得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,由以上分析可知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，弹簧的劲度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系数是通过图像斜率与单个钩码的重力的乘积得到的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，与弹簧自重无关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，故未考虑弹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簧自身受到的重力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，对弹簧劲度系数的测量结量无影响.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B_7_AS.28_1#6653a7e16?vcp=1&amp;pid=31530dff1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98222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588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B_6_BD.29_1#dec361ff8?vcp=1&amp;pid=9342adf21&amp;color=0,0,0&amp;bt=1&amp;bbb=1&amp;hb=1"/>
              <p:cNvSpPr/>
              <p:nvPr/>
            </p:nvSpPr>
            <p:spPr>
              <a:xfrm>
                <a:off x="393192" y="2386076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某同学查阅相关资料得知当地重力加速度的值为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9.78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，若考虑此因素的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影响，则实验测得弹簧的劲度系数结果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填“大于”“小于”或“等于”）真实值.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B_6_BD.29_1#dec361ff8?vcp=1&amp;pid=9342adf21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86076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963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6_AN.30_1#dec361ff8.blank?vcp=1&amp;pid=9342adf21&amp;color=0,0,0&amp;vpa=9&amp;bbb=1"/>
          <p:cNvSpPr/>
          <p:nvPr/>
        </p:nvSpPr>
        <p:spPr>
          <a:xfrm>
            <a:off x="5591460" y="2895346"/>
            <a:ext cx="830263" cy="47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大于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B_6_AS.31_1#dec361ff8?vcp=1&amp;pid=9342adf21&amp;color=0,0,0&amp;bbb=1&amp;hb=1"/>
              <p:cNvSpPr/>
              <p:nvPr/>
            </p:nvSpPr>
            <p:spPr>
              <a:xfrm>
                <a:off x="393192" y="3419601"/>
                <a:ext cx="11402568" cy="1050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5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当地重力加速度的值为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，若考虑此因素的影响，结合上式可知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，实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验测得弹簧的劲度系数结果偏大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B_6_AS.31_1#dec361ff8?vcp=1&amp;pid=9342adf21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9601"/>
                <a:ext cx="11402568" cy="1050100"/>
              </a:xfrm>
              <a:prstGeom prst="rect">
                <a:avLst/>
              </a:prstGeom>
              <a:blipFill>
                <a:blip r:embed="rId4"/>
                <a:stretch>
                  <a:fillRect l="-1658" r="-374" b="-1686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6_BD#9777276d8?vcp=1&amp;pid=9342adf21&amp;color=0,0,0&amp;bt=1&amp;bbb=1&amp;hb=1"/>
              <p:cNvSpPr/>
              <p:nvPr/>
            </p:nvSpPr>
            <p:spPr>
              <a:xfrm>
                <a:off x="393192" y="1514666"/>
                <a:ext cx="11402568" cy="3827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数据处理的方法与技巧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.以弹力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（大小等于所挂钩码受到的重力）为纵坐标，以弹簧的伸长量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为横坐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标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，用描点法作图.连接各点，得出弹力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随弹簧伸长量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变化的图线.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.以弹簧的伸长量为自变量，写出曲线所代表的函数.首先尝试一次函数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，如果不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,则考虑二次函数.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.得出弹力和弹簧伸长量之间的定量关系，解释函数表达式中常数的物理意义.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6_BD#9777276d8?vcp=1&amp;pid=9342adf21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4666"/>
                <a:ext cx="11402568" cy="3827399"/>
              </a:xfrm>
              <a:prstGeom prst="rect">
                <a:avLst/>
              </a:prstGeom>
              <a:blipFill>
                <a:blip r:embed="rId3"/>
                <a:stretch>
                  <a:fillRect l="-1658" r="-588" b="-49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6_BD#9777276d8?vcp=1&amp;pid=9342adf21&amp;color=0,0,0&amp;bt=1&amp;bbb=1"/>
          <p:cNvSpPr/>
          <p:nvPr/>
        </p:nvSpPr>
        <p:spPr>
          <a:xfrm>
            <a:off x="393192" y="649986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难点突破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实验误差分析及减小方法</a:t>
            </a:r>
            <a:endParaRPr lang="en-US" altLang="zh-CN" sz="2400" dirty="0"/>
          </a:p>
        </p:txBody>
      </p:sp>
      <p:pic>
        <p:nvPicPr>
          <p:cNvPr id="3" name="P_6_BD#9777276d8?vcp=1&amp;pid=9342adf21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26280" y="1823212"/>
            <a:ext cx="3145536" cy="437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6_BD#9777276d8?vcp=1&amp;pid=9342adf21&amp;color=0,0,0&amp;bt=1&amp;bbb=1&amp;hb=1"/>
          <p:cNvSpPr/>
          <p:nvPr/>
        </p:nvSpPr>
        <p:spPr>
          <a:xfrm>
            <a:off x="393192" y="504000"/>
            <a:ext cx="11402568" cy="587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39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教材延伸</a:t>
            </a:r>
            <a:endParaRPr lang="en-US" altLang="zh-CN" sz="2400" dirty="0"/>
          </a:p>
          <a:p>
            <a:pPr algn="ctr" latinLnBrk="1">
              <a:lnSpc>
                <a:spcPts val="39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描绘实验图线</a:t>
            </a:r>
            <a:endParaRPr lang="en-US" altLang="zh-CN" sz="2400" dirty="0"/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.描绘图线时，一般以横坐标为自变量，以纵坐标为因变量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，在坐标轴的末端箭</a:t>
            </a:r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头旁注明坐标轴所代表的物理量及其单位.</a:t>
            </a:r>
            <a:endParaRPr lang="en-US" altLang="zh-CN" sz="2400" dirty="0"/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.根据测量的数据，选取适当的坐标轴的标度（每格所代表的量值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），使横轴与</a:t>
            </a:r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纵轴的全长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（表示数据的最大值的长度）近似相等，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图线大约分布在正方形区域内，</a:t>
            </a:r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并尽可能使最小分度与测量的准确程度相一致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且测量的准确值在图上能确切标出.</a:t>
            </a:r>
            <a:endParaRPr lang="en-US" altLang="zh-CN" sz="2400" dirty="0"/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 spc="-10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spc="-10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.当图线不通过坐标原点时，坐标的原点可以不从0开始，</a:t>
            </a:r>
            <a:r>
              <a:rPr lang="en-US" altLang="zh-CN" sz="2400" b="0" i="0" spc="-10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这样可以使图线分布匀称.</a:t>
            </a:r>
            <a:endParaRPr lang="en-US" altLang="zh-CN" sz="2400" spc="-100" dirty="0"/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.描点时，依据实验数据用削尖的铅笔在图上描点，用“×”或“·”标明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，再用平滑</a:t>
            </a:r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的曲线连接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.测量值有一定的误差，图线不通过全部的点是正常现象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，连线时应让尽量</a:t>
            </a:r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多的点落在所绘图线上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，个别严重偏离的点应舍弃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，应使其余不在所绘图线上的点大</a:t>
            </a:r>
          </a:p>
          <a:p>
            <a:pPr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致均匀地分布在所绘图线的两侧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r>
              <a:rPr lang="en-US" altLang="zh-CN" sz="100" b="0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#4.1.4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</Words>
  <Application>Microsoft Office PowerPoint</Application>
  <PresentationFormat>宽屏</PresentationFormat>
  <Paragraphs>177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3</cp:revision>
  <dcterms:created xsi:type="dcterms:W3CDTF">2026-05-25T07:04:30Z</dcterms:created>
  <dcterms:modified xsi:type="dcterms:W3CDTF">2026-05-25T08:35:16Z</dcterms:modified>
  <cp:category/>
  <cp:contentStatus/>
</cp:coreProperties>
</file>