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72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6403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xin?subject=physics#pid=6a0d1e829b2d2ba91f04ee84#tid=6a13c063a54e5c3696ff3980#sourcefrom=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1261872" y="1078992"/>
            <a:ext cx="719632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8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8800" dirty="0"/>
          </a:p>
        </p:txBody>
      </p:sp>
      <p:sp>
        <p:nvSpPr>
          <p:cNvPr id="4" name="MasterShapeName"/>
          <p:cNvSpPr/>
          <p:nvPr/>
        </p:nvSpPr>
        <p:spPr>
          <a:xfrm>
            <a:off x="1581912" y="2770632"/>
            <a:ext cx="6839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3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36576"/>
            <a:ext cx="1911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2400" dirty="0"/>
          </a:p>
        </p:txBody>
      </p:sp>
      <p:sp>
        <p:nvSpPr>
          <p:cNvPr id="4" name="MasterShapeName"/>
          <p:cNvSpPr/>
          <p:nvPr/>
        </p:nvSpPr>
        <p:spPr>
          <a:xfrm>
            <a:off x="2340864" y="146304"/>
            <a:ext cx="36027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MasterShapeName?linknodeid=back_to_first_catalog" descr="preencoded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50040" y="6409944"/>
            <a:ext cx="448056" cy="448056"/>
          </a:xfrm>
          <a:prstGeom prst="rect">
            <a:avLst/>
          </a:prstGeom>
        </p:spPr>
      </p:pic>
      <p:sp>
        <p:nvSpPr>
          <p:cNvPr id="4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5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ck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df=ea2b06bf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MasterShapeName?linknodeid=back_to_first_catalog" descr="preencoded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50040" y="6409944"/>
            <a:ext cx="448056" cy="448056"/>
          </a:xfrm>
          <a:prstGeom prst="rect">
            <a:avLst/>
          </a:prstGeom>
        </p:spPr>
      </p:pic>
      <p:sp>
        <p:nvSpPr>
          <p:cNvPr id="4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5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课时1 重力与弹力</a:t>
            </a: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&amp;si=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&amp;si=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1#目录1:f7f0dabb1?lid=9b87940bb&amp;cid=9b87940bb&amp;vtp=1&amp;bt=1&amp;bbb=1">
            <a:hlinkClick r:id="rId3" action="ppaction://hlinksldjump"/>
          </p:cNvPr>
          <p:cNvSpPr/>
          <p:nvPr/>
        </p:nvSpPr>
        <p:spPr>
          <a:xfrm>
            <a:off x="5577840" y="2587752"/>
            <a:ext cx="6117336" cy="6492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4000"/>
              </a:lnSpc>
            </a:pPr>
            <a:r>
              <a:rPr lang="en-US" altLang="zh-CN" sz="32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高考要求</a:t>
            </a:r>
            <a:r>
              <a:rPr lang="en-US" altLang="zh-CN" sz="32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32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学业标准·考情分析</a:t>
            </a:r>
            <a:endParaRPr lang="en-US" altLang="zh-CN" sz="3200" dirty="0"/>
          </a:p>
        </p:txBody>
      </p:sp>
      <p:sp>
        <p:nvSpPr>
          <p:cNvPr id="3" name="C_1#目录1:f7f0dabb1?lid=2f04cd151&amp;cid=2f04cd151&amp;vtp=1&amp;bbb=1">
            <a:hlinkClick r:id="rId4" action="ppaction://hlinksldjump"/>
          </p:cNvPr>
          <p:cNvSpPr/>
          <p:nvPr/>
        </p:nvSpPr>
        <p:spPr>
          <a:xfrm>
            <a:off x="5577840" y="3419856"/>
            <a:ext cx="6117336" cy="6492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4000"/>
              </a:lnSpc>
            </a:pPr>
            <a:r>
              <a:rPr lang="en-US" altLang="zh-CN" sz="32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考点分类</a:t>
            </a:r>
            <a:r>
              <a:rPr lang="en-US" altLang="zh-CN" sz="32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32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考点透析·典例剖析</a:t>
            </a:r>
            <a:endParaRPr lang="en-US" altLang="zh-CN" sz="3200" dirty="0"/>
          </a:p>
        </p:txBody>
      </p:sp>
    </p:spTree>
  </p:cSld>
  <p:clrMapOvr>
    <a:masterClrMapping/>
  </p:clrMapOvr>
  <p:transition>
    <p:split dir="in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&amp;si=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3#ea2b06bf8.fixed?vcp=1&amp;pid=f7f0dabb1&amp;color=0,112,192&amp;vtp=1&amp;bbb=1"/>
          <p:cNvSpPr/>
          <p:nvPr/>
        </p:nvSpPr>
        <p:spPr>
          <a:xfrm>
            <a:off x="0" y="1801368"/>
            <a:ext cx="12188952" cy="7955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latinLnBrk="1">
              <a:lnSpc>
                <a:spcPts val="6000"/>
              </a:lnSpc>
            </a:pP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第三章</a:t>
            </a:r>
            <a:r>
              <a:rPr lang="en-US" altLang="zh-CN" sz="48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相互作用——力</a:t>
            </a:r>
            <a:endParaRPr lang="en-US" altLang="zh-CN" sz="4800" dirty="0"/>
          </a:p>
        </p:txBody>
      </p:sp>
      <p:sp>
        <p:nvSpPr>
          <p:cNvPr id="3" name="C_3#ea2b06bf8.fixed?vcp=1&amp;pid=f7f0dabb1&amp;color=0,0,0&amp;vtp=1&amp;bbb=1"/>
          <p:cNvSpPr/>
          <p:nvPr/>
        </p:nvSpPr>
        <p:spPr>
          <a:xfrm>
            <a:off x="265176" y="3063240"/>
            <a:ext cx="11521440" cy="1281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5400"/>
              </a:lnSpc>
            </a:pP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第9讲</a:t>
            </a:r>
            <a:r>
              <a:rPr lang="en-US" altLang="zh-CN" sz="4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重力与弹力</a:t>
            </a:r>
            <a:endParaRPr lang="en-US" altLang="zh-CN" sz="4400" dirty="0"/>
          </a:p>
        </p:txBody>
      </p:sp>
      <p:sp>
        <p:nvSpPr>
          <p:cNvPr id="4" name="C_3_BD#ea2b06bf8.fixed?vcp=1&amp;pid=f7f0dabb1&amp;color=0,0,0&amp;vtp=1&amp;bbb=1"/>
          <p:cNvSpPr/>
          <p:nvPr/>
        </p:nvSpPr>
        <p:spPr>
          <a:xfrm>
            <a:off x="265176" y="4142232"/>
            <a:ext cx="11521440" cy="1281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5400"/>
              </a:lnSpc>
            </a:pP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课时1</a:t>
            </a:r>
            <a:r>
              <a:rPr lang="en-US" altLang="zh-CN" sz="4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重力与弹力</a:t>
            </a:r>
            <a:endParaRPr lang="en-US" altLang="zh-CN" sz="4400" dirty="0"/>
          </a:p>
        </p:txBody>
      </p:sp>
    </p:spTree>
  </p:cSld>
  <p:clrMapOvr>
    <a:masterClrMapping/>
  </p:clrMapOvr>
  <p:transition>
    <p:split dir="in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&amp;si=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4_BD#9b87940bb?vcp=1&amp;pid=ea2b06bf8&amp;color=0,112,192&amp;tib=255,255,255&amp;vtp=1&amp;bt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502920"/>
            <a:ext cx="4727448" cy="548640"/>
          </a:xfrm>
          <a:prstGeom prst="rect">
            <a:avLst/>
          </a:prstGeom>
        </p:spPr>
      </p:pic>
      <p:graphicFrame>
        <p:nvGraphicFramePr>
          <p:cNvPr id="5" name="P_5_BD#5b914e616?colgroup=15,5,15&amp;vcp=1&amp;pid=9b87940bb&amp;color=0,0,0&amp;vtp=1&amp;bbb=1&amp;hb=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7385646"/>
              </p:ext>
            </p:extLst>
          </p:nvPr>
        </p:nvGraphicFramePr>
        <p:xfrm>
          <a:off x="393192" y="1181100"/>
          <a:ext cx="11365992" cy="3543173"/>
        </p:xfrm>
        <a:graphic>
          <a:graphicData uri="http://schemas.openxmlformats.org/drawingml/2006/table">
            <a:tbl>
              <a:tblPr/>
              <a:tblGrid>
                <a:gridCol w="4846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280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2633"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考点分析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核心素养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知识图解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2996"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1.力的概念</a:t>
                      </a:r>
                      <a:r>
                        <a:rPr lang="en-US" altLang="zh-CN" sz="2400" b="0" i="0" spc="-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、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力的图示.（★）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物理观念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latinLnBrk="1" hangingPunct="0">
                        <a:lnSpc>
                          <a:spcPts val="24400"/>
                        </a:lnSpc>
                      </a:pPr>
                      <a:endParaRPr lang="en-US" altLang="zh-CN" sz="900" spc="0" dirty="0">
                        <a:solidFill>
                          <a:srgbClr val="FFFFFF">
                            <a:alpha val="0"/>
                          </a:srgbClr>
                        </a:solidFill>
                        <a:latin typeface="SimSun" panose="02010600030101010101" pitchFamily="2" charset="-122"/>
                      </a:endParaRPr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8856"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2.重力和重心.（★★）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物理观念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4344">
                <a:tc>
                  <a:txBody>
                    <a:bodyPr/>
                    <a:lstStyle/>
                    <a:p>
                      <a:pPr marL="0" indent="0" algn="l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3.</a:t>
                      </a: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弹力的概念及产生弹力的条件.</a:t>
                      </a:r>
                    </a:p>
                    <a:p>
                      <a:pPr marL="0" lvl="0" indent="0"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（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★★）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物理观念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4344">
                <a:tc>
                  <a:txBody>
                    <a:bodyPr/>
                    <a:lstStyle/>
                    <a:p>
                      <a:pPr marL="0" indent="0" algn="l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4.</a:t>
                      </a: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胡克定律的内容及其应用.</a:t>
                      </a:r>
                    </a:p>
                    <a:p>
                      <a:pPr marL="0" lvl="0" indent="0"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（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★★）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科学思维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4" name="P_5_BD#5b914e616.table_image?tii=1&amp;vcp=1&amp;pid=9b87940bb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155180" y="1673669"/>
            <a:ext cx="4379976" cy="3108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&amp;si=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4_BD#2f04cd151?vcp=1&amp;pid=ea2b06bf8&amp;color=0,112,192&amp;tib=255,255,255&amp;vtp=1&amp;bt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502920"/>
            <a:ext cx="4727448" cy="548640"/>
          </a:xfrm>
          <a:prstGeom prst="rect">
            <a:avLst/>
          </a:prstGeom>
        </p:spPr>
      </p:pic>
      <p:pic>
        <p:nvPicPr>
          <p:cNvPr id="3" name="C_5#966f3222b?vcp=1&amp;pid=2f04cd151&amp;color=0,0,0&amp;tib=255,255,255&amp;vtp=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181100"/>
            <a:ext cx="11320272" cy="457200"/>
          </a:xfrm>
          <a:prstGeom prst="rect">
            <a:avLst/>
          </a:prstGeom>
        </p:spPr>
      </p:pic>
      <p:sp>
        <p:nvSpPr>
          <p:cNvPr id="4" name="C_5_BD#966f3222b?vcp=1&amp;pid=2f04cd151&amp;color=255,255,255&amp;vtp=1"/>
          <p:cNvSpPr/>
          <p:nvPr/>
        </p:nvSpPr>
        <p:spPr>
          <a:xfrm>
            <a:off x="1225296" y="118110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1">
              <a:lnSpc>
                <a:spcPct val="100000"/>
              </a:lnSpc>
            </a:pPr>
            <a:r>
              <a:rPr lang="en-US" altLang="zh-CN" sz="28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1</a:t>
            </a:r>
            <a:endParaRPr lang="en-US" altLang="zh-CN" sz="2800" dirty="0"/>
          </a:p>
        </p:txBody>
      </p:sp>
      <p:sp>
        <p:nvSpPr>
          <p:cNvPr id="5" name="C_5_BD#966f3222b?vcp=1&amp;pid=2f04cd151&amp;color=0,0,0&amp;vtp=1&amp;bbb=1"/>
          <p:cNvSpPr/>
          <p:nvPr/>
        </p:nvSpPr>
        <p:spPr>
          <a:xfrm>
            <a:off x="1837944" y="1181100"/>
            <a:ext cx="99395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力的概念及其图示</a:t>
            </a:r>
            <a:r>
              <a:rPr lang="en-US" altLang="zh-CN" sz="26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回归教材</a:t>
            </a:r>
            <a:endParaRPr lang="en-US" altLang="zh-CN" sz="2600" dirty="0"/>
          </a:p>
        </p:txBody>
      </p:sp>
      <p:sp>
        <p:nvSpPr>
          <p:cNvPr id="6" name="P_6_BD#8fad27f71?vcp=1&amp;pid=966f3222b&amp;color=0,0,0&amp;vtp=1&amp;bbb=1"/>
          <p:cNvSpPr/>
          <p:nvPr/>
        </p:nvSpPr>
        <p:spPr>
          <a:xfrm>
            <a:off x="393192" y="1778000"/>
            <a:ext cx="11402568" cy="402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34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核心总结</a:t>
            </a:r>
            <a:endParaRPr lang="en-US" altLang="zh-CN" sz="2400" dirty="0"/>
          </a:p>
        </p:txBody>
      </p:sp>
      <p:graphicFrame>
        <p:nvGraphicFramePr>
          <p:cNvPr id="7" name="P_6_BD#8fad27f71?colgroup=1,35&amp;vcp=1&amp;pid=966f3222b&amp;color=0,0,0&amp;vtp=1&amp;bbb=1&amp;hb=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6205103"/>
              </p:ext>
            </p:extLst>
          </p:nvPr>
        </p:nvGraphicFramePr>
        <p:xfrm>
          <a:off x="393192" y="2308796"/>
          <a:ext cx="11384280" cy="4096704"/>
        </p:xfrm>
        <a:graphic>
          <a:graphicData uri="http://schemas.openxmlformats.org/drawingml/2006/table">
            <a:tbl>
              <a:tblPr/>
              <a:tblGrid>
                <a:gridCol w="466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179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16432">
                <a:tc>
                  <a:txBody>
                    <a:bodyPr/>
                    <a:lstStyle/>
                    <a:p>
                      <a:pPr marL="0" indent="0" algn="ctr" latinLnBrk="1" hangingPunct="0">
                        <a:lnSpc>
                          <a:spcPts val="35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效</a:t>
                      </a:r>
                    </a:p>
                    <a:p>
                      <a:pPr marL="0" lvl="0" indent="0" algn="ctr" latinLnBrk="1" hangingPunct="0">
                        <a:lnSpc>
                          <a:spcPts val="33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果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ts val="35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（1）使物体的运动状态发生变化：速度的大小或方向发生变化</a:t>
                      </a:r>
                      <a:r>
                        <a:rPr lang="en-US" altLang="zh-CN" sz="2400" b="0" i="0" spc="-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；</a:t>
                      </a:r>
                      <a:endParaRPr lang="en-US" altLang="zh-CN" sz="1200" spc="-100" dirty="0"/>
                    </a:p>
                    <a:p>
                      <a:pPr algn="l" latinLnBrk="1" hangingPunct="0">
                        <a:lnSpc>
                          <a:spcPts val="33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（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2）使物体发生形变：拉伸</a:t>
                      </a:r>
                      <a:r>
                        <a:rPr lang="en-US" altLang="zh-CN" sz="2400" b="0" i="0" spc="-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、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弯曲</a:t>
                      </a:r>
                      <a:r>
                        <a:rPr lang="en-US" altLang="zh-CN" sz="2400" b="0" i="0" spc="-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、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压缩</a:t>
                      </a:r>
                      <a:r>
                        <a:rPr lang="en-US" altLang="zh-CN" sz="2400" b="0" i="0" spc="-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、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扭转等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694">
                <a:tc rowSpan="4">
                  <a:txBody>
                    <a:bodyPr/>
                    <a:lstStyle/>
                    <a:p>
                      <a:pPr marL="0" indent="0" algn="ctr" latinLnBrk="1" hangingPunct="0">
                        <a:lnSpc>
                          <a:spcPts val="35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性</a:t>
                      </a:r>
                    </a:p>
                    <a:p>
                      <a:pPr marL="0" lvl="0" indent="0" algn="ctr" latinLnBrk="1" hangingPunct="0">
                        <a:lnSpc>
                          <a:spcPts val="33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质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ts val="33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物质性：力不能脱离物体而存在</a:t>
                      </a:r>
                      <a:r>
                        <a:rPr lang="en-US" altLang="zh-CN" sz="2400" b="0" i="0" spc="-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，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只要有力</a:t>
                      </a:r>
                      <a:r>
                        <a:rPr lang="en-US" altLang="zh-CN" sz="2400" b="0" i="0" spc="-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，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必然同时存在施力物体和受力物体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39152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latinLnBrk="1" hangingPunct="0">
                        <a:lnSpc>
                          <a:spcPts val="35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相互性：力是相互作用的</a:t>
                      </a:r>
                      <a:r>
                        <a:rPr lang="en-US" altLang="zh-CN" sz="2400" b="0" i="0" spc="-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，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施力物体一定同时是受力物体</a:t>
                      </a:r>
                      <a:r>
                        <a:rPr lang="en-US" altLang="zh-CN" sz="2400" b="0" i="0" spc="-10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，</a:t>
                      </a: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受力物体也一定同时</a:t>
                      </a:r>
                    </a:p>
                    <a:p>
                      <a:pPr marL="0" indent="0" algn="l" latinLnBrk="1" hangingPunct="0">
                        <a:lnSpc>
                          <a:spcPts val="35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是施力物体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.两个物体间一对相互作用的力总是同时产生</a:t>
                      </a:r>
                      <a:r>
                        <a:rPr lang="en-US" altLang="zh-CN" sz="2400" b="0" i="0" spc="-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、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同时消失</a:t>
                      </a:r>
                      <a:r>
                        <a:rPr lang="en-US" altLang="zh-CN" sz="2400" b="0" i="0" spc="-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、</a:t>
                      </a: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同时变化</a:t>
                      </a:r>
                      <a:r>
                        <a:rPr lang="en-US" altLang="zh-CN" sz="2400" b="0" i="0" spc="-10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，</a:t>
                      </a:r>
                    </a:p>
                    <a:p>
                      <a:pPr marL="0" lvl="0" indent="0" algn="l" latinLnBrk="1" hangingPunct="0">
                        <a:lnSpc>
                          <a:spcPts val="33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不存在先后关系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50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ts val="33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矢量性：力是矢量</a:t>
                      </a:r>
                      <a:r>
                        <a:rPr lang="en-US" altLang="zh-CN" sz="2400" b="0" i="0" spc="-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，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既有大小又有方向.力的方向不同</a:t>
                      </a:r>
                      <a:r>
                        <a:rPr lang="en-US" altLang="zh-CN" sz="2400" b="0" i="0" spc="-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，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作用效果也不同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0392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latinLnBrk="1" hangingPunct="0">
                        <a:lnSpc>
                          <a:spcPts val="35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独立性：一个力作用于某个物体产生的效果</a:t>
                      </a:r>
                      <a:r>
                        <a:rPr lang="en-US" altLang="zh-CN" sz="2400" b="0" i="0" spc="-10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，</a:t>
                      </a: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与这个物体是否受到其他力的作用</a:t>
                      </a:r>
                    </a:p>
                    <a:p>
                      <a:pPr marL="0" lvl="0" indent="0" algn="l" latinLnBrk="1" hangingPunct="0">
                        <a:lnSpc>
                          <a:spcPts val="33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无关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split dir="in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&amp;si=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C_6_BD.1_1#f5ce2c0fb?vcp=1&amp;pid=966f3222b&amp;color=0,0,0&amp;vtp=1&amp;bt=1&amp;bbb=1"/>
          <p:cNvSpPr/>
          <p:nvPr/>
        </p:nvSpPr>
        <p:spPr>
          <a:xfrm>
            <a:off x="393192" y="963931"/>
            <a:ext cx="11402568" cy="48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考题1</a:t>
            </a:r>
            <a:r>
              <a:rPr lang="en-US" altLang="zh-CN" sz="24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1E5A99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（2026·湖北武汉二中检测）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对力的概念的理解，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相关说法正确的是(</a:t>
            </a:r>
            <a:r>
              <a:rPr lang="en-US" altLang="zh-CN" sz="2400" b="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).</a:t>
            </a:r>
            <a:endParaRPr lang="en-US" altLang="zh-CN" sz="2400" dirty="0"/>
          </a:p>
        </p:txBody>
      </p:sp>
      <p:sp>
        <p:nvSpPr>
          <p:cNvPr id="3" name="QC_6_AN.2_1#f5ce2c0fb.bracket?vcp=1&amp;pid=966f3222b&amp;color=0,0,0&amp;vpa=1&amp;vtp=1"/>
          <p:cNvSpPr/>
          <p:nvPr/>
        </p:nvSpPr>
        <p:spPr>
          <a:xfrm>
            <a:off x="10685748" y="962026"/>
            <a:ext cx="441325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</a:t>
            </a:r>
            <a:endParaRPr lang="en-US" altLang="zh-CN" sz="2400" dirty="0"/>
          </a:p>
        </p:txBody>
      </p:sp>
      <p:sp>
        <p:nvSpPr>
          <p:cNvPr id="4" name="QC_6_BD.1_2#f5ce2c0fb.choices?vcp=1&amp;pid=966f3222b&amp;color=0,0,0&amp;vtp=1&amp;bbb=1"/>
          <p:cNvSpPr/>
          <p:nvPr/>
        </p:nvSpPr>
        <p:spPr>
          <a:xfrm>
            <a:off x="393192" y="1512316"/>
            <a:ext cx="11402568" cy="215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A.一个力必定联系着两个物体，其中任意一个物体既是受力物体，又是施力物体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.力离不开受力物体，但可以没有施力的物体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.射出枪口的子弹，能打到很远的距离，因为子弹离开枪口后受到一个推力的作用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.只要两个力的大小相等，它们产生的效果一定相同</a:t>
            </a:r>
            <a:endParaRPr lang="en-US" altLang="zh-CN" sz="2400" dirty="0"/>
          </a:p>
        </p:txBody>
      </p:sp>
      <p:sp>
        <p:nvSpPr>
          <p:cNvPr id="5" name="QC_6_AS.3_1#f5ce2c0fb?vcp=1&amp;pid=966f3222b&amp;color=0,0,0&amp;vtp=1&amp;bbb=1&amp;hb=1"/>
          <p:cNvSpPr/>
          <p:nvPr/>
        </p:nvSpPr>
        <p:spPr>
          <a:xfrm>
            <a:off x="393192" y="3718114"/>
            <a:ext cx="11402568" cy="215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[解析]</a:t>
            </a:r>
            <a:r>
              <a:rPr lang="en-US" altLang="zh-CN" sz="2400" b="1" i="0" dirty="0">
                <a:solidFill>
                  <a:srgbClr val="FF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力的作用是相互的，一个力必定联系着两个物体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，其中任意一个物体既是受力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物体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，又是施力物体，A正确，B错误；射出枪口的子弹，能打到很远的距离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，是由于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惯性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，不是因为子弹离开枪口后受到一个推力的作用，C错误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；力的作用效果不仅跟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力的大小有关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，还跟力的方向和作用点有关，D错误.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5" grpId="0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&amp;si=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6_BD.4_1#bc7311c2f?vcp=1&amp;pid=966f3222b&amp;color=0,0,0&amp;vtp=1&amp;bt=1&amp;bbb=1&amp;hb=1"/>
              <p:cNvSpPr/>
              <p:nvPr/>
            </p:nvSpPr>
            <p:spPr>
              <a:xfrm>
                <a:off x="393192" y="1939893"/>
                <a:ext cx="11402568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变式1-1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（2026·湖南长郡中学检测）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一个人用斜向下的力推动载物的小车前进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，力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=40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,方向与水平面成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30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夹角.一位学生画出了推力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的力的图示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，其中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画法正确的是(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6_BD.4_1#bc7311c2f?vcp=1&amp;pid=966f3222b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939893"/>
                <a:ext cx="11402568" cy="1592199"/>
              </a:xfrm>
              <a:prstGeom prst="rect">
                <a:avLst/>
              </a:prstGeom>
              <a:blipFill>
                <a:blip r:embed="rId3"/>
                <a:stretch>
                  <a:fillRect l="-1658" r="-695" b="-1187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6_AN.5_1#bc7311c2f.bracket?vcp=1&amp;pid=966f3222b&amp;color=0,0,0&amp;vpa=2&amp;vtp=1"/>
          <p:cNvSpPr/>
          <p:nvPr/>
        </p:nvSpPr>
        <p:spPr>
          <a:xfrm>
            <a:off x="2454561" y="3046063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endParaRPr lang="en-US" altLang="zh-CN" sz="2400" dirty="0"/>
          </a:p>
        </p:txBody>
      </p:sp>
      <p:sp>
        <p:nvSpPr>
          <p:cNvPr id="4" name="QC_6_BD.4_2#bc7311c2f.choices?vcp=1&amp;pid=966f3222b&amp;color=0,0,0&amp;vtp=1&amp;bbb=1"/>
          <p:cNvSpPr/>
          <p:nvPr/>
        </p:nvSpPr>
        <p:spPr>
          <a:xfrm>
            <a:off x="393192" y="3660488"/>
            <a:ext cx="11402568" cy="1252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atinLnBrk="1">
              <a:lnSpc>
                <a:spcPts val="11200"/>
              </a:lnSpc>
              <a:tabLst>
                <a:tab pos="2856352" algn="l"/>
                <a:tab pos="5865104" algn="l"/>
                <a:tab pos="8810356" algn="l"/>
              </a:tabLst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A.</a:t>
            </a:r>
            <a:r>
              <a:rPr lang="en-US" altLang="zh-CN" sz="4900" b="0" i="0" kern="0" spc="-9990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 </a:t>
            </a:r>
            <a:r>
              <a:rPr lang="en-US" altLang="zh-CN" sz="900" b="0" i="0" kern="0">
                <a:solidFill>
                  <a:srgbClr val="FFFFFF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                     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B.</a:t>
            </a:r>
            <a:r>
              <a:rPr lang="en-US" altLang="zh-CN" sz="6050" b="0" i="0" kern="0" spc="-9990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 </a:t>
            </a:r>
            <a:r>
              <a:rPr lang="en-US" altLang="zh-CN" sz="900" b="0" i="0" kern="0">
                <a:solidFill>
                  <a:srgbClr val="FFFFFF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                        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C.</a:t>
            </a:r>
            <a:r>
              <a:rPr lang="en-US" altLang="zh-CN" sz="6050" b="0" i="0" kern="0" spc="-9990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 </a:t>
            </a:r>
            <a:r>
              <a:rPr lang="en-US" altLang="zh-CN" sz="900" b="0" i="0" kern="0">
                <a:solidFill>
                  <a:srgbClr val="FFFFFF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                       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D.</a:t>
            </a:r>
            <a:r>
              <a:rPr lang="en-US" altLang="zh-CN" sz="6250" b="0" i="0" kern="0" spc="-9990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 </a:t>
            </a:r>
            <a:r>
              <a:rPr lang="en-US" altLang="zh-CN" sz="900" b="0" i="0" kern="0">
                <a:solidFill>
                  <a:srgbClr val="FFFFFF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                    </a:t>
            </a:r>
            <a:endParaRPr lang="en-US" altLang="zh-CN" sz="900" dirty="0">
              <a:latin typeface="SimSun" panose="02010600030101010101" pitchFamily="2" charset="-122"/>
            </a:endParaRPr>
          </a:p>
        </p:txBody>
      </p:sp>
      <p:pic>
        <p:nvPicPr>
          <p:cNvPr id="5" name="QC_6_BD.4_2#bc7311c2f.choice_image?vcp=1&amp;pid=966f3222b&amp;color=0,0,0&amp;tib=255,255,255&amp;iip=1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00374" y="3930555"/>
            <a:ext cx="1408176" cy="987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6" name="QC_6_BD.4_2#bc7311c2f.choice_image?vcp=1&amp;pid=966f3222b&amp;color=0,0,0&amp;tib=255,255,255&amp;iip=2&amp;vtp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547142" y="3701955"/>
            <a:ext cx="1563624" cy="1216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7" name="QC_6_BD.4_2#bc7311c2f.choice_image?vcp=1&amp;pid=966f3222b&amp;color=0,0,0&amp;tib=255,255,255&amp;iip=3&amp;vtp=1" descr="preencoded.png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563773" y="3884834"/>
            <a:ext cx="1490472" cy="1033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8" name="QC_6_BD.4_2#bc7311c2f.choice_image?vcp=1&amp;pid=966f3222b&amp;color=0,0,0&amp;tib=255,255,255&amp;iip=4&amp;vtp=1" descr="preencoded.png"/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509855" y="3656234"/>
            <a:ext cx="1353312" cy="1261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&amp;si=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6_BD#89084dbce?vcp=1&amp;pid=966f3222b&amp;color=0,0,0&amp;vtp=1&amp;bt=1&amp;bbb=1&amp;hb=1"/>
          <p:cNvSpPr/>
          <p:nvPr/>
        </p:nvSpPr>
        <p:spPr>
          <a:xfrm>
            <a:off x="393192" y="1238345"/>
            <a:ext cx="11402568" cy="439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易错警示</a:t>
            </a:r>
            <a:endParaRPr lang="en-US" altLang="zh-CN" sz="2400" dirty="0"/>
          </a:p>
          <a:p>
            <a:pPr algn="ctr"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关于力的理解的三大误区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.误认为物体可以只受力不施力.事实上，只要一个物体受到力的作用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，它必然对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施力物体也施加了作用力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.误认为力只发生在相互接触的物体之间.事实上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，力既可以发生在相互接触的物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体之间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，也可以发生在不直接接触的物体之间.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3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.误认为只有有生命的人或动物才能产生力的作用.事实上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，任何物体都可以作为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施力物体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，都可以对其他物体施加力的作用.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&amp;si=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6_BD#89084dbce?vcp=1&amp;pid=966f3222b&amp;color=0,0,0&amp;vtp=1&amp;bt=1&amp;bbb=1&amp;hb=1"/>
          <p:cNvSpPr/>
          <p:nvPr/>
        </p:nvSpPr>
        <p:spPr>
          <a:xfrm>
            <a:off x="393192" y="1788986"/>
            <a:ext cx="11402568" cy="3268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名师点拨</a:t>
            </a:r>
            <a:endParaRPr lang="en-US" altLang="zh-CN" sz="2400" dirty="0"/>
          </a:p>
          <a:p>
            <a:pPr algn="ctr"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作力的图示的步骤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.选标度:选定标度（用某一长度的线段表示一定大小的力）.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.画线段:从作用点开始沿力的方向画一线段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,根据选定的标度和力的大小按比例确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定线段的长度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3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.标方向:在线段的末端标出箭头,表示方向.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&amp;si=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5#f7d0179ee?vcp=1&amp;pid=2f04cd151&amp;color=0,0,0&amp;tib=255,255,255&amp;vtp=1&amp;bt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02920"/>
            <a:ext cx="11320272" cy="457200"/>
          </a:xfrm>
          <a:prstGeom prst="rect">
            <a:avLst/>
          </a:prstGeom>
        </p:spPr>
      </p:pic>
      <p:sp>
        <p:nvSpPr>
          <p:cNvPr id="3" name="C_5_BD#f7d0179ee?vcp=1&amp;pid=2f04cd151&amp;color=255,255,255&amp;vtp=1"/>
          <p:cNvSpPr/>
          <p:nvPr/>
        </p:nvSpPr>
        <p:spPr>
          <a:xfrm>
            <a:off x="1225296" y="50292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1">
              <a:lnSpc>
                <a:spcPct val="100000"/>
              </a:lnSpc>
            </a:pPr>
            <a:r>
              <a:rPr lang="en-US" altLang="zh-CN" sz="28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2</a:t>
            </a:r>
            <a:endParaRPr lang="en-US" altLang="zh-CN" sz="2800" dirty="0"/>
          </a:p>
        </p:txBody>
      </p:sp>
      <p:sp>
        <p:nvSpPr>
          <p:cNvPr id="4" name="C_5_BD#f7d0179ee?vcp=1&amp;pid=2f04cd151&amp;color=0,0,0&amp;vtp=1&amp;bbb=1"/>
          <p:cNvSpPr/>
          <p:nvPr/>
        </p:nvSpPr>
        <p:spPr>
          <a:xfrm>
            <a:off x="1837944" y="502920"/>
            <a:ext cx="99395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重力和重心</a:t>
            </a:r>
            <a:r>
              <a:rPr lang="en-US" altLang="zh-CN" sz="26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易错点</a:t>
            </a:r>
            <a:endParaRPr lang="en-US" altLang="zh-CN" sz="2600" dirty="0"/>
          </a:p>
        </p:txBody>
      </p:sp>
      <p:sp>
        <p:nvSpPr>
          <p:cNvPr id="5" name="P_6_BD#8d2f6591f?vcp=1&amp;pid=f7d0179ee&amp;color=0,0,0&amp;vtp=1&amp;bbb=1"/>
          <p:cNvSpPr/>
          <p:nvPr/>
        </p:nvSpPr>
        <p:spPr>
          <a:xfrm>
            <a:off x="393192" y="1092200"/>
            <a:ext cx="11402568" cy="1033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核心总结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.重力</a:t>
            </a:r>
            <a:endParaRPr lang="en-US" altLang="zh-CN" sz="2400" dirty="0"/>
          </a:p>
        </p:txBody>
      </p:sp>
      <p:pic>
        <p:nvPicPr>
          <p:cNvPr id="6" name="P_6_BD#8d2f6591f?vcp=1&amp;pid=f7d0179ee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52928" y="2259330"/>
            <a:ext cx="6483096" cy="3063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&amp;si=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6_BD#8d2f6591f?vcp=1&amp;pid=f7d0179ee&amp;color=0,0,0&amp;vtp=1&amp;bt=1&amp;bbb=1&amp;hb=1"/>
          <p:cNvSpPr/>
          <p:nvPr/>
        </p:nvSpPr>
        <p:spPr>
          <a:xfrm>
            <a:off x="393192" y="953326"/>
            <a:ext cx="11402568" cy="4944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2.重心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1）定义:从效果上看,可以认为物体的各部分受到的重力作用集中于一点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,这一点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叫作物体的重心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2）重心的位置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①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质量分布均匀、形状规则的物体，重心在几何中心.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②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质量分布不均匀的物体,重心的位置既跟物体的形状有关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,也与物体的质量分布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有关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③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悬挂法确定薄板的重心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薄板重心的位置可以通过两次悬挂来确定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&amp;si=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C_6_BD.6_1#0fce31495?vcp=1&amp;pid=f7d0179ee&amp;color=0,0,0&amp;vtp=1&amp;bt=1&amp;bbb=1&amp;hb=1"/>
          <p:cNvSpPr/>
          <p:nvPr/>
        </p:nvSpPr>
        <p:spPr>
          <a:xfrm>
            <a:off x="393192" y="1507522"/>
            <a:ext cx="11402568" cy="15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spc="-5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考题2</a:t>
            </a:r>
            <a:r>
              <a:rPr lang="en-US" altLang="zh-CN" sz="2400" b="1" i="0" spc="-5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 spc="-5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（古代文明）</a:t>
            </a:r>
            <a:r>
              <a:rPr lang="en-US" altLang="zh-CN" sz="2400" b="0" i="0" spc="-50" dirty="0">
                <a:solidFill>
                  <a:srgbClr val="1E5A99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（2026·浙江宁波效实中学检测</a:t>
            </a:r>
            <a:r>
              <a:rPr lang="en-US" altLang="zh-CN" sz="2400" b="0" i="0" spc="-50">
                <a:solidFill>
                  <a:srgbClr val="1E5A99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）</a:t>
            </a:r>
            <a:r>
              <a:rPr lang="en-US" altLang="zh-CN" sz="2400" b="0" i="0" spc="-5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如图所示为仰韶文化时期的一款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 spc="-5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尖底瓶</a:t>
            </a:r>
            <a:r>
              <a:rPr lang="en-US" altLang="zh-CN" sz="2400" b="0" i="0" spc="-5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，该瓶装水后“虚则欹、中则正、满则覆”.下列有关瓶（包括瓶中的水）的说法正</a:t>
            </a:r>
            <a:endParaRPr lang="en-US" altLang="zh-CN" sz="2400" spc="-5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确的是(</a:t>
            </a:r>
            <a:r>
              <a:rPr lang="en-US" altLang="zh-CN" sz="2400" b="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).</a:t>
            </a:r>
            <a:endParaRPr lang="en-US" altLang="zh-CN" sz="2400" dirty="0"/>
          </a:p>
        </p:txBody>
      </p:sp>
      <p:sp>
        <p:nvSpPr>
          <p:cNvPr id="3" name="QC_6_AN.7_1#0fce31495.bracket?vcp=1&amp;pid=f7d0179ee&amp;color=0,0,0&amp;vpa=3&amp;vtp=1"/>
          <p:cNvSpPr/>
          <p:nvPr/>
        </p:nvSpPr>
        <p:spPr>
          <a:xfrm>
            <a:off x="1540161" y="2613692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endParaRPr lang="en-US" altLang="zh-CN" sz="2400" dirty="0"/>
          </a:p>
        </p:txBody>
      </p:sp>
      <p:pic>
        <p:nvPicPr>
          <p:cNvPr id="4" name="QC_6_BD.6_2#0fce31495?htil=1&amp;vcp=1&amp;pid=f7d0179ee&amp;color=0,0,0&amp;tib=255,255,255&amp;vtp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368501" y="3209448"/>
            <a:ext cx="1591056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5" name="QC_6_BD.6_3#0fce31495.choices?htil=1&amp;vcp=1&amp;pid=f7d0179ee&amp;color=0,0,0&amp;vtp=1&amp;bbb=1"/>
          <p:cNvSpPr/>
          <p:nvPr/>
        </p:nvSpPr>
        <p:spPr>
          <a:xfrm>
            <a:off x="393192" y="3163728"/>
            <a:ext cx="9674352" cy="215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A.瓶所受重力就是地球对瓶的吸引力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.装入瓶中的水越多，瓶的重心一定越高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.瓶的重心是瓶各部分所受重力的等效作用点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.瓶的重心一定在两条绳子连线的交点上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&amp;si=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C_6_AS.8_1#0fce31495?vcp=1&amp;pid=f7d0179ee&amp;color=0,0,0&amp;vtp=1&amp;bt=1&amp;bbb=1&amp;hb=1"/>
          <p:cNvSpPr/>
          <p:nvPr/>
        </p:nvSpPr>
        <p:spPr>
          <a:xfrm>
            <a:off x="393192" y="2086705"/>
            <a:ext cx="11402568" cy="2713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[解析]</a:t>
            </a:r>
            <a:r>
              <a:rPr lang="en-US" altLang="zh-CN" sz="2400" b="1" i="0" dirty="0">
                <a:solidFill>
                  <a:srgbClr val="FF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重力是由于地球的吸引而使物体受到的力，严格来说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，重力是地球对物体吸引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力的一个分力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，故A错误；瓶本身（不包括其中的水）的重心位置不变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，随着装入瓶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中的水增多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，瓶（包括瓶中的水）的重心位置先降低再逐渐升高，故B错误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；瓶的各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部分都受到重力作用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，根据重心的定义可知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，瓶的重心是瓶各部分所受重力的等效作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用点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，故C正确；瓶的重心不一定在两条绳子连线的交点上，故D错误.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&amp;si=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6_BD.9_1#5f32a99ca?htil=2&amp;vcp=1&amp;pid=f7d0179ee&amp;color=0,0,0&amp;tib=255,255,255&amp;vtp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34978" y="1285271"/>
            <a:ext cx="2606040" cy="1764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3" name="QC_6_BD.9_2#5f32a99ca?htil=2&amp;vcp=1&amp;pid=f7d0179ee&amp;color=0,0,0&amp;vtp=1&amp;bt=1&amp;bbb=1&amp;hb=1"/>
          <p:cNvSpPr/>
          <p:nvPr/>
        </p:nvSpPr>
        <p:spPr>
          <a:xfrm>
            <a:off x="393192" y="1239552"/>
            <a:ext cx="8659368" cy="15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变式2-1</a:t>
            </a:r>
            <a:r>
              <a:rPr lang="en-US" altLang="zh-CN" sz="24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（生活情境）</a:t>
            </a:r>
            <a:r>
              <a:rPr lang="en-US" altLang="zh-CN" sz="2400" b="0" i="0" dirty="0">
                <a:solidFill>
                  <a:srgbClr val="1E5A99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（2026·江西九江一中检测</a:t>
            </a:r>
            <a:r>
              <a:rPr lang="en-US" altLang="zh-CN" sz="2400" b="0" i="0">
                <a:solidFill>
                  <a:srgbClr val="1E5A99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）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如图所示为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某同学制作的水培绿萝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，为家中增添了许多生趣.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关于这个水瓶，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下列说法正确的是(</a:t>
            </a:r>
            <a:r>
              <a:rPr lang="en-US" altLang="zh-CN" sz="2400" b="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).</a:t>
            </a:r>
            <a:endParaRPr lang="en-US" altLang="zh-CN" sz="2400" dirty="0"/>
          </a:p>
        </p:txBody>
      </p:sp>
      <p:sp>
        <p:nvSpPr>
          <p:cNvPr id="4" name="QC_6_AN.10_1#5f32a99ca.bracket?vcp=1&amp;pid=f7d0179ee&amp;color=0,0,0&amp;vpa=4&amp;vtp=1"/>
          <p:cNvSpPr/>
          <p:nvPr/>
        </p:nvSpPr>
        <p:spPr>
          <a:xfrm>
            <a:off x="3064161" y="2345722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endParaRPr lang="en-US" altLang="zh-CN" sz="2400" dirty="0"/>
          </a:p>
        </p:txBody>
      </p:sp>
      <p:sp>
        <p:nvSpPr>
          <p:cNvPr id="5" name="QC_6_BD.9_3#5f32a99ca.choices?htil=2&amp;vcp=1&amp;pid=f7d0179ee&amp;color=0,0,0&amp;vtp=1&amp;bbb=1&amp;hb=1"/>
          <p:cNvSpPr/>
          <p:nvPr/>
        </p:nvSpPr>
        <p:spPr>
          <a:xfrm>
            <a:off x="393192" y="2895758"/>
            <a:ext cx="8659368" cy="2713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A.水瓶受到地球对它的吸引力，但它对地球没有吸引力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.水瓶（含水）的重心一定在其几何中心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.随着时间流逝，水瓶内的水会蒸发减少，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在水减少的过程中，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水瓶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（含水）的重心一直在降低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.水瓶的重心位置与其形状及质量分布有关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&amp;si=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C_6_AS.11_1#5f32a99ca?vcp=1&amp;pid=f7d0179ee&amp;color=0,0,0&amp;vtp=1&amp;bt=1&amp;bbb=1&amp;hb=1"/>
          <p:cNvSpPr/>
          <p:nvPr/>
        </p:nvSpPr>
        <p:spPr>
          <a:xfrm>
            <a:off x="393192" y="2086705"/>
            <a:ext cx="11402568" cy="2713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[解析]</a:t>
            </a:r>
            <a:r>
              <a:rPr lang="en-US" altLang="zh-CN" sz="2400" b="1" i="0" dirty="0">
                <a:solidFill>
                  <a:srgbClr val="FF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水瓶受到地球对它的吸引力，由于力的作用是相互的，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它对地球也有吸引力，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故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A错误；物体重心的位置与物体的几何形状和质量分布情况有关，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质量分布均匀、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形状规则的物体的重心在其几何中心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，水瓶（含水）的质量分布不均匀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，所以其重心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不在其几何中心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，故B错误，D正确；在水减少的过程中，水瓶（含水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）的重心先降低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后升高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，故C错误.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&amp;si=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6_BD#79ea0f5d4?vcp=1&amp;pid=f7d0179ee&amp;color=0,0,0&amp;vtp=1&amp;bt=1&amp;bbb=1"/>
          <p:cNvSpPr/>
          <p:nvPr/>
        </p:nvSpPr>
        <p:spPr>
          <a:xfrm>
            <a:off x="393192" y="956342"/>
            <a:ext cx="11402568" cy="3268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难点突破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.重力是非接触力,地球上一切物体都受到重力的作用.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.重力的施力物体是地球.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3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.物体所受的重力与其运动状态及是否受到其他力无关.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4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.重力不一定是地球对它的吸引力.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5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.同一物体的重力随纬度的升高而增大,随着地面高度的增大而减小.</a:t>
            </a:r>
            <a:endParaRPr lang="en-US" altLang="zh-CN" sz="2400" dirty="0"/>
          </a:p>
        </p:txBody>
      </p:sp>
      <p:pic>
        <p:nvPicPr>
          <p:cNvPr id="3" name="P_6_BD#79ea0f5d4?htil=3&amp;vcp=1&amp;pid=f7d0179ee&amp;color=0,0,0&amp;tib=255,255,255&amp;vtp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34978" y="4296568"/>
            <a:ext cx="2606040" cy="1014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4" name="P_6_BD#79ea0f5d4?htil=3&amp;vcp=1&amp;pid=f7d0179ee&amp;color=0,0,0&amp;vtp=1&amp;bbb=1&amp;hb=1"/>
          <p:cNvSpPr/>
          <p:nvPr/>
        </p:nvSpPr>
        <p:spPr>
          <a:xfrm>
            <a:off x="393192" y="4250848"/>
            <a:ext cx="8659368" cy="1596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6.重力的方向总是竖直向下的,但不是指向地心或垂直向下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.例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如一个物块静止在斜面上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，“竖直向下”与“垂直向下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”的区别如图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所示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&amp;si=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6_BD#79ea0f5d4?vcp=1&amp;pid=f7d0179ee&amp;color=0,0,0&amp;vtp=1&amp;bt=1&amp;bbb=1&amp;hb=1"/>
          <p:cNvSpPr/>
          <p:nvPr/>
        </p:nvSpPr>
        <p:spPr>
          <a:xfrm>
            <a:off x="393192" y="1506315"/>
            <a:ext cx="11402568" cy="3831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易错警示</a:t>
            </a:r>
            <a:endParaRPr lang="en-US" altLang="zh-CN" sz="2400" dirty="0"/>
          </a:p>
          <a:p>
            <a:pPr algn="ctr"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对重心的理解的常见误区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.重心的位置不能理解成是物体最重的位置.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.重心只是一个等效点，除重心位置外，物体其他各部分均受重力作用.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3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.重心可在物体上,也可不在物体上.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4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.重心的位置与物体的位置、放置状态及运动状态无关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,但物体的质量分布或形状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发生改变时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,其重心位置也会发生变化.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&amp;si=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5#77c5366e6?vcp=1&amp;pid=2f04cd151&amp;color=0,0,0&amp;tib=255,255,255&amp;vtp=1&amp;bt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02920"/>
            <a:ext cx="11320272" cy="457200"/>
          </a:xfrm>
          <a:prstGeom prst="rect">
            <a:avLst/>
          </a:prstGeom>
        </p:spPr>
      </p:pic>
      <p:sp>
        <p:nvSpPr>
          <p:cNvPr id="3" name="C_5_BD#77c5366e6?vcp=1&amp;pid=2f04cd151&amp;color=255,255,255&amp;vtp=1"/>
          <p:cNvSpPr/>
          <p:nvPr/>
        </p:nvSpPr>
        <p:spPr>
          <a:xfrm>
            <a:off x="1225296" y="50292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1">
              <a:lnSpc>
                <a:spcPct val="100000"/>
              </a:lnSpc>
            </a:pPr>
            <a:r>
              <a:rPr lang="en-US" altLang="zh-CN" sz="28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3</a:t>
            </a:r>
            <a:endParaRPr lang="en-US" altLang="zh-CN" sz="2800" dirty="0"/>
          </a:p>
        </p:txBody>
      </p:sp>
      <p:sp>
        <p:nvSpPr>
          <p:cNvPr id="4" name="C_5_BD#77c5366e6?vcp=1&amp;pid=2f04cd151&amp;color=0,0,0&amp;vtp=1&amp;bbb=1"/>
          <p:cNvSpPr/>
          <p:nvPr/>
        </p:nvSpPr>
        <p:spPr>
          <a:xfrm>
            <a:off x="1837944" y="502920"/>
            <a:ext cx="99395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弹力及其方向</a:t>
            </a:r>
            <a:r>
              <a:rPr lang="en-US" altLang="zh-CN" sz="26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难点</a:t>
            </a:r>
            <a:endParaRPr lang="en-US" altLang="zh-CN" sz="2600" dirty="0"/>
          </a:p>
        </p:txBody>
      </p:sp>
      <p:sp>
        <p:nvSpPr>
          <p:cNvPr id="5" name="P_6#d6d61d879?vcp=1&amp;pid=77c5366e6&amp;color=0,0,0&amp;vtp=1&amp;bbb=1&amp;hb=1"/>
          <p:cNvSpPr/>
          <p:nvPr/>
        </p:nvSpPr>
        <p:spPr>
          <a:xfrm>
            <a:off x="393192" y="1092200"/>
            <a:ext cx="11402568" cy="3043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100"/>
              </a:lnSpc>
            </a:pPr>
            <a:r>
              <a:rPr lang="en-US" altLang="zh-CN" sz="2400" b="1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核心总结</a:t>
            </a:r>
            <a:endParaRPr lang="en-US" altLang="zh-CN" sz="2400" dirty="0"/>
          </a:p>
          <a:p>
            <a:pPr latinLnBrk="1">
              <a:lnSpc>
                <a:spcPts val="41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1.弹力</a:t>
            </a:r>
            <a:endParaRPr lang="en-US" altLang="zh-CN" sz="2400" dirty="0"/>
          </a:p>
          <a:p>
            <a:pPr latinLnBrk="1">
              <a:lnSpc>
                <a:spcPts val="41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1）弹力产生的条件：①两物体直接接触；②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物体发生弹性形变.</a:t>
            </a:r>
            <a:endParaRPr lang="en-US" altLang="zh-CN" sz="2400" dirty="0"/>
          </a:p>
          <a:p>
            <a:pPr latinLnBrk="1">
              <a:lnSpc>
                <a:spcPts val="41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2）弹力的方向：总是与物体发生形变的方向相反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，也就是与作用在物体上使</a:t>
            </a:r>
          </a:p>
          <a:p>
            <a:pPr latinLnBrk="1">
              <a:lnSpc>
                <a:spcPts val="41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物体发生形变的外力的方向相反.</a:t>
            </a:r>
            <a:endParaRPr lang="en-US" altLang="zh-CN" sz="2400" dirty="0"/>
          </a:p>
          <a:p>
            <a:pPr latinLnBrk="1">
              <a:lnSpc>
                <a:spcPts val="39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.弹力有无的判断方法</a:t>
            </a:r>
            <a:r>
              <a:rPr lang="en-US" altLang="zh-CN" sz="100" b="0" i="0" kern="0" spc="-9990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#3</a:t>
            </a:r>
            <a:endParaRPr lang="en-US" altLang="zh-CN" sz="2400" dirty="0"/>
          </a:p>
        </p:txBody>
      </p:sp>
      <p:graphicFrame>
        <p:nvGraphicFramePr>
          <p:cNvPr id="19" name="P_6_BD#d6d61d879?colgroup=1,1,33&amp;vcp=1&amp;pid=77c5366e6&amp;color=0,0,0&amp;vtp=1&amp;bbb=1&amp;hb=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0324884"/>
              </p:ext>
            </p:extLst>
          </p:nvPr>
        </p:nvGraphicFramePr>
        <p:xfrm>
          <a:off x="393192" y="4254500"/>
          <a:ext cx="11347704" cy="2089658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3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44829">
                <a:tc rowSpan="2">
                  <a:txBody>
                    <a:bodyPr/>
                    <a:lstStyle/>
                    <a:p>
                      <a:pPr marL="0" indent="0" algn="ctr" latinLnBrk="1" hangingPunct="0">
                        <a:lnSpc>
                          <a:spcPts val="41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条</a:t>
                      </a:r>
                    </a:p>
                    <a:p>
                      <a:pPr marL="0" indent="0" algn="ctr" latinLnBrk="1" hangingPunct="0">
                        <a:lnSpc>
                          <a:spcPts val="41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件</a:t>
                      </a:r>
                    </a:p>
                    <a:p>
                      <a:pPr marL="0" lvl="0" indent="0" algn="ctr" latinLnBrk="1" hangingPunct="0">
                        <a:lnSpc>
                          <a:spcPts val="40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法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latinLnBrk="1" hangingPunct="0">
                        <a:lnSpc>
                          <a:spcPts val="41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方</a:t>
                      </a:r>
                    </a:p>
                    <a:p>
                      <a:pPr marL="0" lvl="0" indent="0" algn="ctr" latinLnBrk="1" hangingPunct="0">
                        <a:lnSpc>
                          <a:spcPts val="40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法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indent="0" algn="l" latinLnBrk="1" hangingPunct="0">
                        <a:lnSpc>
                          <a:spcPts val="41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根据物体间是否直接接触并发生弹性形变来判断是否存在弹力</a:t>
                      </a: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.此方法多用来</a:t>
                      </a:r>
                    </a:p>
                    <a:p>
                      <a:pPr marL="0" lvl="0" indent="0" algn="l" latinLnBrk="1" hangingPunct="0">
                        <a:lnSpc>
                          <a:spcPts val="39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判断形变较明显的情况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482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latinLnBrk="1" hangingPunct="0">
                        <a:lnSpc>
                          <a:spcPts val="41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举</a:t>
                      </a:r>
                    </a:p>
                    <a:p>
                      <a:pPr marL="0" lvl="0" indent="0" algn="ctr" latinLnBrk="1" hangingPunct="0">
                        <a:lnSpc>
                          <a:spcPts val="40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例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 hangingPunct="0">
                        <a:lnSpc>
                          <a:spcPts val="41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图中弹性绳与手直接接触</a:t>
                      </a:r>
                      <a:r>
                        <a:rPr lang="en-US" altLang="zh-CN" sz="2400" b="0" i="0" spc="-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，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弹性绳发生形变</a:t>
                      </a:r>
                      <a:r>
                        <a:rPr lang="en-US" altLang="zh-CN" sz="2400" b="0" i="0" spc="-10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，</a:t>
                      </a: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手与弹性绳之间一</a:t>
                      </a:r>
                    </a:p>
                    <a:p>
                      <a:pPr marL="0" lvl="0" indent="0" algn="l" latinLnBrk="1" hangingPunct="0">
                        <a:lnSpc>
                          <a:spcPts val="39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定存在弹力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8200"/>
                        </a:lnSpc>
                      </a:pPr>
                      <a:endParaRPr lang="en-US" altLang="zh-CN" sz="900" spc="0" dirty="0">
                        <a:solidFill>
                          <a:srgbClr val="FFFFFF">
                            <a:alpha val="0"/>
                          </a:srgbClr>
                        </a:solidFill>
                        <a:latin typeface="SimSun" panose="02010600030101010101" pitchFamily="2" charset="-122"/>
                      </a:endParaRPr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7" name="P_6_BD#d6d61d879.table_image?tii=2&amp;vcp=1&amp;pid=77c5366e6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232136" y="5337111"/>
            <a:ext cx="1371600" cy="969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&amp;si=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P_6_BD#d6d61d879?colgroup=1,1,33&amp;vcp=1&amp;pid=77c5366e6&amp;color=0,0,0&amp;mp=1&amp;vtp=1&amp;bt=1&amp;bbb=1&amp;hb=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7329651"/>
              </p:ext>
            </p:extLst>
          </p:nvPr>
        </p:nvGraphicFramePr>
        <p:xfrm>
          <a:off x="393192" y="1153033"/>
          <a:ext cx="11347704" cy="5175504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3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74344">
                <a:tc rowSpan="2">
                  <a:txBody>
                    <a:bodyPr/>
                    <a:lstStyle/>
                    <a:p>
                      <a:pPr marL="0" indent="0" algn="ctr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假</a:t>
                      </a:r>
                    </a:p>
                    <a:p>
                      <a:pPr marL="0" indent="0" algn="ctr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设</a:t>
                      </a:r>
                    </a:p>
                    <a:p>
                      <a:pPr marL="0" lvl="0" indent="0"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法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方</a:t>
                      </a:r>
                    </a:p>
                    <a:p>
                      <a:pPr marL="0" lvl="0" indent="0"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法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indent="0" algn="l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对形变不明显的情况</a:t>
                      </a:r>
                      <a:r>
                        <a:rPr lang="en-US" altLang="zh-CN" sz="2400" b="0" i="0" spc="-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，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可假设两个物体间弹力不存在</a:t>
                      </a:r>
                      <a:r>
                        <a:rPr lang="en-US" altLang="zh-CN" sz="2400" b="0" i="0" spc="-10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，</a:t>
                      </a: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看物体能否保持原有</a:t>
                      </a:r>
                    </a:p>
                    <a:p>
                      <a:pPr marL="0" lvl="0" indent="0"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的状态</a:t>
                      </a:r>
                      <a:r>
                        <a:rPr lang="en-US" altLang="zh-CN" sz="2400" b="0" i="0" spc="-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，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若状态不变</a:t>
                      </a:r>
                      <a:r>
                        <a:rPr lang="en-US" altLang="zh-CN" sz="2400" b="0" i="0" spc="-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，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则此处不存在弹力</a:t>
                      </a:r>
                      <a:r>
                        <a:rPr lang="en-US" altLang="zh-CN" sz="2400" b="0" i="0" spc="-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；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若状态改变</a:t>
                      </a:r>
                      <a:r>
                        <a:rPr lang="en-US" altLang="zh-CN" sz="2400" b="0" i="0" spc="-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，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则此处一定有弹力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5514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举</a:t>
                      </a:r>
                    </a:p>
                    <a:p>
                      <a:pPr marL="0" lvl="0" indent="0"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例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图中为用细线悬挂的小球</a:t>
                      </a:r>
                      <a:r>
                        <a:rPr lang="en-US" altLang="zh-CN" sz="2400" b="0" i="0" spc="-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，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斜面是光滑的</a:t>
                      </a:r>
                      <a:r>
                        <a:rPr lang="en-US" altLang="zh-CN" sz="2400" b="0" i="0" spc="-10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，</a:t>
                      </a: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因去掉斜面后小球的</a:t>
                      </a:r>
                    </a:p>
                    <a:p>
                      <a:pPr marL="0" lvl="0" indent="0"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状态不变</a:t>
                      </a:r>
                      <a:r>
                        <a:rPr lang="en-US" altLang="zh-CN" sz="2400" b="0" i="0" spc="-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，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故小球只受细线的拉力和重力</a:t>
                      </a:r>
                      <a:r>
                        <a:rPr lang="en-US" altLang="zh-CN" sz="2400" b="0" i="0" spc="-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，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不受斜面的支持力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ct val="150000"/>
                        </a:lnSpc>
                      </a:pPr>
                      <a:endParaRPr lang="en-US" altLang="zh-CN" sz="900" spc="0" dirty="0">
                        <a:latin typeface="SimSun" panose="02010600030101010101" pitchFamily="2" charset="-122"/>
                      </a:endParaRPr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4344">
                <a:tc rowSpan="2">
                  <a:txBody>
                    <a:bodyPr/>
                    <a:lstStyle/>
                    <a:p>
                      <a:pPr marL="0" indent="0" algn="ctr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状</a:t>
                      </a:r>
                    </a:p>
                    <a:p>
                      <a:pPr marL="0" indent="0" algn="ctr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态</a:t>
                      </a:r>
                    </a:p>
                    <a:p>
                      <a:pPr marL="0" lvl="0" indent="0"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法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方</a:t>
                      </a:r>
                    </a:p>
                    <a:p>
                      <a:pPr marL="0" lvl="0" indent="0"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法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indent="0" algn="l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根据物体的运动状态</a:t>
                      </a:r>
                      <a:r>
                        <a:rPr lang="en-US" altLang="zh-CN" sz="2400" b="0" i="0" spc="-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，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利用力的平衡条件或牛顿第二定律（</a:t>
                      </a: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下一章将学习）</a:t>
                      </a:r>
                    </a:p>
                    <a:p>
                      <a:pPr marL="0" lvl="0" indent="0"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判断弹力是否存在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71676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举</a:t>
                      </a:r>
                    </a:p>
                    <a:p>
                      <a:pPr marL="0" lvl="0" indent="0"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例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图中斜面上用轻绳拴住一滑块.如果斜面处于平衡状态</a:t>
                      </a:r>
                      <a:r>
                        <a:rPr lang="en-US" altLang="zh-CN" sz="2400" b="0" i="0" spc="-10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，</a:t>
                      </a: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则滑块</a:t>
                      </a:r>
                    </a:p>
                    <a:p>
                      <a:pPr marL="0" indent="0" algn="l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与斜面之间存在弹力</a:t>
                      </a:r>
                      <a:r>
                        <a:rPr lang="en-US" altLang="zh-CN" sz="2400" b="0" i="0" spc="-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；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如果整体向右加速运动</a:t>
                      </a:r>
                      <a:r>
                        <a:rPr lang="en-US" altLang="zh-CN" sz="2400" b="0" i="0" spc="-10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，</a:t>
                      </a: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则滑块与斜面之</a:t>
                      </a:r>
                    </a:p>
                    <a:p>
                      <a:pPr marL="0" lvl="0" indent="0"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间是否存在弹力与加速度的大小有关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（下一章将学习）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9800"/>
                        </a:lnSpc>
                      </a:pPr>
                      <a:endParaRPr lang="en-US" altLang="zh-CN" sz="900" spc="0" dirty="0">
                        <a:solidFill>
                          <a:srgbClr val="FFFFFF">
                            <a:alpha val="0"/>
                          </a:srgbClr>
                        </a:solidFill>
                        <a:latin typeface="SimSun" panose="02010600030101010101" pitchFamily="2" charset="-122"/>
                      </a:endParaRPr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" name="P_6_BD#d6d61d879.table_image?tii=3&amp;vcp=1&amp;pid=77c5366e6&amp;color=0,0,0&amp;mp=1&amp;tib=255,255,255&amp;vtp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200132" y="2241423"/>
            <a:ext cx="1435608" cy="1527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4" name="P_6_BD#d6d61d879.table_image?tii=4&amp;vcp=1&amp;pid=77c5366e6&amp;color=0,0,0&amp;mp=1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232136" y="5034915"/>
            <a:ext cx="1371600" cy="1115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2" name="P_6_BD#d6d61d879?colgroup=1,1,33&amp;vcp=1&amp;pid=77c5366e6&amp;color=0,0,0&amp;mp=1&amp;vtp=1&amp;bt=1&amp;bbb=1">
            <a:extLst>
              <a:ext uri="{FF2B5EF4-FFF2-40B4-BE49-F238E27FC236}">
                <a16:creationId xmlns:a16="http://schemas.microsoft.com/office/drawing/2014/main" id="{F2450FBA-2748-F4D4-9F77-26A62D318A86}"/>
              </a:ext>
            </a:extLst>
          </p:cNvPr>
          <p:cNvSpPr txBox="1"/>
          <p:nvPr/>
        </p:nvSpPr>
        <p:spPr>
          <a:xfrm>
            <a:off x="11125344" y="527558"/>
            <a:ext cx="615553" cy="50321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r">
              <a:lnSpc>
                <a:spcPts val="4300"/>
              </a:lnSpc>
            </a:pPr>
            <a:r>
              <a:rPr lang="zh-CN" altLang="en-US" sz="2400">
                <a:latin typeface="Times New Roman" panose="02020603050405020304" pitchFamily="18" charset="0"/>
              </a:rPr>
              <a:t>续表</a:t>
            </a:r>
          </a:p>
        </p:txBody>
      </p:sp>
    </p:spTree>
  </p:cSld>
  <p:clrMapOvr>
    <a:masterClrMapping/>
  </p:clrMapOvr>
  <p:transition>
    <p:split dir="in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&amp;si=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6_BD.12_1#6476e9438?vcp=1&amp;pid=77c5366e6&amp;color=0,0,0&amp;vtp=1&amp;bt=1&amp;bbb=1&amp;hb=1"/>
              <p:cNvSpPr/>
              <p:nvPr/>
            </p:nvSpPr>
            <p:spPr>
              <a:xfrm>
                <a:off x="393192" y="1030827"/>
                <a:ext cx="11402568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考题3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图中的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𝐷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球均为光滑球，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𝐸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球是一足球，一学生将足球踢向斜台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，下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列说法正确的是(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6_BD.12_1#6476e9438?vcp=1&amp;pid=77c5366e6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030827"/>
                <a:ext cx="11402568" cy="1033399"/>
              </a:xfrm>
              <a:prstGeom prst="rect">
                <a:avLst/>
              </a:prstGeom>
              <a:blipFill>
                <a:blip r:embed="rId3"/>
                <a:stretch>
                  <a:fillRect l="-1658" r="-1444" b="-1764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QC_6_BD.12_2#6476e9438?vcp=1&amp;pid=77c5366e6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542032" y="2191352"/>
            <a:ext cx="7104888" cy="1325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4" name="QC_6_AN.13_1#6476e9438.bracket?vcp=1&amp;pid=77c5366e6&amp;color=0,0,0&amp;vpa=5&amp;vtp=1"/>
          <p:cNvSpPr/>
          <p:nvPr/>
        </p:nvSpPr>
        <p:spPr>
          <a:xfrm>
            <a:off x="2759361" y="1578197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6_BD.12_3#6476e9438.choices?vcp=1&amp;pid=77c5366e6&amp;color=0,0,0&amp;vtp=1&amp;bbb=1"/>
              <p:cNvSpPr/>
              <p:nvPr/>
            </p:nvSpPr>
            <p:spPr>
              <a:xfrm>
                <a:off x="393192" y="3651852"/>
                <a:ext cx="11402568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球和斜面之间可能有弹力作用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球和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球间没有弹力作用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.倾斜的细线对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𝐷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球没有拉力作用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𝐸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球（足球）与斜台作用时，斜台对足球的弹力方向先沿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的方向后沿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的方向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6_BD.12_3#6476e9438.choices?vcp=1&amp;pid=77c5366e6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651852"/>
                <a:ext cx="11402568" cy="2155000"/>
              </a:xfrm>
              <a:prstGeom prst="rect">
                <a:avLst/>
              </a:prstGeom>
              <a:blipFill>
                <a:blip r:embed="rId5"/>
                <a:stretch>
                  <a:fillRect l="-1658" b="-84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&amp;si=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6_AS.14_1#6476e9438?vcp=1&amp;pid=77c5366e6&amp;color=0,0,0&amp;vtp=1&amp;bt=1&amp;bbb=1&amp;hb=1"/>
              <p:cNvSpPr/>
              <p:nvPr/>
            </p:nvSpPr>
            <p:spPr>
              <a:xfrm>
                <a:off x="393192" y="1812385"/>
                <a:ext cx="11402568" cy="3272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假设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球和斜面之间有弹力作用，斜面对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球的弹力方向垂直于斜面斜向右上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方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球会向右运动，与实际不符，故假设错误，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球和斜面之间没有弹力作用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，A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错误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；假设没有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球或没有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𝑪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球，另一个球会向圆弧底端运动，故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球与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𝑪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球之间有弹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力作用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，B错误；倾斜的细线对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𝑫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球没有拉力作用，否则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𝑫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球会向左摆动，C正确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；弹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力的方向与接触面垂直并指向受力物体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球（足球）与斜台作用时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，斜台对足球的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弹力方向垂直于斜台斜面向左上方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，D错误.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6_AS.14_1#6476e9438?vcp=1&amp;pid=77c5366e6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812385"/>
                <a:ext cx="11402568" cy="3272600"/>
              </a:xfrm>
              <a:prstGeom prst="rect">
                <a:avLst/>
              </a:prstGeom>
              <a:blipFill>
                <a:blip r:embed="rId3"/>
                <a:stretch>
                  <a:fillRect l="-1658" r="-642" b="-558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&amp;si=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6_BD.15_1#c7f8e8349?vcp=1&amp;pid=77c5366e6&amp;color=0,0,0&amp;vtp=1&amp;bt=1&amp;bbb=1&amp;hb=1"/>
              <p:cNvSpPr/>
              <p:nvPr/>
            </p:nvSpPr>
            <p:spPr>
              <a:xfrm>
                <a:off x="393192" y="2103596"/>
                <a:ext cx="11402568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变式3-1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（2026·湖北武汉二中检测）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下列图中各物体均处于静止状态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，图中画出了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小球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所受弹力的情况，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其中正确的是(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6_BD.15_1#c7f8e8349?vcp=1&amp;pid=77c5366e6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103596"/>
                <a:ext cx="11402568" cy="1033399"/>
              </a:xfrm>
              <a:prstGeom prst="rect">
                <a:avLst/>
              </a:prstGeom>
              <a:blipFill>
                <a:blip r:embed="rId3"/>
                <a:stretch>
                  <a:fillRect l="-1658" r="-107" b="-1764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6_AN.16_1#c7f8e8349.bracket?vcp=1&amp;pid=77c5366e6&amp;color=0,0,0&amp;vpa=6&amp;vtp=1"/>
          <p:cNvSpPr/>
          <p:nvPr/>
        </p:nvSpPr>
        <p:spPr>
          <a:xfrm>
            <a:off x="5699220" y="2650966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endParaRPr lang="en-US" altLang="zh-CN" sz="2400" dirty="0"/>
          </a:p>
        </p:txBody>
      </p:sp>
      <p:sp>
        <p:nvSpPr>
          <p:cNvPr id="4" name="QC_6_BD.15_2#c7f8e8349.choices?vcp=1&amp;pid=77c5366e6&amp;color=0,0,0&amp;vtp=1&amp;bbb=1"/>
          <p:cNvSpPr/>
          <p:nvPr/>
        </p:nvSpPr>
        <p:spPr>
          <a:xfrm>
            <a:off x="393192" y="3265391"/>
            <a:ext cx="11402568" cy="1487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atinLnBrk="1">
              <a:lnSpc>
                <a:spcPts val="13300"/>
              </a:lnSpc>
              <a:tabLst>
                <a:tab pos="2932552" algn="l"/>
                <a:tab pos="5611104" algn="l"/>
                <a:tab pos="8569056" algn="l"/>
              </a:tabLst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A.</a:t>
            </a:r>
            <a:r>
              <a:rPr lang="en-US" altLang="zh-CN" sz="2400" b="0" i="0" kern="0" spc="-9990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 </a:t>
            </a:r>
            <a:r>
              <a:rPr lang="en-US" altLang="zh-CN" sz="900" b="0" i="0" kern="0">
                <a:solidFill>
                  <a:srgbClr val="FFFFFF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                            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B.</a:t>
            </a:r>
            <a:r>
              <a:rPr lang="en-US" altLang="zh-CN" sz="2400" b="0" i="0" kern="0" spc="-9990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 </a:t>
            </a:r>
            <a:r>
              <a:rPr lang="en-US" altLang="zh-CN" sz="900" b="0" i="0" kern="0">
                <a:solidFill>
                  <a:srgbClr val="FFFFFF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                        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C.</a:t>
            </a:r>
            <a:r>
              <a:rPr lang="en-US" altLang="zh-CN" sz="2400" b="0" i="0" kern="0" spc="-9990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 </a:t>
            </a:r>
            <a:r>
              <a:rPr lang="en-US" altLang="zh-CN" sz="900" b="0" i="0" kern="0">
                <a:solidFill>
                  <a:srgbClr val="FFFFFF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                             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D.</a:t>
            </a:r>
            <a:r>
              <a:rPr lang="en-US" altLang="zh-CN" sz="7400" b="0" i="0" kern="0" spc="-9990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 </a:t>
            </a:r>
            <a:r>
              <a:rPr lang="en-US" altLang="zh-CN" sz="900" b="0" i="0" kern="0">
                <a:solidFill>
                  <a:srgbClr val="FFFFFF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                              </a:t>
            </a:r>
            <a:endParaRPr lang="en-US" altLang="zh-CN" sz="900" dirty="0">
              <a:latin typeface="SimSun" panose="02010600030101010101" pitchFamily="2" charset="-122"/>
            </a:endParaRPr>
          </a:p>
        </p:txBody>
      </p:sp>
      <p:pic>
        <p:nvPicPr>
          <p:cNvPr id="5" name="QC_6_BD.15_2#c7f8e8349.choice_image?vcp=1&amp;pid=77c5366e6&amp;color=0,0,0&amp;tib=255,255,255&amp;iip=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12947" y="3262661"/>
            <a:ext cx="1783080" cy="1490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6" name="QC_6_BD.15_2#c7f8e8349.choice_image?vcp=1&amp;pid=77c5366e6&amp;color=0,0,0&amp;tib=255,255,255&amp;iip=6&amp;vtp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627914" y="3262661"/>
            <a:ext cx="1554480" cy="1490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7" name="QC_6_BD.15_2#c7f8e8349.choice_image?vcp=1&amp;pid=77c5366e6&amp;color=0,0,0&amp;tib=255,255,255&amp;iip=7&amp;vtp=1" descr="preencoded.png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293771" y="3262661"/>
            <a:ext cx="1865376" cy="1490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8" name="QC_6_BD.15_2#c7f8e8349.choice_image?vcp=1&amp;pid=77c5366e6&amp;color=0,0,0&amp;tib=255,255,255&amp;iip=8&amp;vtp=1" descr="preencoded.png"/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275414" y="3273075"/>
            <a:ext cx="1911096" cy="1481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&amp;si=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6_AS.17_1#c7f8e8349?vcp=1&amp;pid=77c5366e6&amp;color=0,0,0&amp;vtp=1&amp;bt=1&amp;bbb=1&amp;hb=1"/>
              <p:cNvSpPr/>
              <p:nvPr/>
            </p:nvSpPr>
            <p:spPr>
              <a:xfrm>
                <a:off x="393192" y="1812385"/>
                <a:ext cx="11402568" cy="3272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</a:t>
                </a:r>
                <a:r>
                  <a:rPr lang="en-US" altLang="zh-CN" sz="2400" b="1" i="0" spc="-5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解析]</a:t>
                </a:r>
                <a:r>
                  <a:rPr lang="en-US" altLang="zh-CN" sz="2400" b="1" i="0" spc="-5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spc="-5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A项图中，小球只受重力和杆的弹力，且处于静止状态</a:t>
                </a:r>
                <a:r>
                  <a:rPr lang="en-US" altLang="zh-CN" sz="2400" b="1" i="0" spc="-5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，根据二力平衡可得小球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 spc="-5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受到的弹力方向应竖直向上</a:t>
                </a:r>
                <a:r>
                  <a:rPr lang="en-US" altLang="zh-CN" sz="2400" b="1" i="0" spc="-5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，A错误；B项图中，因为右边的绳竖直</a:t>
                </a:r>
                <a:r>
                  <a:rPr lang="en-US" altLang="zh-CN" sz="2400" b="1" i="0" spc="-5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，如果左边的绳有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 spc="-5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拉力</a:t>
                </a:r>
                <a:r>
                  <a:rPr lang="en-US" altLang="zh-CN" sz="2400" b="1" i="0" spc="-5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，竖直的那根绳就会发生倾斜，所以左边的绳没有拉力，B错误；C项图中，小球</a:t>
                </a:r>
                <a14:m>
                  <m:oMath xmlns:m="http://schemas.openxmlformats.org/officeDocument/2006/math">
                    <m:r>
                      <a:rPr lang="en-US" altLang="zh-CN" sz="2400" b="1" i="1" spc="-5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1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 spc="-5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受到竖直墙面的垂直于接触面向左的弹力</a:t>
                </a:r>
                <a:r>
                  <a:rPr lang="en-US" altLang="zh-CN" sz="2400" b="1" i="0" spc="-5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，还受到下方小球的弹力</a:t>
                </a:r>
                <a:r>
                  <a:rPr lang="en-US" altLang="zh-CN" sz="2400" b="1" i="0" spc="-5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，方向垂直于过接触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 spc="-5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点的公切面指向</a:t>
                </a:r>
                <a14:m>
                  <m:oMath xmlns:m="http://schemas.openxmlformats.org/officeDocument/2006/math">
                    <m:r>
                      <a:rPr lang="en-US" altLang="zh-CN" sz="2400" b="1" i="1" spc="-5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spc="-5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，即由下方小球的球心指向小球</a:t>
                </a:r>
                <a14:m>
                  <m:oMath xmlns:m="http://schemas.openxmlformats.org/officeDocument/2006/math">
                    <m:r>
                      <a:rPr lang="en-US" altLang="zh-CN" sz="2400" b="1" i="1" spc="-5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spc="-5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的球心，C正确；D项图中的小球</a:t>
                </a:r>
                <a14:m>
                  <m:oMath xmlns:m="http://schemas.openxmlformats.org/officeDocument/2006/math">
                    <m:r>
                      <a:rPr lang="en-US" altLang="zh-CN" sz="2400" b="1" i="1" spc="-5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1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 spc="-5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与球面接触处的弹力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pc="-5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 spc="-5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 spc="-5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  <m:r>
                          <a:rPr lang="en-US" altLang="zh-CN" sz="2400" b="1" i="1" spc="-5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spc="-5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的方向应过接触点且垂直于过接触面的切线向上，D错误.</a:t>
                </a:r>
                <a:endParaRPr lang="en-US" altLang="zh-CN" sz="2400" spc="-50" dirty="0"/>
              </a:p>
            </p:txBody>
          </p:sp>
        </mc:Choice>
        <mc:Fallback>
          <p:sp>
            <p:nvSpPr>
              <p:cNvPr id="2" name="QC_6_AS.17_1#c7f8e8349?vcp=1&amp;pid=77c5366e6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812385"/>
                <a:ext cx="11402568" cy="3272600"/>
              </a:xfrm>
              <a:prstGeom prst="rect">
                <a:avLst/>
              </a:prstGeom>
              <a:blipFill>
                <a:blip r:embed="rId3"/>
                <a:stretch>
                  <a:fillRect l="-1658" r="-1176" b="-558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&amp;si=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6#a90f82d32?vcp=1&amp;pid=77c5366e6&amp;color=0,0,0&amp;vtp=1&amp;bt=1&amp;bbb=1"/>
          <p:cNvSpPr/>
          <p:nvPr/>
        </p:nvSpPr>
        <p:spPr>
          <a:xfrm>
            <a:off x="393192" y="639699"/>
            <a:ext cx="11402568" cy="488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难点突破</a:t>
            </a:r>
            <a:endParaRPr lang="en-US" altLang="zh-CN" sz="2400" dirty="0"/>
          </a:p>
        </p:txBody>
      </p:sp>
      <p:pic>
        <p:nvPicPr>
          <p:cNvPr id="3" name="P_6_BD#a90f82d32?htil=4&amp;vcp=1&amp;pid=77c5366e6&amp;color=0,0,0&amp;tib=255,255,255&amp;vtp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118472" y="1243330"/>
            <a:ext cx="3044952" cy="694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4" name="P_6#a90f82d32?htil=4&amp;vcp=1&amp;pid=77c5366e6&amp;color=0,0,0&amp;vtp=1&amp;bbb=1&amp;hs=1"/>
          <p:cNvSpPr/>
          <p:nvPr/>
        </p:nvSpPr>
        <p:spPr>
          <a:xfrm>
            <a:off x="393192" y="1197610"/>
            <a:ext cx="8220456" cy="1033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对弹力的理解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.弹力产生的过程</a:t>
            </a:r>
            <a:endParaRPr lang="en-US" altLang="zh-CN" sz="2400" dirty="0"/>
          </a:p>
        </p:txBody>
      </p:sp>
      <p:sp>
        <p:nvSpPr>
          <p:cNvPr id="5" name="P_6_BD#a90f82d32?vcp=1&amp;pid=77c5366e6&amp;color=0,0,0&amp;vtp=1&amp;bbb=1&amp;hs=1"/>
          <p:cNvSpPr/>
          <p:nvPr/>
        </p:nvSpPr>
        <p:spPr>
          <a:xfrm>
            <a:off x="393192" y="2286952"/>
            <a:ext cx="11402568" cy="48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2.常见弹力的方向</a:t>
            </a:r>
            <a:endParaRPr lang="en-US" altLang="zh-CN" sz="2400" dirty="0"/>
          </a:p>
        </p:txBody>
      </p:sp>
      <p:graphicFrame>
        <p:nvGraphicFramePr>
          <p:cNvPr id="26" name="P_6_BD#a90f82d32?colgroup=12,18,4&amp;vcp=1&amp;pid=77c5366e6&amp;color=0,0,0&amp;vtp=1&amp;bbb=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0464295"/>
              </p:ext>
            </p:extLst>
          </p:nvPr>
        </p:nvGraphicFramePr>
        <p:xfrm>
          <a:off x="393192" y="2902204"/>
          <a:ext cx="11356848" cy="3298317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058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19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2633">
                <a:tc gridSpan="2">
                  <a:txBody>
                    <a:bodyPr/>
                    <a:lstStyle/>
                    <a:p>
                      <a:pPr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类型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方向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图示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4164">
                <a:tc rowSpan="3"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接触方式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面与面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垂直于公共接触面并指向受力物体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4900"/>
                        </a:lnSpc>
                      </a:pPr>
                      <a:endParaRPr lang="en-US" altLang="zh-CN" sz="900" spc="0" dirty="0">
                        <a:solidFill>
                          <a:srgbClr val="FFFFFF">
                            <a:alpha val="0"/>
                          </a:srgbClr>
                        </a:solidFill>
                        <a:latin typeface="SimSun" panose="02010600030101010101" pitchFamily="2" charset="-122"/>
                      </a:endParaRPr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0196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点与平面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过接触点垂直于接触面并指向受力物体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7200"/>
                        </a:lnSpc>
                      </a:pPr>
                      <a:endParaRPr lang="en-US" altLang="zh-CN" sz="900" spc="0" dirty="0">
                        <a:solidFill>
                          <a:srgbClr val="FFFFFF">
                            <a:alpha val="0"/>
                          </a:srgbClr>
                        </a:solidFill>
                        <a:latin typeface="SimSun" panose="02010600030101010101" pitchFamily="2" charset="-122"/>
                      </a:endParaRPr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132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点与曲面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垂直于过接触点的切面并指向受力物体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6200"/>
                        </a:lnSpc>
                      </a:pPr>
                      <a:endParaRPr lang="en-US" altLang="zh-CN" sz="900" spc="0" dirty="0">
                        <a:solidFill>
                          <a:srgbClr val="FFFFFF">
                            <a:alpha val="0"/>
                          </a:srgbClr>
                        </a:solidFill>
                        <a:latin typeface="SimSun" panose="02010600030101010101" pitchFamily="2" charset="-122"/>
                      </a:endParaRPr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7" name="P_6_BD#a90f82d32.table_image?tii=5&amp;vcp=1&amp;pid=77c5366e6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483597" y="3513455"/>
            <a:ext cx="950976" cy="566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8" name="P_6_BD#a90f82d32.table_image?tii=6&amp;vcp=1&amp;pid=77c5366e6&amp;color=0,0,0&amp;tib=255,255,255&amp;vtp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492740" y="4317619"/>
            <a:ext cx="932688" cy="82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9" name="P_6_BD#a90f82d32.table_image?tii=7&amp;vcp=1&amp;pid=77c5366e6&amp;color=0,0,0&amp;tib=255,255,255&amp;vtp=1" descr="preencoded.png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405872" y="5377815"/>
            <a:ext cx="1106424" cy="704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&amp;si=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" name="P_6_BD#a90f82d32?colgroup=12,18,4&amp;vcp=1&amp;pid=77c5366e6&amp;color=0,0,0&amp;vtp=1&amp;bt=1&amp;bbb=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6275434"/>
              </p:ext>
            </p:extLst>
          </p:nvPr>
        </p:nvGraphicFramePr>
        <p:xfrm>
          <a:off x="393192" y="1328356"/>
          <a:ext cx="11400623" cy="4824857"/>
        </p:xfrm>
        <a:graphic>
          <a:graphicData uri="http://schemas.openxmlformats.org/drawingml/2006/table">
            <a:tbl>
              <a:tblPr/>
              <a:tblGrid>
                <a:gridCol w="40615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97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19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2633">
                <a:tc gridSpan="2">
                  <a:txBody>
                    <a:bodyPr/>
                    <a:lstStyle/>
                    <a:p>
                      <a:pPr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类型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方向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图示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6500">
                <a:tc gridSpan="2"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轻绳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沿绳收缩方向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8600"/>
                        </a:lnSpc>
                      </a:pPr>
                      <a:endParaRPr lang="en-US" altLang="zh-CN" sz="900" spc="0" dirty="0">
                        <a:solidFill>
                          <a:srgbClr val="FFFFFF">
                            <a:alpha val="0"/>
                          </a:srgbClr>
                        </a:solidFill>
                        <a:latin typeface="SimSun" panose="02010600030101010101" pitchFamily="2" charset="-122"/>
                      </a:endParaRPr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3036">
                <a:tc rowSpan="2" gridSpan="2"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轻杆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可沿杆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6000"/>
                        </a:lnSpc>
                      </a:pPr>
                      <a:endParaRPr lang="en-US" altLang="zh-CN" sz="900" spc="0" dirty="0">
                        <a:solidFill>
                          <a:srgbClr val="FFFFFF">
                            <a:alpha val="0"/>
                          </a:srgbClr>
                        </a:solidFill>
                        <a:latin typeface="SimSun" panose="02010600030101010101" pitchFamily="2" charset="-122"/>
                      </a:endParaRPr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32764">
                <a:tc gridSpan="2"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可不沿杆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7100"/>
                        </a:lnSpc>
                      </a:pPr>
                      <a:endParaRPr lang="en-US" altLang="zh-CN" sz="900" spc="0" dirty="0">
                        <a:solidFill>
                          <a:srgbClr val="FFFFFF">
                            <a:alpha val="0"/>
                          </a:srgbClr>
                        </a:solidFill>
                        <a:latin typeface="SimSun" panose="02010600030101010101" pitchFamily="2" charset="-122"/>
                      </a:endParaRPr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69924">
                <a:tc gridSpan="2"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轻弹簧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沿弹簧形变的反方向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8200"/>
                        </a:lnSpc>
                      </a:pPr>
                      <a:endParaRPr lang="en-US" altLang="zh-CN" sz="900" spc="0" dirty="0">
                        <a:solidFill>
                          <a:srgbClr val="FFFFFF">
                            <a:alpha val="0"/>
                          </a:srgbClr>
                        </a:solidFill>
                        <a:latin typeface="SimSun" panose="02010600030101010101" pitchFamily="2" charset="-122"/>
                      </a:endParaRPr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3" name="P_6_BD#a90f82d32.table_image?tii=8&amp;vcp=1&amp;pid=77c5366e6&amp;color=0,0,0&amp;tib=255,255,255&amp;vtp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706108" y="1939608"/>
            <a:ext cx="603504" cy="969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4" name="P_6_BD#a90f82d32.table_image?tii=9&amp;vcp=1&amp;pid=77c5366e6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532372" y="3146108"/>
            <a:ext cx="950976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5" name="P_6_BD#a90f82d32.table_image?tii=10&amp;vcp=1&amp;pid=77c5366e6&amp;color=0,0,0&amp;tib=255,255,255&amp;vtp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527799" y="4064572"/>
            <a:ext cx="960120" cy="804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6" name="P_6_BD#a90f82d32.table_image?tii=11&amp;vcp=1&amp;pid=77c5366e6&amp;color=0,0,0&amp;tib=255,255,255&amp;vtp=1" descr="preencoded.png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527799" y="5101908"/>
            <a:ext cx="960120" cy="932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2" name="P_6_BD#a90f82d32?colgroup=12,18,4&amp;vcp=1&amp;pid=77c5366e6&amp;color=0,0,0&amp;vtp=1&amp;bt=1&amp;bbb=1">
            <a:extLst>
              <a:ext uri="{FF2B5EF4-FFF2-40B4-BE49-F238E27FC236}">
                <a16:creationId xmlns:a16="http://schemas.microsoft.com/office/drawing/2014/main" id="{A10BDAA4-D921-AFAA-69A1-82F239087269}"/>
              </a:ext>
            </a:extLst>
          </p:cNvPr>
          <p:cNvSpPr txBox="1"/>
          <p:nvPr/>
        </p:nvSpPr>
        <p:spPr>
          <a:xfrm>
            <a:off x="11178262" y="702881"/>
            <a:ext cx="615553" cy="50321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r">
              <a:lnSpc>
                <a:spcPts val="4300"/>
              </a:lnSpc>
            </a:pPr>
            <a:r>
              <a:rPr lang="zh-CN" altLang="en-US" sz="2400">
                <a:latin typeface="Times New Roman" panose="02020603050405020304" pitchFamily="18" charset="0"/>
              </a:rPr>
              <a:t>续表</a:t>
            </a:r>
          </a:p>
        </p:txBody>
      </p:sp>
    </p:spTree>
  </p:cSld>
  <p:clrMapOvr>
    <a:masterClrMapping/>
  </p:clrMapOvr>
  <p:transition>
    <p:split dir="in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&amp;si=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6#a90f82d32?vcp=1&amp;pid=77c5366e6&amp;color=0,0,0&amp;vtp=1&amp;bt=1&amp;bbb=1"/>
          <p:cNvSpPr/>
          <p:nvPr/>
        </p:nvSpPr>
        <p:spPr>
          <a:xfrm>
            <a:off x="393192" y="2063305"/>
            <a:ext cx="11402568" cy="2709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规律总结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.压力（或支持力）的方向总是垂直于支持面指向被压（或被支持）的物体.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.绳子的拉力方向是沿绳子指向绳收缩的方向.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3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.弹簧的弹力方向沿弹簧轴线指向形变的反方向.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4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.轻杆的弹力可以向任意方向.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&amp;si=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5#3af23a064?vcp=1&amp;pid=2f04cd151&amp;color=0,0,0&amp;tib=255,255,255&amp;vtp=1&amp;bt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02920"/>
            <a:ext cx="11320272" cy="457200"/>
          </a:xfrm>
          <a:prstGeom prst="rect">
            <a:avLst/>
          </a:prstGeom>
        </p:spPr>
      </p:pic>
      <p:sp>
        <p:nvSpPr>
          <p:cNvPr id="3" name="C_5_BD#3af23a064?vcp=1&amp;pid=2f04cd151&amp;color=255,255,255&amp;vtp=1"/>
          <p:cNvSpPr/>
          <p:nvPr/>
        </p:nvSpPr>
        <p:spPr>
          <a:xfrm>
            <a:off x="1225296" y="50292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1">
              <a:lnSpc>
                <a:spcPct val="100000"/>
              </a:lnSpc>
            </a:pPr>
            <a:r>
              <a:rPr lang="en-US" altLang="zh-CN" sz="28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4</a:t>
            </a:r>
            <a:endParaRPr lang="en-US" altLang="zh-CN" sz="2800" dirty="0"/>
          </a:p>
        </p:txBody>
      </p:sp>
      <p:sp>
        <p:nvSpPr>
          <p:cNvPr id="4" name="C_5_BD#3af23a064?vcp=1&amp;pid=2f04cd151&amp;color=0,0,0&amp;vtp=1&amp;bbb=1"/>
          <p:cNvSpPr/>
          <p:nvPr/>
        </p:nvSpPr>
        <p:spPr>
          <a:xfrm>
            <a:off x="1837944" y="502920"/>
            <a:ext cx="99395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胡克定律</a:t>
            </a:r>
            <a:r>
              <a:rPr lang="en-US" altLang="zh-CN" sz="26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难点</a:t>
            </a:r>
            <a:endParaRPr lang="en-US" altLang="zh-CN" sz="2600" dirty="0"/>
          </a:p>
        </p:txBody>
      </p:sp>
      <p:sp>
        <p:nvSpPr>
          <p:cNvPr id="5" name="P_6#ccafe62de?vcp=1&amp;pid=3af23a064&amp;color=0,0,0&amp;vtp=1&amp;bbb=1"/>
          <p:cNvSpPr/>
          <p:nvPr/>
        </p:nvSpPr>
        <p:spPr>
          <a:xfrm>
            <a:off x="393192" y="1092200"/>
            <a:ext cx="11402568" cy="482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核心总结</a:t>
            </a:r>
            <a:r>
              <a:rPr lang="en-US" altLang="zh-CN" sz="100" b="1" i="0" kern="0" spc="-9990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#1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9" name="P_6_BD#ccafe62de?colgroup=4,31&amp;vcp=1&amp;pid=3af23a064&amp;color=0,0,0&amp;vtp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21431573"/>
                  </p:ext>
                </p:extLst>
              </p:nvPr>
            </p:nvGraphicFramePr>
            <p:xfrm>
              <a:off x="393192" y="1712595"/>
              <a:ext cx="11400624" cy="3981069"/>
            </p:xfrm>
            <a:graphic>
              <a:graphicData uri="http://schemas.openxmlformats.org/drawingml/2006/table">
                <a:tbl>
                  <a:tblPr/>
                  <a:tblGrid>
                    <a:gridCol w="151739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7858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74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9885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内容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在弹性限度内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弹簧弹力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𝐹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的大小与弹簧伸长（或缩短）的长度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成正比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公式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5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𝐹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𝑘𝑥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89580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图像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indent="0" algn="ctr" latinLnBrk="1" hangingPunct="0">
                            <a:lnSpc>
                              <a:spcPts val="14400"/>
                            </a:lnSpc>
                          </a:pPr>
                          <a:r>
                            <a:rPr lang="en-US" altLang="zh-CN" sz="7950" b="0" i="0" kern="0" spc="-99900">
                              <a:solidFill>
                                <a:srgbClr val="FFFFFF">
                                  <a:alpha val="0"/>
                                </a:srgbClr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_</a:t>
                          </a:r>
                          <a:r>
                            <a:rPr lang="en-US" altLang="zh-CN" sz="900" b="0" i="0" kern="0" spc="0">
                              <a:solidFill>
                                <a:srgbClr val="FFFFFF">
                                  <a:alpha val="0"/>
                                </a:srgbClr>
                              </a:solidFill>
                              <a:latin typeface="SimSun" panose="02010600030101010101" pitchFamily="2" charset="-122"/>
                              <a:ea typeface="微软雅黑" pitchFamily="34" charset="-122"/>
                              <a:cs typeface="Times New Roman" pitchFamily="34" charset="-120"/>
                            </a:rPr>
                            <a:t>____________________________________</a:t>
                          </a: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为形变量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即弹簧伸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、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缩后的长度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𝐿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与原长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之差的绝对值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即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6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𝑥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=|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𝐿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|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,在国际单位制中的单位是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m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9" name="P_6_BD#ccafe62de?colgroup=4,31&amp;vcp=1&amp;pid=3af23a064&amp;color=0,0,0&amp;vtp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21431573"/>
                  </p:ext>
                </p:extLst>
              </p:nvPr>
            </p:nvGraphicFramePr>
            <p:xfrm>
              <a:off x="393192" y="1712595"/>
              <a:ext cx="11400624" cy="3981069"/>
            </p:xfrm>
            <a:graphic>
              <a:graphicData uri="http://schemas.openxmlformats.org/drawingml/2006/table">
                <a:tbl>
                  <a:tblPr/>
                  <a:tblGrid>
                    <a:gridCol w="151739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7858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74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9885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内容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5413" r="-123" b="-70853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公式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5413" t="-101235" r="-123" b="-61728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89580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图像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5413" t="-33198" r="-123" b="-183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P_6_BD#ccafe62de.table_image?tii=12&amp;vcp=1&amp;pid=3af23a064&amp;color=0,0,0&amp;tib=255,255,255&amp;vtp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805213" y="2831624"/>
            <a:ext cx="2093976" cy="1819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&amp;si=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0" name="P_6_BD#ccafe62de?colgroup=4,4,27&amp;vcp=1&amp;pid=3af23a064&amp;color=0,0,0&amp;mp=1&amp;vtp=1&amp;bt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07100879"/>
                  </p:ext>
                </p:extLst>
              </p:nvPr>
            </p:nvGraphicFramePr>
            <p:xfrm>
              <a:off x="393192" y="2757869"/>
              <a:ext cx="11365992" cy="1965833"/>
            </p:xfrm>
            <a:graphic>
              <a:graphicData uri="http://schemas.openxmlformats.org/drawingml/2006/table">
                <a:tbl>
                  <a:tblPr/>
                  <a:tblGrid>
                    <a:gridCol w="152704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40817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43076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98856">
                    <a:tc rowSpan="3">
                      <a:txBody>
                        <a:bodyPr/>
                        <a:lstStyle/>
                        <a:p>
                          <a:pPr marL="0" indent="0" algn="ctr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对定律的</a:t>
                          </a:r>
                        </a:p>
                        <a:p>
                          <a:pPr marL="0" lvl="0" indent="0"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理解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成立条件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在弹性限度内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74344"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5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弹簧长度的改变量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是相对弹簧原长的形变量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而不是弹簧的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长度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92633"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5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𝑘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劲度系数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由弹簧本身决定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单位是牛顿每米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符号是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N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/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m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0" name="P_6_BD#ccafe62de?colgroup=4,4,27&amp;vcp=1&amp;pid=3af23a064&amp;color=0,0,0&amp;mp=1&amp;vtp=1&amp;bt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07100879"/>
                  </p:ext>
                </p:extLst>
              </p:nvPr>
            </p:nvGraphicFramePr>
            <p:xfrm>
              <a:off x="393192" y="2757869"/>
              <a:ext cx="11365992" cy="1965833"/>
            </p:xfrm>
            <a:graphic>
              <a:graphicData uri="http://schemas.openxmlformats.org/drawingml/2006/table">
                <a:tbl>
                  <a:tblPr/>
                  <a:tblGrid>
                    <a:gridCol w="152704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40817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43076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98856">
                    <a:tc rowSpan="3">
                      <a:txBody>
                        <a:bodyPr/>
                        <a:lstStyle/>
                        <a:p>
                          <a:pPr marL="0" indent="0" algn="ctr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对定律的</a:t>
                          </a:r>
                        </a:p>
                        <a:p>
                          <a:pPr marL="0" lvl="0" indent="0"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理解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成立条件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在弹性限度内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74344"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9091" t="-51875" r="-599567" b="-656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弹簧长度的改变量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是相对弹簧原长的形变量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而不是弹簧的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长度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92633"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9091" t="-300000" r="-599567" b="-296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4924" t="-300000" r="-145" b="-296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P_6_BD#ccafe62de?colgroup=4,4,27&amp;vcp=1&amp;pid=3af23a064&amp;color=0,0,0&amp;mp=1&amp;vtp=1&amp;bt=1&amp;bbb=1">
            <a:extLst>
              <a:ext uri="{FF2B5EF4-FFF2-40B4-BE49-F238E27FC236}">
                <a16:creationId xmlns:a16="http://schemas.microsoft.com/office/drawing/2014/main" id="{E09EAC0B-A0E1-9FC7-D97B-9BC3F77391BF}"/>
              </a:ext>
            </a:extLst>
          </p:cNvPr>
          <p:cNvSpPr txBox="1"/>
          <p:nvPr/>
        </p:nvSpPr>
        <p:spPr>
          <a:xfrm>
            <a:off x="11143632" y="2132393"/>
            <a:ext cx="615553" cy="50321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r">
              <a:lnSpc>
                <a:spcPts val="4300"/>
              </a:lnSpc>
            </a:pPr>
            <a:r>
              <a:rPr lang="zh-CN" altLang="en-US" sz="2400">
                <a:latin typeface="Times New Roman" panose="02020603050405020304" pitchFamily="18" charset="0"/>
              </a:rPr>
              <a:t>续表</a:t>
            </a:r>
          </a:p>
        </p:txBody>
      </p:sp>
    </p:spTree>
  </p:cSld>
  <p:clrMapOvr>
    <a:masterClrMapping/>
  </p:clrMapOvr>
  <p:transition>
    <p:split dir="in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&amp;si=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6_BD.18_1#e0faab6ed?vcp=1&amp;pid=3af23a064&amp;color=0,0,0&amp;vtp=1&amp;bt=1&amp;bbb=1&amp;hb=1"/>
              <p:cNvSpPr/>
              <p:nvPr/>
            </p:nvSpPr>
            <p:spPr>
              <a:xfrm>
                <a:off x="393192" y="1002189"/>
                <a:ext cx="11402568" cy="27097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考题4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（2026·湖北黄石二中教学检测）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三个木块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𝑏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𝑐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和两个劲度系数均为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cm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的相同轻弹簧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𝑝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𝑞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间的连接如图所示，其中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𝑏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𝑐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质量均为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kg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放在足够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大的光滑水平桌面上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.开始时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𝑝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弹簧处于原长，木块都静止.现用水平力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缓慢地向左拉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𝑝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0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弹簧的左端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，直到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𝑐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木块刚好离开水平地面，已知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𝑞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弹簧始终沿竖直方向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，重力加速度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取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下列说法正确的是(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6_BD.18_1#e0faab6ed?vcp=1&amp;pid=3af23a064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002189"/>
                <a:ext cx="11402568" cy="2709799"/>
              </a:xfrm>
              <a:prstGeom prst="rect">
                <a:avLst/>
              </a:prstGeom>
              <a:blipFill>
                <a:blip r:embed="rId3"/>
                <a:stretch>
                  <a:fillRect l="-1658" r="-695" b="-674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6_AN.19_1#e0faab6ed.bracket?vcp=1&amp;pid=3af23a064&amp;color=0,0,0&amp;vpa=7&amp;vtp=1"/>
          <p:cNvSpPr/>
          <p:nvPr/>
        </p:nvSpPr>
        <p:spPr>
          <a:xfrm>
            <a:off x="4725193" y="3225959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endParaRPr lang="en-US" altLang="zh-CN" sz="2400" dirty="0"/>
          </a:p>
        </p:txBody>
      </p:sp>
      <p:pic>
        <p:nvPicPr>
          <p:cNvPr id="4" name="QC_6_BD.18_2#e0faab6ed?htil=5&amp;vcp=1&amp;pid=3af23a064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463561" y="3742848"/>
            <a:ext cx="2414016" cy="1901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6_BD.18_3#e0faab6ed.choices?htil=5&amp;vcp=1&amp;pid=3af23a064&amp;color=0,0,0&amp;vtp=1&amp;bbb=1"/>
              <p:cNvSpPr/>
              <p:nvPr/>
            </p:nvSpPr>
            <p:spPr>
              <a:xfrm>
                <a:off x="393192" y="3687984"/>
                <a:ext cx="8851392" cy="215830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𝑞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弹簧上端向上移动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cm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𝑝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弹簧的左端向左移动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cm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𝑞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弹簧上端向上移动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cm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𝑝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弹簧的左端向左移动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cm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𝑞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弹簧上端向上移动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cm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𝑝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弹簧的左端向左移动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8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cm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𝑞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弹簧上端向上移动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cm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𝑝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弹簧的左端向左移动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6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cm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6_BD.18_3#e0faab6ed.choices?htil=5&amp;vcp=1&amp;pid=3af23a064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687984"/>
                <a:ext cx="8851392" cy="2158302"/>
              </a:xfrm>
              <a:prstGeom prst="rect">
                <a:avLst/>
              </a:prstGeom>
              <a:blipFill>
                <a:blip r:embed="rId5"/>
                <a:stretch>
                  <a:fillRect l="-2135" b="-84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&amp;si=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6_AS.20_1#e0faab6ed?vcp=1&amp;pid=3af23a064&amp;color=0,0,0&amp;vtp=1&amp;bt=1&amp;bbb=1&amp;hb=1"/>
              <p:cNvSpPr/>
              <p:nvPr/>
            </p:nvSpPr>
            <p:spPr>
              <a:xfrm>
                <a:off x="393192" y="504000"/>
                <a:ext cx="11402568" cy="418382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37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开始时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𝒑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弹簧处于原长，细线上没有拉力，可知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𝒒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弹簧处于压缩状态，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𝒒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弹簧的</a:t>
                </a:r>
              </a:p>
              <a:p>
                <a:pPr latinLnBrk="1">
                  <a:lnSpc>
                    <a:spcPts val="37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弹力大小等于木块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𝒃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的重力大小，由胡克定律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𝒌𝒙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𝒒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弹簧的压缩量为</a:t>
                </a:r>
              </a:p>
              <a:p>
                <a:pPr latinLnBrk="1">
                  <a:lnSpc>
                    <a:spcPts val="49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𝒃</m:t>
                            </m:r>
                          </m:sub>
                        </m:s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𝒈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𝒌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𝒄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木块刚好离开水平地面时，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𝒒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弹簧处于拉伸状态，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𝒒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弹簧的弹力大小</a:t>
                </a:r>
              </a:p>
              <a:p>
                <a:pPr latinLnBrk="1">
                  <a:lnSpc>
                    <a:spcPts val="49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等于木块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𝒄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的重力大小，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𝒒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弹簧的伸长量为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𝒄</m:t>
                            </m:r>
                          </m:sub>
                        </m:s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𝒈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𝒌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;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𝒃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𝒄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整体为研究对象，</a:t>
                </a:r>
              </a:p>
              <a:p>
                <a:pPr latinLnBrk="1">
                  <a:lnSpc>
                    <a:spcPts val="37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细线上的拉力大小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𝑻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𝒃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𝒄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；以木块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为研究对象，可知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𝒑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弹簧的弹力大小等</a:t>
                </a:r>
              </a:p>
              <a:p>
                <a:pPr latinLnBrk="1">
                  <a:lnSpc>
                    <a:spcPts val="51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于细线的拉力大小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𝒑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弹簧的伸长量为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𝒃</m:t>
                            </m:r>
                          </m:sub>
                        </m:s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𝒈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𝒄</m:t>
                            </m:r>
                          </m:sub>
                        </m:s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𝒈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𝒌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.综上可知，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𝒒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弹簧上端</a:t>
                </a:r>
              </a:p>
              <a:p>
                <a:pPr latinLnBrk="1">
                  <a:lnSpc>
                    <a:spcPts val="37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向上移动的距离为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𝒑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弹簧左端向左移动的距离为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𝟖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 </a:t>
                </a:r>
              </a:p>
              <a:p>
                <a:pPr latinLnBrk="1">
                  <a:lnSpc>
                    <a:spcPts val="35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正确,A、B、D错误.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6_AS.20_1#e0faab6ed?vcp=1&amp;pid=3af23a064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04000"/>
                <a:ext cx="11402568" cy="4183825"/>
              </a:xfrm>
              <a:prstGeom prst="rect">
                <a:avLst/>
              </a:prstGeom>
              <a:blipFill>
                <a:blip r:embed="rId3"/>
                <a:stretch>
                  <a:fillRect l="-1658" t="-875" r="-1658" b="-422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QC_6_AS.20_3#e0faab6ed?htil=1&amp;vcp=1&amp;pid=3af23a064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47088" y="4795584"/>
            <a:ext cx="2788920" cy="1517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4" name="QC_6_AS.20_4#e0faab6ed?htil=1&amp;vcp=1&amp;pid=3af23a064&amp;color=0,0,0&amp;tib=255,255,255&amp;vtp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415784" y="4777296"/>
            <a:ext cx="3063240" cy="1536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&amp;si=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6_BD.21_1#a512a3586?htil=7&amp;vcp=1&amp;pid=3af23a064&amp;color=0,0,0&amp;tib=255,255,255&amp;vtp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921519" y="696214"/>
            <a:ext cx="841248" cy="1874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C_6_BD.21_2#a512a3586?htil=7&amp;vcp=1&amp;pid=3af23a064&amp;color=0,0,0&amp;vtp=1&amp;bt=1&amp;bbb=1&amp;hb=1&amp;hs=1"/>
              <p:cNvSpPr/>
              <p:nvPr/>
            </p:nvSpPr>
            <p:spPr>
              <a:xfrm>
                <a:off x="393192" y="650495"/>
                <a:ext cx="10424160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变式4-1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𝑆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𝑆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分别表示劲度系数为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𝑘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𝑘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的两根轻弹簧，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𝑘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𝑘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𝑏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表示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质量分别为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的两个小物体，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𝑎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，将弹簧与物体按图示方式悬挂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起来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，现要求两根弹簧的总长度最大，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则应使(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C_6_BD.21_2#a512a3586?htil=7&amp;vcp=1&amp;pid=3af23a064&amp;color=0,0,0&amp;vtp=1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650495"/>
                <a:ext cx="10424160" cy="1592199"/>
              </a:xfrm>
              <a:prstGeom prst="rect">
                <a:avLst/>
              </a:prstGeom>
              <a:blipFill>
                <a:blip r:embed="rId4"/>
                <a:stretch>
                  <a:fillRect l="-1813" r="-1754" b="-1149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QC_6_AN.22_1#a512a3586.bracket?vcp=1&amp;pid=3af23a064&amp;color=0,0,0&amp;vpa=8&amp;vtp=1"/>
          <p:cNvSpPr/>
          <p:nvPr/>
        </p:nvSpPr>
        <p:spPr>
          <a:xfrm>
            <a:off x="6721761" y="1756665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6_BD.21_3#a512a3586.choices?htil=7&amp;vcp=1&amp;pid=3af23a064&amp;color=0,0,0&amp;vtp=1&amp;bbb=1&amp;hs=1"/>
              <p:cNvSpPr/>
              <p:nvPr/>
            </p:nvSpPr>
            <p:spPr>
              <a:xfrm>
                <a:off x="393192" y="2300032"/>
                <a:ext cx="10424160" cy="48412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300"/>
                  </a:lnSpc>
                  <a:tabLst>
                    <a:tab pos="2675890" algn="l"/>
                    <a:tab pos="5313680" algn="l"/>
                    <a:tab pos="7964170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𝑆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在上，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在上</a:t>
                </a:r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𝑆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在上，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𝑏</m:t>
                    </m:r>
                  </m:oMath>
                </a14:m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在上</a:t>
                </a:r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𝑆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在上，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在上</a:t>
                </a:r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𝑆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在上，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𝑏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在上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6_BD.21_3#a512a3586.choices?htil=7&amp;vcp=1&amp;pid=3af23a064&amp;color=0,0,0&amp;vtp=1&amp;bb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300032"/>
                <a:ext cx="10424160" cy="484124"/>
              </a:xfrm>
              <a:prstGeom prst="rect">
                <a:avLst/>
              </a:prstGeom>
              <a:blipFill>
                <a:blip r:embed="rId5"/>
                <a:stretch>
                  <a:fillRect l="-1813" r="-58" b="-3750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QC_6_AS.23_1#a512a3586?vcp=1&amp;pid=3af23a064&amp;color=0,0,0&amp;vtp=1&amp;bbb=1&amp;hb=1&amp;hs=1"/>
              <p:cNvSpPr/>
              <p:nvPr/>
            </p:nvSpPr>
            <p:spPr>
              <a:xfrm>
                <a:off x="393192" y="2788285"/>
                <a:ext cx="11402568" cy="3427286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先对下面的物体进行受力分析，其受重力和下面的弹簧的拉力而平衡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，即下面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的弹簧的弹力等于下面物体的重力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𝒌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下</m:t>
                        </m:r>
                      </m:sub>
                    </m:sSub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下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下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，再对两个物体和下面弹簧的整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体进行受力分析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，受到两个物体的总重力和上面弹簧的拉力，根据平衡条件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，有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𝒌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上</m:t>
                        </m:r>
                      </m:sub>
                    </m:sSub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上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=(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𝒃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,弹簧总长度为</a:t>
                </a:r>
              </a:p>
              <a:p>
                <a:pPr latinLnBrk="1">
                  <a:lnSpc>
                    <a:spcPts val="5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𝑳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𝑳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𝑳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𝒃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上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下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𝑳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𝑳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𝒃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𝒂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𝒃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𝒈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𝒌</m:t>
                            </m:r>
                          </m:e>
                          <m:sub>
                            <m:r>
                              <a:rPr lang="en-US" altLang="zh-CN" sz="2400" b="1" baseline="-100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上</m:t>
                            </m:r>
                          </m:sub>
                        </m:sSub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400" b="1" baseline="-100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下</m:t>
                            </m:r>
                          </m:sub>
                        </m:s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𝒈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𝒌</m:t>
                            </m:r>
                          </m:e>
                          <m:sub>
                            <m:r>
                              <a:rPr lang="en-US" altLang="zh-CN" sz="2400" b="1" baseline="-100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下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，要使总长度最大，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𝒌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上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要取较小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𝒌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下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要取较大值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𝑺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在上，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𝒃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在上，D正确.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6" name="QC_6_AS.23_1#a512a3586?vcp=1&amp;pid=3af23a064&amp;color=0,0,0&amp;vtp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788285"/>
                <a:ext cx="11402568" cy="3427286"/>
              </a:xfrm>
              <a:prstGeom prst="rect">
                <a:avLst/>
              </a:prstGeom>
              <a:blipFill>
                <a:blip r:embed="rId6"/>
                <a:stretch>
                  <a:fillRect l="-1658" r="-1123" b="-4973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6" grpId="0" build="p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&amp;si=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P_6_BD#178a6b478?vcp=1&amp;pid=3af23a064&amp;color=0,0,0&amp;vtp=1&amp;bt=1&amp;bbb=1&amp;hb=1"/>
              <p:cNvSpPr/>
              <p:nvPr/>
            </p:nvSpPr>
            <p:spPr>
              <a:xfrm>
                <a:off x="393192" y="2052606"/>
                <a:ext cx="11402568" cy="2735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名师点拨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.根据胡克定律可作出弹力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与形变量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的关系图像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，是一条通过坐标原点的倾斜</a:t>
                </a:r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直线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，其斜率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Δ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Δ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den>
                    </m:f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反映了劲度系数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𝑘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的大小.故可得出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𝑘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.其他的弹性体如橡皮筋等，也可应用胡克定律得到其产生的弹力大小.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.物理实验中常使用的弹簧测力计的制作原理就应用了胡克定律.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P_6_BD#178a6b478?vcp=1&amp;pid=3af23a064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052606"/>
                <a:ext cx="11402568" cy="2735199"/>
              </a:xfrm>
              <a:prstGeom prst="rect">
                <a:avLst/>
              </a:prstGeom>
              <a:blipFill>
                <a:blip r:embed="rId3"/>
                <a:stretch>
                  <a:fillRect l="-1658" r="-428" b="-669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&amp;si=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6_BD#178a6b478?vcp=1&amp;pid=3af23a064&amp;color=0,0,0&amp;vtp=1&amp;bt=1&amp;bbb=1&amp;hb=1"/>
          <p:cNvSpPr/>
          <p:nvPr/>
        </p:nvSpPr>
        <p:spPr>
          <a:xfrm>
            <a:off x="393192" y="1519015"/>
            <a:ext cx="11402568" cy="3831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特别说明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.仅仅根据弹簧弹力大小的变化无法确定弹簧长度的变化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，不能说弹簧弹力增大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时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，弹簧就变长.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.弹簧的弹力方向指向弹簧恢复原状的方向.弹簧伸长时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，弹簧弹力的方向沿弹簧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的轴线向内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；弹簧压缩时，弹簧弹力的方向沿弹簧的轴线向外.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3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.弹簧测力计的示数等于作用在弹簧测力计挂钩上的拉力大小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，与弹簧测力计另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一端的受力情况无关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&amp;si=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P_6_BD#178a6b478?vcp=1&amp;pid=3af23a064&amp;color=0,0,0&amp;vtp=1&amp;bt=1&amp;bbb=1&amp;hb=1"/>
              <p:cNvSpPr/>
              <p:nvPr/>
            </p:nvSpPr>
            <p:spPr>
              <a:xfrm>
                <a:off x="393192" y="504000"/>
                <a:ext cx="11402568" cy="5584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000"/>
                  </a:lnSpc>
                </a:pP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拓展延伸</a:t>
                </a:r>
                <a:endParaRPr lang="en-US" altLang="zh-CN" sz="2400" dirty="0"/>
              </a:p>
              <a:p>
                <a:pPr latinLnBrk="1">
                  <a:lnSpc>
                    <a:spcPts val="40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.多根弹簧首尾串联时，其劲度系数将小于任意一根的劲度系数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，若两根弹簧劲</a:t>
                </a:r>
              </a:p>
              <a:p>
                <a:pPr latinLnBrk="1">
                  <a:lnSpc>
                    <a:spcPts val="45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度系数分别为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𝑘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𝑘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，则其串联后的劲度系数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𝑘</m:t>
                        </m:r>
                      </m:e>
                      <m:sub>
                        <m:r>
                          <a:rPr lang="en-US" altLang="zh-CN" sz="2400" baseline="-10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串联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,特别地，当劲度系数均为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𝑘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0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0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𝑛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根弹簧串联时，串联弹簧的劲度系数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𝑘</m:t>
                        </m:r>
                      </m:e>
                      <m:sub>
                        <m:r>
                          <a:rPr lang="en-US" altLang="zh-CN" sz="2400" baseline="-10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串联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𝑘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0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.多根弹簧并联使用时，在弹性限度内，若各弹簧的伸长量相等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，则并联后新弹</a:t>
                </a:r>
              </a:p>
              <a:p>
                <a:pPr latinLnBrk="1">
                  <a:lnSpc>
                    <a:spcPts val="40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簧的劲度系数为各弹簧的劲度系数之和.</a:t>
                </a:r>
              </a:p>
              <a:p>
                <a:pPr marL="0" marR="0" lvl="0" indent="0" defTabSz="914400" rtl="0" eaLnBrk="1" fontAlgn="auto" latinLnBrk="1" hangingPunct="1">
                  <a:lnSpc>
                    <a:spcPts val="4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易错警示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endParaRPr>
              </a:p>
              <a:p>
                <a:pPr marL="0" marR="0" lvl="0" indent="0" defTabSz="914400" rtl="0" eaLnBrk="1" fontAlgn="auto" latinLnBrk="1" hangingPunct="1">
                  <a:lnSpc>
                    <a:spcPts val="4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本题中</a:t>
                </a:r>
                <a14:m>
                  <m:oMath xmlns:m="http://schemas.openxmlformats.org/officeDocument/2006/math"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𝑝</m:t>
                    </m:r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弹簧的左端向左移动的距离等于</a:t>
                </a:r>
                <a14:m>
                  <m:oMath xmlns:m="http://schemas.openxmlformats.org/officeDocument/2006/math"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𝑝</m:t>
                    </m:r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弹簧与</a:t>
                </a:r>
                <a14:m>
                  <m:oMath xmlns:m="http://schemas.openxmlformats.org/officeDocument/2006/math"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𝑞</m:t>
                    </m:r>
                  </m:oMath>
                </a14:m>
                <a:r>
                  <a:rPr kumimoji="0" lang="en-US" altLang="zh-CN" sz="100" b="0" i="0" u="none" strike="noStrike" kern="0" cap="none" spc="-9990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弹簧长度的改变量之和</a:t>
                </a: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,容易出</a:t>
                </a:r>
              </a:p>
              <a:p>
                <a:pPr marL="0" marR="0" lvl="0" indent="0" defTabSz="914400" rtl="0" eaLnBrk="1" fontAlgn="auto" latinLnBrk="1" hangingPunct="1">
                  <a:lnSpc>
                    <a:spcPts val="4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现的错误是只考虑了其中一根弹簧长度发生变化，忽略了另一根弹簧长度发生变化也</a:t>
                </a:r>
              </a:p>
              <a:p>
                <a:pPr marL="0" marR="0" lvl="0" indent="0" defTabSz="914400" rtl="0" eaLnBrk="1" fontAlgn="auto" latinLnBrk="1" hangingPunct="1">
                  <a:lnSpc>
                    <a:spcPts val="4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会导致</a:t>
                </a:r>
                <a14:m>
                  <m:oMath xmlns:m="http://schemas.openxmlformats.org/officeDocument/2006/math"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𝑝</m:t>
                    </m:r>
                  </m:oMath>
                </a14:m>
                <a:r>
                  <a:rPr kumimoji="0" lang="en-US" altLang="zh-CN" sz="100" b="0" i="0" u="none" strike="noStrike" kern="0" cap="none" spc="-9990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弹簧的左端向左移动，从而错选B.在解此类问题时，要注意考虑全面</a:t>
                </a: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，必要</a:t>
                </a:r>
              </a:p>
              <a:p>
                <a:pPr marL="0" marR="0" lvl="0" indent="0" defTabSz="914400" rtl="0" eaLnBrk="1" fontAlgn="auto" latinLnBrk="1" hangingPunct="1">
                  <a:lnSpc>
                    <a:spcPts val="38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时可以画图帮助理清过程.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P_6_BD#178a6b478?vcp=1&amp;pid=3af23a064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04000"/>
                <a:ext cx="11402568" cy="5584000"/>
              </a:xfrm>
              <a:prstGeom prst="rect">
                <a:avLst/>
              </a:prstGeom>
              <a:blipFill>
                <a:blip r:embed="rId3"/>
                <a:stretch>
                  <a:fillRect l="-1658" t="-109" r="-535" b="-316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&amp;si=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theme/theme1.xml><?xml version="1.0" encoding="utf-8"?>
<a:theme xmlns:a="http://schemas.openxmlformats.org/drawingml/2006/mai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1548</Words>
  <Application>Microsoft Office PowerPoint</Application>
  <PresentationFormat>宽屏</PresentationFormat>
  <Paragraphs>323</Paragraphs>
  <Slides>35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4" baseType="lpstr">
      <vt:lpstr>SimHei</vt:lpstr>
      <vt:lpstr>KaiTi</vt:lpstr>
      <vt:lpstr>SimSun</vt:lpstr>
      <vt:lpstr>微软雅黑</vt:lpstr>
      <vt:lpstr>Arial</vt:lpstr>
      <vt:lpstr>Calibri</vt:lpstr>
      <vt:lpstr>Cambria Math</vt:lpstr>
      <vt:lpstr>Times New Roman</vt:lpstr>
      <vt:lpstr/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Administrator</cp:lastModifiedBy>
  <cp:revision>2</cp:revision>
  <dcterms:created xsi:type="dcterms:W3CDTF">2026-05-25T08:04:15Z</dcterms:created>
  <dcterms:modified xsi:type="dcterms:W3CDTF">2026-05-25T08:06:00Z</dcterms:modified>
  <cp:category/>
  <cp:contentStatus/>
</cp:coreProperties>
</file>