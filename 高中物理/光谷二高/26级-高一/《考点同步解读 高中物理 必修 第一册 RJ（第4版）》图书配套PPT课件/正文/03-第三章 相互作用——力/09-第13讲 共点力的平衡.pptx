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0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8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c766da8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第13讲 共点力的平衡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c766da810.fixed?vcp=1&amp;pid=46eb467af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c766da810.fixed?vcp=1&amp;pid=46eb467af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第13讲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共点力的平衡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c766da810?lid=0a85c4c04&amp;cid=0a85c4c04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c766da810?lid=c387b3435&amp;cid=c387b3435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0a85c4c04?vcp=1&amp;pid=c766da810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97ce29bf5?colgroup=14,4,16&amp;vcp=1&amp;pid=0a85c4c04&amp;color=0,0,0&amp;vtp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661240"/>
              </p:ext>
            </p:extLst>
          </p:nvPr>
        </p:nvGraphicFramePr>
        <p:xfrm>
          <a:off x="393192" y="1181100"/>
          <a:ext cx="11400547" cy="2607564"/>
        </p:xfrm>
        <a:graphic>
          <a:graphicData uri="http://schemas.openxmlformats.org/drawingml/2006/table">
            <a:tbl>
              <a:tblPr/>
              <a:tblGrid>
                <a:gridCol w="4692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0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1.平衡状态及其判定.（★）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166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2.共点力的平衡条件.（★★）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3.平衡处理方法.（★★）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4.常见平衡模型.（★★）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_4_BD#97ce29bf5.table_image?tii=1&amp;vcp=1&amp;pid=0a85c4c0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73252" y="1714754"/>
            <a:ext cx="4133088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c387b3435?vcp=1&amp;pid=c766da810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05b7d447e?vcp=1&amp;pid=c387b3435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05b7d447e?vcp=1&amp;pid=c387b3435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05b7d447e?vcp=1&amp;pid=c387b3435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共点力及平衡状态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5_BD#a38a87a32?vcp=1&amp;pid=05b7d447e&amp;color=0,0,0&amp;vtp=1&amp;bbb=1&amp;hb=1"/>
              <p:cNvSpPr/>
              <p:nvPr/>
            </p:nvSpPr>
            <p:spPr>
              <a:xfrm>
                <a:off x="393192" y="1778000"/>
                <a:ext cx="11402568" cy="3856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.平衡状态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物体受到几个力作用时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，保持静止或匀速直线运动的状态.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.对“平衡状态”的理解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不管是静止还是匀速直线运动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，速度保持不变，所以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.正确区分“静止”和“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”：物体处于静止状态时，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是平衡状态；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时，不一定处于平衡状态.比如竖直上抛至最高点时就不是平衡状态.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5_BD#a38a87a32?vcp=1&amp;pid=05b7d447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3856800"/>
              </a:xfrm>
              <a:prstGeom prst="rect">
                <a:avLst/>
              </a:prstGeom>
              <a:blipFill>
                <a:blip r:embed="rId5"/>
                <a:stretch>
                  <a:fillRect l="-1658" r="-2674" b="-47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1_1#6ba56f695?vcp=1&amp;pid=05b7d447e&amp;color=0,0,0&amp;vtp=1&amp;bt=1&amp;bbb=1"/>
          <p:cNvSpPr/>
          <p:nvPr/>
        </p:nvSpPr>
        <p:spPr>
          <a:xfrm>
            <a:off x="393192" y="68961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物体受到共点力的作用，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_1#6ba56f695.bracket?vcp=1&amp;pid=05b7d447e&amp;color=0,0,0&amp;vpa=1&amp;vtp=1"/>
          <p:cNvSpPr/>
          <p:nvPr/>
        </p:nvSpPr>
        <p:spPr>
          <a:xfrm>
            <a:off x="7332948" y="687705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5_BD.1_2#6ba56f695.choices?vcp=1&amp;pid=05b7d447e&amp;color=0,0,0&amp;vtp=1&amp;bbb=1"/>
          <p:cNvSpPr/>
          <p:nvPr/>
        </p:nvSpPr>
        <p:spPr>
          <a:xfrm>
            <a:off x="393192" y="1237995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A.速度在某一时刻等于0的物体一定处于平衡状态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.相对于另一物体保持静止的物体一定处于平衡状态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.物体所受合力为0时，一定处于平衡状态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.物体运动时若速率不变，一定处于平衡状态</a:t>
            </a:r>
            <a:endParaRPr lang="en-US" altLang="zh-CN" sz="2400" dirty="0"/>
          </a:p>
        </p:txBody>
      </p:sp>
      <p:sp>
        <p:nvSpPr>
          <p:cNvPr id="5" name="QC_5_AS.3_1#6ba56f695?vcp=1&amp;pid=05b7d447e&amp;color=0,0,0&amp;vtp=1&amp;bbb=1&amp;hb=1"/>
          <p:cNvSpPr/>
          <p:nvPr/>
        </p:nvSpPr>
        <p:spPr>
          <a:xfrm>
            <a:off x="393192" y="3443794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某一时刻速度为0的物体，所受合力不一定为0，故不一定处于平衡状态，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A错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；若物体相对于另一物体静止时，若另一物体做变速运动，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该物体也做变速运动，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不处于平衡状态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，故B错误；处于平衡状态的物体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，在运动形式上处于静止状态或匀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速直线运动状态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，从受力上来看，物体所受合力为0，C正确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；物体运动速度大小不变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但方向变化时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，所受合力不为0，故不处于平衡状态，D错误.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4_1#802b0e631?vcp=1&amp;pid=05b7d447e&amp;color=0,0,0&amp;vtp=1&amp;bt=1&amp;bbb=1"/>
          <p:cNvSpPr/>
          <p:nvPr/>
        </p:nvSpPr>
        <p:spPr>
          <a:xfrm>
            <a:off x="393192" y="263017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变式1-1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下列物体处于平衡状态的是(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5_1#802b0e631.bracket?vcp=1&amp;pid=05b7d447e&amp;color=0,0,0&amp;vpa=2&amp;vtp=1"/>
          <p:cNvSpPr/>
          <p:nvPr/>
        </p:nvSpPr>
        <p:spPr>
          <a:xfrm>
            <a:off x="5453349" y="2628265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4" name="QC_5_BD.4_2#802b0e631.choices?vcp=1&amp;pid=05b7d447e&amp;color=0,0,0&amp;vtp=1&amp;bbb=1"/>
          <p:cNvSpPr/>
          <p:nvPr/>
        </p:nvSpPr>
        <p:spPr>
          <a:xfrm>
            <a:off x="393192" y="3178556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.静止在水平面上的杯子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.做竖直上抛运动的小球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C.做自由落体运动的石块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.沿斜面加速下滑的石块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#80cdd8234?vcp=1&amp;pid=05b7d447e&amp;color=0,0,0&amp;vtp=1&amp;bt=1&amp;bbb=1&amp;hb=1"/>
          <p:cNvSpPr/>
          <p:nvPr/>
        </p:nvSpPr>
        <p:spPr>
          <a:xfrm>
            <a:off x="393192" y="504000"/>
            <a:ext cx="11402568" cy="3231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37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可视为共点力的几种情况</a:t>
            </a:r>
            <a:endParaRPr lang="en-US" altLang="zh-CN" sz="2400" dirty="0"/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.几个力同时作用于同一点（力的作用点相重合）,如图甲所示.</a:t>
            </a:r>
            <a:endParaRPr lang="en-US" altLang="zh-CN" sz="2400" dirty="0"/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.同时作用在同一物体上的几个力,虽然作用点并不重合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,但是这几个力的作用线的</a:t>
            </a:r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正向或反向延长线能够相交于同一点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,如图乙所示.</a:t>
            </a:r>
            <a:endParaRPr lang="en-US" altLang="zh-CN" sz="2400" dirty="0"/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.当一个物体可以被视为质点时,作用在物体上的几个力就可以认为是共点力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,如图</a:t>
            </a:r>
          </a:p>
          <a:p>
            <a:pPr latinLnBrk="1">
              <a:lnSpc>
                <a:spcPts val="35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丙所示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pic>
        <p:nvPicPr>
          <p:cNvPr id="3" name="P_5_BD#80cdd8234?htil=1&amp;vcp=1&amp;pid=05b7d447e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7360" y="4711764"/>
            <a:ext cx="3026664" cy="154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5_BD#80cdd8234?htil=1&amp;vcp=1&amp;pid=05b7d447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17536" y="3824796"/>
            <a:ext cx="2459736" cy="242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c4c4e7c72?vcp=1&amp;pid=c387b343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c4c4e7c72?vcp=1&amp;pid=c387b343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c4c4e7c72?vcp=1&amp;pid=c387b3435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共点力的平衡条件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54884fa04?vcp=1&amp;pid=c4c4e7c72&amp;color=0,0,0&amp;vtp=1&amp;bbb=1&amp;hb=1"/>
              <p:cNvSpPr/>
              <p:nvPr/>
            </p:nvSpPr>
            <p:spPr>
              <a:xfrm>
                <a:off x="393192" y="1092200"/>
                <a:ext cx="11402568" cy="48888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.共点力平衡的条件</a:t>
                </a:r>
                <a:endParaRPr lang="en-US" altLang="zh-CN" sz="2400" dirty="0"/>
              </a:p>
              <a:p>
                <a:pPr latinLnBrk="1">
                  <a:lnSpc>
                    <a:spcPts val="83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eqArrPr>
                          <m:e>
                            <m:r>
                              <a:rPr lang="en-US" altLang="zh-CN" sz="2400" b="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aseline="-10000">
                                    <a:solidFill>
                                      <a:srgbClr val="000000"/>
                                    </a:solidFill>
                                  </a:rPr>
                                  <m:t>合</m:t>
                                </m:r>
                              </m:sub>
                            </m:s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=0,</m:t>
                            </m:r>
                          </m:e>
                          <m:e>
                            <m:r>
                              <a:rPr lang="en-US" altLang="zh-CN" sz="2400" b="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𝑦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aseline="-10000">
                                    <a:solidFill>
                                      <a:srgbClr val="000000"/>
                                    </a:solidFill>
                                  </a:rPr>
                                  <m:t>合</m:t>
                                </m:r>
                              </m:sub>
                            </m:s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=0,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合是将物体所受到的力进行正交分解后物体分别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𝑦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轴上所受的合力.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.共点力平衡的条件的推论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推论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(1)：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“等值反向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”原理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若物体受到几个力作用处于平衡状态时，其中任意一个力与其余力的合力构成一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对平衡力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，即任意一个力与其余力的合力大小相等、方向相反.</a:t>
                </a:r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#1.2.1.1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54884fa04?vcp=1&amp;pid=c4c4e7c7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4888802"/>
              </a:xfrm>
              <a:prstGeom prst="rect">
                <a:avLst/>
              </a:prstGeom>
              <a:blipFill>
                <a:blip r:embed="rId4"/>
                <a:stretch>
                  <a:fillRect l="-1658" r="-588" b="-38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54884fa04?vcp=1&amp;pid=c4c4e7c72&amp;color=0,0,0&amp;mp=1&amp;vtp=1&amp;bt=1&amp;bbb=1&amp;hb=1"/>
              <p:cNvSpPr/>
              <p:nvPr/>
            </p:nvSpPr>
            <p:spPr>
              <a:xfrm>
                <a:off x="393192" y="973487"/>
                <a:ext cx="11402568" cy="4952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推论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(2)：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“闭合多边形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”原理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当物体受到几个力达到平衡时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，若顺次平移这些力的作用线，使其首尾相接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必构成一个封闭的多边形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.常见情形是当物体受三个力平衡时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，将表示这三个力的有向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线段依次首尾相连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，则会构成一个矢量三角形，表示合力为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推论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(3)：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“三力平衡汇交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”原理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当物体受到三个力作用而达到平衡时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，这三个力必在同一平面内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，且三个力的作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用线或作用线的延长线必相交于一点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，这就是“三力平衡汇交”原理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.当物体在三个力作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用下处于平衡状态时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，有两个力的作用线相交于一点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，那么第三个力的作用线必定也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经过这一点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#1.2.3.1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54884fa04?vcp=1&amp;pid=c4c4e7c72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73487"/>
                <a:ext cx="11402568" cy="4952302"/>
              </a:xfrm>
              <a:prstGeom prst="rect">
                <a:avLst/>
              </a:prstGeom>
              <a:blipFill>
                <a:blip r:embed="rId3"/>
                <a:stretch>
                  <a:fillRect l="-1658" r="-1230" b="-381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6_1#457f48e03?htil=2&amp;vcp=1&amp;pid=c4c4e7c72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87916" y="850486"/>
            <a:ext cx="1444752" cy="174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6_2#457f48e03?htil=2&amp;vcp=1&amp;pid=c4c4e7c72&amp;color=0,0,0&amp;vtp=1&amp;bt=1&amp;bbb=1&amp;hb=1&amp;hs=1"/>
              <p:cNvSpPr/>
              <p:nvPr/>
            </p:nvSpPr>
            <p:spPr>
              <a:xfrm>
                <a:off x="393192" y="804768"/>
                <a:ext cx="9820656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（传统文化）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（2026·广州执信中学检测）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鞠躬，即弯腰行礼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表示对他人敬重的一种礼节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，也是我国传统的礼仪之一.如图甲所示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躬时人上身前倾一定角度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，全身保持平衡，可简化为图乙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，若头的重力为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、颈椎对头的支持力为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、颈部肌肉的拉力为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，则下列关于人头部的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受力示意图可能正确的是(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6_2#457f48e03?htil=2&amp;vcp=1&amp;pid=c4c4e7c72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04768"/>
                <a:ext cx="9820656" cy="2709799"/>
              </a:xfrm>
              <a:prstGeom prst="rect">
                <a:avLst/>
              </a:prstGeom>
              <a:blipFill>
                <a:blip r:embed="rId4"/>
                <a:stretch>
                  <a:fillRect l="-1924" r="-1179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7_1#457f48e03.bracket?vcp=1&amp;pid=c4c4e7c72&amp;color=0,0,0&amp;vpa=3&amp;vtp=1"/>
          <p:cNvSpPr/>
          <p:nvPr/>
        </p:nvSpPr>
        <p:spPr>
          <a:xfrm>
            <a:off x="3978560" y="302853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5" name="QC_5_BD.6_3#457f48e03.choices?vcp=1&amp;pid=c4c4e7c72&amp;color=0,0,0&amp;vtp=1&amp;bbb=1&amp;hs=1"/>
          <p:cNvSpPr/>
          <p:nvPr/>
        </p:nvSpPr>
        <p:spPr>
          <a:xfrm>
            <a:off x="393192" y="3617563"/>
            <a:ext cx="11402568" cy="1386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2400"/>
              </a:lnSpc>
              <a:tabLst>
                <a:tab pos="3040502" algn="l"/>
                <a:tab pos="5661904" algn="l"/>
                <a:tab pos="8740506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63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68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68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69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6" name="QC_5_BD.6_3#457f48e03.choice_image?vcp=1&amp;pid=c4c4e7c72&amp;color=0,0,0&amp;tib=255,255,255&amp;iip=1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088" y="3725830"/>
            <a:ext cx="1298448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5_BD.6_3#457f48e03.choice_image?vcp=1&amp;pid=c4c4e7c72&amp;color=0,0,0&amp;tib=255,255,255&amp;iip=2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40436" y="3634391"/>
            <a:ext cx="859536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5_BD.6_3#457f48e03.choice_image?vcp=1&amp;pid=c4c4e7c72&amp;color=0,0,0&amp;tib=255,255,255&amp;iip=3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43428" y="3734974"/>
            <a:ext cx="1353312" cy="127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QC_5_BD.6_3#457f48e03.choice_image?vcp=1&amp;pid=c4c4e7c72&amp;color=0,0,0&amp;tib=255,255,255&amp;iip=4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49150" y="3616103"/>
            <a:ext cx="1106424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10" name="QC_5_AS.8_1#457f48e03?vcp=1&amp;pid=c4c4e7c72&amp;color=0,0,0&amp;vtp=1&amp;bbb=1&amp;hb=1"/>
          <p:cNvSpPr/>
          <p:nvPr/>
        </p:nvSpPr>
        <p:spPr>
          <a:xfrm>
            <a:off x="393192" y="5012658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由共点力的平衡条件可知，三个共点力平衡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，任意两个力的合力需与第三个力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等大反向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.根据平行四边形定则，只有C选项可能满足三力平衡的条件，故选C.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10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9_1#0ef72dd4a?htil=3&amp;vcp=1&amp;pid=c4c4e7c72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83205" y="1019396"/>
            <a:ext cx="1563624" cy="211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9_2#0ef72dd4a?htil=3&amp;vcp=1&amp;pid=c4c4e7c72&amp;color=0,0,0&amp;vtp=1&amp;bt=1&amp;bbb=1&amp;hb=1&amp;hs=1"/>
              <p:cNvSpPr/>
              <p:nvPr/>
            </p:nvSpPr>
            <p:spPr>
              <a:xfrm>
                <a:off x="393192" y="973677"/>
                <a:ext cx="9701784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（2026·湖北武汉武昌区检测）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，某个物体在大小分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四个力的作用下处于静止状态，若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的方向沿逆时针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转过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而保持其大小不变，其余三个力的大小和方向均不变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，则此时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物体所受到的合力大小为(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9_2#0ef72dd4a?htil=3&amp;vcp=1&amp;pid=c4c4e7c72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73677"/>
                <a:ext cx="9701784" cy="2150999"/>
              </a:xfrm>
              <a:prstGeom prst="rect">
                <a:avLst/>
              </a:prstGeom>
              <a:blipFill>
                <a:blip r:embed="rId4"/>
                <a:stretch>
                  <a:fillRect l="-1948" r="-150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0_1#0ef72dd4a.bracket?vcp=1&amp;pid=c4c4e7c72&amp;color=0,0,0&amp;vpa=4&amp;vtp=1"/>
          <p:cNvSpPr/>
          <p:nvPr/>
        </p:nvSpPr>
        <p:spPr>
          <a:xfrm>
            <a:off x="3978560" y="263864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9_3#0ef72dd4a.choices?htil=3&amp;vcp=1&amp;pid=c4c4e7c72&amp;color=0,0,0&amp;vtp=1&amp;bbb=1&amp;hs=1"/>
              <p:cNvSpPr/>
              <p:nvPr/>
            </p:nvSpPr>
            <p:spPr>
              <a:xfrm>
                <a:off x="393192" y="3113372"/>
                <a:ext cx="9701784" cy="6217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307971" algn="l"/>
                    <a:tab pos="4857242" algn="l"/>
                    <a:tab pos="7190613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9_3#0ef72dd4a.choices?htil=3&amp;vcp=1&amp;pid=c4c4e7c72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13372"/>
                <a:ext cx="9701784" cy="621729"/>
              </a:xfrm>
              <a:prstGeom prst="rect">
                <a:avLst/>
              </a:prstGeom>
              <a:blipFill>
                <a:blip r:embed="rId5"/>
                <a:stretch>
                  <a:fillRect l="-1948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11_1#0ef72dd4a?vcp=1&amp;pid=c4c4e7c72&amp;color=0,0,0&amp;vtp=1&amp;bbb=1&amp;hb=1&amp;hs=1"/>
              <p:cNvSpPr/>
              <p:nvPr/>
            </p:nvSpPr>
            <p:spPr>
              <a:xfrm>
                <a:off x="393192" y="3744626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由共点力的平衡条件可知，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的合力应与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等大反向，当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沿逆时针转过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而保持其大小不变时，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的合力的大小仍为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与旋转后的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角，由平行四边形定则可得，此时物体所受的合力大小为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11_1#0ef72dd4a?vcp=1&amp;pid=c4c4e7c72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44626"/>
                <a:ext cx="11402568" cy="2155000"/>
              </a:xfrm>
              <a:prstGeom prst="rect">
                <a:avLst/>
              </a:prstGeom>
              <a:blipFill>
                <a:blip r:embed="rId6"/>
                <a:stretch>
                  <a:fillRect l="-1658" r="-267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a29b68c08?vcp=1&amp;pid=c4c4e7c72&amp;color=0,0,0&amp;vtp=1&amp;bt=1&amp;bbb=1&amp;hb=1"/>
          <p:cNvSpPr/>
          <p:nvPr/>
        </p:nvSpPr>
        <p:spPr>
          <a:xfrm>
            <a:off x="393192" y="683355"/>
            <a:ext cx="11402568" cy="550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.分类理解共点力平衡的条件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1）二力平衡：若物体在两个力作用下处于平衡状态，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则这两个力一定等大、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反向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、共线.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2）三力平衡：若物体在三个共点力作用下处于平衡状态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，则其中任意两个力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的合力与第三个力等大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、反向、共线.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3）多力平衡：若物体在多个共点力作用下处于平衡状态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，则其中任意一个力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与其余所有力的合力等大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、反向、共线.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.处于平衡状态的物体，在运动形式上是处于静止或匀速直线运动状态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，从受力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上来看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，物体所受的合力为0，且物体在任一方向上的合力均为0.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a29b68c08?vcp=1&amp;pid=c4c4e7c72&amp;color=0,0,0&amp;vtp=1&amp;bt=1&amp;bbb=1&amp;hb=1"/>
              <p:cNvSpPr/>
              <p:nvPr/>
            </p:nvSpPr>
            <p:spPr>
              <a:xfrm>
                <a:off x="393192" y="683355"/>
                <a:ext cx="11402568" cy="5507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概念瓣析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.处于平衡状态的物体所受的合力一定等于0.（√）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.物体处于平衡状态时，不受任何力的作用.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(×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，可以受多个力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，只需它们的合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.物体的平衡条件是：物体受的合力为0，速度为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0.(×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，速度不一定为0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.只有位于同一平面内作用于同一物体的力才是共点力.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(×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，共点力可以位于不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同平面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思路点拨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多力平衡时任意一力与其余力的合力等大反向，将该力反向后并与新力进行矢量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相加即可求出新的合力.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a29b68c08?vcp=1&amp;pid=c4c4e7c7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83355"/>
                <a:ext cx="11402568" cy="5507800"/>
              </a:xfrm>
              <a:prstGeom prst="rect">
                <a:avLst/>
              </a:prstGeom>
              <a:blipFill>
                <a:blip r:embed="rId3"/>
                <a:stretch>
                  <a:fillRect l="-1658" r="-535" b="-331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f01a1d051?vcp=1&amp;pid=c387b343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f01a1d051?vcp=1&amp;pid=c387b343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f01a1d051?vcp=1&amp;pid=c387b3435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共点力平衡的分析方法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#83e456342?vcp=1&amp;pid=f01a1d051&amp;color=0,0,0&amp;vtp=1&amp;bbb=1"/>
          <p:cNvSpPr/>
          <p:nvPr/>
        </p:nvSpPr>
        <p:spPr>
          <a:xfrm>
            <a:off x="393192" y="1092200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</p:txBody>
      </p:sp>
      <p:graphicFrame>
        <p:nvGraphicFramePr>
          <p:cNvPr id="16" name="P_5_BD#83e456342?colgroup=7,29&amp;vcp=1&amp;pid=f01a1d051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732040"/>
              </p:ext>
            </p:extLst>
          </p:nvPr>
        </p:nvGraphicFramePr>
        <p:xfrm>
          <a:off x="393192" y="1712595"/>
          <a:ext cx="11375136" cy="3415665"/>
        </p:xfrm>
        <a:graphic>
          <a:graphicData uri="http://schemas.openxmlformats.org/drawingml/2006/table">
            <a:tbl>
              <a:tblPr/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0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内容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矢量三角形法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把表示三个力的有向线段构成一个闭合的三角形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这样就把物理问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题转化为数学中的解三角形问题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合成法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物体受三个共点力的作用而平衡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其中任意两个力的合力一定与第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三个力大小相等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方向相反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作用在同一直线上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效果分解法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物体受三个共点力的作用而平衡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若将某一个力按力的效果分解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则其分力和其他两个力满足平衡条件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P_5_BD#83e456342?colgroup=7,29&amp;vcp=1&amp;pid=f01a1d051&amp;color=0,0,0&amp;mp=1&amp;vtp=1&amp;bt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848977"/>
              </p:ext>
            </p:extLst>
          </p:nvPr>
        </p:nvGraphicFramePr>
        <p:xfrm>
          <a:off x="393192" y="2282381"/>
          <a:ext cx="11375136" cy="2916809"/>
        </p:xfrm>
        <a:graphic>
          <a:graphicData uri="http://schemas.openxmlformats.org/drawingml/2006/table">
            <a:tbl>
              <a:tblPr/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0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内容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正交分解法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物体受到三个或三个以上力的作用而平衡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将物体所受的力分解为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相互垂直的两组力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每组力都满足平衡条件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983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其他方法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对受三力作用而平衡的物体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将力的矢量图平移使三力组成一个首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尾依次相接的矢量三角形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根据正弦定理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余弦定理或相似三角形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等数学知识求解未知力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P_5_BD#83e456342?colgroup=7,29&amp;vcp=1&amp;pid=f01a1d051&amp;color=0,0,0&amp;mp=1&amp;vtp=1&amp;bt=1&amp;bbb=1">
            <a:extLst>
              <a:ext uri="{FF2B5EF4-FFF2-40B4-BE49-F238E27FC236}">
                <a16:creationId xmlns:a16="http://schemas.microsoft.com/office/drawing/2014/main" id="{79E2320C-5998-E9F8-66EC-18264F54D277}"/>
              </a:ext>
            </a:extLst>
          </p:cNvPr>
          <p:cNvSpPr txBox="1"/>
          <p:nvPr/>
        </p:nvSpPr>
        <p:spPr>
          <a:xfrm>
            <a:off x="11152775" y="1656906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2_1#bd742ba71?vcp=1&amp;pid=f01a1d051&amp;color=0,0,0&amp;vtp=1&amp;bt=1&amp;bbb=1&amp;hb=1"/>
              <p:cNvSpPr/>
              <p:nvPr/>
            </p:nvSpPr>
            <p:spPr>
              <a:xfrm>
                <a:off x="393192" y="1667034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如图所示，光滑半球形容器固定在水平面上，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为球心，一质量为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的小滑块，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的作用下静止于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点.设滑块所受支持力为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与水平方向的夹角为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下列关系正确的是(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2_1#bd742ba71?vcp=1&amp;pid=f01a1d05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67034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2032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3_1#bd742ba71.bracket?vcp=1&amp;pid=f01a1d051&amp;color=0,0,0&amp;vpa=5&amp;vtp=1"/>
          <p:cNvSpPr/>
          <p:nvPr/>
        </p:nvSpPr>
        <p:spPr>
          <a:xfrm>
            <a:off x="5160105" y="2773204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5_BD.12_2#bd742ba71?vcp=1&amp;pid=f01a1d051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4648" y="3387629"/>
            <a:ext cx="1828800" cy="99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2_3#bd742ba71.choices?vcp=1&amp;pid=f01a1d051&amp;color=0,0,0&amp;vtp=1&amp;bbb=1"/>
              <p:cNvSpPr/>
              <p:nvPr/>
            </p:nvSpPr>
            <p:spPr>
              <a:xfrm>
                <a:off x="393192" y="4517929"/>
                <a:ext cx="11402568" cy="6652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700"/>
                  </a:lnSpc>
                  <a:tabLst>
                    <a:tab pos="2576952" algn="l"/>
                    <a:tab pos="5674604" algn="l"/>
                    <a:tab pos="83531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2_3#bd742ba71.choices?vcp=1&amp;pid=f01a1d05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17929"/>
                <a:ext cx="11402568" cy="665290"/>
              </a:xfrm>
              <a:prstGeom prst="rect">
                <a:avLst/>
              </a:prstGeom>
              <a:blipFill>
                <a:blip r:embed="rId5"/>
                <a:stretch>
                  <a:fillRect l="-1658" b="-1651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AS.14_1#bd742ba71?htil=4&amp;vcp=1&amp;pid=f01a1d051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74873" y="875411"/>
            <a:ext cx="4892040" cy="162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5_AS.14_2#bd742ba71?htil=4&amp;vcp=1&amp;pid=f01a1d051&amp;color=0,0,0&amp;vtp=1&amp;bt=1&amp;bbb=1&amp;hs=1"/>
          <p:cNvSpPr/>
          <p:nvPr/>
        </p:nvSpPr>
        <p:spPr>
          <a:xfrm>
            <a:off x="393192" y="829691"/>
            <a:ext cx="63733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方法一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正交分解法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AS.14_3#bd742ba71?htil=4&amp;vcp=1&amp;pid=f01a1d051&amp;color=0,0,0&amp;vtp=1&amp;bbb=1&amp;hb=1&amp;hs=1"/>
              <p:cNvSpPr/>
              <p:nvPr/>
            </p:nvSpPr>
            <p:spPr>
              <a:xfrm>
                <a:off x="393192" y="1316482"/>
                <a:ext cx="6373368" cy="15963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对小滑块进行受力分析，如图甲所示，将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别沿水平方向和竖直方向进行分解，根据平衡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条件列方程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，水平方向有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，竖直方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AS.14_3#bd742ba71?htil=4&amp;vcp=1&amp;pid=f01a1d051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16482"/>
                <a:ext cx="6373368" cy="1596390"/>
              </a:xfrm>
              <a:prstGeom prst="rect">
                <a:avLst/>
              </a:prstGeom>
              <a:blipFill>
                <a:blip r:embed="rId4"/>
                <a:stretch>
                  <a:fillRect l="-2967" r="-1053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14_3#bd742ba71?htil=4&amp;vcp=1&amp;pid=f01a1d051&amp;color=0,0,0&amp;vtp=1&amp;bbb=1&amp;hb=1&amp;hs=1">
                <a:extLst>
                  <a:ext uri="{FF2B5EF4-FFF2-40B4-BE49-F238E27FC236}">
                    <a16:creationId xmlns:a16="http://schemas.microsoft.com/office/drawing/2014/main" id="{6A88BE8A-CD0D-0CEE-F697-0ABEAF5FE64E}"/>
                  </a:ext>
                </a:extLst>
              </p:cNvPr>
              <p:cNvSpPr/>
              <p:nvPr/>
            </p:nvSpPr>
            <p:spPr>
              <a:xfrm>
                <a:off x="395996" y="2916682"/>
                <a:ext cx="11400008" cy="2832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𝐭𝐚𝐧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合成法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对小滑块进行受力分析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，如图乙所示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条件知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𝐍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𝐭𝐚𝐧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AS.14_3#bd742ba71?htil=4&amp;vcp=1&amp;pid=f01a1d051&amp;color=0,0,0&amp;vtp=1&amp;bbb=1&amp;hb=1&amp;hs=1">
                <a:extLst>
                  <a:ext uri="{FF2B5EF4-FFF2-40B4-BE49-F238E27FC236}">
                    <a16:creationId xmlns:a16="http://schemas.microsoft.com/office/drawing/2014/main" id="{6A88BE8A-CD0D-0CEE-F697-0ABEAF5FE6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916682"/>
                <a:ext cx="11400008" cy="2832100"/>
              </a:xfrm>
              <a:prstGeom prst="rect">
                <a:avLst/>
              </a:prstGeom>
              <a:blipFill>
                <a:blip r:embed="rId5"/>
                <a:stretch>
                  <a:fillRect l="-1658" b="-365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14_4#bd742ba71?vcp=1&amp;pid=f01a1d051&amp;color=0,0,0&amp;mp=1&amp;vtp=1&amp;bt=1&amp;bbb=1&amp;hb=1"/>
              <p:cNvSpPr/>
              <p:nvPr/>
            </p:nvSpPr>
            <p:spPr>
              <a:xfrm>
                <a:off x="393192" y="2538634"/>
                <a:ext cx="11402568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矢量三角形法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对小滑块进行受力分析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，如图丙所示，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小滑块受到的三个力组成闭合的矢量三角形，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解直角三角形得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𝐭𝐚𝐧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.综上所述，A正确.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14_4#bd742ba71?vcp=1&amp;pid=f01a1d051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38634"/>
                <a:ext cx="11402568" cy="1676400"/>
              </a:xfrm>
              <a:prstGeom prst="rect">
                <a:avLst/>
              </a:prstGeom>
              <a:blipFill>
                <a:blip r:embed="rId3"/>
                <a:stretch>
                  <a:fillRect l="-1658" r="-535" b="-65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5_1#00f1bab7d?htil=5&amp;vcp=1&amp;pid=f01a1d051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52174" y="837786"/>
            <a:ext cx="2185416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15_2#00f1bab7d?htil=5&amp;vcp=1&amp;pid=f01a1d051&amp;color=0,0,0&amp;vtp=1&amp;bt=1&amp;bbb=1&amp;hb=1&amp;hs=1"/>
              <p:cNvSpPr/>
              <p:nvPr/>
            </p:nvSpPr>
            <p:spPr>
              <a:xfrm>
                <a:off x="393192" y="792068"/>
                <a:ext cx="9079992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如图所示，半球形碗里有两只缓慢移动的蚂蚁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可视为质点），质量均为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点为半球形碗的球心，蚂蚁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与球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的连线与竖直方向的夹角为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15_2#00f1bab7d?htil=5&amp;vcp=1&amp;pid=f01a1d051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92068"/>
                <a:ext cx="9079992" cy="1592199"/>
              </a:xfrm>
              <a:prstGeom prst="rect">
                <a:avLst/>
              </a:prstGeom>
              <a:blipFill>
                <a:blip r:embed="rId4"/>
                <a:stretch>
                  <a:fillRect l="-2082" r="-2351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6_1#00f1bab7d.bracket?vcp=1&amp;pid=f01a1d051&amp;color=0,0,0&amp;vpa=6&amp;vtp=1"/>
          <p:cNvSpPr/>
          <p:nvPr/>
        </p:nvSpPr>
        <p:spPr>
          <a:xfrm>
            <a:off x="8678514" y="189823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5_3#00f1bab7d.choices?vcp=1&amp;pid=f01a1d051&amp;color=0,0,0&amp;vtp=1&amp;bbb=1&amp;hs=1"/>
              <p:cNvSpPr/>
              <p:nvPr/>
            </p:nvSpPr>
            <p:spPr>
              <a:xfrm>
                <a:off x="393192" y="2385663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A.蚂蚁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受到的弹力大于蚂蚁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.蚂蚁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受到的摩擦力小于蚂蚁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.蚂蚁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受到的弹力大小为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.蚂蚁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受到的摩擦力大小为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5_3#00f1bab7d.choices?vcp=1&amp;pid=f01a1d051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85663"/>
                <a:ext cx="11402568" cy="1027430"/>
              </a:xfrm>
              <a:prstGeom prst="rect">
                <a:avLst/>
              </a:prstGeom>
              <a:blipFill>
                <a:blip r:embed="rId5"/>
                <a:stretch>
                  <a:fillRect l="-1658" b="-183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5_AS.17_1#00f1bab7d?htil=6&amp;vcp=1&amp;pid=f01a1d051&amp;color=0,0,0&amp;tib=255,255,255&amp;vtp=1&amp;hs=1&amp;hs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9216" y="3480655"/>
            <a:ext cx="2048256" cy="14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AS.17_2#00f1bab7d?htil=6&amp;vcp=1&amp;pid=f01a1d051&amp;color=0,0,0&amp;vtp=1&amp;bbb=1&amp;hb=1&amp;hs=1"/>
              <p:cNvSpPr/>
              <p:nvPr/>
            </p:nvSpPr>
            <p:spPr>
              <a:xfrm>
                <a:off x="393192" y="3425793"/>
                <a:ext cx="9217152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由题意可知，蚂蚁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都受力平衡，蚂蚁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的受力情况如图所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，由平衡条件可知，蚂蚁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，受到的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静摩擦力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，故C错误，D正确；由图可知，蚂蚁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AS.17_2#00f1bab7d?htil=6&amp;vcp=1&amp;pid=f01a1d051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25793"/>
                <a:ext cx="9217152" cy="1592199"/>
              </a:xfrm>
              <a:prstGeom prst="rect">
                <a:avLst/>
              </a:prstGeom>
              <a:blipFill>
                <a:blip r:embed="rId7"/>
                <a:stretch>
                  <a:fillRect l="-2050" r="-119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5_AS.17_2#00f1bab7d?htil=6&amp;vcp=1&amp;pid=f01a1d051&amp;color=0,0,0&amp;vtp=1&amp;bbb=1&amp;hb=1&amp;hs=1">
                <a:extLst>
                  <a:ext uri="{FF2B5EF4-FFF2-40B4-BE49-F238E27FC236}">
                    <a16:creationId xmlns:a16="http://schemas.microsoft.com/office/drawing/2014/main" id="{53156F3E-2938-5B20-F76B-F45E3EBF9530}"/>
                  </a:ext>
                </a:extLst>
              </p:cNvPr>
              <p:cNvSpPr/>
              <p:nvPr/>
            </p:nvSpPr>
            <p:spPr>
              <a:xfrm>
                <a:off x="395996" y="5013293"/>
                <a:ext cx="1140000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高，蚂蚁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的位置与球心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的连线与竖直方向的夹角大于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，可知蚂蚁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支持力较小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，静摩擦力较大，故A、B错误.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5_AS.17_2#00f1bab7d?htil=6&amp;vcp=1&amp;pid=f01a1d051&amp;color=0,0,0&amp;vtp=1&amp;bbb=1&amp;hb=1&amp;hs=1">
                <a:extLst>
                  <a:ext uri="{FF2B5EF4-FFF2-40B4-BE49-F238E27FC236}">
                    <a16:creationId xmlns:a16="http://schemas.microsoft.com/office/drawing/2014/main" id="{53156F3E-2938-5B20-F76B-F45E3EBF9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5013293"/>
                <a:ext cx="11400008" cy="1037400"/>
              </a:xfrm>
              <a:prstGeom prst="rect">
                <a:avLst/>
              </a:prstGeom>
              <a:blipFill>
                <a:blip r:embed="rId8"/>
                <a:stretch>
                  <a:fillRect l="-1658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  <p:bldP spid="8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4aecc8e88?vcp=1&amp;pid=f01a1d051&amp;color=0,0,0&amp;vtp=1&amp;bt=1&amp;bbb=1"/>
          <p:cNvSpPr/>
          <p:nvPr/>
        </p:nvSpPr>
        <p:spPr>
          <a:xfrm>
            <a:off x="393192" y="585501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处理平衡问题的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“五步骤”</a:t>
            </a:r>
            <a:endParaRPr lang="en-US" altLang="zh-CN" sz="2400" dirty="0"/>
          </a:p>
        </p:txBody>
      </p:sp>
      <p:pic>
        <p:nvPicPr>
          <p:cNvPr id="3" name="P_5_BD#4aecc8e88?vcp=1&amp;pid=f01a1d051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55314" y="1758728"/>
            <a:ext cx="2287468" cy="449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4aecc8e88?vcp=1&amp;pid=f01a1d051&amp;color=0,0,0&amp;vtp=1&amp;bt=1&amp;bbb=1&amp;hb=1"/>
          <p:cNvSpPr/>
          <p:nvPr/>
        </p:nvSpPr>
        <p:spPr>
          <a:xfrm>
            <a:off x="393192" y="504000"/>
            <a:ext cx="11402568" cy="5803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正交分解法坐标轴方向的选取技巧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.应尽量使较多的力落在坐标轴上,以减少分解力的个数.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.为了求解方便,待求力应尽量落在坐标轴上.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.研究水平面上的物体时,通常沿水平方向和竖直方向建立坐标轴.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.研究斜面上的物体时,通常沿斜面方向和垂直斜面方向建立坐标轴.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5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.研究在杆或绳的作用下转动的物体时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,通常沿杆或绳方向和垂直杆或绳的方向建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立坐标轴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技巧点拨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如果研究对象运动或有运动趋势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，运用正交分解法时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，沿运动方向或运动趋势方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向建立坐标系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，会使运算更加快捷.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295e5a0bb?vcp=1&amp;pid=c387b343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295e5a0bb?vcp=1&amp;pid=c387b343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4_BD#295e5a0bb?vcp=1&amp;pid=c387b3435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平衡问题中的常见模型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#cdbb7cd20?vcp=1&amp;pid=295e5a0bb&amp;color=0,0,0&amp;vtp=1&amp;bbb=1"/>
          <p:cNvSpPr/>
          <p:nvPr/>
        </p:nvSpPr>
        <p:spPr>
          <a:xfrm>
            <a:off x="393192" y="1092200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.“动杆”与“定杆”模型</a:t>
            </a:r>
            <a:endParaRPr lang="en-US" altLang="zh-CN" sz="2400" dirty="0"/>
          </a:p>
        </p:txBody>
      </p:sp>
      <p:graphicFrame>
        <p:nvGraphicFramePr>
          <p:cNvPr id="24" name="P_5_BD#cdbb7cd20?colgroup=2,15,18&amp;vcp=1&amp;pid=295e5a0bb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204616"/>
              </p:ext>
            </p:extLst>
          </p:nvPr>
        </p:nvGraphicFramePr>
        <p:xfrm>
          <a:off x="393192" y="2259330"/>
          <a:ext cx="11375136" cy="4054031"/>
        </p:xfrm>
        <a:graphic>
          <a:graphicData uri="http://schemas.openxmlformats.org/drawingml/2006/table">
            <a:tbl>
              <a:tblPr/>
              <a:tblGrid>
                <a:gridCol w="813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名称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动杆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”模型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定杆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”模型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17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63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66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964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解读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轻杆用光滑的转轴或铰链连接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杆可围绕转轴或铰链自由转动.关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键语句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“光滑的转轴”“铰链连接”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轻杆被固定在接触面上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不发生转动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关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键语句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“固定”“插在墙里”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_5_BD#cdbb7cd20.table_image?tii=2&amp;vcp=1&amp;pid=295e5a0b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53996" y="2893441"/>
            <a:ext cx="2679192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P_5_BD#cdbb7cd20.table_image?tii=3&amp;vcp=1&amp;pid=295e5a0bb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27748" y="2866009"/>
            <a:ext cx="3493008" cy="188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P_5_BD#cdbb7cd20?colgroup=2,15,18&amp;vcp=1&amp;pid=295e5a0bb&amp;color=0,0,0&amp;mp=1&amp;vtp=1&amp;bt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11026"/>
              </p:ext>
            </p:extLst>
          </p:nvPr>
        </p:nvGraphicFramePr>
        <p:xfrm>
          <a:off x="393192" y="3007296"/>
          <a:ext cx="11375136" cy="1466977"/>
        </p:xfrm>
        <a:graphic>
          <a:graphicData uri="http://schemas.openxmlformats.org/drawingml/2006/table">
            <a:tbl>
              <a:tblPr/>
              <a:tblGrid>
                <a:gridCol w="813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名称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动杆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”模型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定杆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”模型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特点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当杆处于平衡状态时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杆的弹力方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向一定沿着杆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杆的弹力方向不一定沿杆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可沿任意方向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P_5_BD#cdbb7cd20?colgroup=2,15,18&amp;vcp=1&amp;pid=295e5a0bb&amp;color=0,0,0&amp;mp=1&amp;vtp=1&amp;bt=1&amp;bbb=1">
            <a:extLst>
              <a:ext uri="{FF2B5EF4-FFF2-40B4-BE49-F238E27FC236}">
                <a16:creationId xmlns:a16="http://schemas.microsoft.com/office/drawing/2014/main" id="{3FFF4928-2658-945D-78BC-787C686CF5A0}"/>
              </a:ext>
            </a:extLst>
          </p:cNvPr>
          <p:cNvSpPr txBox="1"/>
          <p:nvPr/>
        </p:nvSpPr>
        <p:spPr>
          <a:xfrm>
            <a:off x="11152775" y="2381821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cdbb7cd20?vcp=1&amp;pid=295e5a0bb&amp;color=0,0,0&amp;mp=1&amp;vtp=1&amp;bt=1&amp;bbb=1"/>
          <p:cNvSpPr/>
          <p:nvPr/>
        </p:nvSpPr>
        <p:spPr>
          <a:xfrm>
            <a:off x="393192" y="772064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2.“活结”与“死结”模型</a:t>
            </a:r>
            <a:endParaRPr lang="en-US" altLang="zh-CN" sz="2400" dirty="0"/>
          </a:p>
        </p:txBody>
      </p:sp>
      <p:graphicFrame>
        <p:nvGraphicFramePr>
          <p:cNvPr id="26" name="P_5_BD#cdbb7cd20?colgroup=2,19,14&amp;vcp=1&amp;pid=295e5a0bb&amp;color=0,0,0&amp;mp=1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01466"/>
              </p:ext>
            </p:extLst>
          </p:nvPr>
        </p:nvGraphicFramePr>
        <p:xfrm>
          <a:off x="393192" y="1384839"/>
          <a:ext cx="11365992" cy="4699191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名称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活结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”模型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死结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”模型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57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38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33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5130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解读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“活结”把绳子分为两段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且可沿绳移动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活结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”一般由绳跨过滑轮或绳上挂一光滑挂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钩而形成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绳子因“活结”而弯曲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但实际为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同一根绳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.关键语句“光滑挂钩”“光滑滑轮”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“死结”把绳子分为两段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且不可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沿绳子移动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“死结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”两侧的绳因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结而变成两根独立的绳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关键语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句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“结点”“系住”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特点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活结两侧绳子上的张力大小处处相等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死结两侧的绳子张力不一定相等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_5_BD#cdbb7cd20.table_image?tii=4&amp;vcp=1&amp;pid=295e5a0bb&amp;color=0,0,0&amp;mp=1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38628" y="1996090"/>
            <a:ext cx="2953512" cy="154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5_BD#cdbb7cd20.table_image?tii=5&amp;vcp=1&amp;pid=295e5a0bb&amp;color=0,0,0&amp;mp=1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9600" y="2014379"/>
            <a:ext cx="2532888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8_1#b4db00309?vcp=1&amp;pid=295e5a0bb&amp;color=0,0,0&amp;vtp=1&amp;bt=1&amp;bbb=1&amp;hb=1"/>
              <p:cNvSpPr/>
              <p:nvPr/>
            </p:nvSpPr>
            <p:spPr>
              <a:xfrm>
                <a:off x="393192" y="698786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（2026·广西南宁二中检测）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如图甲所示，轻杆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水平插入竖直墙内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，轻绳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跨过水平轻杆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右端的轻滑轮挂住一个质量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的物体.如图乙所示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，轻杆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𝐻𝐺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一端用铰链（图中未画出）固定在竖直墙上，另一端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通过轻绳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拉住，且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挂住一个质量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的物体，轻杆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𝐻𝐺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与水平方向的夹角均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.不计一切摩擦.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8_1#b4db00309?vcp=1&amp;pid=295e5a0b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98786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695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9_1#b4db00309.bracket?vcp=1&amp;pid=295e5a0bb&amp;color=0,0,0&amp;vpa=7&amp;vtp=1"/>
          <p:cNvSpPr/>
          <p:nvPr/>
        </p:nvSpPr>
        <p:spPr>
          <a:xfrm>
            <a:off x="9363806" y="292255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5_BD.18_2#b4db00309?htil=7&amp;vcp=1&amp;pid=295e5a0b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8528" y="3439445"/>
            <a:ext cx="4681728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8_3#b4db00309.choices?htil=7&amp;vcp=1&amp;pid=295e5a0bb&amp;color=0,0,0&amp;vtp=1&amp;bbb=1&amp;hb=1"/>
              <p:cNvSpPr/>
              <p:nvPr/>
            </p:nvSpPr>
            <p:spPr>
              <a:xfrm>
                <a:off x="393192" y="3384581"/>
                <a:ext cx="6583680" cy="27139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的拉力大小之比为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1:2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.滑轮对轻绳的弹力大小为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100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𝐻𝐺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产生的弹力方向均沿杆向外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𝐻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端的铰链去掉，杆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𝐻𝐺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插入墙内，绳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力大小一定不变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8_3#b4db00309.choices?htil=7&amp;vcp=1&amp;pid=295e5a0b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84581"/>
                <a:ext cx="6583680" cy="2713990"/>
              </a:xfrm>
              <a:prstGeom prst="rect">
                <a:avLst/>
              </a:prstGeom>
              <a:blipFill>
                <a:blip r:embed="rId5"/>
                <a:stretch>
                  <a:fillRect l="-2870" r="-2037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AS.20_1#b4db00309?htil=8&amp;vcp=1&amp;pid=295e5a0bb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53124" y="549720"/>
            <a:ext cx="4517136" cy="229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AS.20_2#b4db00309?htil=8&amp;vcp=1&amp;pid=295e5a0bb&amp;color=0,0,0&amp;vtp=1&amp;bt=1&amp;bbb=1&amp;hb=1&amp;hs=1"/>
              <p:cNvSpPr/>
              <p:nvPr/>
            </p:nvSpPr>
            <p:spPr>
              <a:xfrm>
                <a:off x="393192" y="504000"/>
                <a:ext cx="6748272" cy="260286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题图甲和乙中的两个物体都处于平衡状态，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根据平衡条件可判断，与物体相连的轻绳拉力大小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等于物体的重力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，分别取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点为研究对象进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行受力分析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，如图甲、乙所示.图甲中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，根据几何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关系得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，且二者夹角为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AS.20_2#b4db00309?htil=8&amp;vcp=1&amp;pid=295e5a0bb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6748272" cy="2602865"/>
              </a:xfrm>
              <a:prstGeom prst="rect">
                <a:avLst/>
              </a:prstGeom>
              <a:blipFill>
                <a:blip r:embed="rId4"/>
                <a:stretch>
                  <a:fillRect l="-2800" r="-2891" b="-67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AS.20_2#b4db00309?htil=8&amp;vcp=1&amp;pid=295e5a0bb&amp;color=0,0,0&amp;vtp=1&amp;bt=1&amp;bbb=1&amp;hb=1&amp;hs=1">
                <a:extLst>
                  <a:ext uri="{FF2B5EF4-FFF2-40B4-BE49-F238E27FC236}">
                    <a16:creationId xmlns:a16="http://schemas.microsoft.com/office/drawing/2014/main" id="{88EC914B-EEAD-AF32-098F-A2418995E28D}"/>
                  </a:ext>
                </a:extLst>
              </p:cNvPr>
              <p:cNvSpPr/>
              <p:nvPr/>
            </p:nvSpPr>
            <p:spPr>
              <a:xfrm>
                <a:off x="393192" y="3088196"/>
                <a:ext cx="11400008" cy="31868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，故可得滑轮对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端的弹力大小为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，方向为与水平方向成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斜向右上方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；图乙中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，根据力的分解有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𝑬𝑮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𝑮𝑭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𝑬𝑮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𝑯𝑮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，所以可得轻杆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𝑯𝑮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端的弹力大小为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𝑯𝑮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向右，则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𝑨𝑪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𝑬𝑮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，A正确，B、C错误；将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端的铰链去掉，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</a:t>
                </a:r>
                <a14:m>
                  <m:oMath xmlns:m="http://schemas.openxmlformats.org/officeDocument/2006/math">
                    <m:r>
                      <a:rPr lang="en-US" altLang="zh-CN" sz="2400" b="1" i="1" spc="-10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𝑯𝑮</m:t>
                    </m:r>
                  </m:oMath>
                </a14:m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插入墙内，杆的弹力方向不一定沿着杆</a:t>
                </a:r>
                <a:r>
                  <a:rPr lang="en-US" altLang="zh-CN" sz="2400" b="1" i="0" spc="-10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，则绳</a:t>
                </a:r>
                <a14:m>
                  <m:oMath xmlns:m="http://schemas.openxmlformats.org/officeDocument/2006/math">
                    <m:r>
                      <a:rPr lang="en-US" altLang="zh-CN" sz="2400" b="1" i="1" spc="-10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𝑬𝑮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的拉力大小可能发生改变，D错误.</a:t>
                </a:r>
                <a:endParaRPr lang="en-US" altLang="zh-CN" sz="2400" spc="-100" dirty="0"/>
              </a:p>
            </p:txBody>
          </p:sp>
        </mc:Choice>
        <mc:Fallback>
          <p:sp>
            <p:nvSpPr>
              <p:cNvPr id="4" name="QC_5_AS.20_2#b4db00309?htil=8&amp;vcp=1&amp;pid=295e5a0bb&amp;color=0,0,0&amp;vtp=1&amp;bt=1&amp;bbb=1&amp;hb=1&amp;hs=1">
                <a:extLst>
                  <a:ext uri="{FF2B5EF4-FFF2-40B4-BE49-F238E27FC236}">
                    <a16:creationId xmlns:a16="http://schemas.microsoft.com/office/drawing/2014/main" id="{88EC914B-EEAD-AF32-098F-A2418995E2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88196"/>
                <a:ext cx="11400008" cy="3186875"/>
              </a:xfrm>
              <a:prstGeom prst="rect">
                <a:avLst/>
              </a:prstGeom>
              <a:blipFill>
                <a:blip r:embed="rId5"/>
                <a:stretch>
                  <a:fillRect l="-1658" r="-963" b="-57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21_1#5f4899851?htil=9&amp;vcp=1&amp;pid=295e5a0bb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22664" y="1074990"/>
            <a:ext cx="1819656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21_2#5f4899851?htil=9&amp;vcp=1&amp;pid=295e5a0bb&amp;color=0,0,0&amp;vtp=1&amp;bt=1&amp;bbb=1&amp;hb=1&amp;hs=1"/>
              <p:cNvSpPr/>
              <p:nvPr/>
            </p:nvSpPr>
            <p:spPr>
              <a:xfrm>
                <a:off x="393192" y="1029271"/>
                <a:ext cx="9445752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［经典高考题改编］如图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，悬挂物体甲的细线拴牢在一不可伸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长的轻质细绳上的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点处；绳的一端固定在墙上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，另一端通过光滑定滑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轮与物体乙相连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.甲、乙两物体质量相等.系统平衡时，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点两侧绳与竖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直方向的夹角分别为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70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21_2#5f4899851?htil=9&amp;vcp=1&amp;pid=295e5a0bb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29271"/>
                <a:ext cx="9445752" cy="2150999"/>
              </a:xfrm>
              <a:prstGeom prst="rect">
                <a:avLst/>
              </a:prstGeom>
              <a:blipFill>
                <a:blip r:embed="rId4"/>
                <a:stretch>
                  <a:fillRect l="-2001" r="-1485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22_1#5f4899851.bracket?vcp=1&amp;pid=295e5a0bb&amp;color=0,0,0&amp;vpa=8&amp;vtp=1"/>
          <p:cNvSpPr/>
          <p:nvPr/>
        </p:nvSpPr>
        <p:spPr>
          <a:xfrm>
            <a:off x="7510431" y="2694241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1_3#5f4899851.choices?vcp=1&amp;pid=295e5a0bb&amp;color=0,0,0&amp;vtp=1&amp;bbb=1&amp;hs=1"/>
              <p:cNvSpPr/>
              <p:nvPr/>
            </p:nvSpPr>
            <p:spPr>
              <a:xfrm>
                <a:off x="393192" y="3217164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16677" algn="l"/>
                    <a:tab pos="5807954" algn="l"/>
                    <a:tab pos="86992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70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21_3#5f4899851.choices?vcp=1&amp;pid=295e5a0bb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17164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5_AS.23_1#5f4899851?htil=10&amp;vcp=1&amp;pid=295e5a0bb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02952" y="3760279"/>
            <a:ext cx="1874520" cy="206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AS.23_2#5f4899851?htil=10&amp;vcp=1&amp;pid=295e5a0bb&amp;color=0,0,0&amp;vtp=1&amp;bbb=1&amp;hb=1"/>
              <p:cNvSpPr/>
              <p:nvPr/>
            </p:nvSpPr>
            <p:spPr>
              <a:xfrm>
                <a:off x="393192" y="3705415"/>
                <a:ext cx="939088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点为研究对象，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点在三力的作用下处于平衡状态，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悬挂甲、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乙两绳的合力与力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共线，如图所示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，根据几何关系可得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AS.23_2#5f4899851?htil=10&amp;vcp=1&amp;pid=295e5a0b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05415"/>
                <a:ext cx="9390888" cy="1592199"/>
              </a:xfrm>
              <a:prstGeom prst="rect">
                <a:avLst/>
              </a:prstGeom>
              <a:blipFill>
                <a:blip r:embed="rId7"/>
                <a:stretch>
                  <a:fillRect l="-2013" r="-474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097e66318?vcp=1&amp;pid=295e5a0bb&amp;color=0,0,0&amp;vtp=1&amp;bt=1&amp;bbb=1&amp;hb=1"/>
          <p:cNvSpPr/>
          <p:nvPr/>
        </p:nvSpPr>
        <p:spPr>
          <a:xfrm>
            <a:off x="393192" y="966026"/>
            <a:ext cx="11402568" cy="4944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判断绳子结点是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“活结”还是“死结”的关键是看其是否需要固定结点的位置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，结点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位置无法在绳上自由移动的是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“死结”.在判断时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，可以假想在结点一侧施加一足够大的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拉力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，判断结点在绳子上的位置是否发生变化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，若两侧施加拉力都无法使结点位置发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生改变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，则该结点为“死结”.反之，若结点位置可以发生变化，则该结点为“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活结”.</a:t>
            </a:r>
          </a:p>
          <a:p>
            <a:pPr marL="0" marR="0" lvl="0" indent="0" defTabSz="914400" rtl="0" eaLnBrk="1" fontAlgn="auto" latinLnBrk="1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绳上的“死结”与“活结”模型的答题技巧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defTabSz="914400" rtl="0" eaLnBrk="1" fontAlgn="auto" latinLnBrk="1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1.无论是“死结”还是“活结”，一般均以结点为研究对象进行受力分析.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defTabSz="914400" rtl="0" eaLnBrk="1" fontAlgn="auto" latinLnBrk="1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strike="noStrike" kern="1200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kumimoji="0" lang="en-US" altLang="zh-CN" sz="2400" b="0" i="0" u="none" strike="noStrike" kern="120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2.如果题目中绳子搭配杆出现，则“死结”搭配有铰链的杆，“活结”搭配无铰链的杆.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097e66318?vcp=1&amp;pid=295e5a0bb&amp;color=0,0,0&amp;vtp=1&amp;bt=1&amp;bbb=1&amp;hb=1"/>
          <p:cNvSpPr/>
          <p:nvPr/>
        </p:nvSpPr>
        <p:spPr>
          <a:xfrm>
            <a:off x="393192" y="691706"/>
            <a:ext cx="11402568" cy="5503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.“死结”可理解为把绳子分成两段且不可以沿绳子移动的结点.“死结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”两侧的绳因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结而变成了两根独立的绳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，因此由“死结”分开的两段绳子上的弹力不一定相等.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.“活结”可理解为把绳子分成两段且可以沿绳子移动的结点.“活结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”一般是由绳跨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过滑轮或者绳上挂一光滑挂钩而组成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.绳子虽然因“活结”而弯曲，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但实际上是同一根绳，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所以由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“活结”分开的两段绳子上弹力的大小一定相等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，两段绳上拉力的合力方向一定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沿这两段绳子夹角的角平分线.</a:t>
            </a:r>
          </a:p>
          <a:p>
            <a:pPr marL="0" marR="0" lvl="0" indent="0" defTabSz="914400" rtl="0" eaLnBrk="1" fontAlgn="auto" latinLnBrk="1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规律总结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defTabSz="914400" rtl="0" eaLnBrk="1" fontAlgn="auto" latinLnBrk="1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1.定杆所受外力不一定沿杆，可与杆成任意角度.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defTabSz="914400" rtl="0" eaLnBrk="1" fontAlgn="auto" latinLnBrk="1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2.动杆所受外力必过转轴，否则该杆不可能处于平衡状态.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1557</Words>
  <Application>Microsoft Office PowerPoint</Application>
  <PresentationFormat>宽屏</PresentationFormat>
  <Paragraphs>289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SimHei</vt:lpstr>
      <vt:lpstr>KaiTi</vt:lpstr>
      <vt:lpstr>SimSun</vt:lpstr>
      <vt:lpstr>微软雅黑</vt:lpstr>
      <vt:lpstr>Arial</vt:lpstr>
      <vt:lpstr>Calibri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2026-05-25T08:19:28Z</dcterms:created>
  <dcterms:modified xsi:type="dcterms:W3CDTF">2026-05-25T08:21:13Z</dcterms:modified>
  <cp:category/>
  <cp:contentStatus/>
</cp:coreProperties>
</file>