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11"/>
    <p:restoredTop sz="94610"/>
  </p:normalViewPr>
  <p:slideViewPr>
    <p:cSldViewPr snapToGrid="0" snapToObjects="1">
      <p:cViewPr varScale="1">
        <p:scale>
          <a:sx n="114" d="100"/>
          <a:sy n="114" d="100"/>
        </p:scale>
        <p:origin x="234" y="108"/>
      </p:cViewPr>
      <p:guideLst/>
    </p:cSldViewPr>
  </p:slideViewPr>
  <p:notesTextViewPr>
    <p:cViewPr>
      <p:scale>
        <a:sx n="1" d="1"/>
        <a:sy n="1" d="1"/>
      </p:scale>
      <p:origin x="0" y="0"/>
    </p:cViewPr>
  </p:notesTextViewPr>
  <p:sorterViewPr>
    <p:cViewPr>
      <p:scale>
        <a:sx n="170" d="100"/>
        <a:sy n="170" d="100"/>
      </p:scale>
      <p:origin x="0" y="-879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6539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2736a60ac3496b217#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5f8e7657d">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第11讲 牛顿第三定律</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5f8e7657d.fixed?vcp=1&amp;pid=46eb467af&amp;color=0,112,192&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第三章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相互作用——力</a:t>
            </a:r>
            <a:endParaRPr lang="en-US" altLang="zh-CN" sz="4800" dirty="0"/>
          </a:p>
        </p:txBody>
      </p:sp>
      <p:sp>
        <p:nvSpPr>
          <p:cNvPr id="3" name="C_2_BD#5f8e7657d.fixed?vcp=1&amp;pid=46eb467af&amp;color=0,0,0&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第11讲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牛顿第三定律</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1#目录1:5f8e7657d?lid=b7678f291&amp;cid=b7678f291&amp;bt=1&amp;bbb=1">
            <a:hlinkClick r:id="rId3" action="ppaction://hlinksldjump"/>
          </p:cNvPr>
          <p:cNvSpPr/>
          <p:nvPr/>
        </p:nvSpPr>
        <p:spPr>
          <a:xfrm>
            <a:off x="5577840" y="2587752"/>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高考要求</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学业标准·考情分析</a:t>
            </a:r>
            <a:endParaRPr lang="en-US" altLang="zh-CN" sz="3200" dirty="0"/>
          </a:p>
        </p:txBody>
      </p:sp>
      <p:sp>
        <p:nvSpPr>
          <p:cNvPr id="3" name="C_1#目录1:5f8e7657d?lid=958b2445e&amp;cid=958b2445e&amp;bbb=1">
            <a:hlinkClick r:id="rId4" action="ppaction://hlinksldjump"/>
          </p:cNvPr>
          <p:cNvSpPr/>
          <p:nvPr/>
        </p:nvSpPr>
        <p:spPr>
          <a:xfrm>
            <a:off x="5577840" y="3419856"/>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考点分类</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考点透析·典例剖析</a:t>
            </a:r>
            <a:endParaRPr lang="en-US" altLang="zh-CN" sz="32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pic>
        <p:nvPicPr>
          <p:cNvPr id="2" name="C_3_BD#b7678f291?vcp=1&amp;pid=5f8e7657d&amp;color=0,112,192&amp;tib=255,255,255&amp;bt=1" descr="preencoded.png"/>
          <p:cNvPicPr>
            <a:picLocks noChangeAspect="1"/>
          </p:cNvPicPr>
          <p:nvPr/>
        </p:nvPicPr>
        <p:blipFill>
          <a:blip r:embed="rId3"/>
          <a:stretch>
            <a:fillRect/>
          </a:stretch>
        </p:blipFill>
        <p:spPr>
          <a:xfrm>
            <a:off x="411480" y="502920"/>
            <a:ext cx="4727448" cy="548640"/>
          </a:xfrm>
          <a:prstGeom prst="rect">
            <a:avLst/>
          </a:prstGeom>
        </p:spPr>
      </p:pic>
      <p:graphicFrame>
        <p:nvGraphicFramePr>
          <p:cNvPr id="5" name="P_4_BD#da35afea8?colgroup=14,4,16&amp;vcp=1&amp;pid=b7678f291&amp;color=0,0,0&amp;bbb=1"/>
          <p:cNvGraphicFramePr>
            <a:graphicFrameLocks noGrp="1"/>
          </p:cNvGraphicFramePr>
          <p:nvPr>
            <p:extLst>
              <p:ext uri="{D42A27DB-BD31-4B8C-83A1-F6EECF244321}">
                <p14:modId xmlns:p14="http://schemas.microsoft.com/office/powerpoint/2010/main" val="774565282"/>
              </p:ext>
            </p:extLst>
          </p:nvPr>
        </p:nvGraphicFramePr>
        <p:xfrm>
          <a:off x="393192" y="1181100"/>
          <a:ext cx="11400701" cy="2956560"/>
        </p:xfrm>
        <a:graphic>
          <a:graphicData uri="http://schemas.openxmlformats.org/drawingml/2006/table">
            <a:tbl>
              <a:tblPr/>
              <a:tblGrid>
                <a:gridCol w="4666584">
                  <a:extLst>
                    <a:ext uri="{9D8B030D-6E8A-4147-A177-3AD203B41FA5}">
                      <a16:colId xmlns:a16="http://schemas.microsoft.com/office/drawing/2014/main" val="20000"/>
                    </a:ext>
                  </a:extLst>
                </a:gridCol>
                <a:gridCol w="1579738">
                  <a:extLst>
                    <a:ext uri="{9D8B030D-6E8A-4147-A177-3AD203B41FA5}">
                      <a16:colId xmlns:a16="http://schemas.microsoft.com/office/drawing/2014/main" val="20001"/>
                    </a:ext>
                  </a:extLst>
                </a:gridCol>
                <a:gridCol w="5056979">
                  <a:extLst>
                    <a:ext uri="{9D8B030D-6E8A-4147-A177-3AD203B41FA5}">
                      <a16:colId xmlns:a16="http://schemas.microsoft.com/office/drawing/2014/main" val="20002"/>
                    </a:ext>
                  </a:extLst>
                </a:gridCol>
                <a:gridCol w="97400">
                  <a:extLst>
                    <a:ext uri="{9D8B030D-6E8A-4147-A177-3AD203B41FA5}">
                      <a16:colId xmlns:a16="http://schemas.microsoft.com/office/drawing/2014/main" val="20003"/>
                    </a:ext>
                  </a:extLst>
                </a:gridCol>
              </a:tblGrid>
              <a:tr h="498856">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考点分析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核心素养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知识图解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1206500">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1.作用力和反作用力.（★）</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gridSpan="2">
                  <a:txBody>
                    <a:bodyPr/>
                    <a:lstStyle/>
                    <a:p>
                      <a:pPr algn="ctr" latinLnBrk="1" hangingPunct="0">
                        <a:lnSpc>
                          <a:spcPts val="256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hMerge="1">
                  <a:txBody>
                    <a:bodyPr/>
                    <a:lstStyle/>
                    <a:p>
                      <a:endParaRPr lang="zh-CN"/>
                    </a:p>
                  </a:txBody>
                  <a:tcPr/>
                </a:tc>
                <a:extLst>
                  <a:ext uri="{0D108BD9-81ED-4DB2-BD59-A6C34878D82A}">
                    <a16:rowId xmlns:a16="http://schemas.microsoft.com/office/drawing/2014/main" val="10001"/>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2.牛顿第三定律.（★）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vMerge="1">
                  <a:txBody>
                    <a:bodyPr/>
                    <a:lstStyle/>
                    <a:p>
                      <a:endParaRPr lang="zh-CN"/>
                    </a:p>
                  </a:txBody>
                  <a:tcPr/>
                </a:tc>
                <a:tc hMerge="1" vMerge="1">
                  <a:txBody>
                    <a:bodyPr/>
                    <a:lstStyle/>
                    <a:p>
                      <a:endParaRPr lang="zh-CN"/>
                    </a:p>
                  </a:txBody>
                  <a:tcPr/>
                </a:tc>
                <a:extLst>
                  <a:ext uri="{0D108BD9-81ED-4DB2-BD59-A6C34878D82A}">
                    <a16:rowId xmlns:a16="http://schemas.microsoft.com/office/drawing/2014/main" val="10002"/>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3.物体受力的初步分析.（★）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科学思维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vMerge="1">
                  <a:txBody>
                    <a:bodyPr/>
                    <a:lstStyle/>
                    <a:p>
                      <a:endParaRPr lang="zh-CN"/>
                    </a:p>
                  </a:txBody>
                  <a:tcPr/>
                </a:tc>
                <a:tc hMerge="1" vMerge="1">
                  <a:txBody>
                    <a:bodyPr/>
                    <a:lstStyle/>
                    <a:p>
                      <a:endParaRPr lang="zh-CN"/>
                    </a:p>
                  </a:txBody>
                  <a:tcPr/>
                </a:tc>
                <a:extLst>
                  <a:ext uri="{0D108BD9-81ED-4DB2-BD59-A6C34878D82A}">
                    <a16:rowId xmlns:a16="http://schemas.microsoft.com/office/drawing/2014/main" val="10003"/>
                  </a:ext>
                </a:extLst>
              </a:tr>
            </a:tbl>
          </a:graphicData>
        </a:graphic>
      </p:graphicFrame>
      <p:pic>
        <p:nvPicPr>
          <p:cNvPr id="4" name="P_4_BD#da35afea8.table_image?tii=1&amp;vcp=1&amp;pid=b7678f291&amp;color=0,0,0&amp;tib=255,255,255"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737430" y="1744575"/>
            <a:ext cx="3092757" cy="238469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3_BD#958b2445e?vcp=1&amp;pid=5f8e7657d&amp;color=0,112,192&amp;tib=255,255,255&amp;bt=1" descr="preencoded.png"/>
          <p:cNvPicPr>
            <a:picLocks noChangeAspect="1"/>
          </p:cNvPicPr>
          <p:nvPr/>
        </p:nvPicPr>
        <p:blipFill>
          <a:blip r:embed="rId3"/>
          <a:stretch>
            <a:fillRect/>
          </a:stretch>
        </p:blipFill>
        <p:spPr>
          <a:xfrm>
            <a:off x="411480" y="502920"/>
            <a:ext cx="4727448" cy="548640"/>
          </a:xfrm>
          <a:prstGeom prst="rect">
            <a:avLst/>
          </a:prstGeom>
        </p:spPr>
      </p:pic>
      <p:pic>
        <p:nvPicPr>
          <p:cNvPr id="3" name="C_4#3ea1161dd?vcp=1&amp;pid=958b2445e&amp;color=0,0,0&amp;tib=255,255,255" descr="preencoded.png"/>
          <p:cNvPicPr>
            <a:picLocks noChangeAspect="1"/>
          </p:cNvPicPr>
          <p:nvPr/>
        </p:nvPicPr>
        <p:blipFill>
          <a:blip r:embed="rId4"/>
          <a:stretch>
            <a:fillRect/>
          </a:stretch>
        </p:blipFill>
        <p:spPr>
          <a:xfrm>
            <a:off x="393192" y="1181100"/>
            <a:ext cx="11356848" cy="457200"/>
          </a:xfrm>
          <a:prstGeom prst="rect">
            <a:avLst/>
          </a:prstGeom>
        </p:spPr>
      </p:pic>
      <p:sp>
        <p:nvSpPr>
          <p:cNvPr id="4" name="C_4_BD#3ea1161dd?vcp=1&amp;pid=958b2445e&amp;color=255,255,255"/>
          <p:cNvSpPr/>
          <p:nvPr/>
        </p:nvSpPr>
        <p:spPr>
          <a:xfrm>
            <a:off x="1225296" y="118110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4_BD#3ea1161dd?vcp=1&amp;pid=958b2445e&amp;color=0,0,0&amp;bbb=1"/>
          <p:cNvSpPr/>
          <p:nvPr/>
        </p:nvSpPr>
        <p:spPr>
          <a:xfrm>
            <a:off x="1837944" y="118110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牛顿第三定律</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回归教材</a:t>
            </a:r>
            <a:endParaRPr lang="en-US" altLang="zh-CN" sz="2600" dirty="0"/>
          </a:p>
        </p:txBody>
      </p:sp>
      <mc:AlternateContent xmlns:mc="http://schemas.openxmlformats.org/markup-compatibility/2006" xmlns:a14="http://schemas.microsoft.com/office/drawing/2010/main">
        <mc:Choice Requires="a14">
          <p:sp>
            <p:nvSpPr>
              <p:cNvPr id="6" name="P_5_BD#aa7aeeff6?vcp=1&amp;pid=3ea1161dd&amp;color=0,0,0&amp;bbb=1&amp;hb=1"/>
              <p:cNvSpPr/>
              <p:nvPr/>
            </p:nvSpPr>
            <p:spPr>
              <a:xfrm>
                <a:off x="393192" y="1778000"/>
                <a:ext cx="11402568" cy="2150999"/>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.内容：两个物体之间的作用力和反作用力总是大小相等，方向相反</a:t>
                </a:r>
                <a:r>
                  <a:rPr lang="en-US" altLang="zh-CN" sz="2400" b="0" i="0">
                    <a:solidFill>
                      <a:srgbClr val="000000"/>
                    </a:solidFill>
                    <a:latin typeface="Times New Roman" pitchFamily="34" charset="0"/>
                    <a:ea typeface="微软雅黑" pitchFamily="34" charset="-122"/>
                    <a:cs typeface="Times New Roman" pitchFamily="34" charset="-120"/>
                  </a:rPr>
                  <a:t>，作用在同</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一条直线上</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.表达式：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（式中负号表示两力在同一条直线上且方向相反）.</a:t>
                </a:r>
                <a:endParaRPr lang="en-US" altLang="zh-CN" sz="2400" dirty="0"/>
              </a:p>
            </p:txBody>
          </p:sp>
        </mc:Choice>
        <mc:Fallback xmlns="">
          <p:sp>
            <p:nvSpPr>
              <p:cNvPr id="6" name="P_5_BD#aa7aeeff6?vcp=1&amp;pid=3ea1161dd&amp;color=0,0,0&amp;bbb=1&amp;hb=1"/>
              <p:cNvSpPr>
                <a:spLocks noRot="1" noChangeAspect="1" noMove="1" noResize="1" noEditPoints="1" noAdjustHandles="1" noChangeArrowheads="1" noChangeShapeType="1" noTextEdit="1"/>
              </p:cNvSpPr>
              <p:nvPr/>
            </p:nvSpPr>
            <p:spPr>
              <a:xfrm>
                <a:off x="393192" y="1778000"/>
                <a:ext cx="11402568" cy="2150999"/>
              </a:xfrm>
              <a:prstGeom prst="rect">
                <a:avLst/>
              </a:prstGeom>
              <a:blipFill>
                <a:blip r:embed="rId5"/>
                <a:stretch>
                  <a:fillRect l="-1658" b="-849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sp>
        <p:nvSpPr>
          <p:cNvPr id="2" name="QC_5_BD.1_1#85ad225d2?vcp=1&amp;pid=3ea1161dd&amp;color=0,0,0&amp;bt=1&amp;bbb=1"/>
          <p:cNvSpPr/>
          <p:nvPr/>
        </p:nvSpPr>
        <p:spPr>
          <a:xfrm>
            <a:off x="393192" y="963930"/>
            <a:ext cx="11557000"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考题1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（海南高考题改编）</a:t>
            </a:r>
            <a:r>
              <a:rPr lang="en-US" altLang="zh-CN" sz="2400" b="0" i="0" dirty="0">
                <a:solidFill>
                  <a:srgbClr val="000000"/>
                </a:solidFill>
                <a:latin typeface="Times New Roman" pitchFamily="34" charset="0"/>
                <a:ea typeface="微软雅黑" pitchFamily="34" charset="-122"/>
                <a:cs typeface="Times New Roman" pitchFamily="34" charset="-120"/>
              </a:rPr>
              <a:t>关于车拉马和马拉车的问题，</a:t>
            </a:r>
            <a:r>
              <a:rPr lang="en-US" altLang="zh-CN" sz="2400" b="0" i="0">
                <a:solidFill>
                  <a:srgbClr val="000000"/>
                </a:solidFill>
                <a:latin typeface="Times New Roman" pitchFamily="34" charset="0"/>
                <a:ea typeface="微软雅黑" pitchFamily="34" charset="-122"/>
                <a:cs typeface="Times New Roman" pitchFamily="34" charset="-120"/>
              </a:rPr>
              <a:t>下列说法中正确的是(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2_1#85ad225d2.bracket?vcp=1&amp;pid=3ea1161dd&amp;color=0,0,0&amp;vpa=1"/>
          <p:cNvSpPr/>
          <p:nvPr/>
        </p:nvSpPr>
        <p:spPr>
          <a:xfrm>
            <a:off x="10990548" y="962025"/>
            <a:ext cx="4413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4" name="QC_5_BD.1_2#85ad225d2.choices?vcp=1&amp;pid=3ea1161dd&amp;color=0,0,0&amp;bbb=1"/>
          <p:cNvSpPr/>
          <p:nvPr/>
        </p:nvSpPr>
        <p:spPr>
          <a:xfrm>
            <a:off x="393192" y="1512316"/>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A.马拉车不动，是因为马拉车的力小于车拉马的力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.马拉车前进，是因为马拉车的力大于车拉马的力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.马拉车，不论车动还是不动，马拉车的力的大小总是等于车拉马的力的大小</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.马拉车不动或车匀速前进时，马拉车的力与车拉马的力大小才相等</a:t>
            </a:r>
            <a:endParaRPr lang="en-US" altLang="zh-CN" sz="2400" dirty="0"/>
          </a:p>
        </p:txBody>
      </p:sp>
      <p:sp>
        <p:nvSpPr>
          <p:cNvPr id="5" name="QC_5_AS.3_1#85ad225d2?vcp=1&amp;pid=3ea1161dd&amp;color=0,0,0&amp;bbb=1&amp;hb=1"/>
          <p:cNvSpPr/>
          <p:nvPr/>
        </p:nvSpPr>
        <p:spPr>
          <a:xfrm>
            <a:off x="393192" y="3718115"/>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车的运动状态的变化是由车受到的合力决定的，当马拉车的力较小时</a:t>
            </a:r>
            <a:r>
              <a:rPr lang="en-US" altLang="zh-CN" sz="2400" b="1" i="0">
                <a:solidFill>
                  <a:srgbClr val="FF0000"/>
                </a:solidFill>
                <a:latin typeface="Times New Roman" pitchFamily="34" charset="0"/>
                <a:ea typeface="微软雅黑" pitchFamily="34" charset="-122"/>
                <a:cs typeface="Times New Roman" pitchFamily="34" charset="-120"/>
              </a:rPr>
              <a:t>，拉力与</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车受到地面的摩擦力大小相等</a:t>
            </a:r>
            <a:r>
              <a:rPr lang="en-US" altLang="zh-CN" sz="2400" b="1" i="0" dirty="0">
                <a:solidFill>
                  <a:srgbClr val="FF0000"/>
                </a:solidFill>
                <a:latin typeface="Times New Roman" pitchFamily="34" charset="0"/>
                <a:ea typeface="微软雅黑" pitchFamily="34" charset="-122"/>
                <a:cs typeface="Times New Roman" pitchFamily="34" charset="-120"/>
              </a:rPr>
              <a:t>，车保持静止</a:t>
            </a:r>
            <a:r>
              <a:rPr lang="en-US" altLang="zh-CN" sz="2400" b="1" i="0">
                <a:solidFill>
                  <a:srgbClr val="FF0000"/>
                </a:solidFill>
                <a:latin typeface="Times New Roman" pitchFamily="34" charset="0"/>
                <a:ea typeface="微软雅黑" pitchFamily="34" charset="-122"/>
                <a:cs typeface="Times New Roman" pitchFamily="34" charset="-120"/>
              </a:rPr>
              <a:t>；当马拉车的力大于车所受到地面的摩擦</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力时</a:t>
            </a:r>
            <a:r>
              <a:rPr lang="en-US" altLang="zh-CN" sz="2400" b="1" i="0" dirty="0">
                <a:solidFill>
                  <a:srgbClr val="FF0000"/>
                </a:solidFill>
                <a:latin typeface="Times New Roman" pitchFamily="34" charset="0"/>
                <a:ea typeface="微软雅黑" pitchFamily="34" charset="-122"/>
                <a:cs typeface="Times New Roman" pitchFamily="34" charset="-120"/>
              </a:rPr>
              <a:t>，车就开始启动并加速前进.根据牛顿第三定律作出判断</a:t>
            </a:r>
            <a:r>
              <a:rPr lang="en-US" altLang="zh-CN" sz="2400" b="1" i="0">
                <a:solidFill>
                  <a:srgbClr val="FF0000"/>
                </a:solidFill>
                <a:latin typeface="Times New Roman" pitchFamily="34" charset="0"/>
                <a:ea typeface="微软雅黑" pitchFamily="34" charset="-122"/>
                <a:cs typeface="Times New Roman" pitchFamily="34" charset="-120"/>
              </a:rPr>
              <a:t>，马拉车的力和车拉马的</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力是一对作用力和反作用力</a:t>
            </a:r>
            <a:r>
              <a:rPr lang="en-US" altLang="zh-CN" sz="2400" b="1" i="0" dirty="0">
                <a:solidFill>
                  <a:srgbClr val="FF0000"/>
                </a:solidFill>
                <a:latin typeface="Times New Roman" pitchFamily="34" charset="0"/>
                <a:ea typeface="微软雅黑" pitchFamily="34" charset="-122"/>
                <a:cs typeface="Times New Roman" pitchFamily="34" charset="-120"/>
              </a:rPr>
              <a:t>，大小始终相等，C正确.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sp>
        <p:nvSpPr>
          <p:cNvPr id="2" name="QC_5_BD.4_1#e19e74885?vcp=1&amp;pid=3ea1161dd&amp;color=0,0,0&amp;bt=1&amp;bbb=1&amp;hb=1"/>
          <p:cNvSpPr/>
          <p:nvPr/>
        </p:nvSpPr>
        <p:spPr>
          <a:xfrm>
            <a:off x="393192" y="681577"/>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（传统文化）</a:t>
            </a:r>
            <a:r>
              <a:rPr lang="en-US" altLang="zh-CN" sz="2400" b="0" i="0" dirty="0">
                <a:solidFill>
                  <a:srgbClr val="1E5A99"/>
                </a:solidFill>
                <a:latin typeface="KaiTi" pitchFamily="34" charset="0"/>
                <a:ea typeface="KaiTi" pitchFamily="34" charset="-122"/>
                <a:cs typeface="KaiTi" pitchFamily="34" charset="-120"/>
              </a:rPr>
              <a:t>（2026·湖南长沙一中检测）</a:t>
            </a:r>
            <a:r>
              <a:rPr lang="en-US" altLang="zh-CN" sz="2400" b="0" i="0">
                <a:solidFill>
                  <a:srgbClr val="000000"/>
                </a:solidFill>
                <a:latin typeface="Times New Roman" pitchFamily="34" charset="0"/>
                <a:ea typeface="微软雅黑" pitchFamily="34" charset="-122"/>
                <a:cs typeface="Times New Roman" pitchFamily="34" charset="-120"/>
              </a:rPr>
              <a:t>2024年中国龙舟公开赛</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湖南·永州道县站）于6月1日至2日在湖南省永州市道县开赛.</a:t>
            </a:r>
            <a:r>
              <a:rPr lang="en-US" altLang="zh-CN" sz="2400" b="0" i="0">
                <a:solidFill>
                  <a:srgbClr val="000000"/>
                </a:solidFill>
                <a:latin typeface="Times New Roman" pitchFamily="34" charset="0"/>
                <a:ea typeface="微软雅黑" pitchFamily="34" charset="-122"/>
                <a:cs typeface="Times New Roman" pitchFamily="34" charset="-120"/>
              </a:rPr>
              <a:t>如图为龙舟比赛的照片，</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龙舟在水面上做匀速直线运动</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5_1#e19e74885.bracket?vcp=1&amp;pid=3ea1161dd&amp;color=0,0,0&amp;vpa=2"/>
          <p:cNvSpPr/>
          <p:nvPr/>
        </p:nvSpPr>
        <p:spPr>
          <a:xfrm>
            <a:off x="7102761" y="178774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pic>
        <p:nvPicPr>
          <p:cNvPr id="4" name="QC_5_BD.4_2#e19e74885?vcp=1&amp;pid=3ea1161dd&amp;color=0,0,0&amp;tib=255,255,255"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663440" y="2402172"/>
            <a:ext cx="2871216" cy="146304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5" name="QC_5_BD.4_3#e19e74885.choices?vcp=1&amp;pid=3ea1161dd&amp;color=0,0,0&amp;bbb=1"/>
          <p:cNvSpPr/>
          <p:nvPr/>
        </p:nvSpPr>
        <p:spPr>
          <a:xfrm>
            <a:off x="393192" y="4002372"/>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A.队员对龙舟的压力就是队员受到的重力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.若龙舟加速前，是因为水对船桨的作用力大于船桨对水的作用力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.坐在船头的鼓手对座椅的压力与座椅对鼓手的支持力是一对作用力与反作用力</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.坐在船头的鼓手对座椅的压力与座椅对鼓手的支持力是一对平衡力</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sp>
        <p:nvSpPr>
          <p:cNvPr id="2" name="QC_5_AS.6_1#e19e74885?vcp=1&amp;pid=3ea1161dd&amp;color=0,0,0&amp;bt=1&amp;bbb=1&amp;hb=1"/>
          <p:cNvSpPr/>
          <p:nvPr/>
        </p:nvSpPr>
        <p:spPr>
          <a:xfrm>
            <a:off x="393192" y="208670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压力和重力是不同性质的力</a:t>
            </a:r>
            <a:r>
              <a:rPr lang="en-US" altLang="zh-CN" sz="2400" b="1" i="0">
                <a:solidFill>
                  <a:srgbClr val="FF0000"/>
                </a:solidFill>
                <a:latin typeface="Times New Roman" pitchFamily="34" charset="0"/>
                <a:ea typeface="微软雅黑" pitchFamily="34" charset="-122"/>
                <a:cs typeface="Times New Roman" pitchFamily="34" charset="-120"/>
              </a:rPr>
              <a:t>，只能说队员对龙舟的压力与队员受到的重力大小</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相等</a:t>
            </a:r>
            <a:r>
              <a:rPr lang="en-US" altLang="zh-CN" sz="2400" b="1" i="0" dirty="0">
                <a:solidFill>
                  <a:srgbClr val="FF0000"/>
                </a:solidFill>
                <a:latin typeface="Times New Roman" pitchFamily="34" charset="0"/>
                <a:ea typeface="微软雅黑" pitchFamily="34" charset="-122"/>
                <a:cs typeface="Times New Roman" pitchFamily="34" charset="-120"/>
              </a:rPr>
              <a:t>，A错误；龙舟加速前进时</a:t>
            </a:r>
            <a:r>
              <a:rPr lang="en-US" altLang="zh-CN" sz="2400" b="1" i="0">
                <a:solidFill>
                  <a:srgbClr val="FF0000"/>
                </a:solidFill>
                <a:latin typeface="Times New Roman" pitchFamily="34" charset="0"/>
                <a:ea typeface="微软雅黑" pitchFamily="34" charset="-122"/>
                <a:cs typeface="Times New Roman" pitchFamily="34" charset="-120"/>
              </a:rPr>
              <a:t>，水对船桨的作用力与船桨对水的作用力是一对相互</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作用力</a:t>
            </a:r>
            <a:r>
              <a:rPr lang="en-US" altLang="zh-CN" sz="2400" b="1" i="0" dirty="0">
                <a:solidFill>
                  <a:srgbClr val="FF0000"/>
                </a:solidFill>
                <a:latin typeface="Times New Roman" pitchFamily="34" charset="0"/>
                <a:ea typeface="微软雅黑" pitchFamily="34" charset="-122"/>
                <a:cs typeface="Times New Roman" pitchFamily="34" charset="-120"/>
              </a:rPr>
              <a:t>，由牛顿第三定律可知，两力大小相等，方向相反，作用在同一直线上，</a:t>
            </a:r>
            <a:r>
              <a:rPr lang="en-US" altLang="zh-CN" sz="2400" b="1" i="0">
                <a:solidFill>
                  <a:srgbClr val="FF0000"/>
                </a:solidFill>
                <a:latin typeface="Times New Roman" pitchFamily="34" charset="0"/>
                <a:ea typeface="微软雅黑" pitchFamily="34" charset="-122"/>
                <a:cs typeface="Times New Roman" pitchFamily="34" charset="-120"/>
              </a:rPr>
              <a:t>B错</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误</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Times New Roman" pitchFamily="34" charset="0"/>
                <a:ea typeface="微软雅黑" pitchFamily="34" charset="-122"/>
                <a:cs typeface="Times New Roman" pitchFamily="34" charset="-120"/>
              </a:rPr>
              <a:t>坐在船头的鼓手对座椅的压力与座椅对鼓手的支持力是一对作用力与反作用力，</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C</a:t>
            </a:r>
            <a:r>
              <a:rPr lang="en-US" altLang="zh-CN" sz="2400" b="1" i="0" dirty="0">
                <a:solidFill>
                  <a:srgbClr val="FF0000"/>
                </a:solidFill>
                <a:latin typeface="Times New Roman" pitchFamily="34" charset="0"/>
                <a:ea typeface="微软雅黑" pitchFamily="34" charset="-122"/>
                <a:cs typeface="Times New Roman" pitchFamily="34" charset="-120"/>
              </a:rPr>
              <a:t>正确，D错误.</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sp>
        <p:nvSpPr>
          <p:cNvPr id="2" name="P_5_BD#019cd066c?vcp=1&amp;pid=3ea1161dd&amp;color=0,0,0&amp;bt=1&amp;bbb=1"/>
          <p:cNvSpPr/>
          <p:nvPr/>
        </p:nvSpPr>
        <p:spPr>
          <a:xfrm>
            <a:off x="393192" y="747078"/>
            <a:ext cx="11402568" cy="103759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作用力与反作用力的三个关系</a:t>
            </a:r>
            <a:endParaRPr lang="en-US" altLang="zh-CN" sz="2400" dirty="0"/>
          </a:p>
        </p:txBody>
      </p:sp>
      <p:pic>
        <p:nvPicPr>
          <p:cNvPr id="3" name="P_5_BD#019cd066c?vcp=1&amp;pid=3ea1161dd&amp;color=0,0,0&amp;tib=255,255,255"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727448" y="1920304"/>
            <a:ext cx="2743200" cy="187452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P_5_BD#019cd066c?vcp=1&amp;pid=3ea1161dd&amp;color=0,0,0&amp;bbb=1"/>
          <p:cNvSpPr/>
          <p:nvPr/>
        </p:nvSpPr>
        <p:spPr>
          <a:xfrm>
            <a:off x="393192" y="3926903"/>
            <a:ext cx="11402568" cy="2150999"/>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判断作用力和反作用力的方法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判断两个力是否为一对作用力和反作用力</a:t>
            </a:r>
            <a:r>
              <a:rPr lang="en-US" altLang="zh-CN" sz="2400" b="0" i="0" dirty="0">
                <a:solidFill>
                  <a:srgbClr val="000000"/>
                </a:solidFill>
                <a:latin typeface="Times New Roman" pitchFamily="34" charset="0"/>
                <a:ea typeface="微软雅黑" pitchFamily="34" charset="-122"/>
                <a:cs typeface="Times New Roman" pitchFamily="34" charset="-120"/>
              </a:rPr>
              <a:t>,主要看两个方面:</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.看作用点：作用力和反作用力应作用在两个物体上，则作用点也在两个物体上.</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spc="-50">
                <a:solidFill>
                  <a:srgbClr val="000000"/>
                </a:solidFill>
                <a:latin typeface="Times New Roman" pitchFamily="34" charset="0"/>
                <a:ea typeface="微软雅黑" pitchFamily="34" charset="-122"/>
                <a:cs typeface="Times New Roman" pitchFamily="34" charset="-120"/>
              </a:rPr>
              <a:t>2</a:t>
            </a:r>
            <a:r>
              <a:rPr lang="en-US" altLang="zh-CN" sz="2400" b="0" i="0" spc="-50" dirty="0">
                <a:solidFill>
                  <a:srgbClr val="000000"/>
                </a:solidFill>
                <a:latin typeface="Times New Roman" pitchFamily="34" charset="0"/>
                <a:ea typeface="微软雅黑" pitchFamily="34" charset="-122"/>
                <a:cs typeface="Times New Roman" pitchFamily="34" charset="-120"/>
              </a:rPr>
              <a:t>.看产生的原因：作用力和反作用力是由于相互作用而产生的,一定是同一性质的力.</a:t>
            </a:r>
            <a:endParaRPr lang="en-US" altLang="zh-CN" sz="2400" spc="-50" dirty="0"/>
          </a:p>
        </p:txBody>
      </p:sp>
    </p:spTree>
  </p:cSld>
  <p:clrMapOvr>
    <a:masterClrMapping/>
  </p:clrMapOvr>
  <p:transition>
    <p:split dir="in"/>
  </p:transition>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p:sp>
        <p:nvSpPr>
          <p:cNvPr id="2" name="P_5_BD#019cd066c?vcp=1&amp;pid=3ea1161dd&amp;color=0,0,0&amp;bt=1&amp;bbb=1"/>
          <p:cNvSpPr/>
          <p:nvPr/>
        </p:nvSpPr>
        <p:spPr>
          <a:xfrm>
            <a:off x="393192" y="974598"/>
            <a:ext cx="11402568" cy="103759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归纳总结</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一对作用力和反作用力与一对平衡力的比较</a:t>
            </a:r>
            <a:endParaRPr lang="en-US" altLang="zh-CN" sz="2400" dirty="0"/>
          </a:p>
        </p:txBody>
      </p:sp>
      <p:pic>
        <p:nvPicPr>
          <p:cNvPr id="3" name="P_5_BD#019cd066c?vcp=1&amp;pid=3ea1161dd&amp;color=0,0,0&amp;tib=255,255,255"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434840" y="2147824"/>
            <a:ext cx="3319272" cy="3721608"/>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pic>
        <p:nvPicPr>
          <p:cNvPr id="2" name="C_4#f82c4b5a7?vcp=1&amp;pid=958b2445e&amp;color=0,0,0&amp;tib=255,255,255&amp;bt=1" descr="preencoded.png"/>
          <p:cNvPicPr>
            <a:picLocks noChangeAspect="1"/>
          </p:cNvPicPr>
          <p:nvPr/>
        </p:nvPicPr>
        <p:blipFill>
          <a:blip r:embed="rId3"/>
          <a:stretch>
            <a:fillRect/>
          </a:stretch>
        </p:blipFill>
        <p:spPr>
          <a:xfrm>
            <a:off x="393192" y="502920"/>
            <a:ext cx="11356848" cy="457200"/>
          </a:xfrm>
          <a:prstGeom prst="rect">
            <a:avLst/>
          </a:prstGeom>
        </p:spPr>
      </p:pic>
      <p:sp>
        <p:nvSpPr>
          <p:cNvPr id="3" name="C_4_BD#f82c4b5a7?vcp=1&amp;pid=958b2445e&amp;color=255,255,255"/>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4" name="C_4_BD#f82c4b5a7?vcp=1&amp;pid=958b2445e&amp;color=0,0,0&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物体受力的初步分析</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易错点</a:t>
            </a:r>
            <a:endParaRPr lang="en-US" altLang="zh-CN" sz="2600" dirty="0"/>
          </a:p>
        </p:txBody>
      </p:sp>
      <p:sp>
        <p:nvSpPr>
          <p:cNvPr id="5" name="P_5_BD#8a3f5b60f?vcp=1&amp;pid=f82c4b5a7&amp;color=0,0,0&amp;bbb=1&amp;hb=1"/>
          <p:cNvSpPr/>
          <p:nvPr/>
        </p:nvSpPr>
        <p:spPr>
          <a:xfrm>
            <a:off x="393192" y="1092200"/>
            <a:ext cx="11402568" cy="43902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.物体是否受某力的判断依据</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1）条件判断：根据是否满足力的产生条件来判断物体是否受到某个力的作用.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2）效果判断：根据力的作用效果来判断物体是否受到某个力的作用.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3）相互作用判断：利用力的作用的相互性，</a:t>
            </a:r>
            <a:r>
              <a:rPr lang="en-US" altLang="zh-CN" sz="2400" b="0" i="0">
                <a:solidFill>
                  <a:srgbClr val="000000"/>
                </a:solidFill>
                <a:latin typeface="Times New Roman" pitchFamily="34" charset="0"/>
                <a:ea typeface="微软雅黑" pitchFamily="34" charset="-122"/>
                <a:cs typeface="Times New Roman" pitchFamily="34" charset="-120"/>
              </a:rPr>
              <a:t>即受力物体同时也是施力物体，</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来判断物体是否受到某个力的作用</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4）特殊法判断：有些难以确定的力，如弹力、摩擦力等，</a:t>
            </a:r>
            <a:r>
              <a:rPr lang="en-US" altLang="zh-CN" sz="2400" b="0" i="0">
                <a:solidFill>
                  <a:srgbClr val="000000"/>
                </a:solidFill>
                <a:latin typeface="Times New Roman" pitchFamily="34" charset="0"/>
                <a:ea typeface="微软雅黑" pitchFamily="34" charset="-122"/>
                <a:cs typeface="Times New Roman" pitchFamily="34" charset="-120"/>
              </a:rPr>
              <a:t>可以利用假设法、</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运动状态分析法等特殊方法来判断物体是否受到某个力的作用</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P_5_BD#8a3f5b60f?vcp=1&amp;pid=f82c4b5a7&amp;color=0,0,0&amp;bt=1&amp;bbb=1&amp;hb=1"/>
          <p:cNvSpPr/>
          <p:nvPr/>
        </p:nvSpPr>
        <p:spPr>
          <a:xfrm>
            <a:off x="393192" y="1521015"/>
            <a:ext cx="11402568" cy="3827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2.对绳、杆、弹簧模型的受力分析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1）为了使问题简化，题目中会出现一些带有某种暗示的提法，如“轻绳”“</a:t>
            </a:r>
            <a:r>
              <a:rPr lang="en-US" altLang="zh-CN" sz="2400" b="0" i="0">
                <a:solidFill>
                  <a:srgbClr val="000000"/>
                </a:solidFill>
                <a:latin typeface="Times New Roman" pitchFamily="34" charset="0"/>
                <a:ea typeface="微软雅黑" pitchFamily="34" charset="-122"/>
                <a:cs typeface="Times New Roman" pitchFamily="34" charset="-120"/>
              </a:rPr>
              <a:t>轻杆”</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暗示不考虑绳与杆的重力</a:t>
            </a:r>
            <a:r>
              <a:rPr lang="en-US" altLang="zh-CN" sz="2400" b="0" i="0" dirty="0">
                <a:solidFill>
                  <a:srgbClr val="000000"/>
                </a:solidFill>
                <a:latin typeface="Times New Roman" pitchFamily="34" charset="0"/>
                <a:ea typeface="微软雅黑" pitchFamily="34" charset="-122"/>
                <a:cs typeface="Times New Roman" pitchFamily="34" charset="-120"/>
              </a:rPr>
              <a:t>；“光滑面”暗示不考虑接触面的摩擦力；“滑轮”“</a:t>
            </a:r>
            <a:r>
              <a:rPr lang="en-US" altLang="zh-CN" sz="2400" b="0" i="0">
                <a:solidFill>
                  <a:srgbClr val="000000"/>
                </a:solidFill>
                <a:latin typeface="Times New Roman" pitchFamily="34" charset="0"/>
                <a:ea typeface="微软雅黑" pitchFamily="34" charset="-122"/>
                <a:cs typeface="Times New Roman" pitchFamily="34" charset="-120"/>
              </a:rPr>
              <a:t>光滑挂钩”</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暗示两侧细绳的拉力大小相等</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2）若不涉及物体转动，可将所有受到的力画到一个共同作用点上</a:t>
            </a:r>
            <a:r>
              <a:rPr lang="en-US" altLang="zh-CN" sz="2400" b="0" i="0">
                <a:solidFill>
                  <a:srgbClr val="000000"/>
                </a:solidFill>
                <a:latin typeface="Times New Roman" pitchFamily="34" charset="0"/>
                <a:ea typeface="微软雅黑" pitchFamily="34" charset="-122"/>
                <a:cs typeface="Times New Roman" pitchFamily="34" charset="-120"/>
              </a:rPr>
              <a:t>,一般画在重</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心上</a:t>
            </a:r>
            <a:r>
              <a:rPr lang="en-US" altLang="zh-CN" sz="2400" b="0" i="0" dirty="0">
                <a:solidFill>
                  <a:srgbClr val="000000"/>
                </a:solidFill>
                <a:latin typeface="Times New Roman" pitchFamily="34" charset="0"/>
                <a:ea typeface="微软雅黑" pitchFamily="34" charset="-122"/>
                <a:cs typeface="Times New Roman" pitchFamily="34" charset="-120"/>
              </a:rPr>
              <a:t>；若涉及物体转动，则力的作用点实际在哪就画在哪.</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3）静摩擦力产生的条件中相对运动的趋势要由研究对象受到的其他力来确定.</a:t>
            </a:r>
            <a:endParaRPr lang="en-US" altLang="zh-CN" sz="2400" dirty="0"/>
          </a:p>
        </p:txBody>
      </p:sp>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5_BD.7_1#fc99e0959?vcp=1&amp;pid=f82c4b5a7&amp;color=0,0,0&amp;bt=1&amp;bbb=1&amp;hb=1"/>
              <p:cNvSpPr/>
              <p:nvPr/>
            </p:nvSpPr>
            <p:spPr>
              <a:xfrm>
                <a:off x="393192" y="1983486"/>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（多选题）如图所示，两个相似的斜面体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在竖直向上的力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的作用下静止</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靠在竖直粗糙墙壁上</a:t>
                </a:r>
                <a:r>
                  <a:rPr lang="en-US" altLang="zh-CN" sz="2400" b="0" i="0" dirty="0">
                    <a:solidFill>
                      <a:srgbClr val="000000"/>
                    </a:solidFill>
                    <a:latin typeface="Times New Roman" pitchFamily="34" charset="0"/>
                    <a:ea typeface="微软雅黑" pitchFamily="34" charset="-122"/>
                    <a:cs typeface="Times New Roman" pitchFamily="34" charset="-120"/>
                  </a:rPr>
                  <a:t>.关于斜面体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的受力情况，</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C_5_BD.7_1#fc99e0959?vcp=1&amp;pid=f82c4b5a7&amp;color=0,0,0&amp;bt=1&amp;bbb=1&amp;hb=1"/>
              <p:cNvSpPr>
                <a:spLocks noRot="1" noChangeAspect="1" noMove="1" noResize="1" noEditPoints="1" noAdjustHandles="1" noChangeArrowheads="1" noChangeShapeType="1" noTextEdit="1"/>
              </p:cNvSpPr>
              <p:nvPr/>
            </p:nvSpPr>
            <p:spPr>
              <a:xfrm>
                <a:off x="393192" y="1983486"/>
                <a:ext cx="11402568" cy="1033399"/>
              </a:xfrm>
              <a:prstGeom prst="rect">
                <a:avLst/>
              </a:prstGeom>
              <a:blipFill>
                <a:blip r:embed="rId3"/>
                <a:stretch>
                  <a:fillRect l="-1658" r="-428" b="-17647"/>
                </a:stretch>
              </a:blipFill>
              <a:ln/>
            </p:spPr>
            <p:txBody>
              <a:bodyPr/>
              <a:lstStyle/>
              <a:p>
                <a:r>
                  <a:rPr lang="zh-CN" altLang="en-US">
                    <a:noFill/>
                  </a:rPr>
                  <a:t> </a:t>
                </a:r>
              </a:p>
            </p:txBody>
          </p:sp>
        </mc:Fallback>
      </mc:AlternateContent>
      <p:sp>
        <p:nvSpPr>
          <p:cNvPr id="3" name="QC_5_AN.8_1#fc99e0959.bracket?vcp=1&amp;pid=f82c4b5a7&amp;color=0,0,0&amp;vpa=3&amp;bbb=1"/>
          <p:cNvSpPr/>
          <p:nvPr/>
        </p:nvSpPr>
        <p:spPr>
          <a:xfrm>
            <a:off x="9996837" y="2530856"/>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AD</a:t>
            </a:r>
            <a:endParaRPr lang="en-US" altLang="zh-CN" sz="2400" dirty="0"/>
          </a:p>
        </p:txBody>
      </p:sp>
      <p:pic>
        <p:nvPicPr>
          <p:cNvPr id="4" name="QC_5_BD.7_2#fc99e0959?htil=1&amp;vcp=1&amp;pid=f82c4b5a7&amp;color=0,0,0&amp;tib=255,255,255"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9827890" y="3062732"/>
            <a:ext cx="1161288" cy="181051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5" name="QC_5_BD.7_3#fc99e0959.choices?htil=1&amp;vcp=1&amp;pid=f82c4b5a7&amp;color=0,0,0&amp;bbb=1"/>
              <p:cNvSpPr/>
              <p:nvPr/>
            </p:nvSpPr>
            <p:spPr>
              <a:xfrm>
                <a:off x="393192" y="3017011"/>
                <a:ext cx="10149840" cy="1033399"/>
              </a:xfrm>
              <a:prstGeom prst="rect">
                <a:avLst/>
              </a:prstGeom>
              <a:noFill/>
              <a:ln/>
            </p:spPr>
            <p:txBody>
              <a:bodyPr wrap="none" lIns="0" tIns="0" rIns="0" bIns="0" rtlCol="0" anchor="t"/>
              <a:lstStyle/>
              <a:p>
                <a:pPr latinLnBrk="1">
                  <a:lnSpc>
                    <a:spcPts val="4400"/>
                  </a:lnSpc>
                  <a:tabLst>
                    <a:tab pos="5182870"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a:solidFill>
                      <a:srgbClr val="000000"/>
                    </a:solidFill>
                    <a:latin typeface="Times New Roman" pitchFamily="34" charset="0"/>
                    <a:ea typeface="微软雅黑" pitchFamily="34" charset="-122"/>
                    <a:cs typeface="Times New Roman" pitchFamily="34" charset="-120"/>
                  </a:rPr>
                  <a:t>一定受到四个力</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可能受到四个力</a:t>
                </a:r>
                <a:endParaRPr lang="en-US" altLang="zh-CN" sz="2400" dirty="0"/>
              </a:p>
              <a:p>
                <a:pPr latinLnBrk="1">
                  <a:lnSpc>
                    <a:spcPts val="4200"/>
                  </a:lnSpc>
                  <a:tabLst>
                    <a:tab pos="5182870"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a:solidFill>
                      <a:srgbClr val="000000"/>
                    </a:solidFill>
                    <a:latin typeface="Times New Roman" pitchFamily="34" charset="0"/>
                    <a:ea typeface="微软雅黑" pitchFamily="34" charset="-122"/>
                    <a:cs typeface="Times New Roman" pitchFamily="34" charset="-120"/>
                  </a:rPr>
                  <a:t>与墙壁之间一定有弹力和摩擦力</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之间一定有摩擦力</a:t>
                </a:r>
                <a:endParaRPr lang="en-US" altLang="zh-CN" sz="2400" dirty="0"/>
              </a:p>
            </p:txBody>
          </p:sp>
        </mc:Choice>
        <mc:Fallback xmlns="">
          <p:sp>
            <p:nvSpPr>
              <p:cNvPr id="5" name="QC_5_BD.7_3#fc99e0959.choices?htil=1&amp;vcp=1&amp;pid=f82c4b5a7&amp;color=0,0,0&amp;bbb=1"/>
              <p:cNvSpPr>
                <a:spLocks noRot="1" noChangeAspect="1" noMove="1" noResize="1" noEditPoints="1" noAdjustHandles="1" noChangeArrowheads="1" noChangeShapeType="1" noTextEdit="1"/>
              </p:cNvSpPr>
              <p:nvPr/>
            </p:nvSpPr>
            <p:spPr>
              <a:xfrm>
                <a:off x="393192" y="3017011"/>
                <a:ext cx="10149840" cy="1033399"/>
              </a:xfrm>
              <a:prstGeom prst="rect">
                <a:avLst/>
              </a:prstGeom>
              <a:blipFill>
                <a:blip r:embed="rId5"/>
                <a:stretch>
                  <a:fillRect l="-1862" b="-1775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pic>
        <p:nvPicPr>
          <p:cNvPr id="2" name="QC_5_AS.9_1#fc99e0959?htil=2&amp;vcp=1&amp;pid=f82c4b5a7&amp;color=0,0,0&amp;tib=255,255,255&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222928" y="790797"/>
            <a:ext cx="3557016" cy="235915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3" name="QC_5_AS.9_2#fc99e0959?htil=2&amp;vcp=1&amp;pid=f82c4b5a7&amp;color=0,0,0&amp;bt=1&amp;bbb=1&amp;hb=1&amp;hs=1"/>
              <p:cNvSpPr/>
              <p:nvPr/>
            </p:nvSpPr>
            <p:spPr>
              <a:xfrm>
                <a:off x="393192" y="745077"/>
                <a:ext cx="77449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整体进行受力分析</a:t>
                </a:r>
                <a:r>
                  <a:rPr lang="en-US" altLang="zh-CN" sz="2400" b="1" i="0">
                    <a:solidFill>
                      <a:srgbClr val="FF0000"/>
                    </a:solidFill>
                    <a:latin typeface="Times New Roman" pitchFamily="34" charset="0"/>
                    <a:ea typeface="微软雅黑" pitchFamily="34" charset="-122"/>
                    <a:cs typeface="Times New Roman" pitchFamily="34" charset="-120"/>
                  </a:rPr>
                  <a:t>，受到竖直向下的重力</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和竖直向上的力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,由平衡条件可知水平方向上</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与墙壁之</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间没有弹力</a:t>
                </a:r>
                <a:r>
                  <a:rPr lang="en-US" altLang="zh-CN" sz="2400" b="1" i="0" dirty="0">
                    <a:solidFill>
                      <a:srgbClr val="FF0000"/>
                    </a:solidFill>
                    <a:latin typeface="Times New Roman" pitchFamily="34" charset="0"/>
                    <a:ea typeface="微软雅黑" pitchFamily="34" charset="-122"/>
                    <a:cs typeface="Times New Roman" pitchFamily="34" charset="-120"/>
                  </a:rPr>
                  <a:t>，因此也没有摩擦力，C错误；对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进行受力</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分析</a:t>
                </a:r>
                <a:r>
                  <a:rPr lang="en-US" altLang="zh-CN" sz="2400" b="1" i="0" dirty="0">
                    <a:solidFill>
                      <a:srgbClr val="FF0000"/>
                    </a:solidFill>
                    <a:latin typeface="Times New Roman" pitchFamily="34" charset="0"/>
                    <a:ea typeface="微软雅黑" pitchFamily="34" charset="-122"/>
                    <a:cs typeface="Times New Roman" pitchFamily="34" charset="-120"/>
                  </a:rPr>
                  <a:t>，如图甲所示，其受到重力、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的支持力及摩擦力</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而处于平衡状态</a:t>
                </a:r>
                <a:r>
                  <a:rPr lang="en-US" altLang="zh-CN" sz="2400" b="1" i="0" dirty="0">
                    <a:solidFill>
                      <a:srgbClr val="FF0000"/>
                    </a:solidFill>
                    <a:latin typeface="Times New Roman" pitchFamily="34" charset="0"/>
                    <a:ea typeface="微软雅黑" pitchFamily="34" charset="-122"/>
                    <a:cs typeface="Times New Roman" pitchFamily="34" charset="-120"/>
                  </a:rPr>
                  <a:t>，故</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只受到三个力，B错误；对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进行受</a:t>
                </a:r>
                <a:endParaRPr lang="en-US" altLang="zh-CN" sz="2400" dirty="0"/>
              </a:p>
            </p:txBody>
          </p:sp>
        </mc:Choice>
        <mc:Fallback xmlns="">
          <p:sp>
            <p:nvSpPr>
              <p:cNvPr id="3" name="QC_5_AS.9_2#fc99e0959?htil=2&amp;vcp=1&amp;pid=f82c4b5a7&amp;color=0,0,0&amp;bt=1&amp;bbb=1&amp;hb=1&amp;hs=1"/>
              <p:cNvSpPr>
                <a:spLocks noRot="1" noChangeAspect="1" noMove="1" noResize="1" noEditPoints="1" noAdjustHandles="1" noChangeArrowheads="1" noChangeShapeType="1" noTextEdit="1"/>
              </p:cNvSpPr>
              <p:nvPr/>
            </p:nvSpPr>
            <p:spPr>
              <a:xfrm>
                <a:off x="393192" y="745077"/>
                <a:ext cx="7744968" cy="2713800"/>
              </a:xfrm>
              <a:prstGeom prst="rect">
                <a:avLst/>
              </a:prstGeom>
              <a:blipFill>
                <a:blip r:embed="rId4"/>
                <a:stretch>
                  <a:fillRect l="-2441" r="-2283" b="-6742"/>
                </a:stretch>
              </a:blipFill>
              <a:ln/>
            </p:spPr>
            <p:txBody>
              <a:bodyPr/>
              <a:lstStyle/>
              <a:p>
                <a:r>
                  <a:rPr lang="zh-CN" altLang="en-US">
                    <a:noFill/>
                  </a:rPr>
                  <a:t> </a:t>
                </a:r>
              </a:p>
            </p:txBody>
          </p:sp>
        </mc:Fallback>
      </mc:AlternateContent>
      <p:sp>
        <p:nvSpPr>
          <p:cNvPr id="4" name="QC_5_EX.10_1#fc99e0959?vcp=1&amp;pid=f82c4b5a7&amp;color=0,0,0&amp;bbb=1&amp;hb=1"/>
          <p:cNvSpPr/>
          <p:nvPr/>
        </p:nvSpPr>
        <p:spPr>
          <a:xfrm>
            <a:off x="393192" y="3975068"/>
            <a:ext cx="11402568" cy="2155000"/>
          </a:xfrm>
          <a:prstGeom prst="rect">
            <a:avLst/>
          </a:prstGeom>
          <a:noFill/>
          <a:ln/>
        </p:spPr>
        <p:txBody>
          <a:bodyPr wrap="none" lIns="0" tIns="0" rIns="0" bIns="0" rtlCol="0" anchor="t"/>
          <a:lstStyle/>
          <a:p>
            <a:pPr algn="l" latinLnBrk="1">
              <a:lnSpc>
                <a:spcPts val="4400"/>
              </a:lnSpc>
            </a:pPr>
            <a:r>
              <a:rPr lang="en-US" altLang="zh-CN" sz="2400" b="0" i="0">
                <a:solidFill>
                  <a:srgbClr val="000000"/>
                </a:solidFill>
                <a:latin typeface="SimSun" pitchFamily="34" charset="0"/>
                <a:ea typeface="SimSun" pitchFamily="34" charset="-122"/>
                <a:cs typeface="SimSu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一般来说</a:t>
            </a:r>
            <a:r>
              <a:rPr lang="en-US" altLang="zh-CN" sz="2400" b="0" i="0" dirty="0">
                <a:solidFill>
                  <a:srgbClr val="000000"/>
                </a:solidFill>
                <a:latin typeface="Times New Roman" pitchFamily="34" charset="0"/>
                <a:ea typeface="微软雅黑" pitchFamily="34" charset="-122"/>
                <a:cs typeface="Times New Roman" pitchFamily="34" charset="-120"/>
              </a:rPr>
              <a:t>，受力分析要在明确研究对象后根据“一重，二弹，三摩擦</a:t>
            </a:r>
            <a:r>
              <a:rPr lang="en-US" altLang="zh-CN" sz="2400" b="0" i="0">
                <a:solidFill>
                  <a:srgbClr val="000000"/>
                </a:solidFill>
                <a:latin typeface="Times New Roman" pitchFamily="34" charset="0"/>
                <a:ea typeface="微软雅黑" pitchFamily="34" charset="-122"/>
                <a:cs typeface="Times New Roman" pitchFamily="34" charset="-120"/>
              </a:rPr>
              <a:t>，四其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他</a:t>
            </a:r>
            <a:r>
              <a:rPr lang="en-US" altLang="zh-CN" sz="2400" b="0" i="0" dirty="0">
                <a:solidFill>
                  <a:srgbClr val="000000"/>
                </a:solidFill>
                <a:latin typeface="Times New Roman" pitchFamily="34" charset="0"/>
                <a:ea typeface="微软雅黑" pitchFamily="34" charset="-122"/>
                <a:cs typeface="Times New Roman" pitchFamily="34" charset="-120"/>
              </a:rPr>
              <a:t>”的顺序进行，只有先明确重力，才能正确分析出弹力</a:t>
            </a:r>
            <a:r>
              <a:rPr lang="en-US" altLang="zh-CN" sz="2400" b="0" i="0">
                <a:solidFill>
                  <a:srgbClr val="000000"/>
                </a:solidFill>
                <a:latin typeface="Times New Roman" pitchFamily="34" charset="0"/>
                <a:ea typeface="微软雅黑" pitchFamily="34" charset="-122"/>
                <a:cs typeface="Times New Roman" pitchFamily="34" charset="-120"/>
              </a:rPr>
              <a:t>，进而分析出摩擦力以及其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他力</a:t>
            </a:r>
            <a:r>
              <a:rPr lang="en-US" altLang="zh-CN" sz="2400" b="0" i="0" dirty="0">
                <a:solidFill>
                  <a:srgbClr val="000000"/>
                </a:solidFill>
                <a:latin typeface="Times New Roman" pitchFamily="34" charset="0"/>
                <a:ea typeface="微软雅黑" pitchFamily="34" charset="-122"/>
                <a:cs typeface="Times New Roman" pitchFamily="34" charset="-120"/>
              </a:rPr>
              <a:t>.在一些需要利用间接手段确定物体受力的情况下</a:t>
            </a:r>
            <a:r>
              <a:rPr lang="en-US" altLang="zh-CN" sz="2400" b="0" i="0">
                <a:solidFill>
                  <a:srgbClr val="000000"/>
                </a:solidFill>
                <a:latin typeface="Times New Roman" pitchFamily="34" charset="0"/>
                <a:ea typeface="微软雅黑" pitchFamily="34" charset="-122"/>
                <a:cs typeface="Times New Roman" pitchFamily="34" charset="-120"/>
              </a:rPr>
              <a:t>，我们才会选择其他的顺序来进</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行受力分析</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pic>
        <p:nvPicPr>
          <p:cNvPr id="5" name="QC_5_EX.10_1#fc99e0959?vcp=1&amp;pid=f82c4b5a7&amp;color=0,0,0&amp;tib=255,255,255&amp;ii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1006253" y="4093940"/>
            <a:ext cx="621792" cy="31089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6" name="QC_5_AS.9_2#fc99e0959?htil=2&amp;vcp=1&amp;pid=f82c4b5a7&amp;color=0,0,0&amp;bt=1&amp;bbb=1&amp;hb=1&amp;hs=1">
                <a:extLst>
                  <a:ext uri="{FF2B5EF4-FFF2-40B4-BE49-F238E27FC236}">
                    <a16:creationId xmlns:a16="http://schemas.microsoft.com/office/drawing/2014/main" id="{AE0B7A8C-2D62-65D4-DBA3-AC223480B83B}"/>
                  </a:ext>
                </a:extLst>
              </p:cNvPr>
              <p:cNvSpPr/>
              <p:nvPr/>
            </p:nvSpPr>
            <p:spPr>
              <a:xfrm>
                <a:off x="395996" y="3486816"/>
                <a:ext cx="11400008" cy="488125"/>
              </a:xfrm>
              <a:prstGeom prst="rect">
                <a:avLst/>
              </a:prstGeom>
              <a:noFill/>
              <a:ln/>
            </p:spPr>
            <p:txBody>
              <a:bodyPr wrap="none" lIns="0" tIns="0" rIns="0" bIns="0" rtlCol="0" anchor="t"/>
              <a:lstStyle/>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力</a:t>
                </a:r>
                <a:r>
                  <a:rPr lang="en-US" altLang="zh-CN" sz="2400" b="1" i="0" spc="-100">
                    <a:solidFill>
                      <a:srgbClr val="FF0000"/>
                    </a:solidFill>
                    <a:latin typeface="Times New Roman" pitchFamily="34" charset="0"/>
                    <a:ea typeface="微软雅黑" pitchFamily="34" charset="-122"/>
                    <a:cs typeface="Times New Roman" pitchFamily="34" charset="-120"/>
                  </a:rPr>
                  <a:t>分析</a:t>
                </a:r>
                <a:r>
                  <a:rPr lang="en-US" altLang="zh-CN" sz="2400" b="1" i="0" spc="-100" dirty="0">
                    <a:solidFill>
                      <a:srgbClr val="FF0000"/>
                    </a:solidFill>
                    <a:latin typeface="Times New Roman" pitchFamily="34" charset="0"/>
                    <a:ea typeface="微软雅黑" pitchFamily="34" charset="-122"/>
                    <a:cs typeface="Times New Roman" pitchFamily="34" charset="-120"/>
                  </a:rPr>
                  <a:t>，如图乙所示，受到重力、力</a:t>
                </a:r>
                <a14:m>
                  <m:oMath xmlns:m="http://schemas.openxmlformats.org/officeDocument/2006/math">
                    <m:r>
                      <a:rPr lang="en-US" altLang="zh-CN" sz="2400" b="1" i="1" spc="-100">
                        <a:solidFill>
                          <a:srgbClr val="FF0000"/>
                        </a:solidFill>
                        <a:latin typeface="Cambria Math" pitchFamily="34" charset="0"/>
                        <a:ea typeface="Cambria Math" pitchFamily="34" charset="-122"/>
                        <a:cs typeface="Cambria Math" pitchFamily="34" charset="-120"/>
                      </a:rPr>
                      <m:t>𝑭</m:t>
                    </m:r>
                  </m:oMath>
                </a14:m>
                <a:r>
                  <a:rPr lang="en-US" altLang="zh-CN" sz="2400" b="1" i="0" spc="-10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spc="-100">
                        <a:solidFill>
                          <a:srgbClr val="FF0000"/>
                        </a:solidFill>
                        <a:latin typeface="Cambria Math" pitchFamily="34" charset="0"/>
                        <a:ea typeface="Cambria Math" pitchFamily="34" charset="-122"/>
                        <a:cs typeface="Cambria Math" pitchFamily="34" charset="-120"/>
                      </a:rPr>
                      <m:t>𝑩</m:t>
                    </m:r>
                  </m:oMath>
                </a14:m>
                <a:r>
                  <a:rPr lang="en-US" altLang="zh-CN" sz="2400" b="1" i="0" spc="-10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spc="-100">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100">
                    <a:solidFill>
                      <a:srgbClr val="FF0000"/>
                    </a:solidFill>
                    <a:latin typeface="Times New Roman" pitchFamily="34" charset="0"/>
                    <a:ea typeface="微软雅黑" pitchFamily="34" charset="-122"/>
                    <a:cs typeface="Times New Roman" pitchFamily="34" charset="-120"/>
                  </a:rPr>
                  <a:t>的支持力和摩擦力</a:t>
                </a:r>
                <a:r>
                  <a:rPr lang="en-US" altLang="zh-CN" sz="2400" b="1" i="0" spc="-100" dirty="0">
                    <a:solidFill>
                      <a:srgbClr val="FF0000"/>
                    </a:solidFill>
                    <a:latin typeface="Times New Roman" pitchFamily="34" charset="0"/>
                    <a:ea typeface="微软雅黑" pitchFamily="34" charset="-122"/>
                    <a:cs typeface="Times New Roman" pitchFamily="34" charset="-120"/>
                  </a:rPr>
                  <a:t>，共四个力，A、D正确.</a:t>
                </a:r>
                <a:endParaRPr lang="en-US" altLang="zh-CN" sz="2400" spc="-100" dirty="0"/>
              </a:p>
            </p:txBody>
          </p:sp>
        </mc:Choice>
        <mc:Fallback xmlns="">
          <p:sp>
            <p:nvSpPr>
              <p:cNvPr id="6" name="QC_5_AS.9_2#fc99e0959?htil=2&amp;vcp=1&amp;pid=f82c4b5a7&amp;color=0,0,0&amp;bt=1&amp;bbb=1&amp;hb=1&amp;hs=1">
                <a:extLst>
                  <a:ext uri="{FF2B5EF4-FFF2-40B4-BE49-F238E27FC236}">
                    <a16:creationId xmlns:a16="http://schemas.microsoft.com/office/drawing/2014/main" id="{AE0B7A8C-2D62-65D4-DBA3-AC223480B83B}"/>
                  </a:ext>
                </a:extLst>
              </p:cNvPr>
              <p:cNvSpPr>
                <a:spLocks noRot="1" noChangeAspect="1" noMove="1" noResize="1" noEditPoints="1" noAdjustHandles="1" noChangeArrowheads="1" noChangeShapeType="1" noTextEdit="1"/>
              </p:cNvSpPr>
              <p:nvPr/>
            </p:nvSpPr>
            <p:spPr>
              <a:xfrm>
                <a:off x="395996" y="3486816"/>
                <a:ext cx="11400008" cy="488125"/>
              </a:xfrm>
              <a:prstGeom prst="rect">
                <a:avLst/>
              </a:prstGeom>
              <a:blipFill>
                <a:blip r:embed="rId6"/>
                <a:stretch>
                  <a:fillRect l="-1658" r="-856" b="-362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
                                            <p:bg/>
                                          </p:spTgt>
                                        </p:tgtEl>
                                        <p:attrNameLst>
                                          <p:attrName>style.visibility</p:attrName>
                                        </p:attrNameLst>
                                      </p:cBhvr>
                                      <p:to>
                                        <p:strVal val="visible"/>
                                      </p:to>
                                    </p:set>
                                    <p:animEffect transition="in" filter="wipe(left)">
                                      <p:cBhvr>
                                        <p:cTn id="28" dur="500"/>
                                        <p:tgtEl>
                                          <p:spTgt spid="6">
                                            <p:bg/>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wipe(left)">
                                      <p:cBhvr>
                                        <p:cTn id="31" dur="500"/>
                                        <p:tgtEl>
                                          <p:spTgt spid="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bg/>
                                          </p:spTgt>
                                        </p:tgtEl>
                                        <p:attrNameLst>
                                          <p:attrName>style.visibility</p:attrName>
                                        </p:attrNameLst>
                                      </p:cBhvr>
                                      <p:to>
                                        <p:strVal val="visible"/>
                                      </p:to>
                                    </p:set>
                                    <p:animEffect transition="in" filter="wipe(left)">
                                      <p:cBhvr>
                                        <p:cTn id="36" dur="500"/>
                                        <p:tgtEl>
                                          <p:spTgt spid="4">
                                            <p:bg/>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animEffect transition="in" filter="wipe(left)">
                                      <p:cBhvr>
                                        <p:cTn id="39" dur="500"/>
                                        <p:tgtEl>
                                          <p:spTgt spid="4">
                                            <p:txEl>
                                              <p:pRg st="0" end="0"/>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left)">
                                      <p:cBhvr>
                                        <p:cTn id="42" dur="500"/>
                                        <p:tgtEl>
                                          <p:spTgt spid="4">
                                            <p:txEl>
                                              <p:pRg st="1" end="1"/>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Effect transition="in" filter="wipe(left)">
                                      <p:cBhvr>
                                        <p:cTn id="45" dur="500"/>
                                        <p:tgtEl>
                                          <p:spTgt spid="4">
                                            <p:txEl>
                                              <p:pRg st="2" end="2"/>
                                            </p:txEl>
                                          </p:spTgt>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4">
                                            <p:txEl>
                                              <p:pRg st="3" end="3"/>
                                            </p:txEl>
                                          </p:spTgt>
                                        </p:tgtEl>
                                        <p:attrNameLst>
                                          <p:attrName>style.visibility</p:attrName>
                                        </p:attrNameLst>
                                      </p:cBhvr>
                                      <p:to>
                                        <p:strVal val="visible"/>
                                      </p:to>
                                    </p:set>
                                    <p:animEffect transition="in" filter="wipe(left)">
                                      <p:cBhvr>
                                        <p:cTn id="48" dur="500"/>
                                        <p:tgtEl>
                                          <p:spTgt spid="4">
                                            <p:txEl>
                                              <p:pRg st="3" end="3"/>
                                            </p:txEl>
                                          </p:spTgt>
                                        </p:tgtEl>
                                      </p:cBhvr>
                                    </p:animEffect>
                                  </p:childTnLst>
                                </p:cTn>
                              </p:par>
                              <p:par>
                                <p:cTn id="49" presetID="22" presetClass="entr" presetSubtype="8" fill="hold"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6"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pic>
        <p:nvPicPr>
          <p:cNvPr id="2" name="QC_5_BD.11_1#71312534a?htil=3&amp;vcp=1&amp;pid=f82c4b5a7&amp;color=0,0,0&amp;tib=255,255,255&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671204" y="1656936"/>
            <a:ext cx="2093976" cy="183794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C_5_BD.11_2#71312534a?htil=3&amp;vcp=1&amp;pid=f82c4b5a7&amp;color=0,0,0&amp;bt=1&amp;bbb=1&amp;hb=1&amp;hs=1"/>
          <p:cNvSpPr/>
          <p:nvPr/>
        </p:nvSpPr>
        <p:spPr>
          <a:xfrm>
            <a:off x="393192" y="1611218"/>
            <a:ext cx="9217152"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如图所示，壁虎在竖直玻璃面上斜向上匀速爬行</a:t>
            </a:r>
            <a:r>
              <a:rPr lang="en-US" altLang="zh-CN" sz="2400" b="0" i="0">
                <a:solidFill>
                  <a:srgbClr val="000000"/>
                </a:solidFill>
                <a:latin typeface="Times New Roman" pitchFamily="34" charset="0"/>
                <a:ea typeface="微软雅黑" pitchFamily="34" charset="-122"/>
                <a:cs typeface="Times New Roman" pitchFamily="34" charset="-120"/>
              </a:rPr>
              <a:t>.关于它在此</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平面内的受力分析</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下列图示中正确的是(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4" name="QC_5_AN.12_1#71312534a.bracket?vcp=1&amp;pid=f82c4b5a7&amp;color=0,0,0&amp;vpa=4"/>
          <p:cNvSpPr/>
          <p:nvPr/>
        </p:nvSpPr>
        <p:spPr>
          <a:xfrm>
            <a:off x="6112160" y="2158588"/>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sp>
        <p:nvSpPr>
          <p:cNvPr id="5" name="QC_5_BD.11_3#71312534a.choices?htil=3&amp;vcp=1&amp;pid=f82c4b5a7&amp;color=0,0,0&amp;bbb=1&amp;hs=1"/>
          <p:cNvSpPr/>
          <p:nvPr/>
        </p:nvSpPr>
        <p:spPr>
          <a:xfrm>
            <a:off x="393192" y="2771743"/>
            <a:ext cx="9217152" cy="1421067"/>
          </a:xfrm>
          <a:prstGeom prst="rect">
            <a:avLst/>
          </a:prstGeom>
          <a:noFill/>
          <a:ln/>
        </p:spPr>
        <p:txBody>
          <a:bodyPr wrap="none" lIns="0" tIns="0" rIns="0" bIns="0" rtlCol="0" anchor="t"/>
          <a:lstStyle/>
          <a:p>
            <a:pPr latinLnBrk="1">
              <a:lnSpc>
                <a:spcPts val="12700"/>
              </a:lnSpc>
              <a:tabLst>
                <a:tab pos="2342388" algn="l"/>
                <a:tab pos="4659376" algn="l"/>
                <a:tab pos="7090664" algn="l"/>
              </a:tabLst>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68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69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69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71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endParaRPr lang="en-US" altLang="zh-CN" sz="900" dirty="0">
              <a:latin typeface="SimSun" panose="02010600030101010101" pitchFamily="2" charset="-122"/>
            </a:endParaRPr>
          </a:p>
        </p:txBody>
      </p:sp>
      <p:pic>
        <p:nvPicPr>
          <p:cNvPr id="6" name="QC_5_BD.11_3#71312534a.choice_image?htil=3&amp;vcp=1&amp;pid=f82c4b5a7&amp;color=0,0,0&amp;tib=255,255,255&amp;iip=2"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07231" y="2819686"/>
            <a:ext cx="1051560" cy="1380744"/>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QC_5_BD.11_3#71312534a.choice_image?htil=3&amp;vcp=1&amp;pid=f82c4b5a7&amp;color=0,0,0&amp;tib=255,255,255&amp;iip=3"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3032284" y="2801397"/>
            <a:ext cx="1051560" cy="139903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QC_5_BD.11_3#71312534a.choice_image?htil=3&amp;vcp=1&amp;pid=f82c4b5a7&amp;color=0,0,0&amp;tib=255,255,255&amp;iip=4"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5347113" y="2865406"/>
            <a:ext cx="1170432" cy="1335024"/>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9" name="QC_5_BD.11_3#71312534a.choice_image?htil=3&amp;vcp=1&amp;pid=f82c4b5a7&amp;color=0,0,0&amp;tib=255,255,255&amp;iip=5" descr="preencoded.png"/>
          <p:cNvPicPr>
            <a:picLocks noChangeAspect="1"/>
          </p:cNvPicPr>
          <p:nvPr/>
        </p:nvPicPr>
        <p:blipFill>
          <a:blip r:embed="rId7">
            <a:clrChange>
              <a:clrFrom>
                <a:srgbClr val="FFFFFF"/>
              </a:clrFrom>
              <a:clrTo>
                <a:srgbClr val="FFFFFF">
                  <a:alpha val="0"/>
                </a:srgbClr>
              </a:clrTo>
            </a:clrChange>
          </a:blip>
          <a:stretch>
            <a:fillRect/>
          </a:stretch>
        </p:blipFill>
        <p:spPr>
          <a:xfrm>
            <a:off x="7797641" y="2773965"/>
            <a:ext cx="1051560" cy="14264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10" name="QC_5_AS.13_1#71312534a?vcp=1&amp;pid=f82c4b5a7&amp;color=0,0,0&amp;bbb=1&amp;hb=1&amp;hs=1"/>
          <p:cNvSpPr/>
          <p:nvPr/>
        </p:nvSpPr>
        <p:spPr>
          <a:xfrm>
            <a:off x="393192" y="4199223"/>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壁虎在竖直玻璃面上斜向上匀速爬行，在此平面内</a:t>
            </a:r>
            <a:r>
              <a:rPr lang="en-US" altLang="zh-CN" sz="2400" b="1" i="0">
                <a:solidFill>
                  <a:srgbClr val="FF0000"/>
                </a:solidFill>
                <a:latin typeface="Times New Roman" pitchFamily="34" charset="0"/>
                <a:ea typeface="微软雅黑" pitchFamily="34" charset="-122"/>
                <a:cs typeface="Times New Roman" pitchFamily="34" charset="-120"/>
              </a:rPr>
              <a:t>，壁虎受到竖直向下的重力</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和竖直向上的摩擦力</a:t>
            </a:r>
            <a:r>
              <a:rPr lang="en-US" altLang="zh-CN" sz="2400" b="1" i="0" dirty="0">
                <a:solidFill>
                  <a:srgbClr val="FF0000"/>
                </a:solidFill>
                <a:latin typeface="Times New Roman" pitchFamily="34" charset="0"/>
                <a:ea typeface="微软雅黑" pitchFamily="34" charset="-122"/>
                <a:cs typeface="Times New Roman" pitchFamily="34" charset="-120"/>
              </a:rPr>
              <a:t>，故A正确.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bg/>
                                          </p:spTgt>
                                        </p:tgtEl>
                                        <p:attrNameLst>
                                          <p:attrName>style.visibility</p:attrName>
                                        </p:attrNameLst>
                                      </p:cBhvr>
                                      <p:to>
                                        <p:strVal val="visible"/>
                                      </p:to>
                                    </p:set>
                                    <p:animEffect transition="in" filter="wipe(left)">
                                      <p:cBhvr>
                                        <p:cTn id="15" dur="500"/>
                                        <p:tgtEl>
                                          <p:spTgt spid="10">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wipe(left)">
                                      <p:cBhvr>
                                        <p:cTn id="18" dur="500"/>
                                        <p:tgtEl>
                                          <p:spTgt spid="10">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wipe(left)">
                                      <p:cBhvr>
                                        <p:cTn id="21"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10"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p:sp>
        <p:nvSpPr>
          <p:cNvPr id="2" name="P_5_BD#080b02fa5?vcp=1&amp;pid=f82c4b5a7&amp;color=0,0,0&amp;bt=1&amp;bbb=1"/>
          <p:cNvSpPr/>
          <p:nvPr/>
        </p:nvSpPr>
        <p:spPr>
          <a:xfrm>
            <a:off x="393192" y="585501"/>
            <a:ext cx="11402568" cy="103759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受力分析的步骤</a:t>
            </a:r>
            <a:endParaRPr lang="en-US" altLang="zh-CN" sz="2400" dirty="0"/>
          </a:p>
        </p:txBody>
      </p:sp>
      <p:pic>
        <p:nvPicPr>
          <p:cNvPr id="3" name="P_5_BD#080b02fa5?vcp=1&amp;pid=f82c4b5a7&amp;color=0,0,0&amp;tib=255,255,255"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710917" y="1758728"/>
            <a:ext cx="2767119" cy="4499801"/>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7.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
        <p:nvSpPr>
          <p:cNvPr id="2" name="P_5_BD#080b02fa5?vcp=1&amp;pid=f82c4b5a7&amp;color=0,0,0&amp;bt=1&amp;bbb=1"/>
          <p:cNvSpPr/>
          <p:nvPr/>
        </p:nvSpPr>
        <p:spPr>
          <a:xfrm>
            <a:off x="393192" y="1782636"/>
            <a:ext cx="11402568" cy="32685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方法梳理</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受力分析的常用方法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.整体法；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.隔离法；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.转换研究对象法；</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.假设法.</a:t>
            </a:r>
            <a:endParaRPr lang="en-US" altLang="zh-CN" sz="2400" dirty="0"/>
          </a:p>
        </p:txBody>
      </p:sp>
    </p:spTree>
  </p:cSld>
  <p:clrMapOvr>
    <a:masterClrMapping/>
  </p:clrMapOvr>
  <p:transition>
    <p:split dir="in"/>
  </p:transition>
</p:sld>
</file>

<file path=ppt/slides/slide18.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p:sp>
        <p:nvSpPr>
          <p:cNvPr id="2" name="P_5_BD#080b02fa5?vcp=1&amp;pid=f82c4b5a7&amp;color=0,0,0&amp;bt=1&amp;bbb=1&amp;hb=1"/>
          <p:cNvSpPr/>
          <p:nvPr/>
        </p:nvSpPr>
        <p:spPr>
          <a:xfrm>
            <a:off x="393192" y="951325"/>
            <a:ext cx="11402568" cy="49490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易错警示</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受力分析的注意事项</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.受力分析是分析其他物体对研究对象施加的力，而不是研究对象对外施加的力.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.不要把作用在其他物体上的力，误认为“通过力的传递”作用在研究对象上.</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.受力分析时，不要多力或少力，可以通过找施力物体的方法防止多力</a:t>
            </a:r>
            <a:r>
              <a:rPr lang="en-US" altLang="zh-CN" sz="2400" b="0" i="0">
                <a:solidFill>
                  <a:srgbClr val="000000"/>
                </a:solidFill>
                <a:latin typeface="Times New Roman" pitchFamily="34" charset="0"/>
                <a:ea typeface="微软雅黑" pitchFamily="34" charset="-122"/>
                <a:cs typeface="Times New Roman" pitchFamily="34" charset="-120"/>
              </a:rPr>
              <a:t>，按照一</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般顺序来分析受力</a:t>
            </a:r>
            <a:r>
              <a:rPr lang="en-US" altLang="zh-CN" sz="2400" b="0" i="0" dirty="0">
                <a:solidFill>
                  <a:srgbClr val="000000"/>
                </a:solidFill>
                <a:latin typeface="Times New Roman" pitchFamily="34" charset="0"/>
                <a:ea typeface="微软雅黑" pitchFamily="34" charset="-122"/>
                <a:cs typeface="Times New Roman" pitchFamily="34" charset="-120"/>
              </a:rPr>
              <a:t>，防止少力.分力和合力避免重复分析.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.只分析物体受到的性质力，不分析效果力.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5</a:t>
            </a:r>
            <a:r>
              <a:rPr lang="en-US" altLang="zh-CN" sz="2400" b="0" i="0" dirty="0">
                <a:solidFill>
                  <a:srgbClr val="000000"/>
                </a:solidFill>
                <a:latin typeface="Times New Roman" pitchFamily="34" charset="0"/>
                <a:ea typeface="微软雅黑" pitchFamily="34" charset="-122"/>
                <a:cs typeface="Times New Roman" pitchFamily="34" charset="-120"/>
              </a:rPr>
              <a:t>.有时题目中会出现一些模型化的提示语，如“轻绳”“轻杆</a:t>
            </a:r>
            <a:r>
              <a:rPr lang="en-US" altLang="zh-CN" sz="2400" b="0" i="0">
                <a:solidFill>
                  <a:srgbClr val="000000"/>
                </a:solidFill>
                <a:latin typeface="Times New Roman" pitchFamily="34" charset="0"/>
                <a:ea typeface="微软雅黑" pitchFamily="34" charset="-122"/>
                <a:cs typeface="Times New Roman" pitchFamily="34" charset="-120"/>
              </a:rPr>
              <a:t>”表示绳和杆本身的重</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力可以忽略不计</a:t>
            </a:r>
            <a:r>
              <a:rPr lang="en-US" altLang="zh-CN" sz="2400" b="0" i="0" dirty="0">
                <a:solidFill>
                  <a:srgbClr val="000000"/>
                </a:solidFill>
                <a:latin typeface="Times New Roman" pitchFamily="34" charset="0"/>
                <a:ea typeface="微软雅黑" pitchFamily="34" charset="-122"/>
                <a:cs typeface="Times New Roman" pitchFamily="34" charset="-120"/>
              </a:rPr>
              <a:t>，“光滑的接触面”表示不会有摩擦力.</a:t>
            </a:r>
            <a:endParaRPr lang="en-US" altLang="zh-CN" sz="2400" dirty="0"/>
          </a:p>
        </p:txBody>
      </p:sp>
    </p:spTree>
  </p:cSld>
  <p:clrMapOvr>
    <a:masterClrMapping/>
  </p:clrMapOvr>
  <p:transition>
    <p:split dir="in"/>
  </p:transition>
</p:sld>
</file>

<file path=ppt/slides/slide19.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609</Words>
  <Application>Microsoft Office PowerPoint</Application>
  <PresentationFormat>宽屏</PresentationFormat>
  <Paragraphs>124</Paragraphs>
  <Slides>19</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SimHei</vt: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3</cp:revision>
  <dcterms:created xsi:type="dcterms:W3CDTF">2026-05-25T07:02:27Z</dcterms:created>
  <dcterms:modified xsi:type="dcterms:W3CDTF">2026-05-25T08:32:31Z</dcterms:modified>
  <cp:category/>
  <cp:contentStatus/>
</cp:coreProperties>
</file>