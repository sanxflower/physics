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5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5" d="100"/>
          <a:sy n="65" d="100"/>
        </p:scale>
        <p:origin x="7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22808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slide" Target="../slides/slide3.xml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xin?subject=physics#pid=6a0d1e829b2d2ba91f04ee84#tid=6a13c062736a60ac3496b20f#sourcefrom=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1261872" y="1078992"/>
            <a:ext cx="7196328" cy="1581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88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8800" dirty="0"/>
          </a:p>
        </p:txBody>
      </p:sp>
      <p:sp>
        <p:nvSpPr>
          <p:cNvPr id="4" name="MasterShapeName"/>
          <p:cNvSpPr/>
          <p:nvPr/>
        </p:nvSpPr>
        <p:spPr>
          <a:xfrm>
            <a:off x="1581912" y="2770632"/>
            <a:ext cx="68397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3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34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MasterShapeName"/>
          <p:cNvSpPr/>
          <p:nvPr/>
        </p:nvSpPr>
        <p:spPr>
          <a:xfrm>
            <a:off x="283464" y="36576"/>
            <a:ext cx="19110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24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考点同步解读</a:t>
            </a:r>
            <a:endParaRPr lang="en-US" sz="2400" dirty="0"/>
          </a:p>
        </p:txBody>
      </p:sp>
      <p:sp>
        <p:nvSpPr>
          <p:cNvPr id="4" name="MasterShapeName"/>
          <p:cNvSpPr/>
          <p:nvPr/>
        </p:nvSpPr>
        <p:spPr>
          <a:xfrm>
            <a:off x="2340864" y="146304"/>
            <a:ext cx="36027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600" b="1" i="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高中物理 必修 第一册 RJ</a:t>
            </a:r>
            <a:endParaRPr lang="en-US" sz="1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MasterShapeName?linknodeid=back_to_first_catalog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0040" y="6409944"/>
            <a:ext cx="448056" cy="448056"/>
          </a:xfrm>
          <a:prstGeom prst="rect">
            <a:avLst/>
          </a:prstGeom>
        </p:spPr>
      </p:pic>
      <p:sp>
        <p:nvSpPr>
          <p:cNvPr id="4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5" name="MasterShapeName"/>
          <p:cNvSpPr/>
          <p:nvPr/>
        </p:nvSpPr>
        <p:spPr>
          <a:xfrm>
            <a:off x="5760720" y="54864"/>
            <a:ext cx="6117336" cy="356616"/>
          </a:xfrm>
          <a:prstGeom prst="rect">
            <a:avLst/>
          </a:prstGeom>
          <a:noFill/>
          <a:ln/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#df=832c11d1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asterShapeName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pic>
        <p:nvPicPr>
          <p:cNvPr id="3" name="MasterShapeName?linknodeid=back_to_first_catalog" descr="preencoded.png">
            <a:hlinkClick r:id="rId3" action="ppaction://hlinksldjump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750040" y="6409944"/>
            <a:ext cx="448056" cy="448056"/>
          </a:xfrm>
          <a:prstGeom prst="rect">
            <a:avLst/>
          </a:prstGeom>
        </p:spPr>
      </p:pic>
      <p:sp>
        <p:nvSpPr>
          <p:cNvPr id="4" name="MasterShapeName"/>
          <p:cNvSpPr/>
          <p:nvPr/>
        </p:nvSpPr>
        <p:spPr>
          <a:xfrm>
            <a:off x="283464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《考点同步解读 高中物理 必修 第一册 RJ》</a:t>
            </a:r>
            <a:endParaRPr lang="en-US" sz="1800" dirty="0"/>
          </a:p>
        </p:txBody>
      </p:sp>
      <p:sp>
        <p:nvSpPr>
          <p:cNvPr id="5" name="MasterShapeName"/>
          <p:cNvSpPr/>
          <p:nvPr/>
        </p:nvSpPr>
        <p:spPr>
          <a:xfrm>
            <a:off x="5760720" y="54864"/>
            <a:ext cx="6117336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00000"/>
              </a:lnSpc>
            </a:pPr>
            <a:r>
              <a:rPr lang="en-US" sz="18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第2讲 时间 位移</a:t>
            </a:r>
            <a:endParaRPr lang="en-US" sz="1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slide" Target="slide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8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8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8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8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8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&amp;si=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&amp;si=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2#832c11d1c.fixed?vcp=1&amp;pid=dbb013986&amp;color=0,112,192&amp;vtp=1&amp;bbb=1"/>
          <p:cNvSpPr/>
          <p:nvPr/>
        </p:nvSpPr>
        <p:spPr>
          <a:xfrm>
            <a:off x="0" y="2157984"/>
            <a:ext cx="12188952" cy="79552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latinLnBrk="1">
              <a:lnSpc>
                <a:spcPts val="6000"/>
              </a:lnSpc>
            </a:pP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第一章</a:t>
            </a:r>
            <a:r>
              <a:rPr lang="en-US" altLang="zh-CN" sz="48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800" b="1" i="0" dirty="0">
                <a:solidFill>
                  <a:srgbClr val="0070C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运动的描述</a:t>
            </a:r>
            <a:endParaRPr lang="en-US" altLang="zh-CN" sz="4800" dirty="0"/>
          </a:p>
        </p:txBody>
      </p:sp>
      <p:sp>
        <p:nvSpPr>
          <p:cNvPr id="3" name="C_2_BD#832c11d1c.fixed?vcp=1&amp;pid=dbb013986&amp;color=0,0,0&amp;vtp=1&amp;bbb=1"/>
          <p:cNvSpPr/>
          <p:nvPr/>
        </p:nvSpPr>
        <p:spPr>
          <a:xfrm>
            <a:off x="265176" y="3602736"/>
            <a:ext cx="11521440" cy="12811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5400"/>
              </a:lnSpc>
            </a:pP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第2讲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时间</a:t>
            </a:r>
            <a:r>
              <a:rPr lang="en-US" altLang="zh-CN" sz="44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44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位移</a:t>
            </a:r>
            <a:endParaRPr lang="en-US" altLang="zh-CN" sz="4400" dirty="0"/>
          </a:p>
        </p:txBody>
      </p:sp>
    </p:spTree>
  </p:cSld>
  <p:clrMapOvr>
    <a:masterClrMapping/>
  </p:clrMapOvr>
  <p:transition>
    <p:split dir="in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&amp;si=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_1#目录1:832c11d1c?lid=8d9eb66aa&amp;cid=8d9eb66aa&amp;vtp=1&amp;bt=1&amp;bbb=1">
            <a:hlinkClick r:id="rId3" action="ppaction://hlinksldjump"/>
          </p:cNvPr>
          <p:cNvSpPr/>
          <p:nvPr/>
        </p:nvSpPr>
        <p:spPr>
          <a:xfrm>
            <a:off x="5577840" y="2587752"/>
            <a:ext cx="6117336" cy="6492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4000"/>
              </a:lnSpc>
            </a:pP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高考要求</a:t>
            </a:r>
            <a:r>
              <a:rPr lang="en-US" altLang="zh-CN" sz="32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学业标准·考情分析</a:t>
            </a:r>
            <a:endParaRPr lang="en-US" altLang="zh-CN" sz="3200" dirty="0"/>
          </a:p>
        </p:txBody>
      </p:sp>
      <p:sp>
        <p:nvSpPr>
          <p:cNvPr id="3" name="C_1#目录1:832c11d1c?lid=1f1655fed&amp;cid=1f1655fed&amp;vtp=1&amp;bbb=1">
            <a:hlinkClick r:id="rId4" action="ppaction://hlinksldjump"/>
          </p:cNvPr>
          <p:cNvSpPr/>
          <p:nvPr/>
        </p:nvSpPr>
        <p:spPr>
          <a:xfrm>
            <a:off x="5577840" y="3419856"/>
            <a:ext cx="6117336" cy="64922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4000"/>
              </a:lnSpc>
            </a:pP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考点分类</a:t>
            </a:r>
            <a:r>
              <a:rPr lang="en-US" altLang="zh-CN" sz="32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3200" b="1" i="0" dirty="0">
                <a:solidFill>
                  <a:srgbClr val="0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考点透析·典例剖析</a:t>
            </a:r>
            <a:endParaRPr lang="en-US" altLang="zh-CN" sz="3200" dirty="0"/>
          </a:p>
        </p:txBody>
      </p:sp>
    </p:spTree>
  </p:cSld>
  <p:clrMapOvr>
    <a:masterClrMapping/>
  </p:clrMapOvr>
  <p:transition>
    <p:split dir="in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&amp;si=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_BD#8d9eb66aa?vcp=1&amp;pid=832c11d1c&amp;color=0,112,192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502920"/>
            <a:ext cx="4727448" cy="548640"/>
          </a:xfrm>
          <a:prstGeom prst="rect">
            <a:avLst/>
          </a:prstGeom>
        </p:spPr>
      </p:pic>
      <p:graphicFrame>
        <p:nvGraphicFramePr>
          <p:cNvPr id="5" name="P_4_BD#207973509?colgroup=11,4,19&amp;vcp=1&amp;pid=8d9eb66aa&amp;color=0,0,0&amp;vtp=1&amp;bbb=1&amp;hb=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496033"/>
              </p:ext>
            </p:extLst>
          </p:nvPr>
        </p:nvGraphicFramePr>
        <p:xfrm>
          <a:off x="393192" y="1181100"/>
          <a:ext cx="11384280" cy="3972751"/>
        </p:xfrm>
        <a:graphic>
          <a:graphicData uri="http://schemas.openxmlformats.org/drawingml/2006/table">
            <a:tbl>
              <a:tblPr/>
              <a:tblGrid>
                <a:gridCol w="36667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36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539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2633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考点分析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核心素养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知识图解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7276"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1.时刻和时间间隔.（★）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物理观念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latinLnBrk="1" hangingPunct="0">
                        <a:lnSpc>
                          <a:spcPts val="27400"/>
                        </a:lnSpc>
                      </a:pPr>
                      <a:endParaRPr lang="en-US" altLang="zh-CN" sz="900" spc="0" dirty="0">
                        <a:solidFill>
                          <a:srgbClr val="FFFFFF">
                            <a:alpha val="0"/>
                          </a:srgbClr>
                        </a:solidFill>
                        <a:latin typeface="SimSun" panose="02010600030101010101" pitchFamily="2" charset="-122"/>
                      </a:endParaRPr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4154"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2.位移的概念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、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位移大小</a:t>
                      </a:r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与方向的表示方法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.（★）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物理观念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4344"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3.位移—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时间图像.</a:t>
                      </a:r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（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★★）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科学思维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4344"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4.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位移与时间的测量.</a:t>
                      </a:r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（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★★）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科学探究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4" name="P_4_BD#207973509.table_image?tii=1&amp;vcp=1&amp;pid=8d9eb66aa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84264" y="1772444"/>
            <a:ext cx="4032504" cy="3282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&amp;si=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3_BD#1f1655fed?vcp=1&amp;pid=832c11d1c&amp;color=0,112,192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" y="502920"/>
            <a:ext cx="4727448" cy="548640"/>
          </a:xfrm>
          <a:prstGeom prst="rect">
            <a:avLst/>
          </a:prstGeom>
        </p:spPr>
      </p:pic>
      <p:pic>
        <p:nvPicPr>
          <p:cNvPr id="3" name="C_4#43eb90bc9?vcp=1&amp;pid=1f1655fed&amp;color=0,0,0&amp;tib=255,255,255&amp;vtp=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181100"/>
            <a:ext cx="11320272" cy="457200"/>
          </a:xfrm>
          <a:prstGeom prst="rect">
            <a:avLst/>
          </a:prstGeom>
        </p:spPr>
      </p:pic>
      <p:sp>
        <p:nvSpPr>
          <p:cNvPr id="4" name="C_4_BD#43eb90bc9?vcp=1&amp;pid=1f1655fed&amp;color=255,255,255&amp;vtp=1"/>
          <p:cNvSpPr/>
          <p:nvPr/>
        </p:nvSpPr>
        <p:spPr>
          <a:xfrm>
            <a:off x="1225296" y="118110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1</a:t>
            </a:r>
            <a:endParaRPr lang="en-US" altLang="zh-CN" sz="2800" dirty="0"/>
          </a:p>
        </p:txBody>
      </p:sp>
      <p:sp>
        <p:nvSpPr>
          <p:cNvPr id="5" name="C_4_BD#43eb90bc9?vcp=1&amp;pid=1f1655fed&amp;color=0,0,0&amp;vtp=1&amp;bbb=1"/>
          <p:cNvSpPr/>
          <p:nvPr/>
        </p:nvSpPr>
        <p:spPr>
          <a:xfrm>
            <a:off x="1837944" y="118110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时刻和时间间隔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回归教材</a:t>
            </a:r>
            <a:endParaRPr lang="en-US" altLang="zh-CN" sz="2600" dirty="0"/>
          </a:p>
        </p:txBody>
      </p:sp>
      <p:sp>
        <p:nvSpPr>
          <p:cNvPr id="6" name="P_5#acb699d6f?vcp=1&amp;pid=43eb90bc9&amp;color=0,0,0&amp;vtp=1&amp;bbb=1"/>
          <p:cNvSpPr/>
          <p:nvPr/>
        </p:nvSpPr>
        <p:spPr>
          <a:xfrm>
            <a:off x="393192" y="1778000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核心总结</a:t>
            </a:r>
            <a:r>
              <a:rPr lang="en-US" altLang="zh-CN" sz="2400" b="0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endParaRPr lang="en-US" altLang="zh-CN" sz="2400" dirty="0"/>
          </a:p>
        </p:txBody>
      </p:sp>
      <p:graphicFrame>
        <p:nvGraphicFramePr>
          <p:cNvPr id="7" name="P_5_BD#acb699d6f?colgroup=3,16,15&amp;vcp=1&amp;pid=43eb90bc9&amp;color=0,0,0&amp;vtp=1&amp;bbb=1&amp;hb=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1414642"/>
              </p:ext>
            </p:extLst>
          </p:nvPr>
        </p:nvGraphicFramePr>
        <p:xfrm>
          <a:off x="393192" y="2398395"/>
          <a:ext cx="11375136" cy="3370834"/>
        </p:xfrm>
        <a:graphic>
          <a:graphicData uri="http://schemas.openxmlformats.org/drawingml/2006/table">
            <a:tbl>
              <a:tblPr/>
              <a:tblGrid>
                <a:gridCol w="1161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852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286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2633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 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时刻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时间间隔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0821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物理</a:t>
                      </a:r>
                      <a:endParaRPr lang="en-US" altLang="zh-CN" sz="1200" dirty="0"/>
                    </a:p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意义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是事物运动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、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发展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、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变化所经历的各</a:t>
                      </a:r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个状态先后顺序的标志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是状态量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是事物运动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、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发展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、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变化所经历的</a:t>
                      </a:r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过程长短的量度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是过程量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8856">
                <a:tc rowSpan="2">
                  <a:txBody>
                    <a:bodyPr/>
                    <a:lstStyle/>
                    <a:p>
                      <a:pPr algn="ctr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1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表示</a:t>
                      </a:r>
                      <a:endParaRPr lang="en-US" altLang="zh-CN" sz="1200" dirty="0"/>
                    </a:p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方法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用时间轴上的点表示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用时间轴上的一段线段表示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852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 hangingPunct="0">
                        <a:lnSpc>
                          <a:spcPts val="10300"/>
                        </a:lnSpc>
                      </a:pPr>
                      <a:endParaRPr lang="en-US" altLang="zh-CN" sz="900" spc="0" dirty="0">
                        <a:solidFill>
                          <a:srgbClr val="FFFFFF">
                            <a:alpha val="0"/>
                          </a:srgbClr>
                        </a:solidFill>
                        <a:latin typeface="SimSun" panose="02010600030101010101" pitchFamily="2" charset="-122"/>
                      </a:endParaRPr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8" name="P_5_BD#acb699d6f.table_image?tii=2&amp;vcp=1&amp;pid=43eb90bc9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128516" y="4489323"/>
            <a:ext cx="5065776" cy="1161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&amp;si=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P_5_BD#acb699d6f?colgroup=3,16,15&amp;vcp=1&amp;pid=43eb90bc9&amp;color=0,0,0&amp;mp=1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7735756"/>
                  </p:ext>
                </p:extLst>
              </p:nvPr>
            </p:nvGraphicFramePr>
            <p:xfrm>
              <a:off x="393192" y="2520220"/>
              <a:ext cx="11375136" cy="2441131"/>
            </p:xfrm>
            <a:graphic>
              <a:graphicData uri="http://schemas.openxmlformats.org/drawingml/2006/table">
                <a:tbl>
                  <a:tblPr/>
                  <a:tblGrid>
                    <a:gridCol w="116128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28523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92861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时间间隔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74154">
                    <a:tc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描述关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键词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“初”“末”“时”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如“第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1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s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末”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“第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s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00" b="0" i="0" kern="0" spc="-99900">
                            <a:solidFill>
                              <a:srgbClr val="FFFFFF"/>
                            </a:solidFill>
                            <a:latin typeface="Times New Roman" pitchFamily="34" charset="0"/>
                            <a:ea typeface="微软雅黑" pitchFamily="34" charset="-122"/>
                            <a:cs typeface="Times New Roman" pitchFamily="34" charset="-120"/>
                          </a:endParaRP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初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”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“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s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时”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“内”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如“第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2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s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内”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“前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3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s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内”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74344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联系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两个时刻之间为一段时间间隔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时间间隔能表示运动的一个过程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好比一段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录像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；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时刻可以显示运动的一瞬间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好比一张照片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P_5_BD#acb699d6f?colgroup=3,16,15&amp;vcp=1&amp;pid=43eb90bc9&amp;color=0,0,0&amp;mp=1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17735756"/>
                  </p:ext>
                </p:extLst>
              </p:nvPr>
            </p:nvGraphicFramePr>
            <p:xfrm>
              <a:off x="393192" y="2520220"/>
              <a:ext cx="11375136" cy="2441131"/>
            </p:xfrm>
            <a:graphic>
              <a:graphicData uri="http://schemas.openxmlformats.org/drawingml/2006/table">
                <a:tbl>
                  <a:tblPr/>
                  <a:tblGrid>
                    <a:gridCol w="116128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28523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92861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SimSun" pitchFamily="34" charset="0"/>
                              <a:ea typeface="SimSun" pitchFamily="34" charset="-122"/>
                              <a:cs typeface="SimSu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时间间隔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74154">
                    <a:tc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描述关</a:t>
                          </a:r>
                        </a:p>
                        <a:p>
                          <a:pPr marL="0" lvl="0" indent="0"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键词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2145" t="-51250" r="-93541" b="-1156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0902" t="-51250" r="-247" b="-11562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74344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联系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两个时刻之间为一段时间间隔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时间间隔能表示运动的一个过程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好比一段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录像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；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时刻可以显示运动的一瞬间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好比一张照片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P_5_BD#acb699d6f?colgroup=3,16,15&amp;vcp=1&amp;pid=43eb90bc9&amp;color=0,0,0&amp;mp=1&amp;vtp=1&amp;bt=1&amp;bbb=1">
            <a:extLst>
              <a:ext uri="{FF2B5EF4-FFF2-40B4-BE49-F238E27FC236}">
                <a16:creationId xmlns:a16="http://schemas.microsoft.com/office/drawing/2014/main" id="{0663492B-0EEC-4003-A4B2-5667144F5361}"/>
              </a:ext>
            </a:extLst>
          </p:cNvPr>
          <p:cNvSpPr txBox="1"/>
          <p:nvPr/>
        </p:nvSpPr>
        <p:spPr>
          <a:xfrm>
            <a:off x="11152775" y="1894745"/>
            <a:ext cx="615553" cy="5032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>
              <a:lnSpc>
                <a:spcPts val="43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续表</a:t>
            </a:r>
          </a:p>
        </p:txBody>
      </p:sp>
    </p:spTree>
  </p:cSld>
  <p:clrMapOvr>
    <a:masterClrMapping/>
  </p:clrMapOvr>
  <p:transition>
    <p:split dir="in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&amp;si=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5_BD.1_1#9ac45b90a?vcp=1&amp;pid=43eb90bc9&amp;color=0,0,0&amp;vtp=1&amp;bt=1&amp;bbb=1&amp;hb=1"/>
          <p:cNvSpPr/>
          <p:nvPr/>
        </p:nvSpPr>
        <p:spPr>
          <a:xfrm>
            <a:off x="393192" y="600297"/>
            <a:ext cx="11402568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考题1</a:t>
            </a:r>
            <a:r>
              <a:rPr lang="en-US" altLang="zh-CN" sz="24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（多选题）根据如图所示的时间坐标轴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，下列有关时刻与时间间隔的叙述正确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pic>
        <p:nvPicPr>
          <p:cNvPr id="3" name="QC_5_BD.1_2#9ac45b90a?vcp=1&amp;pid=43eb90bc9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25112" y="1760822"/>
            <a:ext cx="3547872" cy="585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4" name="QC_5_AN.2_1#9ac45b90a.bracket?vcp=1&amp;pid=43eb90bc9&amp;color=0,0,0&amp;vpa=1&amp;vtp=1&amp;bbb=1"/>
          <p:cNvSpPr/>
          <p:nvPr/>
        </p:nvSpPr>
        <p:spPr>
          <a:xfrm>
            <a:off x="1286160" y="1147667"/>
            <a:ext cx="661988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CD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5_BD.1_3#9ac45b90a.choices?vcp=1&amp;pid=43eb90bc9&amp;color=0,0,0&amp;vtp=1&amp;bbb=1"/>
              <p:cNvSpPr/>
              <p:nvPr/>
            </p:nvSpPr>
            <p:spPr>
              <a:xfrm>
                <a:off x="393192" y="2484722"/>
                <a:ext cx="11402568" cy="2155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表示时刻，称为第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末或第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内，也可以称为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0∼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表示时间间隔，称为最初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内或第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表示时间间隔，称为第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𝑛</m:t>
                        </m:r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表示时间间隔，称为第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𝑛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5_BD.1_3#9ac45b90a.choices?vcp=1&amp;pid=43eb90bc9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484722"/>
                <a:ext cx="11402568" cy="2155000"/>
              </a:xfrm>
              <a:prstGeom prst="rect">
                <a:avLst/>
              </a:prstGeom>
              <a:blipFill>
                <a:blip r:embed="rId4"/>
                <a:stretch>
                  <a:fillRect l="-1658" b="-849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5_AS.3_1#9ac45b90a?vcp=1&amp;pid=43eb90bc9&amp;color=0,0,0&amp;vtp=1&amp;bbb=1&amp;hb=1"/>
              <p:cNvSpPr/>
              <p:nvPr/>
            </p:nvSpPr>
            <p:spPr>
              <a:xfrm>
                <a:off x="393192" y="4631022"/>
                <a:ext cx="11402568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</a:t>
                </a:r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pc="-5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 spc="-5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 spc="-5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表示时刻，称为第</a:t>
                </a:r>
                <a14:m>
                  <m:oMath xmlns:m="http://schemas.openxmlformats.org/officeDocument/2006/math">
                    <m:r>
                      <a:rPr lang="en-US" altLang="zh-CN" sz="2400" b="1" i="1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末或第</a:t>
                </a:r>
                <a14:m>
                  <m:oMath xmlns:m="http://schemas.openxmlformats.org/officeDocument/2006/math">
                    <m:r>
                      <a:rPr lang="en-US" altLang="zh-CN" sz="2400" b="1" i="1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初，A错误；</a:t>
                </a:r>
                <a14:m>
                  <m:oMath xmlns:m="http://schemas.openxmlformats.org/officeDocument/2006/math">
                    <m:r>
                      <a:rPr lang="en-US" altLang="zh-CN" sz="2400" b="1" i="1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sSub>
                      <m:sSubPr>
                        <m:ctrlPr>
                          <a:rPr lang="en-US" altLang="zh-CN" sz="2400" b="1" i="1" spc="-5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 spc="-5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 spc="-5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表示时间间隔，称为前</a:t>
                </a:r>
                <a14:m>
                  <m:oMath xmlns:m="http://schemas.openxmlformats.org/officeDocument/2006/math">
                    <m:r>
                      <a:rPr lang="en-US" altLang="zh-CN" sz="2400" b="1" i="1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100" b="1" i="0" kern="0" spc="-99900">
                  <a:solidFill>
                    <a:srgbClr val="FFFFFF"/>
                  </a:solidFill>
                  <a:latin typeface="Times New Roman" pitchFamily="34" charset="0"/>
                  <a:ea typeface="微软雅黑" pitchFamily="34" charset="-122"/>
                  <a:cs typeface="Times New Roman" pitchFamily="34" charset="-120"/>
                </a:endParaRP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 spc="-5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内或最初</a:t>
                </a:r>
                <a14:m>
                  <m:oMath xmlns:m="http://schemas.openxmlformats.org/officeDocument/2006/math">
                    <m:r>
                      <a:rPr lang="en-US" altLang="zh-CN" sz="2400" b="1" i="1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内，第</a:t>
                </a:r>
                <a14:m>
                  <m:oMath xmlns:m="http://schemas.openxmlformats.org/officeDocument/2006/math">
                    <m:r>
                      <a:rPr lang="en-US" altLang="zh-CN" sz="2400" b="1" i="1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内表示第</a:t>
                </a:r>
                <a14:m>
                  <m:oMath xmlns:m="http://schemas.openxmlformats.org/officeDocument/2006/math">
                    <m:r>
                      <a:rPr lang="en-US" altLang="zh-CN" sz="2400" b="1" i="1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末到第</a:t>
                </a:r>
                <a14:m>
                  <m:oMath xmlns:m="http://schemas.openxmlformats.org/officeDocument/2006/math">
                    <m:r>
                      <a:rPr lang="en-US" altLang="zh-CN" sz="2400" b="1" i="1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末这</a:t>
                </a:r>
                <a14:m>
                  <m:oMath xmlns:m="http://schemas.openxmlformats.org/officeDocument/2006/math">
                    <m:r>
                      <a:rPr lang="en-US" altLang="zh-CN" sz="2400" b="1" i="1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内的时间间隔，B错误；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pc="-5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 spc="-5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 spc="-5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  <m:r>
                      <a:rPr lang="en-US" altLang="zh-CN" sz="2400" b="1" i="0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sSub>
                      <m:sSubPr>
                        <m:ctrlPr>
                          <a:rPr lang="en-US" altLang="zh-CN" sz="2400" b="1" i="1" spc="-5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 spc="-5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 spc="-5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spc="-5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表示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 spc="-5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时间间隔</a:t>
                </a:r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，称为第</a:t>
                </a:r>
                <a14:m>
                  <m:oMath xmlns:m="http://schemas.openxmlformats.org/officeDocument/2006/math">
                    <m:r>
                      <a:rPr lang="en-US" altLang="zh-CN" sz="2400" b="1" i="1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内，C正确；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spc="-5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 spc="-5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 spc="-5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𝒏</m:t>
                        </m:r>
                        <m:r>
                          <a:rPr lang="en-US" altLang="zh-CN" sz="2400" b="1" i="0" spc="-5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r>
                          <a:rPr lang="en-US" altLang="zh-CN" sz="2400" b="1" i="1" spc="-5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sSub>
                      <m:sSubPr>
                        <m:ctrlPr>
                          <a:rPr lang="en-US" altLang="zh-CN" sz="2400" b="1" i="1" spc="-50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 spc="-5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 spc="-5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𝒏</m:t>
                        </m:r>
                      </m:sub>
                    </m:sSub>
                  </m:oMath>
                </a14:m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表示时间间隔，称为第</a:t>
                </a:r>
                <a14:m>
                  <m:oMath xmlns:m="http://schemas.openxmlformats.org/officeDocument/2006/math">
                    <m:r>
                      <a:rPr lang="en-US" altLang="zh-CN" sz="2400" b="1" i="1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𝒏</m:t>
                    </m:r>
                    <m:r>
                      <m:rPr>
                        <m:nor/>
                      </m:rPr>
                      <a:rPr lang="en-US" altLang="zh-CN" sz="2400" b="1" i="0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 spc="-5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spc="-5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内，D正确.</a:t>
                </a:r>
                <a:endParaRPr lang="en-US" altLang="zh-CN" sz="2400" spc="-50" dirty="0"/>
              </a:p>
            </p:txBody>
          </p:sp>
        </mc:Choice>
        <mc:Fallback>
          <p:sp>
            <p:nvSpPr>
              <p:cNvPr id="6" name="QC_5_AS.3_1#9ac45b90a?vcp=1&amp;pid=43eb90bc9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631022"/>
                <a:ext cx="11402568" cy="1596200"/>
              </a:xfrm>
              <a:prstGeom prst="rect">
                <a:avLst/>
              </a:prstGeom>
              <a:blipFill>
                <a:blip r:embed="rId5"/>
                <a:stretch>
                  <a:fillRect l="-1658" r="-1016" b="-1106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6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&amp;si=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5_BD.4_1#682ea3505?vcp=1&amp;pid=43eb90bc9&amp;color=0,0,0&amp;vtp=1&amp;bt=1&amp;bbb=1&amp;hb=1"/>
          <p:cNvSpPr/>
          <p:nvPr/>
        </p:nvSpPr>
        <p:spPr>
          <a:xfrm>
            <a:off x="393192" y="1527842"/>
            <a:ext cx="11402568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变式1-1</a:t>
            </a:r>
            <a:r>
              <a:rPr lang="en-US" altLang="zh-CN" sz="24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高速列车从葫芦岛北站开往北京南站，上午09：22发车，中午12：00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到站，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历时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2小时38分钟，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下列说法正确的是(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3" name="QC_5_AN.5_1#682ea3505.bracket?vcp=1&amp;pid=43eb90bc9&amp;color=0,0,0&amp;vpa=2&amp;vtp=1"/>
          <p:cNvSpPr/>
          <p:nvPr/>
        </p:nvSpPr>
        <p:spPr>
          <a:xfrm>
            <a:off x="5654960" y="2075212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p:sp>
        <p:nvSpPr>
          <p:cNvPr id="4" name="QC_5_BD.4_2#682ea3505.choices?vcp=1&amp;pid=43eb90bc9&amp;color=0,0,0&amp;vtp=1&amp;bbb=1"/>
          <p:cNvSpPr/>
          <p:nvPr/>
        </p:nvSpPr>
        <p:spPr>
          <a:xfrm>
            <a:off x="393192" y="2623978"/>
            <a:ext cx="11402568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4400"/>
              </a:lnSpc>
              <a:tabLst>
                <a:tab pos="5807954" algn="l"/>
              </a:tabLst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A.2小时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38分钟是时刻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.时刻就是极小的时间间隔</a:t>
            </a:r>
            <a:endParaRPr lang="en-US" altLang="zh-CN" sz="2400" dirty="0"/>
          </a:p>
          <a:p>
            <a:pPr latinLnBrk="1">
              <a:lnSpc>
                <a:spcPts val="4200"/>
              </a:lnSpc>
              <a:tabLst>
                <a:tab pos="5807954" algn="l"/>
              </a:tabLst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.到站时间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12：00是时刻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.发车时间09：22是时间间隔</a:t>
            </a:r>
            <a:endParaRPr lang="en-US" altLang="zh-CN" sz="2400" dirty="0"/>
          </a:p>
        </p:txBody>
      </p:sp>
      <p:sp>
        <p:nvSpPr>
          <p:cNvPr id="5" name="QC_5_AS.6_1#682ea3505?vcp=1&amp;pid=43eb90bc9&amp;color=0,0,0&amp;vtp=1&amp;bbb=1&amp;hb=1"/>
          <p:cNvSpPr/>
          <p:nvPr/>
        </p:nvSpPr>
        <p:spPr>
          <a:xfrm>
            <a:off x="393192" y="3727607"/>
            <a:ext cx="11402568" cy="1596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2小时38分钟是时间间隔，A错误；时刻对应时间轴上的一个点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，时间间隔对应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时间轴上的一段距离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，时间间隔即使再小也和时刻的含义不同，B错误；到站时间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12：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00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是时刻，C正确；发车时间09：22是时刻，D错误.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&amp;si=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P_5_BD#b550e20ee?vcp=1&amp;pid=43eb90bc9&amp;color=0,0,0&amp;vtp=1&amp;bt=1&amp;bbb=1&amp;hb=1"/>
              <p:cNvSpPr/>
              <p:nvPr/>
            </p:nvSpPr>
            <p:spPr>
              <a:xfrm>
                <a:off x="393192" y="504000"/>
                <a:ext cx="11402568" cy="578954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2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方法梳理</a:t>
                </a:r>
                <a:endParaRPr lang="en-US" altLang="zh-CN" sz="2400" dirty="0"/>
              </a:p>
              <a:p>
                <a:pPr algn="ctr"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区分时刻和时间间隔的方法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.利用上下文判断：分析所给的说法，根据题意去体会.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.利用时间轴判断：画出时间轴，把所给的时刻或时间间隔标出来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，时刻对应一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个点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，时间间隔对应一条线段.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友情提示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生活中有时使用的物理概念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（如时间）不是十分严谨的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，所以判断生活中的物理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概念时要注意结合具体的生活情境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名师点拨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.第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𝑛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（内）是指时间间隔,时间是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0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.第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𝑛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末与第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𝑛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+1)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初是同一时刻.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P_5_BD#b550e20ee?vcp=1&amp;pid=43eb90bc9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11402568" cy="5789549"/>
              </a:xfrm>
              <a:prstGeom prst="rect">
                <a:avLst/>
              </a:prstGeom>
              <a:blipFill>
                <a:blip r:embed="rId3"/>
                <a:stretch>
                  <a:fillRect l="-1658" r="-535" b="-326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&amp;si=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P_5_BD#b550e20ee?vcp=1&amp;pid=43eb90bc9&amp;color=0,0,0&amp;vtp=1&amp;bt=1&amp;bbb=1&amp;hb=1"/>
              <p:cNvSpPr/>
              <p:nvPr/>
            </p:nvSpPr>
            <p:spPr>
              <a:xfrm>
                <a:off x="393192" y="2074005"/>
                <a:ext cx="11402568" cy="2713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比如：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1）“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末”“第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末”“第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6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初”等均指时刻.注意这几个表述都是指第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时的那一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2）“前</a:t>
                </a:r>
                <a14:m>
                  <m:oMath xmlns:m="http://schemas.openxmlformats.org/officeDocument/2006/math">
                    <m: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m:rPr>
                        <m:nor/>
                      </m:rP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5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内”“</a:t>
                </a:r>
                <a14:m>
                  <m:oMath xmlns:m="http://schemas.openxmlformats.org/officeDocument/2006/math">
                    <m: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5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内”“第</a:t>
                </a:r>
                <a14:m>
                  <m:oMath xmlns:m="http://schemas.openxmlformats.org/officeDocument/2006/math">
                    <m: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5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内”“第</a:t>
                </a:r>
                <a14:m>
                  <m:oMath xmlns:m="http://schemas.openxmlformats.org/officeDocument/2006/math">
                    <m: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5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末到第</a:t>
                </a:r>
                <a14:m>
                  <m:oMath xmlns:m="http://schemas.openxmlformats.org/officeDocument/2006/math">
                    <m: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5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末”等均指时间间隔.其中“第</a:t>
                </a:r>
                <a14:m>
                  <m:oMath xmlns:m="http://schemas.openxmlformats.org/officeDocument/2006/math">
                    <m: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spc="-5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</a:t>
                </a:r>
                <a:r>
                  <a:rPr lang="en-US" altLang="zh-CN" sz="2400" b="0" i="0" spc="-5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”的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 spc="-5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时间间隔是</a:t>
                </a:r>
                <a14:m>
                  <m:oMath xmlns:m="http://schemas.openxmlformats.org/officeDocument/2006/math">
                    <m: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</m:t>
                    </m:r>
                    <m:r>
                      <m:rPr>
                        <m:nor/>
                      </m:rP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5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，指第</a:t>
                </a:r>
                <a14:m>
                  <m:oMath xmlns:m="http://schemas.openxmlformats.org/officeDocument/2006/math">
                    <m: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m:rPr>
                        <m:nor/>
                      </m:rP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5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末到第</a:t>
                </a:r>
                <a14:m>
                  <m:oMath xmlns:m="http://schemas.openxmlformats.org/officeDocument/2006/math">
                    <m: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5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末；而“</a:t>
                </a:r>
                <a14:m>
                  <m:oMath xmlns:m="http://schemas.openxmlformats.org/officeDocument/2006/math">
                    <m: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5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内”的时间间隔是</a:t>
                </a:r>
                <a14:m>
                  <m:oMath xmlns:m="http://schemas.openxmlformats.org/officeDocument/2006/math">
                    <m: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spc="-5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，指0至</a:t>
                </a:r>
                <a14:m>
                  <m:oMath xmlns:m="http://schemas.openxmlformats.org/officeDocument/2006/math">
                    <m: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 spc="-5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spc="-5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末.要区分开.</a:t>
                </a:r>
                <a:endParaRPr lang="en-US" altLang="zh-CN" sz="2400" spc="-50" dirty="0"/>
              </a:p>
            </p:txBody>
          </p:sp>
        </mc:Choice>
        <mc:Fallback>
          <p:sp>
            <p:nvSpPr>
              <p:cNvPr id="2" name="P_5_BD#b550e20ee?vcp=1&amp;pid=43eb90bc9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74005"/>
                <a:ext cx="11402568" cy="2713800"/>
              </a:xfrm>
              <a:prstGeom prst="rect">
                <a:avLst/>
              </a:prstGeom>
              <a:blipFill>
                <a:blip r:embed="rId3"/>
                <a:stretch>
                  <a:fillRect l="-1658" r="-1551" b="-67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&amp;si=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4#7ae12df6c?vcp=1&amp;pid=1f1655fed&amp;color=0,0,0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57200"/>
          </a:xfrm>
          <a:prstGeom prst="rect">
            <a:avLst/>
          </a:prstGeom>
        </p:spPr>
      </p:pic>
      <p:sp>
        <p:nvSpPr>
          <p:cNvPr id="3" name="C_4_BD#7ae12df6c?vcp=1&amp;pid=1f1655fed&amp;color=255,255,255&amp;vtp=1"/>
          <p:cNvSpPr/>
          <p:nvPr/>
        </p:nvSpPr>
        <p:spPr>
          <a:xfrm>
            <a:off x="1225296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2</a:t>
            </a:r>
            <a:endParaRPr lang="en-US" altLang="zh-CN" sz="2800" dirty="0"/>
          </a:p>
        </p:txBody>
      </p:sp>
      <p:sp>
        <p:nvSpPr>
          <p:cNvPr id="4" name="C_4_BD#7ae12df6c?vcp=1&amp;pid=1f1655fed&amp;color=0,0,0&amp;vtp=1&amp;bbb=1"/>
          <p:cNvSpPr/>
          <p:nvPr/>
        </p:nvSpPr>
        <p:spPr>
          <a:xfrm>
            <a:off x="1837944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位置和位移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易错点</a:t>
            </a:r>
            <a:endParaRPr lang="en-US" altLang="zh-CN" sz="2600" dirty="0"/>
          </a:p>
        </p:txBody>
      </p:sp>
      <p:sp>
        <p:nvSpPr>
          <p:cNvPr id="5" name="P_5#9d1c2fbe0?vcp=1&amp;pid=7ae12df6c&amp;color=0,0,0&amp;vtp=1&amp;bbb=1"/>
          <p:cNvSpPr/>
          <p:nvPr/>
        </p:nvSpPr>
        <p:spPr>
          <a:xfrm>
            <a:off x="393192" y="1092200"/>
            <a:ext cx="11402568" cy="10375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核心总结</a:t>
            </a:r>
            <a:endParaRPr lang="en-US" altLang="zh-CN" sz="2400" dirty="0"/>
          </a:p>
          <a:p>
            <a:pPr algn="ctr"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位移和路程的区别</a:t>
            </a:r>
            <a:endParaRPr lang="en-US" altLang="zh-CN" sz="2400" dirty="0"/>
          </a:p>
        </p:txBody>
      </p:sp>
      <p:graphicFrame>
        <p:nvGraphicFramePr>
          <p:cNvPr id="12" name="P_5_BD#9d1c2fbe0?colgroup=2,18,15&amp;vcp=1&amp;pid=7ae12df6c&amp;color=0,0,0&amp;vtp=1&amp;bbb=1&amp;hb=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9576418"/>
              </p:ext>
            </p:extLst>
          </p:nvPr>
        </p:nvGraphicFramePr>
        <p:xfrm>
          <a:off x="393192" y="2259330"/>
          <a:ext cx="11365992" cy="3403219"/>
        </p:xfrm>
        <a:graphic>
          <a:graphicData uri="http://schemas.openxmlformats.org/drawingml/2006/table">
            <a:tbl>
              <a:tblPr/>
              <a:tblGrid>
                <a:gridCol w="8961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241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4573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92633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100"/>
                        </a:lnSpc>
                      </a:pP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位移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路程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8121">
                <a:tc>
                  <a:txBody>
                    <a:bodyPr/>
                    <a:lstStyle/>
                    <a:p>
                      <a:pPr marL="0" indent="0" algn="ctr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物理</a:t>
                      </a:r>
                    </a:p>
                    <a:p>
                      <a:pPr marL="0" lvl="0" indent="0"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意义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表示物体位置的变化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表示物体运动轨迹的长短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8121">
                <a:tc>
                  <a:txBody>
                    <a:bodyPr/>
                    <a:lstStyle/>
                    <a:p>
                      <a:pPr marL="0" indent="0" algn="ctr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矢量/</a:t>
                      </a:r>
                    </a:p>
                    <a:p>
                      <a:pPr marL="0" lvl="0" indent="0"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标量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既有大小又有方向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是矢量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只有大小没有方向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是标量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74344">
                <a:tc>
                  <a:txBody>
                    <a:bodyPr/>
                    <a:lstStyle/>
                    <a:p>
                      <a:pPr marL="0" indent="0" algn="ctr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制约</a:t>
                      </a:r>
                    </a:p>
                    <a:p>
                      <a:pPr marL="0" lvl="0" indent="0"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因素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由物体的初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、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末位置决定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与物体的运动</a:t>
                      </a:r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路径无关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8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既与物体的初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、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末位置有关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也与</a:t>
                      </a:r>
                    </a:p>
                    <a:p>
                      <a:pPr marL="0" lv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物体的运动路径有关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split dir="in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&amp;si=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3" name="P_5_BD#9d1c2fbe0?colgroup=2,18,15&amp;vcp=1&amp;pid=7ae12df6c&amp;color=0,0,0&amp;mp=1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4787531"/>
                  </p:ext>
                </p:extLst>
              </p:nvPr>
            </p:nvGraphicFramePr>
            <p:xfrm>
              <a:off x="393192" y="2566606"/>
              <a:ext cx="11365992" cy="2348357"/>
            </p:xfrm>
            <a:graphic>
              <a:graphicData uri="http://schemas.openxmlformats.org/drawingml/2006/table">
                <a:tbl>
                  <a:tblPr/>
                  <a:tblGrid>
                    <a:gridCol w="89611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72414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74573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00"/>
                            </a:lnSpc>
                          </a:pP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位移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路程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855724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举例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5100"/>
                            </a:lnSpc>
                          </a:pPr>
                          <a:r>
                            <a:rPr lang="en-US" altLang="zh-CN" sz="2800" b="0" i="0" kern="0" spc="-9990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_</a:t>
                          </a:r>
                          <a:r>
                            <a:rPr lang="en-US" altLang="zh-CN" sz="900" b="0" i="0" kern="0" spc="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SimSun" panose="02010600030101010101" pitchFamily="2" charset="-122"/>
                              <a:ea typeface="微软雅黑" pitchFamily="34" charset="-122"/>
                              <a:cs typeface="Times New Roman" pitchFamily="34" charset="-120"/>
                            </a:rPr>
                            <a:t>___________________________</a:t>
                          </a: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质点由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点运动到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点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有向线段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𝐴𝐵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的大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小和方向表示质点的位移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ctr" latinLnBrk="1" hangingPunct="0">
                            <a:lnSpc>
                              <a:spcPts val="5100"/>
                            </a:lnSpc>
                          </a:pPr>
                          <a:r>
                            <a:rPr lang="en-US" altLang="zh-CN" sz="2800" b="0" i="0" kern="0" spc="-9990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_</a:t>
                          </a:r>
                          <a:r>
                            <a:rPr lang="en-US" altLang="zh-CN" sz="900" b="0" i="0" kern="0" spc="0">
                              <a:solidFill>
                                <a:srgbClr val="FFFFFF">
                                  <a:alpha val="0"/>
                                </a:srgbClr>
                              </a:solidFill>
                              <a:latin typeface="SimSun" panose="02010600030101010101" pitchFamily="2" charset="-122"/>
                              <a:ea typeface="微软雅黑" pitchFamily="34" charset="-122"/>
                              <a:cs typeface="Times New Roman" pitchFamily="34" charset="-120"/>
                            </a:rPr>
                            <a:t>___________________________</a:t>
                          </a: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  <a:p>
                          <a:pPr marL="0" indent="0" algn="l" latinLnBrk="1" hangingPunct="0">
                            <a:lnSpc>
                              <a:spcPts val="49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质点由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𝐴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点运动到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𝐵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点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𝐴</m:t>
                              </m:r>
                              <m:limUpp>
                                <m:limUppPr>
                                  <m:ctrlPr>
                                    <a:rPr lang="en-US" altLang="zh-CN" sz="2400" b="0" i="1" spc="-1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</m:ctrlPr>
                                </m:limUpp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𝐵</m:t>
                                  </m:r>
                                </m:e>
                                <m:lim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⌢</m:t>
                                  </m:r>
                                </m:lim>
                              </m:limUpp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的长度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即为质点的路程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3" name="P_5_BD#9d1c2fbe0?colgroup=2,18,15&amp;vcp=1&amp;pid=7ae12df6c&amp;color=0,0,0&amp;mp=1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84787531"/>
                  </p:ext>
                </p:extLst>
              </p:nvPr>
            </p:nvGraphicFramePr>
            <p:xfrm>
              <a:off x="393192" y="2566606"/>
              <a:ext cx="11365992" cy="2348357"/>
            </p:xfrm>
            <a:graphic>
              <a:graphicData uri="http://schemas.openxmlformats.org/drawingml/2006/table">
                <a:tbl>
                  <a:tblPr/>
                  <a:tblGrid>
                    <a:gridCol w="89611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724144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74573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00"/>
                            </a:lnSpc>
                          </a:pP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位移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路程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855724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举例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5761" t="-27213" r="-83174" b="-52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39538" t="-27213" r="-257" b="-52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_5_BD#9d1c2fbe0.table_image?tii=3&amp;vcp=1&amp;pid=7ae12df6c&amp;color=0,0,0&amp;mp=1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351276" y="3205289"/>
            <a:ext cx="160020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4" name="P_5_BD#9d1c2fbe0.table_image?tii=4&amp;vcp=1&amp;pid=7ae12df6c&amp;color=0,0,0&amp;mp=1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595360" y="3136328"/>
            <a:ext cx="1581912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2" name="P_5_BD#9d1c2fbe0?colgroup=2,18,15&amp;vcp=1&amp;pid=7ae12df6c&amp;color=0,0,0&amp;mp=1&amp;vtp=1&amp;bt=1&amp;bbb=1">
            <a:extLst>
              <a:ext uri="{FF2B5EF4-FFF2-40B4-BE49-F238E27FC236}">
                <a16:creationId xmlns:a16="http://schemas.microsoft.com/office/drawing/2014/main" id="{5489CFFC-ED0D-EB4E-96B4-57E07EE92171}"/>
              </a:ext>
            </a:extLst>
          </p:cNvPr>
          <p:cNvSpPr txBox="1"/>
          <p:nvPr/>
        </p:nvSpPr>
        <p:spPr>
          <a:xfrm>
            <a:off x="11143632" y="1941132"/>
            <a:ext cx="615553" cy="5032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>
              <a:lnSpc>
                <a:spcPts val="43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续表</a:t>
            </a:r>
          </a:p>
        </p:txBody>
      </p:sp>
    </p:spTree>
  </p:cSld>
  <p:clrMapOvr>
    <a:masterClrMapping/>
  </p:clrMapOvr>
  <p:transition>
    <p:split dir="in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&amp;si=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BD.7_1#376cc90c2?vcp=1&amp;pid=7ae12df6c&amp;color=0,0,0&amp;vtp=1&amp;bt=1&amp;bbb=1&amp;hb=1"/>
              <p:cNvSpPr/>
              <p:nvPr/>
            </p:nvSpPr>
            <p:spPr>
              <a:xfrm>
                <a:off x="393192" y="504000"/>
                <a:ext cx="11402568" cy="83337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35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考题2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如图所示，物体沿两个半径为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𝑅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的圆弧由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运动到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，则它的位移和路程分别为</a:t>
                </a:r>
              </a:p>
              <a:p>
                <a:pPr latinLnBrk="1">
                  <a:lnSpc>
                    <a:spcPts val="3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5_BD.7_1#376cc90c2?vcp=1&amp;pid=7ae12df6c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04000"/>
                <a:ext cx="11402568" cy="833374"/>
              </a:xfrm>
              <a:prstGeom prst="rect">
                <a:avLst/>
              </a:prstGeom>
              <a:blipFill>
                <a:blip r:embed="rId3"/>
                <a:stretch>
                  <a:fillRect l="-1658" t="-6618" r="-374" b="-2205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QC_5_AN.8_1#376cc90c2.bracket?vcp=1&amp;pid=7ae12df6c&amp;color=0,0,0&amp;vpa=3&amp;vtp=1"/>
          <p:cNvSpPr/>
          <p:nvPr/>
        </p:nvSpPr>
        <p:spPr>
          <a:xfrm>
            <a:off x="625760" y="933641"/>
            <a:ext cx="441325" cy="392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3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p:pic>
        <p:nvPicPr>
          <p:cNvPr id="4" name="QC_5_BD.7_2#376cc90c2?vcp=1&amp;pid=7ae12df6c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946904" y="1466024"/>
            <a:ext cx="2304288" cy="18653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5_BD.7_3#376cc90c2.choices?vcp=1&amp;pid=7ae12df6c&amp;color=0,0,0&amp;vtp=1&amp;bbb=1"/>
              <p:cNvSpPr/>
              <p:nvPr/>
            </p:nvSpPr>
            <p:spPr>
              <a:xfrm>
                <a:off x="393192" y="3459924"/>
                <a:ext cx="11402568" cy="12446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50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5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π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𝑅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，方向由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指向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10</m:t>
                        </m:r>
                      </m:e>
                    </m:rad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𝑅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5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π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𝑅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，方向由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指向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5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π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𝑅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8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10</m:t>
                        </m:r>
                      </m:e>
                    </m:rad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𝑅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，方向由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指向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5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π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𝑅</m:t>
                    </m:r>
                  </m:oMath>
                </a14:m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10</m:t>
                        </m:r>
                      </m:e>
                    </m:rad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𝑅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，方向由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指向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5</m:t>
                        </m:r>
                      </m:num>
                      <m:den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π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𝑅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5_BD.7_3#376cc90c2.choices?vcp=1&amp;pid=7ae12df6c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459924"/>
                <a:ext cx="11402568" cy="1244600"/>
              </a:xfrm>
              <a:prstGeom prst="rect">
                <a:avLst/>
              </a:prstGeom>
              <a:blipFill>
                <a:blip r:embed="rId5"/>
                <a:stretch>
                  <a:fillRect l="-1658" b="-833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5_AS.9_1#376cc90c2?vcp=1&amp;pid=7ae12df6c&amp;color=0,0,0&amp;vtp=1&amp;bbb=1&amp;hb=1"/>
              <p:cNvSpPr/>
              <p:nvPr/>
            </p:nvSpPr>
            <p:spPr>
              <a:xfrm>
                <a:off x="393192" y="4704524"/>
                <a:ext cx="11402568" cy="1336294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35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物体的位移大小为线段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𝑨𝑪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的长度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，根据几何关系可知</a:t>
                </a:r>
              </a:p>
              <a:p>
                <a:pPr latinLnBrk="1">
                  <a:lnSpc>
                    <a:spcPts val="3500"/>
                  </a:lnSpc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𝑨𝑪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𝑹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  <m:r>
                          <a:rPr lang="en-US" altLang="zh-CN" sz="2400" b="1" i="0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+(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𝟑</m:t>
                        </m:r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𝑹</m:t>
                        </m:r>
                        <m:sSup>
                          <m:sSupPr>
                            <m:ctrlPr>
                              <a:rPr lang="en-US" altLang="zh-CN" sz="2400" b="1" i="1" dirty="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1" i="0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b="1" i="1">
                                <a:solidFill>
                                  <a:srgbClr val="FF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𝟐</m:t>
                            </m:r>
                          </m:sup>
                        </m:sSup>
                      </m:e>
                    </m:rad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𝟏𝟎</m:t>
                        </m:r>
                      </m:e>
                    </m:rad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𝑹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，方向由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指向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；路程为一个半圆周长和一个四分之三</a:t>
                </a:r>
              </a:p>
              <a:p>
                <a:pPr latinLnBrk="1">
                  <a:lnSpc>
                    <a:spcPts val="33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圆周长之和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𝒔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𝟓</m:t>
                        </m:r>
                      </m:num>
                      <m:den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den>
                    </m:f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𝛑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𝑹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，故C正确.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5_AS.9_1#376cc90c2?vcp=1&amp;pid=7ae12df6c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704524"/>
                <a:ext cx="11402568" cy="1336294"/>
              </a:xfrm>
              <a:prstGeom prst="rect">
                <a:avLst/>
              </a:prstGeom>
              <a:blipFill>
                <a:blip r:embed="rId6"/>
                <a:stretch>
                  <a:fillRect l="-1658" t="-4110" b="-7763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6" grpId="0" build="p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&amp;si=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5_BD.10_1#e67e36e9d?htil=1&amp;vcp=1&amp;pid=7ae12df6c&amp;color=0,0,0&amp;tib=255,255,255&amp;vtp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646920" y="1357216"/>
            <a:ext cx="2130552" cy="2176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5_BD.10_2#e67e36e9d?htil=1&amp;vcp=1&amp;pid=7ae12df6c&amp;color=0,0,0&amp;vtp=1&amp;bt=1&amp;bbb=1&amp;hb=1&amp;hs=1"/>
              <p:cNvSpPr/>
              <p:nvPr/>
            </p:nvSpPr>
            <p:spPr>
              <a:xfrm>
                <a:off x="393192" y="1311497"/>
                <a:ext cx="9134856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变式2-1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甲、乙两只蚂蚁分别同时从水平桌面上的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点出发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，它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们的爬行轨迹如图中实线所示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10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后它们分别到达图中的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𝑄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𝑁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若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𝑃𝑄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𝑀𝑁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5_BD.10_2#e67e36e9d?htil=1&amp;vcp=1&amp;pid=7ae12df6c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311497"/>
                <a:ext cx="9134856" cy="1592199"/>
              </a:xfrm>
              <a:prstGeom prst="rect">
                <a:avLst/>
              </a:prstGeom>
              <a:blipFill>
                <a:blip r:embed="rId4"/>
                <a:stretch>
                  <a:fillRect l="-2069" r="-2870" b="-1187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C_5_AN.11_1#e67e36e9d.bracket?vcp=1&amp;pid=7ae12df6c&amp;color=0,0,0&amp;vpa=4&amp;vtp=1"/>
          <p:cNvSpPr/>
          <p:nvPr/>
        </p:nvSpPr>
        <p:spPr>
          <a:xfrm>
            <a:off x="4964334" y="2417667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endParaRPr lang="en-US" altLang="zh-CN" sz="2400" dirty="0"/>
          </a:p>
        </p:txBody>
      </p:sp>
      <p:sp>
        <p:nvSpPr>
          <p:cNvPr id="5" name="QC_5_BD.10_3#e67e36e9d.choices?htil=1&amp;vcp=1&amp;pid=7ae12df6c&amp;color=0,0,0&amp;vtp=1&amp;bbb=1&amp;hs=1"/>
          <p:cNvSpPr/>
          <p:nvPr/>
        </p:nvSpPr>
        <p:spPr>
          <a:xfrm>
            <a:off x="393192" y="2905092"/>
            <a:ext cx="9134856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4400"/>
              </a:lnSpc>
              <a:tabLst>
                <a:tab pos="4675378" algn="l"/>
              </a:tabLst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A.甲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、乙的位移相同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.甲的位移较大</a:t>
            </a:r>
            <a:endParaRPr lang="en-US" altLang="zh-CN" sz="2400" dirty="0"/>
          </a:p>
          <a:p>
            <a:pPr latinLnBrk="1">
              <a:lnSpc>
                <a:spcPts val="4200"/>
              </a:lnSpc>
              <a:tabLst>
                <a:tab pos="4675378" algn="l"/>
              </a:tabLst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C.乙的位移较大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.它们的位移方向相互垂直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5_AS.12_1#e67e36e9d?vcp=1&amp;pid=7ae12df6c&amp;color=0,0,0&amp;vtp=1&amp;bbb=1&amp;hb=1&amp;hs=1"/>
              <p:cNvSpPr/>
              <p:nvPr/>
            </p:nvSpPr>
            <p:spPr>
              <a:xfrm>
                <a:off x="393192" y="3945222"/>
                <a:ext cx="11402568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位移用由初位置指向末位置的有向线段表示，由题可知，甲的位移由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𝑷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指向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𝑸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乙的位移由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指向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𝑵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，则它们的位移方向相互垂直；而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𝑷𝑸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𝑴𝑵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，则甲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、乙两只蚂蚁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的位移大小相等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，由于位移的方向不同，则位移不同，A、B、C错误，D正确.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5_AS.12_1#e67e36e9d?vcp=1&amp;pid=7ae12df6c&amp;color=0,0,0&amp;vtp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945222"/>
                <a:ext cx="11402568" cy="1596200"/>
              </a:xfrm>
              <a:prstGeom prst="rect">
                <a:avLst/>
              </a:prstGeom>
              <a:blipFill>
                <a:blip r:embed="rId5"/>
                <a:stretch>
                  <a:fillRect l="-1658" r="-2139" b="-11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6" grpId="0" build="p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&amp;si=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10a92f026?vcp=1&amp;pid=7ae12df6c&amp;color=0,0,0&amp;vtp=1&amp;bt=1&amp;bbb=1"/>
          <p:cNvSpPr/>
          <p:nvPr/>
        </p:nvSpPr>
        <p:spPr>
          <a:xfrm>
            <a:off x="393192" y="504000"/>
            <a:ext cx="11402568" cy="8820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37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归纳总结</a:t>
            </a:r>
            <a:endParaRPr lang="en-US" altLang="zh-CN" sz="2400" dirty="0"/>
          </a:p>
          <a:p>
            <a:pPr algn="ctr" latinLnBrk="1">
              <a:lnSpc>
                <a:spcPts val="35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标量与矢量的区别</a:t>
            </a:r>
            <a:endParaRPr lang="en-US" altLang="zh-CN" sz="2400" dirty="0"/>
          </a:p>
        </p:txBody>
      </p:sp>
      <p:graphicFrame>
        <p:nvGraphicFramePr>
          <p:cNvPr id="16" name="P_5_BD#10a92f026?colgroup=7,15,13&amp;vcp=1&amp;pid=7ae12df6c&amp;color=0,0,0&amp;vtp=1&amp;bbb=1&amp;hb=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7940302"/>
              </p:ext>
            </p:extLst>
          </p:nvPr>
        </p:nvGraphicFramePr>
        <p:xfrm>
          <a:off x="393192" y="1516445"/>
          <a:ext cx="11365992" cy="4743451"/>
        </p:xfrm>
        <a:graphic>
          <a:graphicData uri="http://schemas.openxmlformats.org/drawingml/2006/table">
            <a:tbl>
              <a:tblPr/>
              <a:tblGrid>
                <a:gridCol w="23500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8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879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4442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区别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矢量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6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标量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84172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5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正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、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负号的含义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矢量的正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、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负号表示方向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正号表</a:t>
                      </a:r>
                    </a:p>
                    <a:p>
                      <a:pPr mar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示该矢量的方向与规定的正方向相</a:t>
                      </a:r>
                    </a:p>
                    <a:p>
                      <a:pPr mar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同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负号表示该矢量的方向与规定</a:t>
                      </a:r>
                    </a:p>
                    <a:p>
                      <a:pPr marL="0" lvl="0" indent="0" algn="l" latinLnBrk="1" hangingPunct="0">
                        <a:lnSpc>
                          <a:spcPts val="35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的正方向相反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标量的正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、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负号不表示方向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</a:p>
                    <a:p>
                      <a:pPr mar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如温度的正号表示温度在零摄</a:t>
                      </a:r>
                    </a:p>
                    <a:p>
                      <a:pPr mar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氏度以上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负号表示温度在零</a:t>
                      </a:r>
                    </a:p>
                    <a:p>
                      <a:pPr marL="0" lvl="0" indent="0" algn="l" latinLnBrk="1" hangingPunct="0">
                        <a:lnSpc>
                          <a:spcPts val="35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摄氏度以下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9670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5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运算法则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矢量的运算必须考虑矢量的方向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</a:p>
                    <a:p>
                      <a:pPr mar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矢量运算遵循平行四边形定则</a:t>
                      </a:r>
                    </a:p>
                    <a:p>
                      <a:pPr marL="0" lvl="0" indent="0" algn="l" latinLnBrk="1" hangingPunct="0">
                        <a:lnSpc>
                          <a:spcPts val="35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（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或三角形定则）（第三章学习）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5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标量运算遵循算术运算法则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55167"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5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比较大小的方法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5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比较其绝对值即可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有的比较绝对值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如电荷量</a:t>
                      </a:r>
                      <a:r>
                        <a:rPr lang="en-US" altLang="zh-CN" sz="2400" b="0" i="0" spc="-10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；</a:t>
                      </a:r>
                    </a:p>
                    <a:p>
                      <a:pPr marL="0" lvl="0" indent="0" algn="l" latinLnBrk="1" hangingPunct="0">
                        <a:lnSpc>
                          <a:spcPts val="3500"/>
                        </a:lnSpc>
                      </a:pPr>
                      <a:r>
                        <a:rPr lang="en-US" altLang="zh-CN" sz="2400" b="0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有的比较代数值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如温度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split dir="in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&amp;si=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10a92f026?vcp=1&amp;pid=7ae12df6c&amp;color=0,0,0&amp;vtp=1&amp;bt=1&amp;bbb=1&amp;hb=1"/>
          <p:cNvSpPr/>
          <p:nvPr/>
        </p:nvSpPr>
        <p:spPr>
          <a:xfrm>
            <a:off x="393192" y="1508316"/>
            <a:ext cx="11402568" cy="3827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易错警示</a:t>
            </a:r>
            <a:endParaRPr lang="en-US" altLang="zh-CN" sz="2400" dirty="0"/>
          </a:p>
          <a:p>
            <a:pPr algn="ctr"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关于位移与路程的几个易错点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.在任何情况下，位移与路程都不可能相同，因为一个是矢量，一个是标量.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.如果在某一段时间内某一物体通过的路程为0,就表示在这段时间内物体静止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;如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果在某一段时间内某一物体的位移为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0,在这段时间内物体并不一定是静止的.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.物体的运动方向与位移方向不一定相同.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4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.在任何情况下,位移的大小都不可能大于路程.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&amp;si=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4#8921fc799?vcp=1&amp;pid=1f1655fed&amp;color=0,0,0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57200"/>
          </a:xfrm>
          <a:prstGeom prst="rect">
            <a:avLst/>
          </a:prstGeom>
        </p:spPr>
      </p:pic>
      <p:sp>
        <p:nvSpPr>
          <p:cNvPr id="3" name="C_4_BD#8921fc799?vcp=1&amp;pid=1f1655fed&amp;color=255,255,255&amp;vtp=1"/>
          <p:cNvSpPr/>
          <p:nvPr/>
        </p:nvSpPr>
        <p:spPr>
          <a:xfrm>
            <a:off x="1225296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3</a:t>
            </a:r>
            <a:endParaRPr lang="en-US" altLang="zh-CN" sz="2800" dirty="0"/>
          </a:p>
        </p:txBody>
      </p:sp>
      <p:sp>
        <p:nvSpPr>
          <p:cNvPr id="4" name="C_4_BD#8921fc799?vcp=1&amp;pid=1f1655fed&amp;color=0,0,0&amp;vtp=1&amp;bbb=1"/>
          <p:cNvSpPr/>
          <p:nvPr/>
        </p:nvSpPr>
        <p:spPr>
          <a:xfrm>
            <a:off x="1837944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直线运动中的位置和位移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易错点</a:t>
            </a:r>
            <a:endParaRPr lang="en-US" altLang="zh-CN" sz="2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P_5_BD#000a5790b?vcp=1&amp;pid=8921fc799&amp;color=0,0,0&amp;vtp=1&amp;bbb=1&amp;hb=1"/>
              <p:cNvSpPr/>
              <p:nvPr/>
            </p:nvSpPr>
            <p:spPr>
              <a:xfrm>
                <a:off x="393192" y="1092200"/>
                <a:ext cx="11402568" cy="3831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核心总结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.位置对应坐标，坐标为正时，位置在坐标轴的正半轴；坐标为负时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，位置在坐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标轴的负半轴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；坐标的数值越大，位置离坐标原点越远.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.位移对应坐标变化量，位移的方向从初位置指向末位置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，位移的大小等于坐标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变化量的数值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.位移的表示方法：物体做直线运动时，位移可用一维坐标表示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，其中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表示末位置，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表示初位置，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表示位移.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P_5_BD#000a5790b?vcp=1&amp;pid=8921fc799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92200"/>
                <a:ext cx="11402568" cy="3831400"/>
              </a:xfrm>
              <a:prstGeom prst="rect">
                <a:avLst/>
              </a:prstGeom>
              <a:blipFill>
                <a:blip r:embed="rId4"/>
                <a:stretch>
                  <a:fillRect l="-1658" b="-476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&amp;si=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BD.13_1#023de78b0?vcp=1&amp;pid=8921fc799&amp;color=0,0,0&amp;vtp=1&amp;bt=1&amp;bbb=1&amp;hb=1"/>
              <p:cNvSpPr/>
              <p:nvPr/>
            </p:nvSpPr>
            <p:spPr>
              <a:xfrm>
                <a:off x="393192" y="1759268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考题3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一个质点在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轴上运动，它在连续的第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𝑛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末对应的位置坐标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如表所示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.假设每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一秒内质点都做单向直线运动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，则在整个运动过程中，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5_BD.13_1#023de78b0?vcp=1&amp;pid=8921fc799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759268"/>
                <a:ext cx="11402568" cy="1033399"/>
              </a:xfrm>
              <a:prstGeom prst="rect">
                <a:avLst/>
              </a:prstGeom>
              <a:blipFill>
                <a:blip r:embed="rId3"/>
                <a:stretch>
                  <a:fillRect l="-1658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9" name="QC_5_BD.13_2#023de78b0?colgroup=7,2,2,2,5,5,5,2&amp;vcp=1&amp;pid=8921fc799&amp;color=0,0,0&amp;vtp=1&amp;bb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77103130"/>
                  </p:ext>
                </p:extLst>
              </p:nvPr>
            </p:nvGraphicFramePr>
            <p:xfrm>
              <a:off x="393192" y="2919793"/>
              <a:ext cx="11301984" cy="997332"/>
            </p:xfrm>
            <a:graphic>
              <a:graphicData uri="http://schemas.openxmlformats.org/drawingml/2006/table">
                <a:tbl>
                  <a:tblPr/>
                  <a:tblGrid>
                    <a:gridCol w="257860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0525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0525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0525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70078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700784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700784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905256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49866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/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s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2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3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4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5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6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866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𝑥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/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m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5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8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−4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−9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5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−2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6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9" name="QC_5_BD.13_2#023de78b0?colgroup=7,2,2,2,5,5,5,2&amp;vcp=1&amp;pid=8921fc799&amp;color=0,0,0&amp;vtp=1&amp;bb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77103130"/>
                  </p:ext>
                </p:extLst>
              </p:nvPr>
            </p:nvGraphicFramePr>
            <p:xfrm>
              <a:off x="393192" y="2919793"/>
              <a:ext cx="11301984" cy="997332"/>
            </p:xfrm>
            <a:graphic>
              <a:graphicData uri="http://schemas.openxmlformats.org/drawingml/2006/table">
                <a:tbl>
                  <a:tblPr/>
                  <a:tblGrid>
                    <a:gridCol w="257860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0525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0525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05256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700784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  <a:gridCol w="1700784">
                      <a:extLst>
                        <a:ext uri="{9D8B030D-6E8A-4147-A177-3AD203B41FA5}">
                          <a16:colId xmlns:a16="http://schemas.microsoft.com/office/drawing/2014/main" val="20005"/>
                        </a:ext>
                      </a:extLst>
                    </a:gridCol>
                    <a:gridCol w="1700784">
                      <a:extLst>
                        <a:ext uri="{9D8B030D-6E8A-4147-A177-3AD203B41FA5}">
                          <a16:colId xmlns:a16="http://schemas.microsoft.com/office/drawing/2014/main" val="20006"/>
                        </a:ext>
                      </a:extLst>
                    </a:gridCol>
                    <a:gridCol w="905256">
                      <a:extLst>
                        <a:ext uri="{9D8B030D-6E8A-4147-A177-3AD203B41FA5}">
                          <a16:colId xmlns:a16="http://schemas.microsoft.com/office/drawing/2014/main" val="20007"/>
                        </a:ext>
                      </a:extLst>
                    </a:gridCol>
                  </a:tblGrid>
                  <a:tr h="49866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36" r="-339007" b="-1277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1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2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3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4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5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6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8666"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36" t="-101220" r="-339007" b="-292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0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5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8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11828" t="-101220" r="-254122" b="-292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11828" t="-101220" r="-154122" b="-292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11828" t="-101220" r="-54122" b="-292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6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QC_5_AN.14_1#023de78b0.bracket?vcp=1&amp;pid=8921fc799&amp;color=0,0,0&amp;vpa=5&amp;vtp=1"/>
          <p:cNvSpPr/>
          <p:nvPr/>
        </p:nvSpPr>
        <p:spPr>
          <a:xfrm>
            <a:off x="10392061" y="2306638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5_BD.13_3#023de78b0.choices?vcp=1&amp;pid=8921fc799&amp;color=0,0,0&amp;vtp=1&amp;bbb=1"/>
              <p:cNvSpPr/>
              <p:nvPr/>
            </p:nvSpPr>
            <p:spPr>
              <a:xfrm>
                <a:off x="393192" y="4050093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A.质点在前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内位移最大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.质点在第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3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内位移最大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.前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内路程最大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.质点每一秒内的位移就是路程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5_BD.13_3#023de78b0.choices?vcp=1&amp;pid=8921fc799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4050093"/>
                <a:ext cx="11402568" cy="1033399"/>
              </a:xfrm>
              <a:prstGeom prst="rect">
                <a:avLst/>
              </a:prstGeom>
              <a:blipFill>
                <a:blip r:embed="rId5"/>
                <a:stretch>
                  <a:fillRect l="-1658" b="-1764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&amp;si=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AS.15_1#023de78b0?vcp=1&amp;pid=8921fc799&amp;color=0,0,0&amp;vtp=1&amp;bt=1&amp;bbb=1&amp;hb=1"/>
              <p:cNvSpPr/>
              <p:nvPr/>
            </p:nvSpPr>
            <p:spPr>
              <a:xfrm>
                <a:off x="393192" y="1538065"/>
                <a:ext cx="11402568" cy="3831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根据题表中数据可知，质点起始位置在坐标原点，位移的正、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负表示运动方向，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故由此可知质点在前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内的位移大小为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，而质点在前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内的位移大小为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𝟗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错误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；质点在第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内的位移大小等于质点第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末的坐标和第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末的坐标之差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的绝对值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，根据表中数据可知，质点在第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𝟑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内位移最大，为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，B正确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；路程等于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物体运动轨迹的长度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，由表中数据可知，物体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∼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内均在运动，故在前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𝟔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内路程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最大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，C错误；虽然每一秒质点都做单向直线运动，位移的大小等于路程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，但位移是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矢量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，路程是标量，不能说位移就是路程，D错误.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5_AS.15_1#023de78b0?vcp=1&amp;pid=8921fc799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38065"/>
                <a:ext cx="11402568" cy="3831400"/>
              </a:xfrm>
              <a:prstGeom prst="rect">
                <a:avLst/>
              </a:prstGeom>
              <a:blipFill>
                <a:blip r:embed="rId3"/>
                <a:stretch>
                  <a:fillRect l="-1658" r="-3690" b="-476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&amp;si=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BD.16_1#d3c2098e6?vcp=1&amp;pid=8921fc799&amp;color=0,0,0&amp;vtp=1&amp;bt=1&amp;bbb=1&amp;hb=1"/>
              <p:cNvSpPr/>
              <p:nvPr/>
            </p:nvSpPr>
            <p:spPr>
              <a:xfrm>
                <a:off x="393192" y="594519"/>
                <a:ext cx="11402568" cy="21509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变式3-1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（2026·湖北省武昌实验中学检测）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（多选题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）物体做直线运动时可以用坐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标轴上的坐标表示物体的位置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，用坐标的变化量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表示物体的位移.如图所示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，一个物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体从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运动到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，它的位移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=−9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；从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运动到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，它的位移为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=1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−(−4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)=5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m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下列说法中正确的是(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5_BD.16_1#d3c2098e6?vcp=1&amp;pid=8921fc799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594519"/>
                <a:ext cx="11402568" cy="2150999"/>
              </a:xfrm>
              <a:prstGeom prst="rect">
                <a:avLst/>
              </a:prstGeom>
              <a:blipFill>
                <a:blip r:embed="rId3"/>
                <a:stretch>
                  <a:fillRect l="-1658" r="-1658" b="-880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QC_5_BD.16_2#d3c2098e6?vcp=1&amp;pid=8921fc799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352544" y="2861214"/>
            <a:ext cx="3474720" cy="5577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4" name="QC_5_AN.17_1#d3c2098e6.bracket?vcp=1&amp;pid=8921fc799&amp;color=0,0,0&amp;vpa=6&amp;vtp=1&amp;bbb=1"/>
          <p:cNvSpPr/>
          <p:nvPr/>
        </p:nvSpPr>
        <p:spPr>
          <a:xfrm>
            <a:off x="7092792" y="2259489"/>
            <a:ext cx="6445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BD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5_BD.16_3#d3c2098e6.choices?vcp=1&amp;pid=8921fc799&amp;color=0,0,0&amp;vtp=1&amp;bbb=1&amp;hb=1"/>
              <p:cNvSpPr/>
              <p:nvPr/>
            </p:nvSpPr>
            <p:spPr>
              <a:xfrm>
                <a:off x="393192" y="3547014"/>
                <a:ext cx="11402568" cy="271710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的位移大于从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的位移，因为正数大于负数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的位移的大小大于从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𝐶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的位移的大小，因为符号表示位移的方向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，不表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示大小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.因为位移是矢量，所以这两个矢量的大小无法比较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.物体由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的位移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5_BD.16_3#d3c2098e6.choices?vcp=1&amp;pid=8921fc799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547014"/>
                <a:ext cx="11402568" cy="2717102"/>
              </a:xfrm>
              <a:prstGeom prst="rect">
                <a:avLst/>
              </a:prstGeom>
              <a:blipFill>
                <a:blip r:embed="rId5"/>
                <a:stretch>
                  <a:fillRect l="-1658" b="-672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&amp;si=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AS.18_1#d3c2098e6?vcp=1&amp;pid=8921fc799&amp;color=0,0,0&amp;vtp=1&amp;bt=1&amp;bbb=1&amp;hb=1"/>
              <p:cNvSpPr/>
              <p:nvPr/>
            </p:nvSpPr>
            <p:spPr>
              <a:xfrm>
                <a:off x="393192" y="2635345"/>
                <a:ext cx="11402568" cy="1596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位移是矢量，“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”“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”表示位移的方向，而不表示位移的大小.从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的位移大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于从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𝑪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的位移，故选项A、C错误，B正确；从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𝑨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到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𝑩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的位移</a:t>
                </a:r>
              </a:p>
              <a:p>
                <a:pPr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𝟒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𝐦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,即</a:t>
                </a:r>
                <a14:m>
                  <m:oMath xmlns:m="http://schemas.openxmlformats.org/officeDocument/2006/math"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+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𝚫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𝒙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,故选项D正确.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5_AS.18_1#d3c2098e6?vcp=1&amp;pid=8921fc799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635345"/>
                <a:ext cx="11402568" cy="1596200"/>
              </a:xfrm>
              <a:prstGeom prst="rect">
                <a:avLst/>
              </a:prstGeom>
              <a:blipFill>
                <a:blip r:embed="rId3"/>
                <a:stretch>
                  <a:fillRect l="-1658" r="-1070" b="-1145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&amp;si=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P_5_BD#53124d0dd?vcp=1&amp;pid=8921fc799&amp;color=0,0,0&amp;vtp=1&amp;bt=1&amp;bbb=1&amp;hb=1"/>
              <p:cNvSpPr/>
              <p:nvPr/>
            </p:nvSpPr>
            <p:spPr>
              <a:xfrm>
                <a:off x="393192" y="1512665"/>
                <a:ext cx="11402568" cy="38314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方法梳理</a:t>
                </a:r>
                <a:endParaRPr lang="en-US" altLang="zh-CN" sz="2400" dirty="0"/>
              </a:p>
              <a:p>
                <a:pPr algn="ctr"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直线运动的位移的计算方法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.先沿直线运动方向建立一维坐标系.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.确定运动初、末位置的坐标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.由初、末位置坐标之差计算运动位移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，若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&gt;0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，表示位移的方向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轴正方向；若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&lt;0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，表示位移的方向沿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轴负方向.这样就可以用一个带正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、负号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的数值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，把直线运动中位移的大小和方向表示出来了.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P_5_BD#53124d0dd?vcp=1&amp;pid=8921fc799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512665"/>
                <a:ext cx="11402568" cy="3831400"/>
              </a:xfrm>
              <a:prstGeom prst="rect">
                <a:avLst/>
              </a:prstGeom>
              <a:blipFill>
                <a:blip r:embed="rId3"/>
                <a:stretch>
                  <a:fillRect l="-1658" r="-1604" b="-4769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&amp;si=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_5_BD#53124d0dd?htil=2&amp;vcp=1&amp;pid=8921fc799&amp;color=0,0,0&amp;tib=255,255,255&amp;vtp=1&amp;hs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775041" y="549719"/>
            <a:ext cx="1783178" cy="13257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3" name="P_5_BD#53124d0dd?htil=2&amp;vcp=1&amp;pid=8921fc799&amp;color=0,0,0&amp;vtp=1&amp;bt=1&amp;bbb=1&amp;hb=1&amp;hs=1"/>
          <p:cNvSpPr/>
          <p:nvPr/>
        </p:nvSpPr>
        <p:spPr>
          <a:xfrm>
            <a:off x="393192" y="504000"/>
            <a:ext cx="9162288" cy="1522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拓展延伸</a:t>
            </a:r>
            <a:endParaRPr lang="en-US" altLang="zh-CN" sz="2400" dirty="0"/>
          </a:p>
          <a:p>
            <a:pPr algn="ctr"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在同一个平面上的曲线运动的位置和位移</a:t>
            </a:r>
            <a:endParaRPr lang="en-US" altLang="zh-CN" sz="2400" dirty="0"/>
          </a:p>
          <a:p>
            <a:pPr latinLnBrk="1">
              <a:lnSpc>
                <a:spcPts val="40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当物体在平面内做曲线运动时，其位置可用平面直角坐标系中的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P_5_BD#53124d0dd?vcp=1&amp;pid=8921fc799&amp;color=0,0,0&amp;vtp=1&amp;bbb=1&amp;hb=1"/>
              <p:cNvSpPr/>
              <p:nvPr/>
            </p:nvSpPr>
            <p:spPr>
              <a:xfrm>
                <a:off x="393192" y="3632390"/>
                <a:ext cx="11402568" cy="2602675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2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位移的方向可用位移与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轴正方向夹角的正切值表示：</a:t>
                </a:r>
                <a:endParaRPr lang="en-US" altLang="zh-CN" sz="2400" dirty="0"/>
              </a:p>
              <a:p>
                <a:pPr algn="ctr" latinLnBrk="1">
                  <a:lnSpc>
                    <a:spcPts val="42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tan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𝜑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f>
                      <m:f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名师点拨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由于位移是矢量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,所以求位移时,除指明其大小外,还要指明其方向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,负号表示位移的</a:t>
                </a:r>
              </a:p>
              <a:p>
                <a:pPr latinLnBrk="1">
                  <a:lnSpc>
                    <a:spcPts val="41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方向与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轴的正方向相反.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P_5_BD#53124d0dd?vcp=1&amp;pid=8921fc799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632390"/>
                <a:ext cx="11402568" cy="2602675"/>
              </a:xfrm>
              <a:prstGeom prst="rect">
                <a:avLst/>
              </a:prstGeom>
              <a:blipFill>
                <a:blip r:embed="rId4"/>
                <a:stretch>
                  <a:fillRect l="-1658" r="-642" b="-679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P_5_BD#53124d0dd?htil=2&amp;vcp=1&amp;pid=8921fc799&amp;color=0,0,0&amp;vtp=1&amp;bt=1&amp;bbb=1&amp;hb=1&amp;hs=1">
                <a:extLst>
                  <a:ext uri="{FF2B5EF4-FFF2-40B4-BE49-F238E27FC236}">
                    <a16:creationId xmlns:a16="http://schemas.microsoft.com/office/drawing/2014/main" id="{D90920FC-0D56-8997-4E2A-617863189FFB}"/>
                  </a:ext>
                </a:extLst>
              </p:cNvPr>
              <p:cNvSpPr/>
              <p:nvPr/>
            </p:nvSpPr>
            <p:spPr>
              <a:xfrm>
                <a:off x="393192" y="2033523"/>
                <a:ext cx="11400008" cy="159188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一组坐标来表示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.如图所示，设一辆汽车从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点沿曲线运动到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zh-CN" altLang="en-US" sz="2400" b="0" i="0" kern="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两点的坐标分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别为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,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和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(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𝑥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,</m:t>
                    </m:r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𝑦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2</m:t>
                        </m:r>
                      </m:sub>
                    </m:sSub>
                    <m:r>
                      <a:rPr lang="en-US" altLang="zh-CN" sz="2400" b="0" i="0" smtClean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)</m:t>
                    </m:r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，则汽车位移的大小等于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𝐴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𝐵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两点间的距离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，即</a:t>
                </a:r>
              </a:p>
              <a:p>
                <a:pPr latinLnBrk="1">
                  <a:lnSpc>
                    <a:spcPts val="46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|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Δ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|=</m:t>
                    </m:r>
                    <m:rad>
                      <m:radPr>
                        <m:degHide m:val="on"/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radPr>
                      <m:deg/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(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p>
                        </m:sSup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+(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b>
                        </m:s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b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1</m:t>
                            </m:r>
                          </m:sub>
                        </m:sSub>
                        <m:sSup>
                          <m:sSupPr>
                            <m:ctrlPr>
                              <a:rPr lang="en-US" altLang="zh-CN" sz="2400" b="0" i="1" dirty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微软雅黑" pitchFamily="34" charset="-122"/>
                                <a:cs typeface="Times New Roman" pitchFamily="34" charset="-120"/>
                              </a:rPr>
                            </m:ctrlPr>
                          </m:sSupPr>
                          <m:e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)</m:t>
                            </m:r>
                          </m:e>
                          <m:sup>
                            <m:r>
                              <a:rPr lang="en-US" altLang="zh-CN" sz="2400" b="0" i="0">
                                <a:solidFill>
                                  <a:srgbClr val="000000"/>
                                </a:solidFill>
                                <a:latin typeface="Cambria Math" pitchFamily="34" charset="0"/>
                                <a:ea typeface="Cambria Math" pitchFamily="34" charset="-122"/>
                                <a:cs typeface="Cambria Math" pitchFamily="34" charset="-12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P_5_BD#53124d0dd?htil=2&amp;vcp=1&amp;pid=8921fc799&amp;color=0,0,0&amp;vtp=1&amp;bt=1&amp;bbb=1&amp;hb=1&amp;hs=1">
                <a:extLst>
                  <a:ext uri="{FF2B5EF4-FFF2-40B4-BE49-F238E27FC236}">
                    <a16:creationId xmlns:a16="http://schemas.microsoft.com/office/drawing/2014/main" id="{D90920FC-0D56-8997-4E2A-617863189FFB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33523"/>
                <a:ext cx="11400008" cy="1591882"/>
              </a:xfrm>
              <a:prstGeom prst="rect">
                <a:avLst/>
              </a:prstGeom>
              <a:blipFill>
                <a:blip r:embed="rId5"/>
                <a:stretch>
                  <a:fillRect l="-1658" r="-267" b="-10728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&amp;si=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4#434aa2ad1?vcp=1&amp;pid=1f1655fed&amp;color=0,0,0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57200"/>
          </a:xfrm>
          <a:prstGeom prst="rect">
            <a:avLst/>
          </a:prstGeom>
        </p:spPr>
      </p:pic>
      <p:sp>
        <p:nvSpPr>
          <p:cNvPr id="3" name="C_4_BD#434aa2ad1?vcp=1&amp;pid=1f1655fed&amp;color=255,255,255&amp;vtp=1"/>
          <p:cNvSpPr/>
          <p:nvPr/>
        </p:nvSpPr>
        <p:spPr>
          <a:xfrm>
            <a:off x="1225296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4</a:t>
            </a:r>
            <a:endParaRPr lang="en-US" altLang="zh-CN" sz="2800" dirty="0"/>
          </a:p>
        </p:txBody>
      </p:sp>
      <p:sp>
        <p:nvSpPr>
          <p:cNvPr id="4" name="C_4_BD#434aa2ad1?vcp=1&amp;pid=1f1655fed&amp;color=0,0,0&amp;vtp=1&amp;bbb=1"/>
          <p:cNvSpPr/>
          <p:nvPr/>
        </p:nvSpPr>
        <p:spPr>
          <a:xfrm>
            <a:off x="1837944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位移—时间图像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难点</a:t>
            </a:r>
            <a:endParaRPr lang="en-US" altLang="zh-CN" sz="2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P_5#b052c4376?vcp=1&amp;pid=434aa2ad1&amp;color=0,0,0&amp;vtp=1&amp;bbb=1"/>
              <p:cNvSpPr/>
              <p:nvPr/>
            </p:nvSpPr>
            <p:spPr>
              <a:xfrm>
                <a:off x="393192" y="1092200"/>
                <a:ext cx="11402568" cy="920242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ctr" latinLnBrk="1">
                  <a:lnSpc>
                    <a:spcPts val="3900"/>
                  </a:lnSpc>
                </a:pPr>
                <a:r>
                  <a:rPr lang="en-US" altLang="zh-CN" sz="2400" b="1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核心总结</a:t>
                </a:r>
                <a:endParaRPr lang="en-US" altLang="zh-CN" sz="2400" dirty="0"/>
              </a:p>
              <a:p>
                <a:pPr algn="ctr" latinLnBrk="1">
                  <a:lnSpc>
                    <a:spcPts val="3700"/>
                  </a:lnSpc>
                </a:pPr>
                <a:r>
                  <a:rPr lang="en-US" altLang="zh-CN" sz="2400" b="1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几种常见</a:t>
                </a:r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&lt;m&gt;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&lt;/m&gt;</a:t>
                </a: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图像的比较</a:t>
                </a:r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#1.1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P_5#b052c4376?vcp=1&amp;pid=434aa2ad1&amp;color=0,0,0&amp;vtp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092200"/>
                <a:ext cx="11402568" cy="920242"/>
              </a:xfrm>
              <a:prstGeom prst="rect">
                <a:avLst/>
              </a:prstGeom>
              <a:blipFill>
                <a:blip r:embed="rId4"/>
                <a:stretch>
                  <a:fillRect t="-1325" b="-20530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5" name="P_5_BD#b052c4376?colgroup=8,28&amp;vcp=1&amp;pid=434aa2ad1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77258908"/>
                  </p:ext>
                </p:extLst>
              </p:nvPr>
            </p:nvGraphicFramePr>
            <p:xfrm>
              <a:off x="393192" y="2142616"/>
              <a:ext cx="11365992" cy="4227259"/>
            </p:xfrm>
            <a:graphic>
              <a:graphicData uri="http://schemas.openxmlformats.org/drawingml/2006/table">
                <a:tbl>
                  <a:tblPr/>
                  <a:tblGrid>
                    <a:gridCol w="25877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7782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06349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物理意义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220534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96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①②都表示物体处于静止状态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0037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11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9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𝑥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图线均为倾斜直线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表明在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时间内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相等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即均为匀速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9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直线运动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.</a:t>
                          </a:r>
                          <a:endParaRPr lang="en-US" altLang="zh-CN" sz="1200" dirty="0"/>
                        </a:p>
                        <a:p>
                          <a:pPr marL="0" indent="0" algn="l" latinLnBrk="1" hangingPunct="0">
                            <a:lnSpc>
                              <a:spcPts val="39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③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表示物体从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处沿正方向做匀速直线运动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；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④表示物体从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9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𝑥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=0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处沿正方向做匀速直线运动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；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⑤表示物体从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US" altLang="zh-CN" sz="2400" b="0" i="1" spc="-100" dirty="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  <a:ea typeface="微软雅黑" pitchFamily="34" charset="-122"/>
                                      <a:cs typeface="Times New Roman" pitchFamily="34" charset="-12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en-US" altLang="zh-CN" sz="2400" b="0" i="0" spc="-100">
                                      <a:solidFill>
                                        <a:srgbClr val="000000"/>
                                      </a:solidFill>
                                      <a:latin typeface="Cambria Math" pitchFamily="34" charset="0"/>
                                      <a:ea typeface="Cambria Math" pitchFamily="34" charset="-122"/>
                                      <a:cs typeface="Cambria Math" pitchFamily="34" charset="-12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处沿负方向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做匀速直线运动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5" name="P_5_BD#b052c4376?colgroup=8,28&amp;vcp=1&amp;pid=434aa2ad1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77258908"/>
                  </p:ext>
                </p:extLst>
              </p:nvPr>
            </p:nvGraphicFramePr>
            <p:xfrm>
              <a:off x="393192" y="2142616"/>
              <a:ext cx="11365992" cy="4227259"/>
            </p:xfrm>
            <a:graphic>
              <a:graphicData uri="http://schemas.openxmlformats.org/drawingml/2006/table">
                <a:tbl>
                  <a:tblPr/>
                  <a:tblGrid>
                    <a:gridCol w="25877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7782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06349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物理意义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220534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96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①②都表示物体处于静止状态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250037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11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9583" t="-69512" r="-139" b="-561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_5_BD#b052c4376.table_image?tii=5&amp;vcp=1&amp;pid=434aa2ad1&amp;color=0,0,0&amp;tib=255,255,255&amp;vtp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8972" y="2678588"/>
            <a:ext cx="1536192" cy="1161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8" name="P_5_BD#b052c4376.table_image?tii=6&amp;vcp=1&amp;pid=434aa2ad1&amp;color=0,0,0&amp;tib=255,255,255&amp;vtp=1" descr="preencoded.png"/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09828" y="4497895"/>
            <a:ext cx="1554480" cy="1243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&amp;si=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6" name="P_5_BD#b052c4376?colgroup=8,28&amp;vcp=1&amp;pid=434aa2ad1&amp;color=0,0,0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315026"/>
                  </p:ext>
                </p:extLst>
              </p:nvPr>
            </p:nvGraphicFramePr>
            <p:xfrm>
              <a:off x="393192" y="2484310"/>
              <a:ext cx="11365992" cy="2512949"/>
            </p:xfrm>
            <a:graphic>
              <a:graphicData uri="http://schemas.openxmlformats.org/drawingml/2006/table">
                <a:tbl>
                  <a:tblPr/>
                  <a:tblGrid>
                    <a:gridCol w="25877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7782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物理意义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02031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57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𝑥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−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图线⑥在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𝑡</m:t>
                              </m:r>
                            </m:oMath>
                          </a14:m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时间内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Δ</m:t>
                              </m:r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𝑥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变小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说明质点运动逐渐变慢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即表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示物体做变速直线运动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且速度逐渐减小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6" name="P_5_BD#b052c4376?colgroup=8,28&amp;vcp=1&amp;pid=434aa2ad1&amp;color=0,0,0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0315026"/>
                  </p:ext>
                </p:extLst>
              </p:nvPr>
            </p:nvGraphicFramePr>
            <p:xfrm>
              <a:off x="393192" y="2484310"/>
              <a:ext cx="11365992" cy="2512949"/>
            </p:xfrm>
            <a:graphic>
              <a:graphicData uri="http://schemas.openxmlformats.org/drawingml/2006/table">
                <a:tbl>
                  <a:tblPr/>
                  <a:tblGrid>
                    <a:gridCol w="258775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877824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图像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物理意义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02031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57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9583" t="-24699" r="-139" b="-60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3" name="P_5_BD#b052c4376.table_image?tii=7&amp;vcp=1&amp;pid=434aa2ad1&amp;color=0,0,0&amp;tib=255,255,255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86384" y="3100134"/>
            <a:ext cx="1801368" cy="1773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sp>
        <p:nvSpPr>
          <p:cNvPr id="2" name="P_5_BD#b052c4376?colgroup=8,28&amp;vcp=1&amp;pid=434aa2ad1&amp;color=0,0,0&amp;vtp=1&amp;bt=1&amp;bbb=1">
            <a:extLst>
              <a:ext uri="{FF2B5EF4-FFF2-40B4-BE49-F238E27FC236}">
                <a16:creationId xmlns:a16="http://schemas.microsoft.com/office/drawing/2014/main" id="{6597F388-A159-8827-5C00-67B6566FA6E8}"/>
              </a:ext>
            </a:extLst>
          </p:cNvPr>
          <p:cNvSpPr txBox="1"/>
          <p:nvPr/>
        </p:nvSpPr>
        <p:spPr>
          <a:xfrm>
            <a:off x="11143632" y="1858836"/>
            <a:ext cx="615553" cy="5032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>
              <a:lnSpc>
                <a:spcPts val="43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续表</a:t>
            </a:r>
          </a:p>
        </p:txBody>
      </p:sp>
    </p:spTree>
  </p:cSld>
  <p:clrMapOvr>
    <a:masterClrMapping/>
  </p:clrMapOvr>
  <p:transition>
    <p:split dir="in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&amp;si=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5_BD.19_1#7b8b3012d?vcp=1&amp;pid=434aa2ad1&amp;color=0,0,0&amp;vtp=1&amp;bt=1&amp;bbb=1&amp;hb=1"/>
          <p:cNvSpPr/>
          <p:nvPr/>
        </p:nvSpPr>
        <p:spPr>
          <a:xfrm>
            <a:off x="393192" y="1227773"/>
            <a:ext cx="11402568" cy="27097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考题4</a:t>
            </a:r>
            <a:r>
              <a:rPr lang="en-US" altLang="zh-CN" sz="24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（2026·湖南株洲二中检测）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龟、兔从同一地点出发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，发令枪响后龟缓慢地向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终点爬去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，直至到达终点.兔自恃跑得快，让龟爬了一段时间后才开始跑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，当它超过龟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后便在路旁睡起觉来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，醒来一看，龟已接近终点了，于是便奋力追去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，但最终还是龟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先到达了终点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.据此，我们可以将龟兔赛跑的运动过程用位移—时间图像来表示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，下列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选项中正确的是(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3" name="QC_5_AN.20_1#7b8b3012d.bracket?vcp=1&amp;pid=434aa2ad1&amp;color=0,0,0&amp;vpa=7&amp;vtp=1"/>
          <p:cNvSpPr/>
          <p:nvPr/>
        </p:nvSpPr>
        <p:spPr>
          <a:xfrm>
            <a:off x="2759361" y="3451543"/>
            <a:ext cx="441325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endParaRPr lang="en-US" altLang="zh-CN" sz="2400" dirty="0"/>
          </a:p>
        </p:txBody>
      </p:sp>
      <p:sp>
        <p:nvSpPr>
          <p:cNvPr id="4" name="QC_5_BD.19_2#7b8b3012d.choices?vcp=1&amp;pid=434aa2ad1&amp;color=0,0,0&amp;vtp=1&amp;bbb=1"/>
          <p:cNvSpPr/>
          <p:nvPr/>
        </p:nvSpPr>
        <p:spPr>
          <a:xfrm>
            <a:off x="393192" y="4040568"/>
            <a:ext cx="11402568" cy="1587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latinLnBrk="1">
              <a:lnSpc>
                <a:spcPts val="14200"/>
              </a:lnSpc>
              <a:tabLst>
                <a:tab pos="2783327" algn="l"/>
                <a:tab pos="5833354" algn="l"/>
                <a:tab pos="8883381" algn="l"/>
              </a:tabLst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</a:t>
            </a:r>
            <a:r>
              <a:rPr lang="en-US" altLang="zh-CN" sz="785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 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B.</a:t>
            </a:r>
            <a:r>
              <a:rPr lang="en-US" altLang="zh-CN" sz="790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      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C.</a:t>
            </a:r>
            <a:r>
              <a:rPr lang="en-US" altLang="zh-CN" sz="240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      </a:t>
            </a:r>
            <a:r>
              <a:rPr lang="en-US" altLang="zh-CN" sz="2400" b="0" i="0" spc="-1030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	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D.</a:t>
            </a:r>
            <a:r>
              <a:rPr lang="en-US" altLang="zh-CN" sz="2400" b="0" i="0" kern="0" spc="-9990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 </a:t>
            </a:r>
            <a:r>
              <a:rPr lang="en-US" altLang="zh-CN" sz="900" b="0" i="0" kern="0">
                <a:solidFill>
                  <a:srgbClr val="FFFFFF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                      </a:t>
            </a:r>
            <a:endParaRPr lang="en-US" altLang="zh-CN" sz="900" dirty="0">
              <a:latin typeface="SimSun" panose="02010600030101010101" pitchFamily="2" charset="-122"/>
            </a:endParaRPr>
          </a:p>
        </p:txBody>
      </p:sp>
      <p:pic>
        <p:nvPicPr>
          <p:cNvPr id="5" name="QC_5_BD.19_2#7b8b3012d.choice_image?vcp=1&amp;pid=434aa2ad1&amp;color=0,0,0&amp;tib=255,255,255&amp;iip=1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93516" y="4048315"/>
            <a:ext cx="1536192" cy="1581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6" name="QC_5_BD.19_2#7b8b3012d.choice_image?vcp=1&amp;pid=434aa2ad1&amp;color=0,0,0&amp;tib=255,255,255&amp;iip=2&amp;vtp=1" descr="preencoded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64973" y="4039171"/>
            <a:ext cx="1810512" cy="1591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7" name="QC_5_BD.19_2#7b8b3012d.choice_image?vcp=1&amp;pid=434aa2ad1&amp;color=0,0,0&amp;tib=255,255,255&amp;iip=3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14878" y="4039171"/>
            <a:ext cx="1810512" cy="1591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8" name="QC_5_BD.19_2#7b8b3012d.choice_image?vcp=1&amp;pid=434aa2ad1&amp;color=0,0,0&amp;tib=255,255,255&amp;iip=4&amp;vtp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580594" y="4039171"/>
            <a:ext cx="1472184" cy="1591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&amp;si=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5_AS.21_1#7b8b3012d?vcp=1&amp;pid=434aa2ad1&amp;color=0,0,0&amp;vtp=1&amp;bt=1&amp;bbb=1&amp;hb=1"/>
          <p:cNvSpPr/>
          <p:nvPr/>
        </p:nvSpPr>
        <p:spPr>
          <a:xfrm>
            <a:off x="393192" y="2086705"/>
            <a:ext cx="11402568" cy="2713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根据题目的叙述，龟的位移从0开始，龟一直做匀速直线运动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，所以龟的位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移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—时间图像是一条过原点的倾斜直线.兔先是静止的，所以兔的位移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—时间图像先是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横轴上的一段水平的直线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，然后是匀速直线运动，并且速度要比龟快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，从图像来看就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是图线的斜率要比龟的大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，追上龟之后，兔又在路旁睡觉，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其图像还是水平的直线，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最后兔再去追龟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，但是没追上，所以最后龟的位移要比兔的大.故C正确.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&amp;si=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QC_5_BD.22_1#973612584?htil=3&amp;vcp=1&amp;pid=434aa2ad1&amp;color=0,0,0&amp;tib=255,255,255&amp;vtp=1&amp;hs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827006" y="761651"/>
            <a:ext cx="1807519" cy="1557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QC_5_BD.22_2#973612584?htil=3&amp;vcp=1&amp;pid=434aa2ad1&amp;color=0,0,0&amp;vtp=1&amp;bt=1&amp;bbb=1&amp;hb=1&amp;hs=1"/>
              <p:cNvSpPr/>
              <p:nvPr/>
            </p:nvSpPr>
            <p:spPr>
              <a:xfrm>
                <a:off x="393192" y="774350"/>
                <a:ext cx="9345168" cy="15921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70C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变式4-1</a:t>
                </a:r>
                <a:r>
                  <a:rPr lang="en-US" altLang="zh-CN" sz="2400" b="1" i="0" dirty="0">
                    <a:solidFill>
                      <a:srgbClr val="0070C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1E5A99"/>
                    </a:solidFill>
                    <a:latin typeface="KaiTi" pitchFamily="34" charset="0"/>
                    <a:ea typeface="KaiTi" pitchFamily="34" charset="-122"/>
                    <a:cs typeface="KaiTi" pitchFamily="34" charset="-120"/>
                  </a:rPr>
                  <a:t>（2026·陕西西安铁一中检测）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甲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、乙两车某时刻由同一地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点开始运动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，若以该时刻作为计时起点，得到两车运动的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图像如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图所示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则下列说法正确的是(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).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3" name="QC_5_BD.22_2#973612584?htil=3&amp;vcp=1&amp;pid=434aa2ad1&amp;color=0,0,0&amp;vtp=1&amp;bt=1&amp;bbb=1&amp;h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774350"/>
                <a:ext cx="9345168" cy="1592199"/>
              </a:xfrm>
              <a:prstGeom prst="rect">
                <a:avLst/>
              </a:prstGeom>
              <a:blipFill>
                <a:blip r:embed="rId4"/>
                <a:stretch>
                  <a:fillRect l="-2022" r="-391" b="-1187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QC_5_AN.23_1#973612584.bracket?vcp=1&amp;pid=434aa2ad1&amp;color=0,0,0&amp;vpa=8&amp;vtp=1"/>
          <p:cNvSpPr/>
          <p:nvPr/>
        </p:nvSpPr>
        <p:spPr>
          <a:xfrm>
            <a:off x="4600860" y="1880520"/>
            <a:ext cx="423863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QC_5_BD.22_3#973612584.choices?vcp=1&amp;pid=434aa2ad1&amp;color=0,0,0&amp;vtp=1&amp;bbb=1&amp;hs=1"/>
              <p:cNvSpPr/>
              <p:nvPr/>
            </p:nvSpPr>
            <p:spPr>
              <a:xfrm>
                <a:off x="393192" y="2357659"/>
                <a:ext cx="11402568" cy="10333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latinLnBrk="1">
                  <a:lnSpc>
                    <a:spcPts val="4400"/>
                  </a:lnSpc>
                  <a:tabLst>
                    <a:tab pos="5807954" algn="l"/>
                  </a:tabLst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A.甲车做直线运动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，乙车做曲线运动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时刻两车相遇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  <a:tabLst>
                    <a:tab pos="5807954" algn="l"/>
                  </a:tabLst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时刻甲车从后面追上乙车</a:t>
                </a:r>
                <a:r>
                  <a:rPr lang="en-US" altLang="zh-CN" sz="2400" b="0" i="0" spc="-10300">
                    <a:solidFill>
                      <a:srgbClr val="00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	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.0到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0" i="1" dirty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𝑡</m:t>
                        </m:r>
                      </m:e>
                      <m:sub>
                        <m:r>
                          <a:rPr lang="en-US" altLang="zh-CN" sz="2400" b="0" i="0">
                            <a:solidFill>
                              <a:srgbClr val="00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时间内，乙车的路程更大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5" name="QC_5_BD.22_3#973612584.choices?vcp=1&amp;pid=434aa2ad1&amp;color=0,0,0&amp;vtp=1&amp;bbb=1&amp;hs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357659"/>
                <a:ext cx="11402568" cy="1033399"/>
              </a:xfrm>
              <a:prstGeom prst="rect">
                <a:avLst/>
              </a:prstGeom>
              <a:blipFill>
                <a:blip r:embed="rId5"/>
                <a:stretch>
                  <a:fillRect l="-1658" b="-17751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QC_5_AS.24_1#973612584?vcp=1&amp;pid=434aa2ad1&amp;color=0,0,0&amp;vtp=1&amp;bbb=1&amp;hb=1"/>
              <p:cNvSpPr/>
              <p:nvPr/>
            </p:nvSpPr>
            <p:spPr>
              <a:xfrm>
                <a:off x="393192" y="3397790"/>
                <a:ext cx="11402568" cy="2713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𝒙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图像只能描述直线运动，不能描述曲线运动，甲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、乙从同一地点同时开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始做直线运动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，A错误；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𝒕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&lt;</m:t>
                    </m:r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时，甲车的位移大于乙车的位移，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说明甲车在前，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乙车在后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时刻两车的位移相同，到达同一位置，即两车相遇，故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时刻乙车从后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面追上甲车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，故B正确，C错误；0到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400" b="1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itchFamily="34" charset="-122"/>
                            <a:cs typeface="Times New Roman" pitchFamily="34" charset="-120"/>
                          </a:rPr>
                        </m:ctrlPr>
                      </m:sSubPr>
                      <m:e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𝒕</m:t>
                        </m:r>
                      </m:e>
                      <m:sub>
                        <m:r>
                          <a:rPr lang="en-US" altLang="zh-CN" sz="2400" b="1" i="1">
                            <a:solidFill>
                              <a:srgbClr val="FF0000"/>
                            </a:solidFill>
                            <a:latin typeface="Cambria Math" pitchFamily="34" charset="0"/>
                            <a:ea typeface="Cambria Math" pitchFamily="34" charset="-122"/>
                            <a:cs typeface="Cambria Math" pitchFamily="34" charset="-120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时间内，两车都做单向直线运动，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位移相同，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路程相同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，D错误.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6" name="QC_5_AS.24_1#973612584?vcp=1&amp;pid=434aa2ad1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3397790"/>
                <a:ext cx="11402568" cy="2713800"/>
              </a:xfrm>
              <a:prstGeom prst="rect">
                <a:avLst/>
              </a:prstGeom>
              <a:blipFill>
                <a:blip r:embed="rId6"/>
                <a:stretch>
                  <a:fillRect l="-1658" r="-1230" b="-650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6" grpId="0" build="p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&amp;si=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#35153ee31?vcp=1&amp;pid=434aa2ad1&amp;color=0,0,0&amp;vtp=1&amp;bt=1&amp;bbb=1"/>
          <p:cNvSpPr/>
          <p:nvPr/>
        </p:nvSpPr>
        <p:spPr>
          <a:xfrm>
            <a:off x="393192" y="504000"/>
            <a:ext cx="11402568" cy="9135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38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难点突破</a:t>
            </a:r>
            <a:endParaRPr lang="en-US" altLang="zh-CN" sz="2400" dirty="0"/>
          </a:p>
          <a:p>
            <a:pPr algn="ctr" latinLnBrk="1">
              <a:lnSpc>
                <a:spcPts val="37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从位移</a:t>
            </a: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—时间图像上获取信息的技巧</a:t>
            </a:r>
            <a:endParaRPr lang="en-US" altLang="zh-CN" sz="2400" dirty="0"/>
          </a:p>
        </p:txBody>
      </p:sp>
      <p:graphicFrame>
        <p:nvGraphicFramePr>
          <p:cNvPr id="31" name="P_5_BD#35153ee31?colgroup=10,25&amp;vcp=1&amp;pid=434aa2ad1&amp;color=0,0,0&amp;vtp=1&amp;bbb=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5883699"/>
              </p:ext>
            </p:extLst>
          </p:nvPr>
        </p:nvGraphicFramePr>
        <p:xfrm>
          <a:off x="393192" y="1547940"/>
          <a:ext cx="11400237" cy="4725861"/>
        </p:xfrm>
        <a:graphic>
          <a:graphicData uri="http://schemas.openxmlformats.org/drawingml/2006/table">
            <a:tbl>
              <a:tblPr/>
              <a:tblGrid>
                <a:gridCol w="49261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100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0012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5427">
                <a:tc gridSpan="3"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项目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1" i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意义或特点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20534">
                <a:tc gridSpan="3"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图像举例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9600"/>
                        </a:lnSpc>
                      </a:pPr>
                      <a:endParaRPr lang="en-US" altLang="zh-CN" sz="900" spc="0" dirty="0">
                        <a:solidFill>
                          <a:srgbClr val="FFFFFF">
                            <a:alpha val="0"/>
                          </a:srgbClr>
                        </a:solidFill>
                        <a:latin typeface="SimSun" panose="02010600030101010101" pitchFamily="2" charset="-122"/>
                      </a:endParaRPr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1650">
                <a:tc gridSpan="3"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坐标轴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横轴表示时间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，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纵轴表示位移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1650">
                <a:tc rowSpan="5"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点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图线上的点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表示某时刻质点所处的位置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16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图线交点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表示几个质点相遇的时刻和位置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16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图线与纵轴的交点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表示质点的初始位置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16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图线与横轴的交点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表示离开出发点或返回出发点的时刻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165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极值点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l" latinLnBrk="1" hangingPunct="0">
                        <a:lnSpc>
                          <a:spcPts val="3700"/>
                        </a:lnSpc>
                      </a:pP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表示距出发点最远或最近的时刻</a:t>
                      </a:r>
                      <a:r>
                        <a:rPr lang="en-US" altLang="zh-CN" sz="2400" b="0" i="0" spc="-1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、</a:t>
                      </a:r>
                      <a:r>
                        <a:rPr lang="en-US" altLang="zh-CN" sz="2400" b="0" i="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微软雅黑" pitchFamily="34" charset="-122"/>
                          <a:cs typeface="Times New Roman" pitchFamily="34" charset="-120"/>
                        </a:rPr>
                        <a:t>运动方向改变的时刻</a:t>
                      </a:r>
                      <a:endParaRPr lang="en-US" altLang="zh-CN" sz="1200" dirty="0"/>
                    </a:p>
                  </a:txBody>
                  <a:tcPr marL="72000" marR="72000" marT="0" marB="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4" name="P_5_BD#35153ee31.table_image?tii=8&amp;vcp=1&amp;pid=434aa2ad1&amp;color=0,0,0&amp;tib=255,255,255&amp;vtp=1" descr="preencoded.pn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162138" y="2077562"/>
            <a:ext cx="1362456" cy="11521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&amp;si=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P_5#35153ee31?vcp=1&amp;pid=434aa2ad1&amp;color=0,0,0&amp;vtp=1&amp;bt=1&amp;bbb=1"/>
              <p:cNvSpPr/>
              <p:nvPr/>
            </p:nvSpPr>
            <p:spPr>
              <a:xfrm>
                <a:off x="393192" y="2063305"/>
                <a:ext cx="11402568" cy="2709799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名师点拨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&lt;m&gt;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&lt;/m&gt;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图像只能用来描述直线运动.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&lt;m&gt;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−</m:t>
                    </m:r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&lt;/m&gt;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图像表示的是位移</a:t>
                </a:r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&lt;m&gt;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𝑥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&lt;/m&gt;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随时间</a:t>
                </a:r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&lt;m&gt;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𝑡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&lt;/m&gt;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变化的情况,绝不是物体运动的轨迹.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.图线上某点切线的斜率的大小表示物体速度的大小.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.图线上某点切线的斜率的正负表示物体速度的方向.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P_5#35153ee31?vcp=1&amp;pid=434aa2ad1&amp;color=0,0,0&amp;vtp=1&amp;bt=1&amp;bb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63305"/>
                <a:ext cx="11402568" cy="2709799"/>
              </a:xfrm>
              <a:prstGeom prst="rect">
                <a:avLst/>
              </a:prstGeom>
              <a:blipFill>
                <a:blip r:embed="rId3"/>
                <a:stretch>
                  <a:fillRect l="-1658" b="-67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&amp;si=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_4#ab12177fa?vcp=1&amp;pid=1f1655fed&amp;color=0,0,0&amp;tib=255,255,255&amp;vtp=1&amp;bt=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502920"/>
            <a:ext cx="11320272" cy="457200"/>
          </a:xfrm>
          <a:prstGeom prst="rect">
            <a:avLst/>
          </a:prstGeom>
        </p:spPr>
      </p:pic>
      <p:sp>
        <p:nvSpPr>
          <p:cNvPr id="3" name="C_4_BD#ab12177fa?vcp=1&amp;pid=1f1655fed&amp;color=255,255,255&amp;vtp=1"/>
          <p:cNvSpPr/>
          <p:nvPr/>
        </p:nvSpPr>
        <p:spPr>
          <a:xfrm>
            <a:off x="1225296" y="502920"/>
            <a:ext cx="356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latinLnBrk="1">
              <a:lnSpc>
                <a:spcPct val="100000"/>
              </a:lnSpc>
            </a:pPr>
            <a:r>
              <a:rPr lang="en-US" altLang="zh-CN" sz="2800" b="1" i="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5</a:t>
            </a:r>
            <a:endParaRPr lang="en-US" altLang="zh-CN" sz="2800" dirty="0"/>
          </a:p>
        </p:txBody>
      </p:sp>
      <p:sp>
        <p:nvSpPr>
          <p:cNvPr id="4" name="C_4_BD#ab12177fa?vcp=1&amp;pid=1f1655fed&amp;color=0,0,0&amp;vtp=1&amp;bbb=1"/>
          <p:cNvSpPr/>
          <p:nvPr/>
        </p:nvSpPr>
        <p:spPr>
          <a:xfrm>
            <a:off x="1837944" y="502920"/>
            <a:ext cx="9939528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latinLnBrk="1">
              <a:lnSpc>
                <a:spcPts val="3200"/>
              </a:lnSpc>
            </a:pP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位移和时间的测量</a:t>
            </a:r>
            <a:r>
              <a:rPr lang="en-US" altLang="zh-CN" sz="2600" b="1" i="0" dirty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600" b="1" i="0" dirty="0">
                <a:solidFill>
                  <a:srgbClr val="000000"/>
                </a:solidFill>
                <a:latin typeface="Times New Roman" pitchFamily="34" charset="0"/>
                <a:ea typeface="SimHei" pitchFamily="34" charset="-122"/>
                <a:cs typeface="Times New Roman" pitchFamily="34" charset="-120"/>
              </a:rPr>
              <a:t>难点</a:t>
            </a:r>
            <a:endParaRPr lang="en-US" altLang="zh-CN" sz="2600" dirty="0"/>
          </a:p>
        </p:txBody>
      </p:sp>
      <p:sp>
        <p:nvSpPr>
          <p:cNvPr id="5" name="P_5#ba3421561?vcp=1&amp;pid=ab12177fa&amp;color=0,0,0&amp;vtp=1&amp;bbb=1"/>
          <p:cNvSpPr/>
          <p:nvPr/>
        </p:nvSpPr>
        <p:spPr>
          <a:xfrm>
            <a:off x="393192" y="1092200"/>
            <a:ext cx="11402568" cy="920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39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核心总结</a:t>
            </a:r>
            <a:endParaRPr lang="en-US" altLang="zh-CN" sz="2400" dirty="0"/>
          </a:p>
          <a:p>
            <a:pPr algn="ctr" latinLnBrk="1">
              <a:lnSpc>
                <a:spcPts val="3700"/>
              </a:lnSpc>
            </a:pPr>
            <a:r>
              <a:rPr lang="en-US" altLang="zh-CN" sz="2400" b="1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打点计时器的构造及工作原理</a:t>
            </a:r>
            <a:r>
              <a:rPr lang="en-US" altLang="zh-CN" sz="100" b="1" i="0" kern="0" spc="-99900" dirty="0">
                <a:solidFill>
                  <a:srgbClr val="FFFFFF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#1.1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4" name="P_5_BD#ba3421561?colgroup=4,15,16&amp;vcp=1&amp;pid=ab12177fa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8035573"/>
                  </p:ext>
                </p:extLst>
              </p:nvPr>
            </p:nvGraphicFramePr>
            <p:xfrm>
              <a:off x="393192" y="2142616"/>
              <a:ext cx="11365992" cy="4222496"/>
            </p:xfrm>
            <a:graphic>
              <a:graphicData uri="http://schemas.openxmlformats.org/drawingml/2006/table">
                <a:tbl>
                  <a:tblPr/>
                  <a:tblGrid>
                    <a:gridCol w="142646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82803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11149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06349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00"/>
                            </a:lnSpc>
                          </a:pP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电磁打点计时器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电火花计时器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703451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构造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34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34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500124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工作原理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9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被交变磁场磁化的振片在永久磁铁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9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的作用下振动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振针打在复写纸上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使纸带上打出一系列的点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9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利用火花放电在纸带上打出墨点而显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出点迹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12572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工作电压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约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8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V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的交流电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800"/>
                            </a:lnSpc>
                          </a:pP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220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V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的交流电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4" name="P_5_BD#ba3421561?colgroup=4,15,16&amp;vcp=1&amp;pid=ab12177fa&amp;color=0,0,0&amp;vtp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28035573"/>
                  </p:ext>
                </p:extLst>
              </p:nvPr>
            </p:nvGraphicFramePr>
            <p:xfrm>
              <a:off x="393192" y="2142616"/>
              <a:ext cx="11365992" cy="4222496"/>
            </p:xfrm>
            <a:graphic>
              <a:graphicData uri="http://schemas.openxmlformats.org/drawingml/2006/table">
                <a:tbl>
                  <a:tblPr/>
                  <a:tblGrid>
                    <a:gridCol w="142646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82803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11149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506349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00"/>
                            </a:lnSpc>
                          </a:pP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电磁打点计时器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电火花计时器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1703451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构造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34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3400"/>
                            </a:lnSpc>
                          </a:pPr>
                          <a:endParaRPr lang="en-US" altLang="zh-CN" sz="900" spc="0" dirty="0">
                            <a:solidFill>
                              <a:srgbClr val="FFFFFF">
                                <a:alpha val="0"/>
                              </a:srgbClr>
                            </a:solidFill>
                            <a:latin typeface="SimSun" panose="02010600030101010101" pitchFamily="2" charset="-122"/>
                          </a:endParaRPr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1500124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工作原理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9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被交变磁场磁化的振片在永久磁铁</a:t>
                          </a:r>
                        </a:p>
                        <a:p>
                          <a:pPr marL="0" indent="0" algn="l" latinLnBrk="1" hangingPunct="0">
                            <a:lnSpc>
                              <a:spcPts val="39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的作用下振动</a:t>
                          </a:r>
                          <a:r>
                            <a:rPr lang="en-US" altLang="zh-CN" sz="2400" b="0" i="0" spc="-10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振针打在复写纸上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使纸带上打出一系列的点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9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利用火花放电在纸带上打出墨点而显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出点迹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512572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工作电压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9672" t="-727381" r="-106187" b="-2619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22408" t="-727381" r="-238" b="-261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7" name="P_5_BD#ba3421561.table_image?tii=9&amp;vcp=1&amp;pid=ab12177fa&amp;color=0,0,0&amp;tib=255,255,255&amp;vtp=1" descr="preencoded.png"/>
          <p:cNvPicPr>
            <a:picLocks noChangeAspect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944368" y="2696018"/>
            <a:ext cx="2578608" cy="1609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  <p:pic>
        <p:nvPicPr>
          <p:cNvPr id="8" name="P_5_BD#ba3421561.table_image?tii=10&amp;vcp=1&amp;pid=ab12177fa&amp;color=0,0,0&amp;tib=255,255,255&amp;vtp=1" descr="preencoded.png"/>
          <p:cNvPicPr>
            <a:picLocks noChangeAspect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051292" y="2682302"/>
            <a:ext cx="2304288" cy="1636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0"/>
                  </a:schemeClr>
                </a:solidFill>
              </a14:hiddenFill>
            </a:ext>
          </a:extLst>
        </p:spPr>
      </p:pic>
    </p:spTree>
  </p:cSld>
  <p:clrMapOvr>
    <a:masterClrMapping/>
  </p:clrMapOvr>
  <p:transition>
    <p:split dir="in"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&amp;si=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5" name="P_5_BD#ba3421561?colgroup=4,15,16&amp;vcp=1&amp;pid=ab12177fa&amp;color=0,0,0&amp;mp=1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6025122"/>
                  </p:ext>
                </p:extLst>
              </p:nvPr>
            </p:nvGraphicFramePr>
            <p:xfrm>
              <a:off x="393192" y="2508440"/>
              <a:ext cx="11365992" cy="2464689"/>
            </p:xfrm>
            <a:graphic>
              <a:graphicData uri="http://schemas.openxmlformats.org/drawingml/2006/table">
                <a:tbl>
                  <a:tblPr/>
                  <a:tblGrid>
                    <a:gridCol w="142646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82803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11149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00"/>
                            </a:lnSpc>
                          </a:pP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电磁打点计时器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电火花计时器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打点频率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与交流电源的频率相同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若频率为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50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Hz</m:t>
                              </m:r>
                            </m:oMath>
                          </a14:m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则每隔</a:t>
                          </a:r>
                          <a14:m>
                            <m:oMath xmlns:m="http://schemas.openxmlformats.org/officeDocument/2006/math">
                              <m: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0.02</m:t>
                              </m:r>
                              <m:r>
                                <m:rPr>
                                  <m:nor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altLang="zh-CN" sz="2400" b="0" i="0" spc="-100">
                                  <a:solidFill>
                                    <a:srgbClr val="000000"/>
                                  </a:solidFill>
                                  <a:latin typeface="Cambria Math" pitchFamily="34" charset="0"/>
                                  <a:ea typeface="Cambria Math" pitchFamily="34" charset="-122"/>
                                  <a:cs typeface="Cambria Math" pitchFamily="34" charset="-120"/>
                                </a:rPr>
                                <m:t>s</m:t>
                              </m:r>
                            </m:oMath>
                          </a14:m>
                          <a:r>
                            <a:rPr lang="en-US" altLang="zh-CN" sz="100" b="0" i="0" kern="0" spc="-99900" dirty="0">
                              <a:solidFill>
                                <a:srgbClr val="FFFFFF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 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打一个点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74344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阻力来源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阻力来自振针和纸带间的摩擦以及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限位孔和纸带间的摩擦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阻力较大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阻力来自纸带本身的运动而不是打点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时产生的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阻力很小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实验误差小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记录信息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位移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时间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5" name="P_5_BD#ba3421561?colgroup=4,15,16&amp;vcp=1&amp;pid=ab12177fa&amp;color=0,0,0&amp;mp=1&amp;vtp=1&amp;bt=1&amp;bbb=1&amp;hb=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46025122"/>
                  </p:ext>
                </p:extLst>
              </p:nvPr>
            </p:nvGraphicFramePr>
            <p:xfrm>
              <a:off x="393192" y="2508440"/>
              <a:ext cx="11365992" cy="2464689"/>
            </p:xfrm>
            <a:graphic>
              <a:graphicData uri="http://schemas.openxmlformats.org/drawingml/2006/table">
                <a:tbl>
                  <a:tblPr/>
                  <a:tblGrid>
                    <a:gridCol w="1426464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482803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5111496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92633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100"/>
                            </a:lnSpc>
                          </a:pP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电磁打点计时器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电火花计时器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打点频率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4408" t="-100000" r="-123" b="-324390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74344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阻力来源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阻力来自振针和纸带间的摩擦以及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限位孔和纸带间的摩擦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阻力较大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indent="0" algn="l" latinLnBrk="1" hangingPunct="0">
                            <a:lnSpc>
                              <a:spcPts val="38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阻力来自纸带本身的运动而不是打点</a:t>
                          </a:r>
                        </a:p>
                        <a:p>
                          <a:pPr marL="0" lvl="0" indent="0" algn="l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时产生的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阻力很小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，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实验误差小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498856">
                    <a:tc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600"/>
                            </a:lnSpc>
                          </a:pPr>
                          <a:r>
                            <a:rPr lang="en-US" altLang="zh-CN" sz="2400" b="1" i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记录信息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gridSpan="2">
                      <a:txBody>
                        <a:bodyPr/>
                        <a:lstStyle/>
                        <a:p>
                          <a:pPr algn="ctr" latinLnBrk="1" hangingPunct="0">
                            <a:lnSpc>
                              <a:spcPts val="3700"/>
                            </a:lnSpc>
                          </a:pP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位移</a:t>
                          </a:r>
                          <a:r>
                            <a:rPr lang="en-US" altLang="zh-CN" sz="2400" b="0" i="0" spc="-10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、</a:t>
                          </a:r>
                          <a:r>
                            <a:rPr lang="en-US" altLang="zh-CN" sz="2400" b="0" i="0" dirty="0">
                              <a:solidFill>
                                <a:srgbClr val="000000"/>
                              </a:solidFill>
                              <a:latin typeface="Times New Roman" pitchFamily="34" charset="0"/>
                              <a:ea typeface="微软雅黑" pitchFamily="34" charset="-122"/>
                              <a:cs typeface="Times New Roman" pitchFamily="34" charset="-120"/>
                            </a:rPr>
                            <a:t>时间</a:t>
                          </a:r>
                          <a:endParaRPr lang="en-US" altLang="zh-CN" sz="1200" dirty="0"/>
                        </a:p>
                      </a:txBody>
                      <a:tcPr marL="72000" marR="72000" marT="0" marB="0" anchor="ctr">
                        <a:lnL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9525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2" name="P_5_BD#ba3421561?colgroup=4,15,16&amp;vcp=1&amp;pid=ab12177fa&amp;color=0,0,0&amp;mp=1&amp;vtp=1&amp;bt=1&amp;bbb=1">
            <a:extLst>
              <a:ext uri="{FF2B5EF4-FFF2-40B4-BE49-F238E27FC236}">
                <a16:creationId xmlns:a16="http://schemas.microsoft.com/office/drawing/2014/main" id="{2CC78790-6CFD-B85E-5809-8957F92C9B8C}"/>
              </a:ext>
            </a:extLst>
          </p:cNvPr>
          <p:cNvSpPr txBox="1"/>
          <p:nvPr/>
        </p:nvSpPr>
        <p:spPr>
          <a:xfrm>
            <a:off x="11143632" y="1882965"/>
            <a:ext cx="615553" cy="503215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r">
              <a:lnSpc>
                <a:spcPts val="4300"/>
              </a:lnSpc>
            </a:pPr>
            <a:r>
              <a:rPr lang="zh-CN" altLang="en-US" sz="2400">
                <a:latin typeface="Times New Roman" panose="02020603050405020304" pitchFamily="18" charset="0"/>
              </a:rPr>
              <a:t>续表</a:t>
            </a:r>
          </a:p>
        </p:txBody>
      </p:sp>
    </p:spTree>
  </p:cSld>
  <p:clrMapOvr>
    <a:masterClrMapping/>
  </p:clrMapOvr>
  <p:transition>
    <p:split dir="in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&amp;si=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5_BD.25_1#1c22cde00?vcp=1&amp;pid=ab12177fa&amp;color=0,0,0&amp;vtp=1&amp;bt=1&amp;bbb=1&amp;hb=1"/>
          <p:cNvSpPr/>
          <p:nvPr/>
        </p:nvSpPr>
        <p:spPr>
          <a:xfrm>
            <a:off x="393192" y="1556576"/>
            <a:ext cx="11402568" cy="1033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考题5</a:t>
            </a:r>
            <a:r>
              <a:rPr lang="en-US" altLang="zh-CN" sz="24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1E5A99"/>
                </a:solidFill>
                <a:latin typeface="KaiTi" pitchFamily="34" charset="0"/>
                <a:ea typeface="KaiTi" pitchFamily="34" charset="-122"/>
                <a:cs typeface="KaiTi" pitchFamily="34" charset="-120"/>
              </a:rPr>
              <a:t>（2026·湖北武汉二中检测）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（多选题）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关于打点计时器的原理和使用方法，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下列说法中正确的是(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3" name="QC_5_AN.26_1#1c22cde00.bracket?vcp=1&amp;pid=ab12177fa&amp;color=0,0,0&amp;vpa=9&amp;vtp=1&amp;bbb=1"/>
          <p:cNvSpPr/>
          <p:nvPr/>
        </p:nvSpPr>
        <p:spPr>
          <a:xfrm>
            <a:off x="3419760" y="2103946"/>
            <a:ext cx="661988" cy="47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2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AC</a:t>
            </a:r>
            <a:endParaRPr lang="en-US" altLang="zh-CN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QC_5_BD.25_2#1c22cde00.choices?vcp=1&amp;pid=ab12177fa&amp;color=0,0,0&amp;vtp=1&amp;bbb=1&amp;hb=1"/>
              <p:cNvSpPr/>
              <p:nvPr/>
            </p:nvSpPr>
            <p:spPr>
              <a:xfrm>
                <a:off x="393192" y="2590101"/>
                <a:ext cx="11402568" cy="26630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300"/>
                  </a:lnSpc>
                </a:pP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A.打点计时器应接交流电源，交流频率通常为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50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Hz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B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.如果纸带上相邻两个计数点之间有四个点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，则相邻两个计数点间的时间间隔是</a:t>
                </a:r>
              </a:p>
              <a:p>
                <a:pPr latinLnBrk="1">
                  <a:lnSpc>
                    <a:spcPts val="4300"/>
                  </a:lnSpc>
                </a:pP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0.08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s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endParaRPr lang="en-US" altLang="zh-CN" sz="2400" dirty="0"/>
              </a:p>
              <a:p>
                <a:pPr latinLnBrk="1">
                  <a:lnSpc>
                    <a:spcPts val="43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.如果打点计时器在纸带上打下的点先密集后稀疏，则说明纸带的速度由小变大</a:t>
                </a:r>
                <a:endParaRPr lang="en-US" altLang="zh-CN" sz="2400" dirty="0"/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D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.电磁打点计时器接在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220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V</m:t>
                    </m:r>
                  </m:oMath>
                </a14:m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电源上，电火花计时器接在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8</m:t>
                    </m:r>
                    <m:r>
                      <m:rPr>
                        <m:nor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V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电源上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4" name="QC_5_BD.25_2#1c22cde00.choices?vcp=1&amp;pid=ab12177fa&amp;color=0,0,0&amp;vtp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590101"/>
                <a:ext cx="11402568" cy="2663000"/>
              </a:xfrm>
              <a:prstGeom prst="rect">
                <a:avLst/>
              </a:prstGeom>
              <a:blipFill>
                <a:blip r:embed="rId3"/>
                <a:stretch>
                  <a:fillRect l="-1658" b="-6636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&amp;si=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QC_5_AS.27_1#1c22cde00?vcp=1&amp;pid=ab12177fa&amp;color=0,0,0&amp;vtp=1&amp;bt=1&amp;bbb=1&amp;hb=1"/>
              <p:cNvSpPr/>
              <p:nvPr/>
            </p:nvSpPr>
            <p:spPr>
              <a:xfrm>
                <a:off x="393192" y="2086705"/>
                <a:ext cx="11402568" cy="27138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[解析]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SimSun" pitchFamily="34" charset="0"/>
                    <a:ea typeface="SimSun" pitchFamily="34" charset="-122"/>
                    <a:cs typeface="SimSu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打点计时器使用交流电，电磁打点计时器使用约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𝟖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𝐕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的低压交流电源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，电火花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计时器使用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𝟐𝟐𝟎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𝐕</m:t>
                    </m:r>
                  </m:oMath>
                </a14:m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交流电源.由于打点计时器每隔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打一个点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，所以相邻计时点的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时间间隔为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，如果相邻两个计数点间还有四个计时点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，则该两计数点的时间间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隔应为</a:t>
                </a:r>
                <a14:m>
                  <m:oMath xmlns:m="http://schemas.openxmlformats.org/officeDocument/2006/math"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𝟓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×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𝟎𝟐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=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𝟎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.</m:t>
                    </m:r>
                    <m:r>
                      <a:rPr lang="en-US" altLang="zh-CN" sz="2400" b="1" i="1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𝟏</m:t>
                    </m:r>
                    <m:r>
                      <m:rPr>
                        <m:nor/>
                      </m:rP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 </m:t>
                    </m:r>
                    <m:r>
                      <a:rPr lang="en-US" altLang="zh-CN" sz="2400" b="1" i="0">
                        <a:solidFill>
                          <a:srgbClr val="FF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𝐬</m:t>
                    </m:r>
                  </m:oMath>
                </a14:m>
                <a:r>
                  <a:rPr lang="en-US" altLang="zh-CN" sz="100" b="1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.纸带上的点先密集后稀疏，说明纸带的速度由小变大.故</a:t>
                </a: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A、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1" i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C</a:t>
                </a:r>
                <a:r>
                  <a:rPr lang="en-US" altLang="zh-CN" sz="2400" b="1" i="0" dirty="0">
                    <a:solidFill>
                      <a:srgbClr val="FF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正确.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QC_5_AS.27_1#1c22cde00?vcp=1&amp;pid=ab12177fa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2086705"/>
                <a:ext cx="11402568" cy="2713800"/>
              </a:xfrm>
              <a:prstGeom prst="rect">
                <a:avLst/>
              </a:prstGeom>
              <a:blipFill>
                <a:blip r:embed="rId3"/>
                <a:stretch>
                  <a:fillRect l="-1658" r="-1658" b="-6742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&amp;si=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C_5_BD.28_1#a399481d8?vcp=1&amp;pid=ab12177fa&amp;color=0,0,0&amp;vtp=1&amp;bt=1&amp;bbb=1"/>
          <p:cNvSpPr/>
          <p:nvPr/>
        </p:nvSpPr>
        <p:spPr>
          <a:xfrm>
            <a:off x="393192" y="690881"/>
            <a:ext cx="11402568" cy="4841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0070C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变式5-1</a:t>
            </a:r>
            <a:r>
              <a:rPr lang="en-US" altLang="zh-CN" sz="2400" b="1" i="0" dirty="0">
                <a:solidFill>
                  <a:srgbClr val="0070C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（多选题）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使用打点计时器时应注意(</a:t>
            </a:r>
            <a:r>
              <a:rPr lang="en-US" altLang="zh-CN" sz="2400" b="0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>
                <a:solidFill>
                  <a:srgbClr val="00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  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).</a:t>
            </a:r>
            <a:endParaRPr lang="en-US" altLang="zh-CN" sz="2400" dirty="0"/>
          </a:p>
        </p:txBody>
      </p:sp>
      <p:sp>
        <p:nvSpPr>
          <p:cNvPr id="3" name="QC_5_AN.29_1#a399481d8.bracket?vcp=1&amp;pid=ab12177fa&amp;color=0,0,0&amp;vpa=10&amp;vtp=1&amp;bbb=1"/>
          <p:cNvSpPr/>
          <p:nvPr/>
        </p:nvSpPr>
        <p:spPr>
          <a:xfrm>
            <a:off x="6697950" y="688976"/>
            <a:ext cx="865188" cy="4881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latinLnBrk="1">
              <a:lnSpc>
                <a:spcPts val="43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BCD</a:t>
            </a:r>
            <a:endParaRPr lang="en-US" altLang="zh-CN" sz="2400" dirty="0"/>
          </a:p>
        </p:txBody>
      </p:sp>
      <p:sp>
        <p:nvSpPr>
          <p:cNvPr id="4" name="QC_5_BD.28_2#a399481d8.choices?vcp=1&amp;pid=ab12177fa&amp;color=0,0,0&amp;vtp=1&amp;bbb=1&amp;hb=1"/>
          <p:cNvSpPr/>
          <p:nvPr/>
        </p:nvSpPr>
        <p:spPr>
          <a:xfrm>
            <a:off x="393192" y="1239266"/>
            <a:ext cx="11402568" cy="2713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A.无论使用电磁打点计时器还是电火花计时器，都应该把纸带穿过限位孔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，再把套在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轴上的复写纸压在纸带上面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.使用打点计时器时应先接通电源，再拉动纸带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C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.使用打点计时器时，拉动纸带的方向应与限位孔平行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D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.打点计时器只能连续工作很短时间，打点完成后要立即关闭电源</a:t>
            </a:r>
            <a:endParaRPr lang="en-US" altLang="zh-CN" sz="2400" dirty="0"/>
          </a:p>
        </p:txBody>
      </p:sp>
      <p:sp>
        <p:nvSpPr>
          <p:cNvPr id="5" name="QC_5_AS.30_1#a399481d8?vcp=1&amp;pid=ab12177fa&amp;color=0,0,0&amp;vtp=1&amp;bbb=1&amp;hb=1"/>
          <p:cNvSpPr/>
          <p:nvPr/>
        </p:nvSpPr>
        <p:spPr>
          <a:xfrm>
            <a:off x="393192" y="3991164"/>
            <a:ext cx="11402568" cy="215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[解析]</a:t>
            </a:r>
            <a:r>
              <a:rPr lang="en-US" altLang="zh-CN" sz="2400" b="1" i="0" dirty="0">
                <a:solidFill>
                  <a:srgbClr val="FF000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 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电磁打点计时器需要复写纸，电火花计时器不需要复写纸，选项A错误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；实验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时应先接通电源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，再拉动纸带，可使纸带上打出更多的点，纸带的利用率更高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，选项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B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正确；拉动纸带的方向与限位孔平行可减小摩擦，选项C正确</a:t>
            </a: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；打点计时器不能长时</a:t>
            </a:r>
          </a:p>
          <a:p>
            <a:pPr latinLnBrk="1">
              <a:lnSpc>
                <a:spcPts val="4200"/>
              </a:lnSpc>
            </a:pPr>
            <a:r>
              <a:rPr lang="en-US" altLang="zh-CN" sz="2400" b="1" i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间连续工作</a:t>
            </a:r>
            <a:r>
              <a:rPr lang="en-US" altLang="zh-CN" sz="2400" b="1" i="0" dirty="0">
                <a:solidFill>
                  <a:srgbClr val="FF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，选项D正确.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animBg="1"/>
      <p:bldP spid="5" grpId="0" build="p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&amp;si=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_5_BD#86710d428?vcp=1&amp;pid=ab12177fa&amp;color=0,0,0&amp;vtp=1&amp;bt=1&amp;bbb=1&amp;hb=1"/>
          <p:cNvSpPr/>
          <p:nvPr/>
        </p:nvSpPr>
        <p:spPr>
          <a:xfrm>
            <a:off x="393192" y="1227646"/>
            <a:ext cx="11402568" cy="4386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latinLnBrk="1">
              <a:lnSpc>
                <a:spcPts val="4400"/>
              </a:lnSpc>
            </a:pPr>
            <a:r>
              <a:rPr lang="en-US" altLang="zh-CN" sz="2400" b="1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名师点拨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.使用打点计时器的注意事项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1）使用电火花计时器时，应把两条白纸带正确穿好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，墨粉纸盘夹在两纸带之</a:t>
            </a:r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间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；使用电磁打点计时器时，纸带压在复写纸下面.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2）使用打点计时器时，先接通电源，再释放纸带.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3）释放物体前，应使物体停在靠近打点计时器的位置.</a:t>
            </a:r>
            <a:endParaRPr lang="en-US" altLang="zh-CN" sz="2400" dirty="0"/>
          </a:p>
          <a:p>
            <a:pPr latinLnBrk="1">
              <a:lnSpc>
                <a:spcPts val="44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（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4）电磁打点计时器若打出的是横线，应调整振针距复写纸的高度或降低电压.</a:t>
            </a:r>
            <a:endParaRPr lang="en-US" altLang="zh-CN" sz="2400" dirty="0"/>
          </a:p>
          <a:p>
            <a:pPr latinLnBrk="1">
              <a:lnSpc>
                <a:spcPts val="4200"/>
              </a:lnSpc>
            </a:pPr>
            <a:r>
              <a:rPr lang="en-US" altLang="zh-CN" sz="2400" b="0" i="0">
                <a:solidFill>
                  <a:srgbClr val="000000"/>
                </a:solidFill>
                <a:latin typeface="SimSun" panose="02010600030101010101" pitchFamily="2" charset="-122"/>
                <a:ea typeface="微软雅黑" pitchFamily="34" charset="-122"/>
                <a:cs typeface="Times New Roman" pitchFamily="34" charset="-120"/>
              </a:rPr>
              <a:t>    </a:t>
            </a:r>
            <a:r>
              <a:rPr lang="en-US" altLang="zh-CN" sz="2400" b="0" i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2</a:t>
            </a:r>
            <a:r>
              <a:rPr lang="en-US" altLang="zh-CN" sz="2400" b="0" i="0" dirty="0">
                <a:solidFill>
                  <a:srgbClr val="000000"/>
                </a:solidFill>
                <a:latin typeface="Times New Roman" pitchFamily="34" charset="0"/>
                <a:ea typeface="微软雅黑" pitchFamily="34" charset="-122"/>
                <a:cs typeface="Times New Roman" pitchFamily="34" charset="-120"/>
              </a:rPr>
              <a:t>.打点计时器直接记录运动位移及对应的时间，但不能记录其速度.</a:t>
            </a:r>
            <a:endParaRPr lang="en-US" altLang="zh-CN" sz="2400" dirty="0"/>
          </a:p>
        </p:txBody>
      </p:sp>
    </p:spTree>
  </p:cSld>
  <p:clrMapOvr>
    <a:masterClrMapping/>
  </p:clrMapOvr>
  <p:transition>
    <p:split dir="in"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&amp;si=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P_5_BD#86710d428?vcp=1&amp;pid=ab12177fa&amp;color=0,0,0&amp;vtp=1&amp;bt=1&amp;bbb=1&amp;hb=1"/>
              <p:cNvSpPr/>
              <p:nvPr/>
            </p:nvSpPr>
            <p:spPr>
              <a:xfrm>
                <a:off x="393192" y="1238345"/>
                <a:ext cx="11402568" cy="4390200"/>
              </a:xfrm>
              <a:prstGeom prst="rect">
                <a:avLst/>
              </a:prstGeom>
              <a:noFill/>
              <a:ln/>
            </p:spPr>
            <p:txBody>
              <a:bodyPr wrap="none" lIns="0" tIns="0" rIns="0" bIns="0" rtlCol="0" anchor="t"/>
              <a:lstStyle/>
              <a:p>
                <a:pPr algn="l" latinLnBrk="1">
                  <a:lnSpc>
                    <a:spcPts val="4400"/>
                  </a:lnSpc>
                </a:pPr>
                <a:r>
                  <a:rPr lang="en-US" altLang="zh-CN" sz="2400" b="1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易错警示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1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.实验前，应将打点计时器固定好，以免拉动纸带时晃动，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并要先轻轻试拉纸带，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应无明显的阻滞现象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2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.手拉动纸带时速度应快一些，以防点迹太密集.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3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.打点计时器不能连续工作太长时间，打点之后应立即关闭电源.</a:t>
                </a:r>
                <a:endParaRPr lang="en-US" altLang="zh-CN" sz="2400" dirty="0"/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SimSun" panose="02010600030101010101" pitchFamily="2" charset="-122"/>
                    <a:ea typeface="微软雅黑" pitchFamily="34" charset="-122"/>
                    <a:cs typeface="Times New Roman" pitchFamily="34" charset="-120"/>
                  </a:rPr>
                  <a:t>    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4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.对纸带进行测量时，不要分段测量各段的位移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，正确的做法是一次测量完毕</a:t>
                </a:r>
              </a:p>
              <a:p>
                <a:pPr latinLnBrk="1">
                  <a:lnSpc>
                    <a:spcPts val="44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（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可先统一测量出各个测量点到起始测量点</a:t>
                </a:r>
                <a14:m>
                  <m:oMath xmlns:m="http://schemas.openxmlformats.org/officeDocument/2006/math">
                    <m:r>
                      <a:rPr lang="en-US" altLang="zh-CN" sz="2400" b="0" i="0">
                        <a:solidFill>
                          <a:srgbClr val="000000"/>
                        </a:solidFill>
                        <a:latin typeface="Cambria Math" pitchFamily="34" charset="0"/>
                        <a:ea typeface="Cambria Math" pitchFamily="34" charset="-122"/>
                        <a:cs typeface="Cambria Math" pitchFamily="34" charset="-120"/>
                      </a:rPr>
                      <m:t>𝑂</m:t>
                    </m:r>
                  </m:oMath>
                </a14:m>
                <a:r>
                  <a:rPr lang="en-US" altLang="zh-CN" sz="100" b="0" i="0" kern="0" spc="-99900" dirty="0">
                    <a:solidFill>
                      <a:srgbClr val="FFFFFF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 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之间的距离</a:t>
                </a: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），读数时应估读到分度值</a:t>
                </a:r>
              </a:p>
              <a:p>
                <a:pPr latinLnBrk="1">
                  <a:lnSpc>
                    <a:spcPts val="4200"/>
                  </a:lnSpc>
                </a:pPr>
                <a:r>
                  <a:rPr lang="en-US" altLang="zh-CN" sz="2400" b="0" i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的下一位</a:t>
                </a:r>
                <a:r>
                  <a:rPr lang="en-US" altLang="zh-CN" sz="2400" b="0" i="0" dirty="0">
                    <a:solidFill>
                      <a:srgbClr val="000000"/>
                    </a:solidFill>
                    <a:latin typeface="Times New Roman" pitchFamily="34" charset="0"/>
                    <a:ea typeface="微软雅黑" pitchFamily="34" charset="-122"/>
                    <a:cs typeface="Times New Roman" pitchFamily="34" charset="-120"/>
                  </a:rPr>
                  <a:t>.</a:t>
                </a:r>
                <a:endParaRPr lang="en-US" altLang="zh-CN" sz="2400" dirty="0"/>
              </a:p>
            </p:txBody>
          </p:sp>
        </mc:Choice>
        <mc:Fallback>
          <p:sp>
            <p:nvSpPr>
              <p:cNvPr id="2" name="P_5_BD#86710d428?vcp=1&amp;pid=ab12177fa&amp;color=0,0,0&amp;vtp=1&amp;bt=1&amp;bbb=1&amp;hb=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192" y="1238345"/>
                <a:ext cx="11402568" cy="4390200"/>
              </a:xfrm>
              <a:prstGeom prst="rect">
                <a:avLst/>
              </a:prstGeom>
              <a:blipFill>
                <a:blip r:embed="rId3"/>
                <a:stretch>
                  <a:fillRect l="-1658" r="-2567" b="-4167"/>
                </a:stretch>
              </a:blipFill>
              <a:ln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split dir="in"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&amp;si=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split dir="in"/>
  </p:transition>
</p:sld>
</file>

<file path=ppt/theme/theme1.xml><?xml version="1.0" encoding="utf-8"?>
<a:theme xmlns:a="http://schemas.openxmlformats.org/drawingml/2006/mai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1973</Words>
  <Application>Microsoft Office PowerPoint</Application>
  <PresentationFormat>宽屏</PresentationFormat>
  <Paragraphs>394</Paragraphs>
  <Slides>38</Slides>
  <Notes>38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6" baseType="lpstr">
      <vt:lpstr>SimHei</vt:lpstr>
      <vt:lpstr>KaiTi</vt:lpstr>
      <vt:lpstr>SimSun</vt:lpstr>
      <vt:lpstr>微软雅黑</vt:lpstr>
      <vt:lpstr>Arial</vt:lpstr>
      <vt:lpstr>Cambria Math</vt:lpstr>
      <vt:lpstr>Times New Roman</vt:lpstr>
      <vt:lpstr/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Administrator</cp:lastModifiedBy>
  <cp:revision>2</cp:revision>
  <dcterms:created xsi:type="dcterms:W3CDTF">2026-05-25T08:13:34Z</dcterms:created>
  <dcterms:modified xsi:type="dcterms:W3CDTF">2026-05-25T08:15:51Z</dcterms:modified>
  <cp:category/>
  <cp:contentStatus/>
</cp:coreProperties>
</file>