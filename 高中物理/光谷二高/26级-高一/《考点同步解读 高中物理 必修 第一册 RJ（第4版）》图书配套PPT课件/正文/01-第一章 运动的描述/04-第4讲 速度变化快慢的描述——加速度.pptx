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3" r:id="rId37"/>
    <p:sldId id="294" r:id="rId38"/>
    <p:sldId id="295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883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1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ab7497e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第4讲 速度变化快慢的描述——加速度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ab7497e69.fixed?vcp=1&amp;pid=dbb013986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运动的描述</a:t>
            </a:r>
            <a:endParaRPr lang="en-US" altLang="zh-CN" sz="4800" dirty="0"/>
          </a:p>
        </p:txBody>
      </p:sp>
      <p:sp>
        <p:nvSpPr>
          <p:cNvPr id="3" name="C_2_BD#ab7497e69.fixed?vcp=1&amp;pid=dbb013986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速度变化快慢的描述——加速度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ab7497e69?lid=58cf5f491&amp;cid=58cf5f491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ab7497e69?lid=d535b9f05&amp;cid=d535b9f05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58cf5f491?vcp=1&amp;pid=ab7497e69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P_4_BD#5a4cd1451?colgroup=17,5,12&amp;vcp=1&amp;pid=58cf5f491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2191119"/>
                  </p:ext>
                </p:extLst>
              </p:nvPr>
            </p:nvGraphicFramePr>
            <p:xfrm>
              <a:off x="393192" y="1181100"/>
              <a:ext cx="11356848" cy="2584006"/>
            </p:xfrm>
            <a:graphic>
              <a:graphicData uri="http://schemas.openxmlformats.org/drawingml/2006/table">
                <a:tbl>
                  <a:tblPr/>
                  <a:tblGrid>
                    <a:gridCol w="55229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470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867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考点分析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核心素养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知识图解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140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1.加速度的概念.（★★）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物理观念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6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154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图像的描绘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意义及利用图像确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定加速度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.（★★★★★）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科学思维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3.运动性质的判断.（★★★）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科学思维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P_4_BD#5a4cd1451?colgroup=17,5,12&amp;vcp=1&amp;pid=58cf5f491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2191119"/>
                  </p:ext>
                </p:extLst>
              </p:nvPr>
            </p:nvGraphicFramePr>
            <p:xfrm>
              <a:off x="393192" y="1181100"/>
              <a:ext cx="11356848" cy="2584006"/>
            </p:xfrm>
            <a:graphic>
              <a:graphicData uri="http://schemas.openxmlformats.org/drawingml/2006/table">
                <a:tbl>
                  <a:tblPr/>
                  <a:tblGrid>
                    <a:gridCol w="55229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470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867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考点分析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核心素养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知识图解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140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1.加速度的概念.（★★）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物理观念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6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15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0" t="-115000" r="-105960" b="-6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科学思维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3.运动性质的判断.（★★★）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科学思维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_4_BD#5a4cd1451.table_image?tii=1&amp;vcp=1&amp;pid=58cf5f491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18704" y="1702975"/>
            <a:ext cx="3675888" cy="203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d535b9f05?vcp=1&amp;pid=ab7497e69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b72de9a56?vcp=1&amp;pid=d535b9f05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b72de9a56?vcp=1&amp;pid=d535b9f05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b72de9a56?vcp=1&amp;pid=d535b9f05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加速度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_5_BD#c6668cce2?vcp=1&amp;pid=b72de9a56&amp;color=0,0,0&amp;vtp=1&amp;bbb=1"/>
              <p:cNvSpPr/>
              <p:nvPr/>
            </p:nvSpPr>
            <p:spPr>
              <a:xfrm>
                <a:off x="393192" y="1778000"/>
                <a:ext cx="11402568" cy="3293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.定义：速度的变化量与发生这一变化所用时间的比值，叫作加速度.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.定义式：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.矢量性：加速度是矢量，方向跟速度的变化量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方向相同.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.单位：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.物理意义：加速度是描述物体速度变化快慢的物理量.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P_5_BD#c6668cce2?vcp=1&amp;pid=b72de9a5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8000"/>
                <a:ext cx="11402568" cy="3293999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c6668cce2?vcp=1&amp;pid=b72de9a56&amp;color=0,0,0&amp;vtp=1&amp;bt=1&amp;bbb=1&amp;hb=1"/>
              <p:cNvSpPr/>
              <p:nvPr/>
            </p:nvSpPr>
            <p:spPr>
              <a:xfrm>
                <a:off x="393192" y="2348325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6.对加速度理解的注意点：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1）加速度的“加”应理解为“变化”，而不是“增加的速度”.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2）加速度是一个用比值定义法定义的物理量，不能认为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成正比，与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反比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.（加速度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的决定因素将在第四章学习）.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c6668cce2?vcp=1&amp;pid=b72de9a5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48325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1230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1_1#82ded1baf?vcp=1&amp;pid=b72de9a56&amp;color=0,0,0&amp;vtp=1&amp;bt=1&amp;bbb=1&amp;hb=1"/>
          <p:cNvSpPr/>
          <p:nvPr/>
        </p:nvSpPr>
        <p:spPr>
          <a:xfrm>
            <a:off x="393192" y="504000"/>
            <a:ext cx="11402568" cy="1522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（2026·上海华东师大附中检测）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赵凯华教授说过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：“加速度是人类认识史上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最难建立的概念之一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，也是每个初学物理的人最不易真正掌握的概念</a:t>
            </a: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……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”.所以对加</a:t>
            </a:r>
          </a:p>
          <a:p>
            <a:pPr latinLnBrk="1">
              <a:lnSpc>
                <a:spcPts val="40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速度的认识应该引起大家的重视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_1#82ded1baf.bracket?vcp=1&amp;pid=b72de9a56&amp;color=0,0,0&amp;vpa=1&amp;vtp=1"/>
          <p:cNvSpPr/>
          <p:nvPr/>
        </p:nvSpPr>
        <p:spPr>
          <a:xfrm>
            <a:off x="7407561" y="1556766"/>
            <a:ext cx="441325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sp>
        <p:nvSpPr>
          <p:cNvPr id="4" name="QC_5_BD.1_2#82ded1baf.choices?vcp=1&amp;pid=b72de9a56&amp;color=0,0,0&amp;vtp=1&amp;bbb=1"/>
          <p:cNvSpPr/>
          <p:nvPr/>
        </p:nvSpPr>
        <p:spPr>
          <a:xfrm>
            <a:off x="393192" y="2090609"/>
            <a:ext cx="11402568" cy="206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A.加速度是描述速度变化快慢的物理量，速度越大，加速度越大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.加速度是矢量，方向一定与速度方向相同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.加速度变大，则速度也一定变大</a:t>
            </a:r>
            <a:endParaRPr lang="en-US" altLang="zh-CN" sz="2400" dirty="0"/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.速度变化越快，加速度越大</a:t>
            </a:r>
            <a:endParaRPr lang="en-US" altLang="zh-CN" sz="2400" dirty="0"/>
          </a:p>
        </p:txBody>
      </p:sp>
      <p:sp>
        <p:nvSpPr>
          <p:cNvPr id="5" name="QC_5_AS.3_1#82ded1baf?vcp=1&amp;pid=b72de9a56&amp;color=0,0,0&amp;vtp=1&amp;bbb=1&amp;hb=1"/>
          <p:cNvSpPr/>
          <p:nvPr/>
        </p:nvSpPr>
        <p:spPr>
          <a:xfrm>
            <a:off x="393192" y="4207509"/>
            <a:ext cx="11402568" cy="206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加速度是描述速度变化快慢的物理量，速度是描述运动快慢的物理量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，速度越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大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，加速度不一定越大，A错误；加速度是矢量，方向与速度变化量的方向相同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，与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速度的方向可以相同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，也可以相反，B错误；加速度变大，即速度变化变快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，但速度</a:t>
            </a:r>
          </a:p>
          <a:p>
            <a:pPr latinLnBrk="1">
              <a:lnSpc>
                <a:spcPts val="41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可能变大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，也可能变小，C错误；速度变化越快，加速度越大，D正确.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EX.4_1#82ded1baf?vcp=1&amp;pid=b72de9a56&amp;color=0,0,0&amp;vtp=1&amp;bt=1&amp;bbb=1"/>
              <p:cNvSpPr/>
              <p:nvPr/>
            </p:nvSpPr>
            <p:spPr>
              <a:xfrm>
                <a:off x="393192" y="504000"/>
                <a:ext cx="11402568" cy="4555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900" b="0" i="0" kern="0">
                    <a:solidFill>
                      <a:srgbClr val="FFFF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速度变化率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速度变化快慢.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EX.4_1#82ded1baf?vcp=1&amp;pid=b72de9a56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455549"/>
              </a:xfrm>
              <a:prstGeom prst="rect">
                <a:avLst/>
              </a:prstGeom>
              <a:blipFill>
                <a:blip r:embed="rId3"/>
                <a:stretch>
                  <a:fillRect t="-1351" b="-4189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5_EX.4_1#82ded1baf?vcp=1&amp;pid=b72de9a56&amp;color=0,0,0&amp;tib=255,255,255&amp;iip=1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6253" y="601600"/>
            <a:ext cx="621792" cy="31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5_BD.5_1#34f5cbe15?vcp=1&amp;pid=b72de9a56&amp;color=0,0,0&amp;vtp=1&amp;bbb=1"/>
          <p:cNvSpPr/>
          <p:nvPr/>
        </p:nvSpPr>
        <p:spPr>
          <a:xfrm>
            <a:off x="393192" y="1023430"/>
            <a:ext cx="11402568" cy="455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变式1-1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（2026·江西师大附中检测）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下列关于加速度的说法中正确的是(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5_AN.6_1#34f5cbe15.bracket?vcp=1&amp;pid=b72de9a56&amp;color=0,0,0&amp;vpa=2&amp;vtp=1"/>
          <p:cNvSpPr/>
          <p:nvPr/>
        </p:nvSpPr>
        <p:spPr>
          <a:xfrm>
            <a:off x="10342848" y="1017588"/>
            <a:ext cx="423863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BD.5_2#34f5cbe15.choices?vcp=1&amp;pid=b72de9a56&amp;color=0,0,0&amp;vtp=1&amp;bbb=1"/>
              <p:cNvSpPr/>
              <p:nvPr/>
            </p:nvSpPr>
            <p:spPr>
              <a:xfrm>
                <a:off x="393192" y="1487487"/>
                <a:ext cx="11402568" cy="20248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成正比，与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成反比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.物体的速度变化率越大，其加速度一定越大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.物体加速度为0，则物体的速度一定为0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.物体运动速度越大，其加速度一定越大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BD.5_2#34f5cbe15.choices?vcp=1&amp;pid=b72de9a5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87487"/>
                <a:ext cx="11402568" cy="2024825"/>
              </a:xfrm>
              <a:prstGeom prst="rect">
                <a:avLst/>
              </a:prstGeom>
              <a:blipFill>
                <a:blip r:embed="rId5"/>
                <a:stretch>
                  <a:fillRect l="-1658" t="-301" b="-90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5_AS.7_1#34f5cbe15?vcp=1&amp;pid=b72de9a56&amp;color=0,0,0&amp;vtp=1&amp;bbb=1&amp;hb=1"/>
              <p:cNvSpPr/>
              <p:nvPr/>
            </p:nvSpPr>
            <p:spPr>
              <a:xfrm>
                <a:off x="393192" y="3517709"/>
                <a:ext cx="11402568" cy="25328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是采用比值定义法得到的，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的比值，但是与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无因果关系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，A错误；加速度表示速度变化的快慢，物体的速度变化率越大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，即变化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越快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，其加速度一定越大，B正确；加速度为0，速度不一定为0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，例如做匀速直线运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动的物体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，C错误；物体运动速度越大，其加速度不一定越大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，例如匀速直线航行的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飞机的加速度可以为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5_AS.7_1#34f5cbe15?vcp=1&amp;pid=b72de9a56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17709"/>
                <a:ext cx="11402568" cy="2532825"/>
              </a:xfrm>
              <a:prstGeom prst="rect">
                <a:avLst/>
              </a:prstGeom>
              <a:blipFill>
                <a:blip r:embed="rId6"/>
                <a:stretch>
                  <a:fillRect l="-1658" t="-721" b="-721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5" grpId="0" build="p" animBg="1"/>
      <p:bldP spid="7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983361be9?vcp=1&amp;pid=b72de9a56&amp;color=0,0,0&amp;vtp=1&amp;bt=1&amp;bbb=1&amp;hb=1"/>
          <p:cNvSpPr/>
          <p:nvPr/>
        </p:nvSpPr>
        <p:spPr>
          <a:xfrm>
            <a:off x="393192" y="504000"/>
            <a:ext cx="11402568" cy="5787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易错警示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对加速度认识的常见误区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物体的速度大,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其加速度一定大.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物体的速度变化大,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其加速度一定大.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物体的速度为0时,其加速度也一定为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走出误区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物体的速度为0,其加速度不一定为0.例如,机车启动时,速度等于0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,如果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加速度也为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那么机车将无法启动.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物体的加速度不断减小,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物体的速度也不断减小.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走出误区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物体的加速度虽然不断减小,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但如果加速度的方向与速度的方向相同,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物体的速度仍不断增大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（只不过增大得越来越慢）,物体做变加速直线运动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,直到加速</a:t>
            </a:r>
          </a:p>
          <a:p>
            <a:pPr latinLnBrk="1">
              <a:lnSpc>
                <a:spcPts val="40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度减为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0后物体的速度才不再继续增大（此后物体做匀速直线运动）.</a:t>
            </a:r>
            <a:r>
              <a:rPr lang="en-US" altLang="zh-CN" sz="100" b="0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#4.1.6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983361be9?vcp=1&amp;pid=b72de9a56&amp;color=0,0,0&amp;vtp=1&amp;bt=1&amp;bbb=1&amp;hb=1"/>
          <p:cNvSpPr/>
          <p:nvPr/>
        </p:nvSpPr>
        <p:spPr>
          <a:xfrm>
            <a:off x="393192" y="1791970"/>
            <a:ext cx="11402568" cy="3262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误区5：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物体的加速度不断增大,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则物体的速度也不断增大.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6：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物体的速度大小不变,则物体的加速度为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走出误区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物体的速度大小不变,加速度不一定为0.速度是矢量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,当其大小不变但方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向改变时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,不能认为速度不变,而速度变化的运动就一定有加速度,即加速度不为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7：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物体的加速度方向总是与速度的方向相同或相反.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走出误区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物体的加速度与物体速度变化的方向一致,与速度方向无关.</a:t>
            </a:r>
            <a:r>
              <a:rPr lang="en-US" altLang="zh-CN" sz="100" b="0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#4.1.11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69fe80c82?vcp=1&amp;pid=d535b9f05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69fe80c82?vcp=1&amp;pid=d535b9f05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69fe80c82?vcp=1&amp;pid=d535b9f05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加速度的计算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e5fc8fe53?vcp=1&amp;pid=69fe80c82&amp;color=0,0,0&amp;vtp=1&amp;bbb=1&amp;hb=1"/>
              <p:cNvSpPr/>
              <p:nvPr/>
            </p:nvSpPr>
            <p:spPr>
              <a:xfrm>
                <a:off x="393192" y="1092200"/>
                <a:ext cx="11402568" cy="450761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.加速度的计算公式：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2.加速度方向的确定方法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加速度方向跟速度的变化量方向相同，而速度的变化量方向跟速度方向不一定相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.在直线运动中，一般规定初速度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的方向为正方向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，则有速度的变化量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（1）若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同向，即均为正值，且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，表示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5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向跟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的方向相同，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如图所示：</a:t>
                </a:r>
                <a:r>
                  <a:rPr kumimoji="0" lang="en-US" altLang="zh-CN" sz="2850" b="0" i="0" u="none" strike="noStrike" kern="0" cap="none" spc="-9990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               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#1.2.1.1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e5fc8fe53?vcp=1&amp;pid=69fe80c8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4507611"/>
              </a:xfrm>
              <a:prstGeom prst="rect">
                <a:avLst/>
              </a:prstGeom>
              <a:blipFill>
                <a:blip r:embed="rId4"/>
                <a:stretch>
                  <a:fillRect l="-1658" r="-535" b="-391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_5_BD#e5fc8fe53?vcp=1&amp;pid=69fe80c82&amp;color=0,0,0&amp;tib=255,255,255&amp;iip=2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18451" y="5002213"/>
            <a:ext cx="1289304" cy="57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e5fc8fe53?vcp=1&amp;pid=69fe80c82&amp;color=0,0,0&amp;mp=1&amp;vtp=1&amp;bt=1&amp;bbb=1&amp;hb=1"/>
              <p:cNvSpPr/>
              <p:nvPr/>
            </p:nvSpPr>
            <p:spPr>
              <a:xfrm>
                <a:off x="393192" y="2255774"/>
                <a:ext cx="11402568" cy="235343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同向，即均为正值，且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,表示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</a:t>
                </a:r>
              </a:p>
              <a:p>
                <a:pPr latinLnBrk="1">
                  <a:lnSpc>
                    <a:spcPts val="5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的方向相反，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如图所示：</a:t>
                </a:r>
                <a:r>
                  <a:rPr lang="en-US" altLang="zh-CN" sz="3000" b="0" i="0" kern="0" spc="-9990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900" b="0" i="0" kern="0">
                    <a:solidFill>
                      <a:srgbClr val="FFFF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             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（3）若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反向，即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为正值，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为负值，则有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​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，表示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9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向跟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​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的方向相反，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如图所示：</a:t>
                </a:r>
                <a:r>
                  <a:rPr kumimoji="0" lang="en-US" altLang="zh-CN" sz="2800" b="0" i="0" u="none" strike="noStrike" kern="0" cap="none" spc="-9990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                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#1.2.1.3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e5fc8fe53?vcp=1&amp;pid=69fe80c82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55774"/>
                <a:ext cx="11402568" cy="2353437"/>
              </a:xfrm>
              <a:prstGeom prst="rect">
                <a:avLst/>
              </a:prstGeom>
              <a:blipFill>
                <a:blip r:embed="rId3"/>
                <a:stretch>
                  <a:fillRect l="-1658" r="-856" b="-751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_5_BD#e5fc8fe53?vcp=1&amp;pid=69fe80c82&amp;color=0,0,0&amp;mp=1&amp;tib=255,255,255&amp;iip=3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30363" y="2845562"/>
            <a:ext cx="1371600" cy="60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P_5_BD#e5fc8fe53?vcp=1&amp;pid=69fe80c82&amp;color=0,0,0&amp;mp=1&amp;tib=255,255,255&amp;iip=4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13967" y="4035298"/>
            <a:ext cx="1353312" cy="5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8_1#dab3550f2?vcp=1&amp;pid=69fe80c82&amp;color=0,0,0&amp;vtp=1&amp;bt=1&amp;bbb=1&amp;hb=1"/>
              <p:cNvSpPr/>
              <p:nvPr/>
            </p:nvSpPr>
            <p:spPr>
              <a:xfrm>
                <a:off x="393192" y="700056"/>
                <a:ext cx="11402568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如图所示，弹丸和足球的初速度大小均为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，方向水平向右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.设它们与木板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作用的时间都是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，那么：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8_1#dab3550f2?vcp=1&amp;pid=69fe80c8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00056"/>
                <a:ext cx="11402568" cy="1037590"/>
              </a:xfrm>
              <a:prstGeom prst="rect">
                <a:avLst/>
              </a:prstGeom>
              <a:blipFill>
                <a:blip r:embed="rId3"/>
                <a:stretch>
                  <a:fillRect l="-1658" r="-1444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BD.8_2#dab3550f2?vcp=1&amp;pid=69fe80c82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11880" y="1873282"/>
            <a:ext cx="4965192" cy="129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6_BD.9_1#ae4c1c729?vcp=1&amp;pid=dab3550f2&amp;color=0,0,0&amp;vtp=1&amp;bbb=1"/>
              <p:cNvSpPr/>
              <p:nvPr/>
            </p:nvSpPr>
            <p:spPr>
              <a:xfrm>
                <a:off x="393192" y="3308381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spc="-10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1）弹丸击穿木板后，速度大小变为</a:t>
                </a:r>
                <a14:m>
                  <m:oMath xmlns:m="http://schemas.openxmlformats.org/officeDocument/2006/math">
                    <m:r>
                      <a:rPr lang="en-US" altLang="zh-CN" sz="2400" b="0" i="0" spc="-10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 spc="-10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10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 spc="-10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 spc="-10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10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，方向不变，求弹丸击穿木板时的平均加速度.</a:t>
                </a:r>
                <a:endParaRPr lang="en-US" altLang="zh-CN" sz="2400" spc="-100" dirty="0"/>
              </a:p>
            </p:txBody>
          </p:sp>
        </mc:Choice>
        <mc:Fallback>
          <p:sp>
            <p:nvSpPr>
              <p:cNvPr id="4" name="QO_6_BD.9_1#ae4c1c729?vcp=1&amp;pid=dab3550f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08381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r="-2086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6_AS.10_1#ae4c1c729?vcp=1&amp;pid=dab3550f2&amp;color=0,0,0&amp;vtp=1&amp;bbb=1&amp;hb=1"/>
              <p:cNvSpPr/>
              <p:nvPr/>
            </p:nvSpPr>
            <p:spPr>
              <a:xfrm>
                <a:off x="393192" y="3801776"/>
                <a:ext cx="11402568" cy="21637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设弹丸的初速度方向为正方向，则知弹丸的初速度为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，末速度为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，负号表示方向水平向左.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6_AS.10_1#ae4c1c729?vcp=1&amp;pid=dab3550f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01776"/>
                <a:ext cx="11402568" cy="2163763"/>
              </a:xfrm>
              <a:prstGeom prst="rect">
                <a:avLst/>
              </a:prstGeom>
              <a:blipFill>
                <a:blip r:embed="rId6"/>
                <a:stretch>
                  <a:fillRect l="-1658" r="-107" b="-81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6_BD.11_1#f5023c8ce?vcp=1&amp;pid=dab3550f2&amp;color=0,0,0&amp;vtp=1&amp;bt=1&amp;bbb=1&amp;hb=1"/>
              <p:cNvSpPr/>
              <p:nvPr/>
            </p:nvSpPr>
            <p:spPr>
              <a:xfrm>
                <a:off x="393192" y="2285841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（2）足球与木板作用后反向弹回的速度大小为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，求足球与木板碰撞反弹时的平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均加速度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6_BD.11_1#f5023c8ce?vcp=1&amp;pid=dab3550f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85841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r="-588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6_AS.12_1#f5023c8ce?vcp=1&amp;pid=dab3550f2&amp;color=0,0,0&amp;vtp=1&amp;bbb=1&amp;hb=1"/>
              <p:cNvSpPr/>
              <p:nvPr/>
            </p:nvSpPr>
            <p:spPr>
              <a:xfrm>
                <a:off x="393192" y="3332067"/>
                <a:ext cx="11402568" cy="12366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9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足球的初速度为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，末速度为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𝟏𝟖𝟎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，负号表示方向水平向左.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6_AS.12_1#f5023c8ce?vcp=1&amp;pid=dab3550f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32067"/>
                <a:ext cx="11402568" cy="1236663"/>
              </a:xfrm>
              <a:prstGeom prst="rect">
                <a:avLst/>
              </a:prstGeom>
              <a:blipFill>
                <a:blip r:embed="rId4"/>
                <a:stretch>
                  <a:fillRect l="-1658" b="-148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13_1#b3e8a9137?vcp=1&amp;pid=69fe80c82&amp;color=0,0,0&amp;vtp=1&amp;bt=1&amp;bbb=1&amp;hb=1"/>
              <p:cNvSpPr/>
              <p:nvPr/>
            </p:nvSpPr>
            <p:spPr>
              <a:xfrm>
                <a:off x="393192" y="1840516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篮球以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的速度竖直向下碰地面,然后以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的速度竖直向上反弹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,碰地的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13_1#b3e8a9137?vcp=1&amp;pid=69fe80c8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40516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r="-1604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14_1#b3e8a9137?vcp=1&amp;pid=69fe80c82&amp;color=0,0,0&amp;vtp=1&amp;bbb=1&amp;hb=1"/>
              <p:cNvSpPr/>
              <p:nvPr/>
            </p:nvSpPr>
            <p:spPr>
              <a:xfrm>
                <a:off x="393192" y="2886742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以竖直向下为正方向，篮球撞地前的速度为正值，反弹后的速度为负值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加速度定义式求出篮球在这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内的平均加速度.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14_1#b3e8a9137?vcp=1&amp;pid=69fe80c8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86742"/>
                <a:ext cx="11402568" cy="1037400"/>
              </a:xfrm>
              <a:prstGeom prst="rect">
                <a:avLst/>
              </a:prstGeom>
              <a:blipFill>
                <a:blip r:embed="rId4"/>
                <a:stretch>
                  <a:fillRect l="-1658" r="-1016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6_BD.15_1#c60cd5f95?vcp=1&amp;pid=b3e8a9137&amp;color=0,0,0&amp;vtp=1&amp;bbb=1"/>
              <p:cNvSpPr/>
              <p:nvPr/>
            </p:nvSpPr>
            <p:spPr>
              <a:xfrm>
                <a:off x="393192" y="3982815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（1）求篮球在这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内的速度变化量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6_BD.15_1#c60cd5f95?vcp=1&amp;pid=b3e8a9137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82815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6_AN.16_1#c60cd5f95?vcp=1&amp;pid=b3e8a9137&amp;color=0,0,0&amp;vtp=1&amp;bbb=1"/>
              <p:cNvSpPr/>
              <p:nvPr/>
            </p:nvSpPr>
            <p:spPr>
              <a:xfrm>
                <a:off x="393192" y="4527010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以竖直向下为正方向，所以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6_AN.16_1#c60cd5f95?vcp=1&amp;pid=b3e8a9137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27010"/>
                <a:ext cx="11402568" cy="484124"/>
              </a:xfrm>
              <a:prstGeom prst="rect">
                <a:avLst/>
              </a:prstGeom>
              <a:blipFill>
                <a:blip r:embed="rId6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6_BD.17_1#14f3296b8?vcp=1&amp;pid=b3e8a9137&amp;color=0,0,0&amp;mp=1&amp;vtp=1&amp;bt=1&amp;bbb=1&amp;hb=1"/>
              <p:cNvSpPr/>
              <p:nvPr/>
            </p:nvSpPr>
            <p:spPr>
              <a:xfrm>
                <a:off x="393192" y="1952244"/>
                <a:ext cx="11402568" cy="1266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（2）有的同学这样计算篮球的加速度：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4−6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0.2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.他的方法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对吗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?为什么?正确的方法如何?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6_BD.17_1#14f3296b8?vcp=1&amp;pid=b3e8a9137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52244"/>
                <a:ext cx="11402568" cy="1266000"/>
              </a:xfrm>
              <a:prstGeom prst="rect">
                <a:avLst/>
              </a:prstGeom>
              <a:blipFill>
                <a:blip r:embed="rId3"/>
                <a:stretch>
                  <a:fillRect l="-1658" r="-214" b="-1442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6_AN.18_1#14f3296b8?vcp=1&amp;pid=b3e8a9137&amp;color=0,0,0&amp;vtp=1&amp;bbb=1&amp;hb=1"/>
              <p:cNvSpPr/>
              <p:nvPr/>
            </p:nvSpPr>
            <p:spPr>
              <a:xfrm>
                <a:off x="393192" y="3282570"/>
                <a:ext cx="11402568" cy="162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不对.他没有注意速度方向的改变.正确解法为：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以竖直向下为正方向，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，负号表示加速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度方向与正方向相反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，即竖直向上.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6_AN.18_1#14f3296b8?vcp=1&amp;pid=b3e8a9137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82570"/>
                <a:ext cx="11402568" cy="1621600"/>
              </a:xfrm>
              <a:prstGeom prst="rect">
                <a:avLst/>
              </a:prstGeom>
              <a:blipFill>
                <a:blip r:embed="rId4"/>
                <a:stretch>
                  <a:fillRect l="-1658" b="-1127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ef6733314?vcp=1&amp;pid=69fe80c82&amp;color=0,0,0&amp;vtp=1&amp;bt=1&amp;bbb=1"/>
          <p:cNvSpPr/>
          <p:nvPr/>
        </p:nvSpPr>
        <p:spPr>
          <a:xfrm>
            <a:off x="393192" y="1020984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平均加速度和瞬时加速度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P_5_BD#ef6733314?colgroup=2,21,12&amp;vcp=1&amp;pid=69fe80c82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4190775"/>
                  </p:ext>
                </p:extLst>
              </p:nvPr>
            </p:nvGraphicFramePr>
            <p:xfrm>
              <a:off x="393192" y="2194211"/>
              <a:ext cx="11356848" cy="3628835"/>
            </p:xfrm>
            <a:graphic>
              <a:graphicData uri="http://schemas.openxmlformats.org/drawingml/2006/table">
                <a:tbl>
                  <a:tblPr/>
                  <a:tblGrid>
                    <a:gridCol w="786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6659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04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平均加速度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瞬时加速度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物体在一段时间内的速度变化量与这段时间之比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物体在某一时刻或经过某一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位置时的加速度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粗略描述物体在一段时间内速度变化的快慢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精确描述物体在某一时刻或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某一位置速度变化的快慢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8751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5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（1）公式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中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→0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平均加速度即为瞬时加速度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（2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）在加速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度不变的运动中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平均加速度与瞬时加速度相等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P_5_BD#ef6733314?colgroup=2,21,12&amp;vcp=1&amp;pid=69fe80c82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4190775"/>
                  </p:ext>
                </p:extLst>
              </p:nvPr>
            </p:nvGraphicFramePr>
            <p:xfrm>
              <a:off x="393192" y="2194211"/>
              <a:ext cx="11356848" cy="3628835"/>
            </p:xfrm>
            <a:graphic>
              <a:graphicData uri="http://schemas.openxmlformats.org/drawingml/2006/table">
                <a:tbl>
                  <a:tblPr/>
                  <a:tblGrid>
                    <a:gridCol w="786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6659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04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平均加速度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瞬时加速度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物体在一段时间内的速度变化量与这段时间之比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物体在某一时刻或经过某一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位置时的加速度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粗略描述物体在一段时间内速度变化的快慢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精确描述物体在某一时刻或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某一位置速度变化的快慢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8751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93" t="-206667" r="-115" b="-1230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ef6733314?vcp=1&amp;pid=69fe80c82&amp;color=0,0,0&amp;vtp=1&amp;bt=1&amp;bbb=1&amp;hb=1"/>
              <p:cNvSpPr/>
              <p:nvPr/>
            </p:nvSpPr>
            <p:spPr>
              <a:xfrm>
                <a:off x="393192" y="1214977"/>
                <a:ext cx="11402568" cy="4415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归纳总结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利用加速度的定义式求解加速度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的一般步骤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.规定速度的正方向，一般规定初速度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的方向为正方向.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得到速度的变化量，注意此式为矢量式.当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方向相反时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度变化量的大小为两者的绝对值之和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.此时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的方向跟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的方向相同.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.找出发生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所需的时间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计算加速度，并对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的方向加以解释.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为正，说明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的方向与规定正方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为负，说明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的方向与规定正方向相反.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ef6733314?vcp=1&amp;pid=69fe80c8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14977"/>
                <a:ext cx="11402568" cy="4415600"/>
              </a:xfrm>
              <a:prstGeom prst="rect">
                <a:avLst/>
              </a:prstGeom>
              <a:blipFill>
                <a:blip r:embed="rId3"/>
                <a:stretch>
                  <a:fillRect l="-1658" r="-53" b="-4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bede35e1f?vcp=1&amp;pid=d535b9f05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bede35e1f?vcp=1&amp;pid=d535b9f05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bede35e1f?vcp=1&amp;pid=d535b9f05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加速度与速度、速度变化量的关系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p:sp>
        <p:nvSpPr>
          <p:cNvPr id="5" name="P_5_BD#c634b9dae?vcp=1&amp;pid=bede35e1f&amp;color=0,0,0&amp;vtp=1&amp;bbb=1"/>
          <p:cNvSpPr/>
          <p:nvPr/>
        </p:nvSpPr>
        <p:spPr>
          <a:xfrm>
            <a:off x="393192" y="1092200"/>
            <a:ext cx="11402568" cy="215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.从定义式上看，三者的概念完全不同,含义与应用情形亦不同.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.从方向上看,三者尽管均为矢量,但方向的规定不同.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.从数值上看,三者之间不存在大小上的必然联系.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19_1#439927017?vcp=1&amp;pid=bede35e1f&amp;color=0,0,0&amp;vtp=1&amp;bt=1&amp;bbb=1"/>
          <p:cNvSpPr/>
          <p:nvPr/>
        </p:nvSpPr>
        <p:spPr>
          <a:xfrm>
            <a:off x="393192" y="206683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考题3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关于速度、速度变化量和加速度的关系，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0_1#439927017.bracket?vcp=1&amp;pid=bede35e1f&amp;color=0,0,0&amp;vpa=3&amp;vtp=1"/>
          <p:cNvSpPr/>
          <p:nvPr/>
        </p:nvSpPr>
        <p:spPr>
          <a:xfrm>
            <a:off x="9771348" y="2064925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4" name="QC_5_BD.19_2#439927017.choices?vcp=1&amp;pid=bede35e1f&amp;color=0,0,0&amp;vtp=1&amp;bbb=1"/>
          <p:cNvSpPr/>
          <p:nvPr/>
        </p:nvSpPr>
        <p:spPr>
          <a:xfrm>
            <a:off x="393192" y="2615215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A.单位时间内速度变化量越大，加速度一定越大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.速度的变化量越大，加速度就越大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.加速度的方向保持不变，速度的方向也保持不变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.加速度的大小不断变小，速度大小也不断变小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21_1#439927017?vcp=1&amp;pid=bede35e1f&amp;color=0,0,0&amp;vtp=1&amp;bt=1&amp;bbb=1&amp;hb=1"/>
              <p:cNvSpPr/>
              <p:nvPr/>
            </p:nvSpPr>
            <p:spPr>
              <a:xfrm>
                <a:off x="393192" y="1416717"/>
                <a:ext cx="11402568" cy="3856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加速度是描述速度变化快慢的物理量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，它等于速度的变化量与发生这一变化所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用时间的比值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，由此式可知，单位时间内速度变化量越大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，加速度一定越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，A项正确；速度的变化量越大，并不意味着速度变化得快，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即加速度可能很大，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也可能很小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，B项错误；加速度方向保持不变，速度方向可能改变，也可能不变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物体做减速直线运动时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以后就可能反向运动，C项错误；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物体在运动过程中，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若加速度的方向与速度的方向相同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，尽管加速度在变小，但物体仍在加速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，直到加速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时，速度达到最大，D项错误.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21_1#439927017?vcp=1&amp;pid=bede35e1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16717"/>
                <a:ext cx="11402568" cy="3856800"/>
              </a:xfrm>
              <a:prstGeom prst="rect">
                <a:avLst/>
              </a:prstGeom>
              <a:blipFill>
                <a:blip r:embed="rId3"/>
                <a:stretch>
                  <a:fillRect l="-1658" r="-1123" b="-47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22_1#786be6dc3?vcp=1&amp;pid=bede35e1f&amp;color=0,0,0&amp;vtp=1&amp;bt=1&amp;bbb=1"/>
          <p:cNvSpPr/>
          <p:nvPr/>
        </p:nvSpPr>
        <p:spPr>
          <a:xfrm>
            <a:off x="393192" y="871887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变式3-1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关于速度、速度变化量、加速度，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3_1#786be6dc3.bracket?vcp=1&amp;pid=bede35e1f&amp;color=0,0,0&amp;vpa=4&amp;vtp=1"/>
          <p:cNvSpPr/>
          <p:nvPr/>
        </p:nvSpPr>
        <p:spPr>
          <a:xfrm>
            <a:off x="8806148" y="869982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4" name="QC_5_BD.22_2#786be6dc3.choices?vcp=1&amp;pid=bede35e1f&amp;color=0,0,0&amp;vtp=1&amp;bbb=1"/>
          <p:cNvSpPr/>
          <p:nvPr/>
        </p:nvSpPr>
        <p:spPr>
          <a:xfrm>
            <a:off x="393192" y="1420272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A.物体运动的速度变化量很大，它的加速度可能很大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.速度变化量为正方向，加速度可能为负方向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.速度、加速度是矢量，速度的改变量是标量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.加速度不断增大时，物体运动的速度一定也不断增大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AS.24_1#786be6dc3?vcp=1&amp;pid=bede35e1f&amp;color=0,0,0&amp;vtp=1&amp;bbb=1&amp;hb=1"/>
              <p:cNvSpPr/>
              <p:nvPr/>
            </p:nvSpPr>
            <p:spPr>
              <a:xfrm>
                <a:off x="393192" y="3567461"/>
                <a:ext cx="11402568" cy="2180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由加速度的定义式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可知，当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很小，速度变化量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很大时，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加速度很大，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A正确；加速度的方向与速度变化量的方向相同，故B错误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；速度变化量等于末速度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与初速度的差值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，速度是矢量，由此可知速度变化量为矢量，故C错误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；当物体的运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动方向与加速度方向相反时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，加速度增加，速度反而减小，故D错误.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AS.24_1#786be6dc3?vcp=1&amp;pid=bede35e1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67461"/>
                <a:ext cx="11402568" cy="2180400"/>
              </a:xfrm>
              <a:prstGeom prst="rect">
                <a:avLst/>
              </a:prstGeom>
              <a:blipFill>
                <a:blip r:embed="rId3"/>
                <a:stretch>
                  <a:fillRect l="-1658" r="-4064" b="-838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#6c0a6d2b6?vcp=1&amp;pid=bede35e1f&amp;color=0,0,0&amp;vtp=1&amp;bt=1&amp;bbb=1"/>
          <p:cNvSpPr/>
          <p:nvPr/>
        </p:nvSpPr>
        <p:spPr>
          <a:xfrm>
            <a:off x="393192" y="504000"/>
            <a:ext cx="11402568" cy="1040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algn="ctr" latinLnBrk="1">
              <a:lnSpc>
                <a:spcPts val="43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对速度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、速度变化量与加速度关系的理解</a:t>
            </a:r>
            <a:r>
              <a:rPr lang="en-US" altLang="zh-CN" sz="100" b="1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#3.1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P_5_BD#6c0a6d2b6?colgroup=2,3,8,9,12&amp;vcp=1&amp;pid=bede35e1f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9041743"/>
                  </p:ext>
                </p:extLst>
              </p:nvPr>
            </p:nvGraphicFramePr>
            <p:xfrm>
              <a:off x="393192" y="1665796"/>
              <a:ext cx="11338560" cy="4586732"/>
            </p:xfrm>
            <a:graphic>
              <a:graphicData uri="http://schemas.openxmlformats.org/drawingml/2006/table">
                <a:tbl>
                  <a:tblPr/>
                  <a:tblGrid>
                    <a:gridCol w="786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81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151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71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8770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速度变化量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0821"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区别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描述物体运动快慢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和方向的物理量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描述物体速度变化多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少和方向的物理量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描述物体速度变化快慢和方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向的物理量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2470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400808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物体运动的方向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直线运动中由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的正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负决定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为正值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与初速度方向相同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为负值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与初速度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方向相反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(1)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方向一致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方向无关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(2)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图像中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图线斜率的正负发生变化说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明加速度方向发生变化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P_5_BD#6c0a6d2b6?colgroup=2,3,8,9,12&amp;vcp=1&amp;pid=bede35e1f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9041743"/>
                  </p:ext>
                </p:extLst>
              </p:nvPr>
            </p:nvGraphicFramePr>
            <p:xfrm>
              <a:off x="393192" y="1665796"/>
              <a:ext cx="11338560" cy="4586732"/>
            </p:xfrm>
            <a:graphic>
              <a:graphicData uri="http://schemas.openxmlformats.org/drawingml/2006/table">
                <a:tbl>
                  <a:tblPr/>
                  <a:tblGrid>
                    <a:gridCol w="786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81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151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71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8770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速度变化量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0821"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区别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描述物体运动快慢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和方向的物理量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描述物体速度变化多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少和方向的物理量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描述物体速度变化快慢和方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向的物理量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2470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2028" t="-207692" r="-262471" b="-358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230" t="-207692" r="-130738" b="-358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2767" t="-207692" r="-314" b="-3589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400808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物体运动的方向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230" t="-91371" r="-130738" b="-65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2767" t="-91371" r="-314" b="-65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P_5_BD#6c0a6d2b6?colgroup=2,3,8,9,12&amp;vcp=1&amp;pid=bede35e1f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3582529"/>
                  </p:ext>
                </p:extLst>
              </p:nvPr>
            </p:nvGraphicFramePr>
            <p:xfrm>
              <a:off x="393192" y="2282476"/>
              <a:ext cx="11338560" cy="2916619"/>
            </p:xfrm>
            <a:graphic>
              <a:graphicData uri="http://schemas.openxmlformats.org/drawingml/2006/table">
                <a:tbl>
                  <a:tblPr/>
                  <a:tblGrid>
                    <a:gridCol w="786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81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151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71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8770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速度变化量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253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区别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(1)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位移的大小与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所用时间的比值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(2)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图像中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图线斜率的绝对值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(1)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的绝对值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(2)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图像中两点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纵坐标之差的绝对值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(1)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速度变化量的大小与所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用时间的比值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(2)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像中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图线斜率的绝对值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三者无必然联系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很大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可能很小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甚至为0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也可大可小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P_5_BD#6c0a6d2b6?colgroup=2,3,8,9,12&amp;vcp=1&amp;pid=bede35e1f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3582529"/>
                  </p:ext>
                </p:extLst>
              </p:nvPr>
            </p:nvGraphicFramePr>
            <p:xfrm>
              <a:off x="393192" y="2282476"/>
              <a:ext cx="11338560" cy="2916619"/>
            </p:xfrm>
            <a:graphic>
              <a:graphicData uri="http://schemas.openxmlformats.org/drawingml/2006/table">
                <a:tbl>
                  <a:tblPr/>
                  <a:tblGrid>
                    <a:gridCol w="786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81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151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71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8770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速度变化量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253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区别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2028" t="-25949" r="-262471" b="-3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230" t="-25949" r="-130738" b="-3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2767" t="-25949" r="-314" b="-33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06" t="-485366" r="-115" b="-2926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P_5_BD#6c0a6d2b6?colgroup=2,3,8,9,12&amp;vcp=1&amp;pid=bede35e1f&amp;color=0,0,0&amp;vtp=1&amp;bt=1&amp;bbb=1">
            <a:extLst>
              <a:ext uri="{FF2B5EF4-FFF2-40B4-BE49-F238E27FC236}">
                <a16:creationId xmlns:a16="http://schemas.microsoft.com/office/drawing/2014/main" id="{93C18B8A-727F-43E9-942F-AE627FF48D74}"/>
              </a:ext>
            </a:extLst>
          </p:cNvPr>
          <p:cNvSpPr txBox="1"/>
          <p:nvPr/>
        </p:nvSpPr>
        <p:spPr>
          <a:xfrm>
            <a:off x="11116199" y="1657001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49c8bef03?vcp=1&amp;pid=d535b9f05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49c8bef03?vcp=1&amp;pid=d535b9f05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_4_BD#49c8bef03?vcp=1&amp;pid=d535b9f05&amp;color=0,0,0&amp;vtp=1&amp;bbb=1"/>
              <p:cNvSpPr/>
              <p:nvPr/>
            </p:nvSpPr>
            <p:spPr>
              <a:xfrm>
                <a:off x="1837944" y="502920"/>
                <a:ext cx="9939528" cy="457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 latinLnBrk="1">
                  <a:lnSpc>
                    <a:spcPts val="3200"/>
                  </a:lnSpc>
                </a:pPr>
                <a:r>
                  <a:rPr lang="en-US" altLang="zh-CN" sz="2600" b="1" i="0" dirty="0">
                    <a:solidFill>
                      <a:srgbClr val="000000"/>
                    </a:solidFill>
                    <a:latin typeface="Times New Roman" pitchFamily="34" charset="0"/>
                    <a:ea typeface="SimHei" pitchFamily="34" charset="-122"/>
                    <a:cs typeface="Times New Roman" pitchFamily="34" charset="-120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600" b="1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SimHei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600" b="1" i="0" dirty="0">
                    <a:solidFill>
                      <a:srgbClr val="000000"/>
                    </a:solidFill>
                    <a:latin typeface="Times New Roman" pitchFamily="34" charset="0"/>
                    <a:ea typeface="SimHei" pitchFamily="34" charset="-122"/>
                    <a:cs typeface="Times New Roman" pitchFamily="34" charset="-120"/>
                  </a:rPr>
                  <a:t>图像求加速度</a:t>
                </a:r>
                <a:r>
                  <a:rPr lang="en-US" altLang="zh-CN" sz="26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600" b="1" i="0" dirty="0">
                    <a:solidFill>
                      <a:srgbClr val="000000"/>
                    </a:solidFill>
                    <a:latin typeface="Times New Roman" pitchFamily="34" charset="0"/>
                    <a:ea typeface="SimHei" pitchFamily="34" charset="-122"/>
                    <a:cs typeface="Times New Roman" pitchFamily="34" charset="-120"/>
                  </a:rPr>
                  <a:t>难点</a:t>
                </a:r>
                <a:endParaRPr lang="en-US" altLang="zh-CN" sz="2600" dirty="0"/>
              </a:p>
            </p:txBody>
          </p:sp>
        </mc:Choice>
        <mc:Fallback>
          <p:sp>
            <p:nvSpPr>
              <p:cNvPr id="4" name="C_4_BD#49c8bef03?vcp=1&amp;pid=d535b9f0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944" y="502920"/>
                <a:ext cx="9939528" cy="457200"/>
              </a:xfrm>
              <a:prstGeom prst="rect">
                <a:avLst/>
              </a:prstGeom>
              <a:blipFill>
                <a:blip r:embed="rId4"/>
                <a:stretch>
                  <a:fillRect l="-2025" t="-21333" b="-30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#fdc913c7b?vcp=1&amp;pid=49c8bef03&amp;color=0,0,0&amp;vtp=1&amp;bbb=1"/>
              <p:cNvSpPr/>
              <p:nvPr/>
            </p:nvSpPr>
            <p:spPr>
              <a:xfrm>
                <a:off x="393192" y="1092200"/>
                <a:ext cx="11402568" cy="92024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algn="ctr" latinLnBrk="1">
                  <a:lnSpc>
                    <a:spcPts val="3700"/>
                  </a:lnSpc>
                </a:pPr>
                <a:r>
                  <a:rPr lang="en-US" altLang="zh-CN" sz="100" b="0" i="0" kern="0" spc="-9990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图像的意义或特点</a:t>
                </a:r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#1.1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#fdc913c7b?vcp=1&amp;pid=49c8bef0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920242"/>
              </a:xfrm>
              <a:prstGeom prst="rect">
                <a:avLst/>
              </a:prstGeom>
              <a:blipFill>
                <a:blip r:embed="rId5"/>
                <a:stretch>
                  <a:fillRect t="-1325" b="-205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P_5_BD#fdc913c7b?colgroup=10,25&amp;vcp=1&amp;pid=49c8bef03&amp;color=0,0,0&amp;vtp=1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091573"/>
              </p:ext>
            </p:extLst>
          </p:nvPr>
        </p:nvGraphicFramePr>
        <p:xfrm>
          <a:off x="393192" y="2142680"/>
          <a:ext cx="11365992" cy="4252849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0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888"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项目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意义或特点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3517"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图像举例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35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111"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坐标轴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横轴表示时间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纵轴表示速度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111"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物理意义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反映速度随时间的变化规律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111">
                <a:tc row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图线上的点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表示某时刻质点的速度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11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图线交点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表示几个质点该时刻速度相等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_5_BD#fdc913c7b.table_image?tii=2&amp;vcp=1&amp;pid=49c8bef03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56832" y="2677795"/>
            <a:ext cx="2304288" cy="165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" name="P_5_BD#fdc913c7b?colgroup=10,25&amp;vcp=1&amp;pid=49c8bef0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5707021"/>
                  </p:ext>
                </p:extLst>
              </p:nvPr>
            </p:nvGraphicFramePr>
            <p:xfrm>
              <a:off x="393192" y="1522412"/>
              <a:ext cx="11365992" cy="4436745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626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004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意义或特点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图线与纵轴的交点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表示质点的初速度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图线与横轴的交点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表示质点开始运动的时刻或速度为0的时刻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或运动方向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改变的时刻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最值点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速度最大或最小的时刻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74344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线段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表示一段时间内质点速度的变化情况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反映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的对应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98856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图线是平行于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轴的直线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表示质点速度的大小和方向都不变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做匀速直线运动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98856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图线的斜率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反映速度变化的快慢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8" name="P_5_BD#fdc913c7b?colgroup=10,25&amp;vcp=1&amp;pid=49c8bef0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5707021"/>
                  </p:ext>
                </p:extLst>
              </p:nvPr>
            </p:nvGraphicFramePr>
            <p:xfrm>
              <a:off x="393192" y="1522412"/>
              <a:ext cx="11365992" cy="4436745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626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004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意义或特点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图线与纵轴的交点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表示质点的初速度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图线与横轴的交点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表示质点开始运动的时刻或速度为0的时刻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或运动方向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改变的时刻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最值点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速度最大或最小的时刻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74344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线段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981" t="-253750" r="-154" b="-11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98856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6" t="-690244" r="-228120" b="-12926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表示质点速度的大小和方向都不变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做匀速直线运动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98856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图线的斜率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反映速度变化的快慢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P_5_BD#fdc913c7b?colgroup=10,25&amp;vcp=1&amp;pid=49c8bef03&amp;color=0,0,0&amp;vtp=1&amp;bt=1&amp;bbb=1">
            <a:extLst>
              <a:ext uri="{FF2B5EF4-FFF2-40B4-BE49-F238E27FC236}">
                <a16:creationId xmlns:a16="http://schemas.microsoft.com/office/drawing/2014/main" id="{63C4096C-32FB-0376-4703-2FA7F87B1DE8}"/>
              </a:ext>
            </a:extLst>
          </p:cNvPr>
          <p:cNvSpPr txBox="1"/>
          <p:nvPr/>
        </p:nvSpPr>
        <p:spPr>
          <a:xfrm>
            <a:off x="11143632" y="896938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25_1#f02ffcd4d?vcp=1&amp;pid=49c8bef03&amp;color=0,0,0&amp;vtp=1&amp;bt=1&amp;bbb=1&amp;hb=1"/>
          <p:cNvSpPr/>
          <p:nvPr/>
        </p:nvSpPr>
        <p:spPr>
          <a:xfrm>
            <a:off x="393192" y="504000"/>
            <a:ext cx="11402568" cy="1011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考题4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（2026·湖北武汉武钢三中检测）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物体沿一条东西方向的水平线做直线运动，</a:t>
            </a:r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取向东为运动的正方向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，其速度—时间图像如图所示，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6_1#f02ffcd4d.bracket?vcp=1&amp;pid=49c8bef03&amp;color=0,0,0&amp;vpa=5&amp;vtp=1"/>
          <p:cNvSpPr/>
          <p:nvPr/>
        </p:nvSpPr>
        <p:spPr>
          <a:xfrm>
            <a:off x="10684161" y="1034606"/>
            <a:ext cx="441325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5_BD.25_2#f02ffcd4d?htil=1&amp;vcp=1&amp;pid=49c8bef03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6995" y="1561085"/>
            <a:ext cx="3127248" cy="191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25_3#f02ffcd4d.choices?htil=1&amp;vcp=1&amp;pid=49c8bef03&amp;color=0,0,0&amp;vtp=1&amp;bbb=1&amp;hs=1"/>
              <p:cNvSpPr/>
              <p:nvPr/>
            </p:nvSpPr>
            <p:spPr>
              <a:xfrm>
                <a:off x="393192" y="1515364"/>
                <a:ext cx="8138160" cy="2116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内，物体的加速度为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4∼6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内，物体的加速度为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6∼7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内，物体做速度方向向西的加速运动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10∼12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内，物体做速度方向向东的加速运动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25_3#f02ffcd4d.choices?htil=1&amp;vcp=1&amp;pid=49c8bef03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5364"/>
                <a:ext cx="8138160" cy="2116900"/>
              </a:xfrm>
              <a:prstGeom prst="rect">
                <a:avLst/>
              </a:prstGeom>
              <a:blipFill>
                <a:blip r:embed="rId4"/>
                <a:stretch>
                  <a:fillRect l="-2322" b="-83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27_1#f02ffcd4d?vcp=1&amp;pid=49c8bef03&amp;color=0,0,0&amp;vtp=1&amp;bbb=1&amp;hb=1&amp;hs=1"/>
              <p:cNvSpPr/>
              <p:nvPr/>
            </p:nvSpPr>
            <p:spPr>
              <a:xfrm>
                <a:off x="393192" y="3636264"/>
                <a:ext cx="11402568" cy="2612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图线的斜率表示加速度，可得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，物体的加速度为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，物体的加速度为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，负号表示物体的加速度方向与规定的正方向相反，故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时，速度为负且增大，物体做速度方向向西的加速运动，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C正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时，速度为负且减小，物体做速度方向向西的减速运动，D错误.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27_1#f02ffcd4d?vcp=1&amp;pid=49c8bef0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36264"/>
                <a:ext cx="11402568" cy="2612200"/>
              </a:xfrm>
              <a:prstGeom prst="rect">
                <a:avLst/>
              </a:prstGeom>
              <a:blipFill>
                <a:blip r:embed="rId5"/>
                <a:stretch>
                  <a:fillRect l="-1658" r="-3155" b="-700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28_1#840e28ae8?vcp=1&amp;pid=49c8bef03&amp;color=0,0,0&amp;vtp=1&amp;bt=1&amp;bbb=1&amp;hb=1"/>
              <p:cNvSpPr/>
              <p:nvPr/>
            </p:nvSpPr>
            <p:spPr>
              <a:xfrm>
                <a:off x="393192" y="570992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（多选题）一个以初速度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沿直线运动的物体，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28_1#840e28ae8?vcp=1&amp;pid=49c8bef0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70992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2246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9_1#840e28ae8.bracket?vcp=1&amp;pid=49c8bef03&amp;color=0,0,0&amp;vpa=6&amp;vtp=1&amp;bbb=1"/>
          <p:cNvSpPr/>
          <p:nvPr/>
        </p:nvSpPr>
        <p:spPr>
          <a:xfrm>
            <a:off x="3699160" y="1118362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ABD</a:t>
            </a:r>
            <a:endParaRPr lang="en-US" altLang="zh-CN" sz="2400" dirty="0"/>
          </a:p>
        </p:txBody>
      </p:sp>
      <p:pic>
        <p:nvPicPr>
          <p:cNvPr id="4" name="QC_5_BD.28_2#840e28ae8?htil=2&amp;vcp=1&amp;pid=49c8bef03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71049" y="1741677"/>
            <a:ext cx="2020824" cy="1947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28_3#840e28ae8.choices?htil=2&amp;vcp=1&amp;pid=49c8bef03&amp;color=0,0,0&amp;vtp=1&amp;bbb=1&amp;hs=1"/>
              <p:cNvSpPr/>
              <p:nvPr/>
            </p:nvSpPr>
            <p:spPr>
              <a:xfrm>
                <a:off x="393192" y="1604517"/>
                <a:ext cx="924458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之前，物体的瞬时加速度越来越小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时的瞬时加速度为0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.平均加速度和瞬时加速度的方向相同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28_3#840e28ae8.choices?htil=2&amp;vcp=1&amp;pid=49c8bef03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04517"/>
                <a:ext cx="9244584" cy="2155000"/>
              </a:xfrm>
              <a:prstGeom prst="rect">
                <a:avLst/>
              </a:prstGeom>
              <a:blipFill>
                <a:blip r:embed="rId5"/>
                <a:stretch>
                  <a:fillRect l="-2045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30_1#840e28ae8?vcp=1&amp;pid=49c8bef03&amp;color=0,0,0&amp;vtp=1&amp;bbb=1&amp;hb=1&amp;hs=1"/>
              <p:cNvSpPr/>
              <p:nvPr/>
            </p:nvSpPr>
            <p:spPr>
              <a:xfrm>
                <a:off x="393192" y="3762184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由题图可知初速度为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，末速度为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，则平均加速度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；瞬时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加速度等于图像在该时刻对应的切线的斜率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，由题图可知瞬时加速度逐渐减小，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B正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，C错误；物体一直做加速运动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，因此平均加速度和瞬时加速度的方向均与速度的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30_1#840e28ae8?vcp=1&amp;pid=49c8bef0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62184"/>
                <a:ext cx="11402568" cy="2155000"/>
              </a:xfrm>
              <a:prstGeom prst="rect">
                <a:avLst/>
              </a:prstGeom>
              <a:blipFill>
                <a:blip r:embed="rId6"/>
                <a:stretch>
                  <a:fillRect l="-1658" r="-963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d33ffd67a?vcp=1&amp;pid=49c8bef03&amp;color=0,0,0&amp;vtp=1&amp;bt=1&amp;bbb=1&amp;hb=1"/>
              <p:cNvSpPr/>
              <p:nvPr/>
            </p:nvSpPr>
            <p:spPr>
              <a:xfrm>
                <a:off x="393192" y="684530"/>
                <a:ext cx="11402568" cy="3869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.利用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图像分析加速度的方法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图像的斜率大小表示加速度的大小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在下列所示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图中的直线上任取两点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，其坐标分别为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.由加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速度公式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，大小恰为直线的斜率.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斜率越大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，加速度越大；斜率越小，加速度越小；斜率为0，加速度为0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,即速度保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持不变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d33ffd67a?vcp=1&amp;pid=49c8bef0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84530"/>
                <a:ext cx="11402568" cy="3869500"/>
              </a:xfrm>
              <a:prstGeom prst="rect">
                <a:avLst/>
              </a:prstGeom>
              <a:blipFill>
                <a:blip r:embed="rId3"/>
                <a:stretch>
                  <a:fillRect l="-1658" r="-1230" b="-47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_5_BD#d33ffd67a?htil=3&amp;vcp=1&amp;pid=49c8bef0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04042" y="4559046"/>
            <a:ext cx="3182112" cy="156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P_5_BD#d33ffd67a?htil=3&amp;vcp=1&amp;pid=49c8bef03&amp;color=0,0,0&amp;vtp=1&amp;bbb=1&amp;hb=1"/>
              <p:cNvSpPr/>
              <p:nvPr/>
            </p:nvSpPr>
            <p:spPr>
              <a:xfrm>
                <a:off x="393192" y="4513326"/>
                <a:ext cx="8092440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图像的斜率正负表示加速度的方向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图甲图线表示加速度为正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加速度方向跟正方向相同；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图乙图线表示加速度为负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，加速度方向跟正方向相反.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P_5_BD#d33ffd67a?htil=3&amp;vcp=1&amp;pid=49c8bef0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13326"/>
                <a:ext cx="8092440" cy="1596200"/>
              </a:xfrm>
              <a:prstGeom prst="rect">
                <a:avLst/>
              </a:prstGeom>
              <a:blipFill>
                <a:blip r:embed="rId5"/>
                <a:stretch>
                  <a:fillRect l="-2336" r="-226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&amp;si=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d33ffd67a?htil=4&amp;vcp=1&amp;pid=49c8bef03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05410" y="2628900"/>
            <a:ext cx="1444752" cy="164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P_5_BD#d33ffd67a?htil=4&amp;vcp=1&amp;pid=49c8bef03&amp;color=0,0,0&amp;vtp=1&amp;bt=1&amp;bbb=1&amp;hb=1"/>
              <p:cNvSpPr/>
              <p:nvPr/>
            </p:nvSpPr>
            <p:spPr>
              <a:xfrm>
                <a:off x="393192" y="2583180"/>
                <a:ext cx="9820656" cy="162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（3）如果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图线为曲线，表示物体的加速度在变化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.某时刻图线切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线的斜率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表示这一时刻的瞬时速度，如图丙中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点切线的斜率等于该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时刻的瞬时加速度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，整个运动过程中物体的加速度在减小.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P_5_BD#d33ffd67a?htil=4&amp;vcp=1&amp;pid=49c8bef0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83180"/>
                <a:ext cx="9820656" cy="1621600"/>
              </a:xfrm>
              <a:prstGeom prst="rect">
                <a:avLst/>
              </a:prstGeom>
              <a:blipFill>
                <a:blip r:embed="rId4"/>
                <a:stretch>
                  <a:fillRect l="-1924" r="-1614" b="-109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&amp;si=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d33ffd67a?htil=5&amp;vcp=1&amp;pid=49c8bef03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85726" y="1356265"/>
            <a:ext cx="1874520" cy="188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P_5_BD#d33ffd67a?htil=5&amp;vcp=1&amp;pid=49c8bef03&amp;color=0,0,0&amp;vtp=1&amp;bt=1&amp;bbb=1&amp;hb=1"/>
              <p:cNvSpPr/>
              <p:nvPr/>
            </p:nvSpPr>
            <p:spPr>
              <a:xfrm>
                <a:off x="393192" y="1310545"/>
                <a:ext cx="9390888" cy="167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2.利用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图像计算平均加速度和瞬时加速度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图像为倾斜直线，则加速度保持不变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.平均加速度与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任一时刻的瞬时加速度相等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,如图丁所示.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P_5_BD#d33ffd67a?htil=5&amp;vcp=1&amp;pid=49c8bef0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10545"/>
                <a:ext cx="9390888" cy="1676400"/>
              </a:xfrm>
              <a:prstGeom prst="rect">
                <a:avLst/>
              </a:prstGeom>
              <a:blipFill>
                <a:blip r:embed="rId4"/>
                <a:stretch>
                  <a:fillRect l="-2013" b="-327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_5_BD#d33ffd67a?htil=6&amp;vcp=1&amp;pid=49c8bef03&amp;color=0,0,0&amp;tib=255,255,255&amp;vtp=1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21240" y="3253518"/>
            <a:ext cx="1856232" cy="207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d33ffd67a?htil=6&amp;vcp=1&amp;pid=49c8bef03&amp;color=0,0,0&amp;vtp=1&amp;bbb=1&amp;hb=1"/>
              <p:cNvSpPr/>
              <p:nvPr/>
            </p:nvSpPr>
            <p:spPr>
              <a:xfrm>
                <a:off x="393192" y="3207798"/>
                <a:ext cx="9409176" cy="2193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图像为曲线，表示物体做变加速运动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，平均加速度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与瞬时加速度一般不相等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，如图戊所示,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时间内的平均加速度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，是直线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的斜率，而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时刻的瞬时加速度为过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点切线的斜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率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d33ffd67a?htil=6&amp;vcp=1&amp;pid=49c8bef0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07798"/>
                <a:ext cx="9409176" cy="2193100"/>
              </a:xfrm>
              <a:prstGeom prst="rect">
                <a:avLst/>
              </a:prstGeom>
              <a:blipFill>
                <a:blip r:embed="rId6"/>
                <a:stretch>
                  <a:fillRect l="-2009" r="-1555" b="-83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&amp;si=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2907b43ef?vcp=1&amp;pid=d535b9f05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2907b43ef?vcp=1&amp;pid=d535b9f05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5</a:t>
            </a:r>
            <a:endParaRPr lang="en-US" altLang="zh-CN" sz="2800" dirty="0"/>
          </a:p>
        </p:txBody>
      </p:sp>
      <p:sp>
        <p:nvSpPr>
          <p:cNvPr id="4" name="C_4_BD#2907b43ef?vcp=1&amp;pid=d535b9f05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加速度与物体运动情况的分析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5#24552847a?vcp=1&amp;pid=2907b43ef&amp;color=0,0,0&amp;vtp=1&amp;bbb=1"/>
          <p:cNvSpPr/>
          <p:nvPr/>
        </p:nvSpPr>
        <p:spPr>
          <a:xfrm>
            <a:off x="393192" y="1092200"/>
            <a:ext cx="11402568" cy="149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.由加速度来判断物体的运动情况</a:t>
            </a:r>
            <a:endParaRPr lang="en-US" altLang="zh-CN" sz="2400" dirty="0"/>
          </a:p>
          <a:p>
            <a:pPr latinLnBrk="1">
              <a:lnSpc>
                <a:spcPts val="40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1）加速度的大小决定物体速度变化的快慢.</a:t>
            </a:r>
            <a:endParaRPr lang="en-US" altLang="zh-CN" sz="2400" dirty="0"/>
          </a:p>
        </p:txBody>
      </p:sp>
      <p:pic>
        <p:nvPicPr>
          <p:cNvPr id="6" name="P_5_BD#24552847a?htil=1&amp;vcp=1&amp;pid=2907b43e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61288" y="2816034"/>
            <a:ext cx="4151376" cy="104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P_5_BD#24552847a?htil=1&amp;vcp=1&amp;pid=2907b43ef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81344" y="2724594"/>
            <a:ext cx="5495544" cy="113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8" name="P_5_BD#24552847a?vcp=1&amp;pid=2907b43ef&amp;color=0,0,0&amp;vtp=1&amp;bbb=1&amp;hb=1"/>
          <p:cNvSpPr/>
          <p:nvPr/>
        </p:nvSpPr>
        <p:spPr>
          <a:xfrm>
            <a:off x="393192" y="3994594"/>
            <a:ext cx="11402568" cy="97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1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（2）加速度与速度的方向决定物体加速还是减速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，物体是加速还是减速与加速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度的变化和加速度的正负无关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，可总结如下：</a:t>
            </a:r>
            <a:endParaRPr lang="en-US" altLang="zh-CN" sz="2400" dirty="0"/>
          </a:p>
        </p:txBody>
      </p:sp>
      <p:pic>
        <p:nvPicPr>
          <p:cNvPr id="9" name="P_5_BD#24552847a?vcp=1&amp;pid=2907b43ef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7912" y="5095430"/>
            <a:ext cx="4462272" cy="126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&amp;si=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24552847a?vcp=1&amp;pid=2907b43ef&amp;color=0,0,0&amp;vtp=1&amp;bt=1&amp;bbb=1&amp;hb=1"/>
              <p:cNvSpPr/>
              <p:nvPr/>
            </p:nvSpPr>
            <p:spPr>
              <a:xfrm>
                <a:off x="393192" y="2348325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图像来判断物体的运动情况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 spc="-5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根据图像观察</a:t>
                </a:r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，看速度的大小随时间如何变化，若是越来越大，则加速；反之减速.</a:t>
                </a:r>
                <a:endParaRPr lang="en-US" altLang="zh-CN" sz="2400" spc="-5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根据图像观察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，看图像的斜率随时间如何变化，若斜率不变，则加速度不变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；若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斜率增大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，则加速度增大；若斜率减小，则加速度减小.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24552847a?vcp=1&amp;pid=2907b43e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48325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1925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&amp;si=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31_1#10e5d9b6c?vcp=1&amp;pid=2907b43ef&amp;color=0,0,0&amp;vtp=1&amp;bt=1&amp;bbb=1&amp;hb=1"/>
              <p:cNvSpPr/>
              <p:nvPr/>
            </p:nvSpPr>
            <p:spPr>
              <a:xfrm>
                <a:off x="393192" y="751427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考题5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一质点自原点开始在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轴上运动，初速度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值不断减小直至为0的过程中，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质点的(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31_1#10e5d9b6c?vcp=1&amp;pid=2907b43e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51427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32_1#10e5d9b6c.bracket?vcp=1&amp;pid=2907b43ef&amp;color=0,0,0&amp;vpa=7&amp;vtp=1"/>
          <p:cNvSpPr/>
          <p:nvPr/>
        </p:nvSpPr>
        <p:spPr>
          <a:xfrm>
            <a:off x="7794911" y="129879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31_2#10e5d9b6c.choices?vcp=1&amp;pid=2907b43ef&amp;color=0,0,0&amp;vtp=1&amp;bbb=1"/>
              <p:cNvSpPr/>
              <p:nvPr/>
            </p:nvSpPr>
            <p:spPr>
              <a:xfrm>
                <a:off x="393192" y="178495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A.速度不断减小，位移不断减小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.速度不断减小，位移继续增大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.速度不断增大，当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时，速度达到最大，位移不断增大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.速度不断减小，当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时，位移达到最大值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31_2#10e5d9b6c.choices?vcp=1&amp;pid=2907b43ef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84952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AS.33_1#10e5d9b6c?vcp=1&amp;pid=2907b43ef&amp;color=0,0,0&amp;vtp=1&amp;bbb=1&amp;hb=1"/>
              <p:cNvSpPr/>
              <p:nvPr/>
            </p:nvSpPr>
            <p:spPr>
              <a:xfrm>
                <a:off x="393192" y="393125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，即速度和加速度同向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，速度是一直在增加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，当加速度减小时，相同时间内速度的增加量变小，即速度增加得慢了，当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，速度的变化量为0，达到最大值，质点开始继续做匀速直线运动，所以在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值减至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的过程中，质点速度不断增大，位移不断增大，C正确.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AS.33_1#10e5d9b6c?vcp=1&amp;pid=2907b43e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31252"/>
                <a:ext cx="11402568" cy="2155000"/>
              </a:xfrm>
              <a:prstGeom prst="rect">
                <a:avLst/>
              </a:prstGeom>
              <a:blipFill>
                <a:blip r:embed="rId5"/>
                <a:stretch>
                  <a:fillRect l="-1658" r="-856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&amp;si=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34_1#00426e7e5?vcp=1&amp;pid=2907b43ef&amp;color=0,0,0&amp;vtp=1&amp;bt=1&amp;bbb=1&amp;hb=1"/>
          <p:cNvSpPr/>
          <p:nvPr/>
        </p:nvSpPr>
        <p:spPr>
          <a:xfrm>
            <a:off x="393192" y="784987"/>
            <a:ext cx="11402568" cy="922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9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变式5-1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（2026·湖北黄冈中学检测</a:t>
            </a:r>
            <a:r>
              <a:rPr lang="en-US" altLang="zh-CN" sz="2400" b="0" i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一物体运动的速度随时间变化的关系图像如图</a:t>
            </a:r>
          </a:p>
          <a:p>
            <a:pPr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所示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根据图像可知(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35_1#00426e7e5.bracket?vcp=1&amp;pid=2907b43ef&amp;color=0,0,0&amp;vpa=8&amp;vtp=1"/>
          <p:cNvSpPr/>
          <p:nvPr/>
        </p:nvSpPr>
        <p:spPr>
          <a:xfrm>
            <a:off x="3368960" y="1265110"/>
            <a:ext cx="441325" cy="43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5_BD.34_2#00426e7e5?htil=8&amp;vcp=1&amp;pid=2907b43ef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74937" y="1705484"/>
            <a:ext cx="1995813" cy="1922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34_3#00426e7e5.choices?htil=8&amp;vcp=1&amp;pid=2907b43ef&amp;color=0,0,0&amp;vtp=1&amp;bbb=1&amp;hs=1"/>
              <p:cNvSpPr/>
              <p:nvPr/>
            </p:nvSpPr>
            <p:spPr>
              <a:xfrm>
                <a:off x="393192" y="1708213"/>
                <a:ext cx="9262872" cy="19106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内物体一定在做曲线运动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内物体的速度一直在减小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.物体的加速度方向在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时发生改变</a:t>
                </a:r>
                <a:endParaRPr lang="en-US" altLang="zh-CN" sz="2400" dirty="0"/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内物体速度变化量的大小为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34_3#00426e7e5.choices?htil=8&amp;vcp=1&amp;pid=2907b43ef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08213"/>
                <a:ext cx="9262872" cy="1910652"/>
              </a:xfrm>
              <a:prstGeom prst="rect">
                <a:avLst/>
              </a:prstGeom>
              <a:blipFill>
                <a:blip r:embed="rId4"/>
                <a:stretch>
                  <a:fillRect l="-2041" t="-637" b="-987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36_1#00426e7e5?vcp=1&amp;pid=2907b43ef&amp;color=0,0,0&amp;vtp=1&amp;bbb=1&amp;hb=1&amp;hs=1"/>
              <p:cNvSpPr/>
              <p:nvPr/>
            </p:nvSpPr>
            <p:spPr>
              <a:xfrm>
                <a:off x="393192" y="3618420"/>
                <a:ext cx="11402568" cy="2421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图像只能表示做直线运动的物体的速度与时间的关系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，不能表示做曲线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运动的物体的速度与时间的关系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，A错误；由题图可知，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，物体的速度反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图像中图线的斜率表示加速度，由题图可知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内加速度方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向没有发生变化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，一直为负方向，C错误；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内物体速度的变化量</a:t>
                </a:r>
              </a:p>
              <a:p>
                <a:pPr latinLnBrk="1">
                  <a:lnSpc>
                    <a:spcPts val="38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36_1#00426e7e5?vcp=1&amp;pid=2907b43ef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18420"/>
                <a:ext cx="11402568" cy="2421700"/>
              </a:xfrm>
              <a:prstGeom prst="rect">
                <a:avLst/>
              </a:prstGeom>
              <a:blipFill>
                <a:blip r:embed="rId5"/>
                <a:stretch>
                  <a:fillRect l="-1658" t="-756" r="-1230" b="-730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&amp;si=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#40cc8f99c?vcp=1&amp;pid=2907b43ef&amp;color=0,0,0&amp;vtp=1&amp;bt=1&amp;bbb=1"/>
          <p:cNvSpPr/>
          <p:nvPr/>
        </p:nvSpPr>
        <p:spPr>
          <a:xfrm>
            <a:off x="393192" y="892302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归纳总结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速度是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“增”还是“减”的确定</a:t>
            </a:r>
            <a:endParaRPr lang="en-US" altLang="zh-CN" sz="2400" dirty="0"/>
          </a:p>
        </p:txBody>
      </p:sp>
      <p:pic>
        <p:nvPicPr>
          <p:cNvPr id="3" name="P_5_BD#40cc8f99c?htil=1&amp;vcp=1&amp;pid=2907b43ef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44168" y="4589272"/>
            <a:ext cx="3813048" cy="136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5_BD#40cc8f99c?htil=1&amp;vcp=1&amp;pid=2907b43e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78040" y="2065528"/>
            <a:ext cx="3547872" cy="387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&amp;si=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#40cc8f99c?vcp=1&amp;pid=2907b43ef&amp;color=0,0,0&amp;vtp=1&amp;bt=1&amp;bbb=1&amp;hb=1"/>
              <p:cNvSpPr/>
              <p:nvPr/>
            </p:nvSpPr>
            <p:spPr>
              <a:xfrm>
                <a:off x="393192" y="585502"/>
                <a:ext cx="11402568" cy="32727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.物体是做加速运动还是减速运动,不能根据加速度的正负来判断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,例如当加速度与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速度均为负值时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,速度就增加.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.速度的变化趋势与加速度的变化趋势无关,加速度减小时,速度不一定减小.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方法梳理</a:t>
                </a:r>
                <a:endParaRPr lang="en-US" altLang="zh-CN" sz="2400" dirty="0"/>
              </a:p>
              <a:p>
                <a:pPr algn="ctr"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应用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图像分析物体运动的方法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#40cc8f99c?vcp=1&amp;pid=2907b43e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85502"/>
                <a:ext cx="11402568" cy="3272790"/>
              </a:xfrm>
              <a:prstGeom prst="rect">
                <a:avLst/>
              </a:prstGeom>
              <a:blipFill>
                <a:blip r:embed="rId3"/>
                <a:stretch>
                  <a:fillRect l="-1658" r="-1283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_5_BD#40cc8f99c?vcp=1&amp;pid=2907b43e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12175" y="3957098"/>
            <a:ext cx="3173746" cy="226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&amp;si=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2166</Words>
  <Application>Microsoft Office PowerPoint</Application>
  <PresentationFormat>宽屏</PresentationFormat>
  <Paragraphs>365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2026-05-25T08:28:41Z</dcterms:created>
  <dcterms:modified xsi:type="dcterms:W3CDTF">2026-05-25T08:30:41Z</dcterms:modified>
  <cp:category/>
  <cp:contentStatus/>
</cp:coreProperties>
</file>