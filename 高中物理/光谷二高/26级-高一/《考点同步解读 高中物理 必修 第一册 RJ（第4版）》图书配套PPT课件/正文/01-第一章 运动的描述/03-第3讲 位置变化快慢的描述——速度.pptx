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074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0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c13ff7c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第3讲 位置变化快慢的描述——速度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c13ff7c30.fixed?vcp=1&amp;pid=dbb013986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运动的描述</a:t>
            </a:r>
            <a:endParaRPr lang="en-US" altLang="zh-CN" sz="4800" dirty="0"/>
          </a:p>
        </p:txBody>
      </p:sp>
      <p:sp>
        <p:nvSpPr>
          <p:cNvPr id="3" name="C_2_BD#c13ff7c30.fixed?vcp=1&amp;pid=dbb013986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位置变化快慢的描述——速度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c13ff7c30?lid=aa9e116af&amp;cid=aa9e116af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c13ff7c30?lid=043674d11&amp;cid=043674d11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aa9e116af?vcp=1&amp;pid=c13ff7c30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P_4_BD#b37da9409?colgroup=17,5,13&amp;vcp=1&amp;pid=aa9e116af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364778"/>
                  </p:ext>
                </p:extLst>
              </p:nvPr>
            </p:nvGraphicFramePr>
            <p:xfrm>
              <a:off x="393192" y="1181100"/>
              <a:ext cx="11400625" cy="3218053"/>
            </p:xfrm>
            <a:graphic>
              <a:graphicData uri="http://schemas.openxmlformats.org/drawingml/2006/table">
                <a:tbl>
                  <a:tblPr/>
                  <a:tblGrid>
                    <a:gridCol w="53517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2637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25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考点分析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核心素养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知识图解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52220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1.速度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平均速度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瞬时速度的概念及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其区别与联系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.（★★）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物理观念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222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2.直线运动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图像.（★★）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科学思维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测量纸带的平均速度和瞬时速度.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科学探究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P_4_BD#b37da9409?colgroup=17,5,13&amp;vcp=1&amp;pid=aa9e116af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364778"/>
                  </p:ext>
                </p:extLst>
              </p:nvPr>
            </p:nvGraphicFramePr>
            <p:xfrm>
              <a:off x="393192" y="1181100"/>
              <a:ext cx="11400625" cy="3218053"/>
            </p:xfrm>
            <a:graphic>
              <a:graphicData uri="http://schemas.openxmlformats.org/drawingml/2006/table">
                <a:tbl>
                  <a:tblPr/>
                  <a:tblGrid>
                    <a:gridCol w="53517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2637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25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考点分析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核心素养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知识图解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52220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1.速度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平均速度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瞬时速度的概念及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其区别与联系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.（★★）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物理观念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222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4" t="-351220" r="-113326" b="-224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科学思维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测量纸带的平均速度和瞬时速度.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科学探究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_4_BD#b37da9409.table_image?tii=1&amp;vcp=1&amp;pid=aa9e116af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0100" y="1758417"/>
            <a:ext cx="3602818" cy="254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043674d11?vcp=1&amp;pid=c13ff7c30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4#977b043b1?vcp=1&amp;pid=043674d11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977b043b1?vcp=1&amp;pid=043674d11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977b043b1?vcp=1&amp;pid=043674d11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速度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_5_BD#e8ee1fd1e?vcp=1&amp;pid=977b043b1&amp;color=0,0,0&amp;vtp=1&amp;bbb=1&amp;hb=1"/>
              <p:cNvSpPr/>
              <p:nvPr/>
            </p:nvSpPr>
            <p:spPr>
              <a:xfrm>
                <a:off x="393192" y="1778000"/>
                <a:ext cx="11402568" cy="2735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.公式: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.物理意义：速度是描述物体运动快慢的物理量.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.单位：米每秒，符号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−1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.矢量性：速度不但有大小，而且有方向，是矢量.物体的运动方向就是速度的方向.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P_5_BD#e8ee1fd1e?vcp=1&amp;pid=977b043b1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8000"/>
                <a:ext cx="11402568" cy="2735199"/>
              </a:xfrm>
              <a:prstGeom prst="rect">
                <a:avLst/>
              </a:prstGeom>
              <a:blipFill>
                <a:blip r:embed="rId5"/>
                <a:stretch>
                  <a:fillRect r="-3957" b="-669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1_1#0830f2e09?vcp=1&amp;pid=977b043b1&amp;color=0,0,0&amp;vtp=1&amp;bt=1&amp;bbb=1"/>
              <p:cNvSpPr/>
              <p:nvPr/>
            </p:nvSpPr>
            <p:spPr>
              <a:xfrm>
                <a:off x="393192" y="782987"/>
                <a:ext cx="11402568" cy="72301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2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（多选题）关于速度的定义式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下列叙述中正确的是(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QC_5_BD.1_1#0830f2e09?vcp=1&amp;pid=977b043b1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82987"/>
                <a:ext cx="11402568" cy="723011"/>
              </a:xfrm>
              <a:prstGeom prst="rect">
                <a:avLst/>
              </a:prstGeom>
              <a:blipFill>
                <a:blip r:embed="rId3"/>
                <a:stretch>
                  <a:fillRect l="-1658" b="-142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_1#0830f2e09.bracket?vcp=1&amp;pid=977b043b1&amp;color=0,0,0&amp;vpa=1&amp;vtp=1&amp;bbb=1"/>
          <p:cNvSpPr/>
          <p:nvPr/>
        </p:nvSpPr>
        <p:spPr>
          <a:xfrm>
            <a:off x="9434862" y="1076546"/>
            <a:ext cx="865188" cy="36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5_BD.1_2#0830f2e09.choices?vcp=1&amp;pid=977b043b1&amp;color=0,0,0&amp;vtp=1&amp;bbb=1"/>
              <p:cNvSpPr/>
              <p:nvPr/>
            </p:nvSpPr>
            <p:spPr>
              <a:xfrm>
                <a:off x="393192" y="1506568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A.物体做匀速直线运动时，速度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与运动的位移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成正比，与运动的时间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成反比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的大小与运动的位移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都无关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.此速度定义式适用于任何运动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.速度是表示物体运动快慢及方向的物理量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QC_5_BD.1_2#0830f2e09.choices?vcp=1&amp;pid=977b043b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06568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AS.3_1#0830f2e09?vcp=1&amp;pid=977b043b1&amp;color=0,0,0&amp;vtp=1&amp;bbb=1&amp;hb=1"/>
              <p:cNvSpPr/>
              <p:nvPr/>
            </p:nvSpPr>
            <p:spPr>
              <a:xfrm>
                <a:off x="393192" y="3652868"/>
                <a:ext cx="11402568" cy="2180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速度的定义式只说明速度可用位移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除以时间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来计算，并不是说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成正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比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成反比，故A错误，B正确；对于任何运动，速度的定义式都是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故C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；速度是一个矢量，其大小表示物体运动的快慢，方向表示物体的运动方向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QC_5_AS.3_1#0830f2e09?vcp=1&amp;pid=977b043b1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52868"/>
                <a:ext cx="11402568" cy="2180400"/>
              </a:xfrm>
              <a:prstGeom prst="rect">
                <a:avLst/>
              </a:prstGeom>
              <a:blipFill>
                <a:blip r:embed="rId5"/>
                <a:stretch>
                  <a:fillRect l="-1658" r="-1283" b="-838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4_1#cf58c9140?vcp=1&amp;pid=977b043b1&amp;color=0,0,0&amp;vtp=1&amp;bt=1&amp;bbb=1&amp;hb=1"/>
              <p:cNvSpPr/>
              <p:nvPr/>
            </p:nvSpPr>
            <p:spPr>
              <a:xfrm>
                <a:off x="393192" y="1827689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（多选题）甲、乙两质点在同一直线上做匀速运动，取向右为正方向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，甲的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，乙的速度为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则可知(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4_1#cf58c9140?vcp=1&amp;pid=977b043b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27689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07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5_1#cf58c9140.bracket?vcp=1&amp;pid=977b043b1&amp;color=0,0,0&amp;vpa=2&amp;vtp=1&amp;bbb=1"/>
          <p:cNvSpPr/>
          <p:nvPr/>
        </p:nvSpPr>
        <p:spPr>
          <a:xfrm>
            <a:off x="6367749" y="2375059"/>
            <a:ext cx="882650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ACD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5_BD.4_2#cf58c9140.choices?vcp=1&amp;pid=977b043b1&amp;color=0,0,0&amp;vtp=1&amp;bbb=1"/>
              <p:cNvSpPr/>
              <p:nvPr/>
            </p:nvSpPr>
            <p:spPr>
              <a:xfrm>
                <a:off x="393192" y="2861214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A.乙的速度大于甲的速度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.因为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+2&gt;−4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，所以甲的速度大于乙的速度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.这里正、负号的物理意义是表示质点的运动方向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.若甲、乙两质点同时由同一位置出发，则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后甲、乙相距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C_5_BD.4_2#cf58c9140.choices?vcp=1&amp;pid=977b043b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61214"/>
                <a:ext cx="11402568" cy="2158302"/>
              </a:xfrm>
              <a:prstGeom prst="rect">
                <a:avLst/>
              </a:prstGeom>
              <a:blipFill>
                <a:blip r:embed="rId4"/>
                <a:stretch>
                  <a:fillRect l="-165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612b0d290?vcp=1&amp;pid=977b043b1&amp;color=0,0,0&amp;vtp=1&amp;bt=1&amp;bbb=1&amp;hb=1"/>
              <p:cNvSpPr/>
              <p:nvPr/>
            </p:nvSpPr>
            <p:spPr>
              <a:xfrm>
                <a:off x="393192" y="2035620"/>
                <a:ext cx="11402568" cy="2760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难点突破</a:t>
                </a:r>
                <a:endParaRPr lang="en-US" altLang="zh-CN" sz="2400" dirty="0"/>
              </a:p>
              <a:p>
                <a:pPr algn="ctr"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对定义式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的理解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.速度的定义采用比值定义法，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不表示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之间的数量关系，即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示物体位置变化快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不一定大，二者不成正比关系.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.式中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是位移，不是路程，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具有同一性和对应性.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612b0d290?vcp=1&amp;pid=977b043b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35620"/>
                <a:ext cx="11402568" cy="2760599"/>
              </a:xfrm>
              <a:prstGeom prst="rect">
                <a:avLst/>
              </a:prstGeom>
              <a:blipFill>
                <a:blip r:embed="rId3"/>
                <a:stretch>
                  <a:fillRect l="-1658" r="-1444" b="-662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612b0d290?vcp=1&amp;pid=977b043b1&amp;color=0,0,0&amp;vtp=1&amp;bt=1&amp;bbb=1&amp;hb=1"/>
          <p:cNvSpPr/>
          <p:nvPr/>
        </p:nvSpPr>
        <p:spPr>
          <a:xfrm>
            <a:off x="393192" y="1227646"/>
            <a:ext cx="11402568" cy="4386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易错警示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关于速度的几个易错点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.速度既有大小又有方向,是矢量.分析物体的运动速度时,既要计算速度的大小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,又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要确定速度的方向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,不可只关注速度的大小.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.比较两个速度是否相同时,既要比较其大小是否相等，又要比较其方向是否相同.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.路程与速度的关系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1）路程为0时，位移必为0，则速度亦为0；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2）路程不为0时，若位移为0，则速度为0；若位移不为0，则速度不为0.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2b747e435?vcp=1&amp;pid=043674d11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2b747e435?vcp=1&amp;pid=043674d11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2b747e435?vcp=1&amp;pid=043674d11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平均速度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883bdc15c?vcp=1&amp;pid=2b747e435&amp;color=0,0,0&amp;vtp=1&amp;bbb=1&amp;hb=1"/>
              <p:cNvSpPr/>
              <p:nvPr/>
            </p:nvSpPr>
            <p:spPr>
              <a:xfrm>
                <a:off x="393192" y="1092200"/>
                <a:ext cx="11402568" cy="2735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.定义式：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ba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.矢量性：平均速度是矢量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，某一段时间内的平均速度方向和该段时间内的位移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.意义:粗略表征在某段时间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或某段位移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内运动的快慢.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883bdc15c?vcp=1&amp;pid=2b747e43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2735199"/>
              </a:xfrm>
              <a:prstGeom prst="rect">
                <a:avLst/>
              </a:prstGeom>
              <a:blipFill>
                <a:blip r:embed="rId4"/>
                <a:stretch>
                  <a:fillRect l="-1658" b="-66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6_1#7d0ac2ba3?vcp=1&amp;pid=2b747e435&amp;color=0,0,0&amp;vtp=1&amp;bt=1&amp;bbb=1&amp;hb=1"/>
              <p:cNvSpPr/>
              <p:nvPr/>
            </p:nvSpPr>
            <p:spPr>
              <a:xfrm>
                <a:off x="393192" y="710629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一质点沿直线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方向做变速运动，它离开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点的距离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随时间变化的关系为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=5+2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，它的速度随时间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变化的关系为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，该质点在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间的平均速度和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间的平均速度的大小分别为(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6_1#7d0ac2ba3?vcp=1&amp;pid=2b747e4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10629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7_1#7d0ac2ba3.bracket?vcp=1&amp;pid=2b747e435&amp;color=0,0,0&amp;vpa=3&amp;vtp=1"/>
          <p:cNvSpPr/>
          <p:nvPr/>
        </p:nvSpPr>
        <p:spPr>
          <a:xfrm>
            <a:off x="9407747" y="1816799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5_BD.6_2#7d0ac2ba3.choices?vcp=1&amp;pid=2b747e435&amp;color=0,0,0&amp;vtp=1&amp;bbb=1"/>
              <p:cNvSpPr/>
              <p:nvPr/>
            </p:nvSpPr>
            <p:spPr>
              <a:xfrm>
                <a:off x="393192" y="2304224"/>
                <a:ext cx="11402568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19.5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C_5_BD.6_2#7d0ac2ba3.choices?vcp=1&amp;pid=2b747e43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04224"/>
                <a:ext cx="11402568" cy="1027430"/>
              </a:xfrm>
              <a:prstGeom prst="rect">
                <a:avLst/>
              </a:prstGeom>
              <a:blipFill>
                <a:blip r:embed="rId4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AS.8_1#7d0ac2ba3?vcp=1&amp;pid=2b747e435&amp;color=0,0,0&amp;vtp=1&amp;bbb=1&amp;hb=1"/>
              <p:cNvSpPr/>
              <p:nvPr/>
            </p:nvSpPr>
            <p:spPr>
              <a:xfrm>
                <a:off x="393192" y="3344354"/>
                <a:ext cx="11402568" cy="2790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zh-CN" altLang="en-US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时间间隔为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，平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时间间隔为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，平均速度为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bar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AS.8_1#7d0ac2ba3?vcp=1&amp;pid=2b747e43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44354"/>
                <a:ext cx="11402568" cy="2790000"/>
              </a:xfrm>
              <a:prstGeom prst="rect">
                <a:avLst/>
              </a:prstGeom>
              <a:blipFill>
                <a:blip r:embed="rId5"/>
                <a:stretch>
                  <a:fillRect l="-1658" r="-1337" b="-656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9_1#ad8b9e90c?vcp=1&amp;pid=2b747e435&amp;color=0,0,0&amp;vtp=1&amp;bt=1&amp;bbb=1&amp;hb=1"/>
              <p:cNvSpPr/>
              <p:nvPr/>
            </p:nvSpPr>
            <p:spPr>
              <a:xfrm>
                <a:off x="393192" y="1275239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（国防安全）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如图所示为我国海警开展的巡航活动路线图，某日上午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7：25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我国海警船从大陆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港出发先向东直线行驶一段距离到达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然后向北行驶一段距离，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11：25到达小岛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处，共历时4小时.已知小岛在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港北偏东距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连线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与正北方向的夹角为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9_1#ad8b9e90c?vcp=1&amp;pid=2b747e4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5239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4064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0_1#ad8b9e90c.bracket?vcp=1&amp;pid=2b747e435&amp;color=0,0,0&amp;vpa=4&amp;vtp=1"/>
          <p:cNvSpPr/>
          <p:nvPr/>
        </p:nvSpPr>
        <p:spPr>
          <a:xfrm>
            <a:off x="7016972" y="294020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5_BD.9_2#ad8b9e90c?htil=1&amp;vcp=1&amp;pid=2b747e43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31316" y="3460654"/>
            <a:ext cx="2130552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9_3#ad8b9e90c.choices?htil=1&amp;vcp=1&amp;pid=2b747e435&amp;color=0,0,0&amp;vtp=1&amp;bbb=1"/>
              <p:cNvSpPr/>
              <p:nvPr/>
            </p:nvSpPr>
            <p:spPr>
              <a:xfrm>
                <a:off x="393192" y="3414934"/>
                <a:ext cx="9134856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A.7：25指的是时间间隔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.该过程海警船的路程小于位移的大小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.该过程中海警船的平均速率为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.该过程中海警船的平均速度大小为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9_3#ad8b9e90c.choices?htil=1&amp;vcp=1&amp;pid=2b747e43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4934"/>
                <a:ext cx="9134856" cy="2158302"/>
              </a:xfrm>
              <a:prstGeom prst="rect">
                <a:avLst/>
              </a:prstGeom>
              <a:blipFill>
                <a:blip r:embed="rId5"/>
                <a:stretch>
                  <a:fillRect l="-2069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AS.11_1#ad8b9e90c?vcp=1&amp;pid=2b747e435&amp;color=0,0,0&amp;vtp=1&amp;bt=1&amp;bbb=1&amp;hb=1"/>
              <p:cNvSpPr/>
              <p:nvPr/>
            </p:nvSpPr>
            <p:spPr>
              <a:xfrm>
                <a:off x="393192" y="1870901"/>
                <a:ext cx="11402568" cy="2971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：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对应时间轴上的一个点，指的是时刻，故A错误；海警船由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港运动到小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，通过的路程为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𝑨𝑩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移大小为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𝑨𝑪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；该过程中海警船的平均速率为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，平均速度大小为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，故C错误，D正确.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AS.11_1#ad8b9e90c?vcp=1&amp;pid=2b747e4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70901"/>
                <a:ext cx="11402568" cy="2971800"/>
              </a:xfrm>
              <a:prstGeom prst="rect">
                <a:avLst/>
              </a:prstGeom>
              <a:blipFill>
                <a:blip r:embed="rId3"/>
                <a:stretch>
                  <a:fillRect l="-1658" r="-1497" b="-349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713163753?vcp=1&amp;pid=2b747e435&amp;color=0,0,0&amp;vtp=1&amp;bt=1&amp;bbb=1&amp;hb=1"/>
              <p:cNvSpPr/>
              <p:nvPr/>
            </p:nvSpPr>
            <p:spPr>
              <a:xfrm>
                <a:off x="393192" y="179333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易错警示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关于平均速度的几个易错点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.计算平均速度时，切勿将速度的平均值误认为是平均速度，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两者是不同的概念，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且通常是不相等的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.平均速度是矢量,其方向与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方向一致,而与物体的运动方向（即速度方向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）没有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必然关系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713163753?vcp=1&amp;pid=2b747e4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9333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2567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713163753?vcp=1&amp;pid=2b747e435&amp;color=0,0,0&amp;vtp=1&amp;bt=1&amp;bbb=1"/>
          <p:cNvSpPr/>
          <p:nvPr/>
        </p:nvSpPr>
        <p:spPr>
          <a:xfrm>
            <a:off x="393192" y="1782636"/>
            <a:ext cx="11402568" cy="326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方法梳理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求平均速度的步骤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.确定物体运动的过程.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.确定该运动过程对应的位移和时间.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.根据平均速度的定义，求平均速度的大小.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.根据位移来确定平均速度的方向.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713163753?vcp=1&amp;pid=2b747e435&amp;color=0,0,0&amp;vtp=1&amp;bt=1&amp;bbb=1"/>
          <p:cNvSpPr/>
          <p:nvPr/>
        </p:nvSpPr>
        <p:spPr>
          <a:xfrm>
            <a:off x="393192" y="910304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易错警示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平均速度和平均速率的比较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P_5_BD#713163753?colgroup=6,14,14&amp;vcp=1&amp;pid=2b747e435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3531413"/>
                  </p:ext>
                </p:extLst>
              </p:nvPr>
            </p:nvGraphicFramePr>
            <p:xfrm>
              <a:off x="393192" y="2083530"/>
              <a:ext cx="11402718" cy="3850196"/>
            </p:xfrm>
            <a:graphic>
              <a:graphicData uri="http://schemas.openxmlformats.org/drawingml/2006/table">
                <a:tbl>
                  <a:tblPr/>
                  <a:tblGrid>
                    <a:gridCol w="59511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8696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841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51743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92633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平均速率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0019">
                    <a:tc rowSpan="3"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区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别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60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位移</m:t>
                                  </m:r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时间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60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平均速率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路程</m:t>
                                  </m:r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时间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标矢性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标量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描述一段时间内物体位置变化的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快慢和方向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描述一段时间内物体运动的快慢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74344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平均速度的大小一般小于平均速率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只有在单方向直线运动中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均速度的大小才等于平均速率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P_5_BD#713163753?colgroup=6,14,14&amp;vcp=1&amp;pid=2b747e435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3531413"/>
                  </p:ext>
                </p:extLst>
              </p:nvPr>
            </p:nvGraphicFramePr>
            <p:xfrm>
              <a:off x="393192" y="2083530"/>
              <a:ext cx="11402718" cy="3850196"/>
            </p:xfrm>
            <a:graphic>
              <a:graphicData uri="http://schemas.openxmlformats.org/drawingml/2006/table">
                <a:tbl>
                  <a:tblPr/>
                  <a:tblGrid>
                    <a:gridCol w="59511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8696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841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51743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92633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平均速率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0019">
                    <a:tc rowSpan="3"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区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别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487" t="-54667" r="-100397" b="-28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098" t="-54667" r="-132" b="-28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标矢性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标量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描述一段时间内物体位置变化的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快慢和方向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描述一段时间内物体运动的快慢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74344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平均速度的大小一般小于平均速率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只有在单方向直线运动中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均速度的大小才等于平均速率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6b0fb1775?vcp=1&amp;pid=043674d11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6b0fb1775?vcp=1&amp;pid=043674d11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4_BD#6b0fb1775?vcp=1&amp;pid=043674d11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瞬时速度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p:sp>
        <p:nvSpPr>
          <p:cNvPr id="5" name="P_5_BD#af06df6f5?vcp=1&amp;pid=6b0fb1775&amp;color=0,0,0&amp;vtp=1&amp;bbb=1"/>
          <p:cNvSpPr/>
          <p:nvPr/>
        </p:nvSpPr>
        <p:spPr>
          <a:xfrm>
            <a:off x="393192" y="1092200"/>
            <a:ext cx="11402568" cy="84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5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algn="ctr" latinLnBrk="1">
              <a:lnSpc>
                <a:spcPts val="3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平均速度和瞬时速度的比较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P_5_BD#af06df6f5?colgroup=4,16,15&amp;vcp=1&amp;pid=6b0fb1775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347469"/>
                  </p:ext>
                </p:extLst>
              </p:nvPr>
            </p:nvGraphicFramePr>
            <p:xfrm>
              <a:off x="393192" y="2070100"/>
              <a:ext cx="11356848" cy="4315968"/>
            </p:xfrm>
            <a:graphic>
              <a:graphicData uri="http://schemas.openxmlformats.org/drawingml/2006/table">
                <a:tbl>
                  <a:tblPr/>
                  <a:tblGrid>
                    <a:gridCol w="4754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932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8828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65201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瞬时速度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0336">
                    <a:tc rowSpan="3"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区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别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对应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与某一过程中的一段位移或一段时间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对应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与运动过程中的某一位置或某一时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刻对应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033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描述物体在一段位移或一段时间内运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动的快慢和方向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描述物体在某一位置或某一时刻运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动的快慢和方向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142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与对应时间内物体的位移方向相同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与物体所在位置的运动方向相同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558671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（1）在公式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中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→0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平均速度即瞬时速度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endParaRPr lang="en-US" altLang="zh-CN" sz="1200" spc="-100" dirty="0"/>
                        </a:p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2）在匀速直线运动中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各时刻的瞬时速度都相等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所以任意一段时间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内的平均速度等于任一时刻的瞬时速度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P_5_BD#af06df6f5?colgroup=4,16,15&amp;vcp=1&amp;pid=6b0fb1775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347469"/>
                  </p:ext>
                </p:extLst>
              </p:nvPr>
            </p:nvGraphicFramePr>
            <p:xfrm>
              <a:off x="393192" y="2070100"/>
              <a:ext cx="11356848" cy="4315968"/>
            </p:xfrm>
            <a:graphic>
              <a:graphicData uri="http://schemas.openxmlformats.org/drawingml/2006/table">
                <a:tbl>
                  <a:tblPr/>
                  <a:tblGrid>
                    <a:gridCol w="4754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932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8828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65201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瞬时速度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0336">
                    <a:tc rowSpan="3"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区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别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对应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与某一过程中的一段位移或一段时间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对应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与运动过程中的某一位置或某一时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刻对应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033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描述物体在一段位移或一段时间内运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动的快慢和方向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描述物体在某一位置或某一时刻运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动的快慢和方向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142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与对应时间内物体的位移方向相同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4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与物体所在位置的运动方向相同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558671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28" t="-178906" r="-122" b="-273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2_1#e1c176c6d?htil=2&amp;vcp=1&amp;pid=6b0fb1775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39528" y="1317846"/>
            <a:ext cx="1837944" cy="220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QC_5_BD.12_2#e1c176c6d?htil=2&amp;vcp=1&amp;pid=6b0fb1775&amp;color=0,0,0&amp;vtp=1&amp;bt=1&amp;bbb=1&amp;hb=1"/>
              <p:cNvSpPr/>
              <p:nvPr/>
            </p:nvSpPr>
            <p:spPr>
              <a:xfrm>
                <a:off x="393192" y="1272127"/>
                <a:ext cx="9427464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（交通安全）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如图所示为公路上的指示牌，圆牌上的数字为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100，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方牌上标有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“前方区间测速，长度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”.一辆汽车通过监测起点和终点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，通过测速区间的时间为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min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.下列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判断正确的是(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C_5_BD.12_2#e1c176c6d?htil=2&amp;vcp=1&amp;pid=6b0fb177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2127"/>
                <a:ext cx="9427464" cy="2150999"/>
              </a:xfrm>
              <a:prstGeom prst="rect">
                <a:avLst/>
              </a:prstGeom>
              <a:blipFill>
                <a:blip r:embed="rId4"/>
                <a:stretch>
                  <a:fillRect l="-2005" r="-3816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13_1#e1c176c6d.bracket?vcp=1&amp;pid=6b0fb1775&amp;color=0,0,0&amp;vpa=5&amp;vtp=1"/>
          <p:cNvSpPr/>
          <p:nvPr/>
        </p:nvSpPr>
        <p:spPr>
          <a:xfrm>
            <a:off x="2454561" y="293709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12_3#e1c176c6d.choices?htil=2&amp;vcp=1&amp;pid=6b0fb1775&amp;color=0,0,0&amp;vtp=1&amp;bbb=1"/>
              <p:cNvSpPr/>
              <p:nvPr/>
            </p:nvSpPr>
            <p:spPr>
              <a:xfrm>
                <a:off x="393192" y="3411822"/>
                <a:ext cx="942746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A.全长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属于位移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.该汽车通过测速区的平均速度大小是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132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.起点速度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属于瞬时速度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.该汽车在测速区间内没有超速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12_3#e1c176c6d.choices?htil=2&amp;vcp=1&amp;pid=6b0fb177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1822"/>
                <a:ext cx="9427464" cy="2155000"/>
              </a:xfrm>
              <a:prstGeom prst="rect">
                <a:avLst/>
              </a:prstGeom>
              <a:blipFill>
                <a:blip r:embed="rId5"/>
                <a:stretch>
                  <a:fillRect l="-2005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AS.14_1#e1c176c6d?vcp=1&amp;pid=6b0fb1775&amp;color=0,0,0&amp;vtp=1&amp;bt=1&amp;bbb=1&amp;hb=1"/>
              <p:cNvSpPr/>
              <p:nvPr/>
            </p:nvSpPr>
            <p:spPr>
              <a:xfrm>
                <a:off x="393192" y="2067370"/>
                <a:ext cx="11402568" cy="2751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全长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是区间测速路段的实际长度，全长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属于路程，故A错误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均速度是位移与时间的比值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，由于不知道汽车在该测速区间的位移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，所以无法计算平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，故B错误；起点速度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属于瞬时速度，故C正确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；该汽车在测速区间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内的平均速率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𝟔𝟔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𝐤𝐦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𝐡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𝟏𝟑𝟐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，测速区间的整段限速为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，所以该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汽车在测速区间内超速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，故D错误.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AS.14_1#e1c176c6d?vcp=1&amp;pid=6b0fb177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67370"/>
                <a:ext cx="11402568" cy="2751900"/>
              </a:xfrm>
              <a:prstGeom prst="rect">
                <a:avLst/>
              </a:prstGeom>
              <a:blipFill>
                <a:blip r:embed="rId3"/>
                <a:stretch>
                  <a:fillRect l="-1658" r="-1444" b="-663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15_1#dfd994bc4?vcp=1&amp;pid=6b0fb1775&amp;color=0,0,0&amp;vtp=1&amp;bt=1&amp;bbb=1&amp;hb=1"/>
              <p:cNvSpPr/>
              <p:nvPr/>
            </p:nvSpPr>
            <p:spPr>
              <a:xfrm>
                <a:off x="393192" y="504000"/>
                <a:ext cx="11402568" cy="15572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（体育竞技）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（2026·江西九江一中检测）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为提高运动员百米赛跑的成绩，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教练员分析了运动员跑百米全程的录像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，测得运动员在前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内跑了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末到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末跑了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0.92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，全程共用时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15_1#dfd994bc4?vcp=1&amp;pid=6b0fb177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1557274"/>
              </a:xfrm>
              <a:prstGeom prst="rect">
                <a:avLst/>
              </a:prstGeom>
              <a:blipFill>
                <a:blip r:embed="rId3"/>
                <a:stretch>
                  <a:fillRect l="-1658" t="-392" r="-107" b="-1176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6_1#dfd994bc4.bracket?vcp=1&amp;pid=6b0fb1775&amp;color=0,0,0&amp;vpa=6&amp;vtp=1"/>
          <p:cNvSpPr/>
          <p:nvPr/>
        </p:nvSpPr>
        <p:spPr>
          <a:xfrm>
            <a:off x="8207661" y="1580706"/>
            <a:ext cx="441325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5_BD.15_2#dfd994bc4.choices?vcp=1&amp;pid=6b0fb1775&amp;color=0,0,0&amp;vtp=1&amp;bbb=1"/>
              <p:cNvSpPr/>
              <p:nvPr/>
            </p:nvSpPr>
            <p:spPr>
              <a:xfrm>
                <a:off x="393192" y="2066226"/>
                <a:ext cx="11402568" cy="2116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A.运动员在百米赛跑全过程的平均速度大小是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.运动员在前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末的瞬时速度大小约为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.根据本题已知条件，无法估算运动员在第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末的瞬时速度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C_5_BD.15_2#dfd994bc4.choices?vcp=1&amp;pid=6b0fb177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66226"/>
                <a:ext cx="11402568" cy="2116900"/>
              </a:xfrm>
              <a:prstGeom prst="rect">
                <a:avLst/>
              </a:prstGeom>
              <a:blipFill>
                <a:blip r:embed="rId4"/>
                <a:stretch>
                  <a:fillRect l="-1658" b="-83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AS.17_1#dfd994bc4?vcp=1&amp;pid=6b0fb1775&amp;color=0,0,0&amp;vtp=1&amp;bbb=1&amp;hb=1"/>
              <p:cNvSpPr/>
              <p:nvPr/>
            </p:nvSpPr>
            <p:spPr>
              <a:xfrm>
                <a:off x="393192" y="4187126"/>
                <a:ext cx="11402568" cy="2078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运动员在百米赛跑全过程的平均速度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动员在前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，运动员在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较小，故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的瞬时速度近似等于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内的平均速度，D错误，C正确.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AS.17_1#dfd994bc4?vcp=1&amp;pid=6b0fb177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87126"/>
                <a:ext cx="11402568" cy="2078800"/>
              </a:xfrm>
              <a:prstGeom prst="rect">
                <a:avLst/>
              </a:prstGeom>
              <a:blipFill>
                <a:blip r:embed="rId5"/>
                <a:stretch>
                  <a:fillRect l="-1658" t="-587" r="-909" b="-850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0fc1e0ecb?vcp=1&amp;pid=6b0fb1775&amp;color=0,0,0&amp;vtp=1&amp;bt=1&amp;bbb=1&amp;hb=1"/>
          <p:cNvSpPr/>
          <p:nvPr/>
        </p:nvSpPr>
        <p:spPr>
          <a:xfrm>
            <a:off x="393192" y="683355"/>
            <a:ext cx="11402568" cy="550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用极限思想理解瞬时速度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为了精确地描述做变速直线运动的质点运动的快慢和方向，我们可采用无限取微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逐渐逼近的方法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，具体如下：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.从质点经过某点起在后面取一小段位移，求出质点在该段位移上的平均速度.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.从该点起所取的位移越小，质点在该段时间内的速度变化就越小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，即质点在该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段时间内的运动越趋于匀速直线运动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.当位移足够小（或时间足够短）时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，质点在这段时间内的运动可以认为是匀速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，求得的平均速度就等于质点通过该点时的速度，即瞬时速度.对变速直线运动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，各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点的瞬时速度是变化的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0fc1e0ecb?vcp=1&amp;pid=6b0fb1775&amp;color=0,0,0&amp;vtp=1&amp;bt=1&amp;bbb=1&amp;hb=1"/>
              <p:cNvSpPr/>
              <p:nvPr/>
            </p:nvSpPr>
            <p:spPr>
              <a:xfrm>
                <a:off x="393192" y="2185988"/>
                <a:ext cx="1140256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如图所示，当时间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足够小时，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时刻的瞬时速度等于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时间内的平均速度.即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刻的瞬时速度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0fc1e0ecb?vcp=1&amp;pid=6b0fb177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85988"/>
                <a:ext cx="11402568" cy="1117600"/>
              </a:xfrm>
              <a:prstGeom prst="rect">
                <a:avLst/>
              </a:prstGeom>
              <a:blipFill>
                <a:blip r:embed="rId3"/>
                <a:stretch>
                  <a:fillRect l="-1658" r="-909" b="-92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_5_BD#0fc1e0ecb?vcp=1&amp;pid=6b0fb177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37176" y="3442335"/>
            <a:ext cx="2514600" cy="44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P_5_BD#0fc1e0ecb?vcp=1&amp;pid=6b0fb1775&amp;color=0,0,0&amp;vtp=1&amp;bbb=1"/>
              <p:cNvSpPr/>
              <p:nvPr/>
            </p:nvSpPr>
            <p:spPr>
              <a:xfrm>
                <a:off x="393192" y="4026535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［注意］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所谓的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足够小就是根据具体的实际问题在要求的精度范围内即可.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P_5_BD#0fc1e0ecb?vcp=1&amp;pid=6b0fb177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26535"/>
                <a:ext cx="11402568" cy="484124"/>
              </a:xfrm>
              <a:prstGeom prst="rect">
                <a:avLst/>
              </a:prstGeom>
              <a:blipFill>
                <a:blip r:embed="rId5"/>
                <a:stretch>
                  <a:fillRect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f3b076dfc?vcp=1&amp;pid=043674d11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f3b076dfc?vcp=1&amp;pid=043674d11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p:sp>
        <p:nvSpPr>
          <p:cNvPr id="4" name="C_4_BD#f3b076dfc?vcp=1&amp;pid=043674d11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实验：测量纸带的平均速度和瞬时速度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pic>
        <p:nvPicPr>
          <p:cNvPr id="5" name="P_5_BD#a1e091604?htil=3&amp;vcp=1&amp;pid=f3b076dfc&amp;color=0,0,0&amp;tib=255,255,255&amp;vtp=1&amp;hs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49289" y="1079501"/>
            <a:ext cx="3576892" cy="102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6" name="P_5_BD#a1e091604?htil=3&amp;vcp=1&amp;pid=f3b076dfc&amp;color=0,0,0&amp;vtp=1&amp;bbb=1&amp;hb=1&amp;hs=1"/>
          <p:cNvSpPr/>
          <p:nvPr/>
        </p:nvSpPr>
        <p:spPr>
          <a:xfrm>
            <a:off x="393192" y="1092200"/>
            <a:ext cx="7616952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1.测量平均速度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_5_BD#a1e091604?htil=3&amp;vcp=1&amp;pid=f3b076dfc&amp;color=0,0,0&amp;vtp=1&amp;bbb=1&amp;hb=1&amp;hs=1">
                <a:extLst>
                  <a:ext uri="{FF2B5EF4-FFF2-40B4-BE49-F238E27FC236}">
                    <a16:creationId xmlns:a16="http://schemas.microsoft.com/office/drawing/2014/main" id="{9590196F-8CAE-6A15-AF76-1519B2E4A657}"/>
                  </a:ext>
                </a:extLst>
              </p:cNvPr>
              <p:cNvSpPr/>
              <p:nvPr/>
            </p:nvSpPr>
            <p:spPr>
              <a:xfrm>
                <a:off x="395996" y="2125599"/>
                <a:ext cx="1140000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</a:t>
                </a:r>
                <a:r>
                  <a:rPr lang="en-US" altLang="zh-CN" sz="2400" b="0" i="0" spc="-5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图所示是打点计时器打出的一条纸带.若想计算实验时运动的纸带在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5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 spc="-5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的平均速度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,只需测出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spc="-5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间的位移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和所用的时间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,就可以算出平均速度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spc="-5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spc="-50" dirty="0"/>
              </a:p>
            </p:txBody>
          </p:sp>
        </mc:Choice>
        <mc:Fallback xmlns="">
          <p:sp>
            <p:nvSpPr>
              <p:cNvPr id="7" name="P_5_BD#a1e091604?htil=3&amp;vcp=1&amp;pid=f3b076dfc&amp;color=0,0,0&amp;vtp=1&amp;bbb=1&amp;hb=1&amp;hs=1">
                <a:extLst>
                  <a:ext uri="{FF2B5EF4-FFF2-40B4-BE49-F238E27FC236}">
                    <a16:creationId xmlns:a16="http://schemas.microsoft.com/office/drawing/2014/main" id="{9590196F-8CAE-6A15-AF76-1519B2E4A6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125599"/>
                <a:ext cx="11400008" cy="1117600"/>
              </a:xfrm>
              <a:prstGeom prst="rect">
                <a:avLst/>
              </a:prstGeom>
              <a:blipFill>
                <a:blip r:embed="rId5"/>
                <a:stretch>
                  <a:fillRect l="-1658" r="-267" b="-92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a1e091604?vcp=1&amp;pid=f3b076dfc&amp;color=0,0,0&amp;vtp=1&amp;bt=1&amp;bbb=1&amp;hb=1"/>
              <p:cNvSpPr/>
              <p:nvPr/>
            </p:nvSpPr>
            <p:spPr>
              <a:xfrm>
                <a:off x="393192" y="1835912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2.测量瞬时速度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1）实验原理：如图所示，当要测量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点的瞬时速度时，以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线段所对应的时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间间隔为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点越近，算出的平均速度越接近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𝐸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点的瞬时速度.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a1e091604?vcp=1&amp;pid=f3b076df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35912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_5_BD#a1e091604?vcp=1&amp;pid=f3b076df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69464" y="3555492"/>
            <a:ext cx="7050024" cy="145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a1e091604?vcp=1&amp;pid=f3b076dfc&amp;color=0,0,0&amp;vtp=1&amp;bt=1&amp;bbb=1&amp;hb=1"/>
              <p:cNvSpPr/>
              <p:nvPr/>
            </p:nvSpPr>
            <p:spPr>
              <a:xfrm>
                <a:off x="393192" y="17869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（2）实验步骤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从纸带起始点0算起，后面每五个点取一个计数点.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测量各计数点到起始点0的距离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，记录在下面表格中.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计算两相邻计数点间的位移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，同时记录对应时间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④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算出的速度可以代表在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这一区间内任意一点的瞬时速度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.将算出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的各计数点的速度值记录在表格中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a1e091604?vcp=1&amp;pid=f3b076df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8698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642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B_5_BD.18_1#b8be922cd?htil=4&amp;vcp=1&amp;pid=f3b076dfc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4214" y="949674"/>
            <a:ext cx="2632957" cy="1557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QB_5_BD.18_2#b8be922cd?htil=4&amp;vcp=1&amp;pid=f3b076dfc&amp;color=0,0,0&amp;vtp=1&amp;bt=1&amp;bbb=1&amp;hb=1&amp;hs=1"/>
              <p:cNvSpPr/>
              <p:nvPr/>
            </p:nvSpPr>
            <p:spPr>
              <a:xfrm>
                <a:off x="393192" y="962374"/>
                <a:ext cx="8622792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考题4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，打点计时器所用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电源的频率为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Hz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，某次实验中得到一条纸带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，用毫米刻度尺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测出各点间的距离如图所示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.那么由此可以算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B_5_BD.18_2#b8be922cd?htil=4&amp;vcp=1&amp;pid=f3b076dfc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2374"/>
                <a:ext cx="8622792" cy="1592199"/>
              </a:xfrm>
              <a:prstGeom prst="rect">
                <a:avLst/>
              </a:prstGeom>
              <a:blipFill>
                <a:blip r:embed="rId4"/>
                <a:stretch>
                  <a:fillRect l="-2192" r="-1132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B_5_AN.19_1#b8be922cd.blank?vcp=1&amp;pid=f3b076dfc&amp;color=0,0,0&amp;vpa=7&amp;vtp=1&amp;bbb=1"/>
          <p:cNvSpPr/>
          <p:nvPr/>
        </p:nvSpPr>
        <p:spPr>
          <a:xfrm>
            <a:off x="5340254" y="2030443"/>
            <a:ext cx="7540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14.0</a:t>
            </a:r>
            <a:endParaRPr lang="en-US" altLang="zh-CN" sz="2400" dirty="0"/>
          </a:p>
        </p:txBody>
      </p:sp>
      <p:sp>
        <p:nvSpPr>
          <p:cNvPr id="5" name="QB_5_AN.20_1#b8be922cd.blank?vcp=1&amp;pid=f3b076dfc&amp;color=0,0,0&amp;vpa=8&amp;vtp=1&amp;bbb=1"/>
          <p:cNvSpPr/>
          <p:nvPr/>
        </p:nvSpPr>
        <p:spPr>
          <a:xfrm>
            <a:off x="4421981" y="2517743"/>
            <a:ext cx="754063" cy="49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0.35</a:t>
            </a:r>
            <a:endParaRPr lang="en-US" altLang="zh-CN" sz="2400" dirty="0"/>
          </a:p>
        </p:txBody>
      </p:sp>
      <p:sp>
        <p:nvSpPr>
          <p:cNvPr id="6" name="QB_5_AN.21_1#b8be922cd.blank?vcp=1&amp;pid=f3b076dfc&amp;color=0,0,0&amp;vpa=9&amp;vtp=1&amp;bbb=1"/>
          <p:cNvSpPr/>
          <p:nvPr/>
        </p:nvSpPr>
        <p:spPr>
          <a:xfrm>
            <a:off x="9793320" y="2517743"/>
            <a:ext cx="754063" cy="49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0.42</a:t>
            </a:r>
            <a:endParaRPr lang="en-US" altLang="zh-CN" sz="2400" dirty="0"/>
          </a:p>
        </p:txBody>
      </p:sp>
      <p:sp>
        <p:nvSpPr>
          <p:cNvPr id="7" name="QB_5_AN.22_1#b8be922cd.blank?vcp=1&amp;pid=f3b076dfc&amp;color=0,0,0&amp;vpa=10&amp;vtp=1&amp;bbb=1"/>
          <p:cNvSpPr/>
          <p:nvPr/>
        </p:nvSpPr>
        <p:spPr>
          <a:xfrm>
            <a:off x="3419760" y="3054952"/>
            <a:ext cx="7540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0.35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QB_5_AS.23_1#b8be922cd?vcp=1&amp;pid=f3b076dfc&amp;color=0,0,0&amp;vtp=1&amp;bbb=1&amp;hb=1"/>
              <p:cNvSpPr/>
              <p:nvPr/>
            </p:nvSpPr>
            <p:spPr>
              <a:xfrm>
                <a:off x="393192" y="3585813"/>
                <a:ext cx="11402568" cy="2332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𝑨𝑪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，可算得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间的平均速度为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𝑨𝑪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zh-CN" altLang="en-US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𝑨𝑫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间的平均速度为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𝑨𝑫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.对于描述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点的瞬时速度来说，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段所取的位移间隔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更小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，更能接近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点的真实速度，即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点的瞬时速度更接近于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8" name="QB_5_AS.23_1#b8be922cd?vcp=1&amp;pid=f3b076df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85813"/>
                <a:ext cx="11402568" cy="2332800"/>
              </a:xfrm>
              <a:prstGeom prst="rect">
                <a:avLst/>
              </a:prstGeom>
              <a:blipFill>
                <a:blip r:embed="rId5"/>
                <a:stretch>
                  <a:fillRect l="-1658" r="-1497" b="-783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QB_5_BD.18_2#b8be922cd?htil=4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C5A23D81-3C70-644F-BCCB-3D4BE8AF6725}"/>
                  </a:ext>
                </a:extLst>
              </p:cNvPr>
              <p:cNvSpPr/>
              <p:nvPr/>
            </p:nvSpPr>
            <p:spPr>
              <a:xfrm>
                <a:off x="393192" y="2545683"/>
                <a:ext cx="1140000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出纸带在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间的平均速度为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，纸带在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间的平均速度为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点的瞬时速度更接近于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（计算结果均保留两位小数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9" name="QB_5_BD.18_2#b8be922cd?htil=4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C5A23D81-3C70-644F-BCCB-3D4BE8AF67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45683"/>
                <a:ext cx="11400008" cy="1033399"/>
              </a:xfrm>
              <a:prstGeom prst="rect">
                <a:avLst/>
              </a:prstGeom>
              <a:blipFill>
                <a:blip r:embed="rId6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 animBg="1"/>
      <p:bldP spid="6" grpId="0" build="p" animBg="1"/>
      <p:bldP spid="7" grpId="0" build="p" animBg="1"/>
      <p:bldP spid="8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BD.24_1#16ba2d2a2?vcp=1&amp;pid=f3b076dfc&amp;color=0,0,0&amp;vtp=1&amp;bt=1&amp;bbb=1&amp;hb=1"/>
              <p:cNvSpPr/>
              <p:nvPr/>
            </p:nvSpPr>
            <p:spPr>
              <a:xfrm>
                <a:off x="393192" y="1172210"/>
                <a:ext cx="11402568" cy="27139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用气垫导轨和数字计时器能精确地测量物体的瞬时速度.如图所示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，滑块在钩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码的牵引作用下先后通过两个光电门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1、2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，配套的数字计时器记录了遮光条通过第一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个光电门的时间为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，通过第二个光电门的时间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=0.11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.已知遮光条的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宽度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分别求出滑块通过第一个光电门和第二个光电门的速度大小.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计算结果保留两位有效数字）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BD.24_1#16ba2d2a2?vcp=1&amp;pid=f3b076df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72210"/>
                <a:ext cx="11402568" cy="2713990"/>
              </a:xfrm>
              <a:prstGeom prst="rect">
                <a:avLst/>
              </a:prstGeom>
              <a:blipFill>
                <a:blip r:embed="rId3"/>
                <a:stretch>
                  <a:fillRect l="-1658" r="-802" b="-65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BD.24_2#16ba2d2a2?vcp=1&amp;pid=f3b076df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5072" y="3985006"/>
            <a:ext cx="4178808" cy="1700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AN.25_1#16ba2d2a2?vcp=1&amp;pid=f3b076dfc&amp;color=0,0,0&amp;vtp=1&amp;bt=1&amp;bbb=1&amp;hb=1"/>
              <p:cNvSpPr/>
              <p:nvPr/>
            </p:nvSpPr>
            <p:spPr>
              <a:xfrm>
                <a:off x="393192" y="1617028"/>
                <a:ext cx="11402568" cy="3632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由于滑块经过光电门时遮光条的挡光时间较短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，所以滑块经过光电门时的速度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近似等于遮光条遮光时间内的平均速度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滑块经过第一个光电门的速度大小</a:t>
                </a:r>
                <a:endParaRPr lang="en-US" altLang="zh-CN" sz="2400" dirty="0"/>
              </a:p>
              <a:p>
                <a:pPr latinLnBrk="1">
                  <a:lnSpc>
                    <a:spcPts val="5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𝟐𝟗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滑块经过第二个光电门的速度大小</a:t>
                </a:r>
                <a:endParaRPr lang="en-US" altLang="zh-CN" sz="2400" dirty="0"/>
              </a:p>
              <a:p>
                <a:pPr latinLnBrk="1">
                  <a:lnSpc>
                    <a:spcPts val="5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𝟏𝟏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AN.25_1#16ba2d2a2?vcp=1&amp;pid=f3b076df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17028"/>
                <a:ext cx="11402568" cy="3632200"/>
              </a:xfrm>
              <a:prstGeom prst="rect">
                <a:avLst/>
              </a:prstGeom>
              <a:blipFill>
                <a:blip r:embed="rId3"/>
                <a:stretch>
                  <a:fillRect l="-1658" r="-1016" b="-167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1e030ffc2?vcp=1&amp;pid=f3b076dfc&amp;color=0,0,0&amp;vtp=1&amp;bt=1&amp;bbb=1&amp;hb=1"/>
              <p:cNvSpPr/>
              <p:nvPr/>
            </p:nvSpPr>
            <p:spPr>
              <a:xfrm>
                <a:off x="393192" y="1512665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进行实验数据处理时的注意点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.单位的确定，应将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转化为国际单位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进行求解.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.相邻计数点间的时间间隔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的确定，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一般在纸带上每五个计时点取一个计数点，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=0.02×5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.结果是保留几位有效数字还是保留几位小数，若题目中没有明确说明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，一般保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留到小数点后两位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1e030ffc2?vcp=1&amp;pid=f3b076df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2665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r="-1551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&amp;si=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1e030ffc2?htil=5&amp;vcp=1&amp;pid=f3b076dfc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50394" y="952055"/>
            <a:ext cx="3493008" cy="804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P_5_BD#1e030ffc2?htil=5&amp;vcp=1&amp;pid=f3b076dfc&amp;color=0,0,0&amp;vtp=1&amp;bt=1&amp;bbb=1&amp;hb=1&amp;hs=1"/>
          <p:cNvSpPr/>
          <p:nvPr/>
        </p:nvSpPr>
        <p:spPr>
          <a:xfrm>
            <a:off x="393192" y="906335"/>
            <a:ext cx="7781544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实验方案拓展</a:t>
            </a:r>
            <a:endParaRPr lang="en-US" altLang="zh-CN" sz="2400" dirty="0"/>
          </a:p>
        </p:txBody>
      </p:sp>
      <p:sp>
        <p:nvSpPr>
          <p:cNvPr id="4" name="P_5_BD#1e030ffc2?vcp=1&amp;pid=f3b076dfc&amp;color=0,0,0&amp;vtp=1&amp;bbb=1&amp;hb=1"/>
          <p:cNvSpPr/>
          <p:nvPr/>
        </p:nvSpPr>
        <p:spPr>
          <a:xfrm>
            <a:off x="393192" y="4748657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1.工字钢底座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2.底座调节螺丝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3.定滑轮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4.光电门（连数字计时器）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5.气垫导轨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6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.遮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光条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7.滑块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8.缓冲弹簧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9.连气源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1e030ffc2?htil=5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EF4F7DE2-6989-5FB4-82B8-C9AFB49D268A}"/>
                  </a:ext>
                </a:extLst>
              </p:cNvPr>
              <p:cNvSpPr/>
              <p:nvPr/>
            </p:nvSpPr>
            <p:spPr>
              <a:xfrm>
                <a:off x="393192" y="1943926"/>
                <a:ext cx="11400008" cy="2794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.利用光电门测速度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，当滑块通过光电门时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，光电门的数字计时器记录了遮光条通过光电门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的遮光时间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，而遮光条的宽度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已知，且非常小，因此遮光时间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非常短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认为遮光条通过光电门的瞬时速度等于其通过光电门的平均速度，也等于滑块的瞬时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𝑑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1e030ffc2?htil=5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EF4F7DE2-6989-5FB4-82B8-C9AFB49D26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43926"/>
                <a:ext cx="11400008" cy="2794000"/>
              </a:xfrm>
              <a:prstGeom prst="rect">
                <a:avLst/>
              </a:prstGeom>
              <a:blipFill>
                <a:blip r:embed="rId4"/>
                <a:stretch>
                  <a:fillRect l="-1658" r="-535" b="-371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&amp;si=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1e030ffc2?htil=6&amp;vcp=1&amp;pid=f3b076dfc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27332" y="1730788"/>
            <a:ext cx="2313432" cy="188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_5_BD#1e030ffc2?htil=6&amp;vcp=1&amp;pid=f3b076dfc&amp;color=0,0,0&amp;vtp=1&amp;bt=1&amp;bbb=1&amp;hb=1&amp;hs=1"/>
              <p:cNvSpPr/>
              <p:nvPr/>
            </p:nvSpPr>
            <p:spPr>
              <a:xfrm>
                <a:off x="393192" y="1685067"/>
                <a:ext cx="8951976" cy="21551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2.利用频闪照相法测速度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在频闪照相中会用到频闪灯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，它每隔相等时间闪光一次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，例如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每隔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闪光一次，即每秒闪光10次.当物体运动时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，利用频闪灯照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明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，照相机可以拍摄出该物体每隔相等时间所到达的位置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，如下图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P_5_BD#1e030ffc2?htil=6&amp;vcp=1&amp;pid=f3b076dfc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85067"/>
                <a:ext cx="8951976" cy="2155190"/>
              </a:xfrm>
              <a:prstGeom prst="rect">
                <a:avLst/>
              </a:prstGeom>
              <a:blipFill>
                <a:blip r:embed="rId4"/>
                <a:stretch>
                  <a:fillRect l="-2112" r="-1567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_5_BD#1e030ffc2?htil=6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8862F90F-4E08-F3B6-5985-34A9FFC8335B}"/>
                  </a:ext>
                </a:extLst>
              </p:cNvPr>
              <p:cNvSpPr/>
              <p:nvPr/>
            </p:nvSpPr>
            <p:spPr>
              <a:xfrm>
                <a:off x="395996" y="3883184"/>
                <a:ext cx="1140000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.通过这种方法拍摄的照片称为频闪照片.根据拍摄的照片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，测量物体运动的位移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，再根据时间间隔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计算得到物体的速度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P_5_BD#1e030ffc2?htil=6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8862F90F-4E08-F3B6-5985-34A9FFC833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883184"/>
                <a:ext cx="11400008" cy="1117600"/>
              </a:xfrm>
              <a:prstGeom prst="rect">
                <a:avLst/>
              </a:prstGeom>
              <a:blipFill>
                <a:blip r:embed="rId5"/>
                <a:stretch>
                  <a:fillRect l="-1658" b="-98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&amp;si=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9431d32a3?vcp=1&amp;pid=043674d11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9431d32a3?vcp=1&amp;pid=043674d11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5</a:t>
            </a:r>
            <a:endParaRPr lang="en-US" altLang="zh-CN" sz="2800" dirty="0"/>
          </a:p>
        </p:txBody>
      </p:sp>
      <p:sp>
        <p:nvSpPr>
          <p:cNvPr id="4" name="C_4_BD#9431d32a3?vcp=1&amp;pid=043674d11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速度—时间图像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c347f6bbe?vcp=1&amp;pid=9431d32a3&amp;color=0,0,0&amp;vtp=1&amp;bbb=1"/>
              <p:cNvSpPr/>
              <p:nvPr/>
            </p:nvSpPr>
            <p:spPr>
              <a:xfrm>
                <a:off x="393192" y="1092200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图像的物理意义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反映物体运动的速度随时间变化的规律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c347f6bbe?vcp=1&amp;pid=9431d32a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1592199"/>
              </a:xfrm>
              <a:prstGeom prst="rect">
                <a:avLst/>
              </a:prstGeom>
              <a:blipFill>
                <a:blip r:embed="rId4"/>
                <a:stretch>
                  <a:fillRect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_5_BD#c347f6bbe?vcp=1&amp;pid=9431d32a3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65776" y="2806700"/>
            <a:ext cx="2057400" cy="202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&amp;si=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c347f6bbe?vcp=1&amp;pid=9431d32a3&amp;color=0,0,0&amp;vtp=1&amp;bt=1&amp;bbb=1&amp;hb=1"/>
              <p:cNvSpPr/>
              <p:nvPr/>
            </p:nvSpPr>
            <p:spPr>
              <a:xfrm>
                <a:off x="393192" y="691706"/>
                <a:ext cx="11402568" cy="5503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图像的应用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1）从图像能看出每一时刻对应的瞬时速度，瞬时速度为正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，说明物体沿选定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的正方向运动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，如图中的1、4、5图线；瞬时速度为负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，说明物体沿与选定的正方向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相反的方向运动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，如图中的2、3图线.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2）根据图线形状判断物体的运动性质：若图线平行于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，则表示物体做匀速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，如图中的1、2图线；若图线不平行于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轴，则表示物体做变速运动，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如图中的3、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4、5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图线，且倾斜程度越大，表示速度变化越快.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3）截距：纵轴截距表示初始时刻物体的瞬时速度；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横轴截距表示物体速度为0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4）图像交点：表示两物体的瞬时速度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相同.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c347f6bbe?vcp=1&amp;pid=9431d32a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91706"/>
                <a:ext cx="11402568" cy="5503799"/>
              </a:xfrm>
              <a:prstGeom prst="rect">
                <a:avLst/>
              </a:prstGeom>
              <a:blipFill>
                <a:blip r:embed="rId3"/>
                <a:stretch>
                  <a:fillRect l="-1658" r="-2995" b="-343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&amp;si=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26_1#fad00e9fd?vcp=1&amp;pid=9431d32a3&amp;color=0,0,0&amp;vtp=1&amp;bt=1&amp;bbb=1&amp;hb=1"/>
          <p:cNvSpPr/>
          <p:nvPr/>
        </p:nvSpPr>
        <p:spPr>
          <a:xfrm>
            <a:off x="393192" y="1545177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考题5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（2026·湖北襄阳四中检测）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）一可视为质点的物体沿东西方向的水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平线做直线运动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，取向东为正方向，其速度—时间图像如图所示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，下列说法正确的是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7_1#fad00e9fd.bracket?vcp=1&amp;pid=9431d32a3&amp;color=0,0,0&amp;vpa=11&amp;vtp=1&amp;bbb=1"/>
          <p:cNvSpPr/>
          <p:nvPr/>
        </p:nvSpPr>
        <p:spPr>
          <a:xfrm>
            <a:off x="676560" y="2651347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p:pic>
        <p:nvPicPr>
          <p:cNvPr id="4" name="QC_5_BD.26_2#fad00e9fd?htil=7&amp;vcp=1&amp;pid=9431d32a3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46995" y="3184492"/>
            <a:ext cx="3127248" cy="191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26_3#fad00e9fd.choices?htil=7&amp;vcp=1&amp;pid=9431d32a3&amp;color=0,0,0&amp;vtp=1&amp;bbb=1"/>
              <p:cNvSpPr/>
              <p:nvPr/>
            </p:nvSpPr>
            <p:spPr>
              <a:xfrm>
                <a:off x="393192" y="3138772"/>
                <a:ext cx="8138160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末，物体的速度大小为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，方向向西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2∼4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内，物体处于静止状态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6∼7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内，物体速度方向向西，做加速运动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10∼12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内，物体速度方向向东，做加速运动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26_3#fad00e9fd.choices?htil=7&amp;vcp=1&amp;pid=9431d32a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38772"/>
                <a:ext cx="8138160" cy="2155000"/>
              </a:xfrm>
              <a:prstGeom prst="rect">
                <a:avLst/>
              </a:prstGeom>
              <a:blipFill>
                <a:blip r:embed="rId4"/>
                <a:stretch>
                  <a:fillRect l="-2322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&amp;si=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AS.28_1#fad00e9fd?vcp=1&amp;pid=9431d32a3&amp;color=0,0,0&amp;vtp=1&amp;bt=1&amp;bbb=1&amp;hb=1"/>
              <p:cNvSpPr/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末，物体的速度为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方向向西，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选项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A正确；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内，物体做匀速直线运动，速度不为0，选项B错误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；向东为正方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内，物体的速度为负值，且绝对值在增大，可知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，物体速度方向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，做加速运动，选项C正确；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内，物体的速度为负值，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且绝对值在减小，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内，物体速度方向向西，做减速运动，选项D错误.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AS.28_1#fad00e9fd?vcp=1&amp;pid=9431d32a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3422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&amp;si=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29_1#821495581?vcp=1&amp;pid=9431d32a3&amp;color=0,0,0&amp;vtp=1&amp;bt=1&amp;bbb=1&amp;hb=1"/>
              <p:cNvSpPr/>
              <p:nvPr/>
            </p:nvSpPr>
            <p:spPr>
              <a:xfrm>
                <a:off x="393192" y="102625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变式5-1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（多选题）做直线运动的物体的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，下列判断正确的是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29_1#821495581?vcp=1&amp;pid=9431d32a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2625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30_1#821495581.bracket?vcp=1&amp;pid=9431d32a3&amp;color=0,0,0&amp;vpa=12&amp;vtp=1&amp;bbb=1"/>
          <p:cNvSpPr/>
          <p:nvPr/>
        </p:nvSpPr>
        <p:spPr>
          <a:xfrm>
            <a:off x="651160" y="1573625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p:pic>
        <p:nvPicPr>
          <p:cNvPr id="4" name="QC_5_BD.29_2#821495581?htil=8&amp;vcp=1&amp;pid=9431d32a3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67062" y="2117184"/>
            <a:ext cx="2441448" cy="1938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29_3#821495581.choices?htil=8&amp;vcp=1&amp;pid=9431d32a3&amp;color=0,0,0&amp;vtp=1&amp;bbb=1&amp;hs=1"/>
              <p:cNvSpPr/>
              <p:nvPr/>
            </p:nvSpPr>
            <p:spPr>
              <a:xfrm>
                <a:off x="393192" y="2071465"/>
                <a:ext cx="8823960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末改变运动方向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内运动方向不变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末运动方向改变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29_3#821495581.choices?htil=8&amp;vcp=1&amp;pid=9431d32a3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71465"/>
                <a:ext cx="8823960" cy="2158302"/>
              </a:xfrm>
              <a:prstGeom prst="rect">
                <a:avLst/>
              </a:prstGeom>
              <a:blipFill>
                <a:blip r:embed="rId5"/>
                <a:stretch>
                  <a:fillRect l="-2142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QC_5_AS.31_1#821495581?vcp=1&amp;pid=9431d32a3&amp;color=0,0,0&amp;vtp=1&amp;bbb=1&amp;hb=1&amp;hs=1"/>
              <p:cNvSpPr/>
              <p:nvPr/>
            </p:nvSpPr>
            <p:spPr>
              <a:xfrm>
                <a:off x="393192" y="4205064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内物体的速度方向均为正方向，运动方向没有改变，选项A错误，B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由题图可知物体在第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末后速度为负，说明物体改变了运动方向，选项C正确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；从题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图中可以看出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，物体在第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，选项D正确.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QC_5_AS.31_1#821495581?vcp=1&amp;pid=9431d32a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05064"/>
                <a:ext cx="11402568" cy="1596200"/>
              </a:xfrm>
              <a:prstGeom prst="rect">
                <a:avLst/>
              </a:prstGeom>
              <a:blipFill>
                <a:blip r:embed="rId6"/>
                <a:stretch>
                  <a:fillRect l="-1658" r="-2888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&amp;si=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f49838d58?vcp=1&amp;pid=9431d32a3&amp;color=0,0,0&amp;vtp=1&amp;bt=1&amp;bbb=1&amp;hb=1"/>
              <p:cNvSpPr/>
              <p:nvPr/>
            </p:nvSpPr>
            <p:spPr>
              <a:xfrm>
                <a:off x="393192" y="715867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.确定坐标系横轴、纵轴的单位长度时，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要根据数据的最大值及最小值合理选取，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图像能充满坐标系大部分空间.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.在坐标中根据测量的实验数据描点.如果有些点难以落在曲线上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，应该使它们大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致均匀地分布在曲线两侧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f49838d58?vcp=1&amp;pid=9431d32a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15867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2567" b="-65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_5_BD#f49838d58?htil=9&amp;vcp=1&amp;pid=9431d32a3&amp;color=0,0,0&amp;tib=255,255,255&amp;vtp=1&amp;hs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73337" y="3515136"/>
            <a:ext cx="2194560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P_5_BD#f49838d58?htil=9&amp;vcp=1&amp;pid=9431d32a3&amp;color=0,0,0&amp;vtp=1&amp;bbb=1&amp;hb=1&amp;hs=1"/>
              <p:cNvSpPr/>
              <p:nvPr/>
            </p:nvSpPr>
            <p:spPr>
              <a:xfrm>
                <a:off x="393192" y="3460273"/>
                <a:ext cx="907084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拓展延伸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图像求位移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物体在某段时间内的位移可以用其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图线与时间轴所夹的面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P_5_BD#f49838d58?htil=9&amp;vcp=1&amp;pid=9431d32a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60273"/>
                <a:ext cx="9070848" cy="1592199"/>
              </a:xfrm>
              <a:prstGeom prst="rect">
                <a:avLst/>
              </a:prstGeom>
              <a:blipFill>
                <a:blip r:embed="rId5"/>
                <a:stretch>
                  <a:fillRect l="-2083" r="-739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f49838d58?htil=9&amp;vcp=1&amp;pid=9431d32a3&amp;color=0,0,0&amp;vtp=1&amp;bbb=1&amp;hb=1&amp;hs=1">
                <a:extLst>
                  <a:ext uri="{FF2B5EF4-FFF2-40B4-BE49-F238E27FC236}">
                    <a16:creationId xmlns:a16="http://schemas.microsoft.com/office/drawing/2014/main" id="{750902D2-FCF8-AFDB-5D4A-6CBEB19412AA}"/>
                  </a:ext>
                </a:extLst>
              </p:cNvPr>
              <p:cNvSpPr/>
              <p:nvPr/>
            </p:nvSpPr>
            <p:spPr>
              <a:xfrm>
                <a:off x="393192" y="5052663"/>
                <a:ext cx="1140000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积来表示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（如图中阴影所示）,若包围面积在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轴上面,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对应正向位移；若包围面积在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,则对应负向位移（第二章会再学习）.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f49838d58?htil=9&amp;vcp=1&amp;pid=9431d32a3&amp;color=0,0,0&amp;vtp=1&amp;bbb=1&amp;hb=1&amp;hs=1">
                <a:extLst>
                  <a:ext uri="{FF2B5EF4-FFF2-40B4-BE49-F238E27FC236}">
                    <a16:creationId xmlns:a16="http://schemas.microsoft.com/office/drawing/2014/main" id="{750902D2-FCF8-AFDB-5D4A-6CBEB19412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52663"/>
                <a:ext cx="11400008" cy="1037400"/>
              </a:xfrm>
              <a:prstGeom prst="rect">
                <a:avLst/>
              </a:prstGeom>
              <a:blipFill>
                <a:blip r:embed="rId6"/>
                <a:stretch>
                  <a:fillRect l="-1658" r="-1497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&amp;si=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f49838d58?vcp=1&amp;pid=9431d32a3&amp;color=0,0,0&amp;vtp=1&amp;bt=1&amp;bbb=1"/>
              <p:cNvSpPr/>
              <p:nvPr/>
            </p:nvSpPr>
            <p:spPr>
              <a:xfrm>
                <a:off x="393192" y="2063305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图像只能用来描述直线运动.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图像描述的是速度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的变化情况，而不是物体的运动轨迹.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.图线上某点切线的斜率大小表示物体加速度（下一讲将学到）大小.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.图线上某点切线斜率的正负表示物体加速度的方向.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f49838d58?vcp=1&amp;pid=9431d32a3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63305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&amp;si=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2123</Words>
  <Application>Microsoft Office PowerPoint</Application>
  <PresentationFormat>宽屏</PresentationFormat>
  <Paragraphs>334</Paragraphs>
  <Slides>39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7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3</cp:revision>
  <dcterms:created xsi:type="dcterms:W3CDTF">2026-05-25T08:14:09Z</dcterms:created>
  <dcterms:modified xsi:type="dcterms:W3CDTF">2026-05-25T08:39:11Z</dcterms:modified>
  <cp:category/>
  <cp:contentStatus/>
</cp:coreProperties>
</file>