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5611"/>
    <p:restoredTop sz="94610"/>
  </p:normalViewPr>
  <p:slideViewPr>
    <p:cSldViewPr snapToGrid="0" snapToObjects="1">
      <p:cViewPr varScale="1">
        <p:scale>
          <a:sx n="114" d="100"/>
          <a:sy n="114" d="100"/>
        </p:scale>
        <p:origin x="234" y="108"/>
      </p:cViewPr>
      <p:guideLst/>
    </p:cSldViewPr>
  </p:slideViewPr>
  <p:notesTextViewPr>
    <p:cViewPr>
      <p:scale>
        <a:sx n="1" d="1"/>
        <a:sy n="1" d="1"/>
      </p:scale>
      <p:origin x="0" y="0"/>
    </p:cViewPr>
  </p:notesTextViewPr>
  <p:sorterViewPr>
    <p:cViewPr>
      <p:scale>
        <a:sx n="170" d="100"/>
        <a:sy n="170" d="100"/>
      </p:scale>
      <p:origin x="0" y="-861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022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xin?subject=physics#pid=6a0d1e829b2d2ba91f04ee84#tid=6a13c062736a60ac3496b20e#sourcefrom=">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1261872" y="1078992"/>
            <a:ext cx="7196328" cy="1581912"/>
          </a:xfrm>
          <a:prstGeom prst="rect">
            <a:avLst/>
          </a:prstGeom>
          <a:noFill/>
          <a:ln/>
        </p:spPr>
        <p:txBody>
          <a:bodyPr wrap="square" lIns="0" tIns="0" rIns="0" bIns="0" rtlCol="0" anchor="ctr"/>
          <a:lstStyle/>
          <a:p>
            <a:pPr algn="ctr">
              <a:lnSpc>
                <a:spcPct val="100000"/>
              </a:lnSpc>
            </a:pPr>
            <a:r>
              <a:rPr lang="en-US" sz="8800" b="1" i="0" dirty="0">
                <a:solidFill>
                  <a:srgbClr val="000000"/>
                </a:solidFill>
                <a:latin typeface="Times New Roman" pitchFamily="34" charset="0"/>
                <a:ea typeface="微软雅黑" pitchFamily="34" charset="-122"/>
                <a:cs typeface="Times New Roman" pitchFamily="34" charset="-120"/>
              </a:rPr>
              <a:t>考点同步解读</a:t>
            </a:r>
            <a:endParaRPr lang="en-US" sz="8800" dirty="0"/>
          </a:p>
        </p:txBody>
      </p:sp>
      <p:sp>
        <p:nvSpPr>
          <p:cNvPr id="4" name="MasterShapeName"/>
          <p:cNvSpPr/>
          <p:nvPr/>
        </p:nvSpPr>
        <p:spPr>
          <a:xfrm>
            <a:off x="1581912" y="2770632"/>
            <a:ext cx="6839712" cy="502920"/>
          </a:xfrm>
          <a:prstGeom prst="rect">
            <a:avLst/>
          </a:prstGeom>
          <a:noFill/>
          <a:ln/>
        </p:spPr>
        <p:txBody>
          <a:bodyPr wrap="square" lIns="0" tIns="0" rIns="0" bIns="0" rtlCol="0" anchor="ctr"/>
          <a:lstStyle/>
          <a:p>
            <a:pPr algn="l">
              <a:lnSpc>
                <a:spcPct val="100000"/>
              </a:lnSpc>
            </a:pPr>
            <a:r>
              <a:rPr lang="en-US" sz="3400" b="1" i="0" dirty="0">
                <a:solidFill>
                  <a:srgbClr val="FFFFFF"/>
                </a:solidFill>
                <a:latin typeface="Times New Roman" pitchFamily="34" charset="0"/>
                <a:ea typeface="微软雅黑" pitchFamily="34" charset="-122"/>
                <a:cs typeface="Times New Roman" pitchFamily="34" charset="-120"/>
              </a:rPr>
              <a:t>高中物理 必修 第一册 RJ</a:t>
            </a: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标题">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36576"/>
            <a:ext cx="1911096" cy="502920"/>
          </a:xfrm>
          <a:prstGeom prst="rect">
            <a:avLst/>
          </a:prstGeom>
          <a:noFill/>
          <a:ln/>
        </p:spPr>
        <p:txBody>
          <a:bodyPr wrap="square" lIns="0" tIns="0" rIns="0" bIns="0" rtlCol="0" anchor="ctr"/>
          <a:lstStyle/>
          <a:p>
            <a:pPr algn="l">
              <a:lnSpc>
                <a:spcPct val="100000"/>
              </a:lnSpc>
            </a:pPr>
            <a:r>
              <a:rPr lang="en-US" sz="2400" b="1" i="0" dirty="0">
                <a:solidFill>
                  <a:srgbClr val="FFFFFF"/>
                </a:solidFill>
                <a:latin typeface="Times New Roman" pitchFamily="34" charset="0"/>
                <a:ea typeface="微软雅黑" pitchFamily="34" charset="-122"/>
                <a:cs typeface="Times New Roman" pitchFamily="34" charset="-120"/>
              </a:rPr>
              <a:t>考点同步解读</a:t>
            </a:r>
            <a:endParaRPr lang="en-US" sz="2400" dirty="0"/>
          </a:p>
        </p:txBody>
      </p:sp>
      <p:sp>
        <p:nvSpPr>
          <p:cNvPr id="4" name="MasterShapeName"/>
          <p:cNvSpPr/>
          <p:nvPr/>
        </p:nvSpPr>
        <p:spPr>
          <a:xfrm>
            <a:off x="2340864" y="146304"/>
            <a:ext cx="3602736" cy="356616"/>
          </a:xfrm>
          <a:prstGeom prst="rect">
            <a:avLst/>
          </a:prstGeom>
          <a:noFill/>
          <a:ln/>
        </p:spPr>
        <p:txBody>
          <a:bodyPr wrap="square" lIns="0" tIns="0" rIns="0" bIns="0" rtlCol="0" anchor="ctr"/>
          <a:lstStyle/>
          <a:p>
            <a:pPr algn="l">
              <a:lnSpc>
                <a:spcPct val="100000"/>
              </a:lnSpc>
            </a:pPr>
            <a:r>
              <a:rPr lang="en-US" sz="1600" b="1" i="0" dirty="0">
                <a:solidFill>
                  <a:srgbClr val="FFFFFF"/>
                </a:solidFill>
                <a:latin typeface="Times New Roman" pitchFamily="34" charset="0"/>
                <a:ea typeface="微软雅黑" pitchFamily="34" charset="-122"/>
                <a:cs typeface="Times New Roman" pitchFamily="34" charset="-120"/>
              </a:rPr>
              <a:t>高中物理 必修 第一册 RJ</a:t>
            </a:r>
            <a:endParaRPr lang="en-US" sz="1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目录">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pic>
        <p:nvPicPr>
          <p:cNvPr id="3" name="MasterShapeName?linknodeid=back_to_first_catalog" descr="preencoded.png">
            <a:hlinkClick r:id="rId3" action="ppaction://hlinksldjump"/>
          </p:cNvPr>
          <p:cNvPicPr>
            <a:picLocks noChangeAspect="1"/>
          </p:cNvPicPr>
          <p:nvPr/>
        </p:nvPicPr>
        <p:blipFill>
          <a:blip r:embed="rId4"/>
          <a:stretch>
            <a:fillRect/>
          </a:stretch>
        </p:blipFill>
        <p:spPr>
          <a:xfrm>
            <a:off x="11750040" y="6409944"/>
            <a:ext cx="448056" cy="448056"/>
          </a:xfrm>
          <a:prstGeom prst="rect">
            <a:avLst/>
          </a:prstGeom>
        </p:spPr>
      </p:pic>
      <p:sp>
        <p:nvSpPr>
          <p:cNvPr id="4"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5" name="MasterShapeName"/>
          <p:cNvSpPr/>
          <p:nvPr/>
        </p:nvSpPr>
        <p:spPr>
          <a:xfrm>
            <a:off x="5760720" y="54864"/>
            <a:ext cx="6117336" cy="356616"/>
          </a:xfrm>
          <a:prstGeom prst="rect">
            <a:avLst/>
          </a:prstGeom>
          <a:noFill/>
          <a:ln/>
        </p:spPr>
        <p:txBody>
          <a:bodyPr/>
          <a:lstStyle/>
          <a:p>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ackCover">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内容#df=45ab29fa0">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pic>
        <p:nvPicPr>
          <p:cNvPr id="3" name="MasterShapeName?linknodeid=back_to_first_catalog" descr="preencoded.png">
            <a:hlinkClick r:id="rId3" action="ppaction://hlinksldjump"/>
          </p:cNvPr>
          <p:cNvPicPr>
            <a:picLocks noChangeAspect="1"/>
          </p:cNvPicPr>
          <p:nvPr/>
        </p:nvPicPr>
        <p:blipFill>
          <a:blip r:embed="rId4"/>
          <a:stretch>
            <a:fillRect/>
          </a:stretch>
        </p:blipFill>
        <p:spPr>
          <a:xfrm>
            <a:off x="11750040" y="6409944"/>
            <a:ext cx="448056" cy="448056"/>
          </a:xfrm>
          <a:prstGeom prst="rect">
            <a:avLst/>
          </a:prstGeom>
        </p:spPr>
      </p:pic>
      <p:sp>
        <p:nvSpPr>
          <p:cNvPr id="4"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5" name="MasterShapeName"/>
          <p:cNvSpPr/>
          <p:nvPr/>
        </p:nvSpPr>
        <p:spPr>
          <a:xfrm>
            <a:off x="5760720" y="54864"/>
            <a:ext cx="6117336" cy="356616"/>
          </a:xfrm>
          <a:prstGeom prst="rect">
            <a:avLst/>
          </a:prstGeom>
          <a:noFill/>
          <a:ln/>
        </p:spPr>
        <p:txBody>
          <a:bodyPr wrap="square" lIns="0" tIns="0" rIns="0" bIns="0" rtlCol="0" anchor="ctr"/>
          <a:lstStyle/>
          <a:p>
            <a:pPr algn="r">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第1讲 质点 参考系</a:t>
            </a: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slide" Target="slide5.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amp;si=1">
    <p:spTree>
      <p:nvGrpSpPr>
        <p:cNvPr id="1" name=""/>
        <p:cNvGrpSpPr/>
        <p:nvPr/>
      </p:nvGrpSpPr>
      <p:grpSpPr>
        <a:xfrm>
          <a:off x="0" y="0"/>
          <a:ext cx="0" cy="0"/>
          <a:chOff x="0" y="0"/>
          <a:chExt cx="0" cy="0"/>
        </a:xfrm>
      </p:grpSpPr>
    </p:spTree>
  </p:cSld>
  <p:clrMapOvr>
    <a:masterClrMapping/>
  </p:clrMapOvr>
  <p:transition>
    <p:split dir="in"/>
  </p:transition>
</p:sld>
</file>

<file path=ppt/slides/slide2.xml><?xml version="1.0" encoding="utf-8"?>
<p:sld xmlns:a="http://schemas.openxmlformats.org/drawingml/2006/main" xmlns:r="http://schemas.openxmlformats.org/officeDocument/2006/relationships" xmlns:p="http://schemas.openxmlformats.org/presentationml/2006/main">
  <p:cSld name="Slide 2&amp;si=2">
    <p:spTree>
      <p:nvGrpSpPr>
        <p:cNvPr id="1" name=""/>
        <p:cNvGrpSpPr/>
        <p:nvPr/>
      </p:nvGrpSpPr>
      <p:grpSpPr>
        <a:xfrm>
          <a:off x="0" y="0"/>
          <a:ext cx="0" cy="0"/>
          <a:chOff x="0" y="0"/>
          <a:chExt cx="0" cy="0"/>
        </a:xfrm>
      </p:grpSpPr>
      <p:sp>
        <p:nvSpPr>
          <p:cNvPr id="2" name="C_2#45ab29fa0.fixed?vcp=1&amp;pid=dbb013986&amp;color=0,112,192&amp;bbb=1"/>
          <p:cNvSpPr/>
          <p:nvPr/>
        </p:nvSpPr>
        <p:spPr>
          <a:xfrm>
            <a:off x="0" y="2157984"/>
            <a:ext cx="12188952" cy="795528"/>
          </a:xfrm>
          <a:prstGeom prst="rect">
            <a:avLst/>
          </a:prstGeom>
          <a:noFill/>
          <a:ln/>
        </p:spPr>
        <p:txBody>
          <a:bodyPr wrap="none" lIns="0" tIns="0" rIns="0" bIns="0" rtlCol="0" anchor="ctr"/>
          <a:lstStyle/>
          <a:p>
            <a:pPr algn="ctr" latinLnBrk="1">
              <a:lnSpc>
                <a:spcPts val="6000"/>
              </a:lnSpc>
            </a:pPr>
            <a:r>
              <a:rPr lang="en-US" altLang="zh-CN" sz="4800" b="1" i="0" dirty="0">
                <a:solidFill>
                  <a:srgbClr val="0070C0"/>
                </a:solidFill>
                <a:latin typeface="微软雅黑" pitchFamily="34" charset="0"/>
                <a:ea typeface="微软雅黑" pitchFamily="34" charset="-122"/>
                <a:cs typeface="微软雅黑" pitchFamily="34" charset="-120"/>
              </a:rPr>
              <a:t>第一章</a:t>
            </a:r>
            <a:r>
              <a:rPr lang="en-US" altLang="zh-CN" sz="4800" b="1" i="0" dirty="0">
                <a:solidFill>
                  <a:srgbClr val="0070C0"/>
                </a:solidFill>
                <a:latin typeface="SimSun" pitchFamily="34" charset="0"/>
                <a:ea typeface="SimSun" pitchFamily="34" charset="-122"/>
                <a:cs typeface="SimSun" pitchFamily="34" charset="-120"/>
              </a:rPr>
              <a:t> </a:t>
            </a:r>
            <a:r>
              <a:rPr lang="en-US" altLang="zh-CN" sz="4800" b="1" i="0" dirty="0">
                <a:solidFill>
                  <a:srgbClr val="0070C0"/>
                </a:solidFill>
                <a:latin typeface="微软雅黑" pitchFamily="34" charset="0"/>
                <a:ea typeface="微软雅黑" pitchFamily="34" charset="-122"/>
                <a:cs typeface="微软雅黑" pitchFamily="34" charset="-120"/>
              </a:rPr>
              <a:t>运动的描述</a:t>
            </a:r>
            <a:endParaRPr lang="en-US" altLang="zh-CN" sz="4800" dirty="0"/>
          </a:p>
        </p:txBody>
      </p:sp>
      <p:sp>
        <p:nvSpPr>
          <p:cNvPr id="3" name="C_2_BD#45ab29fa0.fixed?vcp=1&amp;pid=dbb013986&amp;color=0,0,0&amp;bbb=1"/>
          <p:cNvSpPr/>
          <p:nvPr/>
        </p:nvSpPr>
        <p:spPr>
          <a:xfrm>
            <a:off x="265176" y="3602736"/>
            <a:ext cx="11521440" cy="1281176"/>
          </a:xfrm>
          <a:prstGeom prst="rect">
            <a:avLst/>
          </a:prstGeom>
          <a:noFill/>
          <a:ln/>
        </p:spPr>
        <p:txBody>
          <a:bodyPr wrap="none" lIns="0" tIns="0" rIns="0" bIns="0" rtlCol="0" anchor="t"/>
          <a:lstStyle/>
          <a:p>
            <a:pPr algn="ctr" latinLnBrk="1">
              <a:lnSpc>
                <a:spcPts val="5400"/>
              </a:lnSpc>
            </a:pPr>
            <a:r>
              <a:rPr lang="en-US" altLang="zh-CN" sz="4400" b="1" i="0" dirty="0">
                <a:solidFill>
                  <a:srgbClr val="000000"/>
                </a:solidFill>
                <a:latin typeface="微软雅黑" pitchFamily="34" charset="0"/>
                <a:ea typeface="微软雅黑" pitchFamily="34" charset="-122"/>
                <a:cs typeface="微软雅黑" pitchFamily="34" charset="-120"/>
              </a:rPr>
              <a:t>第1讲</a:t>
            </a:r>
            <a:r>
              <a:rPr lang="en-US" altLang="zh-CN" sz="4400" b="1" i="0" dirty="0">
                <a:solidFill>
                  <a:srgbClr val="000000"/>
                </a:solidFill>
                <a:latin typeface="SimSun" pitchFamily="34" charset="0"/>
                <a:ea typeface="SimSun" pitchFamily="34" charset="-122"/>
                <a:cs typeface="SimSun" pitchFamily="34" charset="-120"/>
              </a:rPr>
              <a:t> </a:t>
            </a:r>
            <a:r>
              <a:rPr lang="en-US" altLang="zh-CN" sz="4400" b="1" i="0" dirty="0">
                <a:solidFill>
                  <a:srgbClr val="000000"/>
                </a:solidFill>
                <a:latin typeface="微软雅黑" pitchFamily="34" charset="0"/>
                <a:ea typeface="微软雅黑" pitchFamily="34" charset="-122"/>
                <a:cs typeface="微软雅黑" pitchFamily="34" charset="-120"/>
              </a:rPr>
              <a:t>质点</a:t>
            </a:r>
            <a:r>
              <a:rPr lang="en-US" altLang="zh-CN" sz="4400" b="1" i="0" dirty="0">
                <a:solidFill>
                  <a:srgbClr val="000000"/>
                </a:solidFill>
                <a:latin typeface="SimSun" pitchFamily="34" charset="0"/>
                <a:ea typeface="SimSun" pitchFamily="34" charset="-122"/>
                <a:cs typeface="SimSun" pitchFamily="34" charset="-120"/>
              </a:rPr>
              <a:t> </a:t>
            </a:r>
            <a:r>
              <a:rPr lang="en-US" altLang="zh-CN" sz="4400" b="1" i="0" dirty="0">
                <a:solidFill>
                  <a:srgbClr val="000000"/>
                </a:solidFill>
                <a:latin typeface="微软雅黑" pitchFamily="34" charset="0"/>
                <a:ea typeface="微软雅黑" pitchFamily="34" charset="-122"/>
                <a:cs typeface="微软雅黑" pitchFamily="34" charset="-120"/>
              </a:rPr>
              <a:t>参考系</a:t>
            </a:r>
            <a:endParaRPr lang="en-US" altLang="zh-CN" sz="4400" dirty="0"/>
          </a:p>
        </p:txBody>
      </p:sp>
    </p:spTree>
  </p:cSld>
  <p:clrMapOvr>
    <a:masterClrMapping/>
  </p:clrMapOvr>
  <p:transition>
    <p:split dir="in"/>
  </p:transition>
</p:sld>
</file>

<file path=ppt/slides/slide3.xml><?xml version="1.0" encoding="utf-8"?>
<p:sld xmlns:a="http://schemas.openxmlformats.org/drawingml/2006/main" xmlns:r="http://schemas.openxmlformats.org/officeDocument/2006/relationships" xmlns:p="http://schemas.openxmlformats.org/presentationml/2006/main">
  <p:cSld name="Slide 3&amp;si=3">
    <p:spTree>
      <p:nvGrpSpPr>
        <p:cNvPr id="1" name=""/>
        <p:cNvGrpSpPr/>
        <p:nvPr/>
      </p:nvGrpSpPr>
      <p:grpSpPr>
        <a:xfrm>
          <a:off x="0" y="0"/>
          <a:ext cx="0" cy="0"/>
          <a:chOff x="0" y="0"/>
          <a:chExt cx="0" cy="0"/>
        </a:xfrm>
      </p:grpSpPr>
      <p:sp>
        <p:nvSpPr>
          <p:cNvPr id="2" name="C_1#目录1:45ab29fa0?lid=663ccdd9c&amp;cid=663ccdd9c&amp;bt=1&amp;bbb=1">
            <a:hlinkClick r:id="rId3" action="ppaction://hlinksldjump"/>
          </p:cNvPr>
          <p:cNvSpPr/>
          <p:nvPr/>
        </p:nvSpPr>
        <p:spPr>
          <a:xfrm>
            <a:off x="5577840" y="2587752"/>
            <a:ext cx="6117336" cy="649224"/>
          </a:xfrm>
          <a:prstGeom prst="rect">
            <a:avLst/>
          </a:prstGeom>
          <a:noFill/>
          <a:ln/>
        </p:spPr>
        <p:txBody>
          <a:bodyPr wrap="none" lIns="0" tIns="0" rIns="0" bIns="0" rtlCol="0" anchor="ctr"/>
          <a:lstStyle/>
          <a:p>
            <a:pPr algn="l" latinLnBrk="1">
              <a:lnSpc>
                <a:spcPts val="4000"/>
              </a:lnSpc>
            </a:pPr>
            <a:r>
              <a:rPr lang="en-US" altLang="zh-CN" sz="3200" b="1" i="0" dirty="0">
                <a:solidFill>
                  <a:srgbClr val="000000"/>
                </a:solidFill>
                <a:latin typeface="微软雅黑" pitchFamily="34" charset="0"/>
                <a:ea typeface="微软雅黑" pitchFamily="34" charset="-122"/>
                <a:cs typeface="微软雅黑" pitchFamily="34" charset="-120"/>
              </a:rPr>
              <a:t>高考要求</a:t>
            </a:r>
            <a:r>
              <a:rPr lang="en-US" altLang="zh-CN" sz="3200" b="1" i="0" dirty="0">
                <a:solidFill>
                  <a:srgbClr val="000000"/>
                </a:solidFill>
                <a:latin typeface="SimSun" pitchFamily="34" charset="0"/>
                <a:ea typeface="SimSun" pitchFamily="34" charset="-122"/>
                <a:cs typeface="SimSun" pitchFamily="34" charset="-120"/>
              </a:rPr>
              <a:t> </a:t>
            </a:r>
            <a:r>
              <a:rPr lang="en-US" altLang="zh-CN" sz="3200" b="1" i="0" dirty="0">
                <a:solidFill>
                  <a:srgbClr val="000000"/>
                </a:solidFill>
                <a:latin typeface="微软雅黑" pitchFamily="34" charset="0"/>
                <a:ea typeface="微软雅黑" pitchFamily="34" charset="-122"/>
                <a:cs typeface="微软雅黑" pitchFamily="34" charset="-120"/>
              </a:rPr>
              <a:t>学业标准·考情分析</a:t>
            </a:r>
            <a:endParaRPr lang="en-US" altLang="zh-CN" sz="3200" dirty="0"/>
          </a:p>
        </p:txBody>
      </p:sp>
      <p:sp>
        <p:nvSpPr>
          <p:cNvPr id="3" name="C_1#目录1:45ab29fa0?lid=6b33c3c25&amp;cid=6b33c3c25&amp;bbb=1">
            <a:hlinkClick r:id="rId4" action="ppaction://hlinksldjump"/>
          </p:cNvPr>
          <p:cNvSpPr/>
          <p:nvPr/>
        </p:nvSpPr>
        <p:spPr>
          <a:xfrm>
            <a:off x="5577840" y="3419856"/>
            <a:ext cx="6117336" cy="649224"/>
          </a:xfrm>
          <a:prstGeom prst="rect">
            <a:avLst/>
          </a:prstGeom>
          <a:noFill/>
          <a:ln/>
        </p:spPr>
        <p:txBody>
          <a:bodyPr wrap="none" lIns="0" tIns="0" rIns="0" bIns="0" rtlCol="0" anchor="ctr"/>
          <a:lstStyle/>
          <a:p>
            <a:pPr algn="l" latinLnBrk="1">
              <a:lnSpc>
                <a:spcPts val="4000"/>
              </a:lnSpc>
            </a:pPr>
            <a:r>
              <a:rPr lang="en-US" altLang="zh-CN" sz="3200" b="1" i="0" dirty="0">
                <a:solidFill>
                  <a:srgbClr val="000000"/>
                </a:solidFill>
                <a:latin typeface="微软雅黑" pitchFamily="34" charset="0"/>
                <a:ea typeface="微软雅黑" pitchFamily="34" charset="-122"/>
                <a:cs typeface="微软雅黑" pitchFamily="34" charset="-120"/>
              </a:rPr>
              <a:t>考点分类</a:t>
            </a:r>
            <a:r>
              <a:rPr lang="en-US" altLang="zh-CN" sz="3200" b="1" i="0" dirty="0">
                <a:solidFill>
                  <a:srgbClr val="000000"/>
                </a:solidFill>
                <a:latin typeface="SimSun" pitchFamily="34" charset="0"/>
                <a:ea typeface="SimSun" pitchFamily="34" charset="-122"/>
                <a:cs typeface="SimSun" pitchFamily="34" charset="-120"/>
              </a:rPr>
              <a:t> </a:t>
            </a:r>
            <a:r>
              <a:rPr lang="en-US" altLang="zh-CN" sz="3200" b="1" i="0" dirty="0">
                <a:solidFill>
                  <a:srgbClr val="000000"/>
                </a:solidFill>
                <a:latin typeface="微软雅黑" pitchFamily="34" charset="0"/>
                <a:ea typeface="微软雅黑" pitchFamily="34" charset="-122"/>
                <a:cs typeface="微软雅黑" pitchFamily="34" charset="-120"/>
              </a:rPr>
              <a:t>考点透析·典例剖析</a:t>
            </a:r>
            <a:endParaRPr lang="en-US" altLang="zh-CN" sz="3200" dirty="0"/>
          </a:p>
        </p:txBody>
      </p:sp>
    </p:spTree>
  </p:cSld>
  <p:clrMapOvr>
    <a:masterClrMapping/>
  </p:clrMapOvr>
  <p:transition>
    <p:split dir="in"/>
  </p:transition>
</p:sld>
</file>

<file path=ppt/slides/slide4.xml><?xml version="1.0" encoding="utf-8"?>
<p:sld xmlns:a="http://schemas.openxmlformats.org/drawingml/2006/main" xmlns:r="http://schemas.openxmlformats.org/officeDocument/2006/relationships" xmlns:p="http://schemas.openxmlformats.org/presentationml/2006/main">
  <p:cSld name="Slide 4&amp;si=4">
    <p:spTree>
      <p:nvGrpSpPr>
        <p:cNvPr id="1" name=""/>
        <p:cNvGrpSpPr/>
        <p:nvPr/>
      </p:nvGrpSpPr>
      <p:grpSpPr>
        <a:xfrm>
          <a:off x="0" y="0"/>
          <a:ext cx="0" cy="0"/>
          <a:chOff x="0" y="0"/>
          <a:chExt cx="0" cy="0"/>
        </a:xfrm>
      </p:grpSpPr>
      <p:pic>
        <p:nvPicPr>
          <p:cNvPr id="2" name="C_3_BD#663ccdd9c?vcp=1&amp;pid=45ab29fa0&amp;color=0,112,192&amp;tib=255,255,255&amp;bt=1" descr="preencoded.png"/>
          <p:cNvPicPr>
            <a:picLocks noChangeAspect="1"/>
          </p:cNvPicPr>
          <p:nvPr/>
        </p:nvPicPr>
        <p:blipFill>
          <a:blip r:embed="rId3"/>
          <a:stretch>
            <a:fillRect/>
          </a:stretch>
        </p:blipFill>
        <p:spPr>
          <a:xfrm>
            <a:off x="411480" y="502920"/>
            <a:ext cx="4727448" cy="548640"/>
          </a:xfrm>
          <a:prstGeom prst="rect">
            <a:avLst/>
          </a:prstGeom>
        </p:spPr>
      </p:pic>
      <p:graphicFrame>
        <p:nvGraphicFramePr>
          <p:cNvPr id="5" name="P_4_BD#ea8c1f66e?colgroup=18,4,13&amp;vcp=1&amp;pid=663ccdd9c&amp;color=0,0,0&amp;bbb=1"/>
          <p:cNvGraphicFramePr>
            <a:graphicFrameLocks noGrp="1"/>
          </p:cNvGraphicFramePr>
          <p:nvPr>
            <p:extLst>
              <p:ext uri="{D42A27DB-BD31-4B8C-83A1-F6EECF244321}">
                <p14:modId xmlns:p14="http://schemas.microsoft.com/office/powerpoint/2010/main" val="2492130851"/>
              </p:ext>
            </p:extLst>
          </p:nvPr>
        </p:nvGraphicFramePr>
        <p:xfrm>
          <a:off x="393192" y="1181100"/>
          <a:ext cx="11375136" cy="2373884"/>
        </p:xfrm>
        <a:graphic>
          <a:graphicData uri="http://schemas.openxmlformats.org/drawingml/2006/table">
            <a:tbl>
              <a:tblPr/>
              <a:tblGrid>
                <a:gridCol w="5742432">
                  <a:extLst>
                    <a:ext uri="{9D8B030D-6E8A-4147-A177-3AD203B41FA5}">
                      <a16:colId xmlns:a16="http://schemas.microsoft.com/office/drawing/2014/main" val="20000"/>
                    </a:ext>
                  </a:extLst>
                </a:gridCol>
                <a:gridCol w="1426464">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498856">
                <a:tc>
                  <a:txBody>
                    <a:bodyPr/>
                    <a:lstStyle/>
                    <a:p>
                      <a:pPr algn="ctr" latinLnBrk="1" hangingPunct="0">
                        <a:lnSpc>
                          <a:spcPts val="3600"/>
                        </a:lnSpc>
                      </a:pPr>
                      <a:r>
                        <a:rPr lang="en-US" altLang="zh-CN" sz="2400" b="0" i="0">
                          <a:solidFill>
                            <a:srgbClr val="000000"/>
                          </a:solidFill>
                          <a:latin typeface="Times New Roman" pitchFamily="34" charset="0"/>
                          <a:ea typeface="微软雅黑" pitchFamily="34" charset="-122"/>
                          <a:cs typeface="Times New Roman" pitchFamily="34" charset="-120"/>
                        </a:rPr>
                        <a:t>考点分析</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核心素养</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知识图解</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77316">
                <a:tc>
                  <a:txBody>
                    <a:bodyPr/>
                    <a:lstStyle/>
                    <a:p>
                      <a:pPr algn="l"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1.质点</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理想化模型的思维方法.（★★）</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物理观念</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rowSpan="3">
                  <a:txBody>
                    <a:bodyPr/>
                    <a:lstStyle/>
                    <a:p>
                      <a:pPr algn="ctr" latinLnBrk="1" hangingPunct="0">
                        <a:lnSpc>
                          <a:spcPts val="17700"/>
                        </a:lnSpc>
                      </a:pPr>
                      <a:endParaRPr lang="en-US" altLang="zh-CN" sz="900" spc="0" dirty="0">
                        <a:solidFill>
                          <a:srgbClr val="FFFFFF">
                            <a:alpha val="0"/>
                          </a:srgbClr>
                        </a:solidFill>
                        <a:latin typeface="SimSun" panose="02010600030101010101" pitchFamily="2" charset="-122"/>
                      </a:endParaRPr>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98856">
                <a:tc>
                  <a:txBody>
                    <a:bodyPr/>
                    <a:lstStyle/>
                    <a:p>
                      <a:pPr algn="l"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2.参考系的概念.（★）</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物理观念</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zh-CN"/>
                    </a:p>
                  </a:txBody>
                  <a:tcPr/>
                </a:tc>
                <a:extLst>
                  <a:ext uri="{0D108BD9-81ED-4DB2-BD59-A6C34878D82A}">
                    <a16:rowId xmlns:a16="http://schemas.microsoft.com/office/drawing/2014/main" val="10002"/>
                  </a:ext>
                </a:extLst>
              </a:tr>
              <a:tr h="498856">
                <a:tc>
                  <a:txBody>
                    <a:bodyPr/>
                    <a:lstStyle/>
                    <a:p>
                      <a:pPr algn="l"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3.运动的相对性.（★）</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科学思维</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vMerge="1">
                  <a:txBody>
                    <a:bodyPr/>
                    <a:lstStyle/>
                    <a:p>
                      <a:endParaRPr lang="zh-CN"/>
                    </a:p>
                  </a:txBody>
                  <a:tcPr/>
                </a:tc>
                <a:extLst>
                  <a:ext uri="{0D108BD9-81ED-4DB2-BD59-A6C34878D82A}">
                    <a16:rowId xmlns:a16="http://schemas.microsoft.com/office/drawing/2014/main" val="10003"/>
                  </a:ext>
                </a:extLst>
              </a:tr>
            </a:tbl>
          </a:graphicData>
        </a:graphic>
      </p:graphicFrame>
      <p:pic>
        <p:nvPicPr>
          <p:cNvPr id="4" name="P_4_BD#ea8c1f66e.table_image?tii=1&amp;vcp=1&amp;pid=663ccdd9c&amp;color=0,0,0&amp;tib=255,255,255"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8091224" y="1725043"/>
            <a:ext cx="2931910" cy="1703957"/>
          </a:xfrm>
          <a:prstGeom prst="rect">
            <a:avLst/>
          </a:prstGeom>
          <a:noFill/>
          <a:extLst>
            <a:ext uri="{909E8E84-426E-40DD-AFC4-6F175D3DCCD1}">
              <a14:hiddenFill xmlns:a14="http://schemas.microsoft.com/office/drawing/2010/main">
                <a:solidFill>
                  <a:schemeClr val="accent1">
                    <a:alpha val="0"/>
                  </a:schemeClr>
                </a:solidFill>
              </a14:hiddenFill>
            </a:ext>
          </a:extLst>
        </p:spPr>
      </p:pic>
    </p:spTree>
  </p:cSld>
  <p:clrMapOvr>
    <a:masterClrMapping/>
  </p:clrMapOvr>
  <p:transition>
    <p:split dir="in"/>
  </p:transition>
</p:sld>
</file>

<file path=ppt/slides/slide5.xml><?xml version="1.0" encoding="utf-8"?>
<p:sld xmlns:a="http://schemas.openxmlformats.org/drawingml/2006/main" xmlns:r="http://schemas.openxmlformats.org/officeDocument/2006/relationships" xmlns:p="http://schemas.openxmlformats.org/presentationml/2006/main">
  <p:cSld name="Slide 5&amp;si=5">
    <p:spTree>
      <p:nvGrpSpPr>
        <p:cNvPr id="1" name=""/>
        <p:cNvGrpSpPr/>
        <p:nvPr/>
      </p:nvGrpSpPr>
      <p:grpSpPr>
        <a:xfrm>
          <a:off x="0" y="0"/>
          <a:ext cx="0" cy="0"/>
          <a:chOff x="0" y="0"/>
          <a:chExt cx="0" cy="0"/>
        </a:xfrm>
      </p:grpSpPr>
      <p:pic>
        <p:nvPicPr>
          <p:cNvPr id="2" name="C_3_BD#6b33c3c25?vcp=1&amp;pid=45ab29fa0&amp;color=0,112,192&amp;tib=255,255,255&amp;bt=1" descr="preencoded.png"/>
          <p:cNvPicPr>
            <a:picLocks noChangeAspect="1"/>
          </p:cNvPicPr>
          <p:nvPr/>
        </p:nvPicPr>
        <p:blipFill>
          <a:blip r:embed="rId3"/>
          <a:stretch>
            <a:fillRect/>
          </a:stretch>
        </p:blipFill>
        <p:spPr>
          <a:xfrm>
            <a:off x="411480" y="502920"/>
            <a:ext cx="4727448" cy="548640"/>
          </a:xfrm>
          <a:prstGeom prst="rect">
            <a:avLst/>
          </a:prstGeom>
        </p:spPr>
      </p:pic>
      <p:pic>
        <p:nvPicPr>
          <p:cNvPr id="3" name="C_4#2407390a8?vcp=1&amp;pid=6b33c3c25&amp;color=0,0,0&amp;tib=255,255,255" descr="preencoded.png"/>
          <p:cNvPicPr>
            <a:picLocks noChangeAspect="1"/>
          </p:cNvPicPr>
          <p:nvPr/>
        </p:nvPicPr>
        <p:blipFill>
          <a:blip r:embed="rId4"/>
          <a:stretch>
            <a:fillRect/>
          </a:stretch>
        </p:blipFill>
        <p:spPr>
          <a:xfrm>
            <a:off x="393192" y="1181100"/>
            <a:ext cx="11356848" cy="457200"/>
          </a:xfrm>
          <a:prstGeom prst="rect">
            <a:avLst/>
          </a:prstGeom>
        </p:spPr>
      </p:pic>
      <p:sp>
        <p:nvSpPr>
          <p:cNvPr id="4" name="C_4_BD#2407390a8?vcp=1&amp;pid=6b33c3c25&amp;color=255,255,255"/>
          <p:cNvSpPr/>
          <p:nvPr/>
        </p:nvSpPr>
        <p:spPr>
          <a:xfrm>
            <a:off x="1225296" y="1181100"/>
            <a:ext cx="356616" cy="457200"/>
          </a:xfrm>
          <a:prstGeom prst="rect">
            <a:avLst/>
          </a:prstGeom>
          <a:noFill/>
          <a:ln/>
        </p:spPr>
        <p:txBody>
          <a:bodyPr wrap="square" lIns="0" tIns="0" rIns="0" bIns="0" rtlCol="0" anchor="ctr"/>
          <a:lstStyle/>
          <a:p>
            <a:pPr algn="ctr" latinLnBrk="1">
              <a:lnSpc>
                <a:spcPct val="100000"/>
              </a:lnSpc>
            </a:pPr>
            <a:r>
              <a:rPr lang="en-US" altLang="zh-CN" sz="2800" b="1" i="0" dirty="0">
                <a:solidFill>
                  <a:srgbClr val="FFFFFF"/>
                </a:solidFill>
                <a:latin typeface="SimHei" pitchFamily="34" charset="0"/>
                <a:ea typeface="SimHei" pitchFamily="34" charset="-122"/>
                <a:cs typeface="SimHei" pitchFamily="34" charset="-120"/>
              </a:rPr>
              <a:t>1</a:t>
            </a:r>
            <a:endParaRPr lang="en-US" altLang="zh-CN" sz="2800" dirty="0"/>
          </a:p>
        </p:txBody>
      </p:sp>
      <p:sp>
        <p:nvSpPr>
          <p:cNvPr id="5" name="C_4_BD#2407390a8?vcp=1&amp;pid=6b33c3c25&amp;color=0,0,0&amp;bbb=1"/>
          <p:cNvSpPr/>
          <p:nvPr/>
        </p:nvSpPr>
        <p:spPr>
          <a:xfrm>
            <a:off x="1837944" y="1181100"/>
            <a:ext cx="9939528" cy="457200"/>
          </a:xfrm>
          <a:prstGeom prst="rect">
            <a:avLst/>
          </a:prstGeom>
          <a:noFill/>
          <a:ln/>
        </p:spPr>
        <p:txBody>
          <a:bodyPr wrap="none" lIns="0" tIns="0" rIns="0" bIns="0" rtlCol="0" anchor="ctr"/>
          <a:lstStyle/>
          <a:p>
            <a:pPr algn="l" latinLnBrk="1">
              <a:lnSpc>
                <a:spcPts val="3200"/>
              </a:lnSpc>
            </a:pPr>
            <a:r>
              <a:rPr lang="en-US" altLang="zh-CN" sz="2600" b="1" i="0" dirty="0">
                <a:solidFill>
                  <a:srgbClr val="000000"/>
                </a:solidFill>
                <a:latin typeface="Times New Roman" pitchFamily="34" charset="0"/>
                <a:ea typeface="SimHei" pitchFamily="34" charset="-122"/>
                <a:cs typeface="Times New Roman" pitchFamily="34" charset="-120"/>
              </a:rPr>
              <a:t>物体和质点</a:t>
            </a:r>
            <a:r>
              <a:rPr lang="en-US" altLang="zh-CN" sz="2600" b="1" i="0" dirty="0">
                <a:solidFill>
                  <a:srgbClr val="000000"/>
                </a:solidFill>
                <a:latin typeface="SimSun" pitchFamily="34" charset="0"/>
                <a:ea typeface="SimSun" pitchFamily="34" charset="-122"/>
                <a:cs typeface="SimSun" pitchFamily="34" charset="-120"/>
              </a:rPr>
              <a:t> </a:t>
            </a:r>
            <a:r>
              <a:rPr lang="en-US" altLang="zh-CN" sz="2600" b="1" i="0" dirty="0">
                <a:solidFill>
                  <a:srgbClr val="000000"/>
                </a:solidFill>
                <a:latin typeface="Times New Roman" pitchFamily="34" charset="0"/>
                <a:ea typeface="SimHei" pitchFamily="34" charset="-122"/>
                <a:cs typeface="Times New Roman" pitchFamily="34" charset="-120"/>
              </a:rPr>
              <a:t>回归教材</a:t>
            </a:r>
            <a:endParaRPr lang="en-US" altLang="zh-CN" sz="2600" dirty="0"/>
          </a:p>
        </p:txBody>
      </p:sp>
      <p:sp>
        <p:nvSpPr>
          <p:cNvPr id="6" name="P_5_BD#b5c116ed8?vcp=1&amp;pid=2407390a8&amp;color=0,0,0&amp;bbb=1&amp;hb=1"/>
          <p:cNvSpPr/>
          <p:nvPr/>
        </p:nvSpPr>
        <p:spPr>
          <a:xfrm>
            <a:off x="393192" y="1778000"/>
            <a:ext cx="11402568" cy="4386199"/>
          </a:xfrm>
          <a:prstGeom prst="rect">
            <a:avLst/>
          </a:prstGeom>
          <a:noFill/>
          <a:ln/>
        </p:spPr>
        <p:txBody>
          <a:bodyPr wrap="none" lIns="0" tIns="0" rIns="0" bIns="0" rtlCol="0" anchor="t"/>
          <a:lstStyle/>
          <a:p>
            <a:pPr algn="ctr"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核心总结</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000000"/>
                </a:solidFill>
                <a:latin typeface="Times New Roman" pitchFamily="34" charset="0"/>
                <a:ea typeface="微软雅黑" pitchFamily="34" charset="-122"/>
                <a:cs typeface="Times New Roman" pitchFamily="34" charset="-120"/>
              </a:rPr>
              <a:t>.质点</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用来代替物体的有质量的点叫质点</a:t>
            </a:r>
            <a:r>
              <a:rPr lang="en-US" altLang="zh-CN" sz="2400" b="0" i="0" dirty="0">
                <a:solidFill>
                  <a:srgbClr val="000000"/>
                </a:solidFill>
                <a:latin typeface="Times New Roman" pitchFamily="34" charset="0"/>
                <a:ea typeface="微软雅黑" pitchFamily="34" charset="-122"/>
                <a:cs typeface="Times New Roman" pitchFamily="34" charset="-120"/>
              </a:rPr>
              <a:t>，它是一种理想化的物理模型.</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2</a:t>
            </a:r>
            <a:r>
              <a:rPr lang="en-US" altLang="zh-CN" sz="2400" b="0" i="0" dirty="0">
                <a:solidFill>
                  <a:srgbClr val="000000"/>
                </a:solidFill>
                <a:latin typeface="Times New Roman" pitchFamily="34" charset="0"/>
                <a:ea typeface="微软雅黑" pitchFamily="34" charset="-122"/>
                <a:cs typeface="Times New Roman" pitchFamily="34" charset="-120"/>
              </a:rPr>
              <a:t>.物体能简化为质点的条件</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1）物体的形状和大小对所研究问题的影响可以忽略不计时.</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2）若物体上各点的运动情况都相同</a:t>
            </a:r>
            <a:r>
              <a:rPr lang="en-US" altLang="zh-CN" sz="2400" b="0" i="0">
                <a:solidFill>
                  <a:srgbClr val="000000"/>
                </a:solidFill>
                <a:latin typeface="Times New Roman" pitchFamily="34" charset="0"/>
                <a:ea typeface="微软雅黑" pitchFamily="34" charset="-122"/>
                <a:cs typeface="Times New Roman" pitchFamily="34" charset="-120"/>
              </a:rPr>
              <a:t>，则当物体的线度远小于物体发生的位移</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或路程）时.</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3）物体自身的转动或物体上某部分的运动对其整体的研究不产生影响时.</a:t>
            </a:r>
            <a:endParaRPr lang="en-US" altLang="zh-CN" sz="2400" dirty="0"/>
          </a:p>
        </p:txBody>
      </p:sp>
    </p:spTree>
  </p:cSld>
  <p:clrMapOvr>
    <a:masterClrMapping/>
  </p:clrMapOvr>
  <p:transition>
    <p:split dir="in"/>
  </p:transition>
</p:sld>
</file>

<file path=ppt/slides/slide6.xml><?xml version="1.0" encoding="utf-8"?>
<p:sld xmlns:a="http://schemas.openxmlformats.org/drawingml/2006/main" xmlns:r="http://schemas.openxmlformats.org/officeDocument/2006/relationships" xmlns:p="http://schemas.openxmlformats.org/presentationml/2006/main">
  <p:cSld name="Slide 6&amp;si=6">
    <p:spTree>
      <p:nvGrpSpPr>
        <p:cNvPr id="1" name=""/>
        <p:cNvGrpSpPr/>
        <p:nvPr/>
      </p:nvGrpSpPr>
      <p:grpSpPr>
        <a:xfrm>
          <a:off x="0" y="0"/>
          <a:ext cx="0" cy="0"/>
          <a:chOff x="0" y="0"/>
          <a:chExt cx="0" cy="0"/>
        </a:xfrm>
      </p:grpSpPr>
      <p:sp>
        <p:nvSpPr>
          <p:cNvPr id="2" name="QC_5_BD.1_1#32efadf6d?vcp=1&amp;pid=2407390a8&amp;color=0,0,0&amp;bt=1&amp;bbb=1"/>
          <p:cNvSpPr/>
          <p:nvPr/>
        </p:nvSpPr>
        <p:spPr>
          <a:xfrm>
            <a:off x="393192" y="1304385"/>
            <a:ext cx="11402568" cy="484124"/>
          </a:xfrm>
          <a:prstGeom prst="rect">
            <a:avLst/>
          </a:prstGeom>
          <a:noFill/>
          <a:ln/>
        </p:spPr>
        <p:txBody>
          <a:bodyPr wrap="none" lIns="0" tIns="0" rIns="0" bIns="0" rtlCol="0" anchor="t"/>
          <a:lstStyle/>
          <a:p>
            <a:pPr algn="l" latinLnBrk="1">
              <a:lnSpc>
                <a:spcPts val="4300"/>
              </a:lnSpc>
            </a:pPr>
            <a:r>
              <a:rPr lang="en-US" altLang="zh-CN" sz="2400" b="1" i="0" dirty="0">
                <a:solidFill>
                  <a:srgbClr val="0070C0"/>
                </a:solidFill>
                <a:latin typeface="Times New Roman" pitchFamily="34" charset="0"/>
                <a:ea typeface="微软雅黑" pitchFamily="34" charset="-122"/>
                <a:cs typeface="Times New Roman" pitchFamily="34" charset="-120"/>
              </a:rPr>
              <a:t>考题1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1E5A99"/>
                </a:solidFill>
                <a:latin typeface="KaiTi" pitchFamily="34" charset="0"/>
                <a:ea typeface="KaiTi" pitchFamily="34" charset="-122"/>
                <a:cs typeface="KaiTi" pitchFamily="34" charset="-120"/>
              </a:rPr>
              <a:t>（2026·浙江1月选考）</a:t>
            </a:r>
            <a:r>
              <a:rPr lang="en-US" altLang="zh-CN" sz="2400" b="0" i="0" dirty="0">
                <a:solidFill>
                  <a:srgbClr val="000000"/>
                </a:solidFill>
                <a:latin typeface="Times New Roman" pitchFamily="34" charset="0"/>
                <a:ea typeface="微软雅黑" pitchFamily="34" charset="-122"/>
                <a:cs typeface="Times New Roman" pitchFamily="34" charset="-120"/>
              </a:rPr>
              <a:t>下列问题中，</a:t>
            </a:r>
            <a:r>
              <a:rPr lang="en-US" altLang="zh-CN" sz="2400" b="0" i="0">
                <a:solidFill>
                  <a:srgbClr val="000000"/>
                </a:solidFill>
                <a:latin typeface="Times New Roman" pitchFamily="34" charset="0"/>
                <a:ea typeface="微软雅黑" pitchFamily="34" charset="-122"/>
                <a:cs typeface="Times New Roman" pitchFamily="34" charset="-120"/>
              </a:rPr>
              <a:t>图示物体可看成质点的是(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p:pic>
        <p:nvPicPr>
          <p:cNvPr id="3" name="QC_5_BD.1_2#32efadf6d?vcp=1&amp;pid=2407390a8&amp;color=0,0,0&amp;tib=255,255,255"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2496312" y="1917159"/>
            <a:ext cx="7205472" cy="1325880"/>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4" name="QC_5_AN.2_1#32efadf6d.bracket?vcp=1&amp;pid=2407390a8&amp;color=0,0,0&amp;vpa=1"/>
          <p:cNvSpPr/>
          <p:nvPr/>
        </p:nvSpPr>
        <p:spPr>
          <a:xfrm>
            <a:off x="9923748" y="1302480"/>
            <a:ext cx="441325" cy="488125"/>
          </a:xfrm>
          <a:prstGeom prst="rect">
            <a:avLst/>
          </a:prstGeom>
          <a:noFill/>
          <a:ln/>
        </p:spPr>
        <p:txBody>
          <a:bodyPr wrap="none" lIns="0" tIns="0" rIns="0" bIns="0" rtlCol="0" anchor="t"/>
          <a:lstStyle/>
          <a:p>
            <a:pPr algn="ctr" latinLnBrk="1">
              <a:lnSpc>
                <a:spcPts val="4300"/>
              </a:lnSpc>
            </a:pPr>
            <a:r>
              <a:rPr lang="en-US" altLang="zh-CN" sz="2400" b="1" i="0" dirty="0">
                <a:solidFill>
                  <a:srgbClr val="FF0000"/>
                </a:solidFill>
                <a:latin typeface="Times New Roman" pitchFamily="34" charset="0"/>
                <a:ea typeface="微软雅黑" pitchFamily="34" charset="-122"/>
                <a:cs typeface="Times New Roman" pitchFamily="34" charset="-120"/>
              </a:rPr>
              <a:t>A</a:t>
            </a:r>
            <a:endParaRPr lang="en-US" altLang="zh-CN" sz="2400" dirty="0"/>
          </a:p>
        </p:txBody>
      </p:sp>
      <mc:AlternateContent xmlns:mc="http://schemas.openxmlformats.org/markup-compatibility/2006" xmlns:a14="http://schemas.microsoft.com/office/drawing/2010/main">
        <mc:Choice Requires="a14">
          <p:sp>
            <p:nvSpPr>
              <p:cNvPr id="5" name="QC_5_BD.1_3#32efadf6d.choices?vcp=1&amp;pid=2407390a8&amp;color=0,0,0&amp;bbb=1"/>
              <p:cNvSpPr/>
              <p:nvPr/>
            </p:nvSpPr>
            <p:spPr>
              <a:xfrm>
                <a:off x="393192" y="3377659"/>
                <a:ext cx="11402568" cy="21550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A.研究图甲中“四川舰”的航行路径</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.研究图乙中“歼</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−35</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”战斗机的飞行姿态</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.研究图丙中“神舟二十二号”载人飞船与空间站的对接方式</a:t>
                </a:r>
                <a:endParaRPr lang="en-US" altLang="zh-CN" sz="2400" dirty="0"/>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.研究图丁中“蛟龙号”潜水器完成任务出水后调整方位回舱的过程</a:t>
                </a:r>
                <a:endParaRPr lang="en-US" altLang="zh-CN" sz="2400" dirty="0"/>
              </a:p>
            </p:txBody>
          </p:sp>
        </mc:Choice>
        <mc:Fallback xmlns="">
          <p:sp>
            <p:nvSpPr>
              <p:cNvPr id="5" name="QC_5_BD.1_3#32efadf6d.choices?vcp=1&amp;pid=2407390a8&amp;color=0,0,0&amp;bbb=1"/>
              <p:cNvSpPr>
                <a:spLocks noRot="1" noChangeAspect="1" noMove="1" noResize="1" noEditPoints="1" noAdjustHandles="1" noChangeArrowheads="1" noChangeShapeType="1" noTextEdit="1"/>
              </p:cNvSpPr>
              <p:nvPr/>
            </p:nvSpPr>
            <p:spPr>
              <a:xfrm>
                <a:off x="393192" y="3377659"/>
                <a:ext cx="11402568" cy="2155000"/>
              </a:xfrm>
              <a:prstGeom prst="rect">
                <a:avLst/>
              </a:prstGeom>
              <a:blipFill>
                <a:blip r:embed="rId4"/>
                <a:stretch>
                  <a:fillRect l="-1658" b="-8475"/>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wipe(left)">
                                      <p:cBhvr>
                                        <p:cTn id="7" dur="500"/>
                                        <p:tgtEl>
                                          <p:spTgt spid="4">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wipe(left)">
                                      <p:cBhvr>
                                        <p:cTn id="10"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amp;si=7">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QC_5_AS.3_1#32efadf6d?vcp=1&amp;pid=2407390a8&amp;color=0,0,0&amp;bt=1&amp;bbb=1&amp;hb=1"/>
              <p:cNvSpPr/>
              <p:nvPr/>
            </p:nvSpPr>
            <p:spPr>
              <a:xfrm>
                <a:off x="393192" y="1812385"/>
                <a:ext cx="11402568" cy="32726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研究“四川舰”的航行路径时，舰艇的大小对于航行路径来说可以忽略不计</a:t>
                </a:r>
                <a:r>
                  <a:rPr lang="en-US" altLang="zh-CN" sz="2400" b="1" i="0">
                    <a:solidFill>
                      <a:srgbClr val="FF0000"/>
                    </a:solidFill>
                    <a:latin typeface="Times New Roman" pitchFamily="34" charset="0"/>
                    <a:ea typeface="微软雅黑" pitchFamily="34" charset="-122"/>
                    <a:cs typeface="Times New Roman" pitchFamily="34" charset="-120"/>
                  </a:rPr>
                  <a:t>，因</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此可以将其看成质点</a:t>
                </a:r>
                <a:r>
                  <a:rPr lang="en-US" altLang="zh-CN" sz="2400" b="1" i="0" dirty="0">
                    <a:solidFill>
                      <a:srgbClr val="FF0000"/>
                    </a:solidFill>
                    <a:latin typeface="Times New Roman" pitchFamily="34" charset="0"/>
                    <a:ea typeface="微软雅黑" pitchFamily="34" charset="-122"/>
                    <a:cs typeface="Times New Roman" pitchFamily="34" charset="-120"/>
                  </a:rPr>
                  <a:t>，故A正确；研究“歼</a:t>
                </a:r>
                <a14:m>
                  <m:oMath xmlns:m="http://schemas.openxmlformats.org/officeDocument/2006/math">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𝟑𝟓</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”战斗机的飞行姿态时</a:t>
                </a:r>
                <a:r>
                  <a:rPr lang="en-US" altLang="zh-CN" sz="2400" b="1" i="0">
                    <a:solidFill>
                      <a:srgbClr val="FF0000"/>
                    </a:solidFill>
                    <a:latin typeface="Times New Roman" pitchFamily="34" charset="0"/>
                    <a:ea typeface="微软雅黑" pitchFamily="34" charset="-122"/>
                    <a:cs typeface="Times New Roman" pitchFamily="34" charset="-120"/>
                  </a:rPr>
                  <a:t>，不能将其看成</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质点</a:t>
                </a:r>
                <a:r>
                  <a:rPr lang="en-US" altLang="zh-CN" sz="2400" b="1" i="0" dirty="0">
                    <a:solidFill>
                      <a:srgbClr val="FF0000"/>
                    </a:solidFill>
                    <a:latin typeface="Times New Roman" pitchFamily="34" charset="0"/>
                    <a:ea typeface="微软雅黑" pitchFamily="34" charset="-122"/>
                    <a:cs typeface="Times New Roman" pitchFamily="34" charset="-120"/>
                  </a:rPr>
                  <a:t>，故B错误；研究“神舟二十二号”载人飞船与空间站的对接方式时</a:t>
                </a:r>
                <a:r>
                  <a:rPr lang="en-US" altLang="zh-CN" sz="2400" b="1" i="0">
                    <a:solidFill>
                      <a:srgbClr val="FF0000"/>
                    </a:solidFill>
                    <a:latin typeface="Times New Roman" pitchFamily="34" charset="0"/>
                    <a:ea typeface="微软雅黑" pitchFamily="34" charset="-122"/>
                    <a:cs typeface="Times New Roman" pitchFamily="34" charset="-120"/>
                  </a:rPr>
                  <a:t>，需要调整相</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对位置和姿态</a:t>
                </a:r>
                <a:r>
                  <a:rPr lang="en-US" altLang="zh-CN" sz="2400" b="1" i="0" dirty="0">
                    <a:solidFill>
                      <a:srgbClr val="FF0000"/>
                    </a:solidFill>
                    <a:latin typeface="Times New Roman" pitchFamily="34" charset="0"/>
                    <a:ea typeface="微软雅黑" pitchFamily="34" charset="-122"/>
                    <a:cs typeface="Times New Roman" pitchFamily="34" charset="-120"/>
                  </a:rPr>
                  <a:t>，形状和大小均不能忽略，因此不能将其看成质点，故C错误；研究</a:t>
                </a:r>
                <a:r>
                  <a:rPr lang="en-US" altLang="zh-CN" sz="2400" b="1" i="0">
                    <a:solidFill>
                      <a:srgbClr val="FF0000"/>
                    </a:solidFill>
                    <a:latin typeface="Times New Roman" pitchFamily="34" charset="0"/>
                    <a:ea typeface="微软雅黑" pitchFamily="34" charset="-122"/>
                    <a:cs typeface="Times New Roman" pitchFamily="34" charset="-120"/>
                  </a:rPr>
                  <a:t>“蛟</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龙号</a:t>
                </a:r>
                <a:r>
                  <a:rPr lang="en-US" altLang="zh-CN" sz="2400" b="1" i="0" dirty="0">
                    <a:solidFill>
                      <a:srgbClr val="FF0000"/>
                    </a:solidFill>
                    <a:latin typeface="Times New Roman" pitchFamily="34" charset="0"/>
                    <a:ea typeface="微软雅黑" pitchFamily="34" charset="-122"/>
                    <a:cs typeface="Times New Roman" pitchFamily="34" charset="-120"/>
                  </a:rPr>
                  <a:t>”潜水器完成任务出水后调整方位回舱过程时，</a:t>
                </a:r>
                <a:r>
                  <a:rPr lang="en-US" altLang="zh-CN" sz="2400" b="1" i="0">
                    <a:solidFill>
                      <a:srgbClr val="FF0000"/>
                    </a:solidFill>
                    <a:latin typeface="Times New Roman" pitchFamily="34" charset="0"/>
                    <a:ea typeface="微软雅黑" pitchFamily="34" charset="-122"/>
                    <a:cs typeface="Times New Roman" pitchFamily="34" charset="-120"/>
                  </a:rPr>
                  <a:t>需要调整潜水器方位使其回舱，</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这时形状和大小均不能忽略</a:t>
                </a:r>
                <a:r>
                  <a:rPr lang="en-US" altLang="zh-CN" sz="2400" b="1" i="0" dirty="0">
                    <a:solidFill>
                      <a:srgbClr val="FF0000"/>
                    </a:solidFill>
                    <a:latin typeface="Times New Roman" pitchFamily="34" charset="0"/>
                    <a:ea typeface="微软雅黑" pitchFamily="34" charset="-122"/>
                    <a:cs typeface="Times New Roman" pitchFamily="34" charset="-120"/>
                  </a:rPr>
                  <a:t>，因此不能将其看成质点，故D错误.</a:t>
                </a:r>
                <a:endParaRPr lang="en-US" altLang="zh-CN" sz="2400" dirty="0"/>
              </a:p>
            </p:txBody>
          </p:sp>
        </mc:Choice>
        <mc:Fallback xmlns="">
          <p:sp>
            <p:nvSpPr>
              <p:cNvPr id="2" name="QC_5_AS.3_1#32efadf6d?vcp=1&amp;pid=2407390a8&amp;color=0,0,0&amp;bt=1&amp;bbb=1&amp;hb=1"/>
              <p:cNvSpPr>
                <a:spLocks noRot="1" noChangeAspect="1" noMove="1" noResize="1" noEditPoints="1" noAdjustHandles="1" noChangeArrowheads="1" noChangeShapeType="1" noTextEdit="1"/>
              </p:cNvSpPr>
              <p:nvPr/>
            </p:nvSpPr>
            <p:spPr>
              <a:xfrm>
                <a:off x="393192" y="1812385"/>
                <a:ext cx="11402568" cy="3272600"/>
              </a:xfrm>
              <a:prstGeom prst="rect">
                <a:avLst/>
              </a:prstGeom>
              <a:blipFill>
                <a:blip r:embed="rId3"/>
                <a:stretch>
                  <a:fillRect l="-1658" r="-1123" b="-5587"/>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left)">
                                      <p:cBhvr>
                                        <p:cTn id="7" dur="500"/>
                                        <p:tgtEl>
                                          <p:spTgt spid="2">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wipe(left)">
                                      <p:cBhvr>
                                        <p:cTn id="10" dur="500"/>
                                        <p:tgtEl>
                                          <p:spTgt spid="2">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wipe(left)">
                                      <p:cBhvr>
                                        <p:cTn id="13" dur="500"/>
                                        <p:tgtEl>
                                          <p:spTgt spid="2">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500"/>
                                        <p:tgtEl>
                                          <p:spTgt spid="2">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left)">
                                      <p:cBhvr>
                                        <p:cTn id="22" dur="500"/>
                                        <p:tgtEl>
                                          <p:spTgt spid="2">
                                            <p:txEl>
                                              <p:pRg st="4" end="4"/>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Effect transition="in" filter="wipe(left)">
                                      <p:cBhvr>
                                        <p:cTn id="25"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amp;si=8">
    <p:spTree>
      <p:nvGrpSpPr>
        <p:cNvPr id="1" name=""/>
        <p:cNvGrpSpPr/>
        <p:nvPr/>
      </p:nvGrpSpPr>
      <p:grpSpPr>
        <a:xfrm>
          <a:off x="0" y="0"/>
          <a:ext cx="0" cy="0"/>
          <a:chOff x="0" y="0"/>
          <a:chExt cx="0" cy="0"/>
        </a:xfrm>
      </p:grpSpPr>
      <p:sp>
        <p:nvSpPr>
          <p:cNvPr id="2" name="QC_5_BD.4_1#e693086dc?vcp=1&amp;pid=2407390a8&amp;color=0,0,0&amp;bt=1&amp;bbb=1&amp;hb=1"/>
          <p:cNvSpPr/>
          <p:nvPr/>
        </p:nvSpPr>
        <p:spPr>
          <a:xfrm>
            <a:off x="393192" y="1808512"/>
            <a:ext cx="11402568" cy="1592199"/>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变式1-1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1" i="0" dirty="0">
                <a:solidFill>
                  <a:srgbClr val="000000"/>
                </a:solidFill>
                <a:latin typeface="Times New Roman" pitchFamily="34" charset="0"/>
                <a:ea typeface="微软雅黑" pitchFamily="34" charset="-122"/>
                <a:cs typeface="Times New Roman" pitchFamily="34" charset="-120"/>
              </a:rPr>
              <a:t>（体育竞技）</a:t>
            </a:r>
            <a:r>
              <a:rPr lang="en-US" altLang="zh-CN" sz="2400" b="0" i="0" dirty="0">
                <a:solidFill>
                  <a:srgbClr val="1E5A99"/>
                </a:solidFill>
                <a:latin typeface="KaiTi" pitchFamily="34" charset="0"/>
                <a:ea typeface="KaiTi" pitchFamily="34" charset="-122"/>
                <a:cs typeface="KaiTi" pitchFamily="34" charset="-120"/>
              </a:rPr>
              <a:t>（2026·湖北武汉二中检测）</a:t>
            </a:r>
            <a:r>
              <a:rPr lang="en-US" altLang="zh-CN" sz="2400" b="0" i="0" dirty="0">
                <a:solidFill>
                  <a:srgbClr val="000000"/>
                </a:solidFill>
                <a:latin typeface="Times New Roman" pitchFamily="34" charset="0"/>
                <a:ea typeface="微软雅黑" pitchFamily="34" charset="-122"/>
                <a:cs typeface="Times New Roman" pitchFamily="34" charset="-120"/>
              </a:rPr>
              <a:t>第十五届全国运动会于2025</a:t>
            </a:r>
            <a:r>
              <a:rPr lang="en-US" altLang="zh-CN" sz="2400" b="0" i="0">
                <a:solidFill>
                  <a:srgbClr val="000000"/>
                </a:solidFill>
                <a:latin typeface="Times New Roman" pitchFamily="34" charset="0"/>
                <a:ea typeface="微软雅黑" pitchFamily="34" charset="-122"/>
                <a:cs typeface="Times New Roman" pitchFamily="34" charset="-120"/>
              </a:rPr>
              <a:t>年11</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月举行</a:t>
            </a:r>
            <a:r>
              <a:rPr lang="en-US" altLang="zh-CN" sz="2400" b="0" i="0" dirty="0">
                <a:solidFill>
                  <a:srgbClr val="000000"/>
                </a:solidFill>
                <a:latin typeface="Times New Roman" pitchFamily="34" charset="0"/>
                <a:ea typeface="微软雅黑" pitchFamily="34" charset="-122"/>
                <a:cs typeface="Times New Roman" pitchFamily="34" charset="-120"/>
              </a:rPr>
              <a:t>，这是一次具有重要意义的全运会，因为它由广东、</a:t>
            </a:r>
            <a:r>
              <a:rPr lang="en-US" altLang="zh-CN" sz="2400" b="0" i="0">
                <a:solidFill>
                  <a:srgbClr val="000000"/>
                </a:solidFill>
                <a:latin typeface="Times New Roman" pitchFamily="34" charset="0"/>
                <a:ea typeface="微软雅黑" pitchFamily="34" charset="-122"/>
                <a:cs typeface="Times New Roman" pitchFamily="34" charset="-120"/>
              </a:rPr>
              <a:t>香港和澳门三地共同举办.</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以下全运会比赛项目中评分时可将运动员视为质点的是(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p:sp>
        <p:nvSpPr>
          <p:cNvPr id="3" name="QC_5_AN.5_1#e693086dc.bracket?vcp=1&amp;pid=2407390a8&amp;color=0,0,0&amp;vpa=2"/>
          <p:cNvSpPr/>
          <p:nvPr/>
        </p:nvSpPr>
        <p:spPr>
          <a:xfrm>
            <a:off x="7940961" y="2914682"/>
            <a:ext cx="4413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C</a:t>
            </a:r>
            <a:endParaRPr lang="en-US" altLang="zh-CN" sz="2400" dirty="0"/>
          </a:p>
        </p:txBody>
      </p:sp>
      <p:sp>
        <p:nvSpPr>
          <p:cNvPr id="4" name="QC_5_BD.4_2#e693086dc.choices?vcp=1&amp;pid=2407390a8&amp;color=0,0,0&amp;bbb=1"/>
          <p:cNvSpPr/>
          <p:nvPr/>
        </p:nvSpPr>
        <p:spPr>
          <a:xfrm>
            <a:off x="393192" y="3458050"/>
            <a:ext cx="11402568" cy="484124"/>
          </a:xfrm>
          <a:prstGeom prst="rect">
            <a:avLst/>
          </a:prstGeom>
          <a:noFill/>
          <a:ln/>
        </p:spPr>
        <p:txBody>
          <a:bodyPr wrap="none" lIns="0" tIns="0" rIns="0" bIns="0" rtlCol="0" anchor="t"/>
          <a:lstStyle/>
          <a:p>
            <a:pPr latinLnBrk="1">
              <a:lnSpc>
                <a:spcPts val="4300"/>
              </a:lnSpc>
              <a:tabLst>
                <a:tab pos="2497577" algn="l"/>
                <a:tab pos="4969754" algn="l"/>
                <a:tab pos="8508731" algn="l"/>
              </a:tabLst>
            </a:pPr>
            <a:r>
              <a:rPr lang="en-US" altLang="zh-CN" sz="2400" b="0" i="0" dirty="0">
                <a:solidFill>
                  <a:srgbClr val="000000"/>
                </a:solidFill>
                <a:latin typeface="Times New Roman" pitchFamily="34" charset="0"/>
                <a:ea typeface="微软雅黑" pitchFamily="34" charset="-122"/>
                <a:cs typeface="Times New Roman" pitchFamily="34" charset="-120"/>
              </a:rPr>
              <a:t>A</a:t>
            </a:r>
            <a:r>
              <a:rPr lang="en-US" altLang="zh-CN" sz="2400" b="0" i="0">
                <a:solidFill>
                  <a:srgbClr val="000000"/>
                </a:solidFill>
                <a:latin typeface="Times New Roman" pitchFamily="34" charset="0"/>
                <a:ea typeface="微软雅黑" pitchFamily="34" charset="-122"/>
                <a:cs typeface="Times New Roman" pitchFamily="34" charset="-120"/>
              </a:rPr>
              <a:t>.蹦床</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B.跳水</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4公里追逐赛</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.花样游泳</a:t>
            </a:r>
            <a:endParaRPr lang="en-US" altLang="zh-CN" sz="2400" dirty="0"/>
          </a:p>
        </p:txBody>
      </p:sp>
      <p:sp>
        <p:nvSpPr>
          <p:cNvPr id="5" name="QC_5_AS.6_1#e693086dc?vcp=1&amp;pid=2407390a8&amp;color=0,0,0&amp;bbb=1&amp;hb=1"/>
          <p:cNvSpPr/>
          <p:nvPr/>
        </p:nvSpPr>
        <p:spPr>
          <a:xfrm>
            <a:off x="393192" y="4008913"/>
            <a:ext cx="11402568" cy="1037400"/>
          </a:xfrm>
          <a:prstGeom prst="rect">
            <a:avLst/>
          </a:prstGeom>
          <a:noFill/>
          <a:ln/>
        </p:spPr>
        <p:txBody>
          <a:bodyPr wrap="none" lIns="0" tIns="0" rIns="0" bIns="0" rtlCol="0" anchor="t"/>
          <a:lstStyle/>
          <a:p>
            <a:pPr algn="l" latinLnBrk="1">
              <a:lnSpc>
                <a:spcPts val="4400"/>
              </a:lnSpc>
            </a:pPr>
            <a:r>
              <a:rPr lang="en-US" altLang="zh-CN" sz="2400" b="1" i="0" spc="-50" dirty="0">
                <a:solidFill>
                  <a:srgbClr val="FF0000"/>
                </a:solidFill>
                <a:latin typeface="Times New Roman" pitchFamily="34" charset="0"/>
                <a:ea typeface="微软雅黑" pitchFamily="34" charset="-122"/>
                <a:cs typeface="Times New Roman" pitchFamily="34" charset="-120"/>
              </a:rPr>
              <a:t>[解析]</a:t>
            </a:r>
            <a:r>
              <a:rPr lang="en-US" altLang="zh-CN" sz="2400" b="1" i="0" spc="-50" dirty="0">
                <a:solidFill>
                  <a:srgbClr val="FF0000"/>
                </a:solidFill>
                <a:latin typeface="SimSun" pitchFamily="34" charset="0"/>
                <a:ea typeface="SimSun" pitchFamily="34" charset="-122"/>
                <a:cs typeface="SimSun" pitchFamily="34" charset="-120"/>
              </a:rPr>
              <a:t> </a:t>
            </a:r>
            <a:r>
              <a:rPr lang="en-US" altLang="zh-CN" sz="2400" b="1" i="0" spc="-50" dirty="0">
                <a:solidFill>
                  <a:srgbClr val="FF0000"/>
                </a:solidFill>
                <a:latin typeface="Times New Roman" pitchFamily="34" charset="0"/>
                <a:ea typeface="微软雅黑" pitchFamily="34" charset="-122"/>
                <a:cs typeface="Times New Roman" pitchFamily="34" charset="-120"/>
              </a:rPr>
              <a:t>评分时，运动员在蹦床、跳水、花样游泳中的动作不能忽略</a:t>
            </a:r>
            <a:r>
              <a:rPr lang="en-US" altLang="zh-CN" sz="2400" b="1" i="0" spc="-50">
                <a:solidFill>
                  <a:srgbClr val="FF0000"/>
                </a:solidFill>
                <a:latin typeface="Times New Roman" pitchFamily="34" charset="0"/>
                <a:ea typeface="微软雅黑" pitchFamily="34" charset="-122"/>
                <a:cs typeface="Times New Roman" pitchFamily="34" charset="-120"/>
              </a:rPr>
              <a:t>，所以不能将其视为</a:t>
            </a:r>
          </a:p>
          <a:p>
            <a:pPr latinLnBrk="1">
              <a:lnSpc>
                <a:spcPts val="4200"/>
              </a:lnSpc>
            </a:pPr>
            <a:r>
              <a:rPr lang="en-US" altLang="zh-CN" sz="2400" b="1" i="0" spc="-50">
                <a:solidFill>
                  <a:srgbClr val="FF0000"/>
                </a:solidFill>
                <a:latin typeface="Times New Roman" pitchFamily="34" charset="0"/>
                <a:ea typeface="微软雅黑" pitchFamily="34" charset="-122"/>
                <a:cs typeface="Times New Roman" pitchFamily="34" charset="-120"/>
              </a:rPr>
              <a:t>质点</a:t>
            </a:r>
            <a:r>
              <a:rPr lang="en-US" altLang="zh-CN" sz="2400" b="1" i="0" spc="-50" dirty="0">
                <a:solidFill>
                  <a:srgbClr val="FF0000"/>
                </a:solidFill>
                <a:latin typeface="Times New Roman" pitchFamily="34" charset="0"/>
                <a:ea typeface="微软雅黑" pitchFamily="34" charset="-122"/>
                <a:cs typeface="Times New Roman" pitchFamily="34" charset="-120"/>
              </a:rPr>
              <a:t>，在4公里追逐赛中，运动员的大小、形状可以忽略，可以将其视为质点，C正确.</a:t>
            </a:r>
            <a:endParaRPr lang="en-US" altLang="zh-CN" sz="2400" spc="-5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
                                            <p:bg/>
                                          </p:spTgt>
                                        </p:tgtEl>
                                        <p:attrNameLst>
                                          <p:attrName>style.visibility</p:attrName>
                                        </p:attrNameLst>
                                      </p:cBhvr>
                                      <p:to>
                                        <p:strVal val="visible"/>
                                      </p:to>
                                    </p:set>
                                    <p:animEffect transition="in" filter="wipe(left)">
                                      <p:cBhvr>
                                        <p:cTn id="15" dur="500"/>
                                        <p:tgtEl>
                                          <p:spTgt spid="5">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wipe(left)">
                                      <p:cBhvr>
                                        <p:cTn id="18" dur="500"/>
                                        <p:tgtEl>
                                          <p:spTgt spid="5">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wipe(left)">
                                      <p:cBhvr>
                                        <p:cTn id="21"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5" grpId="0"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amp;si=9">
    <p:spTree>
      <p:nvGrpSpPr>
        <p:cNvPr id="1" name=""/>
        <p:cNvGrpSpPr/>
        <p:nvPr/>
      </p:nvGrpSpPr>
      <p:grpSpPr>
        <a:xfrm>
          <a:off x="0" y="0"/>
          <a:ext cx="0" cy="0"/>
          <a:chOff x="0" y="0"/>
          <a:chExt cx="0" cy="0"/>
        </a:xfrm>
      </p:grpSpPr>
      <p:sp>
        <p:nvSpPr>
          <p:cNvPr id="2" name="P_5_BD#b4b921f2b?vcp=1&amp;pid=2407390a8&amp;color=0,0,0&amp;bt=1&amp;bbb=1"/>
          <p:cNvSpPr/>
          <p:nvPr/>
        </p:nvSpPr>
        <p:spPr>
          <a:xfrm>
            <a:off x="393192" y="1782636"/>
            <a:ext cx="11402568" cy="3268599"/>
          </a:xfrm>
          <a:prstGeom prst="rect">
            <a:avLst/>
          </a:prstGeom>
          <a:noFill/>
          <a:ln/>
        </p:spPr>
        <p:txBody>
          <a:bodyPr wrap="none" lIns="0" tIns="0" rIns="0" bIns="0" rtlCol="0" anchor="t"/>
          <a:lstStyle/>
          <a:p>
            <a:pPr algn="l"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教材拓展</a:t>
            </a:r>
            <a:endParaRPr lang="en-US" altLang="zh-CN" sz="2400" dirty="0"/>
          </a:p>
          <a:p>
            <a:pPr algn="ctr" latinLnBrk="1">
              <a:lnSpc>
                <a:spcPts val="4400"/>
              </a:lnSpc>
            </a:pPr>
            <a:r>
              <a:rPr lang="en-US" altLang="zh-CN" sz="2400" b="1" i="0">
                <a:solidFill>
                  <a:srgbClr val="000000"/>
                </a:solidFill>
                <a:latin typeface="Times New Roman" pitchFamily="34" charset="0"/>
                <a:ea typeface="微软雅黑" pitchFamily="34" charset="-122"/>
                <a:cs typeface="Times New Roman" pitchFamily="34" charset="-120"/>
              </a:rPr>
              <a:t>对理想化模型的理解</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000000"/>
                </a:solidFill>
                <a:latin typeface="Times New Roman" pitchFamily="34" charset="0"/>
                <a:ea typeface="微软雅黑" pitchFamily="34" charset="-122"/>
                <a:cs typeface="Times New Roman" pitchFamily="34" charset="-120"/>
              </a:rPr>
              <a:t>.理想化模型是一种科学抽象,实际并不存在.</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2</a:t>
            </a:r>
            <a:r>
              <a:rPr lang="en-US" altLang="zh-CN" sz="2400" b="0" i="0" dirty="0">
                <a:solidFill>
                  <a:srgbClr val="000000"/>
                </a:solidFill>
                <a:latin typeface="Times New Roman" pitchFamily="34" charset="0"/>
                <a:ea typeface="微软雅黑" pitchFamily="34" charset="-122"/>
                <a:cs typeface="Times New Roman" pitchFamily="34" charset="-120"/>
              </a:rPr>
              <a:t>.理想化模型忽略问题的次要因素,突出主要因素.</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3</a:t>
            </a:r>
            <a:r>
              <a:rPr lang="en-US" altLang="zh-CN" sz="2400" b="0" i="0" dirty="0">
                <a:solidFill>
                  <a:srgbClr val="000000"/>
                </a:solidFill>
                <a:latin typeface="Times New Roman" pitchFamily="34" charset="0"/>
                <a:ea typeface="微软雅黑" pitchFamily="34" charset="-122"/>
                <a:cs typeface="Times New Roman" pitchFamily="34" charset="-120"/>
              </a:rPr>
              <a:t>.理想化模型是客观事物的近似反映,是物理学中一种常用的研究方法.</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4</a:t>
            </a:r>
            <a:r>
              <a:rPr lang="en-US" altLang="zh-CN" sz="2400" b="0" i="0" dirty="0">
                <a:solidFill>
                  <a:srgbClr val="000000"/>
                </a:solidFill>
                <a:latin typeface="Times New Roman" pitchFamily="34" charset="0"/>
                <a:ea typeface="微软雅黑" pitchFamily="34" charset="-122"/>
                <a:cs typeface="Times New Roman" pitchFamily="34" charset="-120"/>
              </a:rPr>
              <a:t>.理想化模型使问题处理大为简化而又不会发生大的偏差.</a:t>
            </a:r>
            <a:endParaRPr lang="en-US" altLang="zh-CN" sz="2400" dirty="0"/>
          </a:p>
        </p:txBody>
      </p:sp>
    </p:spTree>
  </p:cSld>
  <p:clrMapOvr>
    <a:masterClrMapping/>
  </p:clrMapOvr>
  <p:transition>
    <p:split dir="in"/>
  </p:transition>
</p:sld>
</file>

<file path=ppt/slides/slide10.xml><?xml version="1.0" encoding="utf-8"?>
<p:sld xmlns:a="http://schemas.openxmlformats.org/drawingml/2006/main" xmlns:r="http://schemas.openxmlformats.org/officeDocument/2006/relationships" xmlns:p="http://schemas.openxmlformats.org/presentationml/2006/main">
  <p:cSld name="Slide 10&amp;si=10">
    <p:spTree>
      <p:nvGrpSpPr>
        <p:cNvPr id="1" name=""/>
        <p:cNvGrpSpPr/>
        <p:nvPr/>
      </p:nvGrpSpPr>
      <p:grpSpPr>
        <a:xfrm>
          <a:off x="0" y="0"/>
          <a:ext cx="0" cy="0"/>
          <a:chOff x="0" y="0"/>
          <a:chExt cx="0" cy="0"/>
        </a:xfrm>
      </p:grpSpPr>
      <p:sp>
        <p:nvSpPr>
          <p:cNvPr id="2" name="P_5_BD#b4b921f2b?vcp=1&amp;pid=2407390a8&amp;color=0,0,0&amp;bt=1&amp;bbb=1&amp;hb=1"/>
          <p:cNvSpPr/>
          <p:nvPr/>
        </p:nvSpPr>
        <p:spPr>
          <a:xfrm>
            <a:off x="393192" y="683355"/>
            <a:ext cx="11402568" cy="5507800"/>
          </a:xfrm>
          <a:prstGeom prst="rect">
            <a:avLst/>
          </a:prstGeom>
          <a:noFill/>
          <a:ln/>
        </p:spPr>
        <p:txBody>
          <a:bodyPr wrap="none" lIns="0" tIns="0" rIns="0" bIns="0" rtlCol="0" anchor="t"/>
          <a:lstStyle/>
          <a:p>
            <a:pPr algn="l"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易错警示</a:t>
            </a:r>
            <a:endParaRPr lang="en-US" altLang="zh-CN" sz="2400" dirty="0"/>
          </a:p>
          <a:p>
            <a:pPr algn="ctr" latinLnBrk="1">
              <a:lnSpc>
                <a:spcPts val="4400"/>
              </a:lnSpc>
            </a:pPr>
            <a:r>
              <a:rPr lang="en-US" altLang="zh-CN" sz="2400" b="1" i="0">
                <a:solidFill>
                  <a:srgbClr val="000000"/>
                </a:solidFill>
                <a:latin typeface="Times New Roman" pitchFamily="34" charset="0"/>
                <a:ea typeface="微软雅黑" pitchFamily="34" charset="-122"/>
                <a:cs typeface="Times New Roman" pitchFamily="34" charset="-120"/>
              </a:rPr>
              <a:t>物体能否视为质点的误区</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000000"/>
                </a:solidFill>
                <a:latin typeface="Times New Roman" pitchFamily="34" charset="0"/>
                <a:ea typeface="微软雅黑" pitchFamily="34" charset="-122"/>
                <a:cs typeface="Times New Roman" pitchFamily="34" charset="-120"/>
              </a:rPr>
              <a:t>.物体能否视为质点与其大小和形状无关，</a:t>
            </a:r>
            <a:r>
              <a:rPr lang="en-US" altLang="zh-CN" sz="2400" b="0" i="0">
                <a:solidFill>
                  <a:srgbClr val="000000"/>
                </a:solidFill>
                <a:latin typeface="Times New Roman" pitchFamily="34" charset="0"/>
                <a:ea typeface="微软雅黑" pitchFamily="34" charset="-122"/>
                <a:cs typeface="Times New Roman" pitchFamily="34" charset="-120"/>
              </a:rPr>
              <a:t>不能认为很小的物体就可以看作质点，</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很大的物体就不能看作质点</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2</a:t>
            </a:r>
            <a:r>
              <a:rPr lang="en-US" altLang="zh-CN" sz="2400" b="0" i="0" dirty="0">
                <a:solidFill>
                  <a:srgbClr val="000000"/>
                </a:solidFill>
                <a:latin typeface="Times New Roman" pitchFamily="34" charset="0"/>
                <a:ea typeface="微软雅黑" pitchFamily="34" charset="-122"/>
                <a:cs typeface="Times New Roman" pitchFamily="34" charset="-120"/>
              </a:rPr>
              <a:t>.一个物体能否视为质点，是由研究的性质决定的</a:t>
            </a:r>
            <a:r>
              <a:rPr lang="en-US" altLang="zh-CN" sz="2400" b="0" i="0">
                <a:solidFill>
                  <a:srgbClr val="000000"/>
                </a:solidFill>
                <a:latin typeface="Times New Roman" pitchFamily="34" charset="0"/>
                <a:ea typeface="微软雅黑" pitchFamily="34" charset="-122"/>
                <a:cs typeface="Times New Roman" pitchFamily="34" charset="-120"/>
              </a:rPr>
              <a:t>，不能说平动的物体一定能看</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作质点</a:t>
            </a:r>
            <a:r>
              <a:rPr lang="en-US" altLang="zh-CN" sz="2400" b="0" i="0" dirty="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而转动的物体一定不能看作质点.</a:t>
            </a:r>
          </a:p>
          <a:p>
            <a:pPr marL="0" marR="0" lvl="0" indent="0" defTabSz="914400" rtl="0" eaLnBrk="1" fontAlgn="auto" latinLnBrk="1" hangingPunct="1">
              <a:lnSpc>
                <a:spcPts val="4400"/>
              </a:lnSpc>
              <a:spcBef>
                <a:spcPts val="0"/>
              </a:spcBef>
              <a:spcAft>
                <a:spcPts val="0"/>
              </a:spcAft>
              <a:buClrTx/>
              <a:buSzTx/>
              <a:buFontTx/>
              <a:buNone/>
              <a:tabLst/>
              <a:defRPr/>
            </a:pPr>
            <a:r>
              <a:rPr kumimoji="0" lang="en-US" altLang="zh-CN" sz="2400" b="1" i="0" u="none" strike="noStrike" kern="1200" cap="none" spc="0" normalizeH="0" baseline="0" noProof="0">
                <a:ln>
                  <a:noFill/>
                </a:ln>
                <a:solidFill>
                  <a:srgbClr val="000000"/>
                </a:solidFill>
                <a:effectLst/>
                <a:uLnTx/>
                <a:uFillTx/>
                <a:latin typeface="Times New Roman" pitchFamily="34" charset="0"/>
                <a:ea typeface="微软雅黑" pitchFamily="34" charset="-122"/>
                <a:cs typeface="Times New Roman" pitchFamily="34" charset="-120"/>
              </a:rPr>
              <a:t>友情提示</a:t>
            </a:r>
            <a:endParaRPr kumimoji="0" lang="en-US" altLang="zh-CN" sz="24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a:p>
            <a:pPr marL="0" marR="0" lvl="0" indent="0" algn="ctr" defTabSz="914400" rtl="0" eaLnBrk="1" fontAlgn="auto" latinLnBrk="1" hangingPunct="1">
              <a:lnSpc>
                <a:spcPts val="4400"/>
              </a:lnSpc>
              <a:spcBef>
                <a:spcPts val="0"/>
              </a:spcBef>
              <a:spcAft>
                <a:spcPts val="0"/>
              </a:spcAft>
              <a:buClrTx/>
              <a:buSzTx/>
              <a:buFontTx/>
              <a:buNone/>
              <a:tabLst/>
              <a:defRPr/>
            </a:pPr>
            <a:r>
              <a:rPr kumimoji="0" lang="en-US" altLang="zh-CN" sz="2400" b="1" i="0" u="none" strike="noStrike" kern="1200" cap="none" spc="0" normalizeH="0" baseline="0" noProof="0">
                <a:ln>
                  <a:noFill/>
                </a:ln>
                <a:solidFill>
                  <a:srgbClr val="000000"/>
                </a:solidFill>
                <a:effectLst/>
                <a:uLnTx/>
                <a:uFillTx/>
                <a:latin typeface="Times New Roman" pitchFamily="34" charset="0"/>
                <a:ea typeface="微软雅黑" pitchFamily="34" charset="-122"/>
                <a:cs typeface="Times New Roman" pitchFamily="34" charset="-120"/>
              </a:rPr>
              <a:t>质点与几何点的区别</a:t>
            </a:r>
            <a:endParaRPr kumimoji="0" lang="en-US" altLang="zh-CN" sz="24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a:p>
            <a:pPr marL="0" marR="0" lvl="0" indent="0" defTabSz="914400" rtl="0" eaLnBrk="1" fontAlgn="auto" latinLnBrk="1" hangingPunct="1">
              <a:lnSpc>
                <a:spcPts val="4400"/>
              </a:lnSpc>
              <a:spcBef>
                <a:spcPts val="0"/>
              </a:spcBef>
              <a:spcAft>
                <a:spcPts val="0"/>
              </a:spcAft>
              <a:buClrTx/>
              <a:buSzTx/>
              <a:buFontTx/>
              <a:buNone/>
              <a:tabLst/>
              <a:defRPr/>
            </a:pPr>
            <a:r>
              <a:rPr kumimoji="0" lang="en-US" altLang="zh-CN" sz="2400" b="0" i="0" strike="noStrike" kern="1200" cap="none" spc="0" normalizeH="0" baseline="0" noProof="0">
                <a:ln>
                  <a:noFill/>
                </a:ln>
                <a:solidFill>
                  <a:srgbClr val="000000"/>
                </a:solidFill>
                <a:effectLst/>
                <a:uLnTx/>
                <a:uFillTx/>
                <a:latin typeface="SimSun" panose="02010600030101010101" pitchFamily="2" charset="-122"/>
                <a:ea typeface="微软雅黑" pitchFamily="34" charset="-122"/>
                <a:cs typeface="Times New Roman" pitchFamily="34" charset="-120"/>
              </a:rPr>
              <a:t>    </a:t>
            </a:r>
            <a:r>
              <a:rPr kumimoji="0" lang="en-US" altLang="zh-CN" sz="2400" b="0" i="0" u="none" strike="noStrike" kern="1200" cap="none" spc="0" normalizeH="0" baseline="0" noProof="0">
                <a:ln>
                  <a:noFill/>
                </a:ln>
                <a:solidFill>
                  <a:srgbClr val="000000"/>
                </a:solidFill>
                <a:effectLst/>
                <a:uLnTx/>
                <a:uFillTx/>
                <a:latin typeface="Times New Roman" pitchFamily="34" charset="0"/>
                <a:ea typeface="微软雅黑" pitchFamily="34" charset="-122"/>
                <a:cs typeface="Times New Roman" pitchFamily="34" charset="-120"/>
              </a:rPr>
              <a:t>质点是对实际物体进行科学抽象的模型，有质量，只忽略了物体的大小和形状；</a:t>
            </a:r>
          </a:p>
          <a:p>
            <a:pPr marL="0" marR="0" lvl="0" indent="0" defTabSz="914400" rtl="0" eaLnBrk="1" fontAlgn="auto" latinLnBrk="1" hangingPunct="1">
              <a:lnSpc>
                <a:spcPts val="4200"/>
              </a:lnSpc>
              <a:spcBef>
                <a:spcPts val="0"/>
              </a:spcBef>
              <a:spcAft>
                <a:spcPts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Times New Roman" pitchFamily="34" charset="0"/>
                <a:ea typeface="微软雅黑" pitchFamily="34" charset="-122"/>
                <a:cs typeface="Times New Roman" pitchFamily="34" charset="-120"/>
              </a:rPr>
              <a:t>几何中的“点”仅仅表示空间中的某一位置.</a:t>
            </a:r>
            <a:endParaRPr lang="en-US" altLang="zh-CN" sz="2400" dirty="0"/>
          </a:p>
        </p:txBody>
      </p:sp>
    </p:spTree>
  </p:cSld>
  <p:clrMapOvr>
    <a:masterClrMapping/>
  </p:clrMapOvr>
  <p:transition>
    <p:split dir="in"/>
  </p:transition>
</p:sld>
</file>

<file path=ppt/slides/slide11.xml><?xml version="1.0" encoding="utf-8"?>
<p:sld xmlns:a="http://schemas.openxmlformats.org/drawingml/2006/main" xmlns:r="http://schemas.openxmlformats.org/officeDocument/2006/relationships" xmlns:p="http://schemas.openxmlformats.org/presentationml/2006/main">
  <p:cSld name="Slide 11&amp;si=11">
    <p:spTree>
      <p:nvGrpSpPr>
        <p:cNvPr id="1" name=""/>
        <p:cNvGrpSpPr/>
        <p:nvPr/>
      </p:nvGrpSpPr>
      <p:grpSpPr>
        <a:xfrm>
          <a:off x="0" y="0"/>
          <a:ext cx="0" cy="0"/>
          <a:chOff x="0" y="0"/>
          <a:chExt cx="0" cy="0"/>
        </a:xfrm>
      </p:grpSpPr>
      <p:pic>
        <p:nvPicPr>
          <p:cNvPr id="2" name="C_4#41e6e708a?vcp=1&amp;pid=6b33c3c25&amp;color=0,0,0&amp;tib=255,255,255&amp;bt=1" descr="preencoded.png"/>
          <p:cNvPicPr>
            <a:picLocks noChangeAspect="1"/>
          </p:cNvPicPr>
          <p:nvPr/>
        </p:nvPicPr>
        <p:blipFill>
          <a:blip r:embed="rId3"/>
          <a:stretch>
            <a:fillRect/>
          </a:stretch>
        </p:blipFill>
        <p:spPr>
          <a:xfrm>
            <a:off x="393192" y="502920"/>
            <a:ext cx="11356848" cy="457200"/>
          </a:xfrm>
          <a:prstGeom prst="rect">
            <a:avLst/>
          </a:prstGeom>
        </p:spPr>
      </p:pic>
      <p:sp>
        <p:nvSpPr>
          <p:cNvPr id="3" name="C_4_BD#41e6e708a?vcp=1&amp;pid=6b33c3c25&amp;color=255,255,255"/>
          <p:cNvSpPr/>
          <p:nvPr/>
        </p:nvSpPr>
        <p:spPr>
          <a:xfrm>
            <a:off x="1225296" y="502920"/>
            <a:ext cx="356616" cy="457200"/>
          </a:xfrm>
          <a:prstGeom prst="rect">
            <a:avLst/>
          </a:prstGeom>
          <a:noFill/>
          <a:ln/>
        </p:spPr>
        <p:txBody>
          <a:bodyPr wrap="square" lIns="0" tIns="0" rIns="0" bIns="0" rtlCol="0" anchor="ctr"/>
          <a:lstStyle/>
          <a:p>
            <a:pPr algn="ctr" latinLnBrk="1">
              <a:lnSpc>
                <a:spcPct val="100000"/>
              </a:lnSpc>
            </a:pPr>
            <a:r>
              <a:rPr lang="en-US" altLang="zh-CN" sz="2800" b="1" i="0" dirty="0">
                <a:solidFill>
                  <a:srgbClr val="FFFFFF"/>
                </a:solidFill>
                <a:latin typeface="SimHei" pitchFamily="34" charset="0"/>
                <a:ea typeface="SimHei" pitchFamily="34" charset="-122"/>
                <a:cs typeface="SimHei" pitchFamily="34" charset="-120"/>
              </a:rPr>
              <a:t>2</a:t>
            </a:r>
            <a:endParaRPr lang="en-US" altLang="zh-CN" sz="2800" dirty="0"/>
          </a:p>
        </p:txBody>
      </p:sp>
      <p:sp>
        <p:nvSpPr>
          <p:cNvPr id="4" name="C_4_BD#41e6e708a?vcp=1&amp;pid=6b33c3c25&amp;color=0,0,0&amp;bbb=1"/>
          <p:cNvSpPr/>
          <p:nvPr/>
        </p:nvSpPr>
        <p:spPr>
          <a:xfrm>
            <a:off x="1837944" y="502920"/>
            <a:ext cx="9939528" cy="457200"/>
          </a:xfrm>
          <a:prstGeom prst="rect">
            <a:avLst/>
          </a:prstGeom>
          <a:noFill/>
          <a:ln/>
        </p:spPr>
        <p:txBody>
          <a:bodyPr wrap="none" lIns="0" tIns="0" rIns="0" bIns="0" rtlCol="0" anchor="ctr"/>
          <a:lstStyle/>
          <a:p>
            <a:pPr algn="l" latinLnBrk="1">
              <a:lnSpc>
                <a:spcPts val="3200"/>
              </a:lnSpc>
            </a:pPr>
            <a:r>
              <a:rPr lang="en-US" altLang="zh-CN" sz="2600" b="1" i="0" dirty="0">
                <a:solidFill>
                  <a:srgbClr val="000000"/>
                </a:solidFill>
                <a:latin typeface="Times New Roman" pitchFamily="34" charset="0"/>
                <a:ea typeface="SimHei" pitchFamily="34" charset="-122"/>
                <a:cs typeface="Times New Roman" pitchFamily="34" charset="-120"/>
              </a:rPr>
              <a:t>参考系</a:t>
            </a:r>
            <a:r>
              <a:rPr lang="en-US" altLang="zh-CN" sz="2600" b="1" i="0" dirty="0">
                <a:solidFill>
                  <a:srgbClr val="000000"/>
                </a:solidFill>
                <a:latin typeface="SimSun" pitchFamily="34" charset="0"/>
                <a:ea typeface="SimSun" pitchFamily="34" charset="-122"/>
                <a:cs typeface="SimSun" pitchFamily="34" charset="-120"/>
              </a:rPr>
              <a:t> </a:t>
            </a:r>
            <a:r>
              <a:rPr lang="en-US" altLang="zh-CN" sz="2600" b="1" i="0" dirty="0">
                <a:solidFill>
                  <a:srgbClr val="000000"/>
                </a:solidFill>
                <a:latin typeface="Times New Roman" pitchFamily="34" charset="0"/>
                <a:ea typeface="SimHei" pitchFamily="34" charset="-122"/>
                <a:cs typeface="Times New Roman" pitchFamily="34" charset="-120"/>
              </a:rPr>
              <a:t>易错点</a:t>
            </a:r>
            <a:endParaRPr lang="en-US" altLang="zh-CN" sz="2600" dirty="0"/>
          </a:p>
        </p:txBody>
      </p:sp>
      <p:sp>
        <p:nvSpPr>
          <p:cNvPr id="5" name="P_5_BD#17dc5588c?vcp=1&amp;pid=41e6e708a&amp;color=0,0,0&amp;bbb=1"/>
          <p:cNvSpPr/>
          <p:nvPr/>
        </p:nvSpPr>
        <p:spPr>
          <a:xfrm>
            <a:off x="393192" y="1092200"/>
            <a:ext cx="11402568" cy="488315"/>
          </a:xfrm>
          <a:prstGeom prst="rect">
            <a:avLst/>
          </a:prstGeom>
          <a:noFill/>
          <a:ln/>
        </p:spPr>
        <p:txBody>
          <a:bodyPr wrap="none" lIns="0" tIns="0" rIns="0" bIns="0" rtlCol="0" anchor="t"/>
          <a:lstStyle/>
          <a:p>
            <a:pPr algn="ctr" latinLnBrk="1">
              <a:lnSpc>
                <a:spcPts val="4300"/>
              </a:lnSpc>
            </a:pPr>
            <a:r>
              <a:rPr lang="en-US" altLang="zh-CN" sz="2400" b="1" i="0" dirty="0">
                <a:solidFill>
                  <a:srgbClr val="000000"/>
                </a:solidFill>
                <a:latin typeface="Times New Roman" pitchFamily="34" charset="0"/>
                <a:ea typeface="微软雅黑" pitchFamily="34" charset="-122"/>
                <a:cs typeface="Times New Roman" pitchFamily="34" charset="-120"/>
              </a:rPr>
              <a:t>核心总结</a:t>
            </a:r>
            <a:endParaRPr lang="en-US" altLang="zh-CN" sz="2400" dirty="0"/>
          </a:p>
        </p:txBody>
      </p:sp>
      <p:graphicFrame>
        <p:nvGraphicFramePr>
          <p:cNvPr id="12" name="P_5_BD#17dc5588c?colgroup=4,32&amp;vcp=1&amp;pid=41e6e708a&amp;color=0,0,0&amp;bbb=1&amp;hb=1"/>
          <p:cNvGraphicFramePr>
            <a:graphicFrameLocks noGrp="1"/>
          </p:cNvGraphicFramePr>
          <p:nvPr>
            <p:extLst>
              <p:ext uri="{D42A27DB-BD31-4B8C-83A1-F6EECF244321}">
                <p14:modId xmlns:p14="http://schemas.microsoft.com/office/powerpoint/2010/main" val="4183002813"/>
              </p:ext>
            </p:extLst>
          </p:nvPr>
        </p:nvGraphicFramePr>
        <p:xfrm>
          <a:off x="393192" y="1712595"/>
          <a:ext cx="11384280" cy="2470912"/>
        </p:xfrm>
        <a:graphic>
          <a:graphicData uri="http://schemas.openxmlformats.org/drawingml/2006/table">
            <a:tbl>
              <a:tblPr/>
              <a:tblGrid>
                <a:gridCol w="1472184">
                  <a:extLst>
                    <a:ext uri="{9D8B030D-6E8A-4147-A177-3AD203B41FA5}">
                      <a16:colId xmlns:a16="http://schemas.microsoft.com/office/drawing/2014/main" val="20000"/>
                    </a:ext>
                  </a:extLst>
                </a:gridCol>
                <a:gridCol w="9912096">
                  <a:extLst>
                    <a:ext uri="{9D8B030D-6E8A-4147-A177-3AD203B41FA5}">
                      <a16:colId xmlns:a16="http://schemas.microsoft.com/office/drawing/2014/main" val="20001"/>
                    </a:ext>
                  </a:extLst>
                </a:gridCol>
              </a:tblGrid>
              <a:tr h="974344">
                <a:tc rowSpan="4">
                  <a:txBody>
                    <a:bodyPr/>
                    <a:lstStyle/>
                    <a:p>
                      <a:pPr algn="ctr" latinLnBrk="1" hangingPunct="0">
                        <a:lnSpc>
                          <a:spcPts val="3600"/>
                        </a:lnSpc>
                      </a:pPr>
                      <a:r>
                        <a:rPr lang="en-US" altLang="zh-CN" sz="2400" b="1" i="0">
                          <a:solidFill>
                            <a:srgbClr val="000000"/>
                          </a:solidFill>
                          <a:latin typeface="Times New Roman" pitchFamily="34" charset="0"/>
                          <a:ea typeface="微软雅黑" pitchFamily="34" charset="-122"/>
                          <a:cs typeface="Times New Roman" pitchFamily="34" charset="-120"/>
                        </a:rPr>
                        <a:t>性质</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marL="0" indent="0" algn="l" latinLnBrk="1" hangingPunct="0">
                        <a:lnSpc>
                          <a:spcPts val="3800"/>
                        </a:lnSpc>
                      </a:pPr>
                      <a:r>
                        <a:rPr lang="en-US" altLang="zh-CN" sz="2400" b="0" i="0" dirty="0">
                          <a:solidFill>
                            <a:srgbClr val="000000"/>
                          </a:solidFill>
                          <a:latin typeface="Times New Roman" pitchFamily="34" charset="0"/>
                          <a:ea typeface="微软雅黑" pitchFamily="34" charset="-122"/>
                          <a:cs typeface="Times New Roman" pitchFamily="34" charset="-120"/>
                        </a:rPr>
                        <a:t>标准性：作为参考系的物体都假定不动</a:t>
                      </a:r>
                      <a:r>
                        <a:rPr lang="en-US" altLang="zh-CN" sz="2400" b="0" i="0" spc="-10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被研究的物体的运动都以参考系</a:t>
                      </a:r>
                    </a:p>
                    <a:p>
                      <a:pPr marL="0" lvl="0" indent="0" algn="l" latinLnBrk="1" hangingPunct="0">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为标准</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98856">
                <a:tc vMerge="1">
                  <a:txBody>
                    <a:bodyPr/>
                    <a:lstStyle/>
                    <a:p>
                      <a:endParaRPr lang="zh-CN"/>
                    </a:p>
                  </a:txBody>
                  <a:tcPr/>
                </a:tc>
                <a:tc>
                  <a:txBody>
                    <a:bodyPr/>
                    <a:lstStyle/>
                    <a:p>
                      <a:pPr algn="l"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任意性：参考系的选取是任意的</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任何物体都可以作为参考系</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98856">
                <a:tc vMerge="1">
                  <a:txBody>
                    <a:bodyPr/>
                    <a:lstStyle/>
                    <a:p>
                      <a:endParaRPr lang="zh-CN"/>
                    </a:p>
                  </a:txBody>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统一性：比较不同物体的运动时要选取同一参考系</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98856">
                <a:tc vMerge="1">
                  <a:txBody>
                    <a:bodyPr/>
                    <a:lstStyle/>
                    <a:p>
                      <a:endParaRPr lang="zh-CN"/>
                    </a:p>
                  </a:txBody>
                  <a:tcPr/>
                </a:tc>
                <a:tc>
                  <a:txBody>
                    <a:bodyPr/>
                    <a:lstStyle/>
                    <a:p>
                      <a:pPr algn="ctr" latinLnBrk="1" hangingPunct="0">
                        <a:lnSpc>
                          <a:spcPts val="3700"/>
                        </a:lnSpc>
                      </a:pPr>
                      <a:r>
                        <a:rPr lang="en-US" altLang="zh-CN" sz="2400" b="0" i="0" dirty="0">
                          <a:solidFill>
                            <a:srgbClr val="000000"/>
                          </a:solidFill>
                          <a:latin typeface="Times New Roman" pitchFamily="34" charset="0"/>
                          <a:ea typeface="微软雅黑" pitchFamily="34" charset="-122"/>
                          <a:cs typeface="Times New Roman" pitchFamily="34" charset="-120"/>
                        </a:rPr>
                        <a:t>相对性：参考系不同</a:t>
                      </a:r>
                      <a:r>
                        <a:rPr lang="en-US" altLang="zh-CN" sz="2400" b="0" i="0" spc="-100" dirty="0">
                          <a:solidFill>
                            <a:srgbClr val="000000"/>
                          </a:solidFill>
                          <a:latin typeface="Times New Roman" pitchFamily="34" charset="0"/>
                          <a:ea typeface="微软雅黑" pitchFamily="34" charset="-122"/>
                          <a:cs typeface="Times New Roman" pitchFamily="34" charset="-120"/>
                        </a:rPr>
                        <a:t>，</a:t>
                      </a:r>
                      <a:r>
                        <a:rPr lang="en-US" altLang="zh-CN" sz="2400" b="0" i="0" dirty="0">
                          <a:solidFill>
                            <a:srgbClr val="000000"/>
                          </a:solidFill>
                          <a:latin typeface="Times New Roman" pitchFamily="34" charset="0"/>
                          <a:ea typeface="微软雅黑" pitchFamily="34" charset="-122"/>
                          <a:cs typeface="Times New Roman" pitchFamily="34" charset="-120"/>
                        </a:rPr>
                        <a:t>对同一物体运动的描述就可能不同</a:t>
                      </a:r>
                      <a:endParaRPr lang="en-US" altLang="zh-CN" sz="1200" dirty="0"/>
                    </a:p>
                  </a:txBody>
                  <a:tcPr marL="72000" marR="72000" marT="0" marB="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transition>
    <p:split dir="in"/>
  </p:transition>
</p:sld>
</file>

<file path=ppt/slides/slide12.xml><?xml version="1.0" encoding="utf-8"?>
<p:sld xmlns:a="http://schemas.openxmlformats.org/drawingml/2006/main" xmlns:r="http://schemas.openxmlformats.org/officeDocument/2006/relationships" xmlns:p="http://schemas.openxmlformats.org/presentationml/2006/main">
  <p:cSld name="Slide 12&amp;si=12">
    <p:spTree>
      <p:nvGrpSpPr>
        <p:cNvPr id="1" name=""/>
        <p:cNvGrpSpPr/>
        <p:nvPr/>
      </p:nvGrpSpPr>
      <p:grpSpPr>
        <a:xfrm>
          <a:off x="0" y="0"/>
          <a:ext cx="0" cy="0"/>
          <a:chOff x="0" y="0"/>
          <a:chExt cx="0" cy="0"/>
        </a:xfrm>
      </p:grpSpPr>
      <p:sp>
        <p:nvSpPr>
          <p:cNvPr id="2" name="QC_5_BD.7_1#774cd68d2?vcp=1&amp;pid=41e6e708a&amp;color=0,0,0&amp;bt=1&amp;bbb=1&amp;hb=1"/>
          <p:cNvSpPr/>
          <p:nvPr/>
        </p:nvSpPr>
        <p:spPr>
          <a:xfrm>
            <a:off x="393192" y="690372"/>
            <a:ext cx="11402568" cy="1033399"/>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考题2</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1" i="0" dirty="0">
                <a:solidFill>
                  <a:srgbClr val="000000"/>
                </a:solidFill>
                <a:latin typeface="Times New Roman" pitchFamily="34" charset="0"/>
                <a:ea typeface="微软雅黑" pitchFamily="34" charset="-122"/>
                <a:cs typeface="Times New Roman" pitchFamily="34" charset="-120"/>
              </a:rPr>
              <a:t>（人文素养）</a:t>
            </a:r>
            <a:r>
              <a:rPr lang="en-US" altLang="zh-CN" sz="2400" b="0" i="0" dirty="0">
                <a:solidFill>
                  <a:srgbClr val="1E5A99"/>
                </a:solidFill>
                <a:latin typeface="KaiTi" pitchFamily="34" charset="0"/>
                <a:ea typeface="KaiTi" pitchFamily="34" charset="-122"/>
                <a:cs typeface="KaiTi" pitchFamily="34" charset="-120"/>
              </a:rPr>
              <a:t>（2026·江苏南京师大附中检测</a:t>
            </a:r>
            <a:r>
              <a:rPr lang="en-US" altLang="zh-CN" sz="2400" b="0" i="0">
                <a:solidFill>
                  <a:srgbClr val="1E5A99"/>
                </a:solidFill>
                <a:latin typeface="KaiTi" pitchFamily="34" charset="0"/>
                <a:ea typeface="KaiTi" pitchFamily="34" charset="-122"/>
                <a:cs typeface="KaiTi"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唐诗宋词是中华民族的文化瑰</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宝</a:t>
            </a:r>
            <a:r>
              <a:rPr lang="en-US" altLang="zh-CN" sz="2400" b="0" i="0" dirty="0">
                <a:solidFill>
                  <a:srgbClr val="000000"/>
                </a:solidFill>
                <a:latin typeface="Times New Roman" pitchFamily="34" charset="0"/>
                <a:ea typeface="微软雅黑" pitchFamily="34" charset="-122"/>
                <a:cs typeface="Times New Roman" pitchFamily="34" charset="-120"/>
              </a:rPr>
              <a:t>.从物理的角度看，许多诗词中蕴含了丰富的物理知识，</a:t>
            </a:r>
            <a:r>
              <a:rPr lang="en-US" altLang="zh-CN" sz="2400" b="0" i="0">
                <a:solidFill>
                  <a:srgbClr val="000000"/>
                </a:solidFill>
                <a:latin typeface="Times New Roman" pitchFamily="34" charset="0"/>
                <a:ea typeface="微软雅黑" pitchFamily="34" charset="-122"/>
                <a:cs typeface="Times New Roman" pitchFamily="34" charset="-120"/>
              </a:rPr>
              <a:t>下列说法正确的是(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p:sp>
        <p:nvSpPr>
          <p:cNvPr id="3" name="QC_5_AN.8_1#774cd68d2.bracket?vcp=1&amp;pid=41e6e708a&amp;color=0,0,0&amp;vpa=3"/>
          <p:cNvSpPr/>
          <p:nvPr/>
        </p:nvSpPr>
        <p:spPr>
          <a:xfrm>
            <a:off x="10760361" y="1237742"/>
            <a:ext cx="4413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C</a:t>
            </a:r>
            <a:endParaRPr lang="en-US" altLang="zh-CN" sz="2400" dirty="0"/>
          </a:p>
        </p:txBody>
      </p:sp>
      <p:sp>
        <p:nvSpPr>
          <p:cNvPr id="4" name="QC_5_BD.7_2#774cd68d2.choices?vcp=1&amp;pid=41e6e708a&amp;color=0,0,0&amp;bbb=1"/>
          <p:cNvSpPr/>
          <p:nvPr/>
        </p:nvSpPr>
        <p:spPr>
          <a:xfrm>
            <a:off x="393192" y="1786509"/>
            <a:ext cx="11402568" cy="21550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A.“明月松间照，清泉石上流”描绘的情境是以流水为参考系</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.“飞流直下三千尺，疑是银河落九天”描绘的情境是以流水为参考系</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.“卧看满天云不动，不知云与我俱东”中的“云不动”是以“我”为参考系</a:t>
            </a:r>
            <a:endParaRPr lang="en-US" altLang="zh-CN" sz="2400" dirty="0"/>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.“两岸青山相对出，孤帆一片日边来”中的“青山相对出”是以河岸为参考系</a:t>
            </a:r>
            <a:endParaRPr lang="en-US" altLang="zh-CN" sz="2400" dirty="0"/>
          </a:p>
        </p:txBody>
      </p:sp>
      <p:sp>
        <p:nvSpPr>
          <p:cNvPr id="5" name="QC_5_AS.9_1#774cd68d2?vcp=1&amp;pid=41e6e708a&amp;color=0,0,0&amp;bbb=1&amp;hb=1"/>
          <p:cNvSpPr/>
          <p:nvPr/>
        </p:nvSpPr>
        <p:spPr>
          <a:xfrm>
            <a:off x="393192" y="3992308"/>
            <a:ext cx="11402568" cy="21550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“明月松间照，清泉石上流”描绘的情境是以“石”为参考系，A错误</a:t>
            </a:r>
            <a:r>
              <a:rPr lang="en-US" altLang="zh-CN" sz="2400" b="1" i="0">
                <a:solidFill>
                  <a:srgbClr val="FF0000"/>
                </a:solidFill>
                <a:latin typeface="Times New Roman" pitchFamily="34" charset="0"/>
                <a:ea typeface="微软雅黑" pitchFamily="34" charset="-122"/>
                <a:cs typeface="Times New Roman" pitchFamily="34" charset="-120"/>
              </a:rPr>
              <a:t>；“飞流直下</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三千尺</a:t>
            </a:r>
            <a:r>
              <a:rPr lang="en-US" altLang="zh-CN" sz="2400" b="1" i="0" dirty="0">
                <a:solidFill>
                  <a:srgbClr val="FF0000"/>
                </a:solidFill>
                <a:latin typeface="Times New Roman" pitchFamily="34" charset="0"/>
                <a:ea typeface="微软雅黑" pitchFamily="34" charset="-122"/>
                <a:cs typeface="Times New Roman" pitchFamily="34" charset="-120"/>
              </a:rPr>
              <a:t>，疑是银河落九天”描绘的情境是以地面为参考系，B错误；“</a:t>
            </a:r>
            <a:r>
              <a:rPr lang="en-US" altLang="zh-CN" sz="2400" b="1" i="0">
                <a:solidFill>
                  <a:srgbClr val="FF0000"/>
                </a:solidFill>
                <a:latin typeface="Times New Roman" pitchFamily="34" charset="0"/>
                <a:ea typeface="微软雅黑" pitchFamily="34" charset="-122"/>
                <a:cs typeface="Times New Roman" pitchFamily="34" charset="-120"/>
              </a:rPr>
              <a:t>卧看满天云不动，</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不知云与我俱东</a:t>
            </a:r>
            <a:r>
              <a:rPr lang="en-US" altLang="zh-CN" sz="2400" b="1" i="0" dirty="0">
                <a:solidFill>
                  <a:srgbClr val="FF0000"/>
                </a:solidFill>
                <a:latin typeface="Times New Roman" pitchFamily="34" charset="0"/>
                <a:ea typeface="微软雅黑" pitchFamily="34" charset="-122"/>
                <a:cs typeface="Times New Roman" pitchFamily="34" charset="-120"/>
              </a:rPr>
              <a:t>”中的“云不动”是以“我”为参考系，C正确；“两岸青山相对出</a:t>
            </a:r>
            <a:r>
              <a:rPr lang="en-US" altLang="zh-CN" sz="2400" b="1" i="0">
                <a:solidFill>
                  <a:srgbClr val="FF0000"/>
                </a:solidFill>
                <a:latin typeface="Times New Roman" pitchFamily="34" charset="0"/>
                <a:ea typeface="微软雅黑" pitchFamily="34" charset="-122"/>
                <a:cs typeface="Times New Roman" pitchFamily="34" charset="-120"/>
              </a:rPr>
              <a:t>，孤帆</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一片日边来</a:t>
            </a:r>
            <a:r>
              <a:rPr lang="en-US" altLang="zh-CN" sz="2400" b="1" i="0" dirty="0">
                <a:solidFill>
                  <a:srgbClr val="FF0000"/>
                </a:solidFill>
                <a:latin typeface="Times New Roman" pitchFamily="34" charset="0"/>
                <a:ea typeface="微软雅黑" pitchFamily="34" charset="-122"/>
                <a:cs typeface="Times New Roman" pitchFamily="34" charset="-120"/>
              </a:rPr>
              <a:t>”中的“青山相对出”是以“孤帆”为参考系，D错误.</a:t>
            </a:r>
            <a:endParaRPr lang="en-US" altLang="zh-CN" sz="240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
                                            <p:bg/>
                                          </p:spTgt>
                                        </p:tgtEl>
                                        <p:attrNameLst>
                                          <p:attrName>style.visibility</p:attrName>
                                        </p:attrNameLst>
                                      </p:cBhvr>
                                      <p:to>
                                        <p:strVal val="visible"/>
                                      </p:to>
                                    </p:set>
                                    <p:animEffect transition="in" filter="wipe(left)">
                                      <p:cBhvr>
                                        <p:cTn id="15" dur="500"/>
                                        <p:tgtEl>
                                          <p:spTgt spid="5">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wipe(left)">
                                      <p:cBhvr>
                                        <p:cTn id="18" dur="500"/>
                                        <p:tgtEl>
                                          <p:spTgt spid="5">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wipe(left)">
                                      <p:cBhvr>
                                        <p:cTn id="21" dur="500"/>
                                        <p:tgtEl>
                                          <p:spTgt spid="5">
                                            <p:txEl>
                                              <p:pRg st="1" end="1"/>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5">
                                            <p:txEl>
                                              <p:pRg st="2" end="2"/>
                                            </p:txEl>
                                          </p:spTgt>
                                        </p:tgtEl>
                                        <p:attrNameLst>
                                          <p:attrName>style.visibility</p:attrName>
                                        </p:attrNameLst>
                                      </p:cBhvr>
                                      <p:to>
                                        <p:strVal val="visible"/>
                                      </p:to>
                                    </p:set>
                                    <p:animEffect transition="in" filter="wipe(left)">
                                      <p:cBhvr>
                                        <p:cTn id="24" dur="500"/>
                                        <p:tgtEl>
                                          <p:spTgt spid="5">
                                            <p:txEl>
                                              <p:pRg st="2" end="2"/>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wipe(left)">
                                      <p:cBhvr>
                                        <p:cTn id="27"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5" grpId="0" build="p"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amp;si=13">
    <p:spTree>
      <p:nvGrpSpPr>
        <p:cNvPr id="1" name=""/>
        <p:cNvGrpSpPr/>
        <p:nvPr/>
      </p:nvGrpSpPr>
      <p:grpSpPr>
        <a:xfrm>
          <a:off x="0" y="0"/>
          <a:ext cx="0" cy="0"/>
          <a:chOff x="0" y="0"/>
          <a:chExt cx="0" cy="0"/>
        </a:xfrm>
      </p:grpSpPr>
      <p:pic>
        <p:nvPicPr>
          <p:cNvPr id="2" name="QC_5_BD.10_1#3d9ea71de?htil=1&amp;vcp=1&amp;pid=41e6e708a&amp;color=0,0,0&amp;tib=255,255,255&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9037441" y="1310734"/>
            <a:ext cx="2724912" cy="2048256"/>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3" name="QC_5_BD.10_2#3d9ea71de?htil=1&amp;vcp=1&amp;pid=41e6e708a&amp;color=0,0,0&amp;bt=1&amp;bbb=1&amp;hb=1&amp;hs=1"/>
          <p:cNvSpPr/>
          <p:nvPr/>
        </p:nvSpPr>
        <p:spPr>
          <a:xfrm>
            <a:off x="393192" y="1265015"/>
            <a:ext cx="8577072" cy="2150999"/>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变式2-1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1" i="0" dirty="0">
                <a:solidFill>
                  <a:srgbClr val="000000"/>
                </a:solidFill>
                <a:latin typeface="Times New Roman" pitchFamily="34" charset="0"/>
                <a:ea typeface="微软雅黑" pitchFamily="34" charset="-122"/>
                <a:cs typeface="Times New Roman" pitchFamily="34" charset="-120"/>
              </a:rPr>
              <a:t>（生活情境）</a:t>
            </a:r>
            <a:r>
              <a:rPr lang="en-US" altLang="zh-CN" sz="2400" b="0" i="0" dirty="0">
                <a:solidFill>
                  <a:srgbClr val="1E5A99"/>
                </a:solidFill>
                <a:latin typeface="KaiTi" pitchFamily="34" charset="0"/>
                <a:ea typeface="KaiTi" pitchFamily="34" charset="-122"/>
                <a:cs typeface="KaiTi" pitchFamily="34" charset="-120"/>
              </a:rPr>
              <a:t>（2026·浙江杭州学军中学检测）</a:t>
            </a:r>
            <a:r>
              <a:rPr lang="en-US" altLang="zh-CN" sz="2400" b="0" i="0">
                <a:solidFill>
                  <a:srgbClr val="000000"/>
                </a:solidFill>
                <a:latin typeface="Times New Roman" pitchFamily="34" charset="0"/>
                <a:ea typeface="微软雅黑" pitchFamily="34" charset="-122"/>
                <a:cs typeface="Times New Roman" pitchFamily="34" charset="-120"/>
              </a:rPr>
              <a:t>如图，</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摄影师手持相机在追随滑板运动员时按下快门，照片中清晰的滑</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板运动员看似是静止的</a:t>
            </a:r>
            <a:r>
              <a:rPr lang="en-US" altLang="zh-CN" sz="2400" b="0" i="0" dirty="0">
                <a:solidFill>
                  <a:srgbClr val="000000"/>
                </a:solidFill>
                <a:latin typeface="Times New Roman" pitchFamily="34" charset="0"/>
                <a:ea typeface="微软雅黑" pitchFamily="34" charset="-122"/>
                <a:cs typeface="Times New Roman" pitchFamily="34" charset="-120"/>
              </a:rPr>
              <a:t>，而模糊的背景是运动的</a:t>
            </a:r>
            <a:r>
              <a:rPr lang="en-US" altLang="zh-CN" sz="2400" b="0" i="0">
                <a:solidFill>
                  <a:srgbClr val="000000"/>
                </a:solidFill>
                <a:latin typeface="Times New Roman" pitchFamily="34" charset="0"/>
                <a:ea typeface="微软雅黑" pitchFamily="34" charset="-122"/>
                <a:cs typeface="Times New Roman" pitchFamily="34" charset="-120"/>
              </a:rPr>
              <a:t>，摄影师用自己</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的方式表达了运动的美</a:t>
            </a:r>
            <a:r>
              <a:rPr lang="en-US" altLang="zh-CN" sz="2400" b="0" i="0" dirty="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请问摄影师选择的参考系是(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p:sp>
        <p:nvSpPr>
          <p:cNvPr id="4" name="QC_5_AN.11_1#3d9ea71de.bracket?vcp=1&amp;pid=41e6e708a&amp;color=0,0,0&amp;vpa=4"/>
          <p:cNvSpPr/>
          <p:nvPr/>
        </p:nvSpPr>
        <p:spPr>
          <a:xfrm>
            <a:off x="7407561" y="2929985"/>
            <a:ext cx="4413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C</a:t>
            </a:r>
            <a:endParaRPr lang="en-US" altLang="zh-CN" sz="2400" dirty="0"/>
          </a:p>
        </p:txBody>
      </p:sp>
      <p:sp>
        <p:nvSpPr>
          <p:cNvPr id="5" name="QC_5_BD.10_3#3d9ea71de.choices?htil=1&amp;vcp=1&amp;pid=41e6e708a&amp;color=0,0,0&amp;bbb=1&amp;hs=1"/>
          <p:cNvSpPr/>
          <p:nvPr/>
        </p:nvSpPr>
        <p:spPr>
          <a:xfrm>
            <a:off x="395996" y="3452907"/>
            <a:ext cx="11400008" cy="484124"/>
          </a:xfrm>
          <a:prstGeom prst="rect">
            <a:avLst/>
          </a:prstGeom>
          <a:noFill/>
          <a:ln/>
        </p:spPr>
        <p:txBody>
          <a:bodyPr wrap="none" lIns="0" tIns="0" rIns="0" bIns="0" rtlCol="0" anchor="t"/>
          <a:lstStyle/>
          <a:p>
            <a:pPr latinLnBrk="1">
              <a:lnSpc>
                <a:spcPts val="4300"/>
              </a:lnSpc>
              <a:tabLst>
                <a:tab pos="2058543" algn="l"/>
                <a:tab pos="4091686" algn="l"/>
                <a:tab pos="6124829" algn="l"/>
              </a:tabLst>
            </a:pPr>
            <a:r>
              <a:rPr lang="en-US" altLang="zh-CN" sz="2400" b="0" i="0" dirty="0">
                <a:solidFill>
                  <a:srgbClr val="000000"/>
                </a:solidFill>
                <a:latin typeface="Times New Roman" pitchFamily="34" charset="0"/>
                <a:ea typeface="微软雅黑" pitchFamily="34" charset="-122"/>
                <a:cs typeface="Times New Roman" pitchFamily="34" charset="-120"/>
              </a:rPr>
              <a:t>A</a:t>
            </a:r>
            <a:r>
              <a:rPr lang="en-US" altLang="zh-CN" sz="2400" b="0" i="0">
                <a:solidFill>
                  <a:srgbClr val="000000"/>
                </a:solidFill>
                <a:latin typeface="Times New Roman" pitchFamily="34" charset="0"/>
                <a:ea typeface="微软雅黑" pitchFamily="34" charset="-122"/>
                <a:cs typeface="Times New Roman" pitchFamily="34" charset="-120"/>
              </a:rPr>
              <a:t>.大地</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B.太阳</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C.滑板</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.步行的人</a:t>
            </a:r>
            <a:endParaRPr lang="en-US" altLang="zh-CN" sz="2400" dirty="0"/>
          </a:p>
        </p:txBody>
      </p:sp>
      <p:sp>
        <p:nvSpPr>
          <p:cNvPr id="6" name="QC_5_AS.12_1#3d9ea71de?vcp=1&amp;pid=41e6e708a&amp;color=0,0,0&amp;bbb=1&amp;hb=1"/>
          <p:cNvSpPr/>
          <p:nvPr/>
        </p:nvSpPr>
        <p:spPr>
          <a:xfrm>
            <a:off x="393192" y="4003770"/>
            <a:ext cx="11402568" cy="1596200"/>
          </a:xfrm>
          <a:prstGeom prst="rect">
            <a:avLst/>
          </a:prstGeom>
          <a:noFill/>
          <a:ln/>
        </p:spPr>
        <p:txBody>
          <a:bodyPr wrap="none" lIns="0" tIns="0" rIns="0" bIns="0" rtlCol="0" anchor="t"/>
          <a:lstStyle/>
          <a:p>
            <a:pPr algn="l" latinLnBrk="1">
              <a:lnSpc>
                <a:spcPts val="4400"/>
              </a:lnSpc>
            </a:pPr>
            <a:r>
              <a:rPr lang="en-US" altLang="zh-CN" sz="2400" b="1" i="0" spc="-50" dirty="0">
                <a:solidFill>
                  <a:srgbClr val="FF0000"/>
                </a:solidFill>
                <a:latin typeface="Times New Roman" pitchFamily="34" charset="0"/>
                <a:ea typeface="微软雅黑" pitchFamily="34" charset="-122"/>
                <a:cs typeface="Times New Roman" pitchFamily="34" charset="-120"/>
              </a:rPr>
              <a:t>[解析]</a:t>
            </a:r>
            <a:r>
              <a:rPr lang="en-US" altLang="zh-CN" sz="2400" b="1" i="0" spc="-50" dirty="0">
                <a:solidFill>
                  <a:srgbClr val="FF0000"/>
                </a:solidFill>
                <a:latin typeface="SimSun" pitchFamily="34" charset="0"/>
                <a:ea typeface="SimSun" pitchFamily="34" charset="-122"/>
                <a:cs typeface="SimSun" pitchFamily="34" charset="-120"/>
              </a:rPr>
              <a:t> </a:t>
            </a:r>
            <a:r>
              <a:rPr lang="en-US" altLang="zh-CN" sz="2400" b="1" i="0" spc="-50" dirty="0">
                <a:solidFill>
                  <a:srgbClr val="FF0000"/>
                </a:solidFill>
                <a:latin typeface="Times New Roman" pitchFamily="34" charset="0"/>
                <a:ea typeface="微软雅黑" pitchFamily="34" charset="-122"/>
                <a:cs typeface="Times New Roman" pitchFamily="34" charset="-120"/>
              </a:rPr>
              <a:t>由于运动员和摄影师以相同的速度运动，以摄影师作为参考系，</a:t>
            </a:r>
            <a:r>
              <a:rPr lang="en-US" altLang="zh-CN" sz="2400" b="1" i="0" spc="-50">
                <a:solidFill>
                  <a:srgbClr val="FF0000"/>
                </a:solidFill>
                <a:latin typeface="Times New Roman" pitchFamily="34" charset="0"/>
                <a:ea typeface="微软雅黑" pitchFamily="34" charset="-122"/>
                <a:cs typeface="Times New Roman" pitchFamily="34" charset="-120"/>
              </a:rPr>
              <a:t>运动员是静止的，</a:t>
            </a:r>
          </a:p>
          <a:p>
            <a:pPr latinLnBrk="1">
              <a:lnSpc>
                <a:spcPts val="4400"/>
              </a:lnSpc>
            </a:pPr>
            <a:r>
              <a:rPr lang="en-US" altLang="zh-CN" sz="2400" b="1" i="0" spc="-50">
                <a:solidFill>
                  <a:srgbClr val="FF0000"/>
                </a:solidFill>
                <a:latin typeface="Times New Roman" pitchFamily="34" charset="0"/>
                <a:ea typeface="微软雅黑" pitchFamily="34" charset="-122"/>
                <a:cs typeface="Times New Roman" pitchFamily="34" charset="-120"/>
              </a:rPr>
              <a:t>运动员的图片是清晰的</a:t>
            </a:r>
            <a:r>
              <a:rPr lang="en-US" altLang="zh-CN" sz="2400" b="1" i="0" spc="-50" dirty="0">
                <a:solidFill>
                  <a:srgbClr val="FF0000"/>
                </a:solidFill>
                <a:latin typeface="Times New Roman" pitchFamily="34" charset="0"/>
                <a:ea typeface="微软雅黑" pitchFamily="34" charset="-122"/>
                <a:cs typeface="Times New Roman" pitchFamily="34" charset="-120"/>
              </a:rPr>
              <a:t>，但由于背景相对于摄影师是运动的，</a:t>
            </a:r>
            <a:r>
              <a:rPr lang="en-US" altLang="zh-CN" sz="2400" b="1" i="0" spc="-50">
                <a:solidFill>
                  <a:srgbClr val="FF0000"/>
                </a:solidFill>
                <a:latin typeface="Times New Roman" pitchFamily="34" charset="0"/>
                <a:ea typeface="微软雅黑" pitchFamily="34" charset="-122"/>
                <a:cs typeface="Times New Roman" pitchFamily="34" charset="-120"/>
              </a:rPr>
              <a:t>所以拍摄的背景是模糊的.</a:t>
            </a:r>
          </a:p>
          <a:p>
            <a:pPr latinLnBrk="1">
              <a:lnSpc>
                <a:spcPts val="4200"/>
              </a:lnSpc>
            </a:pPr>
            <a:r>
              <a:rPr lang="en-US" altLang="zh-CN" sz="2400" b="1" i="0" spc="-50">
                <a:solidFill>
                  <a:srgbClr val="FF0000"/>
                </a:solidFill>
                <a:latin typeface="Times New Roman" pitchFamily="34" charset="0"/>
                <a:ea typeface="微软雅黑" pitchFamily="34" charset="-122"/>
                <a:cs typeface="Times New Roman" pitchFamily="34" charset="-120"/>
              </a:rPr>
              <a:t>在</a:t>
            </a:r>
            <a:r>
              <a:rPr lang="en-US" altLang="zh-CN" sz="2400" b="1" i="0" spc="-50" dirty="0">
                <a:solidFill>
                  <a:srgbClr val="FF0000"/>
                </a:solidFill>
                <a:latin typeface="Times New Roman" pitchFamily="34" charset="0"/>
                <a:ea typeface="微软雅黑" pitchFamily="34" charset="-122"/>
                <a:cs typeface="Times New Roman" pitchFamily="34" charset="-120"/>
              </a:rPr>
              <a:t>“追拍法”中摄影师选择的参考系是自己或相对自己静止的物体，即滑板，C正确.</a:t>
            </a:r>
            <a:endParaRPr lang="en-US" altLang="zh-CN" sz="2400" spc="-5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wipe(left)">
                                      <p:cBhvr>
                                        <p:cTn id="7" dur="500"/>
                                        <p:tgtEl>
                                          <p:spTgt spid="4">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wipe(left)">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Effect transition="in" filter="wipe(left)">
                                      <p:cBhvr>
                                        <p:cTn id="15" dur="500"/>
                                        <p:tgtEl>
                                          <p:spTgt spid="6">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6">
                                            <p:txEl>
                                              <p:pRg st="0" end="0"/>
                                            </p:txEl>
                                          </p:spTgt>
                                        </p:tgtEl>
                                        <p:attrNameLst>
                                          <p:attrName>style.visibility</p:attrName>
                                        </p:attrNameLst>
                                      </p:cBhvr>
                                      <p:to>
                                        <p:strVal val="visible"/>
                                      </p:to>
                                    </p:set>
                                    <p:animEffect transition="in" filter="wipe(left)">
                                      <p:cBhvr>
                                        <p:cTn id="18" dur="500"/>
                                        <p:tgtEl>
                                          <p:spTgt spid="6">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Effect transition="in" filter="wipe(left)">
                                      <p:cBhvr>
                                        <p:cTn id="21" dur="500"/>
                                        <p:tgtEl>
                                          <p:spTgt spid="6">
                                            <p:txEl>
                                              <p:pRg st="1" end="1"/>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6">
                                            <p:txEl>
                                              <p:pRg st="2" end="2"/>
                                            </p:txEl>
                                          </p:spTgt>
                                        </p:tgtEl>
                                        <p:attrNameLst>
                                          <p:attrName>style.visibility</p:attrName>
                                        </p:attrNameLst>
                                      </p:cBhvr>
                                      <p:to>
                                        <p:strVal val="visible"/>
                                      </p:to>
                                    </p:set>
                                    <p:animEffect transition="in" filter="wipe(left)">
                                      <p:cBhvr>
                                        <p:cTn id="24"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6" grpId="0" build="p"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amp;si=14">
    <p:spTree>
      <p:nvGrpSpPr>
        <p:cNvPr id="1" name=""/>
        <p:cNvGrpSpPr/>
        <p:nvPr/>
      </p:nvGrpSpPr>
      <p:grpSpPr>
        <a:xfrm>
          <a:off x="0" y="0"/>
          <a:ext cx="0" cy="0"/>
          <a:chOff x="0" y="0"/>
          <a:chExt cx="0" cy="0"/>
        </a:xfrm>
      </p:grpSpPr>
      <p:sp>
        <p:nvSpPr>
          <p:cNvPr id="2" name="P_5_BD#d8eb70d0a?vcp=1&amp;pid=41e6e708a&amp;color=0,0,0&amp;bt=1&amp;bbb=1&amp;hb=1"/>
          <p:cNvSpPr/>
          <p:nvPr/>
        </p:nvSpPr>
        <p:spPr>
          <a:xfrm>
            <a:off x="393192" y="504000"/>
            <a:ext cx="11402568" cy="5803075"/>
          </a:xfrm>
          <a:prstGeom prst="rect">
            <a:avLst/>
          </a:prstGeom>
          <a:noFill/>
          <a:ln/>
        </p:spPr>
        <p:txBody>
          <a:bodyPr wrap="none" lIns="0" tIns="0" rIns="0" bIns="0" rtlCol="0" anchor="t"/>
          <a:lstStyle/>
          <a:p>
            <a:pPr algn="l" latinLnBrk="1">
              <a:lnSpc>
                <a:spcPts val="4200"/>
              </a:lnSpc>
            </a:pPr>
            <a:r>
              <a:rPr lang="en-US" altLang="zh-CN" sz="2400" b="1" i="0" dirty="0">
                <a:solidFill>
                  <a:srgbClr val="000000"/>
                </a:solidFill>
                <a:latin typeface="Times New Roman" pitchFamily="34" charset="0"/>
                <a:ea typeface="微软雅黑" pitchFamily="34" charset="-122"/>
                <a:cs typeface="Times New Roman" pitchFamily="34" charset="-120"/>
              </a:rPr>
              <a:t>名师点拨</a:t>
            </a:r>
            <a:endParaRPr lang="en-US" altLang="zh-CN" sz="2400" dirty="0"/>
          </a:p>
          <a:p>
            <a:pPr algn="ctr" latinLnBrk="1">
              <a:lnSpc>
                <a:spcPts val="4200"/>
              </a:lnSpc>
            </a:pPr>
            <a:r>
              <a:rPr lang="en-US" altLang="zh-CN" sz="2400" b="1" i="0">
                <a:solidFill>
                  <a:srgbClr val="000000"/>
                </a:solidFill>
                <a:latin typeface="Times New Roman" pitchFamily="34" charset="0"/>
                <a:ea typeface="微软雅黑" pitchFamily="34" charset="-122"/>
                <a:cs typeface="Times New Roman" pitchFamily="34" charset="-120"/>
              </a:rPr>
              <a:t>有关参考系的几点说明</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000000"/>
                </a:solidFill>
                <a:latin typeface="Times New Roman" pitchFamily="34" charset="0"/>
                <a:ea typeface="微软雅黑" pitchFamily="34" charset="-122"/>
                <a:cs typeface="Times New Roman" pitchFamily="34" charset="-120"/>
              </a:rPr>
              <a:t>.分析具体的问题时，选择合适的物体作为参考系，可使问题变得简单.</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2</a:t>
            </a:r>
            <a:r>
              <a:rPr lang="en-US" altLang="zh-CN" sz="2400" b="0" i="0" dirty="0">
                <a:solidFill>
                  <a:srgbClr val="000000"/>
                </a:solidFill>
                <a:latin typeface="Times New Roman" pitchFamily="34" charset="0"/>
                <a:ea typeface="微软雅黑" pitchFamily="34" charset="-122"/>
                <a:cs typeface="Times New Roman" pitchFamily="34" charset="-120"/>
              </a:rPr>
              <a:t>.解题过程中，如果选地面作为参考系可以不指明</a:t>
            </a:r>
            <a:r>
              <a:rPr lang="en-US" altLang="zh-CN" sz="2400" b="0" i="0">
                <a:solidFill>
                  <a:srgbClr val="000000"/>
                </a:solidFill>
                <a:latin typeface="Times New Roman" pitchFamily="34" charset="0"/>
                <a:ea typeface="微软雅黑" pitchFamily="34" charset="-122"/>
                <a:cs typeface="Times New Roman" pitchFamily="34" charset="-120"/>
              </a:rPr>
              <a:t>，但选其他物体作为参考系时</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必须指明</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3</a:t>
            </a:r>
            <a:r>
              <a:rPr lang="en-US" altLang="zh-CN" sz="2400" b="0" i="0" dirty="0">
                <a:solidFill>
                  <a:srgbClr val="000000"/>
                </a:solidFill>
                <a:latin typeface="Times New Roman" pitchFamily="34" charset="0"/>
                <a:ea typeface="微软雅黑" pitchFamily="34" charset="-122"/>
                <a:cs typeface="Times New Roman" pitchFamily="34" charset="-120"/>
              </a:rPr>
              <a:t>.在研究物体的运动情况时，物体一旦被选为参考系，</a:t>
            </a:r>
            <a:r>
              <a:rPr lang="en-US" altLang="zh-CN" sz="2400" b="0" i="0">
                <a:solidFill>
                  <a:srgbClr val="000000"/>
                </a:solidFill>
                <a:latin typeface="Times New Roman" pitchFamily="34" charset="0"/>
                <a:ea typeface="微软雅黑" pitchFamily="34" charset="-122"/>
                <a:cs typeface="Times New Roman" pitchFamily="34" charset="-120"/>
              </a:rPr>
              <a:t>就认为它是静止的.</a:t>
            </a:r>
          </a:p>
          <a:p>
            <a:pPr marL="0" marR="0" lvl="0" indent="0" defTabSz="914400" rtl="0" eaLnBrk="1" fontAlgn="auto" latinLnBrk="1" hangingPunct="1">
              <a:lnSpc>
                <a:spcPts val="4200"/>
              </a:lnSpc>
              <a:spcBef>
                <a:spcPts val="0"/>
              </a:spcBef>
              <a:spcAft>
                <a:spcPts val="0"/>
              </a:spcAft>
              <a:buClrTx/>
              <a:buSzTx/>
              <a:buFontTx/>
              <a:buNone/>
              <a:tabLst/>
              <a:defRPr/>
            </a:pPr>
            <a:r>
              <a:rPr kumimoji="0" lang="en-US" altLang="zh-CN" sz="2400" b="1" i="0" u="none" strike="noStrike" kern="1200" cap="none" spc="0" normalizeH="0" baseline="0" noProof="0">
                <a:ln>
                  <a:noFill/>
                </a:ln>
                <a:solidFill>
                  <a:srgbClr val="000000"/>
                </a:solidFill>
                <a:effectLst/>
                <a:uLnTx/>
                <a:uFillTx/>
                <a:latin typeface="Times New Roman" pitchFamily="34" charset="0"/>
                <a:ea typeface="微软雅黑" pitchFamily="34" charset="-122"/>
                <a:cs typeface="Times New Roman" pitchFamily="34" charset="-120"/>
              </a:rPr>
              <a:t>方法梳理</a:t>
            </a:r>
            <a:endParaRPr kumimoji="0" lang="en-US" altLang="zh-CN" sz="24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a:p>
            <a:pPr marL="0" marR="0" lvl="0" indent="0" algn="ctr" defTabSz="914400" rtl="0" eaLnBrk="1" fontAlgn="auto" latinLnBrk="1" hangingPunct="1">
              <a:lnSpc>
                <a:spcPts val="4200"/>
              </a:lnSpc>
              <a:spcBef>
                <a:spcPts val="0"/>
              </a:spcBef>
              <a:spcAft>
                <a:spcPts val="0"/>
              </a:spcAft>
              <a:buClrTx/>
              <a:buSzTx/>
              <a:buFontTx/>
              <a:buNone/>
              <a:tabLst/>
              <a:defRPr/>
            </a:pPr>
            <a:r>
              <a:rPr kumimoji="0" lang="en-US" altLang="zh-CN" sz="2400" b="1" i="0" u="none" strike="noStrike" kern="1200" cap="none" spc="0" normalizeH="0" baseline="0" noProof="0">
                <a:ln>
                  <a:noFill/>
                </a:ln>
                <a:solidFill>
                  <a:srgbClr val="000000"/>
                </a:solidFill>
                <a:effectLst/>
                <a:uLnTx/>
                <a:uFillTx/>
                <a:latin typeface="Times New Roman" pitchFamily="34" charset="0"/>
                <a:ea typeface="微软雅黑" pitchFamily="34" charset="-122"/>
                <a:cs typeface="Times New Roman" pitchFamily="34" charset="-120"/>
              </a:rPr>
              <a:t>判定参考系的两种方法</a:t>
            </a:r>
            <a:endParaRPr kumimoji="0" lang="en-US" altLang="zh-CN" sz="24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a:p>
            <a:pPr marL="0" marR="0" lvl="0" indent="0" defTabSz="914400" rtl="0" eaLnBrk="1" fontAlgn="auto" latinLnBrk="1" hangingPunct="1">
              <a:lnSpc>
                <a:spcPts val="4200"/>
              </a:lnSpc>
              <a:spcBef>
                <a:spcPts val="0"/>
              </a:spcBef>
              <a:spcAft>
                <a:spcPts val="0"/>
              </a:spcAft>
              <a:buClrTx/>
              <a:buSzTx/>
              <a:buFontTx/>
              <a:buNone/>
              <a:tabLst/>
              <a:defRPr/>
            </a:pPr>
            <a:r>
              <a:rPr kumimoji="0" lang="en-US" altLang="zh-CN" sz="2400" b="0" i="0" strike="noStrike" kern="1200" cap="none" spc="0" normalizeH="0" baseline="0" noProof="0">
                <a:ln>
                  <a:noFill/>
                </a:ln>
                <a:solidFill>
                  <a:srgbClr val="000000"/>
                </a:solidFill>
                <a:effectLst/>
                <a:uLnTx/>
                <a:uFillTx/>
                <a:latin typeface="SimSun" panose="02010600030101010101" pitchFamily="2" charset="-122"/>
                <a:ea typeface="微软雅黑" pitchFamily="34" charset="-122"/>
                <a:cs typeface="Times New Roman" pitchFamily="34" charset="-120"/>
              </a:rPr>
              <a:t>    </a:t>
            </a:r>
            <a:r>
              <a:rPr kumimoji="0" lang="en-US" altLang="zh-CN" sz="2400" b="0" i="0" u="none" strike="noStrike" kern="1200" cap="none" spc="0" normalizeH="0" baseline="0" noProof="0">
                <a:ln>
                  <a:noFill/>
                </a:ln>
                <a:solidFill>
                  <a:srgbClr val="000000"/>
                </a:solidFill>
                <a:effectLst/>
                <a:uLnTx/>
                <a:uFillTx/>
                <a:latin typeface="Times New Roman" pitchFamily="34" charset="0"/>
                <a:ea typeface="微软雅黑" pitchFamily="34" charset="-122"/>
                <a:cs typeface="Times New Roman" pitchFamily="34" charset="-120"/>
              </a:rPr>
              <a:t>1.静物法：明确观察到的现象中，哪个物体是静止的，它可能就是参考系.</a:t>
            </a:r>
            <a:endParaRPr kumimoji="0" lang="en-US" altLang="zh-CN" sz="24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a:p>
            <a:pPr marL="0" marR="0" lvl="0" indent="0" defTabSz="914400" rtl="0" eaLnBrk="1" fontAlgn="auto" latinLnBrk="1" hangingPunct="1">
              <a:lnSpc>
                <a:spcPts val="4200"/>
              </a:lnSpc>
              <a:spcBef>
                <a:spcPts val="0"/>
              </a:spcBef>
              <a:spcAft>
                <a:spcPts val="0"/>
              </a:spcAft>
              <a:buClrTx/>
              <a:buSzTx/>
              <a:buFontTx/>
              <a:buNone/>
              <a:tabLst/>
              <a:defRPr/>
            </a:pPr>
            <a:r>
              <a:rPr kumimoji="0" lang="en-US" altLang="zh-CN" sz="2400" b="0" i="0" strike="noStrike" kern="1200" cap="none" spc="0" normalizeH="0" baseline="0" noProof="0">
                <a:ln>
                  <a:noFill/>
                </a:ln>
                <a:solidFill>
                  <a:srgbClr val="000000"/>
                </a:solidFill>
                <a:effectLst/>
                <a:uLnTx/>
                <a:uFillTx/>
                <a:latin typeface="SimSun" panose="02010600030101010101" pitchFamily="2" charset="-122"/>
                <a:ea typeface="微软雅黑" pitchFamily="34" charset="-122"/>
                <a:cs typeface="Times New Roman" pitchFamily="34" charset="-120"/>
              </a:rPr>
              <a:t>    </a:t>
            </a:r>
            <a:r>
              <a:rPr kumimoji="0" lang="en-US" altLang="zh-CN" sz="2400" b="0" i="0" u="none" strike="noStrike" kern="1200" cap="none" spc="0" normalizeH="0" baseline="0" noProof="0">
                <a:ln>
                  <a:noFill/>
                </a:ln>
                <a:solidFill>
                  <a:srgbClr val="000000"/>
                </a:solidFill>
                <a:effectLst/>
                <a:uLnTx/>
                <a:uFillTx/>
                <a:latin typeface="Times New Roman" pitchFamily="34" charset="0"/>
                <a:ea typeface="微软雅黑" pitchFamily="34" charset="-122"/>
                <a:cs typeface="Times New Roman" pitchFamily="34" charset="-120"/>
              </a:rPr>
              <a:t>2.假设法：假设以某物体为参考系，看对其他物体运动的描述是否与观察到的结</a:t>
            </a:r>
          </a:p>
          <a:p>
            <a:pPr marL="0" marR="0" lvl="0" indent="0" defTabSz="914400" rtl="0" eaLnBrk="1" fontAlgn="auto" latinLnBrk="1" hangingPunct="1">
              <a:lnSpc>
                <a:spcPts val="4100"/>
              </a:lnSpc>
              <a:spcBef>
                <a:spcPts val="0"/>
              </a:spcBef>
              <a:spcAft>
                <a:spcPts val="0"/>
              </a:spcAft>
              <a:buClrTx/>
              <a:buSzTx/>
              <a:buFontTx/>
              <a:buNone/>
              <a:tabLst/>
              <a:defRPr/>
            </a:pPr>
            <a:r>
              <a:rPr kumimoji="0" lang="en-US" altLang="zh-CN" sz="2400" b="0" i="0" u="none" strike="noStrike" kern="1200" cap="none" spc="0" normalizeH="0" baseline="0" noProof="0">
                <a:ln>
                  <a:noFill/>
                </a:ln>
                <a:solidFill>
                  <a:srgbClr val="000000"/>
                </a:solidFill>
                <a:effectLst/>
                <a:uLnTx/>
                <a:uFillTx/>
                <a:latin typeface="Times New Roman" pitchFamily="34" charset="0"/>
                <a:ea typeface="微软雅黑" pitchFamily="34" charset="-122"/>
                <a:cs typeface="Times New Roman" pitchFamily="34" charset="-120"/>
              </a:rPr>
              <a:t>果一致，若一致，该物体可能就是参考系.</a:t>
            </a:r>
            <a:endParaRPr lang="en-US" altLang="zh-CN" sz="2400" dirty="0"/>
          </a:p>
        </p:txBody>
      </p:sp>
    </p:spTree>
  </p:cSld>
  <p:clrMapOvr>
    <a:masterClrMapping/>
  </p:clrMapOvr>
  <p:transition>
    <p:split dir="in"/>
  </p:transition>
</p:sld>
</file>

<file path=ppt/slides/slide15.xml><?xml version="1.0" encoding="utf-8"?>
<p:sld xmlns:a="http://schemas.openxmlformats.org/drawingml/2006/main" xmlns:r="http://schemas.openxmlformats.org/officeDocument/2006/relationships" xmlns:p="http://schemas.openxmlformats.org/presentationml/2006/main">
  <p:cSld name="Slide 15&amp;si=15">
    <p:spTree>
      <p:nvGrpSpPr>
        <p:cNvPr id="1" name=""/>
        <p:cNvGrpSpPr/>
        <p:nvPr/>
      </p:nvGrpSpPr>
      <p:grpSpPr>
        <a:xfrm>
          <a:off x="0" y="0"/>
          <a:ext cx="0" cy="0"/>
          <a:chOff x="0" y="0"/>
          <a:chExt cx="0" cy="0"/>
        </a:xfrm>
      </p:grpSpPr>
      <p:pic>
        <p:nvPicPr>
          <p:cNvPr id="2" name="C_4#cf5049f3b?vcp=1&amp;pid=6b33c3c25&amp;color=0,0,0&amp;tib=255,255,255&amp;bt=1" descr="preencoded.png"/>
          <p:cNvPicPr>
            <a:picLocks noChangeAspect="1"/>
          </p:cNvPicPr>
          <p:nvPr/>
        </p:nvPicPr>
        <p:blipFill>
          <a:blip r:embed="rId3"/>
          <a:stretch>
            <a:fillRect/>
          </a:stretch>
        </p:blipFill>
        <p:spPr>
          <a:xfrm>
            <a:off x="393192" y="502920"/>
            <a:ext cx="11356848" cy="457200"/>
          </a:xfrm>
          <a:prstGeom prst="rect">
            <a:avLst/>
          </a:prstGeom>
        </p:spPr>
      </p:pic>
      <p:sp>
        <p:nvSpPr>
          <p:cNvPr id="3" name="C_4_BD#cf5049f3b?vcp=1&amp;pid=6b33c3c25&amp;color=255,255,255"/>
          <p:cNvSpPr/>
          <p:nvPr/>
        </p:nvSpPr>
        <p:spPr>
          <a:xfrm>
            <a:off x="1225296" y="502920"/>
            <a:ext cx="356616" cy="457200"/>
          </a:xfrm>
          <a:prstGeom prst="rect">
            <a:avLst/>
          </a:prstGeom>
          <a:noFill/>
          <a:ln/>
        </p:spPr>
        <p:txBody>
          <a:bodyPr wrap="square" lIns="0" tIns="0" rIns="0" bIns="0" rtlCol="0" anchor="ctr"/>
          <a:lstStyle/>
          <a:p>
            <a:pPr algn="ctr" latinLnBrk="1">
              <a:lnSpc>
                <a:spcPct val="100000"/>
              </a:lnSpc>
            </a:pPr>
            <a:r>
              <a:rPr lang="en-US" altLang="zh-CN" sz="2800" b="1" i="0" dirty="0">
                <a:solidFill>
                  <a:srgbClr val="FFFFFF"/>
                </a:solidFill>
                <a:latin typeface="SimHei" pitchFamily="34" charset="0"/>
                <a:ea typeface="SimHei" pitchFamily="34" charset="-122"/>
                <a:cs typeface="SimHei" pitchFamily="34" charset="-120"/>
              </a:rPr>
              <a:t>3</a:t>
            </a:r>
            <a:endParaRPr lang="en-US" altLang="zh-CN" sz="2800" dirty="0"/>
          </a:p>
        </p:txBody>
      </p:sp>
      <p:sp>
        <p:nvSpPr>
          <p:cNvPr id="4" name="C_4_BD#cf5049f3b?vcp=1&amp;pid=6b33c3c25&amp;color=0,0,0&amp;bbb=1"/>
          <p:cNvSpPr/>
          <p:nvPr/>
        </p:nvSpPr>
        <p:spPr>
          <a:xfrm>
            <a:off x="1837944" y="502920"/>
            <a:ext cx="9939528" cy="457200"/>
          </a:xfrm>
          <a:prstGeom prst="rect">
            <a:avLst/>
          </a:prstGeom>
          <a:noFill/>
          <a:ln/>
        </p:spPr>
        <p:txBody>
          <a:bodyPr wrap="none" lIns="0" tIns="0" rIns="0" bIns="0" rtlCol="0" anchor="ctr"/>
          <a:lstStyle/>
          <a:p>
            <a:pPr algn="l" latinLnBrk="1">
              <a:lnSpc>
                <a:spcPts val="3200"/>
              </a:lnSpc>
            </a:pPr>
            <a:r>
              <a:rPr lang="en-US" altLang="zh-CN" sz="2600" b="1" i="0" dirty="0">
                <a:solidFill>
                  <a:srgbClr val="000000"/>
                </a:solidFill>
                <a:latin typeface="Times New Roman" pitchFamily="34" charset="0"/>
                <a:ea typeface="SimHei" pitchFamily="34" charset="-122"/>
                <a:cs typeface="Times New Roman" pitchFamily="34" charset="-120"/>
              </a:rPr>
              <a:t>运动的相对性</a:t>
            </a:r>
            <a:r>
              <a:rPr lang="en-US" altLang="zh-CN" sz="2600" b="1" i="0" dirty="0">
                <a:solidFill>
                  <a:srgbClr val="000000"/>
                </a:solidFill>
                <a:latin typeface="SimSun" pitchFamily="34" charset="0"/>
                <a:ea typeface="SimSun" pitchFamily="34" charset="-122"/>
                <a:cs typeface="SimSun" pitchFamily="34" charset="-120"/>
              </a:rPr>
              <a:t> </a:t>
            </a:r>
            <a:r>
              <a:rPr lang="en-US" altLang="zh-CN" sz="2600" b="1" i="0" dirty="0">
                <a:solidFill>
                  <a:srgbClr val="000000"/>
                </a:solidFill>
                <a:latin typeface="Times New Roman" pitchFamily="34" charset="0"/>
                <a:ea typeface="SimHei" pitchFamily="34" charset="-122"/>
                <a:cs typeface="Times New Roman" pitchFamily="34" charset="-120"/>
              </a:rPr>
              <a:t>难点</a:t>
            </a:r>
            <a:endParaRPr lang="en-US" altLang="zh-CN" sz="2600" dirty="0"/>
          </a:p>
        </p:txBody>
      </p:sp>
      <p:sp>
        <p:nvSpPr>
          <p:cNvPr id="5" name="P_5_BD#67d7a49fe?vcp=1&amp;pid=cf5049f3b&amp;color=0,0,0&amp;bbb=1&amp;hb=1"/>
          <p:cNvSpPr/>
          <p:nvPr/>
        </p:nvSpPr>
        <p:spPr>
          <a:xfrm>
            <a:off x="393192" y="1092200"/>
            <a:ext cx="11402568" cy="3831400"/>
          </a:xfrm>
          <a:prstGeom prst="rect">
            <a:avLst/>
          </a:prstGeom>
          <a:noFill/>
          <a:ln/>
        </p:spPr>
        <p:txBody>
          <a:bodyPr wrap="none" lIns="0" tIns="0" rIns="0" bIns="0" rtlCol="0" anchor="t"/>
          <a:lstStyle/>
          <a:p>
            <a:pPr algn="ctr"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核心总结</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000000"/>
                </a:solidFill>
                <a:latin typeface="Times New Roman" pitchFamily="34" charset="0"/>
                <a:ea typeface="微软雅黑" pitchFamily="34" charset="-122"/>
                <a:cs typeface="Times New Roman" pitchFamily="34" charset="-120"/>
              </a:rPr>
              <a:t>.运动的相对性</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物体的运动都是相对于参考系而言的</a:t>
            </a:r>
            <a:r>
              <a:rPr lang="en-US" altLang="zh-CN" sz="2400" b="0" i="0" dirty="0">
                <a:solidFill>
                  <a:srgbClr val="000000"/>
                </a:solidFill>
                <a:latin typeface="Times New Roman" pitchFamily="34" charset="0"/>
                <a:ea typeface="微软雅黑" pitchFamily="34" charset="-122"/>
                <a:cs typeface="Times New Roman" pitchFamily="34" charset="-120"/>
              </a:rPr>
              <a:t>，同一物体，选取不同的参考系</a:t>
            </a:r>
            <a:r>
              <a:rPr lang="en-US" altLang="zh-CN" sz="2400" b="0" i="0">
                <a:solidFill>
                  <a:srgbClr val="000000"/>
                </a:solidFill>
                <a:latin typeface="Times New Roman" pitchFamily="34" charset="0"/>
                <a:ea typeface="微软雅黑" pitchFamily="34" charset="-122"/>
                <a:cs typeface="Times New Roman" pitchFamily="34" charset="-120"/>
              </a:rPr>
              <a:t>，其运动情</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况可能不同</a:t>
            </a:r>
            <a:r>
              <a:rPr lang="en-US" altLang="zh-CN" sz="2400" b="0" i="0" dirty="0">
                <a:solidFill>
                  <a:srgbClr val="000000"/>
                </a:solidFill>
                <a:latin typeface="Times New Roman" pitchFamily="34" charset="0"/>
                <a:ea typeface="微软雅黑" pitchFamily="34" charset="-122"/>
                <a:cs typeface="Times New Roman" pitchFamily="34" charset="-120"/>
              </a:rPr>
              <a:t>，这就是运动的相对性.</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2</a:t>
            </a:r>
            <a:r>
              <a:rPr lang="en-US" altLang="zh-CN" sz="2400" b="0" i="0" dirty="0">
                <a:solidFill>
                  <a:srgbClr val="000000"/>
                </a:solidFill>
                <a:latin typeface="Times New Roman" pitchFamily="34" charset="0"/>
                <a:ea typeface="微软雅黑" pitchFamily="34" charset="-122"/>
                <a:cs typeface="Times New Roman" pitchFamily="34" charset="-120"/>
              </a:rPr>
              <a:t>.静止的相对性</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自然界中的一切物体都在不停地运动</a:t>
            </a:r>
            <a:r>
              <a:rPr lang="en-US" altLang="zh-CN" sz="2400" b="0" i="0" dirty="0">
                <a:solidFill>
                  <a:srgbClr val="000000"/>
                </a:solidFill>
                <a:latin typeface="Times New Roman" pitchFamily="34" charset="0"/>
                <a:ea typeface="微软雅黑" pitchFamily="34" charset="-122"/>
                <a:cs typeface="Times New Roman" pitchFamily="34" charset="-120"/>
              </a:rPr>
              <a:t>，即运动是绝对的，静止是相对的</a:t>
            </a:r>
            <a:r>
              <a:rPr lang="en-US" altLang="zh-CN" sz="2400" b="0" i="0">
                <a:solidFill>
                  <a:srgbClr val="000000"/>
                </a:solidFill>
                <a:latin typeface="Times New Roman" pitchFamily="34" charset="0"/>
                <a:ea typeface="微软雅黑" pitchFamily="34" charset="-122"/>
                <a:cs typeface="Times New Roman" pitchFamily="34" charset="-120"/>
              </a:rPr>
              <a:t>.静止是相</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对于选择的参考系而言的</a:t>
            </a:r>
            <a:r>
              <a:rPr lang="en-US" altLang="zh-CN" sz="2400" b="0" i="0" dirty="0">
                <a:solidFill>
                  <a:srgbClr val="000000"/>
                </a:solidFill>
                <a:latin typeface="Times New Roman" pitchFamily="34" charset="0"/>
                <a:ea typeface="微软雅黑" pitchFamily="34" charset="-122"/>
                <a:cs typeface="Times New Roman" pitchFamily="34" charset="-120"/>
              </a:rPr>
              <a:t>.</a:t>
            </a:r>
            <a:endParaRPr lang="en-US" altLang="zh-CN" sz="2400" dirty="0"/>
          </a:p>
        </p:txBody>
      </p:sp>
    </p:spTree>
  </p:cSld>
  <p:clrMapOvr>
    <a:masterClrMapping/>
  </p:clrMapOvr>
  <p:transition>
    <p:split dir="in"/>
  </p:transition>
</p:sld>
</file>

<file path=ppt/slides/slide16.xml><?xml version="1.0" encoding="utf-8"?>
<p:sld xmlns:a="http://schemas.openxmlformats.org/drawingml/2006/main" xmlns:r="http://schemas.openxmlformats.org/officeDocument/2006/relationships" xmlns:p="http://schemas.openxmlformats.org/presentationml/2006/main">
  <p:cSld name="Slide 16&amp;si=16">
    <p:spTree>
      <p:nvGrpSpPr>
        <p:cNvPr id="1" name=""/>
        <p:cNvGrpSpPr/>
        <p:nvPr/>
      </p:nvGrpSpPr>
      <p:grpSpPr>
        <a:xfrm>
          <a:off x="0" y="0"/>
          <a:ext cx="0" cy="0"/>
          <a:chOff x="0" y="0"/>
          <a:chExt cx="0" cy="0"/>
        </a:xfrm>
      </p:grpSpPr>
      <p:sp>
        <p:nvSpPr>
          <p:cNvPr id="2" name="QC_5_BD.13_1#69f8a144c?vcp=1&amp;pid=cf5049f3b&amp;color=0,0,0&amp;bt=1&amp;bbb=1&amp;hb=1"/>
          <p:cNvSpPr/>
          <p:nvPr/>
        </p:nvSpPr>
        <p:spPr>
          <a:xfrm>
            <a:off x="393192" y="504000"/>
            <a:ext cx="11402568" cy="1522349"/>
          </a:xfrm>
          <a:prstGeom prst="rect">
            <a:avLst/>
          </a:prstGeom>
          <a:noFill/>
          <a:ln/>
        </p:spPr>
        <p:txBody>
          <a:bodyPr wrap="none" lIns="0" tIns="0" rIns="0" bIns="0" rtlCol="0" anchor="t"/>
          <a:lstStyle/>
          <a:p>
            <a:pPr algn="l" latinLnBrk="1">
              <a:lnSpc>
                <a:spcPts val="4200"/>
              </a:lnSpc>
            </a:pPr>
            <a:r>
              <a:rPr lang="en-US" altLang="zh-CN" sz="2400" b="1" i="0" dirty="0">
                <a:solidFill>
                  <a:srgbClr val="0070C0"/>
                </a:solidFill>
                <a:latin typeface="Times New Roman" pitchFamily="34" charset="0"/>
                <a:ea typeface="微软雅黑" pitchFamily="34" charset="-122"/>
                <a:cs typeface="Times New Roman" pitchFamily="34" charset="-120"/>
              </a:rPr>
              <a:t>考题3</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1" i="0" dirty="0">
                <a:solidFill>
                  <a:srgbClr val="000000"/>
                </a:solidFill>
                <a:latin typeface="Times New Roman" pitchFamily="34" charset="0"/>
                <a:ea typeface="微软雅黑" pitchFamily="34" charset="-122"/>
                <a:cs typeface="Times New Roman" pitchFamily="34" charset="-120"/>
              </a:rPr>
              <a:t>（生活情境）</a:t>
            </a:r>
            <a:r>
              <a:rPr lang="en-US" altLang="zh-CN" sz="2400" b="0" i="0" dirty="0">
                <a:solidFill>
                  <a:srgbClr val="000000"/>
                </a:solidFill>
                <a:latin typeface="Times New Roman" pitchFamily="34" charset="0"/>
                <a:ea typeface="微软雅黑" pitchFamily="34" charset="-122"/>
                <a:cs typeface="Times New Roman" pitchFamily="34" charset="-120"/>
              </a:rPr>
              <a:t>甲、乙、丙三人各乘一个热气球，甲看到楼房匀速上升</a:t>
            </a:r>
            <a:r>
              <a:rPr lang="en-US" altLang="zh-CN" sz="2400" b="0" i="0">
                <a:solidFill>
                  <a:srgbClr val="000000"/>
                </a:solidFill>
                <a:latin typeface="Times New Roman" pitchFamily="34" charset="0"/>
                <a:ea typeface="微软雅黑" pitchFamily="34" charset="-122"/>
                <a:cs typeface="Times New Roman" pitchFamily="34" charset="-120"/>
              </a:rPr>
              <a:t>，乙看到</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甲匀速上升</a:t>
            </a:r>
            <a:r>
              <a:rPr lang="en-US" altLang="zh-CN" sz="2400" b="0" i="0" dirty="0">
                <a:solidFill>
                  <a:srgbClr val="000000"/>
                </a:solidFill>
                <a:latin typeface="Times New Roman" pitchFamily="34" charset="0"/>
                <a:ea typeface="微软雅黑" pitchFamily="34" charset="-122"/>
                <a:cs typeface="Times New Roman" pitchFamily="34" charset="-120"/>
              </a:rPr>
              <a:t>，甲看到丙匀速上升，丙看到乙匀速下降.那么，从地面上看，关于甲、</a:t>
            </a:r>
            <a:r>
              <a:rPr lang="en-US" altLang="zh-CN" sz="2400" b="0" i="0">
                <a:solidFill>
                  <a:srgbClr val="000000"/>
                </a:solidFill>
                <a:latin typeface="Times New Roman" pitchFamily="34" charset="0"/>
                <a:ea typeface="微软雅黑" pitchFamily="34" charset="-122"/>
                <a:cs typeface="Times New Roman" pitchFamily="34" charset="-120"/>
              </a:rPr>
              <a:t>乙、</a:t>
            </a:r>
          </a:p>
          <a:p>
            <a:pPr latinLnBrk="1">
              <a:lnSpc>
                <a:spcPts val="4000"/>
              </a:lnSpc>
            </a:pPr>
            <a:r>
              <a:rPr lang="en-US" altLang="zh-CN" sz="2400" b="0" i="0">
                <a:solidFill>
                  <a:srgbClr val="000000"/>
                </a:solidFill>
                <a:latin typeface="Times New Roman" pitchFamily="34" charset="0"/>
                <a:ea typeface="微软雅黑" pitchFamily="34" charset="-122"/>
                <a:cs typeface="Times New Roman" pitchFamily="34" charset="-120"/>
              </a:rPr>
              <a:t>丙的运动情况说法可能正确的是(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p:sp>
        <p:nvSpPr>
          <p:cNvPr id="3" name="QC_5_AN.14_1#69f8a144c.bracket?vcp=1&amp;pid=cf5049f3b&amp;color=0,0,0&amp;vpa=5"/>
          <p:cNvSpPr/>
          <p:nvPr/>
        </p:nvSpPr>
        <p:spPr>
          <a:xfrm>
            <a:off x="4892960" y="1559497"/>
            <a:ext cx="441325" cy="459550"/>
          </a:xfrm>
          <a:prstGeom prst="rect">
            <a:avLst/>
          </a:prstGeom>
          <a:noFill/>
          <a:ln/>
        </p:spPr>
        <p:txBody>
          <a:bodyPr wrap="none" lIns="0" tIns="0" rIns="0" bIns="0" rtlCol="0" anchor="t"/>
          <a:lstStyle/>
          <a:p>
            <a:pPr algn="ctr" latinLnBrk="1">
              <a:lnSpc>
                <a:spcPts val="4000"/>
              </a:lnSpc>
            </a:pPr>
            <a:r>
              <a:rPr lang="en-US" altLang="zh-CN" sz="2400" b="1" i="0" dirty="0">
                <a:solidFill>
                  <a:srgbClr val="FF0000"/>
                </a:solidFill>
                <a:latin typeface="Times New Roman" pitchFamily="34" charset="0"/>
                <a:ea typeface="微软雅黑" pitchFamily="34" charset="-122"/>
                <a:cs typeface="Times New Roman" pitchFamily="34" charset="-120"/>
              </a:rPr>
              <a:t>C</a:t>
            </a:r>
            <a:endParaRPr lang="en-US" altLang="zh-CN" sz="2400" dirty="0"/>
          </a:p>
        </p:txBody>
      </p:sp>
      <mc:AlternateContent xmlns:mc="http://schemas.openxmlformats.org/markup-compatibility/2006" xmlns:a14="http://schemas.microsoft.com/office/drawing/2010/main">
        <mc:Choice Requires="a14">
          <p:sp>
            <p:nvSpPr>
              <p:cNvPr id="4" name="QC_5_BD.13_2#69f8a144c.choices?vcp=1&amp;pid=cf5049f3b&amp;color=0,0,0&amp;bbb=1"/>
              <p:cNvSpPr/>
              <p:nvPr/>
            </p:nvSpPr>
            <p:spPr>
              <a:xfrm>
                <a:off x="393192" y="2021395"/>
                <a:ext cx="11402568" cy="2107375"/>
              </a:xfrm>
              <a:prstGeom prst="rect">
                <a:avLst/>
              </a:prstGeom>
              <a:noFill/>
              <a:ln/>
            </p:spPr>
            <p:txBody>
              <a:bodyPr wrap="none" lIns="0" tIns="0" rIns="0" bIns="0" rtlCol="0" anchor="t"/>
              <a:lstStyle/>
              <a:p>
                <a:pPr algn="l" latinLnBrk="1">
                  <a:lnSpc>
                    <a:spcPts val="4300"/>
                  </a:lnSpc>
                </a:pPr>
                <a:r>
                  <a:rPr lang="en-US" altLang="zh-CN" sz="2400" b="0" i="0" dirty="0">
                    <a:solidFill>
                      <a:srgbClr val="000000"/>
                    </a:solidFill>
                    <a:latin typeface="Times New Roman" pitchFamily="34" charset="0"/>
                    <a:ea typeface="微软雅黑" pitchFamily="34" charset="-122"/>
                    <a:cs typeface="Times New Roman" pitchFamily="34" charset="-120"/>
                  </a:rPr>
                  <a:t>A.甲、乙匀速下降，</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aseline="-10000">
                            <a:solidFill>
                              <a:srgbClr val="000000"/>
                            </a:solidFill>
                            <a:latin typeface="Cambria Math" panose="02040503050406030204" pitchFamily="18" charset="0"/>
                          </a:rPr>
                          <m:t>乙</m:t>
                        </m:r>
                      </m:sub>
                    </m:sSub>
                    <m:r>
                      <a:rPr lang="en-US" altLang="zh-CN" sz="2400" b="0" i="0">
                        <a:solidFill>
                          <a:srgbClr val="000000"/>
                        </a:solidFill>
                        <a:latin typeface="Cambria Math" pitchFamily="34" charset="0"/>
                        <a:ea typeface="Cambria Math" pitchFamily="34" charset="-122"/>
                        <a:cs typeface="Cambria Math" pitchFamily="34" charset="-120"/>
                      </a:rPr>
                      <m:t>&lt;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aseline="-10000">
                            <a:solidFill>
                              <a:srgbClr val="000000"/>
                            </a:solidFill>
                            <a:latin typeface="Cambria Math" panose="02040503050406030204" pitchFamily="18" charset="0"/>
                          </a:rPr>
                          <m:t>甲</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，丙停在空中</a:t>
                </a:r>
                <a:endParaRPr lang="en-US" altLang="zh-CN" sz="2400" dirty="0"/>
              </a:p>
              <a:p>
                <a:pPr latinLnBrk="1">
                  <a:lnSpc>
                    <a:spcPts val="43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.甲、乙匀速下降，</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aseline="-10000">
                            <a:solidFill>
                              <a:srgbClr val="000000"/>
                            </a:solidFill>
                            <a:latin typeface="Cambria Math" panose="02040503050406030204" pitchFamily="18" charset="0"/>
                          </a:rPr>
                          <m:t>乙</m:t>
                        </m:r>
                      </m:sub>
                    </m:sSub>
                    <m:r>
                      <a:rPr lang="en-US" altLang="zh-CN" sz="2400" b="0" i="0">
                        <a:solidFill>
                          <a:srgbClr val="000000"/>
                        </a:solidFill>
                        <a:latin typeface="Cambria Math" pitchFamily="34" charset="0"/>
                        <a:ea typeface="Cambria Math" pitchFamily="34" charset="-122"/>
                        <a:cs typeface="Cambria Math" pitchFamily="34" charset="-120"/>
                      </a:rPr>
                      <m:t>&gt;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aseline="-10000">
                            <a:solidFill>
                              <a:srgbClr val="000000"/>
                            </a:solidFill>
                            <a:latin typeface="Cambria Math" panose="02040503050406030204" pitchFamily="18" charset="0"/>
                          </a:rPr>
                          <m:t>甲</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，丙匀速下降，且</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aseline="-10000">
                            <a:solidFill>
                              <a:srgbClr val="000000"/>
                            </a:solidFill>
                            <a:latin typeface="Cambria Math" panose="02040503050406030204" pitchFamily="18" charset="0"/>
                          </a:rPr>
                          <m:t>丙</m:t>
                        </m:r>
                      </m:sub>
                    </m:sSub>
                    <m:r>
                      <a:rPr lang="en-US" altLang="zh-CN" sz="2400" b="0" i="0">
                        <a:solidFill>
                          <a:srgbClr val="000000"/>
                        </a:solidFill>
                        <a:latin typeface="Cambria Math" pitchFamily="34" charset="0"/>
                        <a:ea typeface="Cambria Math" pitchFamily="34" charset="-122"/>
                        <a:cs typeface="Cambria Math" pitchFamily="34" charset="-120"/>
                      </a:rPr>
                      <m:t>&gt;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aseline="-10000">
                            <a:solidFill>
                              <a:srgbClr val="000000"/>
                            </a:solidFill>
                            <a:latin typeface="Cambria Math" panose="02040503050406030204" pitchFamily="18" charset="0"/>
                          </a:rPr>
                          <m:t>甲</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43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.甲、乙匀速下降，</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aseline="-10000">
                            <a:solidFill>
                              <a:srgbClr val="000000"/>
                            </a:solidFill>
                            <a:latin typeface="Cambria Math" panose="02040503050406030204" pitchFamily="18" charset="0"/>
                          </a:rPr>
                          <m:t>乙</m:t>
                        </m:r>
                      </m:sub>
                    </m:sSub>
                    <m:r>
                      <a:rPr lang="en-US" altLang="zh-CN" sz="2400" b="0" i="0">
                        <a:solidFill>
                          <a:srgbClr val="000000"/>
                        </a:solidFill>
                        <a:latin typeface="Cambria Math" pitchFamily="34" charset="0"/>
                        <a:ea typeface="Cambria Math" pitchFamily="34" charset="-122"/>
                        <a:cs typeface="Cambria Math" pitchFamily="34" charset="-120"/>
                      </a:rPr>
                      <m:t>&gt;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aseline="-10000">
                            <a:solidFill>
                              <a:srgbClr val="000000"/>
                            </a:solidFill>
                            <a:latin typeface="Cambria Math" panose="02040503050406030204" pitchFamily="18" charset="0"/>
                          </a:rPr>
                          <m:t>甲</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，丙匀速上升</a:t>
                </a:r>
                <a:endParaRPr lang="en-US" altLang="zh-CN" sz="2400" dirty="0"/>
              </a:p>
              <a:p>
                <a:pPr latinLnBrk="1">
                  <a:lnSpc>
                    <a:spcPts val="41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.以上说法均不符合题意</a:t>
                </a:r>
                <a:endParaRPr lang="en-US" altLang="zh-CN" sz="2400" dirty="0"/>
              </a:p>
            </p:txBody>
          </p:sp>
        </mc:Choice>
        <mc:Fallback xmlns="">
          <p:sp>
            <p:nvSpPr>
              <p:cNvPr id="4" name="QC_5_BD.13_2#69f8a144c.choices?vcp=1&amp;pid=cf5049f3b&amp;color=0,0,0&amp;bbb=1"/>
              <p:cNvSpPr>
                <a:spLocks noRot="1" noChangeAspect="1" noMove="1" noResize="1" noEditPoints="1" noAdjustHandles="1" noChangeArrowheads="1" noChangeShapeType="1" noTextEdit="1"/>
              </p:cNvSpPr>
              <p:nvPr/>
            </p:nvSpPr>
            <p:spPr>
              <a:xfrm>
                <a:off x="393192" y="2021395"/>
                <a:ext cx="11402568" cy="2107375"/>
              </a:xfrm>
              <a:prstGeom prst="rect">
                <a:avLst/>
              </a:prstGeom>
              <a:blipFill>
                <a:blip r:embed="rId3"/>
                <a:stretch>
                  <a:fillRect l="-1658" b="-8696"/>
                </a:stretch>
              </a:blip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QC_5_AS.15_1#69f8a144c?vcp=1&amp;pid=cf5049f3b&amp;color=0,0,0&amp;bbb=1&amp;hb=1"/>
              <p:cNvSpPr/>
              <p:nvPr/>
            </p:nvSpPr>
            <p:spPr>
              <a:xfrm>
                <a:off x="393192" y="4169092"/>
                <a:ext cx="11402568" cy="2077276"/>
              </a:xfrm>
              <a:prstGeom prst="rect">
                <a:avLst/>
              </a:prstGeom>
              <a:noFill/>
              <a:ln/>
            </p:spPr>
            <p:txBody>
              <a:bodyPr wrap="none" lIns="0" tIns="0" rIns="0" bIns="0" rtlCol="0" anchor="t"/>
              <a:lstStyle/>
              <a:p>
                <a:pPr algn="l"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楼房和地面相当于同一参考系，甲看到楼房匀速上升，说明甲是匀速下降</a:t>
                </a:r>
                <a:r>
                  <a:rPr lang="en-US" altLang="zh-CN" sz="2400" b="1" i="0">
                    <a:solidFill>
                      <a:srgbClr val="FF0000"/>
                    </a:solidFill>
                    <a:latin typeface="Times New Roman" pitchFamily="34" charset="0"/>
                    <a:ea typeface="微软雅黑" pitchFamily="34" charset="-122"/>
                    <a:cs typeface="Times New Roman" pitchFamily="34" charset="-120"/>
                  </a:rPr>
                  <a:t>；乙</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看到甲匀速上升</a:t>
                </a:r>
                <a:r>
                  <a:rPr lang="en-US" altLang="zh-CN" sz="2400" b="1" i="0" dirty="0">
                    <a:solidFill>
                      <a:srgbClr val="FF0000"/>
                    </a:solidFill>
                    <a:latin typeface="Times New Roman" pitchFamily="34" charset="0"/>
                    <a:ea typeface="微软雅黑" pitchFamily="34" charset="-122"/>
                    <a:cs typeface="Times New Roman" pitchFamily="34" charset="-120"/>
                  </a:rPr>
                  <a:t>，说明乙也是匀速下降，且</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baseline="-10000">
                            <a:solidFill>
                              <a:srgbClr val="FF0000"/>
                            </a:solidFill>
                            <a:latin typeface="Cambria Math" panose="02040503050406030204" pitchFamily="18" charset="0"/>
                          </a:rPr>
                          <m:t>乙</m:t>
                        </m:r>
                      </m:sub>
                    </m:sSub>
                    <m:r>
                      <a:rPr lang="en-US" altLang="zh-CN" sz="2400" b="1" i="0">
                        <a:solidFill>
                          <a:srgbClr val="FF0000"/>
                        </a:solidFill>
                        <a:latin typeface="Cambria Math" pitchFamily="34" charset="0"/>
                        <a:ea typeface="Cambria Math" pitchFamily="34" charset="-122"/>
                        <a:cs typeface="Cambria Math" pitchFamily="34" charset="-120"/>
                      </a:rPr>
                      <m:t>&gt;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baseline="-10000">
                            <a:solidFill>
                              <a:srgbClr val="FF0000"/>
                            </a:solidFill>
                            <a:latin typeface="Cambria Math" panose="02040503050406030204" pitchFamily="18" charset="0"/>
                          </a:rPr>
                          <m:t>甲</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；甲看到丙匀速上升</a:t>
                </a:r>
                <a:r>
                  <a:rPr lang="en-US" altLang="zh-CN" sz="2400" b="1" i="0">
                    <a:solidFill>
                      <a:srgbClr val="FF0000"/>
                    </a:solidFill>
                    <a:latin typeface="Times New Roman" pitchFamily="34" charset="0"/>
                    <a:ea typeface="微软雅黑" pitchFamily="34" charset="-122"/>
                    <a:cs typeface="Times New Roman" pitchFamily="34" charset="-120"/>
                  </a:rPr>
                  <a:t>，有三种可</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能</a:t>
                </a:r>
                <a:r>
                  <a:rPr lang="en-US" altLang="zh-CN" sz="2400" b="1" i="0" dirty="0">
                    <a:solidFill>
                      <a:srgbClr val="FF0000"/>
                    </a:solidFill>
                    <a:latin typeface="Times New Roman" pitchFamily="34" charset="0"/>
                    <a:ea typeface="微软雅黑" pitchFamily="34" charset="-122"/>
                    <a:cs typeface="Times New Roman" pitchFamily="34" charset="-120"/>
                  </a:rPr>
                  <a:t>：丙静止，丙匀速上升，丙匀速下降且</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baseline="-10000">
                            <a:solidFill>
                              <a:srgbClr val="FF0000"/>
                            </a:solidFill>
                            <a:latin typeface="Cambria Math" panose="02040503050406030204" pitchFamily="18" charset="0"/>
                          </a:rPr>
                          <m:t>丙</m:t>
                        </m:r>
                      </m:sub>
                    </m:sSub>
                    <m:r>
                      <a:rPr lang="en-US" altLang="zh-CN" sz="2400" b="1" i="0">
                        <a:solidFill>
                          <a:srgbClr val="FF0000"/>
                        </a:solidFill>
                        <a:latin typeface="Cambria Math" pitchFamily="34" charset="0"/>
                        <a:ea typeface="Cambria Math" pitchFamily="34" charset="-122"/>
                        <a:cs typeface="Cambria Math" pitchFamily="34" charset="-120"/>
                      </a:rPr>
                      <m:t>&lt;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baseline="-10000">
                            <a:solidFill>
                              <a:srgbClr val="FF0000"/>
                            </a:solidFill>
                            <a:latin typeface="Cambria Math" panose="02040503050406030204" pitchFamily="18" charset="0"/>
                          </a:rPr>
                          <m:t>甲</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；丙看到乙匀速下降</a:t>
                </a:r>
                <a:r>
                  <a:rPr lang="en-US" altLang="zh-CN" sz="2400" b="1" i="0">
                    <a:solidFill>
                      <a:srgbClr val="FF0000"/>
                    </a:solidFill>
                    <a:latin typeface="Times New Roman" pitchFamily="34" charset="0"/>
                    <a:ea typeface="微软雅黑" pitchFamily="34" charset="-122"/>
                    <a:cs typeface="Times New Roman" pitchFamily="34" charset="-120"/>
                  </a:rPr>
                  <a:t>，也有三种可</a:t>
                </a:r>
              </a:p>
              <a:p>
                <a:pPr latinLnBrk="1">
                  <a:lnSpc>
                    <a:spcPts val="4100"/>
                  </a:lnSpc>
                </a:pPr>
                <a:r>
                  <a:rPr lang="en-US" altLang="zh-CN" sz="2400" b="1" i="0">
                    <a:solidFill>
                      <a:srgbClr val="FF0000"/>
                    </a:solidFill>
                    <a:latin typeface="Times New Roman" pitchFamily="34" charset="0"/>
                    <a:ea typeface="微软雅黑" pitchFamily="34" charset="-122"/>
                    <a:cs typeface="Times New Roman" pitchFamily="34" charset="-120"/>
                  </a:rPr>
                  <a:t>能</a:t>
                </a:r>
                <a:r>
                  <a:rPr lang="en-US" altLang="zh-CN" sz="2400" b="1" i="0" dirty="0">
                    <a:solidFill>
                      <a:srgbClr val="FF0000"/>
                    </a:solidFill>
                    <a:latin typeface="Times New Roman" pitchFamily="34" charset="0"/>
                    <a:ea typeface="微软雅黑" pitchFamily="34" charset="-122"/>
                    <a:cs typeface="Times New Roman" pitchFamily="34" charset="-120"/>
                  </a:rPr>
                  <a:t>：丙静止，丙匀速上升，丙匀速下降且</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baseline="-10000">
                            <a:solidFill>
                              <a:srgbClr val="FF0000"/>
                            </a:solidFill>
                            <a:latin typeface="Cambria Math" panose="02040503050406030204" pitchFamily="18" charset="0"/>
                          </a:rPr>
                          <m:t>丙</m:t>
                        </m:r>
                      </m:sub>
                    </m:sSub>
                    <m:r>
                      <a:rPr lang="en-US" altLang="zh-CN" sz="2400" b="1" i="0">
                        <a:solidFill>
                          <a:srgbClr val="FF0000"/>
                        </a:solidFill>
                        <a:latin typeface="Cambria Math" pitchFamily="34" charset="0"/>
                        <a:ea typeface="Cambria Math" pitchFamily="34" charset="-122"/>
                        <a:cs typeface="Cambria Math" pitchFamily="34" charset="-120"/>
                      </a:rPr>
                      <m:t>&lt;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baseline="-10000">
                            <a:solidFill>
                              <a:srgbClr val="FF0000"/>
                            </a:solidFill>
                            <a:latin typeface="Cambria Math" panose="02040503050406030204" pitchFamily="18" charset="0"/>
                          </a:rPr>
                          <m:t>乙</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，C正确.</a:t>
                </a:r>
                <a:endParaRPr lang="en-US" altLang="zh-CN" sz="2400" dirty="0"/>
              </a:p>
            </p:txBody>
          </p:sp>
        </mc:Choice>
        <mc:Fallback xmlns="">
          <p:sp>
            <p:nvSpPr>
              <p:cNvPr id="5" name="QC_5_AS.15_1#69f8a144c?vcp=1&amp;pid=cf5049f3b&amp;color=0,0,0&amp;bbb=1&amp;hb=1"/>
              <p:cNvSpPr>
                <a:spLocks noRot="1" noChangeAspect="1" noMove="1" noResize="1" noEditPoints="1" noAdjustHandles="1" noChangeArrowheads="1" noChangeShapeType="1" noTextEdit="1"/>
              </p:cNvSpPr>
              <p:nvPr/>
            </p:nvSpPr>
            <p:spPr>
              <a:xfrm>
                <a:off x="393192" y="4169092"/>
                <a:ext cx="11402568" cy="2077276"/>
              </a:xfrm>
              <a:prstGeom prst="rect">
                <a:avLst/>
              </a:prstGeom>
              <a:blipFill>
                <a:blip r:embed="rId4"/>
                <a:stretch>
                  <a:fillRect l="-1658" r="-1016" b="-8211"/>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5">
                                            <p:bg/>
                                          </p:spTgt>
                                        </p:tgtEl>
                                        <p:attrNameLst>
                                          <p:attrName>style.visibility</p:attrName>
                                        </p:attrNameLst>
                                      </p:cBhvr>
                                      <p:to>
                                        <p:strVal val="visible"/>
                                      </p:to>
                                    </p:set>
                                    <p:animEffect transition="in" filter="wipe(left)">
                                      <p:cBhvr>
                                        <p:cTn id="15" dur="500"/>
                                        <p:tgtEl>
                                          <p:spTgt spid="5">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5">
                                            <p:txEl>
                                              <p:pRg st="0" end="0"/>
                                            </p:txEl>
                                          </p:spTgt>
                                        </p:tgtEl>
                                        <p:attrNameLst>
                                          <p:attrName>style.visibility</p:attrName>
                                        </p:attrNameLst>
                                      </p:cBhvr>
                                      <p:to>
                                        <p:strVal val="visible"/>
                                      </p:to>
                                    </p:set>
                                    <p:animEffect transition="in" filter="wipe(left)">
                                      <p:cBhvr>
                                        <p:cTn id="18" dur="500"/>
                                        <p:tgtEl>
                                          <p:spTgt spid="5">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wipe(left)">
                                      <p:cBhvr>
                                        <p:cTn id="21" dur="500"/>
                                        <p:tgtEl>
                                          <p:spTgt spid="5">
                                            <p:txEl>
                                              <p:pRg st="1" end="1"/>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5">
                                            <p:txEl>
                                              <p:pRg st="2" end="2"/>
                                            </p:txEl>
                                          </p:spTgt>
                                        </p:tgtEl>
                                        <p:attrNameLst>
                                          <p:attrName>style.visibility</p:attrName>
                                        </p:attrNameLst>
                                      </p:cBhvr>
                                      <p:to>
                                        <p:strVal val="visible"/>
                                      </p:to>
                                    </p:set>
                                    <p:animEffect transition="in" filter="wipe(left)">
                                      <p:cBhvr>
                                        <p:cTn id="24" dur="500"/>
                                        <p:tgtEl>
                                          <p:spTgt spid="5">
                                            <p:txEl>
                                              <p:pRg st="2" end="2"/>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wipe(left)">
                                      <p:cBhvr>
                                        <p:cTn id="27"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5" grpId="0" build="p"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amp;si=17">
    <p:spTree>
      <p:nvGrpSpPr>
        <p:cNvPr id="1" name=""/>
        <p:cNvGrpSpPr/>
        <p:nvPr/>
      </p:nvGrpSpPr>
      <p:grpSpPr>
        <a:xfrm>
          <a:off x="0" y="0"/>
          <a:ext cx="0" cy="0"/>
          <a:chOff x="0" y="0"/>
          <a:chExt cx="0" cy="0"/>
        </a:xfrm>
      </p:grpSpPr>
      <p:sp>
        <p:nvSpPr>
          <p:cNvPr id="2" name="QC_5_BD.16_1#466b936e5?vcp=1&amp;pid=cf5049f3b&amp;color=0,0,0&amp;bt=1&amp;bbb=1&amp;hb=1"/>
          <p:cNvSpPr/>
          <p:nvPr/>
        </p:nvSpPr>
        <p:spPr>
          <a:xfrm>
            <a:off x="393192" y="1773365"/>
            <a:ext cx="11402568" cy="1592199"/>
          </a:xfrm>
          <a:prstGeom prst="rect">
            <a:avLst/>
          </a:prstGeom>
          <a:noFill/>
          <a:ln/>
        </p:spPr>
        <p:txBody>
          <a:bodyPr wrap="none" lIns="0" tIns="0" rIns="0" bIns="0" rtlCol="0" anchor="t"/>
          <a:lstStyle/>
          <a:p>
            <a:pPr algn="l" latinLnBrk="1">
              <a:lnSpc>
                <a:spcPts val="4400"/>
              </a:lnSpc>
            </a:pPr>
            <a:r>
              <a:rPr lang="en-US" altLang="zh-CN" sz="2400" b="1" i="0" dirty="0">
                <a:solidFill>
                  <a:srgbClr val="0070C0"/>
                </a:solidFill>
                <a:latin typeface="Times New Roman" pitchFamily="34" charset="0"/>
                <a:ea typeface="微软雅黑" pitchFamily="34" charset="-122"/>
                <a:cs typeface="Times New Roman" pitchFamily="34" charset="-120"/>
              </a:rPr>
              <a:t>变式3-1</a:t>
            </a:r>
            <a:r>
              <a:rPr lang="en-US" altLang="zh-CN" sz="2400" b="1" i="0" dirty="0">
                <a:solidFill>
                  <a:srgbClr val="0070C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一只蜜蜂和一辆汽车在平直公路上以同样大小的速度并列运动</a:t>
            </a:r>
            <a:r>
              <a:rPr lang="en-US" altLang="zh-CN" sz="2400" b="0" i="0">
                <a:solidFill>
                  <a:srgbClr val="000000"/>
                </a:solidFill>
                <a:latin typeface="Times New Roman" pitchFamily="34" charset="0"/>
                <a:ea typeface="微软雅黑" pitchFamily="34" charset="-122"/>
                <a:cs typeface="Times New Roman" pitchFamily="34" charset="-120"/>
              </a:rPr>
              <a:t>.如果这只蜜蜂</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紧盯着汽车车轮边缘上的某一点</a:t>
            </a:r>
            <a:r>
              <a:rPr lang="en-US" altLang="zh-CN" sz="2400" b="0" i="0" dirty="0">
                <a:solidFill>
                  <a:srgbClr val="000000"/>
                </a:solidFill>
                <a:latin typeface="Times New Roman" pitchFamily="34" charset="0"/>
                <a:ea typeface="微软雅黑" pitchFamily="34" charset="-122"/>
                <a:cs typeface="Times New Roman" pitchFamily="34" charset="-120"/>
              </a:rPr>
              <a:t>（如粘着的一块口香糖</a:t>
            </a:r>
            <a:r>
              <a:rPr lang="en-US" altLang="zh-CN" sz="2400" b="0" i="0">
                <a:solidFill>
                  <a:srgbClr val="000000"/>
                </a:solidFill>
                <a:latin typeface="Times New Roman" pitchFamily="34" charset="0"/>
                <a:ea typeface="微软雅黑" pitchFamily="34" charset="-122"/>
                <a:cs typeface="Times New Roman" pitchFamily="34" charset="-120"/>
              </a:rPr>
              <a:t>），那么它看到的这一点的运</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动轨迹是(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p:sp>
        <p:nvSpPr>
          <p:cNvPr id="3" name="QC_5_AN.17_1#466b936e5.bracket?vcp=1&amp;pid=cf5049f3b&amp;color=0,0,0&amp;vpa=6"/>
          <p:cNvSpPr/>
          <p:nvPr/>
        </p:nvSpPr>
        <p:spPr>
          <a:xfrm>
            <a:off x="1844961" y="2879535"/>
            <a:ext cx="4413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A</a:t>
            </a:r>
            <a:endParaRPr lang="en-US" altLang="zh-CN" sz="2400" dirty="0"/>
          </a:p>
        </p:txBody>
      </p:sp>
      <p:sp>
        <p:nvSpPr>
          <p:cNvPr id="4" name="QC_5_BD.16_2#466b936e5.choices?vcp=1&amp;pid=cf5049f3b&amp;color=0,0,0&amp;bbb=1"/>
          <p:cNvSpPr/>
          <p:nvPr/>
        </p:nvSpPr>
        <p:spPr>
          <a:xfrm>
            <a:off x="393192" y="3493960"/>
            <a:ext cx="11402568" cy="477330"/>
          </a:xfrm>
          <a:prstGeom prst="rect">
            <a:avLst/>
          </a:prstGeom>
          <a:noFill/>
          <a:ln/>
        </p:spPr>
        <p:txBody>
          <a:bodyPr wrap="none" lIns="0" tIns="0" rIns="0" bIns="0" rtlCol="0" anchor="t"/>
          <a:lstStyle/>
          <a:p>
            <a:pPr latinLnBrk="1">
              <a:lnSpc>
                <a:spcPts val="4300"/>
              </a:lnSpc>
              <a:tabLst>
                <a:tab pos="2034027" algn="l"/>
                <a:tab pos="5122154" algn="l"/>
                <a:tab pos="8388081" algn="l"/>
              </a:tabLst>
            </a:pPr>
            <a:r>
              <a:rPr lang="en-US" altLang="zh-CN" sz="2400" b="0" i="0">
                <a:solidFill>
                  <a:srgbClr val="000000"/>
                </a:solidFill>
                <a:latin typeface="Times New Roman" pitchFamily="34" charset="0"/>
                <a:ea typeface="微软雅黑" pitchFamily="34" charset="-122"/>
                <a:cs typeface="Times New Roman" pitchFamily="34" charset="-120"/>
              </a:rPr>
              <a:t>A.</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900" b="0" i="0" kern="0">
                <a:solidFill>
                  <a:srgbClr val="FFFFFF"/>
                </a:solidFill>
                <a:latin typeface="SimSun" panose="02010600030101010101" pitchFamily="2" charset="-122"/>
                <a:ea typeface="微软雅黑" pitchFamily="34" charset="-122"/>
                <a:cs typeface="Times New Roman" pitchFamily="34" charset="-120"/>
              </a:rPr>
              <a:t>                   </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900" b="0" i="0" kern="0">
                <a:solidFill>
                  <a:srgbClr val="FFFFFF"/>
                </a:solidFill>
                <a:latin typeface="SimSun" panose="02010600030101010101" pitchFamily="2" charset="-122"/>
                <a:ea typeface="微软雅黑" pitchFamily="34" charset="-122"/>
                <a:cs typeface="Times New Roman" pitchFamily="34" charset="-120"/>
              </a:rPr>
              <a:t>                      </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900" b="0" i="0" kern="0">
                <a:solidFill>
                  <a:srgbClr val="FFFFFF"/>
                </a:solidFill>
                <a:latin typeface="SimSun" panose="02010600030101010101" pitchFamily="2" charset="-122"/>
                <a:ea typeface="微软雅黑" pitchFamily="34" charset="-122"/>
                <a:cs typeface="Times New Roman" pitchFamily="34" charset="-120"/>
              </a:rPr>
              <a:t>                     </a:t>
            </a:r>
            <a:endParaRPr lang="en-US" altLang="zh-CN" sz="900" dirty="0">
              <a:latin typeface="SimSun" panose="02010600030101010101" pitchFamily="2" charset="-122"/>
            </a:endParaRPr>
          </a:p>
        </p:txBody>
      </p:sp>
      <p:pic>
        <p:nvPicPr>
          <p:cNvPr id="5" name="QC_5_BD.16_2#466b936e5.choice_image?vcp=1&amp;pid=cf5049f3b&amp;color=0,0,0&amp;tib=255,255,255&amp;iip=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753555" y="3568256"/>
            <a:ext cx="420624" cy="393192"/>
          </a:xfrm>
          <a:prstGeom prst="rect">
            <a:avLst/>
          </a:prstGeom>
          <a:noFill/>
          <a:extLst>
            <a:ext uri="{909E8E84-426E-40DD-AFC4-6F175D3DCCD1}">
              <a14:hiddenFill xmlns:a14="http://schemas.microsoft.com/office/drawing/2010/main">
                <a:solidFill>
                  <a:schemeClr val="accent1">
                    <a:alpha val="0"/>
                  </a:schemeClr>
                </a:solidFill>
              </a14:hiddenFill>
            </a:ext>
          </a:extLst>
        </p:spPr>
      </p:pic>
      <p:pic>
        <p:nvPicPr>
          <p:cNvPr id="6" name="QC_5_BD.16_2#466b936e5.choice_image?vcp=1&amp;pid=cf5049f3b&amp;color=0,0,0&amp;tib=255,255,255&amp;iip=2"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2709958" y="3559112"/>
            <a:ext cx="1078992" cy="411480"/>
          </a:xfrm>
          <a:prstGeom prst="rect">
            <a:avLst/>
          </a:prstGeom>
          <a:noFill/>
          <a:extLst>
            <a:ext uri="{909E8E84-426E-40DD-AFC4-6F175D3DCCD1}">
              <a14:hiddenFill xmlns:a14="http://schemas.microsoft.com/office/drawing/2010/main">
                <a:solidFill>
                  <a:schemeClr val="accent1">
                    <a:alpha val="0"/>
                  </a:schemeClr>
                </a:solidFill>
              </a14:hiddenFill>
            </a:ext>
          </a:extLst>
        </p:spPr>
      </p:pic>
      <p:pic>
        <p:nvPicPr>
          <p:cNvPr id="7" name="QC_5_BD.16_2#466b936e5.choice_image?vcp=1&amp;pid=cf5049f3b&amp;color=0,0,0&amp;tib=255,255,255&amp;iip=3" descr="preencoded.png"/>
          <p:cNvPicPr>
            <a:picLocks noChangeAspect="1"/>
          </p:cNvPicPr>
          <p:nvPr/>
        </p:nvPicPr>
        <p:blipFill>
          <a:blip r:embed="rId5">
            <a:clrChange>
              <a:clrFrom>
                <a:srgbClr val="FFFFFF"/>
              </a:clrFrom>
              <a:clrTo>
                <a:srgbClr val="FFFFFF">
                  <a:alpha val="0"/>
                </a:srgbClr>
              </a:clrTo>
            </a:clrChange>
          </a:blip>
          <a:stretch>
            <a:fillRect/>
          </a:stretch>
        </p:blipFill>
        <p:spPr>
          <a:xfrm>
            <a:off x="5801392" y="3591845"/>
            <a:ext cx="1243584" cy="283464"/>
          </a:xfrm>
          <a:prstGeom prst="rect">
            <a:avLst/>
          </a:prstGeom>
          <a:noFill/>
          <a:extLst>
            <a:ext uri="{909E8E84-426E-40DD-AFC4-6F175D3DCCD1}">
              <a14:hiddenFill xmlns:a14="http://schemas.microsoft.com/office/drawing/2010/main">
                <a:solidFill>
                  <a:schemeClr val="accent1">
                    <a:alpha val="0"/>
                  </a:schemeClr>
                </a:solidFill>
              </a14:hiddenFill>
            </a:ext>
          </a:extLst>
        </p:spPr>
      </p:pic>
      <p:pic>
        <p:nvPicPr>
          <p:cNvPr id="8" name="QC_5_BD.16_2#466b936e5.choice_image?vcp=1&amp;pid=cf5049f3b&amp;color=0,0,0&amp;tib=255,255,255&amp;iip=4" descr="preencoded.png"/>
          <p:cNvPicPr>
            <a:picLocks noChangeAspect="1"/>
          </p:cNvPicPr>
          <p:nvPr/>
        </p:nvPicPr>
        <p:blipFill>
          <a:blip r:embed="rId6">
            <a:clrChange>
              <a:clrFrom>
                <a:srgbClr val="FFFFFF"/>
              </a:clrFrom>
              <a:clrTo>
                <a:srgbClr val="FFFFFF">
                  <a:alpha val="0"/>
                </a:srgbClr>
              </a:clrTo>
            </a:clrChange>
          </a:blip>
          <a:stretch>
            <a:fillRect/>
          </a:stretch>
        </p:blipFill>
        <p:spPr>
          <a:xfrm>
            <a:off x="9084151" y="3596418"/>
            <a:ext cx="1188720" cy="274320"/>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9" name="QC_5_AS.18_1#466b936e5?vcp=1&amp;pid=cf5049f3b&amp;color=0,0,0&amp;bbb=1&amp;hb=1"/>
          <p:cNvSpPr/>
          <p:nvPr/>
        </p:nvSpPr>
        <p:spPr>
          <a:xfrm>
            <a:off x="393192" y="4044060"/>
            <a:ext cx="11402568" cy="10374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蜜蜂和汽车在平直公路上以同样的速度并列运动</a:t>
            </a:r>
            <a:r>
              <a:rPr lang="en-US" altLang="zh-CN" sz="2400" b="1" i="0">
                <a:solidFill>
                  <a:srgbClr val="FF0000"/>
                </a:solidFill>
                <a:latin typeface="Times New Roman" pitchFamily="34" charset="0"/>
                <a:ea typeface="微软雅黑" pitchFamily="34" charset="-122"/>
                <a:cs typeface="Times New Roman" pitchFamily="34" charset="-120"/>
              </a:rPr>
              <a:t>，则蜜蜂看到车轮的轴线是固</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定的</a:t>
            </a:r>
            <a:r>
              <a:rPr lang="en-US" altLang="zh-CN" sz="2400" b="1" i="0" dirty="0">
                <a:solidFill>
                  <a:srgbClr val="FF0000"/>
                </a:solidFill>
                <a:latin typeface="Times New Roman" pitchFamily="34" charset="0"/>
                <a:ea typeface="微软雅黑" pitchFamily="34" charset="-122"/>
                <a:cs typeface="Times New Roman" pitchFamily="34" charset="-120"/>
              </a:rPr>
              <a:t>，而车轮的边缘绕着车轮的轴线转动，故轨迹为圆,A正确.</a:t>
            </a:r>
            <a:endParaRPr lang="en-US" altLang="zh-CN" sz="240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9">
                                            <p:bg/>
                                          </p:spTgt>
                                        </p:tgtEl>
                                        <p:attrNameLst>
                                          <p:attrName>style.visibility</p:attrName>
                                        </p:attrNameLst>
                                      </p:cBhvr>
                                      <p:to>
                                        <p:strVal val="visible"/>
                                      </p:to>
                                    </p:set>
                                    <p:animEffect transition="in" filter="wipe(left)">
                                      <p:cBhvr>
                                        <p:cTn id="15" dur="500"/>
                                        <p:tgtEl>
                                          <p:spTgt spid="9">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9">
                                            <p:txEl>
                                              <p:pRg st="0" end="0"/>
                                            </p:txEl>
                                          </p:spTgt>
                                        </p:tgtEl>
                                        <p:attrNameLst>
                                          <p:attrName>style.visibility</p:attrName>
                                        </p:attrNameLst>
                                      </p:cBhvr>
                                      <p:to>
                                        <p:strVal val="visible"/>
                                      </p:to>
                                    </p:set>
                                    <p:animEffect transition="in" filter="wipe(left)">
                                      <p:cBhvr>
                                        <p:cTn id="18" dur="500"/>
                                        <p:tgtEl>
                                          <p:spTgt spid="9">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9">
                                            <p:txEl>
                                              <p:pRg st="1" end="1"/>
                                            </p:txEl>
                                          </p:spTgt>
                                        </p:tgtEl>
                                        <p:attrNameLst>
                                          <p:attrName>style.visibility</p:attrName>
                                        </p:attrNameLst>
                                      </p:cBhvr>
                                      <p:to>
                                        <p:strVal val="visible"/>
                                      </p:to>
                                    </p:set>
                                    <p:animEffect transition="in" filter="wipe(left)">
                                      <p:cBhvr>
                                        <p:cTn id="21"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9" grpId="0" build="p"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amp;si=18">
    <p:spTree>
      <p:nvGrpSpPr>
        <p:cNvPr id="1" name=""/>
        <p:cNvGrpSpPr/>
        <p:nvPr/>
      </p:nvGrpSpPr>
      <p:grpSpPr>
        <a:xfrm>
          <a:off x="0" y="0"/>
          <a:ext cx="0" cy="0"/>
          <a:chOff x="0" y="0"/>
          <a:chExt cx="0" cy="0"/>
        </a:xfrm>
      </p:grpSpPr>
      <p:sp>
        <p:nvSpPr>
          <p:cNvPr id="2" name="P_5_BD#33f1cb09f?vcp=1&amp;pid=cf5049f3b&amp;color=0,0,0&amp;bt=1&amp;bbb=1"/>
          <p:cNvSpPr/>
          <p:nvPr/>
        </p:nvSpPr>
        <p:spPr>
          <a:xfrm>
            <a:off x="393192" y="1501966"/>
            <a:ext cx="11402568" cy="3827399"/>
          </a:xfrm>
          <a:prstGeom prst="rect">
            <a:avLst/>
          </a:prstGeom>
          <a:noFill/>
          <a:ln/>
        </p:spPr>
        <p:txBody>
          <a:bodyPr wrap="none" lIns="0" tIns="0" rIns="0" bIns="0" rtlCol="0" anchor="t"/>
          <a:lstStyle/>
          <a:p>
            <a:pPr algn="l" latinLnBrk="1">
              <a:lnSpc>
                <a:spcPts val="4400"/>
              </a:lnSpc>
            </a:pPr>
            <a:r>
              <a:rPr lang="en-US" altLang="zh-CN" sz="2400" b="1" i="0" dirty="0">
                <a:solidFill>
                  <a:srgbClr val="000000"/>
                </a:solidFill>
                <a:latin typeface="Times New Roman" pitchFamily="34" charset="0"/>
                <a:ea typeface="微软雅黑" pitchFamily="34" charset="-122"/>
                <a:cs typeface="Times New Roman" pitchFamily="34" charset="-120"/>
              </a:rPr>
              <a:t>归纳总结</a:t>
            </a:r>
            <a:endParaRPr lang="en-US" altLang="zh-CN" sz="2400" dirty="0"/>
          </a:p>
          <a:p>
            <a:pPr algn="ctr" latinLnBrk="1">
              <a:lnSpc>
                <a:spcPts val="4400"/>
              </a:lnSpc>
            </a:pPr>
            <a:r>
              <a:rPr lang="en-US" altLang="zh-CN" sz="2400" b="1" i="0">
                <a:solidFill>
                  <a:srgbClr val="000000"/>
                </a:solidFill>
                <a:latin typeface="Times New Roman" pitchFamily="34" charset="0"/>
                <a:ea typeface="微软雅黑" pitchFamily="34" charset="-122"/>
                <a:cs typeface="Times New Roman" pitchFamily="34" charset="-120"/>
              </a:rPr>
              <a:t>判断物体运动和静止的具体方法步骤</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1</a:t>
            </a:r>
            <a:r>
              <a:rPr lang="en-US" altLang="zh-CN" sz="2400" b="0" i="0" dirty="0">
                <a:solidFill>
                  <a:srgbClr val="000000"/>
                </a:solidFill>
                <a:latin typeface="Times New Roman" pitchFamily="34" charset="0"/>
                <a:ea typeface="微软雅黑" pitchFamily="34" charset="-122"/>
                <a:cs typeface="Times New Roman" pitchFamily="34" charset="-120"/>
              </a:rPr>
              <a:t>.确定研究对象.</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2</a:t>
            </a:r>
            <a:r>
              <a:rPr lang="en-US" altLang="zh-CN" sz="2400" b="0" i="0" dirty="0">
                <a:solidFill>
                  <a:srgbClr val="000000"/>
                </a:solidFill>
                <a:latin typeface="Times New Roman" pitchFamily="34" charset="0"/>
                <a:ea typeface="微软雅黑" pitchFamily="34" charset="-122"/>
                <a:cs typeface="Times New Roman" pitchFamily="34" charset="-120"/>
              </a:rPr>
              <a:t>.根据题意确定参考系.</a:t>
            </a:r>
            <a:endParaRPr lang="en-US" altLang="zh-CN" sz="2400" dirty="0"/>
          </a:p>
          <a:p>
            <a:pPr latinLnBrk="1">
              <a:lnSpc>
                <a:spcPts val="44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3</a:t>
            </a:r>
            <a:r>
              <a:rPr lang="en-US" altLang="zh-CN" sz="2400" b="0" i="0" dirty="0">
                <a:solidFill>
                  <a:srgbClr val="000000"/>
                </a:solidFill>
                <a:latin typeface="Times New Roman" pitchFamily="34" charset="0"/>
                <a:ea typeface="微软雅黑" pitchFamily="34" charset="-122"/>
                <a:cs typeface="Times New Roman" pitchFamily="34" charset="-120"/>
              </a:rPr>
              <a:t>.分析被研究的物体相对于参考系有没有发生位置变化，以及如何变化.</a:t>
            </a:r>
            <a:endParaRPr lang="en-US" altLang="zh-CN" sz="2400" dirty="0"/>
          </a:p>
          <a:p>
            <a:pPr latinLnBrk="1">
              <a:lnSpc>
                <a:spcPts val="4400"/>
              </a:lnSpc>
            </a:pPr>
            <a:r>
              <a:rPr lang="en-US" altLang="zh-CN" sz="2400" b="1" i="0">
                <a:solidFill>
                  <a:srgbClr val="000000"/>
                </a:solidFill>
                <a:latin typeface="Times New Roman" pitchFamily="34" charset="0"/>
                <a:ea typeface="微软雅黑" pitchFamily="34" charset="-122"/>
                <a:cs typeface="Times New Roman" pitchFamily="34" charset="-120"/>
              </a:rPr>
              <a:t>友情提醒</a:t>
            </a:r>
            <a:endParaRPr lang="en-US" altLang="zh-CN" sz="2400" dirty="0"/>
          </a:p>
          <a:p>
            <a:pPr latinLnBrk="1">
              <a:lnSpc>
                <a:spcPts val="4200"/>
              </a:lnSpc>
            </a:pPr>
            <a:r>
              <a:rPr lang="en-US" altLang="zh-CN" sz="2400" b="0" i="0">
                <a:solidFill>
                  <a:srgbClr val="000000"/>
                </a:solidFill>
                <a:latin typeface="SimSun" panose="02010600030101010101" pitchFamily="2" charset="-122"/>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参考系的选择没有对与错</a:t>
            </a:r>
            <a:r>
              <a:rPr lang="en-US" altLang="zh-CN" sz="2400" b="0" i="0" dirty="0">
                <a:solidFill>
                  <a:srgbClr val="000000"/>
                </a:solidFill>
                <a:latin typeface="Times New Roman" pitchFamily="34" charset="0"/>
                <a:ea typeface="微软雅黑" pitchFamily="34" charset="-122"/>
                <a:cs typeface="Times New Roman" pitchFamily="34" charset="-120"/>
              </a:rPr>
              <a:t>，选择不同的参考系对同一运动的描述可以不同.</a:t>
            </a:r>
            <a:endParaRPr lang="en-US" altLang="zh-CN" sz="2400" dirty="0"/>
          </a:p>
        </p:txBody>
      </p:sp>
    </p:spTree>
  </p:cSld>
  <p:clrMapOvr>
    <a:masterClrMapping/>
  </p:clrMapOvr>
  <p:transition>
    <p:split dir="in"/>
  </p:transition>
</p:sld>
</file>

<file path=ppt/slides/slide19.xml><?xml version="1.0" encoding="utf-8"?>
<p:sld xmlns:a="http://schemas.openxmlformats.org/drawingml/2006/main" xmlns:r="http://schemas.openxmlformats.org/officeDocument/2006/relationships" xmlns:p="http://schemas.openxmlformats.org/presentationml/2006/main">
  <p:cSld name="Slide 19&amp;si=19">
    <p:spTree>
      <p:nvGrpSpPr>
        <p:cNvPr id="1" name=""/>
        <p:cNvGrpSpPr/>
        <p:nvPr/>
      </p:nvGrpSpPr>
      <p:grpSpPr>
        <a:xfrm>
          <a:off x="0" y="0"/>
          <a:ext cx="0" cy="0"/>
          <a:chOff x="0" y="0"/>
          <a:chExt cx="0" cy="0"/>
        </a:xfrm>
      </p:grpSpPr>
    </p:spTree>
  </p:cSld>
  <p:clrMapOvr>
    <a:masterClrMapping/>
  </p:clrMapOvr>
  <p:transition>
    <p:split dir="in"/>
  </p:transition>
</p:sld>
</file>

<file path=ppt/theme/theme1.xml><?xml version="1.0" encoding="utf-8"?>
<a:theme xmlns:a="http://schemas.openxmlformats.org/drawingml/2006/mai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838</Words>
  <Application>Microsoft Office PowerPoint</Application>
  <PresentationFormat>宽屏</PresentationFormat>
  <Paragraphs>152</Paragraphs>
  <Slides>19</Slides>
  <Notes>19</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19</vt:i4>
      </vt:variant>
    </vt:vector>
  </HeadingPairs>
  <TitlesOfParts>
    <vt:vector size="28" baseType="lpstr">
      <vt:lpstr>SimHei</vt:lpstr>
      <vt:lpstr>KaiTi</vt:lpstr>
      <vt:lpstr>SimSun</vt:lpstr>
      <vt:lpstr>微软雅黑</vt:lpstr>
      <vt:lpstr>Arial</vt:lpstr>
      <vt:lpstr>Calibri</vt:lpstr>
      <vt:lpstr>Cambria Math</vt:lpstr>
      <vt:lpstr>Times New Roman</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Administrator</cp:lastModifiedBy>
  <cp:revision>3</cp:revision>
  <dcterms:created xsi:type="dcterms:W3CDTF">2026-05-25T07:02:21Z</dcterms:created>
  <dcterms:modified xsi:type="dcterms:W3CDTF">2026-05-25T08:35:29Z</dcterms:modified>
  <cp:category/>
  <cp:contentStatus/>
</cp:coreProperties>
</file>