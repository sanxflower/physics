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6760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9b2d2ba91f04ee84#tid=6a13c06328bacd03a259d37b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144e03dd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疑难专题10 动力学中的传送带模型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6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1.png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3.png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144e03dd5.fixed?vcp=1&amp;pid=76d465d43&amp;color=0,112,192&amp;vtp=1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第四章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运动和力的关系</a:t>
            </a:r>
            <a:endParaRPr lang="en-US" altLang="zh-CN" sz="4800" dirty="0"/>
          </a:p>
        </p:txBody>
      </p:sp>
      <p:sp>
        <p:nvSpPr>
          <p:cNvPr id="3" name="C_2_BD#144e03dd5.fixed?vcp=1&amp;pid=76d465d43&amp;color=0,0,0&amp;vtp=1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疑难专题10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动力学中的传送带模型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3_BD#181c4ac85?vcp=1&amp;pid=144e03dd5&amp;color=0,0,0&amp;vtp=1&amp;bt=1&amp;bbb=1"/>
          <p:cNvSpPr/>
          <p:nvPr/>
        </p:nvSpPr>
        <p:spPr>
          <a:xfrm>
            <a:off x="393192" y="1407668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1.传送带模型问题的两个关键分析</a:t>
            </a:r>
            <a:endParaRPr lang="en-US" altLang="zh-CN" sz="2400" dirty="0"/>
          </a:p>
        </p:txBody>
      </p:sp>
      <p:graphicFrame>
        <p:nvGraphicFramePr>
          <p:cNvPr id="4" name="P_3_BD#181c4ac85?colgroup=5,30&amp;vcp=1&amp;pid=144e03dd5&amp;color=0,0,0&amp;vtp=1&amp;bbb=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076515"/>
              </p:ext>
            </p:extLst>
          </p:nvPr>
        </p:nvGraphicFramePr>
        <p:xfrm>
          <a:off x="393192" y="2020443"/>
          <a:ext cx="11375136" cy="3427984"/>
        </p:xfrm>
        <a:graphic>
          <a:graphicData uri="http://schemas.openxmlformats.org/drawingml/2006/table">
            <a:tbl>
              <a:tblPr/>
              <a:tblGrid>
                <a:gridCol w="1801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73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7984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受力分析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（1）摩擦力方向的判断</a:t>
                      </a:r>
                      <a:endParaRPr lang="en-US" altLang="zh-CN" sz="1200" dirty="0"/>
                    </a:p>
                    <a:p>
                      <a:pPr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①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同向“以快带慢”</a:t>
                      </a:r>
                      <a:endParaRPr lang="en-US" altLang="zh-CN" sz="1200" dirty="0"/>
                    </a:p>
                    <a:p>
                      <a:pPr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②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反向“互相阻碍”</a:t>
                      </a:r>
                      <a:endParaRPr lang="en-US" altLang="zh-CN" sz="1200" dirty="0"/>
                    </a:p>
                    <a:p>
                      <a:pPr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（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2）共速时摩擦力可能突变的情形</a:t>
                      </a:r>
                      <a:endParaRPr lang="en-US" altLang="zh-CN" sz="1200" dirty="0"/>
                    </a:p>
                    <a:p>
                      <a:pPr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①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滑动摩擦力突变为0</a:t>
                      </a:r>
                      <a:endParaRPr lang="en-US" altLang="zh-CN" sz="1200" dirty="0"/>
                    </a:p>
                    <a:p>
                      <a:pPr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②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滑动摩擦力突变为静摩擦力</a:t>
                      </a:r>
                      <a:endParaRPr lang="en-US" altLang="zh-CN" sz="1200" dirty="0"/>
                    </a:p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③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摩擦力方向突变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split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P_3_BD#181c4ac85?colgroup=5,30&amp;vcp=1&amp;pid=144e03dd5&amp;color=0,0,0&amp;vtp=1&amp;bt=1&amp;bbb=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8080833"/>
              </p:ext>
            </p:extLst>
          </p:nvPr>
        </p:nvGraphicFramePr>
        <p:xfrm>
          <a:off x="393192" y="2515076"/>
          <a:ext cx="11375136" cy="2451418"/>
        </p:xfrm>
        <a:graphic>
          <a:graphicData uri="http://schemas.openxmlformats.org/drawingml/2006/table">
            <a:tbl>
              <a:tblPr/>
              <a:tblGrid>
                <a:gridCol w="1801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73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51418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运动分析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（1）参考系的选择</a:t>
                      </a:r>
                      <a:endParaRPr lang="en-US" altLang="zh-CN" sz="1200" dirty="0"/>
                    </a:p>
                    <a:p>
                      <a:pPr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①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研究物体的速度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、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位移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、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加速度时均以地面为参考系</a:t>
                      </a:r>
                      <a:endParaRPr lang="en-US" altLang="zh-CN" sz="1200" dirty="0"/>
                    </a:p>
                    <a:p>
                      <a:pPr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②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研究物体的滑行痕迹一般以传送带为参考系比较方便</a:t>
                      </a:r>
                      <a:endParaRPr lang="en-US" altLang="zh-CN" sz="1200" dirty="0"/>
                    </a:p>
                    <a:p>
                      <a:pPr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（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2）判断共速以后物体是否能与传送带保持相对静止</a:t>
                      </a:r>
                      <a:endParaRPr lang="en-US" altLang="zh-CN" sz="1200" dirty="0"/>
                    </a:p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（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3）判断物体在达到共速之前是否滑出传送带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P_3_BD#181c4ac85?colgroup=5,30&amp;vcp=1&amp;pid=144e03dd5&amp;color=0,0,0&amp;vtp=1&amp;bt=1&amp;bbb=1">
            <a:extLst>
              <a:ext uri="{FF2B5EF4-FFF2-40B4-BE49-F238E27FC236}">
                <a16:creationId xmlns:a16="http://schemas.microsoft.com/office/drawing/2014/main" id="{AB997466-2B4F-A2F7-A3F1-9088BF0D399F}"/>
              </a:ext>
            </a:extLst>
          </p:cNvPr>
          <p:cNvSpPr txBox="1"/>
          <p:nvPr/>
        </p:nvSpPr>
        <p:spPr>
          <a:xfrm>
            <a:off x="11152775" y="1889601"/>
            <a:ext cx="615553" cy="5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>
              <a:lnSpc>
                <a:spcPts val="43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续表</a:t>
            </a:r>
          </a:p>
        </p:txBody>
      </p:sp>
    </p:spTree>
  </p:cSld>
  <p:clrMapOvr>
    <a:masterClrMapping/>
  </p:clrMapOvr>
  <p:transition>
    <p:split dir="in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3_BD#181c4ac85?vcp=1&amp;pid=144e03dd5&amp;color=0,0,0&amp;vtp=1&amp;bt=1&amp;bbb=1"/>
          <p:cNvSpPr/>
          <p:nvPr/>
        </p:nvSpPr>
        <p:spPr>
          <a:xfrm>
            <a:off x="393192" y="721360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2.传送带问题的求解思路</a:t>
            </a:r>
            <a:endParaRPr lang="en-US" altLang="zh-CN" sz="2400" dirty="0"/>
          </a:p>
        </p:txBody>
      </p:sp>
      <p:pic>
        <p:nvPicPr>
          <p:cNvPr id="3" name="P_3_BD#181c4ac85?vcp=1&amp;pid=144e03dd5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70832" y="1334135"/>
            <a:ext cx="3456432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#cf98cda1b?vcp=1&amp;pid=144e03dd5&amp;color=0,0,0&amp;tib=255,255,255&amp;vtp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66344"/>
          </a:xfrm>
          <a:prstGeom prst="rect">
            <a:avLst/>
          </a:prstGeom>
        </p:spPr>
      </p:pic>
      <p:sp>
        <p:nvSpPr>
          <p:cNvPr id="3" name="C_3_BD#cf98cda1b?vcp=1&amp;pid=144e03dd5&amp;color=255,255,255&amp;vtp=1&amp;bt=1&amp;bbb=1"/>
          <p:cNvSpPr/>
          <p:nvPr/>
        </p:nvSpPr>
        <p:spPr>
          <a:xfrm>
            <a:off x="393192" y="502920"/>
            <a:ext cx="8961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考点</a:t>
            </a:r>
            <a:endParaRPr lang="en-US" altLang="zh-CN" sz="2600" dirty="0"/>
          </a:p>
        </p:txBody>
      </p:sp>
      <p:sp>
        <p:nvSpPr>
          <p:cNvPr id="4" name="C_3_BD#cf98cda1b?vcp=1&amp;pid=144e03dd5&amp;color=255,255,255&amp;vtp=1"/>
          <p:cNvSpPr/>
          <p:nvPr/>
        </p:nvSpPr>
        <p:spPr>
          <a:xfrm>
            <a:off x="1298448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1</a:t>
            </a:r>
            <a:endParaRPr lang="en-US" altLang="zh-CN" sz="2800" dirty="0"/>
          </a:p>
        </p:txBody>
      </p:sp>
      <p:sp>
        <p:nvSpPr>
          <p:cNvPr id="5" name="C_3_BD#cf98cda1b?vcp=1&amp;pid=144e03dd5&amp;color=0,0,0&amp;vtp=1&amp;bbb=1"/>
          <p:cNvSpPr/>
          <p:nvPr/>
        </p:nvSpPr>
        <p:spPr>
          <a:xfrm>
            <a:off x="1911096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常见水平传送带问题</a:t>
            </a:r>
            <a:endParaRPr lang="en-US" altLang="zh-CN" sz="2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P_4_BD#6789a1d66?colgroup=7,28&amp;vcp=1&amp;pid=cf98cda1b&amp;color=0,0,0&amp;vtp=1&amp;bb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3739230"/>
                  </p:ext>
                </p:extLst>
              </p:nvPr>
            </p:nvGraphicFramePr>
            <p:xfrm>
              <a:off x="393192" y="1092200"/>
              <a:ext cx="11365992" cy="4743577"/>
            </p:xfrm>
            <a:graphic>
              <a:graphicData uri="http://schemas.openxmlformats.org/drawingml/2006/table">
                <a:tbl>
                  <a:tblPr/>
                  <a:tblGrid>
                    <a:gridCol w="245973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07822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82803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常见情境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物体的运动情况及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</m:t>
                              </m:r>
                            </m:oMath>
                          </a14:m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加速度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𝜇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𝑔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sz="100" b="1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303780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89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54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𝑙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≤</m:t>
                              </m:r>
                              <m:f>
                                <m:f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𝜇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𝑔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一直匀加速</a:t>
                          </a:r>
                          <a:endParaRPr lang="en-US" altLang="zh-CN" sz="1200" dirty="0"/>
                        </a:p>
                        <a:p>
                          <a:pPr algn="ctr" latinLnBrk="1" hangingPunct="0">
                            <a:lnSpc>
                              <a:spcPts val="12000"/>
                            </a:lnSpc>
                          </a:pPr>
                          <a:r>
                            <a:rPr lang="en-US" altLang="zh-CN" sz="6700" b="0" i="0" kern="0" spc="-9990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_</a:t>
                          </a:r>
                          <a:r>
                            <a:rPr lang="en-US" altLang="zh-CN" sz="900" b="0" i="0" kern="0" spc="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SimSun" panose="02010600030101010101" pitchFamily="2" charset="-122"/>
                              <a:ea typeface="微软雅黑" pitchFamily="34" charset="-122"/>
                              <a:cs typeface="Times New Roman" pitchFamily="34" charset="-120"/>
                            </a:rPr>
                            <a:t>_________________________</a:t>
                          </a: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54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𝑙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&gt;</m:t>
                              </m:r>
                              <m:f>
                                <m:f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𝜇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𝑔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先匀加速后匀速</a:t>
                          </a:r>
                          <a:endParaRPr lang="en-US" altLang="zh-CN" sz="1200" dirty="0"/>
                        </a:p>
                        <a:p>
                          <a:pPr algn="ctr" latinLnBrk="1" hangingPunct="0">
                            <a:lnSpc>
                              <a:spcPts val="11500"/>
                            </a:lnSpc>
                          </a:pPr>
                          <a:r>
                            <a:rPr lang="en-US" altLang="zh-CN" sz="6450" b="0" i="0" kern="0" spc="-9990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_</a:t>
                          </a:r>
                          <a:r>
                            <a:rPr lang="en-US" altLang="zh-CN" sz="900" b="0" i="0" kern="0" spc="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SimSun" panose="02010600030101010101" pitchFamily="2" charset="-122"/>
                              <a:ea typeface="微软雅黑" pitchFamily="34" charset="-122"/>
                              <a:cs typeface="Times New Roman" pitchFamily="34" charset="-120"/>
                            </a:rPr>
                            <a:t>_________________________</a:t>
                          </a: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94716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86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800"/>
                            </a:lnSpc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一直匀速</a:t>
                          </a:r>
                          <a:endParaRPr lang="en-US" altLang="zh-CN" sz="1200" dirty="0"/>
                        </a:p>
                        <a:p>
                          <a:pPr algn="ctr" latinLnBrk="1" hangingPunct="0">
                            <a:lnSpc>
                              <a:spcPts val="11100"/>
                            </a:lnSpc>
                          </a:pPr>
                          <a:r>
                            <a:rPr lang="en-US" altLang="zh-CN" sz="6200" b="0" i="0" kern="0" spc="-9990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_</a:t>
                          </a:r>
                          <a:r>
                            <a:rPr lang="en-US" altLang="zh-CN" sz="900" b="0" i="0" kern="0" spc="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SimSun" panose="02010600030101010101" pitchFamily="2" charset="-122"/>
                              <a:ea typeface="微软雅黑" pitchFamily="34" charset="-122"/>
                              <a:cs typeface="Times New Roman" pitchFamily="34" charset="-120"/>
                            </a:rPr>
                            <a:t>_______________________</a:t>
                          </a: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P_4_BD#6789a1d66?colgroup=7,28&amp;vcp=1&amp;pid=cf98cda1b&amp;color=0,0,0&amp;vtp=1&amp;bb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3739230"/>
                  </p:ext>
                </p:extLst>
              </p:nvPr>
            </p:nvGraphicFramePr>
            <p:xfrm>
              <a:off x="393192" y="1092200"/>
              <a:ext cx="11365992" cy="4743577"/>
            </p:xfrm>
            <a:graphic>
              <a:graphicData uri="http://schemas.openxmlformats.org/drawingml/2006/table">
                <a:tbl>
                  <a:tblPr/>
                  <a:tblGrid>
                    <a:gridCol w="245973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07822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82803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常见情境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721" t="-2469" r="-137" b="-93456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303780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89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0538" t="-21958" r="-118685" b="-1002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5606" t="-21958" r="-253" b="-1002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94716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86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721" t="-144063" r="-137" b="-1843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_4_BD#6789a1d66.table_image?tii=1&amp;vcp=1&amp;pid=cf98cda1b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76656" y="2233803"/>
            <a:ext cx="1892808" cy="1005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8" name="P_4_BD#6789a1d66.table_image?tii=2&amp;vcp=1&amp;pid=cf98cda1b&amp;color=0,0,0&amp;tib=255,255,255&amp;vtp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55948" y="2466912"/>
            <a:ext cx="1472184" cy="1344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9" name="P_4_BD#6789a1d66.table_image?tii=3&amp;vcp=1&amp;pid=cf98cda1b&amp;color=0,0,0&amp;tib=255,255,255&amp;vtp=1" descr="preencoded.png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609076" y="2492089"/>
            <a:ext cx="1472184" cy="1298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10" name="P_4_BD#6789a1d66.table_image?tii=4&amp;vcp=1&amp;pid=cf98cda1b&amp;color=0,0,0&amp;tib=255,255,255&amp;vtp=1" descr="preencoded.png"/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9808" y="4372991"/>
            <a:ext cx="1746504" cy="978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11" name="P_4_BD#6789a1d66.table_image?tii=5&amp;vcp=1&amp;pid=cf98cda1b&amp;color=0,0,0&amp;tib=255,255,255&amp;vtp=1" descr="preencoded.png"/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20256" y="4482528"/>
            <a:ext cx="1371600" cy="1243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P_4_BD#6789a1d66?colgroup=7,28&amp;vcp=1&amp;pid=cf98cda1b&amp;color=0,0,0&amp;vtp=1&amp;bt=1&amp;bb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2131432"/>
                  </p:ext>
                </p:extLst>
              </p:nvPr>
            </p:nvGraphicFramePr>
            <p:xfrm>
              <a:off x="393192" y="1643062"/>
              <a:ext cx="11400624" cy="4195445"/>
            </p:xfrm>
            <a:graphic>
              <a:graphicData uri="http://schemas.openxmlformats.org/drawingml/2006/table">
                <a:tbl>
                  <a:tblPr/>
                  <a:tblGrid>
                    <a:gridCol w="245327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8499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7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常见情境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物体的运动情况及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</m:t>
                              </m:r>
                            </m:oMath>
                          </a14:m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加速度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𝜇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𝑔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sz="100" b="1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2812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86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800"/>
                            </a:lnSpc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&lt;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时：</a:t>
                          </a:r>
                          <a:endParaRPr lang="en-US" altLang="zh-CN" sz="1200" dirty="0"/>
                        </a:p>
                        <a:p>
                          <a:pPr algn="l" latinLnBrk="1" hangingPunct="0">
                            <a:lnSpc>
                              <a:spcPts val="54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①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若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𝑙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≤</m:t>
                              </m:r>
                              <m:f>
                                <m:f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altLang="zh-CN" sz="2400" b="0" i="1" spc="-1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𝜇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𝑔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一直匀加速</a:t>
                          </a:r>
                          <a:endParaRPr lang="en-US" altLang="zh-CN" sz="1200" dirty="0"/>
                        </a:p>
                        <a:p>
                          <a:pPr algn="l" latinLnBrk="1" hangingPunct="0">
                            <a:lnSpc>
                              <a:spcPts val="54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②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若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𝑙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&gt;</m:t>
                              </m:r>
                              <m:f>
                                <m:f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altLang="zh-CN" sz="2400" b="0" i="1" spc="-1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𝜇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𝑔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先匀加速后匀速</a:t>
                          </a:r>
                          <a:endParaRPr lang="en-US" altLang="zh-CN" sz="1200" dirty="0"/>
                        </a:p>
                        <a:p>
                          <a:pPr algn="ctr" latinLnBrk="1" hangingPunct="0">
                            <a:lnSpc>
                              <a:spcPts val="13800"/>
                            </a:lnSpc>
                          </a:pPr>
                          <a:r>
                            <a:rPr lang="en-US" altLang="zh-CN" sz="7700" b="0" i="0" kern="0" spc="-9990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_</a:t>
                          </a:r>
                          <a:r>
                            <a:rPr lang="en-US" altLang="zh-CN" sz="900" b="0" i="0" kern="0" spc="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SimSun" panose="02010600030101010101" pitchFamily="2" charset="-122"/>
                              <a:ea typeface="微软雅黑" pitchFamily="34" charset="-122"/>
                              <a:cs typeface="Times New Roman" pitchFamily="34" charset="-120"/>
                            </a:rPr>
                            <a:t>______________________________</a:t>
                          </a: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P_4_BD#6789a1d66?colgroup=7,28&amp;vcp=1&amp;pid=cf98cda1b&amp;color=0,0,0&amp;vtp=1&amp;bt=1&amp;bb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2131432"/>
                  </p:ext>
                </p:extLst>
              </p:nvPr>
            </p:nvGraphicFramePr>
            <p:xfrm>
              <a:off x="393192" y="1643062"/>
              <a:ext cx="11400624" cy="4195445"/>
            </p:xfrm>
            <a:graphic>
              <a:graphicData uri="http://schemas.openxmlformats.org/drawingml/2006/table">
                <a:tbl>
                  <a:tblPr/>
                  <a:tblGrid>
                    <a:gridCol w="245327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8499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7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常见情境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520" t="-1235" r="-136" b="-83950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2812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86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520" t="-13487" r="-136" b="-1184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_4_BD#6789a1d66.table_image?tii=6&amp;vcp=1&amp;pid=cf98cda1b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6576" y="3497898"/>
            <a:ext cx="1746504" cy="978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4" name="P_4_BD#6789a1d66.table_image?tii=7&amp;vcp=1&amp;pid=cf98cda1b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60604" y="4275708"/>
            <a:ext cx="1719072" cy="1545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2" name="P_4_BD#6789a1d66?colgroup=7,28&amp;vcp=1&amp;pid=cf98cda1b&amp;color=0,0,0&amp;vtp=1&amp;bt=1&amp;bbb=1">
            <a:extLst>
              <a:ext uri="{FF2B5EF4-FFF2-40B4-BE49-F238E27FC236}">
                <a16:creationId xmlns:a16="http://schemas.microsoft.com/office/drawing/2014/main" id="{DA6604BE-F6AF-434E-3DC0-F52FF6FA6A8D}"/>
              </a:ext>
            </a:extLst>
          </p:cNvPr>
          <p:cNvSpPr txBox="1"/>
          <p:nvPr/>
        </p:nvSpPr>
        <p:spPr>
          <a:xfrm>
            <a:off x="11178264" y="1017588"/>
            <a:ext cx="615553" cy="5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>
              <a:lnSpc>
                <a:spcPts val="43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续表</a:t>
            </a:r>
          </a:p>
        </p:txBody>
      </p:sp>
    </p:spTree>
  </p:cSld>
  <p:clrMapOvr>
    <a:masterClrMapping/>
  </p:clrMapOvr>
  <p:transition>
    <p:split dir="in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P_4_BD#6789a1d66?colgroup=7,28&amp;vcp=1&amp;pid=cf98cda1b&amp;color=0,0,0&amp;vtp=1&amp;bt=1&amp;bb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2211535"/>
                  </p:ext>
                </p:extLst>
              </p:nvPr>
            </p:nvGraphicFramePr>
            <p:xfrm>
              <a:off x="393192" y="1766506"/>
              <a:ext cx="11400624" cy="3948557"/>
            </p:xfrm>
            <a:graphic>
              <a:graphicData uri="http://schemas.openxmlformats.org/drawingml/2006/table">
                <a:tbl>
                  <a:tblPr/>
                  <a:tblGrid>
                    <a:gridCol w="245327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8499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7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常见情境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物体的运动情况及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</m:t>
                              </m:r>
                            </m:oMath>
                          </a14:m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加速度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𝜇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𝑔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sz="100" b="1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45592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86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800"/>
                            </a:lnSpc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&gt;0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时：</a:t>
                          </a:r>
                          <a:endParaRPr lang="en-US" altLang="zh-CN" sz="1200" dirty="0"/>
                        </a:p>
                        <a:p>
                          <a:pPr algn="l" latinLnBrk="1" hangingPunct="0">
                            <a:lnSpc>
                              <a:spcPts val="54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①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若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𝑙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≤</m:t>
                              </m:r>
                              <m:f>
                                <m:f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𝜇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𝑔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一直匀减速</a:t>
                          </a:r>
                          <a:endParaRPr lang="en-US" altLang="zh-CN" sz="1200" dirty="0"/>
                        </a:p>
                        <a:p>
                          <a:pPr algn="l" latinLnBrk="1" hangingPunct="0">
                            <a:lnSpc>
                              <a:spcPts val="54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②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若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𝑙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&gt;</m:t>
                              </m:r>
                              <m:f>
                                <m:f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𝜇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𝑔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先匀减速后匀速</a:t>
                          </a:r>
                          <a:endParaRPr lang="en-US" altLang="zh-CN" sz="1200" dirty="0"/>
                        </a:p>
                        <a:p>
                          <a:pPr algn="ctr" latinLnBrk="1" hangingPunct="0">
                            <a:lnSpc>
                              <a:spcPts val="11500"/>
                            </a:lnSpc>
                          </a:pPr>
                          <a:r>
                            <a:rPr lang="en-US" altLang="zh-CN" sz="6450" b="0" i="0" kern="0" spc="-9990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_</a:t>
                          </a:r>
                          <a:r>
                            <a:rPr lang="en-US" altLang="zh-CN" sz="900" b="0" i="0" kern="0" spc="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SimSun" panose="02010600030101010101" pitchFamily="2" charset="-122"/>
                              <a:ea typeface="微软雅黑" pitchFamily="34" charset="-122"/>
                              <a:cs typeface="Times New Roman" pitchFamily="34" charset="-120"/>
                            </a:rPr>
                            <a:t>___________________________</a:t>
                          </a: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P_4_BD#6789a1d66?colgroup=7,28&amp;vcp=1&amp;pid=cf98cda1b&amp;color=0,0,0&amp;vtp=1&amp;bt=1&amp;bb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2211535"/>
                  </p:ext>
                </p:extLst>
              </p:nvPr>
            </p:nvGraphicFramePr>
            <p:xfrm>
              <a:off x="393192" y="1766506"/>
              <a:ext cx="11400624" cy="3948557"/>
            </p:xfrm>
            <a:graphic>
              <a:graphicData uri="http://schemas.openxmlformats.org/drawingml/2006/table">
                <a:tbl>
                  <a:tblPr/>
                  <a:tblGrid>
                    <a:gridCol w="245327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8499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7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常见情境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520" t="-1235" r="-136" b="-76913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45592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86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520" t="-14437" r="-136" b="-968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_4_BD#6789a1d66.table_image?tii=8&amp;vcp=1&amp;pid=cf98cda1b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6576" y="3497898"/>
            <a:ext cx="1746504" cy="978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4" name="P_4_BD#6789a1d66.table_image?tii=9&amp;vcp=1&amp;pid=cf98cda1b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20040" y="4401503"/>
            <a:ext cx="1600200" cy="1298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2" name="P_4_BD#6789a1d66?colgroup=7,28&amp;vcp=1&amp;pid=cf98cda1b&amp;color=0,0,0&amp;vtp=1&amp;bt=1&amp;bbb=1">
            <a:extLst>
              <a:ext uri="{FF2B5EF4-FFF2-40B4-BE49-F238E27FC236}">
                <a16:creationId xmlns:a16="http://schemas.microsoft.com/office/drawing/2014/main" id="{ED323B39-DFF8-6A6F-FAFD-09890D774E53}"/>
              </a:ext>
            </a:extLst>
          </p:cNvPr>
          <p:cNvSpPr txBox="1"/>
          <p:nvPr/>
        </p:nvSpPr>
        <p:spPr>
          <a:xfrm>
            <a:off x="11178264" y="1141032"/>
            <a:ext cx="615553" cy="5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>
              <a:lnSpc>
                <a:spcPts val="43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续表</a:t>
            </a:r>
          </a:p>
        </p:txBody>
      </p:sp>
    </p:spTree>
  </p:cSld>
  <p:clrMapOvr>
    <a:masterClrMapping/>
  </p:clrMapOvr>
  <p:transition>
    <p:split dir="in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P_4_BD#6789a1d66?colgroup=7,28&amp;vcp=1&amp;pid=cf98cda1b&amp;color=0,0,0&amp;vtp=1&amp;bt=1&amp;bb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3788397"/>
                  </p:ext>
                </p:extLst>
              </p:nvPr>
            </p:nvGraphicFramePr>
            <p:xfrm>
              <a:off x="393192" y="1186116"/>
              <a:ext cx="11400624" cy="5109337"/>
            </p:xfrm>
            <a:graphic>
              <a:graphicData uri="http://schemas.openxmlformats.org/drawingml/2006/table">
                <a:tbl>
                  <a:tblPr/>
                  <a:tblGrid>
                    <a:gridCol w="245327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8499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7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常见情境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物体的运动情况及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</m:t>
                              </m:r>
                            </m:oMath>
                          </a14:m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加速度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𝜇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𝑔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sz="100" b="1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184908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86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54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𝑙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≤</m:t>
                              </m:r>
                              <m:f>
                                <m:f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𝜇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𝑔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一直匀减速</a:t>
                          </a:r>
                          <a:endParaRPr lang="en-US" altLang="zh-CN" sz="1200" dirty="0"/>
                        </a:p>
                        <a:p>
                          <a:pPr algn="ctr" latinLnBrk="1" hangingPunct="0">
                            <a:lnSpc>
                              <a:spcPts val="10800"/>
                            </a:lnSpc>
                          </a:pPr>
                          <a:r>
                            <a:rPr lang="en-US" altLang="zh-CN" sz="6100" b="0" i="0" kern="0" spc="-9990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_</a:t>
                          </a:r>
                          <a:r>
                            <a:rPr lang="en-US" altLang="zh-CN" sz="900" b="0" i="0" kern="0" spc="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SimSun" panose="02010600030101010101" pitchFamily="2" charset="-122"/>
                              <a:ea typeface="微软雅黑" pitchFamily="34" charset="-122"/>
                              <a:cs typeface="Times New Roman" pitchFamily="34" charset="-120"/>
                            </a:rPr>
                            <a:t>________________________</a:t>
                          </a: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43179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86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54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𝑙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&gt;</m:t>
                              </m:r>
                              <m:f>
                                <m:f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𝜇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𝑔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且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&gt;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先匀减速后反向匀加速再匀速</a:t>
                          </a:r>
                          <a:endParaRPr lang="en-US" altLang="zh-CN" sz="1200" dirty="0"/>
                        </a:p>
                        <a:p>
                          <a:pPr algn="ctr" latinLnBrk="1" hangingPunct="0">
                            <a:lnSpc>
                              <a:spcPts val="13100"/>
                            </a:lnSpc>
                          </a:pPr>
                          <a:r>
                            <a:rPr lang="en-US" altLang="zh-CN" sz="7350" b="0" i="0" kern="0" spc="-9990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_</a:t>
                          </a:r>
                          <a:r>
                            <a:rPr lang="en-US" altLang="zh-CN" sz="900" b="0" i="0" kern="0" spc="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SimSun" panose="02010600030101010101" pitchFamily="2" charset="-122"/>
                              <a:ea typeface="微软雅黑" pitchFamily="34" charset="-122"/>
                              <a:cs typeface="Times New Roman" pitchFamily="34" charset="-120"/>
                            </a:rPr>
                            <a:t>_____________________________</a:t>
                          </a: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P_4_BD#6789a1d66?colgroup=7,28&amp;vcp=1&amp;pid=cf98cda1b&amp;color=0,0,0&amp;vtp=1&amp;bt=1&amp;bb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3788397"/>
                  </p:ext>
                </p:extLst>
              </p:nvPr>
            </p:nvGraphicFramePr>
            <p:xfrm>
              <a:off x="393192" y="1186116"/>
              <a:ext cx="11400624" cy="5109337"/>
            </p:xfrm>
            <a:graphic>
              <a:graphicData uri="http://schemas.openxmlformats.org/drawingml/2006/table">
                <a:tbl>
                  <a:tblPr/>
                  <a:tblGrid>
                    <a:gridCol w="245327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8499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7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常见情境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520" t="-1235" r="-136" b="-102098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184908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86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520" t="-22841" r="-136" b="-13036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43179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86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520" t="-110526" r="-136" b="-1729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_4_BD#6789a1d66.table_image?tii=10&amp;vcp=1&amp;pid=cf98cda1b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5428" y="2281999"/>
            <a:ext cx="1828800" cy="978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4" name="P_4_BD#6789a1d66.table_image?tii=11&amp;vcp=1&amp;pid=cf98cda1b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11480" y="2567083"/>
            <a:ext cx="1417320" cy="1225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5" name="P_4_BD#6789a1d66.table_image?tii=12&amp;vcp=1&amp;pid=cf98cda1b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5428" y="4590352"/>
            <a:ext cx="1828800" cy="978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6" name="P_4_BD#6789a1d66.table_image?tii=13&amp;vcp=1&amp;pid=cf98cda1b&amp;color=0,0,0&amp;tib=255,255,255&amp;vtp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88037" y="4749674"/>
            <a:ext cx="1664208" cy="1481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2" name="P_4_BD#6789a1d66?colgroup=7,28&amp;vcp=1&amp;pid=cf98cda1b&amp;color=0,0,0&amp;vtp=1&amp;bt=1&amp;bbb=1">
            <a:extLst>
              <a:ext uri="{FF2B5EF4-FFF2-40B4-BE49-F238E27FC236}">
                <a16:creationId xmlns:a16="http://schemas.microsoft.com/office/drawing/2014/main" id="{5E4EEFBC-E4C0-2121-D42D-358160972EE3}"/>
              </a:ext>
            </a:extLst>
          </p:cNvPr>
          <p:cNvSpPr txBox="1"/>
          <p:nvPr/>
        </p:nvSpPr>
        <p:spPr>
          <a:xfrm>
            <a:off x="11178264" y="560642"/>
            <a:ext cx="615553" cy="5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>
              <a:lnSpc>
                <a:spcPts val="43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续表</a:t>
            </a:r>
          </a:p>
        </p:txBody>
      </p:sp>
    </p:spTree>
  </p:cSld>
  <p:clrMapOvr>
    <a:masterClrMapping/>
  </p:clrMapOvr>
  <p:transition>
    <p:split dir="in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P_4_BD#6789a1d66?colgroup=7,28&amp;vcp=1&amp;pid=cf98cda1b&amp;color=0,0,0&amp;vtp=1&amp;bt=1&amp;bb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867491"/>
                  </p:ext>
                </p:extLst>
              </p:nvPr>
            </p:nvGraphicFramePr>
            <p:xfrm>
              <a:off x="393192" y="2232850"/>
              <a:ext cx="11400624" cy="3015869"/>
            </p:xfrm>
            <a:graphic>
              <a:graphicData uri="http://schemas.openxmlformats.org/drawingml/2006/table">
                <a:tbl>
                  <a:tblPr/>
                  <a:tblGrid>
                    <a:gridCol w="245327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8499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7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常见情境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物体的运动情况及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</m:t>
                              </m:r>
                            </m:oMath>
                          </a14:m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加速度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𝜇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𝑔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sz="100" b="1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2323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86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54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𝑙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&gt;</m:t>
                              </m:r>
                              <m:f>
                                <m:f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𝜇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𝑔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且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≤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先匀减速后反向匀加速</a:t>
                          </a:r>
                          <a:endParaRPr lang="en-US" altLang="zh-CN" sz="1200" dirty="0"/>
                        </a:p>
                        <a:p>
                          <a:pPr algn="ctr" latinLnBrk="1" hangingPunct="0">
                            <a:lnSpc>
                              <a:spcPts val="13800"/>
                            </a:lnSpc>
                          </a:pPr>
                          <a:r>
                            <a:rPr lang="en-US" altLang="zh-CN" sz="7750" b="0" i="0" kern="0" spc="-9990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_</a:t>
                          </a:r>
                          <a:r>
                            <a:rPr lang="en-US" altLang="zh-CN" sz="900" b="0" i="0" kern="0" spc="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SimSun" panose="02010600030101010101" pitchFamily="2" charset="-122"/>
                              <a:ea typeface="微软雅黑" pitchFamily="34" charset="-122"/>
                              <a:cs typeface="Times New Roman" pitchFamily="34" charset="-120"/>
                            </a:rPr>
                            <a:t>_____________________________________________</a:t>
                          </a: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P_4_BD#6789a1d66?colgroup=7,28&amp;vcp=1&amp;pid=cf98cda1b&amp;color=0,0,0&amp;vtp=1&amp;bt=1&amp;bb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867491"/>
                  </p:ext>
                </p:extLst>
              </p:nvPr>
            </p:nvGraphicFramePr>
            <p:xfrm>
              <a:off x="393192" y="2232850"/>
              <a:ext cx="11400624" cy="3015869"/>
            </p:xfrm>
            <a:graphic>
              <a:graphicData uri="http://schemas.openxmlformats.org/drawingml/2006/table">
                <a:tbl>
                  <a:tblPr/>
                  <a:tblGrid>
                    <a:gridCol w="245327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8499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7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常见情境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520" t="-1235" r="-136" b="-60123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2323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86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520" t="-19759" r="-136" b="-1734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_4_BD#6789a1d66.table_image?tii=14&amp;vcp=1&amp;pid=cf98cda1b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5428" y="3497898"/>
            <a:ext cx="1828800" cy="978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4" name="P_4_BD#6789a1d66.table_image?tii=15&amp;vcp=1&amp;pid=cf98cda1b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21692" y="3616992"/>
            <a:ext cx="2596896" cy="1563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2" name="P_4_BD#6789a1d66?colgroup=7,28&amp;vcp=1&amp;pid=cf98cda1b&amp;color=0,0,0&amp;vtp=1&amp;bt=1&amp;bbb=1">
            <a:extLst>
              <a:ext uri="{FF2B5EF4-FFF2-40B4-BE49-F238E27FC236}">
                <a16:creationId xmlns:a16="http://schemas.microsoft.com/office/drawing/2014/main" id="{849FD6E5-CF0E-A21D-C829-541FF089C4AA}"/>
              </a:ext>
            </a:extLst>
          </p:cNvPr>
          <p:cNvSpPr txBox="1"/>
          <p:nvPr/>
        </p:nvSpPr>
        <p:spPr>
          <a:xfrm>
            <a:off x="11178264" y="1607375"/>
            <a:ext cx="615553" cy="5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>
              <a:lnSpc>
                <a:spcPts val="43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续表</a:t>
            </a:r>
          </a:p>
        </p:txBody>
      </p:sp>
    </p:spTree>
  </p:cSld>
  <p:clrMapOvr>
    <a:masterClrMapping/>
  </p:clrMapOvr>
  <p:transition>
    <p:split dir="in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_1#3dc948b40?vcp=1&amp;pid=cf98cda1b&amp;color=0,0,0&amp;vtp=1&amp;bt=1&amp;bbb=1&amp;hb=1"/>
              <p:cNvSpPr/>
              <p:nvPr/>
            </p:nvSpPr>
            <p:spPr>
              <a:xfrm>
                <a:off x="393192" y="1275239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例1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（2026·湖北黄冈重点中学检测）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，水平固定放置的传送带在电机的作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用下一直保持速度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顺时针转动，两轮轴心间距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.一个物块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可视为质点）以速度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从左轮的正上方水平向右滑上传送带，经过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物块离开传送带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，重力加速度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取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_1#3dc948b40?vcp=1&amp;pid=cf98cda1b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75239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535" b="-87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2_1#3dc948b40.bracket?vcp=1&amp;pid=cf98cda1b&amp;color=0,0,0&amp;vpa=1&amp;vtp=1"/>
          <p:cNvSpPr/>
          <p:nvPr/>
        </p:nvSpPr>
        <p:spPr>
          <a:xfrm>
            <a:off x="8687594" y="2940209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p:pic>
        <p:nvPicPr>
          <p:cNvPr id="4" name="QC_4_BD.1_2#3dc948b40?htil=1&amp;vcp=1&amp;pid=cf98cda1b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50716" y="3460654"/>
            <a:ext cx="2148840" cy="64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_3#3dc948b40.choices?htil=1&amp;vcp=1&amp;pid=cf98cda1b&amp;color=0,0,0&amp;vtp=1&amp;bbb=1"/>
              <p:cNvSpPr/>
              <p:nvPr/>
            </p:nvSpPr>
            <p:spPr>
              <a:xfrm>
                <a:off x="393192" y="3414934"/>
                <a:ext cx="9116568" cy="21583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A.物块在传送带上一直做匀减速直线运动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.物块在传送带上做匀减速运动的时间为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1.5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.物块与传送带之间的动摩擦因数为0.4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.物块在传送带上留下的划痕为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_3#3dc948b40.choices?htil=1&amp;vcp=1&amp;pid=cf98cda1b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14934"/>
                <a:ext cx="9116568" cy="2158302"/>
              </a:xfrm>
              <a:prstGeom prst="rect">
                <a:avLst/>
              </a:prstGeom>
              <a:blipFill>
                <a:blip r:embed="rId5"/>
                <a:stretch>
                  <a:fillRect l="-2074" b="-87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3_1#3dc948b40?vcp=1&amp;pid=cf98cda1b&amp;color=0,0,0&amp;vtp=1&amp;bt=1&amp;bbb=1&amp;hb=1"/>
              <p:cNvSpPr/>
              <p:nvPr/>
            </p:nvSpPr>
            <p:spPr>
              <a:xfrm>
                <a:off x="393192" y="504000"/>
                <a:ext cx="11402568" cy="5822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37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假设物块在传送带上一直做匀减速运动，加速度的大小为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，由运动学公式有</a:t>
                </a:r>
              </a:p>
              <a:p>
                <a:pPr latinLnBrk="1">
                  <a:lnSpc>
                    <a:spcPts val="5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，离开传送带时物块的速度为</a:t>
                </a:r>
              </a:p>
              <a:p>
                <a:pPr latinLnBrk="1">
                  <a:lnSpc>
                    <a:spcPts val="37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，假设不成立，故物块在传送带上先做匀减速运动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，再</a:t>
                </a:r>
              </a:p>
              <a:p>
                <a:pPr latinLnBrk="1">
                  <a:lnSpc>
                    <a:spcPts val="3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与传送带共速运动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，最后从右端离开，A错误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；设物块在传送带上做匀减速运动的时</a:t>
                </a:r>
              </a:p>
              <a:p>
                <a:pPr latinLnBrk="1">
                  <a:lnSpc>
                    <a:spcPts val="3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，则其与传送带一起匀速运动的时间为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，则有</a:t>
                </a:r>
              </a:p>
              <a:p>
                <a:pPr latinLnBrk="1">
                  <a:lnSpc>
                    <a:spcPts val="5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𝟖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，物块在传送带上做匀减速运动</a:t>
                </a:r>
              </a:p>
              <a:p>
                <a:pPr latinLnBrk="1">
                  <a:lnSpc>
                    <a:spcPts val="3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的时间为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，B错误；物块在传送带上做匀减速运动的时间为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，根据加速度的定义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𝟖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，由牛顿第二定律可得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</a:p>
              <a:p>
                <a:pPr latinLnBrk="1">
                  <a:lnSpc>
                    <a:spcPts val="37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，即物块与传送带之间的动摩擦因数为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，C正确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；物块与传送带的相对位</a:t>
                </a:r>
              </a:p>
              <a:p>
                <a:pPr latinLnBrk="1">
                  <a:lnSpc>
                    <a:spcPts val="5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移大小即划痕长度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，由运动学公式有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，故物块在传送</a:t>
                </a:r>
              </a:p>
              <a:p>
                <a:pPr latinLnBrk="1">
                  <a:lnSpc>
                    <a:spcPts val="35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带上留下的划痕为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3_1#3dc948b40?vcp=1&amp;pid=cf98cda1b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11402568" cy="5822125"/>
              </a:xfrm>
              <a:prstGeom prst="rect">
                <a:avLst/>
              </a:prstGeom>
              <a:blipFill>
                <a:blip r:embed="rId3"/>
                <a:stretch>
                  <a:fillRect l="-1658" t="-628" r="-1283" b="-303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4_1#cefffee78?vcp=1&amp;pid=cf98cda1b&amp;color=0,0,0&amp;vtp=1&amp;bt=1&amp;bbb=1&amp;hb=1"/>
              <p:cNvSpPr/>
              <p:nvPr/>
            </p:nvSpPr>
            <p:spPr>
              <a:xfrm>
                <a:off x="393192" y="1565403"/>
                <a:ext cx="11402568" cy="2709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变式1-1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（多选题）如图所示，水平传送带两端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相距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，传送带以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的速度（始终保持不变）顺时针运转.现将一小煤块（可视为质点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）无初速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度地轻放至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端，由于煤块与传送带之间有相对滑动，会在传送带上留下划痕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.已知煤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块与传送带间的动摩擦因数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𝜇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=0.25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，重力加速度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，则煤块从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运动到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的过程中(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4_1#cefffee78?vcp=1&amp;pid=cf98cda1b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65403"/>
                <a:ext cx="11402568" cy="2709799"/>
              </a:xfrm>
              <a:prstGeom prst="rect">
                <a:avLst/>
              </a:prstGeom>
              <a:blipFill>
                <a:blip r:embed="rId3"/>
                <a:stretch>
                  <a:fillRect l="-1658" r="-749" b="-67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5_1#cefffee78.bracket?vcp=1&amp;pid=cf98cda1b&amp;color=0,0,0&amp;vpa=2&amp;vtp=1&amp;bbb=1"/>
          <p:cNvSpPr/>
          <p:nvPr/>
        </p:nvSpPr>
        <p:spPr>
          <a:xfrm>
            <a:off x="1895761" y="3789173"/>
            <a:ext cx="66198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AD</a:t>
            </a:r>
            <a:endParaRPr lang="en-US" altLang="zh-CN" sz="2400" dirty="0"/>
          </a:p>
        </p:txBody>
      </p:sp>
      <p:pic>
        <p:nvPicPr>
          <p:cNvPr id="4" name="QC_4_BD.4_2#cefffee78?htil=2&amp;vcp=1&amp;pid=cf98cda1b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96023" y="4306062"/>
            <a:ext cx="2185416" cy="804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4_3#cefffee78.choices?htil=2&amp;vcp=1&amp;pid=cf98cda1b&amp;color=0,0,0&amp;vtp=1&amp;bbb=1"/>
              <p:cNvSpPr/>
              <p:nvPr/>
            </p:nvSpPr>
            <p:spPr>
              <a:xfrm>
                <a:off x="393192" y="4251197"/>
                <a:ext cx="9079992" cy="10274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4647946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A.所用时间是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2.3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.所用时间是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1.6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4647946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.划痕长度是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2.8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.划痕长度是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3.2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4_3#cefffee78.choices?htil=2&amp;vcp=1&amp;pid=cf98cda1b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251197"/>
                <a:ext cx="9079992" cy="1027430"/>
              </a:xfrm>
              <a:prstGeom prst="rect">
                <a:avLst/>
              </a:prstGeom>
              <a:blipFill>
                <a:blip r:embed="rId5"/>
                <a:stretch>
                  <a:fillRect l="-2082" b="-1834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6_1#cefffee78?vcp=1&amp;pid=cf98cda1b&amp;color=0,0,0&amp;vtp=1&amp;bt=1&amp;bbb=1&amp;hb=1"/>
              <p:cNvSpPr/>
              <p:nvPr/>
            </p:nvSpPr>
            <p:spPr>
              <a:xfrm>
                <a:off x="393192" y="1367250"/>
                <a:ext cx="11402568" cy="39711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煤块做匀加速直线运动时，根据牛顿第二定律有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，得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.假设煤块的速度达到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时未离开传送带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，则此时煤块的位移</a:t>
                </a:r>
              </a:p>
              <a:p>
                <a:pPr latinLnBrk="1">
                  <a:lnSpc>
                    <a:spcPts val="5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b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，假设成立.因此煤块先做匀加速直线运动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，后做匀速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直线运动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.做匀加速直线运动的时间为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，此后煤块以与传送带相同的速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度匀速运动至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端，此过程位移大小为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，时间为</a:t>
                </a:r>
              </a:p>
              <a:p>
                <a:pPr latinLnBrk="1">
                  <a:lnSpc>
                    <a:spcPts val="47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,则运动的总时间为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，A正确，B错误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；划痕长度即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煤块相对于传送带的位移大小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，C错误，D正确.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6_1#cefffee78?vcp=1&amp;pid=cf98cda1b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367250"/>
                <a:ext cx="11402568" cy="3971100"/>
              </a:xfrm>
              <a:prstGeom prst="rect">
                <a:avLst/>
              </a:prstGeom>
              <a:blipFill>
                <a:blip r:embed="rId3"/>
                <a:stretch>
                  <a:fillRect l="-1658" r="-107" b="-460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&amp;si=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#3fe34ba63?vcp=1&amp;pid=144e03dd5&amp;color=0,0,0&amp;tib=255,255,255&amp;vtp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66344"/>
          </a:xfrm>
          <a:prstGeom prst="rect">
            <a:avLst/>
          </a:prstGeom>
        </p:spPr>
      </p:pic>
      <p:sp>
        <p:nvSpPr>
          <p:cNvPr id="3" name="C_3_BD#3fe34ba63?vcp=1&amp;pid=144e03dd5&amp;color=255,255,255&amp;vtp=1&amp;bt=1&amp;bbb=1"/>
          <p:cNvSpPr/>
          <p:nvPr/>
        </p:nvSpPr>
        <p:spPr>
          <a:xfrm>
            <a:off x="393192" y="502920"/>
            <a:ext cx="8961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考点</a:t>
            </a:r>
            <a:endParaRPr lang="en-US" altLang="zh-CN" sz="2600" dirty="0"/>
          </a:p>
        </p:txBody>
      </p:sp>
      <p:sp>
        <p:nvSpPr>
          <p:cNvPr id="4" name="C_3_BD#3fe34ba63?vcp=1&amp;pid=144e03dd5&amp;color=255,255,255&amp;vtp=1"/>
          <p:cNvSpPr/>
          <p:nvPr/>
        </p:nvSpPr>
        <p:spPr>
          <a:xfrm>
            <a:off x="1298448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</a:t>
            </a:r>
            <a:endParaRPr lang="en-US" altLang="zh-CN" sz="2800" dirty="0"/>
          </a:p>
        </p:txBody>
      </p:sp>
      <p:sp>
        <p:nvSpPr>
          <p:cNvPr id="5" name="C_3_BD#3fe34ba63?vcp=1&amp;pid=144e03dd5&amp;color=0,0,0&amp;vtp=1&amp;bbb=1"/>
          <p:cNvSpPr/>
          <p:nvPr/>
        </p:nvSpPr>
        <p:spPr>
          <a:xfrm>
            <a:off x="1911096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常见倾斜传送带问题</a:t>
            </a:r>
            <a:endParaRPr lang="en-US" altLang="zh-CN" sz="2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6" name="P_4_BD#491f69b70?colgroup=6,30&amp;vcp=1&amp;pid=3fe34ba63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9628556"/>
                  </p:ext>
                </p:extLst>
              </p:nvPr>
            </p:nvGraphicFramePr>
            <p:xfrm>
              <a:off x="393192" y="1092200"/>
              <a:ext cx="11384280" cy="3253613"/>
            </p:xfrm>
            <a:graphic>
              <a:graphicData uri="http://schemas.openxmlformats.org/drawingml/2006/table">
                <a:tbl>
                  <a:tblPr/>
                  <a:tblGrid>
                    <a:gridCol w="208483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29944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常见情境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物体的运动情况及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CN" sz="100" b="1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60980"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倾斜向上传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送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：</a:t>
                          </a:r>
                          <a:endParaRPr lang="en-US" altLang="zh-CN" sz="1200" dirty="0"/>
                        </a:p>
                        <a:p>
                          <a:pPr marL="0" lvl="0" indent="0" algn="ctr" latinLnBrk="1" hangingPunct="0">
                            <a:lnSpc>
                              <a:spcPts val="9900"/>
                            </a:lnSpc>
                          </a:pPr>
                          <a:r>
                            <a:rPr lang="en-US" altLang="zh-CN" sz="5500" b="0" i="0" kern="0" spc="-9990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_</a:t>
                          </a:r>
                          <a:r>
                            <a:rPr lang="en-US" altLang="zh-CN" sz="900" b="0" i="0" kern="0" spc="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SimSun" panose="02010600030101010101" pitchFamily="2" charset="-122"/>
                              <a:ea typeface="微软雅黑" pitchFamily="34" charset="-122"/>
                              <a:cs typeface="Times New Roman" pitchFamily="34" charset="-120"/>
                            </a:rPr>
                            <a:t>_______________________________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ct val="150000"/>
                            </a:lnSpc>
                          </a:pPr>
                          <a:endParaRPr lang="en-US" altLang="zh-CN" sz="900" spc="0" dirty="0"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59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𝑙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≤</m:t>
                              </m:r>
                              <m:f>
                                <m:f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𝑎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且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𝜇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&gt;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tan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𝜃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时：</a:t>
                          </a:r>
                          <a:endParaRPr lang="en-US" altLang="zh-CN" sz="1200" dirty="0"/>
                        </a:p>
                        <a:p>
                          <a:pPr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加速度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𝑔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𝜇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cos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𝜃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sin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𝜃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一直匀加速</a:t>
                          </a:r>
                          <a:endParaRPr lang="en-US" altLang="zh-CN" sz="1200" dirty="0"/>
                        </a:p>
                        <a:p>
                          <a:pPr algn="ctr" latinLnBrk="1" hangingPunct="0">
                            <a:lnSpc>
                              <a:spcPts val="12300"/>
                            </a:lnSpc>
                          </a:pPr>
                          <a:r>
                            <a:rPr lang="en-US" altLang="zh-CN" sz="6900" b="0" i="0" kern="0" spc="-9990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_</a:t>
                          </a:r>
                          <a:r>
                            <a:rPr lang="en-US" altLang="zh-CN" sz="900" b="0" i="0" kern="0" spc="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SimSun" panose="02010600030101010101" pitchFamily="2" charset="-122"/>
                              <a:ea typeface="微软雅黑" pitchFamily="34" charset="-122"/>
                              <a:cs typeface="Times New Roman" pitchFamily="34" charset="-120"/>
                            </a:rPr>
                            <a:t>____________________________</a:t>
                          </a: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6" name="P_4_BD#491f69b70?colgroup=6,30&amp;vcp=1&amp;pid=3fe34ba63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9628556"/>
                  </p:ext>
                </p:extLst>
              </p:nvPr>
            </p:nvGraphicFramePr>
            <p:xfrm>
              <a:off x="393192" y="1092200"/>
              <a:ext cx="11384280" cy="3253613"/>
            </p:xfrm>
            <a:graphic>
              <a:graphicData uri="http://schemas.openxmlformats.org/drawingml/2006/table">
                <a:tbl>
                  <a:tblPr/>
                  <a:tblGrid>
                    <a:gridCol w="208483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29944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常见情境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2477" t="-2469" r="-131" b="-6506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60980"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倾斜向上传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送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：</a:t>
                          </a:r>
                          <a:endParaRPr lang="en-US" altLang="zh-CN" sz="1200" dirty="0"/>
                        </a:p>
                        <a:p>
                          <a:pPr marL="0" lvl="0" indent="0" algn="ctr" latinLnBrk="1" hangingPunct="0">
                            <a:lnSpc>
                              <a:spcPts val="9900"/>
                            </a:lnSpc>
                          </a:pPr>
                          <a:r>
                            <a:rPr lang="en-US" altLang="zh-CN" sz="5500" b="0" i="0" kern="0" spc="-9990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_</a:t>
                          </a:r>
                          <a:r>
                            <a:rPr lang="en-US" altLang="zh-CN" sz="900" b="0" i="0" kern="0" spc="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SimSun" panose="02010600030101010101" pitchFamily="2" charset="-122"/>
                              <a:ea typeface="微软雅黑" pitchFamily="34" charset="-122"/>
                              <a:cs typeface="Times New Roman" pitchFamily="34" charset="-120"/>
                            </a:rPr>
                            <a:t>_______________________________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ct val="150000"/>
                            </a:lnSpc>
                          </a:pPr>
                          <a:endParaRPr lang="en-US" altLang="zh-CN" sz="900" spc="0" dirty="0"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2477" t="-18322" r="-131" b="-163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_4_BD#491f69b70.table_image?tii=16&amp;vcp=1&amp;pid=3fe34ba63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9204" y="2731707"/>
            <a:ext cx="1892808" cy="125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8" name="P_4_BD#491f69b70.table_image?tii=17&amp;vcp=1&amp;pid=3fe34ba63&amp;color=0,0,0&amp;tib=255,255,255&amp;vtp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04788" y="2892362"/>
            <a:ext cx="1645920" cy="1389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7" name="P_4_BD#491f69b70?colgroup=6,30&amp;vcp=1&amp;pid=3fe34ba63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5917406"/>
                  </p:ext>
                </p:extLst>
              </p:nvPr>
            </p:nvGraphicFramePr>
            <p:xfrm>
              <a:off x="393192" y="1912810"/>
              <a:ext cx="11384280" cy="3655949"/>
            </p:xfrm>
            <a:graphic>
              <a:graphicData uri="http://schemas.openxmlformats.org/drawingml/2006/table">
                <a:tbl>
                  <a:tblPr/>
                  <a:tblGrid>
                    <a:gridCol w="208483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29944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常见情境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物体的运动情况及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CN" sz="100" b="1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63316"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倾斜向上传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送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：</a:t>
                          </a:r>
                          <a:endParaRPr lang="en-US" altLang="zh-CN" sz="1200" dirty="0"/>
                        </a:p>
                        <a:p>
                          <a:pPr marL="0" lvl="0" indent="0" algn="ctr" latinLnBrk="1" hangingPunct="0">
                            <a:lnSpc>
                              <a:spcPts val="9900"/>
                            </a:lnSpc>
                          </a:pPr>
                          <a:r>
                            <a:rPr lang="en-US" altLang="zh-CN" sz="5500" b="0" i="0" kern="0" spc="-9990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_</a:t>
                          </a:r>
                          <a:r>
                            <a:rPr lang="en-US" altLang="zh-CN" sz="900" b="0" i="0" kern="0" spc="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SimSun" panose="02010600030101010101" pitchFamily="2" charset="-122"/>
                              <a:ea typeface="微软雅黑" pitchFamily="34" charset="-122"/>
                              <a:cs typeface="Times New Roman" pitchFamily="34" charset="-120"/>
                            </a:rPr>
                            <a:t>_______________________________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ct val="150000"/>
                            </a:lnSpc>
                          </a:pPr>
                          <a:endParaRPr lang="en-US" altLang="zh-CN" sz="900" spc="0" dirty="0"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59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𝑙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&gt;</m:t>
                              </m:r>
                              <m:f>
                                <m:f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𝑎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且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𝜇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&gt;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tan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𝜃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时：</a:t>
                          </a:r>
                          <a:endParaRPr lang="en-US" altLang="zh-CN" sz="1200" dirty="0"/>
                        </a:p>
                        <a:p>
                          <a:pPr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加速度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𝑔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𝜇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cos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𝜃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sin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𝜃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先匀加速到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（与传送带共速）后匀速</a:t>
                          </a:r>
                          <a:endParaRPr lang="en-US" altLang="zh-CN" sz="1200" dirty="0"/>
                        </a:p>
                        <a:p>
                          <a:pPr algn="ctr" latinLnBrk="1" hangingPunct="0">
                            <a:lnSpc>
                              <a:spcPts val="11800"/>
                            </a:lnSpc>
                          </a:pPr>
                          <a:r>
                            <a:rPr lang="en-US" altLang="zh-CN" sz="6600" b="0" i="0" kern="0" spc="-9990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_</a:t>
                          </a:r>
                          <a:r>
                            <a:rPr lang="en-US" altLang="zh-CN" sz="900" b="0" i="0" kern="0" spc="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SimSun" panose="02010600030101010101" pitchFamily="2" charset="-122"/>
                              <a:ea typeface="微软雅黑" pitchFamily="34" charset="-122"/>
                              <a:cs typeface="Times New Roman" pitchFamily="34" charset="-120"/>
                            </a:rPr>
                            <a:t>___________________________________</a:t>
                          </a: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7" name="P_4_BD#491f69b70?colgroup=6,30&amp;vcp=1&amp;pid=3fe34ba63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5917406"/>
                  </p:ext>
                </p:extLst>
              </p:nvPr>
            </p:nvGraphicFramePr>
            <p:xfrm>
              <a:off x="393192" y="1912810"/>
              <a:ext cx="11384280" cy="3655949"/>
            </p:xfrm>
            <a:graphic>
              <a:graphicData uri="http://schemas.openxmlformats.org/drawingml/2006/table">
                <a:tbl>
                  <a:tblPr/>
                  <a:tblGrid>
                    <a:gridCol w="208483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29944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常见情境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477" t="-1235" r="-131" b="-6827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63316"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倾斜向上传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送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：</a:t>
                          </a:r>
                          <a:endParaRPr lang="en-US" altLang="zh-CN" sz="1200" dirty="0"/>
                        </a:p>
                        <a:p>
                          <a:pPr marL="0" lvl="0" indent="0" algn="ctr" latinLnBrk="1" hangingPunct="0">
                            <a:lnSpc>
                              <a:spcPts val="9900"/>
                            </a:lnSpc>
                          </a:pPr>
                          <a:r>
                            <a:rPr lang="en-US" altLang="zh-CN" sz="5500" b="0" i="0" kern="0" spc="-9990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_</a:t>
                          </a:r>
                          <a:r>
                            <a:rPr lang="en-US" altLang="zh-CN" sz="900" b="0" i="0" kern="0" spc="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SimSun" panose="02010600030101010101" pitchFamily="2" charset="-122"/>
                              <a:ea typeface="微软雅黑" pitchFamily="34" charset="-122"/>
                              <a:cs typeface="Times New Roman" pitchFamily="34" charset="-120"/>
                            </a:rPr>
                            <a:t>_______________________________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ct val="150000"/>
                            </a:lnSpc>
                          </a:pPr>
                          <a:endParaRPr lang="en-US" altLang="zh-CN" sz="900" spc="0" dirty="0"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477" t="-15769" r="-131" b="-63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_4_BD#491f69b70.table_image?tii=18&amp;vcp=1&amp;pid=3fe34ba63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9204" y="3753485"/>
            <a:ext cx="1892808" cy="125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4" name="P_4_BD#491f69b70.table_image?tii=19&amp;vcp=1&amp;pid=3fe34ba63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21908" y="3944335"/>
            <a:ext cx="2011680" cy="1325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2" name="P_4_BD#491f69b70?colgroup=6,30&amp;vcp=1&amp;pid=3fe34ba63&amp;color=0,0,0&amp;vtp=1&amp;bt=1&amp;bbb=1">
            <a:extLst>
              <a:ext uri="{FF2B5EF4-FFF2-40B4-BE49-F238E27FC236}">
                <a16:creationId xmlns:a16="http://schemas.microsoft.com/office/drawing/2014/main" id="{5EA84629-D628-551C-6F04-CB89489B36DA}"/>
              </a:ext>
            </a:extLst>
          </p:cNvPr>
          <p:cNvSpPr txBox="1"/>
          <p:nvPr/>
        </p:nvSpPr>
        <p:spPr>
          <a:xfrm>
            <a:off x="11161920" y="1287336"/>
            <a:ext cx="615553" cy="5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>
              <a:lnSpc>
                <a:spcPts val="43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续表</a:t>
            </a:r>
          </a:p>
        </p:txBody>
      </p:sp>
    </p:spTree>
  </p:cSld>
  <p:clrMapOvr>
    <a:masterClrMapping/>
  </p:clrMapOvr>
  <p:transition>
    <p:split dir="in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&amp;si=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" name="P_4_BD#491f69b70?colgroup=6,30&amp;vcp=1&amp;pid=3fe34ba63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1201554"/>
                  </p:ext>
                </p:extLst>
              </p:nvPr>
            </p:nvGraphicFramePr>
            <p:xfrm>
              <a:off x="393192" y="2145983"/>
              <a:ext cx="11375136" cy="3189605"/>
            </p:xfrm>
            <a:graphic>
              <a:graphicData uri="http://schemas.openxmlformats.org/drawingml/2006/table">
                <a:tbl>
                  <a:tblPr/>
                  <a:tblGrid>
                    <a:gridCol w="206654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3085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常见情境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物体的运动情况及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CN" sz="100" b="1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696972"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倾斜向下传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送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：</a:t>
                          </a:r>
                          <a:endParaRPr lang="en-US" altLang="zh-CN" sz="1200" dirty="0"/>
                        </a:p>
                        <a:p>
                          <a:pPr marL="0" lvl="0" indent="0" algn="ctr" latinLnBrk="1" hangingPunct="0">
                            <a:lnSpc>
                              <a:spcPts val="11900"/>
                            </a:lnSpc>
                          </a:pPr>
                          <a:r>
                            <a:rPr lang="en-US" altLang="zh-CN" sz="6600" b="0" i="0" kern="0" spc="-9990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_</a:t>
                          </a:r>
                          <a:r>
                            <a:rPr lang="en-US" altLang="zh-CN" sz="900" b="0" i="0" kern="0" spc="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SimSun" panose="02010600030101010101" pitchFamily="2" charset="-122"/>
                              <a:ea typeface="微软雅黑" pitchFamily="34" charset="-122"/>
                              <a:cs typeface="Times New Roman" pitchFamily="34" charset="-120"/>
                            </a:rPr>
                            <a:t>_______________________________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ct val="150000"/>
                            </a:lnSpc>
                          </a:pPr>
                          <a:endParaRPr lang="en-US" altLang="zh-CN" sz="900" spc="0" dirty="0"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59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𝑙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≤</m:t>
                              </m:r>
                              <m:f>
                                <m:f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𝑎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时：</a:t>
                          </a:r>
                          <a:endParaRPr lang="en-US" altLang="zh-CN" sz="1200" dirty="0"/>
                        </a:p>
                        <a:p>
                          <a:pPr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加速度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𝑔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𝜇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cos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𝜃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sin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𝜃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一直匀加速</a:t>
                          </a:r>
                          <a:endParaRPr lang="en-US" altLang="zh-CN" sz="1200" dirty="0"/>
                        </a:p>
                        <a:p>
                          <a:pPr algn="ctr" latinLnBrk="1" hangingPunct="0">
                            <a:lnSpc>
                              <a:spcPts val="11800"/>
                            </a:lnSpc>
                          </a:pPr>
                          <a:r>
                            <a:rPr lang="en-US" altLang="zh-CN" sz="6600" b="0" i="0" kern="0" spc="-9990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_</a:t>
                          </a:r>
                          <a:r>
                            <a:rPr lang="en-US" altLang="zh-CN" sz="900" b="0" i="0" kern="0" spc="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SimSun" panose="02010600030101010101" pitchFamily="2" charset="-122"/>
                              <a:ea typeface="微软雅黑" pitchFamily="34" charset="-122"/>
                              <a:cs typeface="Times New Roman" pitchFamily="34" charset="-120"/>
                            </a:rPr>
                            <a:t>___________________________</a:t>
                          </a: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" name="P_4_BD#491f69b70?colgroup=6,30&amp;vcp=1&amp;pid=3fe34ba63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1201554"/>
                  </p:ext>
                </p:extLst>
              </p:nvPr>
            </p:nvGraphicFramePr>
            <p:xfrm>
              <a:off x="393192" y="2145983"/>
              <a:ext cx="11375136" cy="3189605"/>
            </p:xfrm>
            <a:graphic>
              <a:graphicData uri="http://schemas.openxmlformats.org/drawingml/2006/table">
                <a:tbl>
                  <a:tblPr/>
                  <a:tblGrid>
                    <a:gridCol w="206654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3085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常见情境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251" t="-2469" r="-131" b="-6345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696972"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倾斜向下传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送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：</a:t>
                          </a:r>
                          <a:endParaRPr lang="en-US" altLang="zh-CN" sz="1200" dirty="0"/>
                        </a:p>
                        <a:p>
                          <a:pPr marL="0" lvl="0" indent="0" algn="ctr" latinLnBrk="1" hangingPunct="0">
                            <a:lnSpc>
                              <a:spcPts val="11900"/>
                            </a:lnSpc>
                          </a:pPr>
                          <a:r>
                            <a:rPr lang="en-US" altLang="zh-CN" sz="6600" b="0" i="0" kern="0" spc="-9990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_</a:t>
                          </a:r>
                          <a:r>
                            <a:rPr lang="en-US" altLang="zh-CN" sz="900" b="0" i="0" kern="0" spc="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SimSun" panose="02010600030101010101" pitchFamily="2" charset="-122"/>
                              <a:ea typeface="微软雅黑" pitchFamily="34" charset="-122"/>
                              <a:cs typeface="Times New Roman" pitchFamily="34" charset="-120"/>
                            </a:rPr>
                            <a:t>_______________________________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ct val="150000"/>
                            </a:lnSpc>
                          </a:pPr>
                          <a:endParaRPr lang="en-US" altLang="zh-CN" sz="900" spc="0" dirty="0"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251" t="-18736" r="-131" b="-160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_4_BD#491f69b70.table_image?tii=20&amp;vcp=1&amp;pid=3fe34ba63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9204" y="3627756"/>
            <a:ext cx="1874520" cy="1508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4" name="P_4_BD#491f69b70.table_image?tii=21&amp;vcp=1&amp;pid=3fe34ba63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32220" y="3944335"/>
            <a:ext cx="1563624" cy="1325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2" name="P_4_BD#491f69b70?colgroup=6,30&amp;vcp=1&amp;pid=3fe34ba63&amp;color=0,0,0&amp;vtp=1&amp;bt=1&amp;bbb=1">
            <a:extLst>
              <a:ext uri="{FF2B5EF4-FFF2-40B4-BE49-F238E27FC236}">
                <a16:creationId xmlns:a16="http://schemas.microsoft.com/office/drawing/2014/main" id="{3AAFE9FD-4F93-0E32-D97B-91F9648F070B}"/>
              </a:ext>
            </a:extLst>
          </p:cNvPr>
          <p:cNvSpPr txBox="1"/>
          <p:nvPr/>
        </p:nvSpPr>
        <p:spPr>
          <a:xfrm>
            <a:off x="11152775" y="1520507"/>
            <a:ext cx="615553" cy="5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>
              <a:lnSpc>
                <a:spcPts val="43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续表</a:t>
            </a:r>
          </a:p>
        </p:txBody>
      </p:sp>
    </p:spTree>
  </p:cSld>
  <p:clrMapOvr>
    <a:masterClrMapping/>
  </p:clrMapOvr>
  <p:transition>
    <p:split dir="in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&amp;si=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" name="P_4_BD#491f69b70?colgroup=6,30&amp;vcp=1&amp;pid=3fe34ba63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9023320"/>
                  </p:ext>
                </p:extLst>
              </p:nvPr>
            </p:nvGraphicFramePr>
            <p:xfrm>
              <a:off x="393192" y="1917383"/>
              <a:ext cx="11375136" cy="3646805"/>
            </p:xfrm>
            <a:graphic>
              <a:graphicData uri="http://schemas.openxmlformats.org/drawingml/2006/table">
                <a:tbl>
                  <a:tblPr/>
                  <a:tblGrid>
                    <a:gridCol w="206654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3085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常见情境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物体的运动情况及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CN" sz="100" b="1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54172"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倾斜向下传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送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：</a:t>
                          </a:r>
                          <a:endParaRPr lang="en-US" altLang="zh-CN" sz="1200" dirty="0"/>
                        </a:p>
                        <a:p>
                          <a:pPr marL="0" lvl="0" indent="0" algn="ctr" latinLnBrk="1" hangingPunct="0">
                            <a:lnSpc>
                              <a:spcPts val="11900"/>
                            </a:lnSpc>
                          </a:pPr>
                          <a:r>
                            <a:rPr lang="en-US" altLang="zh-CN" sz="6600" b="0" i="0" kern="0" spc="-9990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_</a:t>
                          </a:r>
                          <a:r>
                            <a:rPr lang="en-US" altLang="zh-CN" sz="900" b="0" i="0" kern="0" spc="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SimSun" panose="02010600030101010101" pitchFamily="2" charset="-122"/>
                              <a:ea typeface="微软雅黑" pitchFamily="34" charset="-122"/>
                              <a:cs typeface="Times New Roman" pitchFamily="34" charset="-120"/>
                            </a:rPr>
                            <a:t>_______________________________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ct val="150000"/>
                            </a:lnSpc>
                          </a:pPr>
                          <a:endParaRPr lang="en-US" altLang="zh-CN" sz="900" spc="0" dirty="0"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59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𝑙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&gt;</m:t>
                              </m:r>
                              <m:f>
                                <m:f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𝑎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且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𝜇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&gt;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tan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𝜃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时：</a:t>
                          </a:r>
                          <a:endParaRPr lang="en-US" altLang="zh-CN" sz="1200" dirty="0"/>
                        </a:p>
                        <a:p>
                          <a:pPr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加速度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𝑔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𝜇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cos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𝜃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sin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𝜃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先匀加速到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（与传送带共速）后匀速</a:t>
                          </a:r>
                          <a:endParaRPr lang="en-US" altLang="zh-CN" sz="1200" dirty="0"/>
                        </a:p>
                        <a:p>
                          <a:pPr algn="ctr" latinLnBrk="1" hangingPunct="0">
                            <a:lnSpc>
                              <a:spcPts val="11600"/>
                            </a:lnSpc>
                          </a:pPr>
                          <a:r>
                            <a:rPr lang="en-US" altLang="zh-CN" sz="6550" b="0" i="0" kern="0" spc="-9990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_</a:t>
                          </a:r>
                          <a:r>
                            <a:rPr lang="en-US" altLang="zh-CN" sz="900" b="0" i="0" kern="0" spc="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SimSun" panose="02010600030101010101" pitchFamily="2" charset="-122"/>
                              <a:ea typeface="微软雅黑" pitchFamily="34" charset="-122"/>
                              <a:cs typeface="Times New Roman" pitchFamily="34" charset="-120"/>
                            </a:rPr>
                            <a:t>__________________________________</a:t>
                          </a: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" name="P_4_BD#491f69b70?colgroup=6,30&amp;vcp=1&amp;pid=3fe34ba63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9023320"/>
                  </p:ext>
                </p:extLst>
              </p:nvPr>
            </p:nvGraphicFramePr>
            <p:xfrm>
              <a:off x="393192" y="1917383"/>
              <a:ext cx="11375136" cy="3646805"/>
            </p:xfrm>
            <a:graphic>
              <a:graphicData uri="http://schemas.openxmlformats.org/drawingml/2006/table">
                <a:tbl>
                  <a:tblPr/>
                  <a:tblGrid>
                    <a:gridCol w="206654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3085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常见情境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251" t="-1235" r="-131" b="-6765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54172"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倾斜向下传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送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：</a:t>
                          </a:r>
                          <a:endParaRPr lang="en-US" altLang="zh-CN" sz="1200" dirty="0"/>
                        </a:p>
                        <a:p>
                          <a:pPr marL="0" lvl="0" indent="0" algn="ctr" latinLnBrk="1" hangingPunct="0">
                            <a:lnSpc>
                              <a:spcPts val="11900"/>
                            </a:lnSpc>
                          </a:pPr>
                          <a:r>
                            <a:rPr lang="en-US" altLang="zh-CN" sz="6600" b="0" i="0" kern="0" spc="-9990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_</a:t>
                          </a:r>
                          <a:r>
                            <a:rPr lang="en-US" altLang="zh-CN" sz="900" b="0" i="0" kern="0" spc="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SimSun" panose="02010600030101010101" pitchFamily="2" charset="-122"/>
                              <a:ea typeface="微软雅黑" pitchFamily="34" charset="-122"/>
                              <a:cs typeface="Times New Roman" pitchFamily="34" charset="-120"/>
                            </a:rPr>
                            <a:t>_______________________________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ct val="150000"/>
                            </a:lnSpc>
                          </a:pPr>
                          <a:endParaRPr lang="en-US" altLang="zh-CN" sz="900" spc="0" dirty="0"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251" t="-15830" r="-131" b="-57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_4_BD#491f69b70.table_image?tii=22&amp;vcp=1&amp;pid=3fe34ba63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9204" y="3627756"/>
            <a:ext cx="1874520" cy="1508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4" name="P_4_BD#491f69b70.table_image?tii=23&amp;vcp=1&amp;pid=3fe34ba63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17336" y="3949351"/>
            <a:ext cx="1993392" cy="1316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2" name="P_4_BD#491f69b70?colgroup=6,30&amp;vcp=1&amp;pid=3fe34ba63&amp;color=0,0,0&amp;vtp=1&amp;bt=1&amp;bbb=1">
            <a:extLst>
              <a:ext uri="{FF2B5EF4-FFF2-40B4-BE49-F238E27FC236}">
                <a16:creationId xmlns:a16="http://schemas.microsoft.com/office/drawing/2014/main" id="{CD918783-C4C6-0E34-B80D-2705B34EBCF0}"/>
              </a:ext>
            </a:extLst>
          </p:cNvPr>
          <p:cNvSpPr txBox="1"/>
          <p:nvPr/>
        </p:nvSpPr>
        <p:spPr>
          <a:xfrm>
            <a:off x="11152775" y="1291908"/>
            <a:ext cx="615553" cy="5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>
              <a:lnSpc>
                <a:spcPts val="43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续表</a:t>
            </a:r>
          </a:p>
        </p:txBody>
      </p:sp>
    </p:spTree>
  </p:cSld>
  <p:clrMapOvr>
    <a:masterClrMapping/>
  </p:clrMapOvr>
  <p:transition>
    <p:split dir="in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&amp;si=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" name="P_4_BD#491f69b70?colgroup=6,30&amp;vcp=1&amp;pid=3fe34ba63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644574"/>
                  </p:ext>
                </p:extLst>
              </p:nvPr>
            </p:nvGraphicFramePr>
            <p:xfrm>
              <a:off x="393192" y="1990534"/>
              <a:ext cx="11375136" cy="3500501"/>
            </p:xfrm>
            <a:graphic>
              <a:graphicData uri="http://schemas.openxmlformats.org/drawingml/2006/table">
                <a:tbl>
                  <a:tblPr/>
                  <a:tblGrid>
                    <a:gridCol w="206654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3085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常见情境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物体的运动情况及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CN" sz="100" b="1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07868"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倾斜向下传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送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：</a:t>
                          </a:r>
                          <a:endParaRPr lang="en-US" altLang="zh-CN" sz="1200" dirty="0"/>
                        </a:p>
                        <a:p>
                          <a:pPr marL="0" lvl="0" indent="0" algn="ctr" latinLnBrk="1" hangingPunct="0">
                            <a:lnSpc>
                              <a:spcPts val="11900"/>
                            </a:lnSpc>
                          </a:pPr>
                          <a:r>
                            <a:rPr lang="en-US" altLang="zh-CN" sz="6600" b="0" i="0" kern="0" spc="-9990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_</a:t>
                          </a:r>
                          <a:r>
                            <a:rPr lang="en-US" altLang="zh-CN" sz="900" b="0" i="0" kern="0" spc="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SimSun" panose="02010600030101010101" pitchFamily="2" charset="-122"/>
                              <a:ea typeface="微软雅黑" pitchFamily="34" charset="-122"/>
                              <a:cs typeface="Times New Roman" pitchFamily="34" charset="-120"/>
                            </a:rPr>
                            <a:t>_______________________________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ct val="150000"/>
                            </a:lnSpc>
                          </a:pPr>
                          <a:endParaRPr lang="en-US" altLang="zh-CN" sz="900" spc="0" dirty="0"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59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𝑙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&gt;</m:t>
                              </m:r>
                              <m:f>
                                <m:f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𝑎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且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𝜇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&lt;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tan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𝜃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时：</a:t>
                          </a:r>
                          <a:endParaRPr lang="en-US" altLang="zh-CN" sz="1200" dirty="0"/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加速度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𝑔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sin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𝜃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+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𝜇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cos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𝜃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′=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𝑔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sin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𝜃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𝜇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cos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𝜃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先以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匀加速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到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（与传送带共速）后以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′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匀加速</a:t>
                          </a:r>
                          <a:endParaRPr lang="en-US" altLang="zh-CN" sz="1200" dirty="0"/>
                        </a:p>
                        <a:p>
                          <a:pPr marL="0" lvl="0" indent="0" algn="ctr" latinLnBrk="1" hangingPunct="0">
                            <a:lnSpc>
                              <a:spcPts val="10400"/>
                            </a:lnSpc>
                          </a:pPr>
                          <a:r>
                            <a:rPr lang="en-US" altLang="zh-CN" sz="5850" b="0" i="0" kern="0" spc="-9990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_</a:t>
                          </a:r>
                          <a:r>
                            <a:rPr lang="en-US" altLang="zh-CN" sz="900" b="0" i="0" kern="0" spc="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SimSun" panose="02010600030101010101" pitchFamily="2" charset="-122"/>
                              <a:ea typeface="微软雅黑" pitchFamily="34" charset="-122"/>
                              <a:cs typeface="Times New Roman" pitchFamily="34" charset="-120"/>
                            </a:rPr>
                            <a:t>__________________________________</a:t>
                          </a: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" name="P_4_BD#491f69b70?colgroup=6,30&amp;vcp=1&amp;pid=3fe34ba63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644574"/>
                  </p:ext>
                </p:extLst>
              </p:nvPr>
            </p:nvGraphicFramePr>
            <p:xfrm>
              <a:off x="393192" y="1990534"/>
              <a:ext cx="11375136" cy="3500501"/>
            </p:xfrm>
            <a:graphic>
              <a:graphicData uri="http://schemas.openxmlformats.org/drawingml/2006/table">
                <a:tbl>
                  <a:tblPr/>
                  <a:tblGrid>
                    <a:gridCol w="206654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3085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常见情境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251" t="-1235" r="-131" b="-6864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07868"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倾斜向下传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送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：</a:t>
                          </a:r>
                          <a:endParaRPr lang="en-US" altLang="zh-CN" sz="1200" dirty="0"/>
                        </a:p>
                        <a:p>
                          <a:pPr marL="0" lvl="0" indent="0" algn="ctr" latinLnBrk="1" hangingPunct="0">
                            <a:lnSpc>
                              <a:spcPts val="11900"/>
                            </a:lnSpc>
                          </a:pPr>
                          <a:r>
                            <a:rPr lang="en-US" altLang="zh-CN" sz="6600" b="0" i="0" kern="0" spc="-9990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_</a:t>
                          </a:r>
                          <a:r>
                            <a:rPr lang="en-US" altLang="zh-CN" sz="900" b="0" i="0" kern="0" spc="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SimSun" panose="02010600030101010101" pitchFamily="2" charset="-122"/>
                              <a:ea typeface="微软雅黑" pitchFamily="34" charset="-122"/>
                              <a:cs typeface="Times New Roman" pitchFamily="34" charset="-120"/>
                            </a:rPr>
                            <a:t>_______________________________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ct val="150000"/>
                            </a:lnSpc>
                          </a:pPr>
                          <a:endParaRPr lang="en-US" altLang="zh-CN" sz="900" spc="0" dirty="0"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251" t="-16599" r="-131" b="-125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_4_BD#491f69b70.table_image?tii=24&amp;vcp=1&amp;pid=3fe34ba63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9204" y="3627754"/>
            <a:ext cx="1874520" cy="1508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4" name="P_4_BD#491f69b70.table_image?tii=25&amp;vcp=1&amp;pid=3fe34ba63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26480" y="4257517"/>
            <a:ext cx="1975104" cy="1179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2" name="P_4_BD#491f69b70?colgroup=6,30&amp;vcp=1&amp;pid=3fe34ba63&amp;color=0,0,0&amp;vtp=1&amp;bt=1&amp;bbb=1">
            <a:extLst>
              <a:ext uri="{FF2B5EF4-FFF2-40B4-BE49-F238E27FC236}">
                <a16:creationId xmlns:a16="http://schemas.microsoft.com/office/drawing/2014/main" id="{17E6D40A-934C-F80E-D9BC-03E09F83357A}"/>
              </a:ext>
            </a:extLst>
          </p:cNvPr>
          <p:cNvSpPr txBox="1"/>
          <p:nvPr/>
        </p:nvSpPr>
        <p:spPr>
          <a:xfrm>
            <a:off x="11152775" y="1365059"/>
            <a:ext cx="615553" cy="5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>
              <a:lnSpc>
                <a:spcPts val="43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续表</a:t>
            </a:r>
          </a:p>
        </p:txBody>
      </p:sp>
    </p:spTree>
  </p:cSld>
  <p:clrMapOvr>
    <a:masterClrMapping/>
  </p:clrMapOvr>
  <p:transition>
    <p:split dir="in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&amp;si=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4_BD.7_1#50b4168a0?vcp=1&amp;pid=3fe34ba63&amp;color=0,0,0&amp;vtp=1&amp;bt=1&amp;bbb=1&amp;hb=1"/>
              <p:cNvSpPr/>
              <p:nvPr/>
            </p:nvSpPr>
            <p:spPr>
              <a:xfrm>
                <a:off x="393192" y="717867"/>
                <a:ext cx="11402568" cy="215442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例2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[2026⋅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华南师大附中检测］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如图所示，传送带与水平地面的夹角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37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的长度为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=10.25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，传送带以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的速度逆时针转动，在传送带上端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处无初速度地放一个质量为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的黑色煤块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，它与传送带之间的动摩擦因数为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𝜇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=0.5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.煤块在传送带上经过会留下黑色痕迹.已知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37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=0.6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取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4_BD.7_1#50b4168a0?vcp=1&amp;pid=3fe34ba6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17867"/>
                <a:ext cx="11402568" cy="2154428"/>
              </a:xfrm>
              <a:prstGeom prst="rect">
                <a:avLst/>
              </a:prstGeom>
              <a:blipFill>
                <a:blip r:embed="rId3"/>
                <a:stretch>
                  <a:fillRect l="-1658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O_4_BD.7_2#50b4168a0?vcp=1&amp;pid=3fe34ba63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01768" y="2984564"/>
            <a:ext cx="2185416" cy="1490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4" name="QO_5_BD.8_1#0cc7b8d39?vcp=1&amp;pid=50b4168a0&amp;color=0,0,0&amp;vtp=1&amp;bbb=1"/>
          <p:cNvSpPr/>
          <p:nvPr/>
        </p:nvSpPr>
        <p:spPr>
          <a:xfrm>
            <a:off x="393192" y="461016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（1）当煤块与传送带速度相同时，它们能否相对静止？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O_5_AS.9_1#0cc7b8d39?vcp=1&amp;pid=50b4168a0&amp;color=0,0,0&amp;vtp=1&amp;bbb=1&amp;hb=1"/>
              <p:cNvSpPr/>
              <p:nvPr/>
            </p:nvSpPr>
            <p:spPr>
              <a:xfrm>
                <a:off x="393192" y="5103559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煤块与传送带之间的动摩擦因数为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，当煤块与传送带速度相等时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煤块受力分析有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𝟑𝟕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𝟑𝟕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，所以它们不能相对静止.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O_5_AS.9_1#0cc7b8d39?vcp=1&amp;pid=50b4168a0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103559"/>
                <a:ext cx="11402568" cy="1033399"/>
              </a:xfrm>
              <a:prstGeom prst="rect">
                <a:avLst/>
              </a:prstGeom>
              <a:blipFill>
                <a:blip r:embed="rId5"/>
                <a:stretch>
                  <a:fillRect l="-1658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&amp;si=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BD.10_1#cc277e1a9?vcp=1&amp;pid=50b4168a0&amp;color=0,0,0&amp;vtp=1&amp;bt=1&amp;bbb=1"/>
              <p:cNvSpPr/>
              <p:nvPr/>
            </p:nvSpPr>
            <p:spPr>
              <a:xfrm>
                <a:off x="393192" y="1117314"/>
                <a:ext cx="1140256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（2）求煤块从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的时间.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BD.10_1#cc277e1a9?vcp=1&amp;pid=50b4168a0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117314"/>
                <a:ext cx="11402568" cy="488125"/>
              </a:xfrm>
              <a:prstGeom prst="rect">
                <a:avLst/>
              </a:prstGeom>
              <a:blipFill>
                <a:blip r:embed="rId3"/>
                <a:stretch>
                  <a:fillRect l="-1658" b="-375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5_AS.11_1#cc277e1a9?vcp=1&amp;pid=50b4168a0&amp;color=0,0,0&amp;vtp=1&amp;bbb=1&amp;hb=1"/>
              <p:cNvSpPr/>
              <p:nvPr/>
            </p:nvSpPr>
            <p:spPr>
              <a:xfrm>
                <a:off x="393192" y="1616805"/>
                <a:ext cx="11402568" cy="38949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煤块刚放上时，受到沿斜面向下的摩擦力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，其加速度为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，煤块加速运动至与传送带速度相同需要的时间</a:t>
                </a:r>
              </a:p>
              <a:p>
                <a:pPr latinLnBrk="1">
                  <a:lnSpc>
                    <a:spcPts val="47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，发生的位移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，煤块速度达到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后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，因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，故煤块继续沿传送带向下加速运动，则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endParaRPr lang="en-US" altLang="zh-CN" sz="2400" dirty="0"/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煤块从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的时间为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5_AS.11_1#cc277e1a9?vcp=1&amp;pid=50b4168a0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16805"/>
                <a:ext cx="11402568" cy="3894900"/>
              </a:xfrm>
              <a:prstGeom prst="rect">
                <a:avLst/>
              </a:prstGeom>
              <a:blipFill>
                <a:blip r:embed="rId4"/>
                <a:stretch>
                  <a:fillRect l="-1658" b="-469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&amp;si=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BD.12_1#bcbe55a75?vcp=1&amp;pid=50b4168a0&amp;color=0,0,0&amp;vtp=1&amp;bt=1&amp;bbb=1"/>
              <p:cNvSpPr/>
              <p:nvPr/>
            </p:nvSpPr>
            <p:spPr>
              <a:xfrm>
                <a:off x="393192" y="1823307"/>
                <a:ext cx="1140256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（3）求煤块从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的过程中在传送带上留下痕迹的长度.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BD.12_1#bcbe55a75?vcp=1&amp;pid=50b4168a0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23307"/>
                <a:ext cx="11402568" cy="488125"/>
              </a:xfrm>
              <a:prstGeom prst="rect">
                <a:avLst/>
              </a:prstGeom>
              <a:blipFill>
                <a:blip r:embed="rId3"/>
                <a:stretch>
                  <a:fillRect l="-1658" b="-375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5_AS.13_1#bcbe55a75?vcp=1&amp;pid=50b4168a0&amp;color=0,0,0&amp;vtp=1&amp;bbb=1&amp;hb=1"/>
              <p:cNvSpPr/>
              <p:nvPr/>
            </p:nvSpPr>
            <p:spPr>
              <a:xfrm>
                <a:off x="393192" y="2322798"/>
                <a:ext cx="11402568" cy="2713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煤块与传送带的相对位移大小即划痕长度，煤块以加速度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做匀加速运动的过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程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，痕迹长度为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以加速度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做匀加速运动的过程，痕迹长度为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因为第一阶段煤块相对传送带向上滑动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，第二阶段煤块相对传送带向下滑动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部分重合，故痕迹总长度为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5_AS.13_1#bcbe55a75?vcp=1&amp;pid=50b4168a0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322798"/>
                <a:ext cx="11402568" cy="2713800"/>
              </a:xfrm>
              <a:prstGeom prst="rect">
                <a:avLst/>
              </a:prstGeom>
              <a:blipFill>
                <a:blip r:embed="rId4"/>
                <a:stretch>
                  <a:fillRect l="-1658" r="-1283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&amp;si=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4_1#3d8b7a74f?vcp=1&amp;pid=3fe34ba63&amp;color=0,0,0&amp;vtp=1&amp;bt=1&amp;bbb=1&amp;hb=1"/>
              <p:cNvSpPr/>
              <p:nvPr/>
            </p:nvSpPr>
            <p:spPr>
              <a:xfrm>
                <a:off x="393192" y="1272127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变式2-1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（2026·安徽合肥六中检测）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如图所示，倾角为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37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的传送带以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的恒定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速度沿顺时针方向转动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.一煤块以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从底部冲上传送带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，煤块与传送带间的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动摩擦因数为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0.25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，煤块到达传送带顶端时的速度恰好为0，取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37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=0.6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cos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37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=0.8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4_1#3d8b7a74f?vcp=1&amp;pid=3fe34ba6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72127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1390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5_1#3d8b7a74f.bracket?vcp=1&amp;pid=3fe34ba63&amp;color=0,0,0&amp;vpa=3&amp;vtp=1"/>
          <p:cNvSpPr/>
          <p:nvPr/>
        </p:nvSpPr>
        <p:spPr>
          <a:xfrm>
            <a:off x="4972654" y="2937097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p:pic>
        <p:nvPicPr>
          <p:cNvPr id="4" name="QC_4_BD.14_2#3d8b7a74f?htil=3&amp;vcp=1&amp;pid=3fe34ba63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37392" y="3457542"/>
            <a:ext cx="2002536" cy="1572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4_3#3d8b7a74f.choices?htil=3&amp;vcp=1&amp;pid=3fe34ba63&amp;color=0,0,0&amp;vtp=1&amp;bbb=1"/>
              <p:cNvSpPr/>
              <p:nvPr/>
            </p:nvSpPr>
            <p:spPr>
              <a:xfrm>
                <a:off x="393192" y="3411822"/>
                <a:ext cx="9262872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A.煤块经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.传送带底端到顶端的距离为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.煤块相对传送带的位移大小为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.煤块所受摩擦力方向一直与其运动方向相反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4_3#3d8b7a74f.choices?htil=3&amp;vcp=1&amp;pid=3fe34ba63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11822"/>
                <a:ext cx="9262872" cy="2155000"/>
              </a:xfrm>
              <a:prstGeom prst="rect">
                <a:avLst/>
              </a:prstGeom>
              <a:blipFill>
                <a:blip r:embed="rId5"/>
                <a:stretch>
                  <a:fillRect l="-2041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&amp;si=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AS.16_1#3d8b7a74f?htil=4&amp;vcp=1&amp;pid=3fe34ba63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516883" y="549720"/>
            <a:ext cx="2123217" cy="1685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AS.16_2#3d8b7a74f?htil=4&amp;vcp=1&amp;pid=3fe34ba63&amp;color=0,0,0&amp;vtp=1&amp;bt=1&amp;bbb=1&amp;hb=1&amp;hs=1"/>
              <p:cNvSpPr/>
              <p:nvPr/>
            </p:nvSpPr>
            <p:spPr>
              <a:xfrm>
                <a:off x="393192" y="504000"/>
                <a:ext cx="8924544" cy="1933067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37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如图，煤块速度大于传送带速度时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，煤块受到的摩擦力沿传</a:t>
                </a:r>
              </a:p>
              <a:p>
                <a:pPr latinLnBrk="1">
                  <a:lnSpc>
                    <a:spcPts val="3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送带向下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，与煤块的运动方向相反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，根据牛顿第二定律有</a:t>
                </a:r>
              </a:p>
              <a:p>
                <a:pPr latinLnBrk="1">
                  <a:lnSpc>
                    <a:spcPts val="37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𝟑𝟕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𝟑𝟕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；与传送带共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速时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，所用时间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，之后速度小于传送带的速度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，传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AS.16_2#3d8b7a74f?htil=4&amp;vcp=1&amp;pid=3fe34ba63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8924544" cy="1933067"/>
              </a:xfrm>
              <a:prstGeom prst="rect">
                <a:avLst/>
              </a:prstGeom>
              <a:blipFill>
                <a:blip r:embed="rId4"/>
                <a:stretch>
                  <a:fillRect l="-2117" t="-1893" r="-1708" b="-315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AS.16_2#3d8b7a74f?htil=4&amp;vcp=1&amp;pid=3fe34ba63&amp;color=0,0,0&amp;vtp=1&amp;bt=1&amp;bbb=1&amp;hb=1&amp;hs=1">
                <a:extLst>
                  <a:ext uri="{FF2B5EF4-FFF2-40B4-BE49-F238E27FC236}">
                    <a16:creationId xmlns:a16="http://schemas.microsoft.com/office/drawing/2014/main" id="{FB9AB5F4-B9E9-41FD-1EB7-B8E006996F27}"/>
                  </a:ext>
                </a:extLst>
              </p:cNvPr>
              <p:cNvSpPr/>
              <p:nvPr/>
            </p:nvSpPr>
            <p:spPr>
              <a:xfrm>
                <a:off x="393192" y="2440495"/>
                <a:ext cx="11400008" cy="3917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3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送带对煤块的摩擦力沿传送带向上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，与煤块的运动方向相同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，根据牛顿第二定律有</a:t>
                </a:r>
              </a:p>
              <a:p>
                <a:pPr latinLnBrk="1">
                  <a:lnSpc>
                    <a:spcPts val="37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𝟑𝟕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𝟑𝟕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，到达传送带顶端时速度恰好</a:t>
                </a:r>
              </a:p>
              <a:p>
                <a:pPr latinLnBrk="1">
                  <a:lnSpc>
                    <a:spcPts val="3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，所用时间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,可知煤块经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速度减为0，A、D错误.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内煤块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的位移大小为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内煤块的位移大小为</a:t>
                </a:r>
              </a:p>
              <a:p>
                <a:pPr latinLnBrk="1">
                  <a:lnSpc>
                    <a:spcPts val="43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，故传送带底端到顶端的距离为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B错</a:t>
                </a:r>
              </a:p>
              <a:p>
                <a:pPr latinLnBrk="1">
                  <a:lnSpc>
                    <a:spcPts val="3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误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.传送带在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内向上传动的距离为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𝒔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，故煤块相对传送带的位</a:t>
                </a:r>
              </a:p>
              <a:p>
                <a:pPr latinLnBrk="1">
                  <a:lnSpc>
                    <a:spcPts val="35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移大小为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，C正确.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AS.16_2#3d8b7a74f?htil=4&amp;vcp=1&amp;pid=3fe34ba63&amp;color=0,0,0&amp;vtp=1&amp;bt=1&amp;bbb=1&amp;hb=1&amp;hs=1">
                <a:extLst>
                  <a:ext uri="{FF2B5EF4-FFF2-40B4-BE49-F238E27FC236}">
                    <a16:creationId xmlns:a16="http://schemas.microsoft.com/office/drawing/2014/main" id="{FB9AB5F4-B9E9-41FD-1EB7-B8E006996F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440495"/>
                <a:ext cx="11400008" cy="3917125"/>
              </a:xfrm>
              <a:prstGeom prst="rect">
                <a:avLst/>
              </a:prstGeom>
              <a:blipFill>
                <a:blip r:embed="rId5"/>
                <a:stretch>
                  <a:fillRect l="-1658" t="-778" r="-1016" b="-466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&amp;si=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1341</Words>
  <Application>Microsoft Office PowerPoint</Application>
  <PresentationFormat>宽屏</PresentationFormat>
  <Paragraphs>206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3" baseType="lpstr">
      <vt:lpstr>SimHei</vt:lpstr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2026-05-25T08:31:30Z</dcterms:created>
  <dcterms:modified xsi:type="dcterms:W3CDTF">2026-05-25T08:33:26Z</dcterms:modified>
  <cp:category/>
  <cp:contentStatus/>
</cp:coreProperties>
</file>