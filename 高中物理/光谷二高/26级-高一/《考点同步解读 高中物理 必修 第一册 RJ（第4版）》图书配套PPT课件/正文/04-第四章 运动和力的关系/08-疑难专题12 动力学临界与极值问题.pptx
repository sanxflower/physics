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83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28bacd03a259d37d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06bc295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疑难专题12 动力学临界与极值问题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06bc29566.fixed?vcp=1&amp;pid=76d465d4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06bc29566.fixed?vcp=1&amp;pid=76d465d4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疑难专题12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动力学临界与极值问题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3_BD#83078953e?vcp=1&amp;pid=06bc29566&amp;color=0,0,0&amp;vtp=1&amp;bt=1&amp;bbb=1&amp;hb=1"/>
          <p:cNvSpPr/>
          <p:nvPr/>
        </p:nvSpPr>
        <p:spPr>
          <a:xfrm>
            <a:off x="393192" y="1793335"/>
            <a:ext cx="11402568" cy="327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1.临界和极值问题的关键词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1）有些题目中有“刚好”“恰好”“正好”等字眼，表明题述的过程存在着临界点.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2）若题目中有“取值范围”“多长时间”“多大距离”等字眼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，则表明题述的过程存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在着起止点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，而这些起止点往往就对应临界状态.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3）若题目中有“最大”“最小”“至多”“至少”等字眼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，则表明题述的过程存在着极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值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，这个极值点往往是临界点.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3_BD#83078953e?vcp=1&amp;pid=06bc29566&amp;color=0,0,0&amp;vtp=1&amp;bt=1&amp;bbb=1"/>
          <p:cNvSpPr/>
          <p:nvPr/>
        </p:nvSpPr>
        <p:spPr>
          <a:xfrm>
            <a:off x="393192" y="1141032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2.产生临界值或极值的条件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P_3_BD#83078953e?colgroup=16,19&amp;vcp=1&amp;pid=06bc29566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6933994"/>
                  </p:ext>
                </p:extLst>
              </p:nvPr>
            </p:nvGraphicFramePr>
            <p:xfrm>
              <a:off x="393192" y="1753806"/>
              <a:ext cx="11375136" cy="3961257"/>
            </p:xfrm>
            <a:graphic>
              <a:graphicData uri="http://schemas.openxmlformats.org/drawingml/2006/table">
                <a:tbl>
                  <a:tblPr/>
                  <a:tblGrid>
                    <a:gridCol w="51663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087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临界状态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临界条件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两物体刚好接触或分离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弹力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两物体由相对静止开始相对滑动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静摩擦力达到最大值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绳子断裂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张力等于绳子所能承受的最大拉力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绳子刚好伸直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张力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加速度最大或最小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当所受合力最大时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具有最大加速度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所受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合力最小时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具有最小加速度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速度最大或最小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通常加速度为0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P_3_BD#83078953e?colgroup=16,19&amp;vcp=1&amp;pid=06bc29566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6933994"/>
                  </p:ext>
                </p:extLst>
              </p:nvPr>
            </p:nvGraphicFramePr>
            <p:xfrm>
              <a:off x="393192" y="1753806"/>
              <a:ext cx="11375136" cy="3961257"/>
            </p:xfrm>
            <a:graphic>
              <a:graphicData uri="http://schemas.openxmlformats.org/drawingml/2006/table">
                <a:tbl>
                  <a:tblPr/>
                  <a:tblGrid>
                    <a:gridCol w="51663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087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临界状态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临界条件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两物体刚好接触或分离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3317" t="-100000" r="-196" b="-624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两物体由相对静止开始相对滑动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静摩擦力达到最大值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绳子断裂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张力等于绳子所能承受的最大拉力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绳子刚好伸直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3317" t="-400000" r="-196" b="-324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加速度最大或最小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当所受合力最大时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具有最大加速度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所受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合力最小时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具有最小加速度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速度最大或最小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通常加速度为0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3_BD#83078953e?vcp=1&amp;pid=06bc29566&amp;color=0,0,0&amp;vtp=1&amp;bt=1&amp;bbb=1"/>
          <p:cNvSpPr/>
          <p:nvPr/>
        </p:nvSpPr>
        <p:spPr>
          <a:xfrm>
            <a:off x="393192" y="700596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3.求解临界和极值问题的思想方法</a:t>
            </a:r>
            <a:endParaRPr lang="en-US" altLang="zh-CN" sz="2400" dirty="0"/>
          </a:p>
        </p:txBody>
      </p:sp>
      <p:graphicFrame>
        <p:nvGraphicFramePr>
          <p:cNvPr id="6" name="P_3_BD#83078953e?colgroup=4,12,18&amp;vcp=1&amp;pid=06bc29566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027789"/>
              </p:ext>
            </p:extLst>
          </p:nvPr>
        </p:nvGraphicFramePr>
        <p:xfrm>
          <a:off x="393192" y="1313371"/>
          <a:ext cx="11365992" cy="4842129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思想方法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适用情境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分析思路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9832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极限思路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题目中出现“最大”“最小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”“刚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好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”等词语时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一般都隐含着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临界问题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把物理问题（或过程）推向极端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从而使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临界现象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（或状态）暴露出来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达到快速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求解的目的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9832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假设推理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物理过程中没有明显出现临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界问题的线索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但在变化过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程中可能出现临界状态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一般先假设出某种临界状态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再分析物体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的受力情况及运动情况是否与题设相符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然后根据实际情况进行处理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9832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数学方法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利用临界值或临界条件作为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求解问题的思维起点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在解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决实际问题时经常用到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将物理过程转化为数学表达式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通过求解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数学表达式的极值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分析得出临界条件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d9b21193f?vcp=1&amp;pid=06bc29566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d9b21193f?vcp=1&amp;pid=06bc29566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d9b21193f?vcp=1&amp;pid=06bc29566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3_BD#d9b21193f?vcp=1&amp;pid=06bc29566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弹力维系下的临界与极值问题</a:t>
            </a:r>
            <a:endParaRPr lang="en-US" altLang="zh-CN" sz="2600" dirty="0"/>
          </a:p>
        </p:txBody>
      </p:sp>
      <p:pic>
        <p:nvPicPr>
          <p:cNvPr id="6" name="QO_4_BD.1_1#69c728c0c?htil=1&amp;vcp=1&amp;pid=d9b21193f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42242" y="1010921"/>
            <a:ext cx="2880360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O_4_BD.1_2#69c728c0c?htil=1&amp;vcp=1&amp;pid=d9b21193f&amp;color=0,0,0&amp;vtp=1&amp;bbb=1&amp;hb=1&amp;hs=1"/>
              <p:cNvSpPr/>
              <p:nvPr/>
            </p:nvSpPr>
            <p:spPr>
              <a:xfrm>
                <a:off x="393192" y="965200"/>
                <a:ext cx="8385048" cy="21033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（2026·湖南长沙雅礼中学检测）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现用卡车运输质量为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的匀质圆筒状工件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（卡车向右运动），为使工件保持固定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其置于两光滑斜面之间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，如图所示.两斜面Ⅰ、Ⅱ固定在车上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，倾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角分别为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O_4_BD.1_2#69c728c0c?htil=1&amp;vcp=1&amp;pid=d9b21193f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8385048" cy="2103374"/>
              </a:xfrm>
              <a:prstGeom prst="rect">
                <a:avLst/>
              </a:prstGeom>
              <a:blipFill>
                <a:blip r:embed="rId5"/>
                <a:stretch>
                  <a:fillRect l="-2255" r="-1236" b="-89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QO_5_BD.2_1#181f4bc9d?vcp=1&amp;pid=69c728c0c&amp;color=0,0,0&amp;vtp=1&amp;bbb=1&amp;hs=1"/>
          <p:cNvSpPr/>
          <p:nvPr/>
        </p:nvSpPr>
        <p:spPr>
          <a:xfrm>
            <a:off x="393192" y="3072193"/>
            <a:ext cx="1140256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（1）若卡车做匀速直线运动，求斜面Ⅰ、Ⅱ对工件的作用力大小.</a:t>
            </a:r>
            <a:endParaRPr lang="en-US" altLang="zh-CN" sz="2400" dirty="0"/>
          </a:p>
        </p:txBody>
      </p:sp>
      <p:pic>
        <p:nvPicPr>
          <p:cNvPr id="9" name="QO_5_AS.3_1#181f4bc9d?htil=2&amp;vcp=1&amp;pid=69c728c0c&amp;color=0,0,0&amp;tib=255,255,255&amp;vtp=1&amp;hs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1951" y="3664013"/>
            <a:ext cx="2980944" cy="271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QO_5_AS.3_2#181f4bc9d?htil=2&amp;vcp=1&amp;pid=69c728c0c&amp;color=0,0,0&amp;vtp=1&amp;bbb=1&amp;hb=1"/>
              <p:cNvSpPr/>
              <p:nvPr/>
            </p:nvSpPr>
            <p:spPr>
              <a:xfrm>
                <a:off x="393192" y="3618293"/>
                <a:ext cx="8284464" cy="276917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卡车做匀速直线运动，工件受力平衡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，受力分析如图甲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水平方向有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竖直方向有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0" name="QO_5_AS.3_2#181f4bc9d?htil=2&amp;vcp=1&amp;pid=69c728c0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18293"/>
                <a:ext cx="8284464" cy="2769172"/>
              </a:xfrm>
              <a:prstGeom prst="rect">
                <a:avLst/>
              </a:prstGeom>
              <a:blipFill>
                <a:blip r:embed="rId7"/>
                <a:stretch>
                  <a:fillRect l="-2281" r="-2208" b="-3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4_1#2fadb5470?vcp=1&amp;pid=69c728c0c&amp;color=0,0,0&amp;vtp=1&amp;bt=1&amp;bbb=1"/>
              <p:cNvSpPr/>
              <p:nvPr/>
            </p:nvSpPr>
            <p:spPr>
              <a:xfrm>
                <a:off x="393192" y="552354"/>
                <a:ext cx="11402568" cy="6217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0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（2）若卡车启动时的加速度为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，求斜面Ⅱ对工件的作用力大小.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4_1#2fadb5470?vcp=1&amp;pid=69c728c0c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52354"/>
                <a:ext cx="11402568" cy="621729"/>
              </a:xfrm>
              <a:prstGeom prst="rect">
                <a:avLst/>
              </a:prstGeom>
              <a:blipFill>
                <a:blip r:embed="rId3"/>
                <a:stretch>
                  <a:fillRect l="-1658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5_1#2fadb5470?vcp=1&amp;pid=69c728c0c&amp;color=0,0,0&amp;vtp=1&amp;bbb=1"/>
              <p:cNvSpPr/>
              <p:nvPr/>
            </p:nvSpPr>
            <p:spPr>
              <a:xfrm>
                <a:off x="393192" y="1175988"/>
                <a:ext cx="11402568" cy="6229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若卡车启动时的加速度为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，对工件受力分析如图乙所示.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5_1#2fadb5470?vcp=1&amp;pid=69c728c0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5988"/>
                <a:ext cx="11402568" cy="622935"/>
              </a:xfrm>
              <a:prstGeom prst="rect">
                <a:avLst/>
              </a:prstGeom>
              <a:blipFill>
                <a:blip r:embed="rId4"/>
                <a:stretch>
                  <a:fillRect l="-1658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O_5_AS.5_2#2fadb5470?vcp=1&amp;pid=69c728c0c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01184" y="1930304"/>
            <a:ext cx="2386584" cy="238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5_3#2fadb5470?vcp=1&amp;pid=69c728c0c&amp;color=0,0,0&amp;vtp=1&amp;bbb=1"/>
              <p:cNvSpPr/>
              <p:nvPr/>
            </p:nvSpPr>
            <p:spPr>
              <a:xfrm>
                <a:off x="393192" y="4444905"/>
                <a:ext cx="11402568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水平方向有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竖直方向有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5_3#2fadb5470?vcp=1&amp;pid=69c728c0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444905"/>
                <a:ext cx="11402568" cy="1676400"/>
              </a:xfrm>
              <a:prstGeom prst="rect">
                <a:avLst/>
              </a:prstGeom>
              <a:blipFill>
                <a:blip r:embed="rId6"/>
                <a:stretch>
                  <a:fillRect l="-1658" b="-65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6_1#b58458b90?vcp=1&amp;pid=69c728c0c&amp;color=0,0,0&amp;vtp=1&amp;bt=1&amp;bbb=1"/>
          <p:cNvSpPr/>
          <p:nvPr/>
        </p:nvSpPr>
        <p:spPr>
          <a:xfrm>
            <a:off x="393192" y="1225359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（3）若要保证行车安全，求汽车启动、刹车的加速度的范围.</a:t>
            </a:r>
            <a:endParaRPr lang="en-US" altLang="zh-CN" sz="2400" dirty="0"/>
          </a:p>
        </p:txBody>
      </p:sp>
      <p:pic>
        <p:nvPicPr>
          <p:cNvPr id="3" name="QO_5_AS.7_1#b58458b90?htil=3&amp;vcp=1&amp;pid=69c728c0c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17776" y="1829180"/>
            <a:ext cx="2350008" cy="241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O_5_AS.7_2#b58458b90?htil=3&amp;vcp=1&amp;pid=69c728c0c&amp;color=0,0,0&amp;vtp=1&amp;bbb=1&amp;hb=1&amp;hs=1"/>
          <p:cNvSpPr/>
          <p:nvPr/>
        </p:nvSpPr>
        <p:spPr>
          <a:xfrm>
            <a:off x="393192" y="1783460"/>
            <a:ext cx="8924544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情境一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汽车启动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由于汽车加速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，工件恰好要沿斜面Ⅰ向上滑动时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，启动加速度达到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最大值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（斜面Ⅱ对工件的弹力为0时，加速度最大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），对工件受力分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析如图丙所示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7_3#b58458b90?htil=3&amp;vcp=1&amp;pid=69c728c0c&amp;color=0,0,0&amp;vtp=1&amp;bbb=1&amp;hb=1&amp;hs=1"/>
              <p:cNvSpPr/>
              <p:nvPr/>
            </p:nvSpPr>
            <p:spPr>
              <a:xfrm>
                <a:off x="393192" y="3977894"/>
                <a:ext cx="8924544" cy="48831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根据牛顿第二定律可得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7_3#b58458b90?htil=3&amp;vcp=1&amp;pid=69c728c0c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77894"/>
                <a:ext cx="8924544" cy="488315"/>
              </a:xfrm>
              <a:prstGeom prst="rect">
                <a:avLst/>
              </a:prstGeom>
              <a:blipFill>
                <a:blip r:embed="rId4"/>
                <a:stretch>
                  <a:fillRect l="-2117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5_AS.7_3#b58458b90?htil=3&amp;vcp=1&amp;pid=69c728c0c&amp;color=0,0,0&amp;vtp=1&amp;bbb=1&amp;hb=1&amp;hs=1">
                <a:extLst>
                  <a:ext uri="{FF2B5EF4-FFF2-40B4-BE49-F238E27FC236}">
                    <a16:creationId xmlns:a16="http://schemas.microsoft.com/office/drawing/2014/main" id="{C8941112-6454-A4AD-170D-900BD03AC3BB}"/>
                  </a:ext>
                </a:extLst>
              </p:cNvPr>
              <p:cNvSpPr/>
              <p:nvPr/>
            </p:nvSpPr>
            <p:spPr>
              <a:xfrm>
                <a:off x="395996" y="4466209"/>
                <a:ext cx="11400008" cy="1126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.即汽车启动时加速度应该小于等于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，加速度方向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5_AS.7_3#b58458b90?htil=3&amp;vcp=1&amp;pid=69c728c0c&amp;color=0,0,0&amp;vtp=1&amp;bbb=1&amp;hb=1&amp;hs=1">
                <a:extLst>
                  <a:ext uri="{FF2B5EF4-FFF2-40B4-BE49-F238E27FC236}">
                    <a16:creationId xmlns:a16="http://schemas.microsoft.com/office/drawing/2014/main" id="{C8941112-6454-A4AD-170D-900BD03AC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466209"/>
                <a:ext cx="11400008" cy="1126300"/>
              </a:xfrm>
              <a:prstGeom prst="rect">
                <a:avLst/>
              </a:prstGeom>
              <a:blipFill>
                <a:blip r:embed="rId5"/>
                <a:stretch>
                  <a:fillRect l="-1658" b="-1630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5_AS.7_4#b58458b90?htil=4&amp;vcp=1&amp;pid=69c728c0c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60626" y="1573879"/>
            <a:ext cx="2350008" cy="241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O_5_AS.7_5#b58458b90?htil=4&amp;vcp=1&amp;pid=69c728c0c&amp;color=0,0,0&amp;vtp=1&amp;bt=1&amp;bbb=1&amp;hb=1&amp;hs=1"/>
          <p:cNvSpPr/>
          <p:nvPr/>
        </p:nvSpPr>
        <p:spPr>
          <a:xfrm>
            <a:off x="393192" y="1528159"/>
            <a:ext cx="8924544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情境二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汽车刹车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由于汽车减速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，工件恰好要沿斜面Ⅱ向上滑动时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，刹车加速度达到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最大值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（斜面Ⅰ对工件的弹力为0时，加速度最大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），对工件受力分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析如图丁所示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AS.7_6#b58458b90?htil=4&amp;vcp=1&amp;pid=69c728c0c&amp;color=0,0,0&amp;vtp=1&amp;bbb=1&amp;hb=1&amp;hs=1"/>
              <p:cNvSpPr/>
              <p:nvPr/>
            </p:nvSpPr>
            <p:spPr>
              <a:xfrm>
                <a:off x="393192" y="3723798"/>
                <a:ext cx="8924544" cy="48831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根据牛顿第二定律可得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AS.7_6#b58458b90?htil=4&amp;vcp=1&amp;pid=69c728c0c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23798"/>
                <a:ext cx="8924544" cy="488315"/>
              </a:xfrm>
              <a:prstGeom prst="rect">
                <a:avLst/>
              </a:prstGeom>
              <a:blipFill>
                <a:blip r:embed="rId4"/>
                <a:stretch>
                  <a:fillRect l="-2117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7_6#b58458b90?htil=4&amp;vcp=1&amp;pid=69c728c0c&amp;color=0,0,0&amp;vtp=1&amp;bbb=1&amp;hb=1&amp;hs=1">
                <a:extLst>
                  <a:ext uri="{FF2B5EF4-FFF2-40B4-BE49-F238E27FC236}">
                    <a16:creationId xmlns:a16="http://schemas.microsoft.com/office/drawing/2014/main" id="{10E87C72-BB5A-AEAA-427D-C8BACDDDF79B}"/>
                  </a:ext>
                </a:extLst>
              </p:cNvPr>
              <p:cNvSpPr/>
              <p:nvPr/>
            </p:nvSpPr>
            <p:spPr>
              <a:xfrm>
                <a:off x="395996" y="4212113"/>
                <a:ext cx="11400008" cy="1088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.即汽车刹车时加速度应该小于等于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向向左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7_6#b58458b90?htil=4&amp;vcp=1&amp;pid=69c728c0c&amp;color=0,0,0&amp;vtp=1&amp;bbb=1&amp;hb=1&amp;hs=1">
                <a:extLst>
                  <a:ext uri="{FF2B5EF4-FFF2-40B4-BE49-F238E27FC236}">
                    <a16:creationId xmlns:a16="http://schemas.microsoft.com/office/drawing/2014/main" id="{10E87C72-BB5A-AEAA-427D-C8BACDDDF7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212113"/>
                <a:ext cx="11400008" cy="1088200"/>
              </a:xfrm>
              <a:prstGeom prst="rect">
                <a:avLst/>
              </a:prstGeom>
              <a:blipFill>
                <a:blip r:embed="rId5"/>
                <a:stretch>
                  <a:fillRect l="-1658" b="-168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8_1#635945300?vcp=1&amp;pid=d9b21193f&amp;color=0,0,0&amp;vtp=1&amp;bt=1&amp;bbb=1&amp;hb=1"/>
              <p:cNvSpPr/>
              <p:nvPr/>
            </p:nvSpPr>
            <p:spPr>
              <a:xfrm>
                <a:off x="393192" y="1841754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如图所示，细线的一端固定于倾角为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的光滑楔形滑块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的顶端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的另一端拴一质量为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的小球.当滑块至少以多大的加速度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向左运动时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，小球对滑块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的压力等于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0?当滑块以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的加速度向左运动时，线中拉力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为多少？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8_1#635945300?vcp=1&amp;pid=d9b21193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41754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r="-749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8_2#635945300?vcp=1&amp;pid=d9b21193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73752" y="3562350"/>
            <a:ext cx="2450592" cy="145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AN.9_1#635945300?htil=5&amp;vcp=1&amp;pid=d9b21193f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92100" y="647953"/>
            <a:ext cx="4023360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AN.9_2#635945300?htil=5&amp;vcp=1&amp;pid=d9b21193f&amp;color=0,0,0&amp;vtp=1&amp;bt=1&amp;bbb=1&amp;hb=1&amp;hs=1"/>
              <p:cNvSpPr/>
              <p:nvPr/>
            </p:nvSpPr>
            <p:spPr>
              <a:xfrm>
                <a:off x="393192" y="602233"/>
                <a:ext cx="7251192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假设滑块具有向左的加速度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，小球受重力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、绳的拉力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和斜面的支持力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作用，如图甲所示.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AN.9_2#635945300?htil=5&amp;vcp=1&amp;pid=d9b21193f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02233"/>
                <a:ext cx="7251192" cy="1037400"/>
              </a:xfrm>
              <a:prstGeom prst="rect">
                <a:avLst/>
              </a:prstGeom>
              <a:blipFill>
                <a:blip r:embed="rId4"/>
                <a:stretch>
                  <a:fillRect l="-2607" r="-2103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AN.9_3#635945300?htil=5&amp;vcp=1&amp;pid=d9b21193f&amp;color=0,0,0&amp;vtp=1&amp;bbb=1&amp;hb=1&amp;hs=1"/>
              <p:cNvSpPr/>
              <p:nvPr/>
            </p:nvSpPr>
            <p:spPr>
              <a:xfrm>
                <a:off x="393192" y="1648460"/>
                <a:ext cx="7251192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由牛顿第二定律得水平方向有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,竖直方向有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AN.9_3#635945300?htil=5&amp;vcp=1&amp;pid=d9b21193f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8460"/>
                <a:ext cx="7251192" cy="1037400"/>
              </a:xfrm>
              <a:prstGeom prst="rect">
                <a:avLst/>
              </a:prstGeom>
              <a:blipFill>
                <a:blip r:embed="rId5"/>
                <a:stretch>
                  <a:fillRect l="-2607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4_AN.9_3#635945300?htil=5&amp;vcp=1&amp;pid=d9b21193f&amp;color=0,0,0&amp;vtp=1&amp;bbb=1&amp;hb=1&amp;hs=1">
                <a:extLst>
                  <a:ext uri="{FF2B5EF4-FFF2-40B4-BE49-F238E27FC236}">
                    <a16:creationId xmlns:a16="http://schemas.microsoft.com/office/drawing/2014/main" id="{36DE39BD-1FDA-BD8A-4F1D-2C80B505806B}"/>
                  </a:ext>
                </a:extLst>
              </p:cNvPr>
              <p:cNvSpPr/>
              <p:nvPr/>
            </p:nvSpPr>
            <p:spPr>
              <a:xfrm>
                <a:off x="393192" y="2687129"/>
                <a:ext cx="11400008" cy="3390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由上述两式解得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𝟒𝟓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𝟒𝟓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由此两式可看出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，球所受支持力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减小，绳的拉力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，此时小球虽与斜面有接触但无压力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，处于临界状态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绳的拉力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𝟒𝟓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.所以滑块至少以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向左运动时，小球对滑块的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压力等于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0.</a:t>
                </a:r>
                <a:endParaRPr lang="en-US" altLang="zh-CN" sz="2400" dirty="0"/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5" name="QO_4_AN.9_3#635945300?htil=5&amp;vcp=1&amp;pid=d9b21193f&amp;color=0,0,0&amp;vtp=1&amp;bbb=1&amp;hb=1&amp;hs=1">
                <a:extLst>
                  <a:ext uri="{FF2B5EF4-FFF2-40B4-BE49-F238E27FC236}">
                    <a16:creationId xmlns:a16="http://schemas.microsoft.com/office/drawing/2014/main" id="{36DE39BD-1FDA-BD8A-4F1D-2C80B5058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87129"/>
                <a:ext cx="11400008" cy="3390900"/>
              </a:xfrm>
              <a:prstGeom prst="rect">
                <a:avLst/>
              </a:prstGeom>
              <a:blipFill>
                <a:blip r:embed="rId6"/>
                <a:stretch>
                  <a:fillRect l="-1658" r="-749" b="-34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N.9_3#635945300?htil=5&amp;vcp=1&amp;pid=d9b21193f&amp;color=0,0,0&amp;vtp=1&amp;bbb=1&amp;hb=1&amp;hs=1">
                <a:extLst>
                  <a:ext uri="{FF2B5EF4-FFF2-40B4-BE49-F238E27FC236}">
                    <a16:creationId xmlns:a16="http://schemas.microsoft.com/office/drawing/2014/main" id="{AEA9DE7A-B558-BE76-4596-DEE03967FA69}"/>
                  </a:ext>
                </a:extLst>
              </p:cNvPr>
              <p:cNvSpPr/>
              <p:nvPr/>
            </p:nvSpPr>
            <p:spPr>
              <a:xfrm>
                <a:off x="393192" y="1773016"/>
                <a:ext cx="11400008" cy="22250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当滑块加速度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时，则小球将“飘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”离斜面而只受两个力作用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如图乙所示，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此时细线与水平方向间的夹角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.由牛顿第二定律得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e>
                    </m:rad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N.9_3#635945300?htil=5&amp;vcp=1&amp;pid=d9b21193f&amp;color=0,0,0&amp;vtp=1&amp;bbb=1&amp;hb=1&amp;hs=1">
                <a:extLst>
                  <a:ext uri="{FF2B5EF4-FFF2-40B4-BE49-F238E27FC236}">
                    <a16:creationId xmlns:a16="http://schemas.microsoft.com/office/drawing/2014/main" id="{AEA9DE7A-B558-BE76-4596-DEE03967FA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3016"/>
                <a:ext cx="11400008" cy="2225040"/>
              </a:xfrm>
              <a:prstGeom prst="rect">
                <a:avLst/>
              </a:prstGeom>
              <a:blipFill>
                <a:blip r:embed="rId2"/>
                <a:stretch>
                  <a:fillRect l="-1658" r="-535" b="-79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EX.10_1#635945300?vcp=1&amp;pid=d9b21193f&amp;color=0,0,0&amp;vtp=1&amp;bt=1&amp;bbb=1">
                <a:extLst>
                  <a:ext uri="{FF2B5EF4-FFF2-40B4-BE49-F238E27FC236}">
                    <a16:creationId xmlns:a16="http://schemas.microsoft.com/office/drawing/2014/main" id="{6551B695-AD1D-94D2-1869-24D962D1A7AF}"/>
                  </a:ext>
                </a:extLst>
              </p:cNvPr>
              <p:cNvSpPr/>
              <p:nvPr/>
            </p:nvSpPr>
            <p:spPr>
              <a:xfrm>
                <a:off x="393192" y="4005992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易错分析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时，细线与水平方向的夹角变小，不能将题目中原有角度代入计算.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EX.10_1#635945300?vcp=1&amp;pid=d9b21193f&amp;color=0,0,0&amp;vtp=1&amp;bt=1&amp;bbb=1">
                <a:extLst>
                  <a:ext uri="{FF2B5EF4-FFF2-40B4-BE49-F238E27FC236}">
                    <a16:creationId xmlns:a16="http://schemas.microsoft.com/office/drawing/2014/main" id="{6551B695-AD1D-94D2-1869-24D962D1A7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05992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296346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98a8f8bc9?vcp=1&amp;pid=06bc29566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98a8f8bc9?vcp=1&amp;pid=06bc29566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98a8f8bc9?vcp=1&amp;pid=06bc29566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5" name="C_3_BD#98a8f8bc9?vcp=1&amp;pid=06bc29566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摩擦力维系下的临界与极值问题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1_1#48fb77808?vcp=1&amp;pid=98a8f8bc9&amp;color=0,0,0&amp;vtp=1&amp;bbb=1&amp;hb=1"/>
              <p:cNvSpPr/>
              <p:nvPr/>
            </p:nvSpPr>
            <p:spPr>
              <a:xfrm>
                <a:off x="393192" y="965200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（经典·江苏高考）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两物块的质量分别为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静止叠放在水平地面上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与地面间的动摩擦因数为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最大静摩擦力等于滑动摩擦力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施加一水平拉力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，下列说法正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1_1#48fb77808?vcp=1&amp;pid=98a8f8bc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11402568" cy="2150999"/>
              </a:xfrm>
              <a:prstGeom prst="rect">
                <a:avLst/>
              </a:prstGeom>
              <a:blipFill>
                <a:blip r:embed="rId4"/>
                <a:stretch>
                  <a:fillRect l="-1658" r="-963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QC_4_AN.12_1#48fb77808.bracket?vcp=1&amp;pid=98a8f8bc9&amp;color=0,0,0&amp;vpa=1&amp;vtp=1&amp;bbb=1"/>
          <p:cNvSpPr/>
          <p:nvPr/>
        </p:nvSpPr>
        <p:spPr>
          <a:xfrm>
            <a:off x="1565561" y="2630170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8" name="QC_4_BD.11_2#48fb77808?htil=6&amp;vcp=1&amp;pid=98a8f8bc9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80421" y="3166046"/>
            <a:ext cx="2642616" cy="103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QC_4_BD.11_3#48fb77808.choices?htil=6&amp;vcp=1&amp;pid=98a8f8bc9&amp;color=0,0,0&amp;vtp=1&amp;bbb=1"/>
              <p:cNvSpPr/>
              <p:nvPr/>
            </p:nvSpPr>
            <p:spPr>
              <a:xfrm>
                <a:off x="393192" y="3120326"/>
                <a:ext cx="8622792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都相对于水平地面静止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&gt;3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发生相对滑动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.无论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为何值，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的加速度不会超过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9" name="QC_4_BD.11_3#48fb77808.choices?htil=6&amp;vcp=1&amp;pid=98a8f8bc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20326"/>
                <a:ext cx="8622792" cy="2235200"/>
              </a:xfrm>
              <a:prstGeom prst="rect">
                <a:avLst/>
              </a:prstGeom>
              <a:blipFill>
                <a:blip r:embed="rId6"/>
                <a:stretch>
                  <a:fillRect l="-2192" b="-46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3_1#48fb77808?vcp=1&amp;pid=98a8f8bc9&amp;color=0,0,0&amp;vtp=1&amp;bt=1&amp;bbb=1&amp;hb=1"/>
              <p:cNvSpPr/>
              <p:nvPr/>
            </p:nvSpPr>
            <p:spPr>
              <a:xfrm>
                <a:off x="393192" y="504000"/>
                <a:ext cx="11402568" cy="57895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刚要发生相对滑动时，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间的静摩擦力达到最大，即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.对</a:t>
                </a:r>
              </a:p>
              <a:p>
                <a:pPr latinLnBrk="1">
                  <a:lnSpc>
                    <a:spcPts val="5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.对整体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</a:t>
                </a:r>
              </a:p>
              <a:p>
                <a:pPr latinLnBrk="1">
                  <a:lnSpc>
                    <a:spcPts val="5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牛顿第二定律得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.可知当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发生相对滑动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，C正确；对整体分析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，由于整体受到地面的最大静摩擦力</a:t>
                </a:r>
              </a:p>
              <a:p>
                <a:pPr latinLnBrk="1">
                  <a:lnSpc>
                    <a:spcPts val="59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相对地面静止，A错误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；当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保持相对静止，对整体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，B正确；设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的最大加速度为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5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的加速度不会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3_1#48fb77808?vcp=1&amp;pid=98a8f8bc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789549"/>
              </a:xfrm>
              <a:prstGeom prst="rect">
                <a:avLst/>
              </a:prstGeom>
              <a:blipFill>
                <a:blip r:embed="rId3"/>
                <a:stretch>
                  <a:fillRect l="-1658" r="-1390" b="-18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4_1#ec6419fbd?vcp=1&amp;pid=98a8f8bc9&amp;color=0,0,0&amp;vtp=1&amp;bt=1&amp;bbb=1&amp;hb=1"/>
              <p:cNvSpPr/>
              <p:nvPr/>
            </p:nvSpPr>
            <p:spPr>
              <a:xfrm>
                <a:off x="393192" y="504000"/>
                <a:ext cx="11402568" cy="201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放在木板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之间的动摩擦因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与地面之间的动摩擦因数为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.若将水平力作用在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刚好要相对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;若将水平力作用在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刚好要相对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滑动，此时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.若最大静摩擦力等于滑动摩擦力，则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的比为(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4_1#ec6419fbd?vcp=1&amp;pid=98a8f8bc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2017649"/>
              </a:xfrm>
              <a:prstGeom prst="rect">
                <a:avLst/>
              </a:prstGeom>
              <a:blipFill>
                <a:blip r:embed="rId3"/>
                <a:stretch>
                  <a:fillRect l="-1658" b="-90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5_1#ec6419fbd.bracket?vcp=1&amp;pid=98a8f8bc9&amp;color=0,0,0&amp;vpa=2&amp;vtp=1"/>
          <p:cNvSpPr/>
          <p:nvPr/>
        </p:nvSpPr>
        <p:spPr>
          <a:xfrm>
            <a:off x="8651272" y="2063052"/>
            <a:ext cx="423863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14_2#ec6419fbd?vcp=1&amp;pid=98a8f8bc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45736" y="2651759"/>
            <a:ext cx="2697480" cy="74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4_3#ec6419fbd.choices?vcp=1&amp;pid=98a8f8bc9&amp;color=0,0,0&amp;vtp=1&amp;bbb=1"/>
              <p:cNvSpPr/>
              <p:nvPr/>
            </p:nvSpPr>
            <p:spPr>
              <a:xfrm>
                <a:off x="393192" y="3540759"/>
                <a:ext cx="11402568" cy="44875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0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1:1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1:2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1:3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3:4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4_3#ec6419fbd.choices?vcp=1&amp;pid=98a8f8bc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40759"/>
                <a:ext cx="11402568" cy="448755"/>
              </a:xfrm>
              <a:prstGeom prst="rect">
                <a:avLst/>
              </a:prstGeom>
              <a:blipFill>
                <a:blip r:embed="rId5"/>
                <a:stretch>
                  <a:fillRect l="-1658" t="-1370" b="-438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16_1#ec6419fbd?vcp=1&amp;pid=98a8f8bc9&amp;color=0,0,0&amp;vtp=1&amp;bbb=1&amp;hb=1"/>
              <p:cNvSpPr/>
              <p:nvPr/>
            </p:nvSpPr>
            <p:spPr>
              <a:xfrm>
                <a:off x="393192" y="3994911"/>
                <a:ext cx="11402568" cy="2012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当水平外力作用在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上时，使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刚好要相对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滑动，此时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加速度相等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，隔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离对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进行分析，则有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，当水平外力作用在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上时，使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刚好要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滑动，此时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加速度相等，隔离对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进行分析，则有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</a:p>
              <a:p>
                <a:pPr latinLnBrk="1">
                  <a:lnSpc>
                    <a:spcPts val="39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16_1#ec6419fbd?vcp=1&amp;pid=98a8f8bc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94911"/>
                <a:ext cx="11402568" cy="2012125"/>
              </a:xfrm>
              <a:prstGeom prst="rect">
                <a:avLst/>
              </a:prstGeom>
              <a:blipFill>
                <a:blip r:embed="rId6"/>
                <a:stretch>
                  <a:fillRect l="-1658" r="-1337" b="-909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f7f252684?vcp=1&amp;pid=06bc29566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f7f252684?vcp=1&amp;pid=06bc29566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f7f252684?vcp=1&amp;pid=06bc29566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5" name="C_3_BD#f7f252684?vcp=1&amp;pid=06bc29566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弹簧端物体分离的动态分析</a:t>
            </a:r>
            <a:endParaRPr lang="en-US" altLang="zh-CN" sz="2600" dirty="0"/>
          </a:p>
        </p:txBody>
      </p:sp>
      <p:sp>
        <p:nvSpPr>
          <p:cNvPr id="6" name="P_4_BD#5036c865b?vcp=1&amp;pid=f7f252684&amp;color=0,0,0&amp;vtp=1&amp;bbb=1"/>
          <p:cNvSpPr/>
          <p:nvPr/>
        </p:nvSpPr>
        <p:spPr>
          <a:xfrm>
            <a:off x="393192" y="965200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弹簧端接触物块发生分离的条件：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1）分离瞬间两物块之间的弹力为0；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2）分离瞬间两物块的加速度相等.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7_1#01cde5f03?vcp=1&amp;pid=f7f252684&amp;color=0,0,0&amp;vtp=1&amp;bt=1&amp;bbb=1&amp;hb=1"/>
              <p:cNvSpPr/>
              <p:nvPr/>
            </p:nvSpPr>
            <p:spPr>
              <a:xfrm>
                <a:off x="393192" y="819658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[2026⋅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华中师大一附中检测］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（多选题）如图甲所示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，一轻质弹簧的下端固定在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，上端叠放两个质量均为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物体与弹簧连接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，弹簧的劲度系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，初始时两物体处于静止状态.现用竖直向上的拉力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作用在物体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上，使物体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开始向上做加速度为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的匀加速运动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，测得两个物体的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图像如图乙所示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zh-CN" altLang="en-US" sz="2400" b="0" i="0">
                  <a:solidFill>
                    <a:srgbClr val="000000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7_1#01cde5f03?vcp=1&amp;pid=f7f2526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19658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283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8_1#01cde5f03.bracket?vcp=1&amp;pid=f7f252684&amp;color=0,0,0&amp;vpa=3&amp;vtp=1&amp;bbb=1"/>
          <p:cNvSpPr/>
          <p:nvPr/>
        </p:nvSpPr>
        <p:spPr>
          <a:xfrm>
            <a:off x="3534505" y="3043429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ABD</a:t>
            </a:r>
            <a:endParaRPr lang="en-US" altLang="zh-CN" sz="2400" dirty="0"/>
          </a:p>
        </p:txBody>
      </p:sp>
      <p:pic>
        <p:nvPicPr>
          <p:cNvPr id="4" name="QC_4_BD.17_2#01cde5f03?htil=7&amp;vcp=1&amp;pid=f7f25268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77385" y="3651757"/>
            <a:ext cx="3108960" cy="238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7_3#01cde5f03.choices?htil=7&amp;vcp=1&amp;pid=f7f252684&amp;color=0,0,0&amp;vtp=1&amp;bbb=1"/>
              <p:cNvSpPr/>
              <p:nvPr/>
            </p:nvSpPr>
            <p:spPr>
              <a:xfrm>
                <a:off x="393192" y="3505453"/>
                <a:ext cx="815644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A.施加外力前，弹簧的形变量为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.施加外力的瞬间，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间的弹力大小为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.弹簧恢复到原长时，物体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的速度达到最大值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时刻分离，此时弹簧弹力恰好为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7_3#01cde5f03.choices?htil=7&amp;vcp=1&amp;pid=f7f25268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05453"/>
                <a:ext cx="8156448" cy="2158302"/>
              </a:xfrm>
              <a:prstGeom prst="rect">
                <a:avLst/>
              </a:prstGeom>
              <a:blipFill>
                <a:blip r:embed="rId5"/>
                <a:stretch>
                  <a:fillRect l="-2317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9_1#01cde5f03?vcp=1&amp;pid=f7f252684&amp;color=0,0,0&amp;vtp=1&amp;bt=1&amp;bbb=1&amp;hb=1"/>
              <p:cNvSpPr/>
              <p:nvPr/>
            </p:nvSpPr>
            <p:spPr>
              <a:xfrm>
                <a:off x="393192" y="1755902"/>
                <a:ext cx="11402568" cy="33394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施加外力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前，物体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静止，根据平衡条件有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，解得弹簧形变量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，故A正确.施加外力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的瞬间，对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间弹力大小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正确.物体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时刻分离，此时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具有共同的速度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物体，根据牛顿第二定律有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，解得弹簧弹力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，故D正确.当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″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达到最大速度，故C错误.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9_1#01cde5f03?vcp=1&amp;pid=f7f2526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55902"/>
                <a:ext cx="11402568" cy="3339402"/>
              </a:xfrm>
              <a:prstGeom prst="rect">
                <a:avLst/>
              </a:prstGeom>
              <a:blipFill>
                <a:blip r:embed="rId3"/>
                <a:stretch>
                  <a:fillRect l="-1658" r="-1497" b="-510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0_1#cdf073965?vcp=1&amp;pid=f7f252684&amp;color=0,0,0&amp;vtp=1&amp;bt=1&amp;bbb=1&amp;hb=1"/>
              <p:cNvSpPr/>
              <p:nvPr/>
            </p:nvSpPr>
            <p:spPr>
              <a:xfrm>
                <a:off x="393192" y="1002189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（2026·陕西西安铁一中检测）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（多选题）如图甲所示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，轻质弹簧下端固定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在水平面上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，上端叠放着两个物块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，系统刚开始处于静止状态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.现用竖直向上的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作用在物块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上，使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向上做匀加速直线运动，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以系统静止时的位置为坐标原点，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竖直向上为位移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正方向，得到拉力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的变化图像如图乙所示.已知物块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0_1#cdf073965?vcp=1&amp;pid=f7f2526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2189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2995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1_1#cdf073965.bracket?vcp=1&amp;pid=f7f252684&amp;color=0,0,0&amp;vpa=4&amp;vtp=1&amp;bbb=1"/>
          <p:cNvSpPr/>
          <p:nvPr/>
        </p:nvSpPr>
        <p:spPr>
          <a:xfrm>
            <a:off x="8354092" y="3225959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20_2#cdf073965?htil=8&amp;vcp=1&amp;pid=f7f25268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82847" y="3742848"/>
            <a:ext cx="2715768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0_3#cdf073965.choices?htil=8&amp;vcp=1&amp;pid=f7f252684&amp;color=0,0,0&amp;vtp=1&amp;bbb=1"/>
              <p:cNvSpPr/>
              <p:nvPr/>
            </p:nvSpPr>
            <p:spPr>
              <a:xfrm>
                <a:off x="393192" y="3687984"/>
                <a:ext cx="8549640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A.弹簧的劲度系数为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.施加拉力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的瞬间，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之间的弹力大小为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0_3#cdf073965.choices?htil=8&amp;vcp=1&amp;pid=f7f25268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7984"/>
                <a:ext cx="8549640" cy="2158302"/>
              </a:xfrm>
              <a:prstGeom prst="rect">
                <a:avLst/>
              </a:prstGeom>
              <a:blipFill>
                <a:blip r:embed="rId5"/>
                <a:stretch>
                  <a:fillRect l="-2211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2_1#cdf073965?vcp=1&amp;pid=f7f252684&amp;color=0,0,0&amp;vtp=1&amp;bt=1&amp;bbb=1&amp;hb=1"/>
              <p:cNvSpPr/>
              <p:nvPr/>
            </p:nvSpPr>
            <p:spPr>
              <a:xfrm>
                <a:off x="393192" y="1515586"/>
                <a:ext cx="11402568" cy="3856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整体为研究对象，设物块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，静止时弹簧压缩量为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,两物块分离前有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)−(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的变化图像的斜率等于弹簧的劲度系数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，分离后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，B正确，C错误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；施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的瞬间，设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之间的弹力大小为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进行受力分析有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2_1#cdf073965?vcp=1&amp;pid=f7f25268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5586"/>
                <a:ext cx="11402568" cy="3856800"/>
              </a:xfrm>
              <a:prstGeom prst="rect">
                <a:avLst/>
              </a:prstGeom>
              <a:blipFill>
                <a:blip r:embed="rId3"/>
                <a:stretch>
                  <a:fillRect l="-1658" r="-481" b="-47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1356</Words>
  <Application>Microsoft Office PowerPoint</Application>
  <PresentationFormat>宽屏</PresentationFormat>
  <Paragraphs>190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2026-05-25T08:11:23Z</dcterms:created>
  <dcterms:modified xsi:type="dcterms:W3CDTF">2026-05-25T08:13:06Z</dcterms:modified>
  <cp:category/>
  <cp:contentStatus/>
</cp:coreProperties>
</file>