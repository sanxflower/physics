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6" r:id="rId40"/>
    <p:sldId id="298" r:id="rId41"/>
    <p:sldId id="299" r:id="rId42"/>
    <p:sldId id="300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2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0" d="100"/>
        <a:sy n="170" d="100"/>
      </p:scale>
      <p:origin x="0" y="-251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1967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2736a60ac3496b21a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a3c96fc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第15讲 实验：探究加速度与力、质量的关系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a3c96fc93.fixed?vcp=1&amp;pid=76d465d43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运动和力的关系</a:t>
            </a:r>
            <a:endParaRPr lang="en-US" altLang="zh-CN" sz="4800" dirty="0"/>
          </a:p>
        </p:txBody>
      </p:sp>
      <p:sp>
        <p:nvSpPr>
          <p:cNvPr id="3" name="C_2_BD#a3c96fc93.fixed?vcp=1&amp;pid=76d465d43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第15讲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实验：探究加速度与力、质量的关系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1#目录1:a3c96fc93?lid=9e9e8a967&amp;cid=9e9e8a967&amp;vtp=1&amp;bt=1&amp;bbb=1">
            <a:hlinkClick r:id="rId3" action="ppaction://hlinksldjump"/>
          </p:cNvPr>
          <p:cNvSpPr/>
          <p:nvPr/>
        </p:nvSpPr>
        <p:spPr>
          <a:xfrm>
            <a:off x="5577840" y="2587752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高考要求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学业标准·考情分析</a:t>
            </a:r>
            <a:endParaRPr lang="en-US" altLang="zh-CN" sz="3200" dirty="0"/>
          </a:p>
        </p:txBody>
      </p:sp>
      <p:sp>
        <p:nvSpPr>
          <p:cNvPr id="3" name="C_1#目录1:a3c96fc93?lid=fe0080dbc&amp;cid=fe0080dbc&amp;vtp=1&amp;bbb=1">
            <a:hlinkClick r:id="rId4" action="ppaction://hlinksldjump"/>
          </p:cNvPr>
          <p:cNvSpPr/>
          <p:nvPr/>
        </p:nvSpPr>
        <p:spPr>
          <a:xfrm>
            <a:off x="5577840" y="3419856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考点分类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考点透析·典例剖析</a:t>
            </a:r>
            <a:endParaRPr lang="en-US" altLang="zh-CN" sz="3200" dirty="0"/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9e9e8a967?vcp=1&amp;pid=a3c96fc93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graphicFrame>
        <p:nvGraphicFramePr>
          <p:cNvPr id="5" name="P_4_BD#0c87a65a4?colgroup=14,4,16&amp;vcp=1&amp;pid=9e9e8a967&amp;color=0,0,0&amp;vtp=1&amp;bb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182101"/>
              </p:ext>
            </p:extLst>
          </p:nvPr>
        </p:nvGraphicFramePr>
        <p:xfrm>
          <a:off x="393192" y="1181100"/>
          <a:ext cx="11365992" cy="2994533"/>
        </p:xfrm>
        <a:graphic>
          <a:graphicData uri="http://schemas.openxmlformats.org/drawingml/2006/table">
            <a:tbl>
              <a:tblPr/>
              <a:tblGrid>
                <a:gridCol w="4718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633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考点分析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核心素养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知识图解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332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1.实验思路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物理量的测量.（★）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物理观念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latinLnBrk="1" hangingPunct="0">
                        <a:lnSpc>
                          <a:spcPct val="150000"/>
                        </a:lnSpc>
                      </a:pPr>
                      <a:endParaRPr lang="en-US" altLang="zh-CN" sz="900" spc="0" dirty="0"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2.纸带法探究的实验过程.（★★）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实验探究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3.实验误差的分析.（★★）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科学思维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4.实验的创新设计.（★）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科学思维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P_4_BD#0c87a65a4.table_image?tii=1&amp;vcp=1&amp;pid=9e9e8a967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01729" y="1761680"/>
            <a:ext cx="3252957" cy="2412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fe0080dbc?vcp=1&amp;pid=a3c96fc93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pic>
        <p:nvPicPr>
          <p:cNvPr id="3" name="C_4#d56698b50?vcp=1&amp;pid=fe0080dbc&amp;color=0,0,0&amp;tib=255,255,255&amp;vtp=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81100"/>
            <a:ext cx="11320272" cy="457200"/>
          </a:xfrm>
          <a:prstGeom prst="rect">
            <a:avLst/>
          </a:prstGeom>
        </p:spPr>
      </p:pic>
      <p:sp>
        <p:nvSpPr>
          <p:cNvPr id="4" name="C_4_BD#d56698b50?vcp=1&amp;pid=fe0080dbc&amp;color=255,255,255&amp;vtp=1"/>
          <p:cNvSpPr/>
          <p:nvPr/>
        </p:nvSpPr>
        <p:spPr>
          <a:xfrm>
            <a:off x="1225296" y="118110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4_BD#d56698b50?vcp=1&amp;pid=fe0080dbc&amp;color=0,0,0&amp;vtp=1&amp;bbb=1"/>
          <p:cNvSpPr/>
          <p:nvPr/>
        </p:nvSpPr>
        <p:spPr>
          <a:xfrm>
            <a:off x="1837944" y="118110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实验思路与步骤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回归教材</a:t>
            </a:r>
            <a:endParaRPr lang="en-US" altLang="zh-CN" sz="2600" dirty="0"/>
          </a:p>
        </p:txBody>
      </p:sp>
      <p:sp>
        <p:nvSpPr>
          <p:cNvPr id="6" name="P_5#c67d4ddcb?vcp=1&amp;pid=d56698b50&amp;color=0,0,0&amp;vtp=1&amp;bbb=1"/>
          <p:cNvSpPr/>
          <p:nvPr/>
        </p:nvSpPr>
        <p:spPr>
          <a:xfrm>
            <a:off x="393192" y="1778000"/>
            <a:ext cx="11402568" cy="424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7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r>
              <a:rPr lang="en-US" altLang="zh-CN" sz="100" b="1" i="0" kern="0" spc="-9990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#1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P_5_BD#c67d4ddcb?colgroup=13,23&amp;vcp=1&amp;pid=d56698b50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1246752"/>
                  </p:ext>
                </p:extLst>
              </p:nvPr>
            </p:nvGraphicFramePr>
            <p:xfrm>
              <a:off x="393192" y="2342514"/>
              <a:ext cx="11375136" cy="4063873"/>
            </p:xfrm>
            <a:graphic>
              <a:graphicData uri="http://schemas.openxmlformats.org/drawingml/2006/table">
                <a:tbl>
                  <a:tblPr/>
                  <a:tblGrid>
                    <a:gridCol w="4114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2603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5427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实验项目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实验步骤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01650">
                    <a:tc rowSpan="2"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保持小车的质量不变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测量物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体在不同力的作用下的加速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保持小车的质量不变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测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量物体在不同力的作用下的加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①用天平测出重物的质量为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​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并把数值记录下来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66796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②按如图所示将实验器材安装好（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小车上不系绳）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平衡摩擦力</a:t>
                          </a:r>
                          <a:endParaRPr lang="en-US" altLang="zh-CN" sz="1200" dirty="0"/>
                        </a:p>
                        <a:p>
                          <a:pPr marL="0" lvl="0" indent="0" algn="ctr" latinLnBrk="1" hangingPunct="0">
                            <a:lnSpc>
                              <a:spcPts val="18100"/>
                            </a:lnSpc>
                          </a:pPr>
                          <a:r>
                            <a:rPr lang="en-US" altLang="zh-CN" sz="101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___________________________________________________________________________</a:t>
                          </a: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P_5_BD#c67d4ddcb?colgroup=13,23&amp;vcp=1&amp;pid=d56698b50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1246752"/>
                  </p:ext>
                </p:extLst>
              </p:nvPr>
            </p:nvGraphicFramePr>
            <p:xfrm>
              <a:off x="393192" y="2342514"/>
              <a:ext cx="11375136" cy="4063873"/>
            </p:xfrm>
            <a:graphic>
              <a:graphicData uri="http://schemas.openxmlformats.org/drawingml/2006/table">
                <a:tbl>
                  <a:tblPr/>
                  <a:tblGrid>
                    <a:gridCol w="4114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2603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5427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实验项目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实验步骤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01650">
                    <a:tc rowSpan="2"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保持小车的质量不变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测量物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体在不同力的作用下的加速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保持小车的质量不变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测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量物体在不同力的作用下的加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711" t="-98795" r="-168" b="-7506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66796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②按如图所示将实验器材安装好（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小车上不系绳）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平衡摩擦力</a:t>
                          </a:r>
                          <a:endParaRPr lang="en-US" altLang="zh-CN" sz="1200" dirty="0"/>
                        </a:p>
                        <a:p>
                          <a:pPr marL="0" lvl="0" indent="0" algn="ctr" latinLnBrk="1" hangingPunct="0">
                            <a:lnSpc>
                              <a:spcPts val="18100"/>
                            </a:lnSpc>
                          </a:pPr>
                          <a:r>
                            <a:rPr lang="en-US" altLang="zh-CN" sz="101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___________________________________________________________________________</a:t>
                          </a: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P_5_BD#c67d4ddcb.table_image?tii=2&amp;vcp=1&amp;pid=d56698b50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89320" y="4342383"/>
            <a:ext cx="4297680" cy="2029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P_5_BD#c67d4ddcb?colgroup=13,23&amp;vcp=1&amp;pid=d56698b50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7926481"/>
                  </p:ext>
                </p:extLst>
              </p:nvPr>
            </p:nvGraphicFramePr>
            <p:xfrm>
              <a:off x="393192" y="2044637"/>
              <a:ext cx="11375136" cy="3392297"/>
            </p:xfrm>
            <a:graphic>
              <a:graphicData uri="http://schemas.openxmlformats.org/drawingml/2006/table">
                <a:tbl>
                  <a:tblPr/>
                  <a:tblGrid>
                    <a:gridCol w="4114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2603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实验项目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实验步骤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25320">
                    <a:tc rowSpan="2"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保持小车的质量不变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测量物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体在不同力的作用下的加速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保持小车的质量不变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测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量物体在不同力的作用下的加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③将重物通过细绳系在小车上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接通电源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放开小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用纸带记录小车的运动情况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断开电源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取下纸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在纸带上标上序号及此时所挂重物的重力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​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即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344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④保持小车的质量不变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改变所挂重物的质量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重复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步骤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③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多做几次实验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P_5_BD#c67d4ddcb?colgroup=13,23&amp;vcp=1&amp;pid=d56698b50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7926481"/>
                  </p:ext>
                </p:extLst>
              </p:nvPr>
            </p:nvGraphicFramePr>
            <p:xfrm>
              <a:off x="393192" y="2044637"/>
              <a:ext cx="11375136" cy="3392297"/>
            </p:xfrm>
            <a:graphic>
              <a:graphicData uri="http://schemas.openxmlformats.org/drawingml/2006/table">
                <a:tbl>
                  <a:tblPr/>
                  <a:tblGrid>
                    <a:gridCol w="4114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2603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实验项目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实验步骤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25320">
                    <a:tc rowSpan="2"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保持小车的质量不变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测量物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体在不同力的作用下的加速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保持小车的质量不变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测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量物体在不同力的作用下的加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711" t="-25949" r="-168" b="-585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344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④保持小车的质量不变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改变所挂重物的质量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重复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步骤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③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多做几次实验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P_5_BD#c67d4ddcb?colgroup=13,23&amp;vcp=1&amp;pid=d56698b50&amp;color=0,0,0&amp;vtp=1&amp;bt=1&amp;bbb=1">
            <a:extLst>
              <a:ext uri="{FF2B5EF4-FFF2-40B4-BE49-F238E27FC236}">
                <a16:creationId xmlns:a16="http://schemas.microsoft.com/office/drawing/2014/main" id="{EBD226CE-ECD2-8AC3-916B-AEDC39658D8C}"/>
              </a:ext>
            </a:extLst>
          </p:cNvPr>
          <p:cNvSpPr txBox="1"/>
          <p:nvPr/>
        </p:nvSpPr>
        <p:spPr>
          <a:xfrm>
            <a:off x="11152775" y="1419162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P_5_BD#c67d4ddcb?colgroup=9,26&amp;vcp=1&amp;pid=d56698b50&amp;color=0,0,0&amp;mp=1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5806174"/>
                  </p:ext>
                </p:extLst>
              </p:nvPr>
            </p:nvGraphicFramePr>
            <p:xfrm>
              <a:off x="393192" y="1798320"/>
              <a:ext cx="11375136" cy="3884930"/>
            </p:xfrm>
            <a:graphic>
              <a:graphicData uri="http://schemas.openxmlformats.org/drawingml/2006/table">
                <a:tbl>
                  <a:tblPr/>
                  <a:tblGrid>
                    <a:gridCol w="31089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661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实验项目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实验步骤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19097">
                    <a:tc rowSpan="3"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保持物体所受的力不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变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测量不同质量的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物体在该力作用下的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⑤保持重物的质量不变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在小车上加放砝码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并测出小车与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所放砝码的总质量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接通电源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放开小车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用纸带记录小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车的运动情况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断开电源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取下纸带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在纸带上标上序号及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总质量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⑥继续在小车上加放砝码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重复步骤⑤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多做几次实验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74344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⑦在每条纸带上都选取一段比较理想的部分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标明计数点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测量计数点之间的距离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算出每条纸带上加速度的值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P_5_BD#c67d4ddcb?colgroup=9,26&amp;vcp=1&amp;pid=d56698b50&amp;color=0,0,0&amp;mp=1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5806174"/>
                  </p:ext>
                </p:extLst>
              </p:nvPr>
            </p:nvGraphicFramePr>
            <p:xfrm>
              <a:off x="393192" y="1798320"/>
              <a:ext cx="11375136" cy="3884930"/>
            </p:xfrm>
            <a:graphic>
              <a:graphicData uri="http://schemas.openxmlformats.org/drawingml/2006/table">
                <a:tbl>
                  <a:tblPr/>
                  <a:tblGrid>
                    <a:gridCol w="31089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661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实验项目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实验步骤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19097">
                    <a:tc rowSpan="3"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保持物体所受的力不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变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测量不同质量的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物体在该力作用下的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657" t="-26349" r="-147" b="-8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⑥继续在小车上加放砝码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重复步骤⑤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多做几次实验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74344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⑦在每条纸带上都选取一段比较理想的部分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标明计数点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测量计数点之间的距离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算出每条纸带上加速度的值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P_5_BD#c67d4ddcb?colgroup=9,26&amp;vcp=1&amp;pid=d56698b50&amp;color=0,0,0&amp;mp=1&amp;vtp=1&amp;bt=1&amp;bbb=1">
            <a:extLst>
              <a:ext uri="{FF2B5EF4-FFF2-40B4-BE49-F238E27FC236}">
                <a16:creationId xmlns:a16="http://schemas.microsoft.com/office/drawing/2014/main" id="{9BBAC571-DF15-C82E-9E6A-595FDEF983CB}"/>
              </a:ext>
            </a:extLst>
          </p:cNvPr>
          <p:cNvSpPr txBox="1"/>
          <p:nvPr/>
        </p:nvSpPr>
        <p:spPr>
          <a:xfrm>
            <a:off x="11152775" y="1172845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5_BD.1_1#d71a1ce13?vcp=1&amp;pid=d56698b50&amp;color=0,0,0&amp;vtp=1&amp;bt=1&amp;bbb=1&amp;hb=1"/>
          <p:cNvSpPr/>
          <p:nvPr/>
        </p:nvSpPr>
        <p:spPr>
          <a:xfrm>
            <a:off x="393192" y="1877060"/>
            <a:ext cx="11402568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（2026·湖南长沙一中检测）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在探究加速度与力、质量的关系的实验中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，实验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装置如图甲所示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pic>
        <p:nvPicPr>
          <p:cNvPr id="3" name="QO_5_BD.1_2#d71a1ce13?vcp=1&amp;pid=d56698b50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92808" y="3050286"/>
            <a:ext cx="8412480" cy="1929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6_BD.2_1#65a2da3c3?vcp=1&amp;pid=d71a1ce13&amp;color=0,0,0&amp;vtp=1&amp;bt=1&amp;bbb=1"/>
          <p:cNvSpPr/>
          <p:nvPr/>
        </p:nvSpPr>
        <p:spPr>
          <a:xfrm>
            <a:off x="393192" y="1699355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）最适合本实验用于提供拉力的重物是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sp>
        <p:nvSpPr>
          <p:cNvPr id="3" name="QC_6_AN.3_1#65a2da3c3.blank?vcp=1&amp;pid=d71a1ce13&amp;color=0,0,0&amp;vpa=1&amp;vtp=1"/>
          <p:cNvSpPr/>
          <p:nvPr/>
        </p:nvSpPr>
        <p:spPr>
          <a:xfrm>
            <a:off x="6010560" y="1659350"/>
            <a:ext cx="441325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sp>
        <p:nvSpPr>
          <p:cNvPr id="4" name="QC_6_BD.2_2#65a2da3c3.choices?vcp=1&amp;pid=d71a1ce13&amp;color=0,0,0&amp;vtp=1&amp;bbb=1"/>
          <p:cNvSpPr/>
          <p:nvPr/>
        </p:nvSpPr>
        <p:spPr>
          <a:xfrm>
            <a:off x="393192" y="2314035"/>
            <a:ext cx="11402568" cy="128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11500"/>
              </a:lnSpc>
              <a:tabLst>
                <a:tab pos="3410536" algn="l"/>
                <a:tab pos="7303672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</a:t>
            </a:r>
            <a:r>
              <a:rPr lang="en-US" altLang="zh-CN" sz="24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</a:t>
            </a:r>
            <a:r>
              <a:rPr lang="en-US" altLang="zh-CN" sz="64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</a:t>
            </a:r>
            <a:r>
              <a:rPr lang="en-US" altLang="zh-CN" sz="64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    </a:t>
            </a:r>
            <a:endParaRPr lang="en-US" altLang="zh-CN" sz="900" dirty="0">
              <a:latin typeface="SimSun" panose="02010600030101010101" pitchFamily="2" charset="-122"/>
            </a:endParaRPr>
          </a:p>
        </p:txBody>
      </p:sp>
      <p:pic>
        <p:nvPicPr>
          <p:cNvPr id="5" name="QC_6_BD.2_2#65a2da3c3.choice_image?vcp=1&amp;pid=d71a1ce13&amp;color=0,0,0&amp;tib=255,255,255&amp;iip=1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0087" y="2310605"/>
            <a:ext cx="1143000" cy="128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6" name="QC_6_BD.2_2#65a2da3c3.choice_image?vcp=1&amp;pid=d71a1ce13&amp;color=0,0,0&amp;tib=255,255,255&amp;iip=2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88924" y="2321654"/>
            <a:ext cx="1645920" cy="128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7" name="QC_6_BD.2_2#65a2da3c3.choice_image?vcp=1&amp;pid=d71a1ce13&amp;color=0,0,0&amp;tib=255,255,255&amp;iip=3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76394" y="2321654"/>
            <a:ext cx="2057400" cy="128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8" name="QC_6_AS.4_1#65a2da3c3?vcp=1&amp;pid=d71a1ce13&amp;color=0,0,0&amp;vtp=1&amp;bbb=1&amp;hb=1"/>
          <p:cNvSpPr/>
          <p:nvPr/>
        </p:nvSpPr>
        <p:spPr>
          <a:xfrm>
            <a:off x="393192" y="3607529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为使细绳的拉力近似等于小车所受的合外力，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重物的质量需远小于小车的质量，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且重物的质量可以调节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，以此改变小车所受的合外力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，提供拉力的重物是槽码托和槽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码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，C正确.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8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6_BD.5_1#909659e2e?vcp=1&amp;pid=d71a1ce13&amp;color=0,0,0&amp;vtp=1&amp;bt=1&amp;bbb=1"/>
          <p:cNvSpPr/>
          <p:nvPr/>
        </p:nvSpPr>
        <p:spPr>
          <a:xfrm>
            <a:off x="393192" y="502920"/>
            <a:ext cx="11402568" cy="46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1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（2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）该实验过程中操作正确的是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sp>
        <p:nvSpPr>
          <p:cNvPr id="3" name="QC_6_AN.6_1#909659e2e.blank?vcp=1&amp;pid=d71a1ce13&amp;color=0,0,0&amp;vpa=2&amp;vtp=1&amp;bbb=1"/>
          <p:cNvSpPr/>
          <p:nvPr/>
        </p:nvSpPr>
        <p:spPr>
          <a:xfrm>
            <a:off x="4804060" y="460311"/>
            <a:ext cx="865188" cy="46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ABD</a:t>
            </a:r>
            <a:endParaRPr lang="en-US" altLang="zh-CN" sz="2400" dirty="0"/>
          </a:p>
        </p:txBody>
      </p:sp>
      <p:sp>
        <p:nvSpPr>
          <p:cNvPr id="4" name="QC_6_BD.5_2#909659e2e.choices?vcp=1&amp;pid=d71a1ce13&amp;color=0,0,0&amp;vtp=1&amp;bbb=1"/>
          <p:cNvSpPr/>
          <p:nvPr/>
        </p:nvSpPr>
        <p:spPr>
          <a:xfrm>
            <a:off x="393192" y="1030477"/>
            <a:ext cx="11402568" cy="2069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2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A.平衡摩擦力时小车要连接纸带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.改变小车质量时，不需要重新平衡摩擦力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.重物的质量远大于小车的质量</a:t>
            </a:r>
            <a:endParaRPr lang="en-US" altLang="zh-CN" sz="2400" dirty="0"/>
          </a:p>
          <a:p>
            <a:pPr latinLnBrk="1">
              <a:lnSpc>
                <a:spcPts val="41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.调节滑轮高度使细绳与木板平行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6_AS.7_1#909659e2e?vcp=1&amp;pid=d71a1ce13&amp;color=0,0,0&amp;vtp=1&amp;bbb=1&amp;hb=1"/>
              <p:cNvSpPr/>
              <p:nvPr/>
            </p:nvSpPr>
            <p:spPr>
              <a:xfrm>
                <a:off x="393192" y="3147377"/>
                <a:ext cx="11402568" cy="32503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平衡摩擦力时小车要连接纸带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，通过纸带上的点迹判断小车是否做匀速直线运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，确定是否平衡摩擦力，A正确；平衡摩擦力时，根据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可得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，可知改变小车质量时，不需要重新平衡摩擦力，B正确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；根据牛顿第二</a:t>
                </a:r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定律可得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，可得细绳拉力为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𝑴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，为了使细绳拉力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近似等于重物的重力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，则重物的质量应远小于小车的质量，C错误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；为了保证小车运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动过程中细绳拉力恒定不变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，应调节滑轮高度使细绳与木板平行，D正确.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6_AS.7_1#909659e2e?vcp=1&amp;pid=d71a1ce1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47377"/>
                <a:ext cx="11402568" cy="3250375"/>
              </a:xfrm>
              <a:prstGeom prst="rect">
                <a:avLst/>
              </a:prstGeom>
              <a:blipFill>
                <a:blip r:embed="rId3"/>
                <a:stretch>
                  <a:fillRect l="-1658" r="-1604" b="-543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B_6_BD.8_1#62a886743?vcp=1&amp;pid=d71a1ce13&amp;color=0,0,0&amp;vtp=1&amp;bt=1&amp;bbb=1&amp;hb=1"/>
              <p:cNvSpPr/>
              <p:nvPr/>
            </p:nvSpPr>
            <p:spPr>
              <a:xfrm>
                <a:off x="393192" y="1176496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（3）已知打点计时器所用交变电源的频率为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50</m:t>
                    </m:r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Hz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.该同学某次实验得到的纸带如图乙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𝐸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是7个连续的计数点.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相邻两计数点间有四个点未画出，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实验数据如图乙所示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，根据上述信息可得打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点时小车的速度为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，小车在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运动过程中的加速度大小为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.（结果均保留两位有效数字）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" name="QB_6_BD.8_1#62a886743?vcp=1&amp;pid=d71a1ce1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76496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658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QB_6_AN.9_1#62a886743.blank?vcp=1&amp;pid=d71a1ce13&amp;color=0,0,0&amp;vpa=3&amp;vtp=1&amp;bbb=1"/>
              <p:cNvSpPr/>
              <p:nvPr/>
            </p:nvSpPr>
            <p:spPr>
              <a:xfrm>
                <a:off x="8892095" y="2380010"/>
                <a:ext cx="815975" cy="35344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3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𝟓𝟗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 xmlns="">
          <p:sp>
            <p:nvSpPr>
              <p:cNvPr id="3" name="QB_6_AN.9_1#62a886743.blank?vcp=1&amp;pid=d71a1ce13&amp;color=0,0,0&amp;vpa=3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2095" y="2380010"/>
                <a:ext cx="815975" cy="353441"/>
              </a:xfrm>
              <a:prstGeom prst="rect">
                <a:avLst/>
              </a:prstGeom>
              <a:blipFill>
                <a:blip r:embed="rId4"/>
                <a:stretch>
                  <a:fillRect l="-3731" r="-3731" b="-1379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B_6_AN.10_1#62a886743.blank?vcp=1&amp;pid=d71a1ce13&amp;color=0,0,0&amp;vpa=4&amp;vtp=1&amp;bbb=1"/>
          <p:cNvSpPr/>
          <p:nvPr/>
        </p:nvSpPr>
        <p:spPr>
          <a:xfrm>
            <a:off x="4029360" y="2803366"/>
            <a:ext cx="7540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0.83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QB_6_AS.11_1#62a886743?vcp=1&amp;pid=d71a1ce13&amp;color=0,0,0&amp;vtp=1&amp;bbb=1&amp;hb=1"/>
              <p:cNvSpPr/>
              <p:nvPr/>
            </p:nvSpPr>
            <p:spPr>
              <a:xfrm>
                <a:off x="393192" y="3316191"/>
                <a:ext cx="11402568" cy="238734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相邻两计数点间有四个点未画出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，则相邻两计数点的时间间隔为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𝟎𝟐</m:t>
                    </m:r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，则打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𝑫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点时小车的速度为</a:t>
                </a:r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𝑫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𝑪𝑬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den>
                    </m:f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𝟒𝟓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)×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𝟓𝟗</m:t>
                    </m:r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，根据逐差法可得小车在运动过程中的加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速度大小为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𝑫𝑮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𝑨𝑫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𝟗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𝑻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𝟗𝟐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𝟖𝟐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𝟒𝟓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)×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.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𝟖𝟑</m:t>
                    </m:r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QB_6_AS.11_1#62a886743?vcp=1&amp;pid=d71a1ce1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16191"/>
                <a:ext cx="11402568" cy="2387346"/>
              </a:xfrm>
              <a:prstGeom prst="rect">
                <a:avLst/>
              </a:prstGeom>
              <a:blipFill>
                <a:blip r:embed="rId5"/>
                <a:stretch>
                  <a:fillRect l="-1658" r="-802" b="-40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5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O_5_BD.12_1#8e523a68f?vcp=1&amp;pid=d56698b50&amp;color=0,0,0&amp;vtp=1&amp;bt=1&amp;bbb=1&amp;hb=1"/>
              <p:cNvSpPr/>
              <p:nvPr/>
            </p:nvSpPr>
            <p:spPr>
              <a:xfrm>
                <a:off x="393192" y="981742"/>
                <a:ext cx="11402568" cy="21551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变式1-1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某同学发现，木板水平放置，挂上槽码托拉动小车运动后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，刚好能使打出的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纸带点迹分布均匀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，所以他就用槽码托的重力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来平衡小车所受的摩擦力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，用槽码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的总重力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表示小车受到的合力.在满足小车质量远大于槽码质量的条件下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，用这种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平衡摩擦力的方法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O_5_BD.12_1#8e523a68f?vcp=1&amp;pid=d56698b50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81742"/>
                <a:ext cx="11402568" cy="2155190"/>
              </a:xfrm>
              <a:prstGeom prst="rect">
                <a:avLst/>
              </a:prstGeom>
              <a:blipFill>
                <a:blip r:embed="rId3"/>
                <a:stretch>
                  <a:fillRect l="-1658" r="-321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B_6_BD.13_1#6228d554c?vcp=1&amp;pid=8e523a68f&amp;color=0,0,0&amp;vtp=1&amp;bbb=1&amp;hb=1"/>
          <p:cNvSpPr/>
          <p:nvPr/>
        </p:nvSpPr>
        <p:spPr>
          <a:xfrm>
            <a:off x="393192" y="3179858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（1）能否用来探究小车质量一定时（保持题干中平衡摩擦力时的小车质量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），加速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度与力的关系？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填“能”或“不能”）.</a:t>
            </a:r>
            <a:endParaRPr lang="en-US" altLang="zh-CN" sz="2400" dirty="0"/>
          </a:p>
        </p:txBody>
      </p:sp>
      <p:sp>
        <p:nvSpPr>
          <p:cNvPr id="4" name="QB_6_AN.14_1#6228d554c.blank?vcp=1&amp;pid=8e523a68f&amp;color=0,0,0&amp;vpa=5&amp;vtp=1"/>
          <p:cNvSpPr/>
          <p:nvPr/>
        </p:nvSpPr>
        <p:spPr>
          <a:xfrm>
            <a:off x="2543461" y="3689127"/>
            <a:ext cx="525463" cy="478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能</a:t>
            </a:r>
            <a:endParaRPr lang="en-US" altLang="zh-CN" sz="2400" dirty="0"/>
          </a:p>
        </p:txBody>
      </p:sp>
      <p:sp>
        <p:nvSpPr>
          <p:cNvPr id="5" name="QB_6_AS.15_1#6228d554c?vcp=1&amp;pid=8e523a68f&amp;color=0,0,0&amp;vtp=1&amp;bbb=1&amp;hb=1"/>
          <p:cNvSpPr/>
          <p:nvPr/>
        </p:nvSpPr>
        <p:spPr>
          <a:xfrm>
            <a:off x="393192" y="4287677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小车质量不变，小车所受摩擦力不变，可以用槽码托的重力平衡摩擦力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，实验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过程中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，通过改变槽码的质量从而改变小车受到的合外力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，则能用来探究小车质量一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定时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，加速度与力的关系.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B_6_BD.16_1#cb365b6e1?vcp=1&amp;pid=8e523a68f&amp;color=0,0,0&amp;vtp=1&amp;bt=1&amp;bbb=1&amp;hb=1"/>
          <p:cNvSpPr/>
          <p:nvPr/>
        </p:nvSpPr>
        <p:spPr>
          <a:xfrm>
            <a:off x="393192" y="2101850"/>
            <a:ext cx="11402568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（2）能否用来探究小车拉力一定时，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加速度与质量的关系？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填“能”或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“不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能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”）.</a:t>
            </a:r>
            <a:endParaRPr lang="en-US" altLang="zh-CN" sz="2400" dirty="0"/>
          </a:p>
        </p:txBody>
      </p:sp>
      <p:sp>
        <p:nvSpPr>
          <p:cNvPr id="3" name="QB_6_AN.17_1#cb365b6e1.blank?vcp=1&amp;pid=8e523a68f&amp;color=0,0,0&amp;vpa=6&amp;vtp=1&amp;bbb=1"/>
          <p:cNvSpPr/>
          <p:nvPr/>
        </p:nvSpPr>
        <p:spPr>
          <a:xfrm>
            <a:off x="8487061" y="2073910"/>
            <a:ext cx="830263" cy="49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不能</a:t>
            </a:r>
            <a:endParaRPr lang="en-US" altLang="zh-CN" sz="2400" dirty="0"/>
          </a:p>
        </p:txBody>
      </p:sp>
      <p:sp>
        <p:nvSpPr>
          <p:cNvPr id="4" name="QB_6_AS.18_1#cb365b6e1?vcp=1&amp;pid=8e523a68f&amp;color=0,0,0&amp;vtp=1&amp;bbb=1&amp;hb=1"/>
          <p:cNvSpPr/>
          <p:nvPr/>
        </p:nvSpPr>
        <p:spPr>
          <a:xfrm>
            <a:off x="393192" y="3205670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当小车质量改变时，小车所受摩擦力改变，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槽码托的重力不再与摩擦力平衡，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此时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，槽码的重力不再是小车所受的合力，随着摩擦力的变化，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小车所受的合力变化，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则不能用来探究小车拉力一定时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，加速度与质量的关系.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231f91861?vcp=1&amp;pid=d56698b50&amp;color=0,0,0&amp;vtp=1&amp;bt=1&amp;bbb=1&amp;hb=1"/>
              <p:cNvSpPr/>
              <p:nvPr/>
            </p:nvSpPr>
            <p:spPr>
              <a:xfrm>
                <a:off x="393192" y="1793335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实验思路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——控制变量法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.探究加速度与力的关系：控制物体的质量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不变，测量物体在不同的力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作用下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,分析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的关系.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.探究加速度与质量的关系：控制物体所受的力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，测量不同质量的物体在该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力作用下的加速度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,分析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与质量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的关系.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231f91861?vcp=1&amp;pid=d56698b50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93335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1604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231f91861?vcp=1&amp;pid=d56698b50&amp;color=0,0,0&amp;vtp=1&amp;bt=1&amp;bbb=1&amp;hb=1"/>
              <p:cNvSpPr/>
              <p:nvPr/>
            </p:nvSpPr>
            <p:spPr>
              <a:xfrm>
                <a:off x="393192" y="599885"/>
                <a:ext cx="11402568" cy="5664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物理量的测量方法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.质量的测量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可用天平测量质量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.加速度的测量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方法一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：对于初速度为0的匀加速直线运动，可以测量出位移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,然后由</a:t>
                </a:r>
              </a:p>
              <a:p>
                <a:pPr latinLnBrk="1">
                  <a:lnSpc>
                    <a:spcPts val="6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算出加速度.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：利用打点计时器打出纸带，由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𝑇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来计算加速度.</a:t>
                </a:r>
                <a:endParaRPr lang="en-US" altLang="zh-CN" sz="2400" dirty="0"/>
              </a:p>
              <a:p>
                <a:pPr latinLnBrk="1">
                  <a:lnSpc>
                    <a:spcPts val="6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可知，如果测出两个初速度为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0的匀加速直线运动在相同时间内</a:t>
                </a:r>
              </a:p>
              <a:p>
                <a:pPr latinLnBrk="1">
                  <a:lnSpc>
                    <a:spcPts val="5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发生的位移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,则位移之比就等于加速度之比，即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231f91861?vcp=1&amp;pid=d56698b50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99885"/>
                <a:ext cx="11402568" cy="5664200"/>
              </a:xfrm>
              <a:prstGeom prst="rect">
                <a:avLst/>
              </a:prstGeom>
              <a:blipFill>
                <a:blip r:embed="rId3"/>
                <a:stretch>
                  <a:fillRect l="-1658" r="-1230" b="-10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231f91861?vcp=1&amp;pid=d56698b50&amp;color=0,0,0&amp;vtp=1&amp;bt=1&amp;bbb=1"/>
              <p:cNvSpPr/>
              <p:nvPr/>
            </p:nvSpPr>
            <p:spPr>
              <a:xfrm>
                <a:off x="393192" y="2111597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3.力的测量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根据等效替代法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，实验中作用力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的含义可以是物体所受的合力.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231f91861?vcp=1&amp;pid=d56698b50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11597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_5_BD#231f91861?htil=1&amp;vcp=1&amp;pid=d56698b50&amp;color=0,0,0&amp;tib=255,255,255&amp;vtp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48694" y="3190843"/>
            <a:ext cx="2578608" cy="146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P_5_BD#231f91861?htil=1&amp;vcp=1&amp;pid=d56698b50&amp;color=0,0,0&amp;vtp=1&amp;bbb=1&amp;hb=1"/>
          <p:cNvSpPr/>
          <p:nvPr/>
        </p:nvSpPr>
        <p:spPr>
          <a:xfrm>
            <a:off x="393192" y="3145123"/>
            <a:ext cx="8686800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实验装置如图所示，用悬挂槽码的方法为小车提供拉力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，把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木板的一端垫高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，以补偿小车受到的阻力.测出槽码的总重力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，它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近似等于小车运动时所受的拉力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231f91861?vcp=1&amp;pid=d56698b50&amp;color=0,0,0&amp;vtp=1&amp;bt=1&amp;bbb=1&amp;hb=1"/>
          <p:cNvSpPr/>
          <p:nvPr/>
        </p:nvSpPr>
        <p:spPr>
          <a:xfrm>
            <a:off x="393192" y="1793335"/>
            <a:ext cx="11402568" cy="327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难点突破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实验中把槽码的总重力作为牵引小车做匀加速运动的外力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，需注意两点：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1）平衡摩擦力：对于粗糙的木板，需要将木板的末端垫高一些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，使小车受到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的摩擦力跟它的重力沿斜面的分力平衡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2）近似条件：让槽码的总质量远小于小车的质量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（这一条件将在后续学习中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证明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231f91861?vcp=1&amp;pid=d56698b50&amp;color=0,0,0&amp;vtp=1&amp;bt=1&amp;bbb=1&amp;hb=1"/>
          <p:cNvSpPr/>
          <p:nvPr/>
        </p:nvSpPr>
        <p:spPr>
          <a:xfrm>
            <a:off x="393192" y="1514666"/>
            <a:ext cx="11402568" cy="3827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名师点拨</a:t>
            </a:r>
            <a:endParaRPr lang="en-US" altLang="zh-CN" sz="2400" dirty="0"/>
          </a:p>
          <a:p>
            <a:pPr algn="ctr"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实验注意事项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.平衡摩擦力时不要挂重物，移动垫块，反复调节木板的倾斜度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，直到小车能在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木板上匀速运动为止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（由打点计时器在纸带上打下的点是否间隔均匀判断）.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.整个实验平衡了摩擦力后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，不管以后是改变小盘和重物的总质量还是改变小车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和砝码的总质量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，都不需要重新平衡摩擦力.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.小车应靠近打点计时器放置且先接通电源再放开.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e5bed4be3?vcp=1&amp;pid=fe0080dbc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e5bed4be3?vcp=1&amp;pid=fe0080dbc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4" name="C_4_BD#e5bed4be3?vcp=1&amp;pid=fe0080dbc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实验数据处理与误差分析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endParaRPr lang="en-US" altLang="zh-CN" sz="2600" dirty="0"/>
          </a:p>
        </p:txBody>
      </p:sp>
      <p:sp>
        <p:nvSpPr>
          <p:cNvPr id="5" name="P_5_BD#860c9ec7a?vcp=1&amp;pid=e5bed4be3&amp;color=0,0,0&amp;vtp=1&amp;bbb=1"/>
          <p:cNvSpPr/>
          <p:nvPr/>
        </p:nvSpPr>
        <p:spPr>
          <a:xfrm>
            <a:off x="393192" y="1092200"/>
            <a:ext cx="11402568" cy="488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</p:txBody>
      </p:sp>
      <p:pic>
        <p:nvPicPr>
          <p:cNvPr id="6" name="P_5_BD#860c9ec7a?htil=2&amp;vcp=1&amp;pid=e5bed4be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41237" y="1790319"/>
            <a:ext cx="1819656" cy="1536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P_5_BD#860c9ec7a?htil=2&amp;vcp=1&amp;pid=e5bed4be3&amp;color=0,0,0&amp;vtp=1&amp;bbb=1&amp;hb=1"/>
              <p:cNvSpPr/>
              <p:nvPr/>
            </p:nvSpPr>
            <p:spPr>
              <a:xfrm>
                <a:off x="393192" y="1644015"/>
                <a:ext cx="9445752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1.数据处理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1）研究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的关系：以加速度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为纵轴，力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为横轴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，根据测量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数据描点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，然后作出图像，如图所示，该图像是一条通过原点的直线.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7" name="P_5_BD#860c9ec7a?htil=2&amp;vcp=1&amp;pid=e5bed4be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4015"/>
                <a:ext cx="9445752" cy="1596200"/>
              </a:xfrm>
              <a:prstGeom prst="rect">
                <a:avLst/>
              </a:prstGeom>
              <a:blipFill>
                <a:blip r:embed="rId5"/>
                <a:stretch>
                  <a:fillRect l="-2001" r="-1808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_5_BD#860c9ec7a?htil=3&amp;vcp=1&amp;pid=e5bed4be3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38360" y="3507359"/>
            <a:ext cx="2039112" cy="1627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P_5_BD#860c9ec7a?htil=3&amp;vcp=1&amp;pid=e5bed4be3&amp;color=0,0,0&amp;vtp=1&amp;bbb=1&amp;hb=1"/>
              <p:cNvSpPr/>
              <p:nvPr/>
            </p:nvSpPr>
            <p:spPr>
              <a:xfrm>
                <a:off x="393192" y="3452495"/>
                <a:ext cx="9235440" cy="1117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（2）研究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的关系：采用“化曲为直”的方法，以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为纵轴，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为横轴，作出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图像，如图所示，该图像是一条过原点的直线.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9" name="P_5_BD#860c9ec7a?htil=3&amp;vcp=1&amp;pid=e5bed4be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52495"/>
                <a:ext cx="9235440" cy="1117600"/>
              </a:xfrm>
              <a:prstGeom prst="rect">
                <a:avLst/>
              </a:prstGeom>
              <a:blipFill>
                <a:blip r:embed="rId7"/>
                <a:stretch>
                  <a:fillRect l="-2046" r="-2376" b="-923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860c9ec7a?vcp=1&amp;pid=e5bed4be3&amp;color=0,0,0&amp;vtp=1&amp;bt=1&amp;bbb=1&amp;hb=1"/>
          <p:cNvSpPr/>
          <p:nvPr/>
        </p:nvSpPr>
        <p:spPr>
          <a:xfrm>
            <a:off x="393192" y="946976"/>
            <a:ext cx="11402568" cy="4944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2.误差分析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1）系统误差：本实验中用槽码的重力代替小车所受的拉力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，而实际上小车受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到的拉力要小于槽码的重力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，存在系统误差.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2）操作误差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①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拉小车的细线不与木板平行.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②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平衡摩擦力不当造成误差.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3）测量误差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①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质量的测量与打点之间距离的测量.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②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注意读数时的估读.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O_5_BD.19_1#d5757f7cf?vcp=1&amp;pid=e5bed4be3&amp;color=0,0,0&amp;vtp=1&amp;bt=1&amp;bbb=1&amp;hb=1"/>
              <p:cNvSpPr/>
              <p:nvPr/>
            </p:nvSpPr>
            <p:spPr>
              <a:xfrm>
                <a:off x="393192" y="1480566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图甲为用拉力传感器和速度传感器探究“加速度与物体受力的关系”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的实验装置.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用拉力传感器记录小车受到拉力的大小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，在长木板上相距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𝑙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=48.0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两点各安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装一个速度传感器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，分别记录小车到达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时的速率.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O_5_BD.19_1#d5757f7cf?vcp=1&amp;pid=e5bed4be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80566"/>
                <a:ext cx="11402568" cy="1596200"/>
              </a:xfrm>
              <a:prstGeom prst="rect">
                <a:avLst/>
              </a:prstGeom>
              <a:blipFill>
                <a:blip r:embed="rId3"/>
                <a:stretch>
                  <a:fillRect l="-1658" r="-1390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5_BD.19_2#d5757f7cf?vcp=1&amp;pid=e5bed4be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93592" y="3201162"/>
            <a:ext cx="5001768" cy="217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B_6_BD.20_1#a91989646?vcp=1&amp;pid=d5757f7cf&amp;color=0,0,0&amp;vtp=1&amp;bt=1&amp;bbb=1&amp;hb=1"/>
              <p:cNvSpPr/>
              <p:nvPr/>
            </p:nvSpPr>
            <p:spPr>
              <a:xfrm>
                <a:off x="393192" y="953262"/>
                <a:ext cx="11402568" cy="3831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（1）实验主要步骤如下：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①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将拉力传感器固定在小车上；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②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平衡摩擦力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，让小车做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③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把细线的一端固定在拉力传感器上，另一端通过定滑轮与钩码相连；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④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接通电源后自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点释放小车，小车在细线拉动下运动，记录细线的拉力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的大小及小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车分别到达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时的速率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⑤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改变所挂钩码的数量，重复④的操作.+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B_6_BD.20_1#a91989646?vcp=1&amp;pid=d5757f7c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53262"/>
                <a:ext cx="11402568" cy="3831400"/>
              </a:xfrm>
              <a:prstGeom prst="rect">
                <a:avLst/>
              </a:prstGeom>
              <a:blipFill>
                <a:blip r:embed="rId3"/>
                <a:stretch>
                  <a:fillRect l="-1658" r="-1283" b="-47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B_6_AN.21_1#a91989646.blank?vcp=1&amp;pid=d5757f7cf&amp;color=0,0,0&amp;vpa=7&amp;vtp=1&amp;bbb=1"/>
          <p:cNvSpPr/>
          <p:nvPr/>
        </p:nvSpPr>
        <p:spPr>
          <a:xfrm>
            <a:off x="3762660" y="2042922"/>
            <a:ext cx="1439863" cy="49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匀速直线</a:t>
            </a:r>
            <a:endParaRPr lang="en-US" altLang="zh-CN" sz="2400" dirty="0"/>
          </a:p>
        </p:txBody>
      </p:sp>
      <p:sp>
        <p:nvSpPr>
          <p:cNvPr id="4" name="QB_6_AS.22_1#a91989646?vcp=1&amp;pid=d5757f7cf&amp;color=0,0,0&amp;vtp=1&amp;bbb=1&amp;hb=1"/>
          <p:cNvSpPr/>
          <p:nvPr/>
        </p:nvSpPr>
        <p:spPr>
          <a:xfrm>
            <a:off x="393192" y="4802568"/>
            <a:ext cx="11402568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根据小车不受拉力作用时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，沿长木板能否做匀速直线运动来判断摩擦力是否被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平衡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&amp;si=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B_6_BD.23_1#f1cee3993?vcp=1&amp;pid=d5757f7cf&amp;color=0,0,0&amp;vtp=1&amp;bt=1&amp;bbb=1&amp;hb=1"/>
              <p:cNvSpPr/>
              <p:nvPr/>
            </p:nvSpPr>
            <p:spPr>
              <a:xfrm>
                <a:off x="393192" y="504000"/>
                <a:ext cx="11402568" cy="123844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7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（2）下表中记录了实验测得的几组数据，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bSup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Sup>
                      <m:sSub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sub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 err="1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是两个速度传感器记录速率的平方</a:t>
                </a:r>
                <a:endParaRPr lang="en-US" altLang="zh-CN" sz="2400" b="0" i="0" dirty="0">
                  <a:solidFill>
                    <a:srgbClr val="000000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7000"/>
                  </a:lnSpc>
                </a:pPr>
                <a:r>
                  <a:rPr lang="en-US" altLang="zh-CN" sz="2400" b="0" i="0" dirty="0" err="1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差，则加速度的表达式为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</a:t>
                </a:r>
                <a:r>
                  <a:rPr lang="en-US" altLang="zh-CN" sz="4750" b="1" i="0" u="sng" kern="0" spc="-99900" dirty="0">
                    <a:solidFill>
                      <a:srgbClr val="FF00FF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.请将表中第3次的实验数据填写完整.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" name="QB_6_BD.23_1#f1cee3993?vcp=1&amp;pid=d5757f7c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1238441"/>
              </a:xfrm>
              <a:prstGeom prst="rect">
                <a:avLst/>
              </a:prstGeom>
              <a:blipFill>
                <a:blip r:embed="rId3"/>
                <a:stretch>
                  <a:fillRect l="-1658" t="-2956" r="-107" b="-1231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QB_6_BD.23_2#f1cee3993?colgroup=4,6,14,9&amp;vcp=1&amp;pid=d5757f7cf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4441046"/>
                  </p:ext>
                </p:extLst>
              </p:nvPr>
            </p:nvGraphicFramePr>
            <p:xfrm>
              <a:off x="393192" y="2122424"/>
              <a:ext cx="11347704" cy="2906779"/>
            </p:xfrm>
            <a:graphic>
              <a:graphicData uri="http://schemas.openxmlformats.org/drawingml/2006/table">
                <a:tbl>
                  <a:tblPr/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677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5371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06324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82029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次序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4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 smtClean="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 smtClean="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 smtClean="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N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 smtClean="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zh-CN" sz="2400" b="0" i="1" spc="-1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2400" b="0" i="0" spc="-100" smtClean="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zh-CN" sz="2400" b="0" i="1" spc="-1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2400" b="0" i="0" spc="-100" smtClean="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)/(</m:t>
                              </m:r>
                              <m:sSup>
                                <m:sSupPr>
                                  <m:ctrlPr>
                                    <a:rPr lang="en-US" altLang="zh-CN" sz="2400" b="0" i="1" spc="-10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m</m:t>
                                  </m:r>
                                </m:e>
                                <m: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b="0" i="0" spc="-100" smtClean="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US" altLang="zh-CN" sz="2400" b="0" i="1" spc="-10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s</m:t>
                                  </m:r>
                                </m:e>
                                <m: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−2</m:t>
                                  </m:r>
                                </m:sup>
                              </m:sSup>
                              <m:r>
                                <a:rPr lang="en-US" altLang="zh-CN" sz="2400" b="0" i="0" spc="-100" smtClean="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 smtClean="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 smtClean="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/(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 smtClean="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m</m:t>
                              </m:r>
                              <m:r>
                                <a:rPr lang="en-US" altLang="zh-CN" sz="2400" b="0" i="0" spc="-100" smtClean="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US" altLang="zh-CN" sz="2400" b="0" i="1" spc="-10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s</m:t>
                                  </m:r>
                                </m:e>
                                <m: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−2</m:t>
                                  </m:r>
                                </m:sup>
                              </m:sSup>
                              <m:r>
                                <a:rPr lang="en-US" altLang="zh-CN" sz="2400" b="0" i="0" spc="-100" smtClean="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495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0.60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0.77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0.80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8495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1.04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1.56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1.63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8495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1.42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2.31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400"/>
                            </a:lnSpc>
                          </a:pPr>
                          <a:r>
                            <a:rPr lang="en-US" altLang="zh-CN" sz="240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_____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8495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2.62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4.65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4.84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8495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3.00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5.42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5.65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QB_6_BD.23_2#f1cee3993?colgroup=4,6,14,9&amp;vcp=1&amp;pid=d5757f7cf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4441046"/>
                  </p:ext>
                </p:extLst>
              </p:nvPr>
            </p:nvGraphicFramePr>
            <p:xfrm>
              <a:off x="393192" y="2122424"/>
              <a:ext cx="11347704" cy="2906779"/>
            </p:xfrm>
            <a:graphic>
              <a:graphicData uri="http://schemas.openxmlformats.org/drawingml/2006/table">
                <a:tbl>
                  <a:tblPr/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677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5371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06324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82029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次序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4785" t="-3797" r="-336559" b="-534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2062" t="-3797" r="-67604" b="-534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0378" t="-3797" r="-398" b="-5341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495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0.60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0.77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0.80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8495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1.04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1.56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1.63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8495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1.42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2.31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400"/>
                            </a:lnSpc>
                          </a:pPr>
                          <a:r>
                            <a:rPr lang="en-US" altLang="zh-CN" sz="240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_____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8495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2.62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4.65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4.84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8495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3.00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5.42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5.65</a:t>
                          </a:r>
                          <a:endParaRPr lang="en-US" altLang="zh-CN" sz="12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QB_6_AN.24_1#f1cee3993.blank?vcp=1&amp;pid=d5757f7cf&amp;color=0,0,0&amp;vpa=8&amp;vtp=1&amp;bbb=1&amp;rh=47.02"/>
              <p:cNvSpPr/>
              <p:nvPr/>
            </p:nvSpPr>
            <p:spPr>
              <a:xfrm>
                <a:off x="4271454" y="1058862"/>
                <a:ext cx="855028" cy="59715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8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𝑨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 xmlns="">
          <p:sp>
            <p:nvSpPr>
              <p:cNvPr id="4" name="QB_6_AN.24_1#f1cee3993.blank?vcp=1&amp;pid=d5757f7cf&amp;color=0,0,0&amp;vpa=8&amp;vtp=1&amp;bbb=1&amp;rh=47.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454" y="1058862"/>
                <a:ext cx="855028" cy="597154"/>
              </a:xfrm>
              <a:prstGeom prst="rect">
                <a:avLst/>
              </a:prstGeom>
              <a:blipFill>
                <a:blip r:embed="rId5"/>
                <a:stretch>
                  <a:fillRect b="-204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B_6_AN.25_1#f1cee3993.blank?vcp=1&amp;pid=d5757f7cf&amp;color=0,0,0&amp;vpa=9&amp;vtp=1&amp;bbb=1"/>
          <p:cNvSpPr/>
          <p:nvPr/>
        </p:nvSpPr>
        <p:spPr>
          <a:xfrm>
            <a:off x="9806845" y="3570004"/>
            <a:ext cx="754063" cy="40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2.41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QB_6_AS.26_1#f1cee3993?vcp=1&amp;pid=d5757f7cf&amp;color=0,0,0&amp;vtp=1&amp;bbb=1&amp;hb=1"/>
              <p:cNvSpPr/>
              <p:nvPr/>
            </p:nvSpPr>
            <p:spPr>
              <a:xfrm>
                <a:off x="393192" y="5157724"/>
                <a:ext cx="11402568" cy="147796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小车在拉力作用下做匀变速直线运动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，由匀变速直线运动的规律可得</a:t>
                </a:r>
              </a:p>
              <a:p>
                <a:pPr latinLnBrk="1">
                  <a:lnSpc>
                    <a:spcPts val="48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𝑨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den>
                    </m:f>
                  </m:oMath>
                </a14:m>
                <a:r>
                  <a:rPr lang="en-US" altLang="zh-CN" sz="2400" b="1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小车在不同拉力作用下均做匀变速直线运动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的表达式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，代入数据可得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第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3次实验中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𝟒𝟏</m:t>
                    </m:r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QB_6_AS.26_1#f1cee3993?vcp=1&amp;pid=d5757f7cf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157724"/>
                <a:ext cx="11402568" cy="1477963"/>
              </a:xfrm>
              <a:prstGeom prst="rect">
                <a:avLst/>
              </a:prstGeom>
              <a:blipFill>
                <a:blip r:embed="rId6"/>
                <a:stretch>
                  <a:fillRect l="-1658" t="-2881" r="-802" b="-1234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build="p" animBg="1"/>
      <p:bldP spid="6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&amp;si=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O_6_BD.27_1#ffceac391?vcp=1&amp;pid=d5757f7cf&amp;color=0,0,0&amp;vtp=1&amp;bt=1&amp;bbb=1"/>
              <p:cNvSpPr/>
              <p:nvPr/>
            </p:nvSpPr>
            <p:spPr>
              <a:xfrm>
                <a:off x="393192" y="1071626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（3）根据表中数据，在图乙中的坐标纸上作出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关系图线.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O_6_BD.27_1#ffceac391?vcp=1&amp;pid=d5757f7cf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71626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62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QO_6_AS.28_1#ffceac391?vcp=1&amp;pid=d5757f7cf&amp;color=0,0,0&amp;vtp=1&amp;bbb=1&amp;hb=1"/>
              <p:cNvSpPr/>
              <p:nvPr/>
            </p:nvSpPr>
            <p:spPr>
              <a:xfrm>
                <a:off x="393192" y="1571117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根据表中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的数据描点，发现各点基本处于同一条直线上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，连接各点作直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线即可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（如图所示）.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QO_6_AS.28_1#ffceac391?vcp=1&amp;pid=d5757f7cf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71117"/>
                <a:ext cx="11402568" cy="1037400"/>
              </a:xfrm>
              <a:prstGeom prst="rect">
                <a:avLst/>
              </a:prstGeom>
              <a:blipFill>
                <a:blip r:embed="rId4"/>
                <a:stretch>
                  <a:fillRect l="-1658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QO_6_AS.28_2#ffceac391?vcp=1&amp;pid=d5757f7cf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07408" y="2738247"/>
            <a:ext cx="3383280" cy="304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&amp;si=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6_AN.29_1#ffceac391?vcp=1&amp;pid=d5757f7cf&amp;color=0,0,0&amp;vtp=1&amp;bt=1&amp;bbb=1"/>
          <p:cNvSpPr/>
          <p:nvPr/>
        </p:nvSpPr>
        <p:spPr>
          <a:xfrm>
            <a:off x="393192" y="1598676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[答案]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如图所示.</a:t>
            </a:r>
            <a:endParaRPr lang="en-US" altLang="zh-CN" sz="2400" dirty="0"/>
          </a:p>
        </p:txBody>
      </p:sp>
      <p:pic>
        <p:nvPicPr>
          <p:cNvPr id="3" name="QO_6_AN.29_2#ffceac391?vcp=1&amp;pid=d5757f7cf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07408" y="2212467"/>
            <a:ext cx="3383280" cy="304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&amp;si=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B_6_BD.30_1#533e6ba98?vcp=1&amp;pid=d5757f7cf&amp;color=0,0,0&amp;vtp=1&amp;bt=1&amp;bbb=1&amp;hb=1"/>
          <p:cNvSpPr/>
          <p:nvPr/>
        </p:nvSpPr>
        <p:spPr>
          <a:xfrm>
            <a:off x="393192" y="2271618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（4）对比实验结果与理论计算得到的关系图线（图中已画出理论图线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），造成偏差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的原因是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____________________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sp>
        <p:nvSpPr>
          <p:cNvPr id="3" name="QB_6_AN.31_1#533e6ba98.blank?vcp=1&amp;pid=d5757f7cf&amp;color=0,0,0&amp;vpa=10&amp;vtp=1&amp;bbb=1"/>
          <p:cNvSpPr/>
          <p:nvPr/>
        </p:nvSpPr>
        <p:spPr>
          <a:xfrm>
            <a:off x="1629061" y="2780888"/>
            <a:ext cx="2963863" cy="478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没有完全平衡摩擦力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QB_6_AS.32_1#533e6ba98?vcp=1&amp;pid=d5757f7cf&amp;color=0,0,0&amp;vtp=1&amp;bbb=1&amp;hb=1"/>
              <p:cNvSpPr/>
              <p:nvPr/>
            </p:nvSpPr>
            <p:spPr>
              <a:xfrm>
                <a:off x="393192" y="3305143"/>
                <a:ext cx="11402568" cy="1062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当没有完全平衡摩擦力时，由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𝐟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图线会在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轴上有截距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B_6_AS.32_1#533e6ba98?vcp=1&amp;pid=d5757f7cf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05143"/>
                <a:ext cx="11402568" cy="1062800"/>
              </a:xfrm>
              <a:prstGeom prst="rect">
                <a:avLst/>
              </a:prstGeom>
              <a:blipFill>
                <a:blip r:embed="rId3"/>
                <a:stretch>
                  <a:fillRect l="-1658" b="-1657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&amp;si=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O_5_BD.33_1#2b65ab118?vcp=1&amp;pid=e5bed4be3&amp;color=0,0,0&amp;vtp=1&amp;bt=1&amp;bbb=1&amp;hb=1"/>
              <p:cNvSpPr/>
              <p:nvPr/>
            </p:nvSpPr>
            <p:spPr>
              <a:xfrm>
                <a:off x="393192" y="2385917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变式2-1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在考题2的实验中，钩码的总质量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和小车的质量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是否需要满足近似条件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≫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?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O_5_BD.33_1#2b65ab118?vcp=1&amp;pid=e5bed4be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85917"/>
                <a:ext cx="11402568" cy="1037400"/>
              </a:xfrm>
              <a:prstGeom prst="rect">
                <a:avLst/>
              </a:prstGeom>
              <a:blipFill>
                <a:blip r:embed="rId3"/>
                <a:stretch>
                  <a:fillRect l="-1658" b="-169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QO_5_AN.34_1#2b65ab118?vcp=1&amp;pid=e5bed4be3&amp;color=0,0,0&amp;vtp=1&amp;bbb=1&amp;hb=1"/>
              <p:cNvSpPr/>
              <p:nvPr/>
            </p:nvSpPr>
            <p:spPr>
              <a:xfrm>
                <a:off x="393192" y="3432143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不需要，因为用拉力传感器直接测量拉力，并没有用钩码的重力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替代拉力，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所以不需要满足近似条件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QO_5_AN.34_1#2b65ab118?vcp=1&amp;pid=e5bed4be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32143"/>
                <a:ext cx="11402568" cy="1037400"/>
              </a:xfrm>
              <a:prstGeom prst="rect">
                <a:avLst/>
              </a:prstGeom>
              <a:blipFill>
                <a:blip r:embed="rId4"/>
                <a:stretch>
                  <a:fillRect l="-1658" r="-2620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&amp;si=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#dc44661fd?vcp=1&amp;pid=e5bed4be3&amp;color=0,0,0&amp;vtp=1&amp;bt=1&amp;bbb=1"/>
          <p:cNvSpPr/>
          <p:nvPr/>
        </p:nvSpPr>
        <p:spPr>
          <a:xfrm>
            <a:off x="393192" y="929957"/>
            <a:ext cx="11402568" cy="103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拓展延伸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用重力替代拉力引起误差的分析</a:t>
            </a:r>
            <a:endParaRPr lang="en-US" altLang="zh-CN" sz="2400" dirty="0"/>
          </a:p>
        </p:txBody>
      </p:sp>
      <p:pic>
        <p:nvPicPr>
          <p:cNvPr id="3" name="P_5_BD#dc44661fd?htil=4&amp;vcp=1&amp;pid=e5bed4be3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28127" y="2021904"/>
            <a:ext cx="3227832" cy="154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P_5_BD#dc44661fd?htil=4&amp;vcp=1&amp;pid=e5bed4be3&amp;color=0,0,0&amp;vtp=1&amp;bbb=1&amp;hb=1&amp;hs=1"/>
              <p:cNvSpPr/>
              <p:nvPr/>
            </p:nvSpPr>
            <p:spPr>
              <a:xfrm>
                <a:off x="393192" y="1976184"/>
                <a:ext cx="8037576" cy="15963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图像向下弯曲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本实验保持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不变,加速度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的关系为非线性关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系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其关系推导如下：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P_5_BD#dc44661fd?htil=4&amp;vcp=1&amp;pid=e5bed4be3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976184"/>
                <a:ext cx="8037576" cy="1596390"/>
              </a:xfrm>
              <a:prstGeom prst="rect">
                <a:avLst/>
              </a:prstGeom>
              <a:blipFill>
                <a:blip r:embed="rId4"/>
                <a:stretch>
                  <a:fillRect l="-2352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_5_BD#dc44661fd?vcp=1&amp;pid=e5bed4be3&amp;color=0,0,0&amp;vtp=1&amp;bbb=1"/>
              <p:cNvSpPr/>
              <p:nvPr/>
            </p:nvSpPr>
            <p:spPr>
              <a:xfrm>
                <a:off x="393192" y="4047553"/>
                <a:ext cx="11402568" cy="1828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对小车: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（下节会学习），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对小盘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（下节会学习），</a:t>
                </a:r>
                <a:endParaRPr lang="en-US" altLang="zh-CN" sz="2400" dirty="0"/>
              </a:p>
              <a:p>
                <a:pPr latinLnBrk="1">
                  <a:lnSpc>
                    <a:spcPts val="5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𝑀𝑚𝑔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𝑚𝑔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1+</m:t>
                        </m:r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𝑀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P_5_BD#dc44661fd?vcp=1&amp;pid=e5bed4be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047553"/>
                <a:ext cx="11402568" cy="18288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_5_BD#dc44661fd?htil=4&amp;vcp=1&amp;pid=e5bed4be3&amp;color=0,0,0&amp;vtp=1&amp;bbb=1&amp;hb=1&amp;hs=1">
            <a:extLst>
              <a:ext uri="{FF2B5EF4-FFF2-40B4-BE49-F238E27FC236}">
                <a16:creationId xmlns:a16="http://schemas.microsoft.com/office/drawing/2014/main" id="{073D8733-0F3E-BBA9-CAA8-007FFC503B15}"/>
              </a:ext>
            </a:extLst>
          </p:cNvPr>
          <p:cNvSpPr/>
          <p:nvPr/>
        </p:nvSpPr>
        <p:spPr>
          <a:xfrm>
            <a:off x="395996" y="3563683"/>
            <a:ext cx="11400008" cy="474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小车和小盘的受力情况如图所示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&amp;si=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dc44661fd?vcp=1&amp;pid=e5bed4be3&amp;color=0,0,0&amp;mp=1&amp;vtp=1&amp;bt=1&amp;bbb=1"/>
              <p:cNvSpPr/>
              <p:nvPr/>
            </p:nvSpPr>
            <p:spPr>
              <a:xfrm>
                <a:off x="393192" y="874300"/>
                <a:ext cx="11402568" cy="511073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62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6200"/>
                  </a:lnSpc>
                </a:pPr>
                <a:r>
                  <a:rPr lang="en-US" altLang="zh-CN" sz="2400" b="0" i="0" kern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图像的斜率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6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≫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f>
                      <m:f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den>
                    </m:f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近似不变，但随着砝码及盘的总质量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的不断增大，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会减小，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图像将会向下发生弯曲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  <a:p>
                <a:pPr marL="0" marR="0" lvl="0" indent="0" defTabSz="914400" rtl="0" eaLnBrk="1" fontAlgn="auto" latinLnBrk="1" hangingPunct="1">
                  <a:lnSpc>
                    <a:spcPts val="6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den>
                    </m:f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图像向下弯曲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  <a:p>
                <a:pPr marL="0" marR="0" lvl="0" indent="0" defTabSz="914400" rtl="0" eaLnBrk="1" fontAlgn="auto" latinLnBrk="1" hangingPunct="1">
                  <a:lnSpc>
                    <a:spcPts val="56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由上面推得的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𝑚𝑔</m:t>
                        </m:r>
                      </m:num>
                      <m:den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1+</m:t>
                        </m:r>
                        <m:f>
                          <m:fPr>
                            <m:ctrlPr>
                              <a:rPr kumimoji="0" lang="en-US" altLang="zh-CN" sz="2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𝑚</m:t>
                            </m:r>
                          </m:num>
                          <m:den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𝑀</m:t>
                            </m:r>
                          </m:den>
                        </m:f>
                      </m:den>
                    </m:f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f>
                      <m:f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den>
                    </m:f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知，当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≫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den>
                    </m:f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图像的斜率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𝑚𝑔</m:t>
                        </m:r>
                      </m:num>
                      <m:den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1+</m:t>
                        </m:r>
                        <m:f>
                          <m:fPr>
                            <m:ctrlPr>
                              <a:rPr kumimoji="0" lang="en-US" altLang="zh-CN" sz="2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𝑚</m:t>
                            </m:r>
                          </m:num>
                          <m:den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𝑀</m:t>
                            </m:r>
                          </m:den>
                        </m:f>
                      </m:den>
                    </m:f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近似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59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，但随着小车的质量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的不断减小，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den>
                    </m:f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将会增大，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会减小，图像将会向下发生弯曲.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dc44661fd?vcp=1&amp;pid=e5bed4be3&amp;color=0,0,0&amp;mp=1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74300"/>
                <a:ext cx="11402568" cy="5110734"/>
              </a:xfrm>
              <a:prstGeom prst="rect">
                <a:avLst/>
              </a:prstGeom>
              <a:blipFill>
                <a:blip r:embed="rId3"/>
                <a:stretch>
                  <a:fillRect l="-1658" r="-4225" b="-202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&amp;si=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#dc44661fd?vcp=1&amp;pid=e5bed4be3&amp;color=0,0,0&amp;vtp=1&amp;bt=1&amp;bbb=1"/>
              <p:cNvSpPr/>
              <p:nvPr/>
            </p:nvSpPr>
            <p:spPr>
              <a:xfrm>
                <a:off x="393192" y="655414"/>
                <a:ext cx="11402568" cy="10375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规律总结</a:t>
                </a:r>
                <a:endParaRPr lang="en-US" altLang="zh-CN" sz="2400" dirty="0"/>
              </a:p>
              <a:p>
                <a:pPr algn="ctr"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几种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图像分析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#dc44661fd?vcp=1&amp;pid=e5bed4be3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55414"/>
                <a:ext cx="11402568" cy="1037590"/>
              </a:xfrm>
              <a:prstGeom prst="rect">
                <a:avLst/>
              </a:prstGeom>
              <a:blipFill>
                <a:blip r:embed="rId3"/>
                <a:stretch>
                  <a:fillRect l="-1658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P_5_BD#dc44661fd?colgroup=4,31&amp;vcp=1&amp;pid=e5bed4be3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7723905"/>
                  </p:ext>
                </p:extLst>
              </p:nvPr>
            </p:nvGraphicFramePr>
            <p:xfrm>
              <a:off x="393192" y="1828641"/>
              <a:ext cx="11375136" cy="4359975"/>
            </p:xfrm>
            <a:graphic>
              <a:graphicData uri="http://schemas.openxmlformats.org/drawingml/2006/table">
                <a:tbl>
                  <a:tblPr/>
                  <a:tblGrid>
                    <a:gridCol w="16093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7657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47497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分析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7082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0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44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甲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乙两图线的斜率不同是因为小车的质量不同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spc="-100" baseline="-10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甲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spc="-100" baseline="-10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乙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7082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0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42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补偿阻力不够或没有补偿阻力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因为拉力为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时才开始产生加速度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27082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0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42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补偿阻力过度.拉力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已产生加速度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P_5_BD#dc44661fd?colgroup=4,31&amp;vcp=1&amp;pid=e5bed4be3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7723905"/>
                  </p:ext>
                </p:extLst>
              </p:nvPr>
            </p:nvGraphicFramePr>
            <p:xfrm>
              <a:off x="393192" y="1828641"/>
              <a:ext cx="11375136" cy="4359975"/>
            </p:xfrm>
            <a:graphic>
              <a:graphicData uri="http://schemas.openxmlformats.org/drawingml/2006/table">
                <a:tbl>
                  <a:tblPr/>
                  <a:tblGrid>
                    <a:gridCol w="16093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7657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47497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分析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7082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0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532" t="-43062" r="-125" b="-2004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7082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0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532" t="-143062" r="-125" b="-1004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27082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0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532" t="-243062" r="-125" b="-4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_5_BD#dc44661fd.table_image?tii=3&amp;vcp=1&amp;pid=e5bed4be3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4924" y="2408047"/>
            <a:ext cx="1325880" cy="120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5" name="P_5_BD#dc44661fd.table_image?tii=4&amp;vcp=1&amp;pid=e5bed4be3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4924" y="3678873"/>
            <a:ext cx="1325880" cy="120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6" name="P_5_BD#dc44661fd.table_image?tii=5&amp;vcp=1&amp;pid=e5bed4be3&amp;color=0,0,0&amp;tib=255,255,255&amp;vtp=1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4924" y="4949699"/>
            <a:ext cx="1325880" cy="120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&amp;si=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P_5_BD#dc44661fd?colgroup=4,31&amp;vcp=1&amp;pid=e5bed4be3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5640479"/>
                  </p:ext>
                </p:extLst>
              </p:nvPr>
            </p:nvGraphicFramePr>
            <p:xfrm>
              <a:off x="393192" y="2772347"/>
              <a:ext cx="11375136" cy="1936877"/>
            </p:xfrm>
            <a:graphic>
              <a:graphicData uri="http://schemas.openxmlformats.org/drawingml/2006/table">
                <a:tbl>
                  <a:tblPr/>
                  <a:tblGrid>
                    <a:gridCol w="16093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7657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分析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4424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7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拉力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很大时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𝐴𝐵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段明显偏离直线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说明此时悬挂的槽码的总质量不满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足远小于小车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（包括车中砝码）的质量的条件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P_5_BD#dc44661fd?colgroup=4,31&amp;vcp=1&amp;pid=e5bed4be3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5640479"/>
                  </p:ext>
                </p:extLst>
              </p:nvPr>
            </p:nvGraphicFramePr>
            <p:xfrm>
              <a:off x="393192" y="2772347"/>
              <a:ext cx="11375136" cy="1936877"/>
            </p:xfrm>
            <a:graphic>
              <a:graphicData uri="http://schemas.openxmlformats.org/drawingml/2006/table">
                <a:tbl>
                  <a:tblPr/>
                  <a:tblGrid>
                    <a:gridCol w="16093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7657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分析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4424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7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532" t="-34454" r="-125" b="-8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5_BD#dc44661fd.table_image?tii=6&amp;vcp=1&amp;pid=e5bed4be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4924" y="3383598"/>
            <a:ext cx="1325880" cy="120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5_BD#dc44661fd?colgroup=4,31&amp;vcp=1&amp;pid=e5bed4be3&amp;color=0,0,0&amp;vtp=1&amp;bt=1&amp;bbb=1">
            <a:extLst>
              <a:ext uri="{FF2B5EF4-FFF2-40B4-BE49-F238E27FC236}">
                <a16:creationId xmlns:a16="http://schemas.microsoft.com/office/drawing/2014/main" id="{F54A21E7-478E-145B-969A-B2B24A4F5D82}"/>
              </a:ext>
            </a:extLst>
          </p:cNvPr>
          <p:cNvSpPr txBox="1"/>
          <p:nvPr/>
        </p:nvSpPr>
        <p:spPr>
          <a:xfrm>
            <a:off x="11152775" y="2146871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&amp;si=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0a9d559f4?vcp=1&amp;pid=fe0080dbc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0a9d559f4?vcp=1&amp;pid=fe0080dbc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altLang="zh-CN" sz="2800" dirty="0"/>
          </a:p>
        </p:txBody>
      </p:sp>
      <p:sp>
        <p:nvSpPr>
          <p:cNvPr id="4" name="C_4_BD#0a9d559f4?vcp=1&amp;pid=fe0080dbc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实验拓展与创新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_5_BD#f5e93626d?vcp=1&amp;pid=0a9d559f4&amp;color=0,0,0&amp;vtp=1&amp;bbb=1&amp;hb=1"/>
              <p:cNvSpPr/>
              <p:nvPr/>
            </p:nvSpPr>
            <p:spPr>
              <a:xfrm>
                <a:off x="393192" y="1092200"/>
                <a:ext cx="11402568" cy="4949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.实验原理创新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1）通过位移测加速度：两个相同的小车同时开始运动、同时停止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可得，位移之比等于加速度之比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.通过增减小盘中的砝码探究加速度与力的关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系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，通过增减小车中的砝码探究加速度与质量的关系.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2）以小车（含砝码）和槽码整体为研究对象：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在探究加速度与质量的关系时，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保持槽码的质量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不变，改变小车（含砝码）的质量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，此时可将小车（含砝码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槽码当作一个整体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，整体质量为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，整体所受合力为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，即合力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一定时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，探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究加速度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的关系.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P_5_BD#f5e93626d?vcp=1&amp;pid=0a9d559f4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4949000"/>
              </a:xfrm>
              <a:prstGeom prst="rect">
                <a:avLst/>
              </a:prstGeom>
              <a:blipFill>
                <a:blip r:embed="rId4"/>
                <a:stretch>
                  <a:fillRect l="-1658" r="-1872" b="-369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&amp;si=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f5e93626d?vcp=1&amp;pid=0a9d559f4&amp;color=0,0,0&amp;vtp=1&amp;bt=1&amp;bbb=1&amp;hb=1"/>
              <p:cNvSpPr/>
              <p:nvPr/>
            </p:nvSpPr>
            <p:spPr>
              <a:xfrm>
                <a:off x="393192" y="502919"/>
                <a:ext cx="11402568" cy="59300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2.实验方案改进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1）力测量方案的改进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①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用弹簧测力计测量小车所受的拉力，钩码的质量不需要远小于小车质量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，更无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需测钩码的质量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②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用力传感器测量小车所受的拉力，钩码的质量不需要远小于小车质量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，更无需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测钩码的质量.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3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（2）加速度测量方案的改进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  <a:p>
                <a:pPr marL="0" marR="0" lvl="0" indent="0" defTabSz="914400" rtl="0" eaLnBrk="1" fontAlgn="auto" latinLnBrk="1" hangingPunct="1">
                  <a:lnSpc>
                    <a:spcPts val="43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①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用光电门代替打点计时器：测得物块经过两个光电门时的速度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，由运动学公式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3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求出加速度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  <a:p>
                <a:pPr marL="0" marR="0" lvl="0" indent="0" defTabSz="914400" rtl="0" eaLnBrk="1" fontAlgn="auto" latinLnBrk="1" hangingPunct="1">
                  <a:lnSpc>
                    <a:spcPts val="43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②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传感器和图像结合：记录小车运动的时间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与位移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，直接绘制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，得到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f5e93626d?vcp=1&amp;pid=0a9d559f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2919"/>
                <a:ext cx="11402568" cy="5930075"/>
              </a:xfrm>
              <a:prstGeom prst="rect">
                <a:avLst/>
              </a:prstGeom>
              <a:blipFill>
                <a:blip r:embed="rId3"/>
                <a:stretch>
                  <a:fillRect l="-1658" r="-963" b="-308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&amp;si=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O_5_BD.35_1#9026f1ef4?vcp=1&amp;pid=0a9d559f4&amp;color=0,0,0&amp;vtp=1&amp;bt=1&amp;bbb=1&amp;hb=1"/>
              <p:cNvSpPr/>
              <p:nvPr/>
            </p:nvSpPr>
            <p:spPr>
              <a:xfrm>
                <a:off x="393192" y="1248664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考题3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（2026·浙江宁波效实中学检测）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用如图所示装置探究“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加速度与力的关系”，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气垫导轨上质量为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的滑块（含遮光条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）通过轻质细线绕过定滑轮与拉力传感器及质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的钩码相连，遮光条宽度为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.实验时，滑块由静止释放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，测得遮光条通过光电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门的时间为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，拉力传感器的读数为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.不计滑轮轴、滑轮与细线之间的摩擦.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O_5_BD.35_1#9026f1ef4?vcp=1&amp;pid=0a9d559f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48664"/>
                <a:ext cx="11402568" cy="2155000"/>
              </a:xfrm>
              <a:prstGeom prst="rect">
                <a:avLst/>
              </a:prstGeom>
              <a:blipFill>
                <a:blip r:embed="rId3"/>
                <a:stretch>
                  <a:fillRect l="-1658" r="-214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5_BD.35_2#9026f1ef4?vcp=1&amp;pid=0a9d559f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91840" y="3515360"/>
            <a:ext cx="5605272" cy="2093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&amp;si=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6_BD.36_1#4f27c929d?vcp=1&amp;pid=9026f1ef4&amp;color=0,0,0&amp;vtp=1&amp;bt=1&amp;bbb=1"/>
          <p:cNvSpPr/>
          <p:nvPr/>
        </p:nvSpPr>
        <p:spPr>
          <a:xfrm>
            <a:off x="393192" y="1543050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（1）为了保证细线的拉力等于滑块受到的合外力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，下列操作中必要的有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sp>
        <p:nvSpPr>
          <p:cNvPr id="3" name="QC_6_AN.37_1#4f27c929d.blank?vcp=1&amp;pid=9026f1ef4&amp;color=0,0,0&amp;vpa=11&amp;vtp=1&amp;bbb=1"/>
          <p:cNvSpPr/>
          <p:nvPr/>
        </p:nvSpPr>
        <p:spPr>
          <a:xfrm>
            <a:off x="10023761" y="1503045"/>
            <a:ext cx="644525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</a:t>
            </a:r>
            <a:endParaRPr lang="en-US" altLang="zh-CN" sz="2400" dirty="0"/>
          </a:p>
        </p:txBody>
      </p:sp>
      <p:sp>
        <p:nvSpPr>
          <p:cNvPr id="4" name="QC_6_BD.36_2#4f27c929d.choices?vcp=1&amp;pid=9026f1ef4&amp;color=0,0,0&amp;vtp=1&amp;bbb=1"/>
          <p:cNvSpPr/>
          <p:nvPr/>
        </p:nvSpPr>
        <p:spPr>
          <a:xfrm>
            <a:off x="393192" y="2091435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A.使钩码质量远小于滑块质量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.调节气垫导轨水平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.调节定滑轮使细线与气垫导轨平行</a:t>
            </a:r>
            <a:endParaRPr lang="en-US" altLang="zh-CN" sz="2400" dirty="0"/>
          </a:p>
        </p:txBody>
      </p:sp>
      <p:sp>
        <p:nvSpPr>
          <p:cNvPr id="5" name="QC_6_AS.38_1#4f27c929d?vcp=1&amp;pid=9026f1ef4&amp;color=0,0,0&amp;vtp=1&amp;bbb=1&amp;hb=1"/>
          <p:cNvSpPr/>
          <p:nvPr/>
        </p:nvSpPr>
        <p:spPr>
          <a:xfrm>
            <a:off x="393192" y="3738435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spc="-5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spc="-5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spc="-5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力传感器可测出细线对滑块的拉力，不用使钩码质量远小于滑块质量，A错误</a:t>
            </a:r>
            <a:r>
              <a:rPr lang="en-US" altLang="zh-CN" sz="2400" b="1" i="0" spc="-5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.因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 spc="-5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气垫导轨与滑块不接触</a:t>
            </a:r>
            <a:r>
              <a:rPr lang="en-US" altLang="zh-CN" sz="2400" b="1" i="0" spc="-5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，阻力极小，不用平衡摩擦力</a:t>
            </a:r>
            <a:r>
              <a:rPr lang="en-US" altLang="zh-CN" sz="2400" b="1" i="0" spc="-5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；为了保证细线的拉力等于滑块受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 spc="-5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到的合外力</a:t>
            </a:r>
            <a:r>
              <a:rPr lang="en-US" altLang="zh-CN" sz="2400" b="1" i="0" spc="-5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，需要调节气垫导轨水平、调节定滑轮使细线与气垫导轨平行，B、C正确.</a:t>
            </a:r>
            <a:endParaRPr lang="en-US" altLang="zh-CN" sz="2400" spc="-5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&amp;si=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B_6_BD.39_1#8fb681018?vcp=1&amp;pid=9026f1ef4&amp;color=0,0,0&amp;vtp=1&amp;bt=1&amp;bbb=1&amp;hb=1"/>
              <p:cNvSpPr/>
              <p:nvPr/>
            </p:nvSpPr>
            <p:spPr>
              <a:xfrm>
                <a:off x="393192" y="821944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（2）实验时，改变悬挂钩码的质量，每次均从同一位置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由静止释放滑块，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重复实验，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得到多组数据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.已知从遮光条起始位置到光电门的距离为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，用图像法处理数据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，最合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理应作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_______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(填</m:t>
                    </m:r>
                    <m:r>
                      <a:rPr lang="en-US" altLang="zh-CN" sz="24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itchFamily="34" charset="-122"/>
                        <a:cs typeface="Times New Roman" pitchFamily="34" charset="-120"/>
                      </a:rPr>
                      <m:t>“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itchFamily="34" charset="-122"/>
                        <a:cs typeface="Times New Roman" pitchFamily="34" charset="-120"/>
                      </a:rPr>
                      <m:t>”“</m:t>
                    </m:r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itchFamily="34" charset="-122"/>
                        <a:cs typeface="Times New Roman" pitchFamily="34" charset="-120"/>
                      </a:rPr>
                      <m:t>”“</m:t>
                    </m:r>
                    <m:f>
                      <m:f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itchFamily="34" charset="-122"/>
                        <a:cs typeface="Times New Roman" pitchFamily="34" charset="-120"/>
                      </a:rPr>
                      <m:t>”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或</m:t>
                    </m:r>
                    <m:r>
                      <a:rPr lang="en-US" altLang="zh-CN" sz="24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itchFamily="34" charset="-122"/>
                        <a:cs typeface="Times New Roman" pitchFamily="34" charset="-120"/>
                      </a:rPr>
                      <m:t>“</m:t>
                    </m:r>
                    <m:f>
                      <m:f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itchFamily="34" charset="-122"/>
                        <a:cs typeface="Times New Roman" pitchFamily="34" charset="-120"/>
                      </a:rPr>
                      <m:t>”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.如果图像是过原点的一条直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线，则图像的斜率为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用题中所给物理量字母表示），表明质量一定时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度与合外力成正比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" name="QB_6_BD.39_1#8fb681018?vcp=1&amp;pid=9026f1ef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21944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3583" b="-65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QB_6_AN.40_1#8fb681018.blank?vcp=1&amp;pid=9026f1ef4&amp;color=0,0,0&amp;vpa=12&amp;vtp=1&amp;bbb=1&amp;rh=41.6"/>
              <p:cNvSpPr/>
              <p:nvPr/>
            </p:nvSpPr>
            <p:spPr>
              <a:xfrm>
                <a:off x="1382204" y="1762632"/>
                <a:ext cx="925767" cy="52832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 xmlns="">
          <p:sp>
            <p:nvSpPr>
              <p:cNvPr id="3" name="QB_6_AN.40_1#8fb681018.blank?vcp=1&amp;pid=9026f1ef4&amp;color=0,0,0&amp;vpa=12&amp;vtp=1&amp;bbb=1&amp;rh=41.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2204" y="1762632"/>
                <a:ext cx="925767" cy="528320"/>
              </a:xfrm>
              <a:prstGeom prst="rect">
                <a:avLst/>
              </a:prstGeom>
              <a:blipFill>
                <a:blip r:embed="rId4"/>
                <a:stretch>
                  <a:fillRect b="-114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QB_6_AN.41_1#8fb681018.blank?vcp=1&amp;pid=9026f1ef4&amp;color=0,0,0&amp;vpa=13&amp;vtp=1&amp;bbb=1"/>
              <p:cNvSpPr/>
              <p:nvPr/>
            </p:nvSpPr>
            <p:spPr>
              <a:xfrm>
                <a:off x="3211004" y="2410586"/>
                <a:ext cx="620395" cy="533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𝒅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 xmlns="">
          <p:sp>
            <p:nvSpPr>
              <p:cNvPr id="4" name="QB_6_AN.41_1#8fb681018.blank?vcp=1&amp;pid=9026f1ef4&amp;color=0,0,0&amp;vpa=13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004" y="2410586"/>
                <a:ext cx="620395" cy="533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QB_6_AS.42_1#8fb681018?vcp=1&amp;pid=9026f1ef4&amp;color=0,0,0&amp;vtp=1&amp;bbb=1&amp;hb=1"/>
              <p:cNvSpPr/>
              <p:nvPr/>
            </p:nvSpPr>
            <p:spPr>
              <a:xfrm>
                <a:off x="393192" y="3536568"/>
                <a:ext cx="11402568" cy="230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7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滑块从起始位置运动到光电门的过程中做匀加速直线运动，有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𝒅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den>
                        </m:f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𝒂𝑳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</a:t>
                </a:r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𝒅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den>
                    </m:f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；由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（下一节将学习），得到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𝒅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，因此作出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图像，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如果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图像是过原点的一条直线，则图像的斜率为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𝒅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，表明质量一定时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与合外力成正比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QB_6_AS.42_1#8fb681018?vcp=1&amp;pid=9026f1ef4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36568"/>
                <a:ext cx="11402568" cy="2307400"/>
              </a:xfrm>
              <a:prstGeom prst="rect">
                <a:avLst/>
              </a:prstGeom>
              <a:blipFill>
                <a:blip r:embed="rId6"/>
                <a:stretch>
                  <a:fillRect l="-1658" r="-642" b="-791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5" grpId="0" build="p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&amp;si=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5_BD.43_1#7d9c616d4?htil=5&amp;vcp=1&amp;pid=0a9d559f4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86495" y="1406652"/>
            <a:ext cx="2066544" cy="116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QO_5_BD.43_2#7d9c616d4?htil=5&amp;vcp=1&amp;pid=0a9d559f4&amp;color=0,0,0&amp;vtp=1&amp;bt=1&amp;bbb=1&amp;hb=1&amp;hs=1"/>
          <p:cNvSpPr/>
          <p:nvPr/>
        </p:nvSpPr>
        <p:spPr>
          <a:xfrm>
            <a:off x="393192" y="1360932"/>
            <a:ext cx="9198864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变式3-1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现要验证“当质量一定时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，物体运动的加速度与它所受的合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外力成正比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”这一物理规律，给定的器材如下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：一倾角可以调节的表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面光滑的长斜面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（如图所示）、小车、计时器一个、米尺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.请填入适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QO_5_BD.43_3#7d9c616d4?vcp=1&amp;pid=0a9d559f4&amp;color=0,0,0&amp;vtp=1&amp;bbb=1"/>
              <p:cNvSpPr/>
              <p:nvPr/>
            </p:nvSpPr>
            <p:spPr>
              <a:xfrm>
                <a:off x="393192" y="3554666"/>
                <a:ext cx="11527092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（1）让小车自斜面上方一固定点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从静止开始下滑至斜面底端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，记下所用的时间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" name="QO_5_BD.43_3#7d9c616d4?vcp=1&amp;pid=0a9d559f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54666"/>
                <a:ext cx="11527092" cy="488125"/>
              </a:xfrm>
              <a:prstGeom prst="rect">
                <a:avLst/>
              </a:prstGeom>
              <a:blipFill>
                <a:blip r:embed="rId4"/>
                <a:stretch>
                  <a:fillRect l="-1640" r="-423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QB_6_BD.44_1#6f39cec31?vcp=1&amp;pid=7d9c616d4&amp;color=0,0,0&amp;vtp=1&amp;bbb=1"/>
              <p:cNvSpPr/>
              <p:nvPr/>
            </p:nvSpPr>
            <p:spPr>
              <a:xfrm>
                <a:off x="393192" y="4042918"/>
                <a:ext cx="11402568" cy="70891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66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（2）用米尺测量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之间的距离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，则小车的加速度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</a:t>
                </a:r>
                <a:r>
                  <a:rPr lang="en-US" altLang="zh-CN" sz="3700" b="1" i="0" u="sng" kern="0" spc="-99900" dirty="0">
                    <a:solidFill>
                      <a:srgbClr val="FF00FF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" name="QB_6_BD.44_1#6f39cec31?vcp=1&amp;pid=7d9c616d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042918"/>
                <a:ext cx="11402568" cy="708914"/>
              </a:xfrm>
              <a:prstGeom prst="rect">
                <a:avLst/>
              </a:prstGeom>
              <a:blipFill>
                <a:blip r:embed="rId5"/>
                <a:stretch>
                  <a:fillRect l="-1658" b="-2478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QB_6_AN.45_1#6f39cec31.blank?vcp=1&amp;pid=7d9c616d4&amp;color=0,0,0&amp;vpa=14&amp;vtp=1&amp;bbb=1&amp;rh=41.6"/>
              <p:cNvSpPr/>
              <p:nvPr/>
            </p:nvSpPr>
            <p:spPr>
              <a:xfrm>
                <a:off x="8293036" y="4157091"/>
                <a:ext cx="417513" cy="52832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 xmlns="">
          <p:sp>
            <p:nvSpPr>
              <p:cNvPr id="6" name="QB_6_AN.45_1#6f39cec31.blank?vcp=1&amp;pid=7d9c616d4&amp;color=0,0,0&amp;vpa=14&amp;vtp=1&amp;bbb=1&amp;rh=41.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3036" y="4157091"/>
                <a:ext cx="417513" cy="528320"/>
              </a:xfrm>
              <a:prstGeom prst="rect">
                <a:avLst/>
              </a:prstGeom>
              <a:blipFill>
                <a:blip r:embed="rId6"/>
                <a:stretch>
                  <a:fillRect b="-114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QB_6_AS.46_1#6f39cec31?vcp=1&amp;pid=7d9c616d4&amp;color=0,0,0&amp;vtp=1&amp;bbb=1"/>
              <p:cNvSpPr/>
              <p:nvPr/>
            </p:nvSpPr>
            <p:spPr>
              <a:xfrm>
                <a:off x="393192" y="4761103"/>
                <a:ext cx="11402568" cy="7226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6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由于小车是静止释放，所以可以根据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计算加速度，可得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QB_6_AS.46_1#6f39cec31?vcp=1&amp;pid=7d9c616d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761103"/>
                <a:ext cx="11402568" cy="722630"/>
              </a:xfrm>
              <a:prstGeom prst="rect">
                <a:avLst/>
              </a:prstGeom>
              <a:blipFill>
                <a:blip r:embed="rId7"/>
                <a:stretch>
                  <a:fillRect l="-1658" b="-1428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QO_5_BD.43_2#7d9c616d4?htil=5&amp;vcp=1&amp;pid=0a9d559f4&amp;color=0,0,0&amp;vtp=1&amp;bt=1&amp;bbb=1&amp;hb=1&amp;hs=1">
                <a:extLst>
                  <a:ext uri="{FF2B5EF4-FFF2-40B4-BE49-F238E27FC236}">
                    <a16:creationId xmlns:a16="http://schemas.microsoft.com/office/drawing/2014/main" id="{3916CD69-7152-3F31-3411-6545CC597518}"/>
                  </a:ext>
                </a:extLst>
              </p:cNvPr>
              <p:cNvSpPr/>
              <p:nvPr/>
            </p:nvSpPr>
            <p:spPr>
              <a:xfrm>
                <a:off x="395996" y="3010471"/>
                <a:ext cx="11400008" cy="48209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当的公式或文字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，完善以下实验步骤（不考虑摩擦力的影响，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为重力加速度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8" name="QO_5_BD.43_2#7d9c616d4?htil=5&amp;vcp=1&amp;pid=0a9d559f4&amp;color=0,0,0&amp;vtp=1&amp;bt=1&amp;bbb=1&amp;hb=1&amp;hs=1">
                <a:extLst>
                  <a:ext uri="{FF2B5EF4-FFF2-40B4-BE49-F238E27FC236}">
                    <a16:creationId xmlns:a16="http://schemas.microsoft.com/office/drawing/2014/main" id="{3916CD69-7152-3F31-3411-6545CC5975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3010471"/>
                <a:ext cx="11400008" cy="482092"/>
              </a:xfrm>
              <a:prstGeom prst="rect">
                <a:avLst/>
              </a:prstGeom>
              <a:blipFill>
                <a:blip r:embed="rId8"/>
                <a:stretch>
                  <a:fillRect l="-1658" b="-379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&amp;si=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B_6_BD.47_1#ff45145d8?vcp=1&amp;pid=7d9c616d4&amp;color=0,0,0&amp;vtp=1&amp;bt=1&amp;bbb=1&amp;hb=1"/>
              <p:cNvSpPr/>
              <p:nvPr/>
            </p:nvSpPr>
            <p:spPr>
              <a:xfrm>
                <a:off x="393192" y="1198468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（3）用米尺测量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的高度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，设小车所受重力为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，则小车所受合外力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" name="QB_6_BD.47_1#ff45145d8?vcp=1&amp;pid=7d9c616d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98468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481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QB_6_AN.48_1#ff45145d8.blank?vcp=1&amp;pid=7d9c616d4&amp;color=0,0,0&amp;vpa=15&amp;vtp=1&amp;bbb=1&amp;rh=42.03504"/>
              <p:cNvSpPr/>
              <p:nvPr/>
            </p:nvSpPr>
            <p:spPr>
              <a:xfrm>
                <a:off x="442404" y="1645061"/>
                <a:ext cx="836613" cy="53384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𝒉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 xmlns="">
          <p:sp>
            <p:nvSpPr>
              <p:cNvPr id="3" name="QB_6_AN.48_1#ff45145d8.blank?vcp=1&amp;pid=7d9c616d4&amp;color=0,0,0&amp;vpa=15&amp;vtp=1&amp;bbb=1&amp;rh=42.035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04" y="1645061"/>
                <a:ext cx="836613" cy="533845"/>
              </a:xfrm>
              <a:prstGeom prst="rect">
                <a:avLst/>
              </a:prstGeom>
              <a:blipFill>
                <a:blip r:embed="rId4"/>
                <a:stretch>
                  <a:fillRect b="-344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QB_6_AS.49_1#ff45145d8?vcp=1&amp;pid=7d9c616d4&amp;color=0,0,0&amp;vtp=1&amp;bbb=1&amp;hb=1"/>
              <p:cNvSpPr/>
              <p:nvPr/>
            </p:nvSpPr>
            <p:spPr>
              <a:xfrm>
                <a:off x="393192" y="2294603"/>
                <a:ext cx="11402568" cy="1117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本实验是不考虑摩擦力的，根据力的分解知识可知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，小车受的合外力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,因为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𝒉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,所以小车受的合外力为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𝒉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QB_6_AS.49_1#ff45145d8?vcp=1&amp;pid=7d9c616d4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294603"/>
                <a:ext cx="11402568" cy="1117600"/>
              </a:xfrm>
              <a:prstGeom prst="rect">
                <a:avLst/>
              </a:prstGeom>
              <a:blipFill>
                <a:blip r:embed="rId5"/>
                <a:stretch>
                  <a:fillRect l="-1658" b="-923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B_6_BD.50_1#edc815dac?vcp=1&amp;pid=7d9c616d4&amp;color=0,0,0&amp;vtp=1&amp;bbb=1&amp;hb=1"/>
          <p:cNvSpPr/>
          <p:nvPr/>
        </p:nvSpPr>
        <p:spPr>
          <a:xfrm>
            <a:off x="393192" y="3413093"/>
            <a:ext cx="11402568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（4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）改变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____________________________________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重复上述测量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，就可得到一组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加速度和力的数据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QB_6_AN.51_1#edc815dac.blank?vcp=1&amp;pid=7d9c616d4&amp;color=0,0,0&amp;vpa=16&amp;vtp=1&amp;bbb=1"/>
              <p:cNvSpPr/>
              <p:nvPr/>
            </p:nvSpPr>
            <p:spPr>
              <a:xfrm>
                <a:off x="1794161" y="3475576"/>
                <a:ext cx="5375148" cy="3644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30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斜面倾角（或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两点间的高度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QB_6_AN.51_1#edc815dac.blank?vcp=1&amp;pid=7d9c616d4&amp;color=0,0,0&amp;vpa=16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161" y="3475576"/>
                <a:ext cx="5375148" cy="364490"/>
              </a:xfrm>
              <a:prstGeom prst="rect">
                <a:avLst/>
              </a:prstGeom>
              <a:blipFill>
                <a:blip r:embed="rId6"/>
                <a:stretch>
                  <a:fillRect l="-1361" t="-26667" r="-1474" b="-500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QB_6_AS.52_1#edc815dac?vcp=1&amp;pid=7d9c616d4&amp;color=0,0,0&amp;vtp=1&amp;bbb=1&amp;hb=1"/>
              <p:cNvSpPr/>
              <p:nvPr/>
            </p:nvSpPr>
            <p:spPr>
              <a:xfrm>
                <a:off x="393192" y="4453223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根据上述分析可知，只要改变斜面的倾角（或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两点间的高度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）,小车所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受的合外力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就发生变化，即可测得一组加速度和力的数据.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QB_6_AS.52_1#edc815dac?vcp=1&amp;pid=7d9c616d4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453223"/>
                <a:ext cx="11402568" cy="1037400"/>
              </a:xfrm>
              <a:prstGeom prst="rect">
                <a:avLst/>
              </a:prstGeom>
              <a:blipFill>
                <a:blip r:embed="rId7"/>
                <a:stretch>
                  <a:fillRect l="-1658" r="-1497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6" grpId="0" build="p" animBg="1"/>
      <p:bldP spid="7" grpId="0" build="p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&amp;si=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#4a3f0818c?vcp=1&amp;pid=0a9d559f4&amp;color=0,0,0&amp;vtp=1&amp;bt=1&amp;bbb=1"/>
          <p:cNvSpPr/>
          <p:nvPr/>
        </p:nvSpPr>
        <p:spPr>
          <a:xfrm>
            <a:off x="393192" y="504000"/>
            <a:ext cx="11402568" cy="970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1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名师点拨</a:t>
            </a:r>
            <a:endParaRPr lang="en-US" altLang="zh-CN" sz="2400" dirty="0"/>
          </a:p>
          <a:p>
            <a:pPr algn="ctr" latinLnBrk="1">
              <a:lnSpc>
                <a:spcPts val="39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方案改进图解</a:t>
            </a:r>
            <a:endParaRPr lang="en-US" altLang="zh-CN" sz="2400" dirty="0"/>
          </a:p>
        </p:txBody>
      </p:sp>
      <p:pic>
        <p:nvPicPr>
          <p:cNvPr id="3" name="P_5_BD#4a3f0818c?htil=1&amp;vcp=1&amp;pid=0a9d559f4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2064" y="1602296"/>
            <a:ext cx="1874520" cy="155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P_5_BD#4a3f0818c?htil=1&amp;vcp=1&amp;pid=0a9d559f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15184" y="1611440"/>
            <a:ext cx="2322576" cy="154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5" name="P_5_BD#4a3f0818c?htil=1&amp;vcp=1&amp;pid=0a9d559f4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66360" y="1629728"/>
            <a:ext cx="3246120" cy="1527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6" name="P_5_BD#4a3f0818c?htil=1&amp;vcp=1&amp;pid=0a9d559f4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41080" y="1675448"/>
            <a:ext cx="3035808" cy="1481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7" name="P_5_BD#4a3f0818c?htil=1&amp;vcp=1&amp;pid=0a9d559f4&amp;color=0,0,0&amp;tib=255,255,255&amp;vtp=1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01184" y="3321368"/>
            <a:ext cx="2386584" cy="129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P_5_BD#4a3f0818c?vcp=1&amp;pid=0a9d559f4&amp;color=0,0,0&amp;vtp=1&amp;bbb=1"/>
              <p:cNvSpPr/>
              <p:nvPr/>
            </p:nvSpPr>
            <p:spPr>
              <a:xfrm>
                <a:off x="393192" y="4751895"/>
                <a:ext cx="11402568" cy="161467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1.上图（3）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中仍需要平衡摩擦力.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2.利用气垫导轨计算加速度的方法：已知滑块经过两个不同位置的速度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及两位置间的距离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，利用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kumimoji="0" lang="en-US" altLang="zh-CN" sz="2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  <m:sup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bSup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Sup>
                          <m:sSubSup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</m:ctrlPr>
                          </m:sSubSupPr>
                          <m:e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  <m:sup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den>
                    </m:f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可求得加速度.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8" name="P_5_BD#4a3f0818c?vcp=1&amp;pid=0a9d559f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751895"/>
                <a:ext cx="11402568" cy="1614678"/>
              </a:xfrm>
              <a:prstGeom prst="rect">
                <a:avLst/>
              </a:prstGeom>
              <a:blipFill>
                <a:blip r:embed="rId8"/>
                <a:stretch>
                  <a:fillRect l="-1658" b="-643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&amp;si=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4a3f0818c?vcp=1&amp;pid=0a9d559f4&amp;color=0,0,0&amp;vtp=1&amp;bt=1&amp;bbb=1&amp;hb=1"/>
              <p:cNvSpPr/>
              <p:nvPr/>
            </p:nvSpPr>
            <p:spPr>
              <a:xfrm>
                <a:off x="393192" y="2233930"/>
                <a:ext cx="11402568" cy="2180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需要说明的两个问题：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1）数字计时器（与光电门相连，图中未画出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）只能记录滑块上的挡光片经过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光电门的时间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，但这个时间很短暂，故可用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𝑑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是挡光片的宽度，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是挡光时间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求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得滑块经过光电门时的瞬时速度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4a3f0818c?vcp=1&amp;pid=0a9d559f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233930"/>
                <a:ext cx="11402568" cy="2180400"/>
              </a:xfrm>
              <a:prstGeom prst="rect">
                <a:avLst/>
              </a:prstGeom>
              <a:blipFill>
                <a:blip r:embed="rId3"/>
                <a:stretch>
                  <a:fillRect l="-1658" r="-1604" b="-838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&amp;si=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4a3f0818c?vcp=1&amp;pid=0a9d559f4&amp;color=0,0,0&amp;mp=1&amp;vtp=1&amp;bt=1&amp;bbb=1&amp;hb=1"/>
              <p:cNvSpPr/>
              <p:nvPr/>
            </p:nvSpPr>
            <p:spPr>
              <a:xfrm>
                <a:off x="393192" y="976725"/>
                <a:ext cx="11402568" cy="4949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（2）可认为钩码重力的大小等于滑块所受拉力的大小，但这是有条件的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块的质量比钩码的质量大得多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，滑块的加速度不能太大.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在利用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“考点1”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中介绍的基本实验装置探究质量一定的情况下力与加速度的关系时，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可以将小车中的砝码取出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，放到小盘中，或将小盘中的砝码取出，放到小车中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，这样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可以以小车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、小盘和砝码为整体，探究整体质量一定时，力与加速度的关系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，小盘质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量不计时其表达式应为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为小盘中砝码的质量，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为小车质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为砝码总质量.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采用这种方法进行实验时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，仍需进行平衡摩擦力的操作，但不需要满足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≫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图像上端也不会发生弯曲.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4a3f0818c?vcp=1&amp;pid=0a9d559f4&amp;color=0,0,0&amp;mp=1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76725"/>
                <a:ext cx="11402568" cy="4949000"/>
              </a:xfrm>
              <a:prstGeom prst="rect">
                <a:avLst/>
              </a:prstGeom>
              <a:blipFill>
                <a:blip r:embed="rId3"/>
                <a:stretch>
                  <a:fillRect l="-1658" r="-4171" b="-369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&amp;si=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1860</Words>
  <Application>Microsoft Office PowerPoint</Application>
  <PresentationFormat>宽屏</PresentationFormat>
  <Paragraphs>361</Paragraphs>
  <Slides>42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1" baseType="lpstr">
      <vt:lpstr>SimHei</vt:lpstr>
      <vt:lpstr>KaiTi</vt:lpstr>
      <vt:lpstr>SimSun</vt:lpstr>
      <vt:lpstr>微软雅黑</vt:lpstr>
      <vt:lpstr>Arial</vt:lpstr>
      <vt:lpstr>Calibri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3</cp:revision>
  <dcterms:created xsi:type="dcterms:W3CDTF">2026-05-25T08:21:21Z</dcterms:created>
  <dcterms:modified xsi:type="dcterms:W3CDTF">2026-05-25T08:34:00Z</dcterms:modified>
  <cp:category/>
  <cp:contentStatus/>
</cp:coreProperties>
</file>