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85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b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73dfad88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第16讲 牛顿第二定律 力学单位制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73dfad88e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73dfad88e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第16讲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牛顿第二定律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力学单位制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73dfad88e?lid=81f04ffdf&amp;cid=81f04ffdf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73dfad88e?lid=4fa17c56b&amp;cid=4fa17c56b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81f04ffdf?vcp=1&amp;pid=73dfad88e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1e0df3363?colgroup=18,4,12&amp;vcp=1&amp;pid=81f04ffdf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692682"/>
              </p:ext>
            </p:extLst>
          </p:nvPr>
        </p:nvGraphicFramePr>
        <p:xfrm>
          <a:off x="393192" y="1181100"/>
          <a:ext cx="11365992" cy="3508566"/>
        </p:xfrm>
        <a:graphic>
          <a:graphicData uri="http://schemas.openxmlformats.org/drawingml/2006/table">
            <a:tbl>
              <a:tblPr/>
              <a:tblGrid>
                <a:gridCol w="592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988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1.牛顿第二定律及力的单位.（★★★★★）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latinLnBrk="1" hangingPunct="0">
                        <a:lnSpc>
                          <a:spcPts val="225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2.牛顿第二定律与力的合成法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正交分解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法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.（★★★★★）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加速度和速度的关系.（★★★★）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4.瞬时加速度问题.（★★★）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5.力学单位制.（★★★★）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_4_BD#1e0df3363.table_image?tii=1&amp;vcp=1&amp;pid=81f04ffd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6720" y="1918367"/>
            <a:ext cx="3511296" cy="25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4fa17c56b?vcp=1&amp;pid=73dfad88e&amp;color=0,112,192&amp;mp=1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c9acdbfec?vcp=1&amp;pid=4fa17c56b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c9acdbfec?vcp=1&amp;pid=4fa17c56b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c9acdbfec?vcp=1&amp;pid=4fa17c56b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牛顿第二定律及力的单位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921ea3515?vcp=1&amp;pid=c9acdbfec&amp;color=0,0,0&amp;vtp=1&amp;bbb=1&amp;hb=1"/>
              <p:cNvSpPr/>
              <p:nvPr/>
            </p:nvSpPr>
            <p:spPr>
              <a:xfrm>
                <a:off x="393192" y="1778000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.牛顿第二定律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1）内容：物体加速度的大小跟它受到的作用力成正比，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跟它的质量成反比，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加速度的方向跟作用力的方向相同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2）表达式：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5_BD#921ea3515?vcp=1&amp;pid=c9acdbfe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2709799"/>
              </a:xfrm>
              <a:prstGeom prst="rect">
                <a:avLst/>
              </a:prstGeom>
              <a:blipFill>
                <a:blip r:embed="rId5"/>
                <a:stretch>
                  <a:fillRect l="-1658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921ea3515?vcp=1&amp;pid=c9acdbfec&amp;color=0,0,0&amp;vtp=1&amp;bt=1&amp;bbb=1&amp;hb=1"/>
              <p:cNvSpPr/>
              <p:nvPr/>
            </p:nvSpPr>
            <p:spPr>
              <a:xfrm>
                <a:off x="393192" y="1512951"/>
                <a:ext cx="11402568" cy="38308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2.力的单位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𝑘𝑚𝑎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的选取有一定的任意性.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2）在国际单位制中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，牛顿第二定律的数学表达式为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的单位分别为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3）国际单位：力的单位是牛顿，简称牛，符号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的定义：将使质量为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的物体产生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的加速度的力规定为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921ea3515?vcp=1&amp;pid=c9acdbfe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2951"/>
                <a:ext cx="11402568" cy="3830828"/>
              </a:xfrm>
              <a:prstGeom prst="rect">
                <a:avLst/>
              </a:prstGeom>
              <a:blipFill>
                <a:blip r:embed="rId3"/>
                <a:stretch>
                  <a:fillRect l="-963" r="-1176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_1#ed3ea44ad?vcp=1&amp;pid=c9acdbfec&amp;color=0,0,0&amp;vtp=1&amp;bt=1&amp;bbb=1&amp;hb=1"/>
              <p:cNvSpPr/>
              <p:nvPr/>
            </p:nvSpPr>
            <p:spPr>
              <a:xfrm>
                <a:off x="393192" y="504000"/>
                <a:ext cx="11402568" cy="9889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（多选题）对于牛顿第二定律的公式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，大家已经相当熟悉了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.下列关于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它的各种性质的说法中正确的是(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_1#ed3ea44ad?vcp=1&amp;pid=c9acdbfe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988949"/>
              </a:xfrm>
              <a:prstGeom prst="rect">
                <a:avLst/>
              </a:prstGeom>
              <a:blipFill>
                <a:blip r:embed="rId3"/>
                <a:stretch>
                  <a:fillRect l="-1658" b="-1851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_1#ed3ea44ad.bracket?vcp=1&amp;pid=c9acdbfec&amp;color=0,0,0&amp;vpa=1&amp;vtp=1&amp;bbb=1"/>
          <p:cNvSpPr/>
          <p:nvPr/>
        </p:nvSpPr>
        <p:spPr>
          <a:xfrm>
            <a:off x="4943760" y="1026097"/>
            <a:ext cx="661988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_2#ed3ea44ad.choices?vcp=1&amp;pid=c9acdbfec&amp;color=0,0,0&amp;vtp=1&amp;bbb=1&amp;hb=1"/>
              <p:cNvSpPr/>
              <p:nvPr/>
            </p:nvSpPr>
            <p:spPr>
              <a:xfrm>
                <a:off x="393192" y="1499743"/>
                <a:ext cx="11402568" cy="20692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之间是瞬时的对应关系，同时存在，同时消失，同时改变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的方向时刻相同，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的方向改变，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的方向立即改变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的方向时刻相同，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的方向改变，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的方向立即改变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.物体的加速度是合外力产生的，即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，也可以理解为各力产生的加速度的矢量和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_2#ed3ea44ad.choices?vcp=1&amp;pid=c9acdbfe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99743"/>
                <a:ext cx="11402568" cy="2069275"/>
              </a:xfrm>
              <a:prstGeom prst="rect">
                <a:avLst/>
              </a:prstGeom>
              <a:blipFill>
                <a:blip r:embed="rId4"/>
                <a:stretch>
                  <a:fillRect l="-1658" r="-4118" b="-91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3_1#ed3ea44ad?vcp=1&amp;pid=c9acdbfec&amp;color=0,0,0&amp;vtp=1&amp;bbb=1&amp;hb=1"/>
              <p:cNvSpPr/>
              <p:nvPr/>
            </p:nvSpPr>
            <p:spPr>
              <a:xfrm>
                <a:off x="393192" y="3544443"/>
                <a:ext cx="11402568" cy="27550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可知，合力变化，加速度就变化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，某一瞬时的加速度只能由这一瞬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时的外力决定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可知，加速度的方向与合外力的方向相同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，但运动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的方向不一定与加速度方向相同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，B错误.同理可知C错误.根据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等于作用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在物体上的合力与质量的比值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，也可以说成是每个力产生的加速度的矢量和，D正确.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3_1#ed3ea44ad?vcp=1&amp;pid=c9acdbfe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44443"/>
                <a:ext cx="11402568" cy="2755075"/>
              </a:xfrm>
              <a:prstGeom prst="rect">
                <a:avLst/>
              </a:prstGeom>
              <a:blipFill>
                <a:blip r:embed="rId5"/>
                <a:stretch>
                  <a:fillRect l="-1658" r="-909" b="-66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4_1#033e2ac87?vcp=1&amp;pid=c9acdbfec&amp;color=0,0,0&amp;vtp=1&amp;bt=1&amp;bbb=1&amp;hb=1"/>
              <p:cNvSpPr/>
              <p:nvPr/>
            </p:nvSpPr>
            <p:spPr>
              <a:xfrm>
                <a:off x="393192" y="1015778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（多选题）关于牛顿第二定律的表达式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4_1#033e2ac87?vcp=1&amp;pid=c9acdbfe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15778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5_1#033e2ac87.bracket?vcp=1&amp;pid=c9acdbfec&amp;color=0,0,0&amp;vpa=2&amp;vtp=1&amp;bbb=1"/>
          <p:cNvSpPr/>
          <p:nvPr/>
        </p:nvSpPr>
        <p:spPr>
          <a:xfrm>
            <a:off x="676560" y="156314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4_2#033e2ac87.choices?vcp=1&amp;pid=c9acdbfec&amp;color=0,0,0&amp;vtp=1&amp;bbb=1"/>
              <p:cNvSpPr/>
              <p:nvPr/>
            </p:nvSpPr>
            <p:spPr>
              <a:xfrm>
                <a:off x="393192" y="2060987"/>
                <a:ext cx="11402568" cy="21577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A.在任何情况下式中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都等于1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的数值由质量、加速度和力的大小决定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.式中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的数值由质量、加速度和力的单位决定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.物理学中定义使质量为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的物体产生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的加速度的力为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4_2#033e2ac87.choices?vcp=1&amp;pid=c9acdbfe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0987"/>
                <a:ext cx="11402568" cy="2157730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6_1#033e2ac87?vcp=1&amp;pid=c9acdbfec&amp;color=0,0,0&amp;vtp=1&amp;bbb=1&amp;hb=1"/>
              <p:cNvSpPr/>
              <p:nvPr/>
            </p:nvSpPr>
            <p:spPr>
              <a:xfrm>
                <a:off x="393192" y="4194587"/>
                <a:ext cx="11402568" cy="16049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的数值由质量、加速度和力的单位决定，当质量的单位为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加速度的单位为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、力的单位为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等于1，A、B错误，C正确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；由牛顿第二定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知，使质量为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的物体产生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的加速度的力为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6_1#033e2ac87?vcp=1&amp;pid=c9acdbfe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94587"/>
                <a:ext cx="11402568" cy="1604963"/>
              </a:xfrm>
              <a:prstGeom prst="rect">
                <a:avLst/>
              </a:prstGeom>
              <a:blipFill>
                <a:blip r:embed="rId5"/>
                <a:stretch>
                  <a:fillRect l="-1658" r="-1337" b="-117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9272960ed?vcp=1&amp;pid=c9acdbfec&amp;color=0,0,0&amp;vtp=1&amp;bt=1&amp;bbb=1&amp;hb=1"/>
              <p:cNvSpPr/>
              <p:nvPr/>
            </p:nvSpPr>
            <p:spPr>
              <a:xfrm>
                <a:off x="393192" y="504000"/>
                <a:ext cx="11402568" cy="58035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对牛顿第二定律的理解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意义不同：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是加速度的定义式，不能决定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</a:p>
              <a:p>
                <a:pPr latinLnBrk="1">
                  <a:lnSpc>
                    <a:spcPts val="58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均无关；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是加速度的决定式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，加速度由物体受到的合外力和质量共同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决定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.不能根据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∝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∝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的结论，物体的质量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是由自身决定的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物体所受的合力和运动的加速度无关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.不能由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∝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∝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的结论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，物体所受合力的大小是由物体的受力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情况决定的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，与物体的质量和加速度无关.</a:t>
                </a:r>
                <a:endParaRPr lang="en-US" altLang="zh-CN" sz="2400" dirty="0"/>
              </a:p>
              <a:p>
                <a:pPr latinLnBrk="1">
                  <a:lnSpc>
                    <a:spcPts val="5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提供了一种测量物体质量的动力学方法.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9272960ed?vcp=1&amp;pid=c9acdbfe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803583"/>
              </a:xfrm>
              <a:prstGeom prst="rect">
                <a:avLst/>
              </a:prstGeom>
              <a:blipFill>
                <a:blip r:embed="rId3"/>
                <a:stretch>
                  <a:fillRect l="-1658" r="-1497" b="-17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9272960ed?vcp=1&amp;pid=c9acdbfec&amp;color=0,0,0&amp;vtp=1&amp;bt=1&amp;bbb=1"/>
          <p:cNvSpPr/>
          <p:nvPr/>
        </p:nvSpPr>
        <p:spPr>
          <a:xfrm>
            <a:off x="393192" y="658685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牛顿第二定律的性质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P_5_BD#9272960ed?colgroup=3,33&amp;vcp=1&amp;pid=c9acdbfec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052945"/>
                  </p:ext>
                </p:extLst>
              </p:nvPr>
            </p:nvGraphicFramePr>
            <p:xfrm>
              <a:off x="393192" y="1285176"/>
              <a:ext cx="11375136" cy="4912233"/>
            </p:xfrm>
            <a:graphic>
              <a:graphicData uri="http://schemas.openxmlformats.org/drawingml/2006/table">
                <a:tbl>
                  <a:tblPr/>
                  <a:tblGrid>
                    <a:gridCol w="11247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504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性质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理解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因果性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力是产生加速度的原因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只要物体所受的合力不为0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物体就具有加速度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是一个矢量式.物体的加速度方向由它受到的合力方向决定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且总与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合力的方向相同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加速度与合外力是瞬时对应关系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同时产生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同时变化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同时消失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同体性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中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都是对同一物体而言的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独立性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作用在物体上的每一个力都产生加速度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物体的实际加速度是这些加速度的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物体的加速度是相对于惯性参考系而言的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即牛顿第二定律只适用于惯性参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P_5_BD#9272960ed?colgroup=3,33&amp;vcp=1&amp;pid=c9acdbfec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052945"/>
                  </p:ext>
                </p:extLst>
              </p:nvPr>
            </p:nvGraphicFramePr>
            <p:xfrm>
              <a:off x="393192" y="1285176"/>
              <a:ext cx="11375136" cy="4912233"/>
            </p:xfrm>
            <a:graphic>
              <a:graphicData uri="http://schemas.openxmlformats.org/drawingml/2006/table">
                <a:tbl>
                  <a:tblPr/>
                  <a:tblGrid>
                    <a:gridCol w="11247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25042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性质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理解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因果性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力是产生加速度的原因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只要物体所受的合力不为0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物体就具有加速度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58" t="-102500" r="-119" b="-31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瞬时性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加速度与合外力是瞬时对应关系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同时产生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同时变化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同时消失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同体性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58" t="-495122" r="-119" b="-419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独立性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作用在物体上的每一个力都产生加速度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物体的实际加速度是这些加速度的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矢量和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相对性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物体的加速度是相对于惯性参考系而言的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即牛顿第二定律只适用于惯性参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考系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305cb22bc?vcp=1&amp;pid=4fa17c56b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305cb22bc?vcp=1&amp;pid=4fa17c56b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305cb22bc?vcp=1&amp;pid=4fa17c56b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牛顿第二定律的简单应用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#2af5e8c0b?vcp=1&amp;pid=305cb22bc&amp;color=0,0,0&amp;vtp=1&amp;bbb=1"/>
          <p:cNvSpPr/>
          <p:nvPr/>
        </p:nvSpPr>
        <p:spPr>
          <a:xfrm>
            <a:off x="393192" y="1092200"/>
            <a:ext cx="11402568" cy="48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</a:t>
            </a:r>
            <a:endParaRPr lang="en-US" altLang="zh-CN" sz="2400" dirty="0"/>
          </a:p>
        </p:txBody>
      </p:sp>
      <p:graphicFrame>
        <p:nvGraphicFramePr>
          <p:cNvPr id="12" name="P_5_BD#2af5e8c0b?colgroup=3,32&amp;vcp=1&amp;pid=305cb22bc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955870"/>
              </p:ext>
            </p:extLst>
          </p:nvPr>
        </p:nvGraphicFramePr>
        <p:xfrm>
          <a:off x="393192" y="1712595"/>
          <a:ext cx="11365992" cy="3400362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234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合成法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（1）确定研究对象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画出受力分析图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将各个力按照力的平行四边形定则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在加速度方向上合成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直接求出合力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；</a:t>
                      </a:r>
                      <a:endParaRPr lang="en-US" altLang="zh-CN" sz="1200" spc="-100" dirty="0"/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2）根据牛顿第二定律列式求解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8020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分解法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（1）确定研究对象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画出受力分析图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根据力的实际效果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将某一个力分</a:t>
                      </a:r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解成两个分力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；</a:t>
                      </a:r>
                      <a:endParaRPr lang="en-US" altLang="zh-CN" sz="1200" spc="-100" dirty="0"/>
                    </a:p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2）根据牛顿第二定律列式求解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应用此法时要求对力的作用效果有清楚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的认识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要按照力的实际效果进行分解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P_5_BD#2af5e8c0b?colgroup=3,32&amp;vcp=1&amp;pid=305cb22b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104650"/>
                  </p:ext>
                </p:extLst>
              </p:nvPr>
            </p:nvGraphicFramePr>
            <p:xfrm>
              <a:off x="393192" y="2028127"/>
              <a:ext cx="11365992" cy="3425317"/>
            </p:xfrm>
            <a:graphic>
              <a:graphicData uri="http://schemas.openxmlformats.org/drawingml/2006/table">
                <a:tbl>
                  <a:tblPr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589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25317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正交分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解法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当物体受到多个力的作用时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利用正交分解法较为简单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利用正交分解法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需要建立平面直角坐标系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建系原则是尽可能少分解矢量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因此建系有两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种情况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：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1）沿加速度的方向建一坐标轴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垂直加速度方向建一坐标轴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这种方法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不需要分解加速度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2）沿某特定方向建立坐标系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这样可以少分解力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但需要分解加速度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此时应用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P_5_BD#2af5e8c0b?colgroup=3,32&amp;vcp=1&amp;pid=305cb22bc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104650"/>
                  </p:ext>
                </p:extLst>
              </p:nvPr>
            </p:nvGraphicFramePr>
            <p:xfrm>
              <a:off x="393192" y="2028127"/>
              <a:ext cx="11365992" cy="3425317"/>
            </p:xfrm>
            <a:graphic>
              <a:graphicData uri="http://schemas.openxmlformats.org/drawingml/2006/table">
                <a:tbl>
                  <a:tblPr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589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25317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正交分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解法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38" t="-178" r="-120" b="-3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2af5e8c0b?colgroup=3,32&amp;vcp=1&amp;pid=305cb22bc&amp;color=0,0,0&amp;vtp=1&amp;bt=1&amp;bbb=1">
            <a:extLst>
              <a:ext uri="{FF2B5EF4-FFF2-40B4-BE49-F238E27FC236}">
                <a16:creationId xmlns:a16="http://schemas.microsoft.com/office/drawing/2014/main" id="{97FA9D8E-0D47-BE89-6F99-E6C4B5765C13}"/>
              </a:ext>
            </a:extLst>
          </p:cNvPr>
          <p:cNvSpPr txBox="1"/>
          <p:nvPr/>
        </p:nvSpPr>
        <p:spPr>
          <a:xfrm>
            <a:off x="11143632" y="1402651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7_1#5221347f4?vcp=1&amp;pid=305cb22bc&amp;color=0,0,0&amp;vtp=1&amp;bt=1&amp;bbb=1&amp;hb=1"/>
              <p:cNvSpPr/>
              <p:nvPr/>
            </p:nvSpPr>
            <p:spPr>
              <a:xfrm>
                <a:off x="393192" y="1516984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（安徽高考题改编）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的人站在倾角为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的自动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扶梯的水平踏板上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，随扶梯一起以加速度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斜向上匀减速运动，重力加速度为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7_1#5221347f4?vcp=1&amp;pid=305cb22b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6984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42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8_1#5221347f4.bracket?vcp=1&amp;pid=305cb22bc&amp;color=0,0,0&amp;vpa=3&amp;vtp=1&amp;bbb=1"/>
          <p:cNvSpPr/>
          <p:nvPr/>
        </p:nvSpPr>
        <p:spPr>
          <a:xfrm>
            <a:off x="2505361" y="2623153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4" name="QC_5_BD.7_2#5221347f4?htil=1&amp;vcp=1&amp;pid=305cb22b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1186" y="3218910"/>
            <a:ext cx="2039112" cy="117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7_3#5221347f4.choices?htil=1&amp;vcp=1&amp;pid=305cb22bc&amp;color=0,0,0&amp;vtp=1&amp;bbb=1"/>
              <p:cNvSpPr/>
              <p:nvPr/>
            </p:nvSpPr>
            <p:spPr>
              <a:xfrm>
                <a:off x="393192" y="3173189"/>
                <a:ext cx="9235440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A.人受到的摩擦力水平向右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.人对踏板的作用力竖直向下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.踏板对人的支持力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.踏板对人的支持力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7_3#5221347f4.choices?htil=1&amp;vcp=1&amp;pid=305cb22b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3189"/>
                <a:ext cx="9235440" cy="2158302"/>
              </a:xfrm>
              <a:prstGeom prst="rect">
                <a:avLst/>
              </a:prstGeom>
              <a:blipFill>
                <a:blip r:embed="rId5"/>
                <a:stretch>
                  <a:fillRect l="-2046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9_1#5221347f4?vcp=1&amp;pid=305cb22bc&amp;color=0,0,0&amp;vtp=1&amp;bt=1&amp;bbb=1&amp;hb=1"/>
              <p:cNvSpPr/>
              <p:nvPr/>
            </p:nvSpPr>
            <p:spPr>
              <a:xfrm>
                <a:off x="393192" y="623824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如图所示，将加速度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沿水平方向和竖直方向正交分解，可得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；水平方向，根据牛顿第二定律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，可得人受到的摩擦力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方向一致，水平向右；竖直方向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，解得踏板对人的支持力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，故A、D正确，C错误.踏板对人的作用力即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，由平行四边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形定则可得合力斜向右上方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，由牛顿第三定律可得人对踏板的作用力斜向左下方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9_1#5221347f4?vcp=1&amp;pid=305cb22b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3824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963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AS.9_3#5221347f4?htil=1&amp;vcp=1&amp;pid=305cb22b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5688" y="4729226"/>
            <a:ext cx="2331720" cy="145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C_5_AS.9_4#5221347f4?htil=1&amp;vcp=1&amp;pid=305cb22bc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28432" y="4592066"/>
            <a:ext cx="1828800" cy="15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0_1#33ff1cda8?htil=3&amp;vcp=1&amp;pid=305cb22bc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13520" y="549719"/>
            <a:ext cx="1837944" cy="140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0_2#33ff1cda8?htil=3&amp;vcp=1&amp;pid=305cb22bc&amp;color=0,0,0&amp;vtp=1&amp;bt=1&amp;bbb=1&amp;hb=1&amp;hs=1"/>
              <p:cNvSpPr/>
              <p:nvPr/>
            </p:nvSpPr>
            <p:spPr>
              <a:xfrm>
                <a:off x="393192" y="504000"/>
                <a:ext cx="9427464" cy="1960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如图所示，一位同学手持乒乓球拍托球沿水平直线跑动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，球拍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与球相对静止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，且均相对该同学的身体静止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，球拍平面和水平面之间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.设球拍和球的质量分别为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，不计球拍和球之间的摩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，不计空气阻力，重力加速度为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0_2#33ff1cda8?htil=3&amp;vcp=1&amp;pid=305cb22bc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9427464" cy="1960499"/>
              </a:xfrm>
              <a:prstGeom prst="rect">
                <a:avLst/>
              </a:prstGeom>
              <a:blipFill>
                <a:blip r:embed="rId4"/>
                <a:stretch>
                  <a:fillRect l="-2005" t="-312" r="-1682" b="-934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1_1#33ff1cda8.bracket?vcp=1&amp;pid=305cb22bc&amp;color=0,0,0&amp;vpa=4&amp;vtp=1"/>
          <p:cNvSpPr/>
          <p:nvPr/>
        </p:nvSpPr>
        <p:spPr>
          <a:xfrm>
            <a:off x="5998305" y="2011363"/>
            <a:ext cx="441325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0_3#33ff1cda8.choices?vcp=1&amp;pid=305cb22bc&amp;color=0,0,0&amp;vtp=1&amp;bbb=1&amp;hs=1"/>
              <p:cNvSpPr/>
              <p:nvPr/>
            </p:nvSpPr>
            <p:spPr>
              <a:xfrm>
                <a:off x="393192" y="2464499"/>
                <a:ext cx="11402568" cy="9480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0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.该同学做匀速直线运动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.乒乓球处于平衡状态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.球拍受到的合力大小为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.球拍受到乒乓球的压力大小为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0_3#33ff1cda8.choices?vcp=1&amp;pid=305cb22bc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64499"/>
                <a:ext cx="11402568" cy="948055"/>
              </a:xfrm>
              <a:prstGeom prst="rect">
                <a:avLst/>
              </a:prstGeom>
              <a:blipFill>
                <a:blip r:embed="rId5"/>
                <a:stretch>
                  <a:fillRect l="-1658" b="-1987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2_1#33ff1cda8?vcp=1&amp;pid=305cb22bc&amp;color=0,0,0&amp;vtp=1&amp;bbb=1&amp;hb=1"/>
              <p:cNvSpPr/>
              <p:nvPr/>
            </p:nvSpPr>
            <p:spPr>
              <a:xfrm>
                <a:off x="393192" y="3413125"/>
                <a:ext cx="11402568" cy="25103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由于不计空气阻力和摩擦力，因此要保持乒乓球相对静止于倾斜的球拍，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则人、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球拍和球需以共同的加速度水平向右做匀加速直线运动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，因此A、B错误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；此时乒乓球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,根据牛顿第三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定律可知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，球拍受到乒乓球的压力大小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；球拍随人和球一起水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平向右做匀加速运动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，其合力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2_1#33ff1cda8?vcp=1&amp;pid=305cb22b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3125"/>
                <a:ext cx="11402568" cy="2510346"/>
              </a:xfrm>
              <a:prstGeom prst="rect">
                <a:avLst/>
              </a:prstGeom>
              <a:blipFill>
                <a:blip r:embed="rId6"/>
                <a:stretch>
                  <a:fillRect l="-1658" t="-243" r="-3690" b="-65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0d9b16a5?vcp=1&amp;pid=305cb22bc&amp;color=0,0,0&amp;vtp=1&amp;bt=1&amp;bbb=1"/>
          <p:cNvSpPr/>
          <p:nvPr/>
        </p:nvSpPr>
        <p:spPr>
          <a:xfrm>
            <a:off x="393192" y="585501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应用牛顿第二定律解决问题的一般步骤</a:t>
            </a:r>
            <a:endParaRPr lang="en-US" altLang="zh-CN" sz="2400" dirty="0"/>
          </a:p>
        </p:txBody>
      </p:sp>
      <p:pic>
        <p:nvPicPr>
          <p:cNvPr id="3" name="P_5_BD#10d9b16a5?vcp=1&amp;pid=305cb22bc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0917" y="1758728"/>
            <a:ext cx="2767119" cy="44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0d9b16a5?vcp=1&amp;pid=305cb22bc&amp;color=0,0,0&amp;vtp=1&amp;bt=1&amp;bbb=1"/>
          <p:cNvSpPr/>
          <p:nvPr/>
        </p:nvSpPr>
        <p:spPr>
          <a:xfrm>
            <a:off x="393192" y="130619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正交分解应用牛顿第二定律的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两种情况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P_5_BD#10d9b16a5?colgroup=3,32&amp;vcp=1&amp;pid=305cb22bc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394974"/>
                  </p:ext>
                </p:extLst>
              </p:nvPr>
            </p:nvGraphicFramePr>
            <p:xfrm>
              <a:off x="393192" y="2466721"/>
              <a:ext cx="11375136" cy="3071114"/>
            </p:xfrm>
            <a:graphic>
              <a:graphicData uri="http://schemas.openxmlformats.org/drawingml/2006/table">
                <a:tbl>
                  <a:tblPr/>
                  <a:tblGrid>
                    <a:gridCol w="11978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772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53555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分解力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通常以加速度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的方向为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轴正方向建立平面直角坐标系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将物体所受的各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个力分解在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轴上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分别得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轴的合力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则有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9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35557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分解加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若物体所受各力都在互相垂直的方向上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但加速度却不在这两个方向上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这时可以以力的方向为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轴正方向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只需分解加速度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得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据牛顿第二定律列方程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有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P_5_BD#10d9b16a5?colgroup=3,32&amp;vcp=1&amp;pid=305cb22bc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394974"/>
                  </p:ext>
                </p:extLst>
              </p:nvPr>
            </p:nvGraphicFramePr>
            <p:xfrm>
              <a:off x="393192" y="2466721"/>
              <a:ext cx="11375136" cy="3071114"/>
            </p:xfrm>
            <a:graphic>
              <a:graphicData uri="http://schemas.openxmlformats.org/drawingml/2006/table">
                <a:tbl>
                  <a:tblPr/>
                  <a:tblGrid>
                    <a:gridCol w="11978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772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53555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分解力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856" t="-395" r="-120" b="-105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35557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分解加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856" t="-100794" r="-120" b="-63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0d9b16a5?vcp=1&amp;pid=305cb22bc&amp;color=0,0,0&amp;vtp=1&amp;bt=1&amp;bbb=1&amp;hb=1"/>
          <p:cNvSpPr/>
          <p:nvPr/>
        </p:nvSpPr>
        <p:spPr>
          <a:xfrm>
            <a:off x="393192" y="1238345"/>
            <a:ext cx="11402568" cy="439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友情提醒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.在建立正交坐标系时，为了使解题方便，应考虑尽量减少矢量的分解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，即要尽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量使矢量落在坐标轴上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.在采用分解方法时一般只分解一种物理量，而不同时分解两种物理量.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.物体受两个力作用时，也可以不用合成法而采用正交分解法.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.在运用正交分解法求解力与运动类动力学问题时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，物体在某个方向上做匀变速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，用牛顿第二定律列式；在另一个垂直方向上，物体可能处于平衡状态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，用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共点力平衡条件列式求解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8c166ca73?vcp=1&amp;pid=4fa17c56b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8c166ca73?vcp=1&amp;pid=4fa17c56b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8c166ca73?vcp=1&amp;pid=4fa17c56b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力、加速度和速度的关系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_BD#e4dde512f?vcp=1&amp;pid=8c166ca73&amp;color=0,0,0&amp;vtp=1&amp;bbb=1"/>
          <p:cNvSpPr/>
          <p:nvPr/>
        </p:nvSpPr>
        <p:spPr>
          <a:xfrm>
            <a:off x="393192" y="1092200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.合外力与加速度的关系</a:t>
            </a:r>
            <a:endParaRPr lang="en-US" altLang="zh-CN" sz="2400" dirty="0"/>
          </a:p>
        </p:txBody>
      </p:sp>
      <p:pic>
        <p:nvPicPr>
          <p:cNvPr id="6" name="P_5_BD#e4dde512f?vcp=1&amp;pid=8c166ca7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55264" y="2259330"/>
            <a:ext cx="5678424" cy="185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P_5_BD#e4dde512f?vcp=1&amp;pid=8c166ca73&amp;color=0,0,0&amp;vtp=1&amp;bbb=1"/>
          <p:cNvSpPr/>
          <p:nvPr/>
        </p:nvSpPr>
        <p:spPr>
          <a:xfrm>
            <a:off x="393192" y="4253230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.合外力与速度的关系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合力与速度同向时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，物体做加速运动，反之减速.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e4dde512f?vcp=1&amp;pid=8c166ca73&amp;color=0,0,0&amp;vtp=1&amp;bt=1&amp;bbb=1"/>
          <p:cNvSpPr/>
          <p:nvPr/>
        </p:nvSpPr>
        <p:spPr>
          <a:xfrm>
            <a:off x="393192" y="253644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3.力与运动的关系</a:t>
            </a:r>
            <a:endParaRPr lang="en-US" altLang="zh-CN" sz="2400" dirty="0"/>
          </a:p>
        </p:txBody>
      </p:sp>
      <p:pic>
        <p:nvPicPr>
          <p:cNvPr id="3" name="P_5_BD#e4dde512f?vcp=1&amp;pid=8c166ca7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0864" y="3149219"/>
            <a:ext cx="7507224" cy="11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3_1#a7cf73152?vcp=1&amp;pid=8c166ca73&amp;color=0,0,0&amp;vtp=1&amp;bt=1&amp;bbb=1&amp;hb=1"/>
          <p:cNvSpPr/>
          <p:nvPr/>
        </p:nvSpPr>
        <p:spPr>
          <a:xfrm>
            <a:off x="393192" y="1513872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考题3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如图所示，一个小球从竖直立在地面上的轻弹簧正上方某处自由下落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，在小球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与弹簧开始接触到弹簧被压缩到最短的过程中，小球的速度和加速度的变化情况是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14_1#a7cf73152.bracket?vcp=1&amp;pid=8c166ca73&amp;color=0,0,0&amp;vpa=5&amp;vtp=1"/>
          <p:cNvSpPr/>
          <p:nvPr/>
        </p:nvSpPr>
        <p:spPr>
          <a:xfrm>
            <a:off x="625760" y="262004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13_2#a7cf73152?htil=4&amp;vcp=1&amp;pid=8c166ca7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26057" y="3215798"/>
            <a:ext cx="1380744" cy="128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5_BD.13_3#a7cf73152.choices?htil=4&amp;vcp=1&amp;pid=8c166ca73&amp;color=0,0,0&amp;vtp=1&amp;bbb=1"/>
          <p:cNvSpPr/>
          <p:nvPr/>
        </p:nvSpPr>
        <p:spPr>
          <a:xfrm>
            <a:off x="393192" y="3170078"/>
            <a:ext cx="9884664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A.加速度越来越大，速度越来越小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.加速度和速度都是先增大后减小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.速度先增大后减小，加速度方向先向下后向上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.速度一直减小，加速度大小先减小后增大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5_1#a7cf73152?vcp=1&amp;pid=8c166ca73&amp;color=0,0,0&amp;vtp=1&amp;bt=1&amp;bbb=1&amp;hb=1"/>
              <p:cNvSpPr/>
              <p:nvPr/>
            </p:nvSpPr>
            <p:spPr>
              <a:xfrm>
                <a:off x="393192" y="649954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如图甲所示，小球运动过程中经历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至最低点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处为弹簧原长位置，而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点时弹簧弹力等于重力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5_1#a7cf73152?vcp=1&amp;pid=8c166ca7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49954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AS.15_2#a7cf73152?vcp=1&amp;pid=8c166ca7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69280" y="1823180"/>
            <a:ext cx="859536" cy="197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AS.15_3#a7cf73152?vcp=1&amp;pid=8c166ca73&amp;color=0,0,0&amp;vtp=1&amp;bbb=1&amp;hb=1"/>
              <p:cNvSpPr/>
              <p:nvPr/>
            </p:nvSpPr>
            <p:spPr>
              <a:xfrm>
                <a:off x="393192" y="3931380"/>
                <a:ext cx="11402568" cy="22642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：</m:t>
                        </m:r>
                      </m:e>
                    </m: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在小球与弹簧接触的第一个阶段，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，合力方向竖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，小球向下运动，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逐渐减小，由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合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，且逐渐减小，又因为这一阶段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都竖直向下，所以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点处有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，此时小球速度达到最大；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4" name="QC_5_AS.15_3#a7cf73152?vcp=1&amp;pid=8c166ca7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31380"/>
                <a:ext cx="11402568" cy="2264283"/>
              </a:xfrm>
              <a:prstGeom prst="rect">
                <a:avLst/>
              </a:prstGeom>
              <a:blipFill>
                <a:blip r:embed="rId5"/>
                <a:stretch>
                  <a:fillRect l="-1658" b="-7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15_4#a7cf73152?vcp=1&amp;pid=8c166ca73&amp;color=0,0,0&amp;mp=1&amp;tib=255,255,255&amp;vtp=1&amp;bt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4024" y="969295"/>
            <a:ext cx="2660904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AS.15_5#a7cf73152?vcp=1&amp;pid=8c166ca73&amp;color=0,0,0&amp;vtp=1&amp;bbb=1&amp;hb=1"/>
              <p:cNvSpPr/>
              <p:nvPr/>
            </p:nvSpPr>
            <p:spPr>
              <a:xfrm>
                <a:off x="393192" y="3139472"/>
                <a:ext cx="11402568" cy="2751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e>
                    </m: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过程，小球继续向下运动；有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，合力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方向竖直向上，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小球向下运动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继续增大，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𝒌𝒙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，方向竖直向上，随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的增大而增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方向相反，所以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逐渐减小.综上所述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，小球与弹簧开始接触到弹簧被压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缩到最短的过程中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，合力的方向先向下减小后向上增大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；加速度的方向先向下减小后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；速度的方向向下，其大小先增大后减小，其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图像如图乙所示，C正确.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C_5_AS.15_5#a7cf73152?vcp=1&amp;pid=8c166ca7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9472"/>
                <a:ext cx="11402568" cy="2751900"/>
              </a:xfrm>
              <a:prstGeom prst="rect">
                <a:avLst/>
              </a:prstGeom>
              <a:blipFill>
                <a:blip r:embed="rId4"/>
                <a:stretch>
                  <a:fillRect l="-1658" r="-2513" b="-687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6_1#335051c84?vcp=1&amp;pid=8c166ca73&amp;color=0,0,0&amp;vtp=1&amp;bt=1&amp;bbb=1&amp;hb=1"/>
              <p:cNvSpPr/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（2026·安徽合肥六中检测）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如图所示，弹簧左端固定，右端自由伸长到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点并系住物体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.现将弹簧压缩到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点，然后释放，物体可以一直运动到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.如果物体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受到的阻力恒定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6_1#335051c84?vcp=1&amp;pid=8c166ca7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7_1#335051c84.bracket?vcp=1&amp;pid=8c166ca73&amp;color=0,0,0&amp;vpa=6&amp;vtp=1"/>
          <p:cNvSpPr/>
          <p:nvPr/>
        </p:nvSpPr>
        <p:spPr>
          <a:xfrm>
            <a:off x="5807360" y="26513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5_BD.16_2#335051c84?htil=5&amp;vcp=1&amp;pid=8c166ca7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1368" y="3184492"/>
            <a:ext cx="2578608" cy="124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6_3#335051c84.choices?htil=5&amp;vcp=1&amp;pid=8c166ca73&amp;color=0,0,0&amp;vtp=1&amp;bbb=1"/>
              <p:cNvSpPr/>
              <p:nvPr/>
            </p:nvSpPr>
            <p:spPr>
              <a:xfrm>
                <a:off x="393192" y="3138772"/>
                <a:ext cx="869594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先加速后减速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加速运动，从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减速运动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点时所受合力为0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的过程加速度逐渐减小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6_3#335051c84.choices?htil=5&amp;vcp=1&amp;pid=8c166ca7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8695944" cy="2155000"/>
              </a:xfrm>
              <a:prstGeom prst="rect">
                <a:avLst/>
              </a:prstGeom>
              <a:blipFill>
                <a:blip r:embed="rId5"/>
                <a:stretch>
                  <a:fillRect l="-217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8_1#335051c84?vcp=1&amp;pid=8c166ca73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的过程中，弹力先大于阻力，物体向右做加速运动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.当物体足够靠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近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点时，弹力小于阻力，则物体向右做减速运动.从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的过程中所受弹力和摩擦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力均与运动方向相反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，即物体做减速运动，故A正确，B错误；物体运动到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点时合力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是滑动摩擦力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，方向水平向左，故C错误；在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点合力水平向右，在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点合力水平向左，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因此从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的过程中存在一个转折点，该点的加速度为0，从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加速度大小先变小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后变大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8_1#335051c84?vcp=1&amp;pid=8c166ca7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3529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1230ac203?vcp=1&amp;pid=8c166ca73&amp;color=0,0,0&amp;vtp=1&amp;bt=1&amp;bbb=1"/>
              <p:cNvSpPr/>
              <p:nvPr/>
            </p:nvSpPr>
            <p:spPr>
              <a:xfrm>
                <a:off x="393192" y="2355056"/>
                <a:ext cx="11402568" cy="2146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、加速度和速度关系的分析思路</a:t>
                </a:r>
                <a:endParaRPr lang="en-US" altLang="zh-CN" sz="2400" dirty="0"/>
              </a:p>
              <a:p>
                <a:pPr latinLnBrk="1">
                  <a:lnSpc>
                    <a:spcPts val="8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合外力</a:t>
                </a:r>
                <a14:m>
                  <m:oMath xmlns:m="http://schemas.openxmlformats.org/officeDocument/2006/math">
                    <m:r>
                      <a:rPr lang="en-US" altLang="zh-CN" sz="2400" b="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mPr>
                      <m:mr>
                        <m:e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由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决定</m:t>
                          </m:r>
                        </m:e>
                      </m:mr>
                      <m:mr>
                        <m:e>
                          <m:groupChr>
                            <m:groupChrPr>
                              <m:chr m:val="→"/>
                              <m:pos m:val="top"/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含大小和方向两个因素</m:t>
                              </m:r>
                            </m:e>
                          </m:groupChr>
                        </m:e>
                      </m:mr>
                    </m:m>
                    <m:r>
                      <a:rPr lang="en-US" altLang="zh-CN" sz="2400" b="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 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</a:t>
                </a:r>
                <a14:m>
                  <m:oMath xmlns:m="http://schemas.openxmlformats.org/officeDocument/2006/math">
                    <m:r>
                      <a:rPr lang="en-US" altLang="zh-CN" sz="2400" b="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mPr>
                      <m:mr>
                        <m:e>
                          <m:r>
                            <m:rPr>
                              <m:nor/>
                            </m:rPr>
                            <a:rPr lang="en-US" altLang="zh-CN" sz="2400" b="0">
                              <a:solidFill>
                                <a:srgbClr val="000000"/>
                              </a:solidFill>
                            </a:rPr>
                            <m:t>时间积累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b="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  <a:cs typeface="Times New Roman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𝑎𝑡</m:t>
                          </m:r>
                        </m:e>
                      </m:mr>
                      <m:mr>
                        <m:e>
                          <m:groupChr>
                            <m:groupChrPr>
                              <m:chr m:val="→"/>
                              <m:pos m:val="top"/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①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与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同向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变大②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与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反向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变小</m:t>
                              </m:r>
                            </m:e>
                          </m:groupChr>
                        </m:e>
                      </m:mr>
                    </m:m>
                    <m:r>
                      <a:rPr lang="en-US" altLang="zh-CN" sz="2400" b="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34" charset="-120"/>
                      </a:rPr>
                      <m:t> 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1230ac203?vcp=1&amp;pid=8c166ca73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55056"/>
                <a:ext cx="11402568" cy="2146300"/>
              </a:xfrm>
              <a:prstGeom prst="rect">
                <a:avLst/>
              </a:prstGeom>
              <a:blipFill>
                <a:blip r:embed="rId3"/>
                <a:stretch>
                  <a:fillRect l="-1658" b="-2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230ac203?vcp=1&amp;pid=8c166ca73&amp;color=0,0,0&amp;vtp=1&amp;bt=1&amp;bbb=1&amp;hb=1"/>
          <p:cNvSpPr/>
          <p:nvPr/>
        </p:nvSpPr>
        <p:spPr>
          <a:xfrm>
            <a:off x="393192" y="1241457"/>
            <a:ext cx="11402568" cy="4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.合外力方向和运动方向相同,做加速运动;合外力方向和运动方向相反,</a:t>
            </a: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做减速运动.</a:t>
            </a:r>
            <a:endParaRPr lang="en-US" altLang="zh-CN" sz="2400" spc="-5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加速度方向和合外力方向总相同.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.合外力为0,加速度为0,但此时速度不一定为0;同理,速度为0,加速度不一定为0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,合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外力不一定为0.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.速度变化的根本原因是加速度的存在,速度是变大还是变小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,要看速度方向和加速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度方向是相同还是相反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.若相同,则物体做加速运动,速度增大;若相反,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则物体做减速运动,</a:t>
            </a:r>
          </a:p>
          <a:p>
            <a:pPr latinLnBrk="1">
              <a:lnSpc>
                <a:spcPts val="43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速度减小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100" b="0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#4.2.4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1230ac203?vcp=1&amp;pid=8c166ca73&amp;color=0,0,0&amp;mp=1&amp;vtp=1&amp;bt=1&amp;bbb=1&amp;hb=1"/>
              <p:cNvSpPr/>
              <p:nvPr/>
            </p:nvSpPr>
            <p:spPr>
              <a:xfrm>
                <a:off x="393192" y="1115536"/>
                <a:ext cx="11402568" cy="44189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5.加速度变化的根本原因是合外力的变化,合外力增大则加速度增大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,合外力减小则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加速度减小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,加速度方向和合外力方向总是相同的.因此,要想判断物体的运动情况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,还要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通过受力分析进行判断.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6.加速度的定义式与决定式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是加速度的定义式，它给出了测量物体的加速度的方法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，这是物理上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用比值定义物理量的方法.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是加速度的决定式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，它揭示了物体产生加速度的原因及影响物体加速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度的因素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#4.2.6.2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1230ac203?vcp=1&amp;pid=8c166ca73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15536"/>
                <a:ext cx="11402568" cy="4418902"/>
              </a:xfrm>
              <a:prstGeom prst="rect">
                <a:avLst/>
              </a:prstGeom>
              <a:blipFill>
                <a:blip r:embed="rId3"/>
                <a:stretch>
                  <a:fillRect l="-1658" r="-1337" b="-413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72f8b69b6?vcp=1&amp;pid=4fa17c56b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72f8b69b6?vcp=1&amp;pid=4fa17c56b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72f8b69b6?vcp=1&amp;pid=4fa17c56b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应用牛顿第二定律求瞬时加速度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_BD#810b76398?vcp=1&amp;pid=72f8b69b6&amp;color=0,0,0&amp;vtp=1&amp;bbb=1&amp;hb=1"/>
          <p:cNvSpPr/>
          <p:nvPr/>
        </p:nvSpPr>
        <p:spPr>
          <a:xfrm>
            <a:off x="393192" y="1092200"/>
            <a:ext cx="11402568" cy="271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根据牛顿第二定律知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，加速度与合力存在瞬时对应关系.分析物体的瞬时问题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，关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键是分析瞬时前后的受力情况和运动状态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，再由牛顿第二定律求出瞬时加速度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，此类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问题应注意两种基本模型的建立.</a:t>
            </a:r>
          </a:p>
          <a:p>
            <a:pPr marL="0" marR="0" lvl="0" indent="0" algn="ctr" defTabSz="914400" rtl="0" eaLnBrk="1" fontAlgn="auto" latinLnBrk="1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求解瞬时加速度问题的一般思路</a:t>
            </a:r>
            <a:endParaRPr lang="en-US" altLang="zh-CN" sz="2400" dirty="0"/>
          </a:p>
        </p:txBody>
      </p:sp>
      <p:pic>
        <p:nvPicPr>
          <p:cNvPr id="7" name="P_5_BD#810b76398?vcp=1&amp;pid=72f8b69b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7379" y="3860800"/>
            <a:ext cx="6405050" cy="241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9_1#76227acc1?vcp=1&amp;pid=72f8b69b6&amp;color=0,0,0&amp;vtp=1&amp;bt=1&amp;bbb=1&amp;hb=1"/>
              <p:cNvSpPr/>
              <p:nvPr/>
            </p:nvSpPr>
            <p:spPr>
              <a:xfrm>
                <a:off x="393192" y="1414273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（全国高考题改编）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，天花板上用细绳吊起两个用轻弹簧相连的质量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相同的小球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，两个小球均保持静止.当突然剪断细绳时，上面的小球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与下面的小球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9_1#76227acc1?vcp=1&amp;pid=72f8b69b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14273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35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0_1#76227acc1.bracket?vcp=1&amp;pid=72f8b69b6&amp;color=0,0,0&amp;vpa=7&amp;vtp=1"/>
          <p:cNvSpPr/>
          <p:nvPr/>
        </p:nvSpPr>
        <p:spPr>
          <a:xfrm>
            <a:off x="2759361" y="252044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19_2#76227acc1?vcp=1&amp;pid=72f8b69b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50408" y="3134868"/>
            <a:ext cx="1097280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9_3#76227acc1.choices?vcp=1&amp;pid=72f8b69b6&amp;color=0,0,0&amp;vtp=1&amp;bbb=1"/>
              <p:cNvSpPr/>
              <p:nvPr/>
            </p:nvSpPr>
            <p:spPr>
              <a:xfrm>
                <a:off x="393192" y="4963668"/>
                <a:ext cx="11402568" cy="4781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43652" algn="l"/>
                    <a:tab pos="5636504" algn="l"/>
                    <a:tab pos="85944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9_3#76227acc1.choices?vcp=1&amp;pid=72f8b69b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63668"/>
                <a:ext cx="11402568" cy="478155"/>
              </a:xfrm>
              <a:prstGeom prst="rect">
                <a:avLst/>
              </a:prstGeom>
              <a:blipFill>
                <a:blip r:embed="rId5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21_1#76227acc1?htil=6&amp;vcp=1&amp;pid=72f8b69b6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60316" y="549720"/>
            <a:ext cx="3063240" cy="209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AS.21_2#76227acc1?htil=6&amp;vcp=1&amp;pid=72f8b69b6&amp;color=0,0,0&amp;vtp=1&amp;bt=1&amp;bbb=1&amp;hb=1&amp;hs=1"/>
              <p:cNvSpPr/>
              <p:nvPr/>
            </p:nvSpPr>
            <p:spPr>
              <a:xfrm>
                <a:off x="393192" y="504000"/>
                <a:ext cx="8202168" cy="24121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剪断绳的瞬间，绳子对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球的拉力立即消失，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球只受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弹簧弹力与重力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球受力不变.分别以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球为研究对象，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作剪断前和剪断时的受力分析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.剪断前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球受绳子的拉力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和弹簧弹力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和弹簧弹力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（大小等于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）两个力的作用.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AS.21_2#76227acc1?htil=6&amp;vcp=1&amp;pid=72f8b69b6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202168" cy="2412175"/>
              </a:xfrm>
              <a:prstGeom prst="rect">
                <a:avLst/>
              </a:prstGeom>
              <a:blipFill>
                <a:blip r:embed="rId4"/>
                <a:stretch>
                  <a:fillRect l="-2305" t="-759" r="-1264" b="-75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AS.21_3#76227acc1?vcp=1&amp;pid=72f8b69b6&amp;color=0,0,0&amp;vtp=1&amp;bbb=1&amp;hb=1&amp;hs=1"/>
              <p:cNvSpPr/>
              <p:nvPr/>
            </p:nvSpPr>
            <p:spPr>
              <a:xfrm>
                <a:off x="393192" y="2893315"/>
                <a:ext cx="11402568" cy="34027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dirty="0"/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联立两式解得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.剪断时，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球受两个力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，因为绳子剪断瞬间拉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力突然消失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，而弹簧有形变，瞬间形状不可改变，弹力还存在，如图乙所示，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球受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和弹簧弹力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球受重力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和弹簧弹力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100" dirty="0"/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（方向向下），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C正确.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4" name="QC_5_AS.21_3#76227acc1?vcp=1&amp;pid=72f8b69b6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93315"/>
                <a:ext cx="11402568" cy="3402775"/>
              </a:xfrm>
              <a:prstGeom prst="rect">
                <a:avLst/>
              </a:prstGeom>
              <a:blipFill>
                <a:blip r:embed="rId5"/>
                <a:stretch>
                  <a:fillRect l="-1658" t="-538" r="-481" b="-51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22_1#94bdc5104?vcp=1&amp;pid=72f8b69b6&amp;color=0,0,0&amp;vtp=1&amp;bt=1&amp;bbb=1&amp;hb=1"/>
              <p:cNvSpPr/>
              <p:nvPr/>
            </p:nvSpPr>
            <p:spPr>
              <a:xfrm>
                <a:off x="393192" y="104756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如图所示，物块1、2间用刚性轻质杆连接，物块3、4间用轻质弹簧相连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1、3质量为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，2、4质量为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，两个系统均置于水平放置的光滑木板上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，并处于静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.现将两木板沿水平方向突然抽出，设抽出后的瞬间，物块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1、2、3、4的加速度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22_1#94bdc5104?vcp=1&amp;pid=72f8b69b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47560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3_1#94bdc5104.bracket?vcp=1&amp;pid=72f8b69b6&amp;color=0,0,0&amp;vpa=8&amp;vtp=1"/>
          <p:cNvSpPr/>
          <p:nvPr/>
        </p:nvSpPr>
        <p:spPr>
          <a:xfrm>
            <a:off x="7921402" y="2712530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22_2#94bdc5104?htil=7&amp;vcp=1&amp;pid=72f8b69b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25900" y="3232975"/>
            <a:ext cx="2962656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2_3#94bdc5104.choices?htil=7&amp;vcp=1&amp;pid=72f8b69b6&amp;color=0,0,0&amp;vtp=1&amp;bbb=1"/>
              <p:cNvSpPr/>
              <p:nvPr/>
            </p:nvSpPr>
            <p:spPr>
              <a:xfrm>
                <a:off x="393192" y="3187255"/>
                <a:ext cx="8302752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𝑀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2_3#94bdc5104.choices?htil=7&amp;vcp=1&amp;pid=72f8b69b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87255"/>
                <a:ext cx="8302752" cy="2235200"/>
              </a:xfrm>
              <a:prstGeom prst="rect">
                <a:avLst/>
              </a:prstGeom>
              <a:blipFill>
                <a:blip r:embed="rId5"/>
                <a:stretch>
                  <a:fillRect l="-2276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4_1#94bdc5104?vcp=1&amp;pid=72f8b69b6&amp;color=0,0,0&amp;vtp=1&amp;bt=1&amp;bbb=1&amp;hb=1"/>
              <p:cNvSpPr/>
              <p:nvPr/>
            </p:nvSpPr>
            <p:spPr>
              <a:xfrm>
                <a:off x="393192" y="1391507"/>
                <a:ext cx="11402568" cy="39047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支撑1、2的木板突然抽出的瞬间，连接1、2的轻质杆弹力发生突变，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1、2作为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一个整体有自由下落的趋势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.支撑3、4的木板突然抽出的瞬间，连接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3、4的弹簧弹力不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会发生突变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，物块3的合外力仍为0，物块4只受弹力和自身重力作用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.在抽出木板的瞬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，物块1、2与刚性轻杆接触处的形变立即消失，受到的合力均等于各自重力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;而物块3与4间的轻弹簧的形变还来不及改变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簧对物块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3向上的弹力大小和对物块4向下的弹力大小仍为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，因此物块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3满足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；由牛顿第二定律得物块4满足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弹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4_1#94bdc5104?vcp=1&amp;pid=72f8b69b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91507"/>
                <a:ext cx="11402568" cy="3904742"/>
              </a:xfrm>
              <a:prstGeom prst="rect">
                <a:avLst/>
              </a:prstGeom>
              <a:blipFill>
                <a:blip r:embed="rId3"/>
                <a:stretch>
                  <a:fillRect l="-1658" r="-1230" b="-26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e7e0c36a?vcp=1&amp;pid=72f8b69b6&amp;color=0,0,0&amp;vtp=1&amp;bt=1&amp;bbb=1"/>
          <p:cNvSpPr/>
          <p:nvPr/>
        </p:nvSpPr>
        <p:spPr>
          <a:xfrm>
            <a:off x="393192" y="1359979"/>
            <a:ext cx="11402568" cy="104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规律总结</a:t>
            </a:r>
            <a:endParaRPr lang="en-US" altLang="zh-CN" sz="2400" dirty="0"/>
          </a:p>
          <a:p>
            <a:pPr algn="ctr" latinLnBrk="1">
              <a:lnSpc>
                <a:spcPts val="43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常见模型的弹力特点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#4.1</a:t>
            </a:r>
            <a:endParaRPr lang="en-US" altLang="zh-CN" sz="2400" dirty="0"/>
          </a:p>
        </p:txBody>
      </p:sp>
      <p:graphicFrame>
        <p:nvGraphicFramePr>
          <p:cNvPr id="35" name="P_5_BD#2e7e0c36a?colgroup=3,13,9,9&amp;vcp=1&amp;pid=72f8b69b6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970922"/>
              </p:ext>
            </p:extLst>
          </p:nvPr>
        </p:nvGraphicFramePr>
        <p:xfrm>
          <a:off x="393192" y="2521776"/>
          <a:ext cx="11400546" cy="2963545"/>
        </p:xfrm>
        <a:graphic>
          <a:graphicData uri="http://schemas.openxmlformats.org/drawingml/2006/table">
            <a:tbl>
              <a:tblPr/>
              <a:tblGrid>
                <a:gridCol w="1327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9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弹力方向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受外力时形变特点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受较大外力时形变量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沿着绳子缩短的方向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不可伸长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微小不计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橡皮绳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沿着橡皮绳缩短的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能变长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较大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轻弹簧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沿弹簧的轴线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与弹簧形变方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向相反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既可变长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又可变短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较大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不一定沿着杆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不可伸长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不可缩短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微小不计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P_5_BD#2e7e0c36a?colgroup=3,15,16&amp;vcp=1&amp;pid=72f8b69b6&amp;color=0,0,0&amp;vtp=1&amp;bt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54732"/>
              </p:ext>
            </p:extLst>
          </p:nvPr>
        </p:nvGraphicFramePr>
        <p:xfrm>
          <a:off x="393192" y="2496756"/>
          <a:ext cx="11402869" cy="2488057"/>
        </p:xfrm>
        <a:graphic>
          <a:graphicData uri="http://schemas.openxmlformats.org/drawingml/2006/table">
            <a:tbl>
              <a:tblPr/>
              <a:tblGrid>
                <a:gridCol w="1324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0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模型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弹力能否突变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产生拉力或压力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可以突变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只能受拉力作用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不能承受压力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橡皮绳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两端连有物体时不能突变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只能受拉力作用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不能承受压力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轻弹簧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两端连有物体时不能突变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既能承受拉力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又能承受压力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轻杆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可以突变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既能承受拉力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又能承受压力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P_5_BD#2e7e0c36a?colgroup=3,15,16&amp;vcp=1&amp;pid=72f8b69b6&amp;color=0,0,0&amp;vtp=1&amp;bt=1&amp;bbb=1">
            <a:extLst>
              <a:ext uri="{FF2B5EF4-FFF2-40B4-BE49-F238E27FC236}">
                <a16:creationId xmlns:a16="http://schemas.microsoft.com/office/drawing/2014/main" id="{DAA0AAE4-D48F-ED9E-AC02-6D04968DD891}"/>
              </a:ext>
            </a:extLst>
          </p:cNvPr>
          <p:cNvSpPr txBox="1"/>
          <p:nvPr/>
        </p:nvSpPr>
        <p:spPr>
          <a:xfrm>
            <a:off x="11180508" y="187128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e7e0c36a?vcp=1&amp;pid=72f8b69b6&amp;color=0,0,0&amp;vtp=1&amp;bt=1&amp;bbb=1&amp;hb=1"/>
          <p:cNvSpPr/>
          <p:nvPr/>
        </p:nvSpPr>
        <p:spPr>
          <a:xfrm>
            <a:off x="393192" y="1514666"/>
            <a:ext cx="11402568" cy="382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解瞬时加速度问题的注意事项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.物体的受力情况和运动情况是时刻对应的，当外界因素发生变化时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，需要重新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进行受力分析和运动状态分析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.加速度可以随着力的突变而突变，而速度的变化需要一个积累的过程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，不会发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生突变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.即使是轻质弹簧，如果将其剪断，其弹力仍将瞬时突变为0.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&amp;si=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9cfc5c0fd?vcp=1&amp;pid=4fa17c56b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9cfc5c0fd?vcp=1&amp;pid=4fa17c56b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</a:t>
            </a:r>
            <a:endParaRPr lang="en-US" altLang="zh-CN" sz="2800" dirty="0"/>
          </a:p>
        </p:txBody>
      </p:sp>
      <p:sp>
        <p:nvSpPr>
          <p:cNvPr id="4" name="C_4_BD#9cfc5c0fd?vcp=1&amp;pid=4fa17c56b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力学单位制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2dc52a873?vcp=1&amp;pid=9cfc5c0fd&amp;color=0,0,0&amp;vtp=1&amp;bbb=1&amp;hb=1"/>
              <p:cNvSpPr/>
              <p:nvPr/>
            </p:nvSpPr>
            <p:spPr>
              <a:xfrm>
                <a:off x="393192" y="1092200"/>
                <a:ext cx="11402568" cy="335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基本单位和导出单位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1）基本单位：基本量的单位叫作基本单位.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如长度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、质量、时间的基本单位分别是米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、千克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2）导出单位：由基本量根据物理关系推导出来的其他物理量的单位.例如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长度单位为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,时间单位为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,由加速度的关系式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可知它的单位是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2dc52a873?vcp=1&amp;pid=9cfc5c0f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3352800"/>
              </a:xfrm>
              <a:prstGeom prst="rect">
                <a:avLst/>
              </a:prstGeom>
              <a:blipFill>
                <a:blip r:embed="rId4"/>
                <a:stretch>
                  <a:fillRect l="-1658" b="-32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5_1#a4ff90dbc?vcp=1&amp;pid=9cfc5c0fd&amp;color=0,0,0&amp;mp=1&amp;vtp=1&amp;bt=1&amp;bbb=1"/>
          <p:cNvSpPr/>
          <p:nvPr/>
        </p:nvSpPr>
        <p:spPr>
          <a:xfrm>
            <a:off x="393192" y="238229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考题5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下列用国际单位制中的基本单位表示能量的单位正确的是(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6_1#a4ff90dbc.bracket?vcp=1&amp;pid=9cfc5c0fd&amp;color=0,0,0&amp;mp=1&amp;vpa=9&amp;vtp=1"/>
          <p:cNvSpPr/>
          <p:nvPr/>
        </p:nvSpPr>
        <p:spPr>
          <a:xfrm>
            <a:off x="9161748" y="2380393"/>
            <a:ext cx="4413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25_2#a4ff90dbc.choices?vcp=1&amp;pid=9cfc5c0fd&amp;color=0,0,0&amp;vtp=1&amp;bbb=1"/>
              <p:cNvSpPr/>
              <p:nvPr/>
            </p:nvSpPr>
            <p:spPr>
              <a:xfrm>
                <a:off x="393192" y="2924015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310377" algn="l"/>
                    <a:tab pos="6442954" algn="l"/>
                    <a:tab pos="89786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25_2#a4ff90dbc.choices?vcp=1&amp;pid=9cfc5c0f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24015"/>
                <a:ext cx="11402568" cy="477330"/>
              </a:xfrm>
              <a:prstGeom prst="rect">
                <a:avLst/>
              </a:prstGeom>
              <a:blipFill>
                <a:blip r:embed="rId3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27_1#a4ff90dbc?vcp=1&amp;pid=9cfc5c0fd&amp;color=0,0,0&amp;vtp=1&amp;bbb=1&amp;hb=1"/>
              <p:cNvSpPr/>
              <p:nvPr/>
            </p:nvSpPr>
            <p:spPr>
              <a:xfrm>
                <a:off x="393192" y="3412267"/>
                <a:ext cx="11402568" cy="10588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𝑾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可知能量的单位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27_1#a4ff90dbc?vcp=1&amp;pid=9cfc5c0f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2267"/>
                <a:ext cx="11402568" cy="1058863"/>
              </a:xfrm>
              <a:prstGeom prst="rect">
                <a:avLst/>
              </a:prstGeom>
              <a:blipFill>
                <a:blip r:embed="rId4"/>
                <a:stretch>
                  <a:fillRect l="-1658" b="-173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28_1#bb13cffe8?vcp=1&amp;pid=9cfc5c0fd&amp;color=0,0,0&amp;vtp=1&amp;bt=1&amp;bbb=1&amp;hb=1"/>
              <p:cNvSpPr/>
              <p:nvPr/>
            </p:nvSpPr>
            <p:spPr>
              <a:xfrm>
                <a:off x="393192" y="140109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变式5-1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声音在空气中的传播速度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与空气的密度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𝜌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、压强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𝑝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均有关.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根据单位制判断，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下列关于空气中声速的表达式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为比例系数，无单位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28_1#bb13cffe8?vcp=1&amp;pid=9cfc5c0f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0109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390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9_1#bb13cffe8.bracket?vcp=1&amp;pid=9cfc5c0fd&amp;color=0,0,0&amp;vpa=10&amp;vtp=1"/>
          <p:cNvSpPr/>
          <p:nvPr/>
        </p:nvSpPr>
        <p:spPr>
          <a:xfrm>
            <a:off x="8994490" y="1948466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28_2#bb13cffe8.choices?vcp=1&amp;pid=9cfc5c0fd&amp;color=0,0,0&amp;vtp=1&amp;bbb=1"/>
              <p:cNvSpPr/>
              <p:nvPr/>
            </p:nvSpPr>
            <p:spPr>
              <a:xfrm>
                <a:off x="393192" y="2434621"/>
                <a:ext cx="11402568" cy="825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500"/>
                  </a:lnSpc>
                  <a:tabLst>
                    <a:tab pos="2691252" algn="l"/>
                    <a:tab pos="5573004" algn="l"/>
                    <a:tab pos="84674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𝑘𝑝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𝑘𝑝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𝜌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𝑘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𝜌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𝑝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𝑘𝑝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28_2#bb13cffe8.choices?vcp=1&amp;pid=9cfc5c0f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34621"/>
                <a:ext cx="11402568" cy="825500"/>
              </a:xfrm>
              <a:prstGeom prst="rect">
                <a:avLst/>
              </a:prstGeom>
              <a:blipFill>
                <a:blip r:embed="rId4"/>
                <a:stretch>
                  <a:fillRect l="-1658" b="-73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30_1#bb13cffe8?vcp=1&amp;pid=9cfc5c0fd&amp;color=0,0,0&amp;vtp=1&amp;bbb=1&amp;hb=1"/>
              <p:cNvSpPr/>
              <p:nvPr/>
            </p:nvSpPr>
            <p:spPr>
              <a:xfrm>
                <a:off x="393192" y="3260121"/>
                <a:ext cx="11402568" cy="22018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𝒑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的单位用国际单位制中的基本单位表示：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𝐏𝐚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𝐤𝐠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𝐬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𝝆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国际单位制中的基本单位表示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.代入选项A中,单位为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,A错误;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代入选项B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，单位为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,B正确；代入选项C中，单位为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，C错误；代入选项D中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，单位为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/(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AS.30_1#bb13cffe8?vcp=1&amp;pid=9cfc5c0f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60121"/>
                <a:ext cx="11402568" cy="2201863"/>
              </a:xfrm>
              <a:prstGeom prst="rect">
                <a:avLst/>
              </a:prstGeom>
              <a:blipFill>
                <a:blip r:embed="rId5"/>
                <a:stretch>
                  <a:fillRect l="-1658" r="-856" b="-80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&amp;si=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0b3e728e2?vcp=1&amp;pid=9cfc5c0fd&amp;color=0,0,0&amp;vtp=1&amp;bt=1&amp;bbb=1&amp;hb=1"/>
              <p:cNvSpPr/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易错警示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对单位制理解的误区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.只用一个符号表示的单位不一定是基本单位.例如，牛顿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、焦耳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J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、瓦特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W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等都不是基本单位，而是导出单位.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.是国际单位的不一定是基本单位.基本单位只是组成国际单位制的一小部分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国际单位制中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，除七个基本单位以外的单位都是导出单位.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0b3e728e2?vcp=1&amp;pid=9cfc5c0f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588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&amp;si=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b3e728e2?vcp=1&amp;pid=9cfc5c0fd&amp;color=0,0,0&amp;vtp=1&amp;bt=1&amp;bbb=1"/>
          <p:cNvSpPr/>
          <p:nvPr/>
        </p:nvSpPr>
        <p:spPr>
          <a:xfrm>
            <a:off x="393192" y="1122490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国际单位制中7个基本物理量及单位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2" name="P_5_BD#0b3e728e2?colgroup=10,6,10,6&amp;vcp=1&amp;pid=9cfc5c0fd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599457"/>
                  </p:ext>
                </p:extLst>
              </p:nvPr>
            </p:nvGraphicFramePr>
            <p:xfrm>
              <a:off x="393192" y="1748981"/>
              <a:ext cx="11375136" cy="3984625"/>
            </p:xfrm>
            <a:graphic>
              <a:graphicData uri="http://schemas.openxmlformats.org/drawingml/2006/table">
                <a:tbl>
                  <a:tblPr/>
                  <a:tblGrid>
                    <a:gridCol w="34198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77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198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677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物理量名称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物理量符号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单位名称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单位符号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长度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𝑙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米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质量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千克（公斤）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kg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秒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安培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A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热力学温度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开尔文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K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物质的量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摩尔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mol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发光强度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坎德拉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cd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2" name="P_5_BD#0b3e728e2?colgroup=10,6,10,6&amp;vcp=1&amp;pid=9cfc5c0fd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9599457"/>
                  </p:ext>
                </p:extLst>
              </p:nvPr>
            </p:nvGraphicFramePr>
            <p:xfrm>
              <a:off x="393192" y="1748981"/>
              <a:ext cx="11375136" cy="3984625"/>
            </p:xfrm>
            <a:graphic>
              <a:graphicData uri="http://schemas.openxmlformats.org/drawingml/2006/table">
                <a:tbl>
                  <a:tblPr/>
                  <a:tblGrid>
                    <a:gridCol w="34198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77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198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677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物理量名称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物理量符号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单位名称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单位符号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长度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100000" r="-250670" b="-6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米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151" t="-100000" r="-538" b="-6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质量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200000" r="-250670" b="-5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千克（公斤）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151" t="-200000" r="-538" b="-5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300000" r="-250670" b="-4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秒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151" t="-300000" r="-538" b="-4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400000" r="-250670" b="-3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安培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A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热力学温度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500000" r="-250670" b="-2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开尔文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151" t="-500000" r="-538" b="-2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物质的量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600000" r="-250670" b="-1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摩尔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151" t="-600000" r="-538" b="-1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发光强度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670" t="-700000" r="-250670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坎德拉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151" t="-700000" r="-538" b="-292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&amp;si=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2184</Words>
  <Application>Microsoft Office PowerPoint</Application>
  <PresentationFormat>宽屏</PresentationFormat>
  <Paragraphs>399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2026-05-25T08:22:14Z</dcterms:created>
  <dcterms:modified xsi:type="dcterms:W3CDTF">2026-05-25T08:24:15Z</dcterms:modified>
  <cp:category/>
  <cp:contentStatus/>
</cp:coreProperties>
</file>