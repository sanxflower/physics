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6" r:id="rId29"/>
    <p:sldId id="283" r:id="rId30"/>
    <p:sldId id="284" r:id="rId31"/>
    <p:sldId id="285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529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28bacd03a259d37c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75e40fc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疑难专题11 动力学中的滑块—滑板模型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0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5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75e40fcdd.fixed?vcp=1&amp;pid=76d465d4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75e40fcdd.fixed?vcp=1&amp;pid=76d465d4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疑难专题11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动力学中的滑块—滑板模型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3_BD#72ea44b41?vcp=1&amp;pid=75e40fcdd&amp;color=0,0,0&amp;vtp=1&amp;bt=1&amp;bbb=1&amp;hb=1"/>
          <p:cNvSpPr/>
          <p:nvPr/>
        </p:nvSpPr>
        <p:spPr>
          <a:xfrm>
            <a:off x="393192" y="1244695"/>
            <a:ext cx="11402568" cy="439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1.模型特点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滑块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—滑板模型涉及多个物体、多个运动过程，并且物体间还存在相对运动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，解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题的关键是确定各物体在各个运动过程中的加速度（注意运动状态改变时加速度可能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突变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），并找出物体之间的位移（路程）关系或速度关系.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［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总结］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（1）一个过程的末速度是下一个过程的初速度.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2）滑块从滑板的一端运动到另一端的过程中：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①若滑块和滑板向同一方向运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，则滑块的位移大小和滑板的位移大小之差等于滑板的长度；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②若滑块和滑板向相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反方向运动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，则滑块的位移大小和滑板的位移大小之和等于滑板的长度.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3_BD#72ea44b41?vcp=1&amp;pid=75e40fcdd&amp;color=0,0,0&amp;vtp=1&amp;bt=1&amp;bbb=1"/>
          <p:cNvSpPr/>
          <p:nvPr/>
        </p:nvSpPr>
        <p:spPr>
          <a:xfrm>
            <a:off x="393192" y="72136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2.解题思路</a:t>
            </a:r>
            <a:endParaRPr lang="en-US" altLang="zh-CN" sz="2400" dirty="0"/>
          </a:p>
        </p:txBody>
      </p:sp>
      <p:pic>
        <p:nvPicPr>
          <p:cNvPr id="3" name="P_3_BD#72ea44b41?vcp=1&amp;pid=75e40fcdd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14800" y="1334135"/>
            <a:ext cx="3968496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940a5fa2a?vcp=1&amp;pid=75e40fcdd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940a5fa2a?vcp=1&amp;pid=75e40fcdd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940a5fa2a?vcp=1&amp;pid=75e40fcdd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3_BD#940a5fa2a?vcp=1&amp;pid=75e40fcdd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无外力作用类滑块—滑板问题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P_4_BD#d8fecb101?colgroup=7,6,22&amp;vcp=1&amp;pid=940a5fa2a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8561758"/>
                  </p:ext>
                </p:extLst>
              </p:nvPr>
            </p:nvGraphicFramePr>
            <p:xfrm>
              <a:off x="393192" y="1092200"/>
              <a:ext cx="11375136" cy="4368673"/>
            </p:xfrm>
            <a:graphic>
              <a:graphicData uri="http://schemas.openxmlformats.org/drawingml/2006/table">
                <a:tbl>
                  <a:tblPr/>
                  <a:tblGrid>
                    <a:gridCol w="24414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42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949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380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给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一初速度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减速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达到共速时摩擦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力突变为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此后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一起匀速运动.若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一端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开始运动且板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块不脱离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则板存在最短长度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图中阴影面积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380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9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给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一初速度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减速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达到共速时摩擦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力突变为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此后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一起匀速运动.若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一端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开始运动且板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块不脱离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则板存在最短长度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图中阴影面积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P_4_BD#d8fecb101?colgroup=7,6,22&amp;vcp=1&amp;pid=940a5fa2a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8561758"/>
                  </p:ext>
                </p:extLst>
              </p:nvPr>
            </p:nvGraphicFramePr>
            <p:xfrm>
              <a:off x="393192" y="1092200"/>
              <a:ext cx="11375136" cy="4368673"/>
            </p:xfrm>
            <a:graphic>
              <a:graphicData uri="http://schemas.openxmlformats.org/drawingml/2006/table">
                <a:tbl>
                  <a:tblPr/>
                  <a:tblGrid>
                    <a:gridCol w="24414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42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949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692" t="-2469" r="-351692" b="-8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380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3716" t="-26101" r="-175" b="-1075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3802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9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3716" t="-126101" r="-175" b="-75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_4_BD#d8fecb101.table_image?iti=1&amp;tii=1&amp;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3212" y="1952625"/>
            <a:ext cx="2121408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8" name="P_4_BD#d8fecb101.table_image?iti=1&amp;tii=2&amp;vcp=1&amp;pid=940a5fa2a&amp;color=0,0,0&amp;vtp=1&amp;bbb=1"/>
          <p:cNvSpPr/>
          <p:nvPr/>
        </p:nvSpPr>
        <p:spPr>
          <a:xfrm>
            <a:off x="970185" y="2719705"/>
            <a:ext cx="1287462" cy="82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地面光滑</a:t>
            </a:r>
            <a:endParaRPr lang="en-US" altLang="zh-CN" sz="2400" dirty="0"/>
          </a:p>
        </p:txBody>
      </p:sp>
      <p:pic>
        <p:nvPicPr>
          <p:cNvPr id="9" name="P_4_BD#d8fecb101.table_image?tii=3&amp;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49524" y="1913763"/>
            <a:ext cx="155448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0" name="P_4_BD#d8fecb101.table_image?iti=2&amp;tii=4&amp;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5508" y="3972941"/>
            <a:ext cx="1956816" cy="47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11" name="P_4_BD#d8fecb101.table_image?iti=2&amp;tii=5&amp;vcp=1&amp;pid=940a5fa2a&amp;color=0,0,0&amp;vtp=1&amp;bbb=1"/>
          <p:cNvSpPr/>
          <p:nvPr/>
        </p:nvSpPr>
        <p:spPr>
          <a:xfrm>
            <a:off x="970185" y="4575429"/>
            <a:ext cx="1287462" cy="82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地面光滑</a:t>
            </a:r>
            <a:endParaRPr lang="en-US" altLang="zh-CN" sz="2400" dirty="0"/>
          </a:p>
        </p:txBody>
      </p:sp>
      <p:pic>
        <p:nvPicPr>
          <p:cNvPr id="12" name="P_4_BD#d8fecb101.table_image?tii=6&amp;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49524" y="3851783"/>
            <a:ext cx="155448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P_4_BD#d8fecb101?colgroup=7,6,22&amp;vcp=1&amp;pid=940a5fa2a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2428833"/>
                  </p:ext>
                </p:extLst>
              </p:nvPr>
            </p:nvGraphicFramePr>
            <p:xfrm>
              <a:off x="393192" y="2056321"/>
              <a:ext cx="11375136" cy="3368929"/>
            </p:xfrm>
            <a:graphic>
              <a:graphicData uri="http://schemas.openxmlformats.org/drawingml/2006/table">
                <a:tbl>
                  <a:tblPr/>
                  <a:tblGrid>
                    <a:gridCol w="24414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42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949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7629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2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给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一初速度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.当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减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不动.当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初始时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减速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达到共速时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间摩擦力突变为静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摩擦力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此后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一起减速到静止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一端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开始运动且板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块不脱离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则板存在最短长度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图中阴影面积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P_4_BD#d8fecb101?colgroup=7,6,22&amp;vcp=1&amp;pid=940a5fa2a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2428833"/>
                  </p:ext>
                </p:extLst>
              </p:nvPr>
            </p:nvGraphicFramePr>
            <p:xfrm>
              <a:off x="393192" y="2056321"/>
              <a:ext cx="11375136" cy="3368929"/>
            </p:xfrm>
            <a:graphic>
              <a:graphicData uri="http://schemas.openxmlformats.org/drawingml/2006/table">
                <a:tbl>
                  <a:tblPr/>
                  <a:tblGrid>
                    <a:gridCol w="24414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42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949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3692" t="-1235" r="-351692" b="-6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7629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2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16" t="-17373" r="-175" b="-57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d8fecb101.table_image?iti=3&amp;tii=7&amp;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9224" y="3235008"/>
            <a:ext cx="1929384" cy="94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4_BD#d8fecb101.table_image?iti=3&amp;tii=8&amp;vcp=1&amp;pid=940a5fa2a&amp;color=0,0,0&amp;vtp=1&amp;bbb=1"/>
          <p:cNvSpPr/>
          <p:nvPr/>
        </p:nvSpPr>
        <p:spPr>
          <a:xfrm>
            <a:off x="970185" y="4303840"/>
            <a:ext cx="1287462" cy="82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地面粗糙</a:t>
            </a:r>
            <a:endParaRPr lang="en-US" altLang="zh-CN" sz="2400" dirty="0"/>
          </a:p>
        </p:txBody>
      </p:sp>
      <p:pic>
        <p:nvPicPr>
          <p:cNvPr id="5" name="P_4_BD#d8fecb101.table_image?tii=9&amp;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85516" y="3351594"/>
            <a:ext cx="1682496" cy="127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d8fecb101?colgroup=7,6,22&amp;vcp=1&amp;pid=940a5fa2a&amp;color=0,0,0&amp;vtp=1&amp;bt=1&amp;bbb=1">
            <a:extLst>
              <a:ext uri="{FF2B5EF4-FFF2-40B4-BE49-F238E27FC236}">
                <a16:creationId xmlns:a16="http://schemas.microsoft.com/office/drawing/2014/main" id="{7D4306E4-09F7-A34D-23C0-C360CB66E5C8}"/>
              </a:ext>
            </a:extLst>
          </p:cNvPr>
          <p:cNvSpPr txBox="1"/>
          <p:nvPr/>
        </p:nvSpPr>
        <p:spPr>
          <a:xfrm>
            <a:off x="11152775" y="1430846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P_4_BD#d8fecb101?colgroup=7,6,22&amp;vcp=1&amp;pid=940a5fa2a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420331"/>
                  </p:ext>
                </p:extLst>
              </p:nvPr>
            </p:nvGraphicFramePr>
            <p:xfrm>
              <a:off x="393192" y="1818577"/>
              <a:ext cx="11375136" cy="3844417"/>
            </p:xfrm>
            <a:graphic>
              <a:graphicData uri="http://schemas.openxmlformats.org/drawingml/2006/table">
                <a:tbl>
                  <a:tblPr/>
                  <a:tblGrid>
                    <a:gridCol w="24414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42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949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178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5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给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一初速度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减速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达到共速时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间摩擦力方向突变.当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一起减速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到静止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先减速到静止.若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端开始运动且板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块不脱离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则板存在最短长度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如图中阴影面积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.此种情形下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存在两段相对位移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往往是前一段覆盖后一段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故最小长度仍按前一段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较大值计算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P_4_BD#d8fecb101?colgroup=7,6,22&amp;vcp=1&amp;pid=940a5fa2a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420331"/>
                  </p:ext>
                </p:extLst>
              </p:nvPr>
            </p:nvGraphicFramePr>
            <p:xfrm>
              <a:off x="393192" y="1818577"/>
              <a:ext cx="11375136" cy="3844417"/>
            </p:xfrm>
            <a:graphic>
              <a:graphicData uri="http://schemas.openxmlformats.org/drawingml/2006/table">
                <a:tbl>
                  <a:tblPr/>
                  <a:tblGrid>
                    <a:gridCol w="24414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42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949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3692" t="-1235" r="-351692" b="-7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5178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5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16" t="-14909" r="-175" b="-5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d8fecb101.table_image?iti=4&amp;tii=10&amp;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068" y="3349308"/>
            <a:ext cx="2139696" cy="71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4_BD#d8fecb101.table_image?iti=4&amp;tii=11&amp;vcp=1&amp;pid=940a5fa2a&amp;color=0,0,0&amp;vtp=1&amp;bbb=1"/>
          <p:cNvSpPr/>
          <p:nvPr/>
        </p:nvSpPr>
        <p:spPr>
          <a:xfrm>
            <a:off x="970185" y="4189540"/>
            <a:ext cx="1287462" cy="82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地面粗糙</a:t>
            </a:r>
            <a:endParaRPr lang="en-US" altLang="zh-CN" sz="2400" dirty="0"/>
          </a:p>
        </p:txBody>
      </p:sp>
      <p:pic>
        <p:nvPicPr>
          <p:cNvPr id="5" name="P_4_BD#d8fecb101.table_image?tii=12&amp;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85516" y="2556066"/>
            <a:ext cx="1682496" cy="2862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d8fecb101?colgroup=7,6,22&amp;vcp=1&amp;pid=940a5fa2a&amp;color=0,0,0&amp;vtp=1&amp;bt=1&amp;bbb=1">
            <a:extLst>
              <a:ext uri="{FF2B5EF4-FFF2-40B4-BE49-F238E27FC236}">
                <a16:creationId xmlns:a16="http://schemas.microsoft.com/office/drawing/2014/main" id="{A00504AC-C7C2-6516-9733-7A4A124960F2}"/>
              </a:ext>
            </a:extLst>
          </p:cNvPr>
          <p:cNvSpPr txBox="1"/>
          <p:nvPr/>
        </p:nvSpPr>
        <p:spPr>
          <a:xfrm>
            <a:off x="11152775" y="1193102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1_1#7d3d7a000?htil=1&amp;vcp=1&amp;pid=940a5fa2a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35875" y="726090"/>
            <a:ext cx="2724912" cy="78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1_2#7d3d7a000?htil=1&amp;vcp=1&amp;pid=940a5fa2a&amp;color=0,0,0&amp;vtp=1&amp;bt=1&amp;bbb=1&amp;hb=1&amp;hs=1"/>
              <p:cNvSpPr/>
              <p:nvPr/>
            </p:nvSpPr>
            <p:spPr>
              <a:xfrm>
                <a:off x="393192" y="680370"/>
                <a:ext cx="8549640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（经典·江苏高考）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如图所示，质量相等的物块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叠放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在水平地面上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，左边缘对齐.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与地面间的动摩擦因数均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BD.1_2#7d3d7a000?htil=1&amp;vcp=1&amp;pid=940a5fa2a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80370"/>
                <a:ext cx="8549640" cy="1037400"/>
              </a:xfrm>
              <a:prstGeom prst="rect">
                <a:avLst/>
              </a:prstGeom>
              <a:blipFill>
                <a:blip r:embed="rId4"/>
                <a:stretch>
                  <a:fillRect l="-2211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2_1#588233149?vcp=1&amp;pid=7d3d7a000&amp;color=0,0,0&amp;vtp=1&amp;bbb=1"/>
              <p:cNvSpPr/>
              <p:nvPr/>
            </p:nvSpPr>
            <p:spPr>
              <a:xfrm>
                <a:off x="393192" y="3370039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被敲击后获得的初速度大小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2_1#588233149?vcp=1&amp;pid=7d3d7a000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70039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3_1#588233149?vcp=1&amp;pid=7d3d7a000&amp;color=0,0,0&amp;vtp=1&amp;bbb=1"/>
              <p:cNvSpPr/>
              <p:nvPr/>
            </p:nvSpPr>
            <p:spPr>
              <a:xfrm>
                <a:off x="393192" y="3858291"/>
                <a:ext cx="11402568" cy="223348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敲击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上滑动，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静止不动.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由牛顿运动定律知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由匀变速直线运动有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𝒈𝑳</m:t>
                        </m:r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3_1#588233149?vcp=1&amp;pid=7d3d7a000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58291"/>
                <a:ext cx="11402568" cy="2233486"/>
              </a:xfrm>
              <a:prstGeom prst="rect">
                <a:avLst/>
              </a:prstGeom>
              <a:blipFill>
                <a:blip r:embed="rId6"/>
                <a:stretch>
                  <a:fillRect l="-1658" b="-71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4_BD.1_2#7d3d7a000?htil=1&amp;vcp=1&amp;pid=940a5fa2a&amp;color=0,0,0&amp;vtp=1&amp;bt=1&amp;bbb=1&amp;hb=1&amp;hs=1">
                <a:extLst>
                  <a:ext uri="{FF2B5EF4-FFF2-40B4-BE49-F238E27FC236}">
                    <a16:creationId xmlns:a16="http://schemas.microsoft.com/office/drawing/2014/main" id="{62420DD7-45C8-1C58-8F5F-650F9401CE33}"/>
                  </a:ext>
                </a:extLst>
              </p:cNvPr>
              <p:cNvSpPr/>
              <p:nvPr/>
            </p:nvSpPr>
            <p:spPr>
              <a:xfrm>
                <a:off x="393192" y="1726596"/>
                <a:ext cx="1140000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.先敲击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立即获得水平向右的初速度，在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上滑动距离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后停下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.接着敲击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立即获得水平向右的初速度，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都向右运动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左边缘再次对齐时恰好相对静止，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此后两者一起运动至停下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.最大静摩擦力等于滑动摩擦力，重力加速度为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4_BD.1_2#7d3d7a000?htil=1&amp;vcp=1&amp;pid=940a5fa2a&amp;color=0,0,0&amp;vtp=1&amp;bt=1&amp;bbb=1&amp;hb=1&amp;hs=1">
                <a:extLst>
                  <a:ext uri="{FF2B5EF4-FFF2-40B4-BE49-F238E27FC236}">
                    <a16:creationId xmlns:a16="http://schemas.microsoft.com/office/drawing/2014/main" id="{62420DD7-45C8-1C58-8F5F-650F9401C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26596"/>
                <a:ext cx="11400008" cy="1596200"/>
              </a:xfrm>
              <a:prstGeom prst="rect">
                <a:avLst/>
              </a:prstGeom>
              <a:blipFill>
                <a:blip r:embed="rId7"/>
                <a:stretch>
                  <a:fillRect l="-1658" r="-535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4_1#872343036?vcp=1&amp;pid=7d3d7a000&amp;color=0,0,0&amp;vtp=1&amp;bt=1&amp;bbb=1"/>
              <p:cNvSpPr/>
              <p:nvPr/>
            </p:nvSpPr>
            <p:spPr>
              <a:xfrm>
                <a:off x="393192" y="1810607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（2）在左边缘再次对齐的前、后，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运动加速度的大小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4_1#872343036?vcp=1&amp;pid=7d3d7a000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0607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5_1#872343036?vcp=1&amp;pid=7d3d7a000&amp;color=0,0,0&amp;vtp=1&amp;bbb=1"/>
              <p:cNvSpPr/>
              <p:nvPr/>
            </p:nvSpPr>
            <p:spPr>
              <a:xfrm>
                <a:off x="393192" y="2310098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对齐前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所受合外力大小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对齐后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整体所受合外力大小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5_1#872343036?vcp=1&amp;pid=7d3d7a000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10098"/>
                <a:ext cx="11402568" cy="2713800"/>
              </a:xfrm>
              <a:prstGeom prst="rect">
                <a:avLst/>
              </a:prstGeom>
              <a:blipFill>
                <a:blip r:embed="rId4"/>
                <a:stretch>
                  <a:fillRect l="-1658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6_1#4c6e97b5f?vcp=1&amp;pid=7d3d7a000&amp;color=0,0,0&amp;vtp=1&amp;bt=1&amp;bbb=1"/>
              <p:cNvSpPr/>
              <p:nvPr/>
            </p:nvSpPr>
            <p:spPr>
              <a:xfrm>
                <a:off x="393192" y="1635855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被敲击后获得的初速度大小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6_1#4c6e97b5f?vcp=1&amp;pid=7d3d7a000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35855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7_1#4c6e97b5f?vcp=1&amp;pid=7d3d7a000&amp;color=0,0,0&amp;vtp=1&amp;bbb=1"/>
              <p:cNvSpPr/>
              <p:nvPr/>
            </p:nvSpPr>
            <p:spPr>
              <a:xfrm>
                <a:off x="393192" y="2135346"/>
                <a:ext cx="11402568" cy="281768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经过时间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达到共同速度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，位移分别为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加速度的大小等于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𝒈𝑳</m:t>
                        </m:r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7_1#4c6e97b5f?vcp=1&amp;pid=7d3d7a000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35346"/>
                <a:ext cx="11402568" cy="2817686"/>
              </a:xfrm>
              <a:prstGeom prst="rect">
                <a:avLst/>
              </a:prstGeom>
              <a:blipFill>
                <a:blip r:embed="rId4"/>
                <a:stretch>
                  <a:fillRect l="-1658" b="-561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S.8_1#7d3d7a000?vcp=1&amp;pid=940a5fa2a&amp;color=0,0,0&amp;vtp=1&amp;bt=1&amp;bbb=1"/>
              <p:cNvSpPr/>
              <p:nvPr/>
            </p:nvSpPr>
            <p:spPr>
              <a:xfrm>
                <a:off x="393192" y="1836420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的运动过程如图所示.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S.8_1#7d3d7a000?vcp=1&amp;pid=940a5fa2a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36420"/>
                <a:ext cx="11402568" cy="484124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AS.8_2#7d3d7a000?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04488" y="2450211"/>
            <a:ext cx="4389120" cy="256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9_1#696a3db0c?vcp=1&amp;pid=940a5fa2a&amp;color=0,0,0&amp;vtp=1&amp;bt=1&amp;bbb=1&amp;hb=1"/>
              <p:cNvSpPr/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（2026·安徽合肥八中检测）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，上表面粗糙的平板小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车静止于光滑水平面上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时，小车以速度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，将小滑块无初速度地放置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于小车的右端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，最终小滑块恰好没有滑出小车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.如图乙所示为小滑块与小车运动的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图像，图中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均为已知量，重力加速度大小取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由此可求得(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9_1#696a3db0c?vcp=1&amp;pid=940a5fa2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642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0_1#696a3db0c.bracket?vcp=1&amp;pid=940a5fa2a&amp;color=0,0,0&amp;vpa=1&amp;vtp=1&amp;bbb=1"/>
          <p:cNvSpPr/>
          <p:nvPr/>
        </p:nvSpPr>
        <p:spPr>
          <a:xfrm>
            <a:off x="10402793" y="2937097"/>
            <a:ext cx="882650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p:pic>
        <p:nvPicPr>
          <p:cNvPr id="4" name="QC_4_BD.9_2#696a3db0c?htil=2&amp;vcp=1&amp;pid=940a5fa2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29517" y="3457542"/>
            <a:ext cx="5449824" cy="195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9_3#696a3db0c.choices?htil=2&amp;vcp=1&amp;pid=940a5fa2a&amp;color=0,0,0&amp;vtp=1&amp;bbb=1"/>
          <p:cNvSpPr/>
          <p:nvPr/>
        </p:nvSpPr>
        <p:spPr>
          <a:xfrm>
            <a:off x="393192" y="3411822"/>
            <a:ext cx="5815584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A.小车的长度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.小滑块的质量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.小车在匀减速运动过程中的加速度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.小滑块与小车之间的动摩擦因数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1_1#696a3db0c?vcp=1&amp;pid=940a5fa2a&amp;color=0,0,0&amp;vtp=1&amp;bt=1&amp;bbb=1&amp;hb=1"/>
              <p:cNvSpPr/>
              <p:nvPr/>
            </p:nvSpPr>
            <p:spPr>
              <a:xfrm>
                <a:off x="393192" y="1519872"/>
                <a:ext cx="11402568" cy="365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最终小滑块恰好没有滑出小车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，由题图乙可求出小车的长度</a:t>
                </a:r>
              </a:p>
              <a:p>
                <a:pPr latinLnBrk="1">
                  <a:lnSpc>
                    <a:spcPts val="6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；根据题图乙可以求出小车做匀减速直线运动的加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以及小滑块做匀加速直线运动的加速度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，无法求出小滑块的质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，B错误，C正确；对小滑块，由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图像可知小滑块做匀加速直线运动的加速度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𝐟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，联立解得小滑块与小车之间的动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摩擦因数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1_1#696a3db0c?vcp=1&amp;pid=940a5fa2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9872"/>
                <a:ext cx="11402568" cy="3657600"/>
              </a:xfrm>
              <a:prstGeom prst="rect">
                <a:avLst/>
              </a:prstGeom>
              <a:blipFill>
                <a:blip r:embed="rId3"/>
                <a:stretch>
                  <a:fillRect l="-1658" r="-856" b="-1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0c1c5ce7f?vcp=1&amp;pid=75e40fcdd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0c1c5ce7f?vcp=1&amp;pid=75e40fcdd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0c1c5ce7f?vcp=1&amp;pid=75e40fcdd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5" name="C_3_BD#0c1c5ce7f?vcp=1&amp;pid=75e40fcdd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有外力且地面光滑类滑块—滑板问题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P_4_BD#e130de2e4?colgroup=8,8,18&amp;vcp=1&amp;pid=0c1c5ce7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5361550"/>
                  </p:ext>
                </p:extLst>
              </p:nvPr>
            </p:nvGraphicFramePr>
            <p:xfrm>
              <a:off x="393192" y="1092200"/>
              <a:ext cx="11365992" cy="5265801"/>
            </p:xfrm>
            <a:graphic>
              <a:graphicData uri="http://schemas.openxmlformats.org/drawingml/2006/table">
                <a:tbl>
                  <a:tblPr/>
                  <a:tblGrid>
                    <a:gridCol w="27614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98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06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59660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85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𝑓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一起加速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越大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块间的静摩擦力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越大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块相对滑动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13508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情况下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作用时间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后撤去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开始减速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仍加速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达到共速时摩擦力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突变为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0.若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一端开始运动且板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块不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脱离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则板存在最短长度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如图中阴影</a:t>
                          </a:r>
                          <a:endParaRPr lang="en-US" altLang="zh-CN" sz="1200" dirty="0"/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面积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P_4_BD#e130de2e4?colgroup=8,8,18&amp;vcp=1&amp;pid=0c1c5ce7f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5361550"/>
                  </p:ext>
                </p:extLst>
              </p:nvPr>
            </p:nvGraphicFramePr>
            <p:xfrm>
              <a:off x="393192" y="1092200"/>
              <a:ext cx="11365992" cy="5265801"/>
            </p:xfrm>
            <a:graphic>
              <a:graphicData uri="http://schemas.openxmlformats.org/drawingml/2006/table">
                <a:tbl>
                  <a:tblPr/>
                  <a:tblGrid>
                    <a:gridCol w="27614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98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06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911" t="-2469" r="-208061" b="-997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59660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85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5803" t="-21447" r="-210" b="-108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13508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5803" t="-118687" r="-210" b="-6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_4_BD#e130de2e4.table_image?iti=5&amp;tii=13&amp;vcp=1&amp;pid=0c1c5ce7f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392" y="2935859"/>
            <a:ext cx="1847088" cy="55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8" name="P_4_BD#e130de2e4.table_image?iti=5&amp;tii=14&amp;vcp=1&amp;pid=0c1c5ce7f&amp;color=0,0,0&amp;vtp=1&amp;bbb=1&amp;hb=1"/>
          <p:cNvSpPr/>
          <p:nvPr/>
        </p:nvSpPr>
        <p:spPr>
          <a:xfrm>
            <a:off x="470916" y="3620643"/>
            <a:ext cx="2606040" cy="17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地面光滑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，滑板足</a:t>
            </a:r>
          </a:p>
          <a:p>
            <a:pPr algn="ctr"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够长且外力作用在</a:t>
            </a:r>
          </a:p>
          <a:p>
            <a:pPr algn="ctr"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滑块上</a:t>
            </a:r>
            <a:endParaRPr lang="en-US" altLang="zh-CN" sz="2400" dirty="0"/>
          </a:p>
        </p:txBody>
      </p:sp>
      <p:pic>
        <p:nvPicPr>
          <p:cNvPr id="9" name="P_4_BD#e130de2e4.table_image?tii=15&amp;vcp=1&amp;pid=0c1c5ce7f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80460" y="2174875"/>
            <a:ext cx="1746504" cy="117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0" name="P_4_BD#e130de2e4.table_image?tii=16&amp;vcp=1&amp;pid=0c1c5ce7f&amp;color=0,0,0&amp;tib=255,255,255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02736" y="4552315"/>
            <a:ext cx="1901952" cy="119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P_4_BD#e130de2e4?colgroup=8,8,18&amp;vcp=1&amp;pid=0c1c5ce7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0401389"/>
                  </p:ext>
                </p:extLst>
              </p:nvPr>
            </p:nvGraphicFramePr>
            <p:xfrm>
              <a:off x="393192" y="1223137"/>
              <a:ext cx="11365992" cy="5035296"/>
            </p:xfrm>
            <a:graphic>
              <a:graphicData uri="http://schemas.openxmlformats.org/drawingml/2006/table">
                <a:tbl>
                  <a:tblPr/>
                  <a:tblGrid>
                    <a:gridCol w="27614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98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06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38299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7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𝑓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块一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起加速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越大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块间的静摩擦力越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块相对滑动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0436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情况下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作用时间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后撤去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开始减速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仍加速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达到共速时摩擦力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突变为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此后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一起匀速运动.若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一端开始运动且板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块不脱离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则板存在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最短长度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如图中阴影面积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P_4_BD#e130de2e4?colgroup=8,8,18&amp;vcp=1&amp;pid=0c1c5ce7f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0401389"/>
                  </p:ext>
                </p:extLst>
              </p:nvPr>
            </p:nvGraphicFramePr>
            <p:xfrm>
              <a:off x="393192" y="1223137"/>
              <a:ext cx="11365992" cy="5035296"/>
            </p:xfrm>
            <a:graphic>
              <a:graphicData uri="http://schemas.openxmlformats.org/drawingml/2006/table">
                <a:tbl>
                  <a:tblPr/>
                  <a:tblGrid>
                    <a:gridCol w="27614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98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06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8911" t="-1235" r="-208061" b="-95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38299">
                    <a:tc row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7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803" t="-23362" r="-210" b="-119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04364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0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803" t="-109620" r="-210" b="-63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e130de2e4.table_image?iti=6&amp;tii=17&amp;vcp=1&amp;pid=0c1c5ce7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8680" y="3010979"/>
            <a:ext cx="1810512" cy="43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4_BD#e130de2e4.table_image?iti=6&amp;tii=18&amp;vcp=1&amp;pid=0c1c5ce7f&amp;color=0,0,0&amp;vtp=1&amp;bbb=1&amp;hb=1"/>
          <p:cNvSpPr/>
          <p:nvPr/>
        </p:nvSpPr>
        <p:spPr>
          <a:xfrm>
            <a:off x="470916" y="3576891"/>
            <a:ext cx="2606040" cy="17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地面光滑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，滑板足</a:t>
            </a:r>
          </a:p>
          <a:p>
            <a:pPr algn="ctr"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够长且外力作用在</a:t>
            </a:r>
          </a:p>
          <a:p>
            <a:pPr algn="ctr"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滑板上</a:t>
            </a:r>
            <a:endParaRPr lang="en-US" altLang="zh-CN" sz="2400" dirty="0"/>
          </a:p>
        </p:txBody>
      </p:sp>
      <p:pic>
        <p:nvPicPr>
          <p:cNvPr id="5" name="P_4_BD#e130de2e4.table_image?tii=19&amp;vcp=1&amp;pid=0c1c5ce7f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85032" y="2108264"/>
            <a:ext cx="1737360" cy="13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P_4_BD#e130de2e4.table_image?tii=20&amp;vcp=1&amp;pid=0c1c5ce7f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70732" y="4439031"/>
            <a:ext cx="1965960" cy="123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e130de2e4?colgroup=8,8,18&amp;vcp=1&amp;pid=0c1c5ce7f&amp;color=0,0,0&amp;vtp=1&amp;bt=1&amp;bbb=1">
            <a:extLst>
              <a:ext uri="{FF2B5EF4-FFF2-40B4-BE49-F238E27FC236}">
                <a16:creationId xmlns:a16="http://schemas.microsoft.com/office/drawing/2014/main" id="{DA4ED9AA-4D81-6D40-B0E1-3CF753CDAA7C}"/>
              </a:ext>
            </a:extLst>
          </p:cNvPr>
          <p:cNvSpPr txBox="1"/>
          <p:nvPr/>
        </p:nvSpPr>
        <p:spPr>
          <a:xfrm>
            <a:off x="11143632" y="597662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12_1#089b1c083?htil=3&amp;vcp=1&amp;pid=0c1c5ce7f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23186" y="549720"/>
            <a:ext cx="2688336" cy="80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12_2#089b1c083?htil=3&amp;vcp=1&amp;pid=0c1c5ce7f&amp;color=0,0,0&amp;vtp=1&amp;bt=1&amp;bbb=1&amp;hb=1&amp;hs=1"/>
              <p:cNvSpPr/>
              <p:nvPr/>
            </p:nvSpPr>
            <p:spPr>
              <a:xfrm>
                <a:off x="393192" y="504000"/>
                <a:ext cx="8577072" cy="97091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（2026⋅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鄂东南教改联盟检测）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，光滑水平面上静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止放着长为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=1.6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，一个质量为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BD.12_2#089b1c083?htil=3&amp;vcp=1&amp;pid=0c1c5ce7f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8577072" cy="970915"/>
              </a:xfrm>
              <a:prstGeom prst="rect">
                <a:avLst/>
              </a:prstGeom>
              <a:blipFill>
                <a:blip r:embed="rId4"/>
                <a:stretch>
                  <a:fillRect l="-2203" t="-2516" r="-853" b="-182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13_1#f9ef9ed23?vcp=1&amp;pid=089b1c083&amp;color=0,0,0&amp;vtp=1&amp;bbb=1"/>
              <p:cNvSpPr/>
              <p:nvPr/>
            </p:nvSpPr>
            <p:spPr>
              <a:xfrm>
                <a:off x="393192" y="2513965"/>
                <a:ext cx="11402568" cy="45955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0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（1）施力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后，要想把木板从物块的下方抽出来，求力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的大小应满足的条件.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13_1#f9ef9ed23?vcp=1&amp;pid=089b1c08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13965"/>
                <a:ext cx="11402568" cy="459550"/>
              </a:xfrm>
              <a:prstGeom prst="rect">
                <a:avLst/>
              </a:prstGeom>
              <a:blipFill>
                <a:blip r:embed="rId5"/>
                <a:stretch>
                  <a:fillRect l="-1658" b="-3947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14_1#f9ef9ed23?vcp=1&amp;pid=089b1c083&amp;color=0,0,0&amp;vtp=1&amp;bbb=1"/>
              <p:cNvSpPr/>
              <p:nvPr/>
            </p:nvSpPr>
            <p:spPr>
              <a:xfrm>
                <a:off x="393192" y="2975674"/>
                <a:ext cx="11402568" cy="30535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拉动木板运动的过程中，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对物块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要想抽出木板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，则只需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代入数值解得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14_1#f9ef9ed23?vcp=1&amp;pid=089b1c08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75674"/>
                <a:ext cx="11402568" cy="3053525"/>
              </a:xfrm>
              <a:prstGeom prst="rect">
                <a:avLst/>
              </a:prstGeom>
              <a:blipFill>
                <a:blip r:embed="rId6"/>
                <a:stretch>
                  <a:fillRect l="-1658" b="-598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4_BD.12_2#089b1c083?htil=3&amp;vcp=1&amp;pid=0c1c5ce7f&amp;color=0,0,0&amp;vtp=1&amp;bt=1&amp;bbb=1&amp;hb=1&amp;hs=1">
                <a:extLst>
                  <a:ext uri="{FF2B5EF4-FFF2-40B4-BE49-F238E27FC236}">
                    <a16:creationId xmlns:a16="http://schemas.microsoft.com/office/drawing/2014/main" id="{BCF98E44-612A-8881-0EB2-3D641EE7D87A}"/>
                  </a:ext>
                </a:extLst>
              </p:cNvPr>
              <p:cNvSpPr/>
              <p:nvPr/>
            </p:nvSpPr>
            <p:spPr>
              <a:xfrm>
                <a:off x="393192" y="1484059"/>
                <a:ext cx="11400008" cy="97015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的物块放在木板的最右端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，物块与木块之间的动摩擦因数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，今对木板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施加一水平向右的拉力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4_BD.12_2#089b1c083?htil=3&amp;vcp=1&amp;pid=0c1c5ce7f&amp;color=0,0,0&amp;vtp=1&amp;bt=1&amp;bbb=1&amp;hb=1&amp;hs=1">
                <a:extLst>
                  <a:ext uri="{FF2B5EF4-FFF2-40B4-BE49-F238E27FC236}">
                    <a16:creationId xmlns:a16="http://schemas.microsoft.com/office/drawing/2014/main" id="{BCF98E44-612A-8881-0EB2-3D641EE7D8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84059"/>
                <a:ext cx="11400008" cy="970153"/>
              </a:xfrm>
              <a:prstGeom prst="rect">
                <a:avLst/>
              </a:prstGeom>
              <a:blipFill>
                <a:blip r:embed="rId7"/>
                <a:stretch>
                  <a:fillRect l="-1658" r="-856" b="-1812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15_1#80711d23f?vcp=1&amp;pid=089b1c083&amp;color=0,0,0&amp;vtp=1&amp;bt=1&amp;bbb=1&amp;hb=1"/>
              <p:cNvSpPr/>
              <p:nvPr/>
            </p:nvSpPr>
            <p:spPr>
              <a:xfrm>
                <a:off x="393192" y="2142045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（2）为把木板从物块的下方抽出来，施加某力后，发现该力作用最短时间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恰好可以抽出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，求此力的大小.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15_1#80711d23f?vcp=1&amp;pid=089b1c08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42045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r="-2139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16_1#80711d23f?vcp=1&amp;pid=089b1c083&amp;color=0,0,0&amp;vtp=1&amp;bbb=1"/>
              <p:cNvSpPr/>
              <p:nvPr/>
            </p:nvSpPr>
            <p:spPr>
              <a:xfrm>
                <a:off x="393192" y="3188272"/>
                <a:ext cx="11402568" cy="15100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设施加某力时木板的加速度大小为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设不再施加某力时木板的加速度大小为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16_1#80711d23f?vcp=1&amp;pid=089b1c08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88272"/>
                <a:ext cx="11402568" cy="1510030"/>
              </a:xfrm>
              <a:prstGeom prst="rect">
                <a:avLst/>
              </a:prstGeom>
              <a:blipFill>
                <a:blip r:embed="rId4"/>
                <a:stretch>
                  <a:fillRect l="-1658" b="-685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5_AS.16_2#80711d23f?htil=4&amp;vcp=1&amp;pid=089b1c08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17757" y="1035304"/>
            <a:ext cx="2734056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16_3#80711d23f?htil=4&amp;vcp=1&amp;pid=089b1c083&amp;color=0,0,0&amp;vtp=1&amp;bt=1&amp;bbb=1&amp;hb=1&amp;hs=1"/>
              <p:cNvSpPr/>
              <p:nvPr/>
            </p:nvSpPr>
            <p:spPr>
              <a:xfrm>
                <a:off x="393192" y="989584"/>
                <a:ext cx="8531352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设从不再施加某力到木板恰好被抽出所用时间为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，木板从物块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下抽出时有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发生的位移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16_3#80711d23f?htil=4&amp;vcp=1&amp;pid=089b1c08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89584"/>
                <a:ext cx="8531352" cy="2235200"/>
              </a:xfrm>
              <a:prstGeom prst="rect">
                <a:avLst/>
              </a:prstGeom>
              <a:blipFill>
                <a:blip r:embed="rId4"/>
                <a:stretch>
                  <a:fillRect l="-2216" r="-1858" b="-490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AS.16_3#80711d23f?htil=4&amp;vcp=1&amp;pid=089b1c083&amp;color=0,0,0&amp;vtp=1&amp;bt=1&amp;bbb=1&amp;hb=1&amp;hs=1">
                <a:extLst>
                  <a:ext uri="{FF2B5EF4-FFF2-40B4-BE49-F238E27FC236}">
                    <a16:creationId xmlns:a16="http://schemas.microsoft.com/office/drawing/2014/main" id="{6E340EFC-2846-D1B9-F3ED-F476F16B44F4}"/>
                  </a:ext>
                </a:extLst>
              </p:cNvPr>
              <p:cNvSpPr/>
              <p:nvPr/>
            </p:nvSpPr>
            <p:spPr>
              <a:xfrm>
                <a:off x="395996" y="3224784"/>
                <a:ext cx="11400008" cy="22399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板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发生的位移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板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木板刚好从物块下抽出时应有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板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板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联立并代入数据解得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AS.16_3#80711d23f?htil=4&amp;vcp=1&amp;pid=089b1c083&amp;color=0,0,0&amp;vtp=1&amp;bt=1&amp;bbb=1&amp;hb=1&amp;hs=1">
                <a:extLst>
                  <a:ext uri="{FF2B5EF4-FFF2-40B4-BE49-F238E27FC236}">
                    <a16:creationId xmlns:a16="http://schemas.microsoft.com/office/drawing/2014/main" id="{6E340EFC-2846-D1B9-F3ED-F476F16B44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224784"/>
                <a:ext cx="11400008" cy="2239963"/>
              </a:xfrm>
              <a:prstGeom prst="rect">
                <a:avLst/>
              </a:prstGeom>
              <a:blipFill>
                <a:blip r:embed="rId5"/>
                <a:stretch>
                  <a:fillRect l="-1658" b="-817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7_1#3afe9715f?vcp=1&amp;pid=0c1c5ce7f&amp;color=0,0,0&amp;vtp=1&amp;bt=1&amp;bbb=1&amp;hb=1"/>
              <p:cNvSpPr/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（多选题）如图甲所示，足够长的木板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静置于光滑水平面上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，其上放置小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变化的水平拉力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作用时，用传感器测出滑块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得到如图乙所示的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之间的最大静摩擦力等于滑动摩擦力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7_1#3afe9715f?vcp=1&amp;pid=0c1c5ce7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2032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8_1#3afe9715f.bracket?vcp=1&amp;pid=0c1c5ce7f&amp;color=0,0,0&amp;vpa=2&amp;vtp=1&amp;bbb=1"/>
          <p:cNvSpPr/>
          <p:nvPr/>
        </p:nvSpPr>
        <p:spPr>
          <a:xfrm>
            <a:off x="3188493" y="2937097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4" name="QC_4_BD.17_2#3afe9715f?htil=5&amp;vcp=1&amp;pid=0c1c5ce7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33681" y="3457542"/>
            <a:ext cx="4270248" cy="189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7_3#3afe9715f.choices?htil=5&amp;vcp=1&amp;pid=0c1c5ce7f&amp;color=0,0,0&amp;vtp=1&amp;bbb=1"/>
              <p:cNvSpPr/>
              <p:nvPr/>
            </p:nvSpPr>
            <p:spPr>
              <a:xfrm>
                <a:off x="393192" y="3411822"/>
                <a:ext cx="6995160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间的动摩擦因数为0.2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7_3#3afe9715f.choices?htil=5&amp;vcp=1&amp;pid=0c1c5ce7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6995160" cy="2155000"/>
              </a:xfrm>
              <a:prstGeom prst="rect">
                <a:avLst/>
              </a:prstGeom>
              <a:blipFill>
                <a:blip r:embed="rId5"/>
                <a:stretch>
                  <a:fillRect l="-270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9_1#3afe9715f?vcp=1&amp;pid=0c1c5ce7f&amp;color=0,0,0&amp;vtp=1&amp;bt=1&amp;bbb=1&amp;hb=1"/>
              <p:cNvSpPr/>
              <p:nvPr/>
            </p:nvSpPr>
            <p:spPr>
              <a:xfrm>
                <a:off x="393192" y="1395032"/>
                <a:ext cx="11402568" cy="3882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由题图乙可知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达到最大共同加速度为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,根据牛顿第二定律有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；当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将发生相对滑动，对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单独应用牛顿第二定律有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整理得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；根据题图乙知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𝐤𝐠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,A、D错误，B正确.当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𝐀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/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9_1#3afe9715f?vcp=1&amp;pid=0c1c5ce7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95032"/>
                <a:ext cx="11402568" cy="3882200"/>
              </a:xfrm>
              <a:prstGeom prst="rect">
                <a:avLst/>
              </a:prstGeom>
              <a:blipFill>
                <a:blip r:embed="rId3"/>
                <a:stretch>
                  <a:fillRect l="-1658" r="-1604" b="-455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8661e3378?vcp=1&amp;pid=75e40fcdd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8661e3378?vcp=1&amp;pid=75e40fcdd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8661e3378?vcp=1&amp;pid=75e40fcdd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5" name="C_3_BD#8661e3378?vcp=1&amp;pid=75e40fcdd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有外力且地面粗糙类滑块—滑板问题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P_4_BD#b6264a9c7?colgroup=8,5,21&amp;vcp=1&amp;pid=8661e3378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5380731"/>
                  </p:ext>
                </p:extLst>
              </p:nvPr>
            </p:nvGraphicFramePr>
            <p:xfrm>
              <a:off x="393192" y="1092200"/>
              <a:ext cx="11365992" cy="4762373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681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9425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ct val="130000"/>
                            </a:lnSpc>
                          </a:pPr>
                          <a:endParaRPr lang="en-US" altLang="zh-CN" sz="24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设为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情况下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无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论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多大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总是不动.在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情况下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块均静止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越大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58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越大且等大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</a:p>
                        <a:p>
                          <a:pPr marL="0" indent="0" algn="l" latinLnBrk="1" hangingPunct="0">
                            <a:lnSpc>
                              <a:spcPts val="6000"/>
                            </a:lnSpc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)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设为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6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)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endParaRPr lang="en-US" altLang="zh-CN" sz="1200" spc="-1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P_4_BD#b6264a9c7?colgroup=8,5,21&amp;vcp=1&amp;pid=8661e3378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5380731"/>
                  </p:ext>
                </p:extLst>
              </p:nvPr>
            </p:nvGraphicFramePr>
            <p:xfrm>
              <a:off x="393192" y="1092200"/>
              <a:ext cx="11365992" cy="4762373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681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628" t="-629" r="-338700" b="-393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9425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ct val="130000"/>
                            </a:lnSpc>
                          </a:pPr>
                          <a:endParaRPr lang="en-US" altLang="zh-CN" sz="24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879" t="-25682" r="-183" b="-4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_4_BD#b6264a9c7.table_image?iti=7&amp;tii=21&amp;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788" y="2515267"/>
            <a:ext cx="2350008" cy="92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8" name="P_4_BD#b6264a9c7.table_image?iti=7&amp;tii=22&amp;vcp=1&amp;pid=8661e3378&amp;color=0,0,0&amp;vtp=1&amp;bbb=1&amp;hb=1"/>
          <p:cNvSpPr/>
          <p:nvPr/>
        </p:nvSpPr>
        <p:spPr>
          <a:xfrm>
            <a:off x="470916" y="3565811"/>
            <a:ext cx="2587752" cy="17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地面粗糙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，滑板足</a:t>
            </a:r>
          </a:p>
          <a:p>
            <a:pPr algn="ctr"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够长，外力作用在</a:t>
            </a:r>
          </a:p>
          <a:p>
            <a:pPr algn="ctr"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滑块上</a:t>
            </a:r>
            <a:endParaRPr lang="en-US" altLang="zh-CN" sz="2400" dirty="0"/>
          </a:p>
        </p:txBody>
      </p:sp>
      <p:pic>
        <p:nvPicPr>
          <p:cNvPr id="9" name="P_4_BD#b6264a9c7.table_image?tii=23&amp;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1840" y="3244215"/>
            <a:ext cx="1655064" cy="142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P_4_BD#b6264a9c7?colgroup=8,5,21&amp;vcp=1&amp;pid=8661e3378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319423"/>
                  </p:ext>
                </p:extLst>
              </p:nvPr>
            </p:nvGraphicFramePr>
            <p:xfrm>
              <a:off x="393192" y="1814544"/>
              <a:ext cx="11365992" cy="3527933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681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5981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ct val="130000"/>
                            </a:lnSpc>
                          </a:pPr>
                          <a:endParaRPr lang="en-US" altLang="zh-CN" sz="24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块一起加速运动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越大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不变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越大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块相对滑动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" name="P_4_BD#b6264a9c7?colgroup=8,5,21&amp;vcp=1&amp;pid=8661e3378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319423"/>
                  </p:ext>
                </p:extLst>
              </p:nvPr>
            </p:nvGraphicFramePr>
            <p:xfrm>
              <a:off x="393192" y="1814544"/>
              <a:ext cx="11365992" cy="3527933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681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628" t="-629" r="-338700" b="-265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5981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ct val="130000"/>
                            </a:lnSpc>
                          </a:pPr>
                          <a:endParaRPr lang="en-US" altLang="zh-CN" sz="24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879" t="-38005" r="-183" b="-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b6264a9c7.table_image?iti=8&amp;tii=24&amp;vcp=1&amp;pid=8661e3378&amp;color=0,0,0&amp;mp=1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788" y="2782665"/>
            <a:ext cx="2350008" cy="92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4_BD#b6264a9c7.table_image?iti=8&amp;tii=25&amp;vcp=1&amp;pid=8661e3378&amp;color=0,0,0&amp;mp=1&amp;vtp=1&amp;bbb=1&amp;hb=1"/>
          <p:cNvSpPr/>
          <p:nvPr/>
        </p:nvSpPr>
        <p:spPr>
          <a:xfrm>
            <a:off x="470916" y="3833209"/>
            <a:ext cx="2587752" cy="17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地面粗糙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，滑板足</a:t>
            </a:r>
          </a:p>
          <a:p>
            <a:pPr algn="ctr"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够长，外力作用在</a:t>
            </a:r>
          </a:p>
          <a:p>
            <a:pPr algn="ctr"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滑块上</a:t>
            </a:r>
            <a:endParaRPr lang="en-US" altLang="zh-CN" sz="2400" dirty="0"/>
          </a:p>
        </p:txBody>
      </p:sp>
      <p:pic>
        <p:nvPicPr>
          <p:cNvPr id="5" name="P_4_BD#b6264a9c7.table_image?tii=26&amp;vcp=1&amp;pid=8661e3378&amp;color=0,0,0&amp;mp=1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1840" y="3511613"/>
            <a:ext cx="1655064" cy="142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b6264a9c7?colgroup=8,5,21&amp;vcp=1&amp;pid=8661e3378&amp;color=0,0,0&amp;mp=1&amp;vtp=1&amp;bt=1&amp;bbb=1">
            <a:extLst>
              <a:ext uri="{FF2B5EF4-FFF2-40B4-BE49-F238E27FC236}">
                <a16:creationId xmlns:a16="http://schemas.microsoft.com/office/drawing/2014/main" id="{A3F62413-87CC-3BDB-5F77-BBDAEBFBCE8E}"/>
              </a:ext>
            </a:extLst>
          </p:cNvPr>
          <p:cNvSpPr txBox="1"/>
          <p:nvPr/>
        </p:nvSpPr>
        <p:spPr>
          <a:xfrm>
            <a:off x="11143632" y="1189069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P_4_BD#b6264a9c7?colgroup=8,5,21&amp;vcp=1&amp;pid=8661e3378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849542"/>
                  </p:ext>
                </p:extLst>
              </p:nvPr>
            </p:nvGraphicFramePr>
            <p:xfrm>
              <a:off x="393192" y="1814544"/>
              <a:ext cx="11365992" cy="3527933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681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5981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ct val="130000"/>
                            </a:lnSpc>
                          </a:pPr>
                          <a:endParaRPr lang="en-US" altLang="zh-CN" sz="24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9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情况下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用时间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后撤去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开始减速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仍加速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达到共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速时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间摩擦力突变为静摩擦力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此后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一起减速到静止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一端开始运动且板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不脱离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则板存在最短长度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如图中阴影面积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P_4_BD#b6264a9c7?colgroup=8,5,21&amp;vcp=1&amp;pid=8661e3378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849542"/>
                  </p:ext>
                </p:extLst>
              </p:nvPr>
            </p:nvGraphicFramePr>
            <p:xfrm>
              <a:off x="393192" y="1814544"/>
              <a:ext cx="11365992" cy="3527933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681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628" t="-629" r="-338700" b="-2723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5981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ct val="130000"/>
                            </a:lnSpc>
                          </a:pPr>
                          <a:endParaRPr lang="en-US" altLang="zh-CN" sz="24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9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879" t="-38005" r="-183" b="-28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b6264a9c7.table_image?iti=9&amp;tii=27&amp;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788" y="2782665"/>
            <a:ext cx="2350008" cy="92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4_BD#b6264a9c7.table_image?iti=9&amp;tii=28&amp;vcp=1&amp;pid=8661e3378&amp;color=0,0,0&amp;vtp=1&amp;bbb=1&amp;hb=1"/>
          <p:cNvSpPr/>
          <p:nvPr/>
        </p:nvSpPr>
        <p:spPr>
          <a:xfrm>
            <a:off x="470916" y="3833209"/>
            <a:ext cx="2587752" cy="17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地面粗糙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，滑板足</a:t>
            </a:r>
          </a:p>
          <a:p>
            <a:pPr algn="ctr"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够长，外力作用在</a:t>
            </a:r>
          </a:p>
          <a:p>
            <a:pPr algn="ctr"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滑块上</a:t>
            </a:r>
            <a:endParaRPr lang="en-US" altLang="zh-CN" sz="2400" dirty="0"/>
          </a:p>
        </p:txBody>
      </p:sp>
      <p:pic>
        <p:nvPicPr>
          <p:cNvPr id="5" name="P_4_BD#b6264a9c7.table_image?tii=29&amp;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6412" y="3676205"/>
            <a:ext cx="164592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b6264a9c7?colgroup=8,5,21&amp;vcp=1&amp;pid=8661e3378&amp;color=0,0,0&amp;vtp=1&amp;bt=1&amp;bbb=1">
            <a:extLst>
              <a:ext uri="{FF2B5EF4-FFF2-40B4-BE49-F238E27FC236}">
                <a16:creationId xmlns:a16="http://schemas.microsoft.com/office/drawing/2014/main" id="{FF21828D-5F6D-3035-4EEE-CAB8BF310057}"/>
              </a:ext>
            </a:extLst>
          </p:cNvPr>
          <p:cNvSpPr txBox="1"/>
          <p:nvPr/>
        </p:nvSpPr>
        <p:spPr>
          <a:xfrm>
            <a:off x="11143632" y="1189069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P_4_BD#b6264a9c7?colgroup=8,5,21&amp;vcp=1&amp;pid=8661e3378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221589"/>
                  </p:ext>
                </p:extLst>
              </p:nvPr>
            </p:nvGraphicFramePr>
            <p:xfrm>
              <a:off x="393192" y="1643062"/>
              <a:ext cx="11365992" cy="4195445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681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2732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0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2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设为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静止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)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块一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起加速运动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越大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越大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不变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间相对滑动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P_4_BD#b6264a9c7?colgroup=8,5,21&amp;vcp=1&amp;pid=8661e3378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221589"/>
                  </p:ext>
                </p:extLst>
              </p:nvPr>
            </p:nvGraphicFramePr>
            <p:xfrm>
              <a:off x="393192" y="1643062"/>
              <a:ext cx="11365992" cy="4195445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681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628" t="-629" r="-338700" b="-3345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2732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0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2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879" t="-30189" r="-183" b="-3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b6264a9c7.table_image?iti=10&amp;tii=30&amp;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788" y="3061271"/>
            <a:ext cx="2350008" cy="81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4_BD#b6264a9c7.table_image?iti=10&amp;tii=31&amp;vcp=1&amp;pid=8661e3378&amp;color=0,0,0&amp;vtp=1&amp;bbb=1&amp;hb=1"/>
          <p:cNvSpPr/>
          <p:nvPr/>
        </p:nvSpPr>
        <p:spPr>
          <a:xfrm>
            <a:off x="470916" y="4002087"/>
            <a:ext cx="2587752" cy="17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地面粗糙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，滑板足</a:t>
            </a:r>
          </a:p>
          <a:p>
            <a:pPr algn="ctr"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够长，外力作用在</a:t>
            </a:r>
          </a:p>
          <a:p>
            <a:pPr algn="ctr"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滑板上</a:t>
            </a:r>
            <a:endParaRPr lang="en-US" altLang="zh-CN" sz="2400" dirty="0"/>
          </a:p>
        </p:txBody>
      </p:sp>
      <p:pic>
        <p:nvPicPr>
          <p:cNvPr id="5" name="P_4_BD#b6264a9c7.table_image?tii=32&amp;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68980" y="3598481"/>
            <a:ext cx="1700784" cy="125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b6264a9c7?colgroup=8,5,21&amp;vcp=1&amp;pid=8661e3378&amp;color=0,0,0&amp;vtp=1&amp;bt=1&amp;bbb=1">
            <a:extLst>
              <a:ext uri="{FF2B5EF4-FFF2-40B4-BE49-F238E27FC236}">
                <a16:creationId xmlns:a16="http://schemas.microsoft.com/office/drawing/2014/main" id="{9805F25A-6D57-D1C1-7BD3-43C1708266CF}"/>
              </a:ext>
            </a:extLst>
          </p:cNvPr>
          <p:cNvSpPr txBox="1"/>
          <p:nvPr/>
        </p:nvSpPr>
        <p:spPr>
          <a:xfrm>
            <a:off x="11143632" y="1017588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P_4_BD#b6264a9c7?colgroup=8,5,21&amp;vcp=1&amp;pid=8661e3378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3400059"/>
                  </p:ext>
                </p:extLst>
              </p:nvPr>
            </p:nvGraphicFramePr>
            <p:xfrm>
              <a:off x="393192" y="1054100"/>
              <a:ext cx="11365992" cy="5339017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3611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6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及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0290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0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2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情况下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作用时间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后撤去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开始减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仍加速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达到共速时摩擦力方向突变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.当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)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一起减速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到静止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一端开始运动且板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块不脱离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则板存在最短长度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如图中阴影面积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先减速到静止：当图中阴影面积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大于或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等于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一端开始运动且板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块不脱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则板存在最短长度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当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块不脱离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板存在最短长度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P_4_BD#b6264a9c7?colgroup=8,5,21&amp;vcp=1&amp;pid=8661e3378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3400059"/>
                  </p:ext>
                </p:extLst>
              </p:nvPr>
            </p:nvGraphicFramePr>
            <p:xfrm>
              <a:off x="393192" y="1054100"/>
              <a:ext cx="11365992" cy="5339017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59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568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3611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情境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628" t="-649" r="-338700" b="-472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过程与规律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0290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03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22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879" t="-21438" r="-183" b="-5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4_BD#b6264a9c7.table_image?iti=11&amp;tii=33&amp;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9788" y="3053239"/>
            <a:ext cx="2350008" cy="81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P_4_BD#b6264a9c7.table_image?iti=11&amp;tii=34&amp;vcp=1&amp;pid=8661e3378&amp;color=0,0,0&amp;vtp=1&amp;bbb=1&amp;hb=1"/>
          <p:cNvSpPr/>
          <p:nvPr/>
        </p:nvSpPr>
        <p:spPr>
          <a:xfrm>
            <a:off x="470916" y="3994055"/>
            <a:ext cx="2587752" cy="133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6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地面粗糙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，滑板足</a:t>
            </a:r>
          </a:p>
          <a:p>
            <a:pPr algn="ctr" latinLnBrk="1">
              <a:lnSpc>
                <a:spcPts val="36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够长，外力作用在</a:t>
            </a:r>
          </a:p>
          <a:p>
            <a:pPr algn="ctr" latinLnBrk="1">
              <a:lnSpc>
                <a:spcPts val="35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滑板上</a:t>
            </a:r>
            <a:endParaRPr lang="en-US" altLang="zh-CN" sz="2400" dirty="0"/>
          </a:p>
        </p:txBody>
      </p:sp>
      <p:pic>
        <p:nvPicPr>
          <p:cNvPr id="5" name="P_4_BD#b6264a9c7.table_image?tii=35&amp;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14700" y="2948083"/>
            <a:ext cx="1609344" cy="248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4_BD#b6264a9c7?colgroup=8,5,21&amp;vcp=1&amp;pid=8661e3378&amp;color=0,0,0&amp;vtp=1&amp;bt=1&amp;bbb=1">
            <a:extLst>
              <a:ext uri="{FF2B5EF4-FFF2-40B4-BE49-F238E27FC236}">
                <a16:creationId xmlns:a16="http://schemas.microsoft.com/office/drawing/2014/main" id="{4A914720-4817-D6D0-6BF4-1E560E2DA79A}"/>
              </a:ext>
            </a:extLst>
          </p:cNvPr>
          <p:cNvSpPr txBox="1"/>
          <p:nvPr/>
        </p:nvSpPr>
        <p:spPr>
          <a:xfrm>
            <a:off x="11143632" y="502921"/>
            <a:ext cx="615553" cy="43588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20_1#730716f0b?vcp=1&amp;pid=8661e3378&amp;color=0,0,0&amp;vtp=1&amp;bt=1&amp;bbb=1&amp;hb=1"/>
              <p:cNvSpPr/>
              <p:nvPr/>
            </p:nvSpPr>
            <p:spPr>
              <a:xfrm>
                <a:off x="393192" y="592994"/>
                <a:ext cx="11402568" cy="21544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静止在粗糙水平面上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，其右端有一质量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，对长木板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施加一大小为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后撤去拉力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，撤去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拉力时滑块仍然在长木板上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与地面的动摩擦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20_1#730716f0b?vcp=1&amp;pid=8661e337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92994"/>
                <a:ext cx="11402568" cy="2154428"/>
              </a:xfrm>
              <a:prstGeom prst="rect">
                <a:avLst/>
              </a:prstGeom>
              <a:blipFill>
                <a:blip r:embed="rId3"/>
                <a:stretch>
                  <a:fillRect l="-1658" r="-160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20_2#730716f0b?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79976" y="2859691"/>
            <a:ext cx="3429000" cy="61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21_1#0ba7bea0e?vcp=1&amp;pid=730716f0b&amp;color=0,0,0&amp;vtp=1&amp;bbb=1"/>
              <p:cNvSpPr/>
              <p:nvPr/>
            </p:nvSpPr>
            <p:spPr>
              <a:xfrm>
                <a:off x="393192" y="3608991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（1）求有拉力时长木板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21_1#0ba7bea0e?vcp=1&amp;pid=730716f0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08991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22_1#0ba7bea0e?vcp=1&amp;pid=730716f0b&amp;color=0,0,0&amp;vtp=1&amp;bbb=1&amp;hb=1"/>
              <p:cNvSpPr/>
              <p:nvPr/>
            </p:nvSpPr>
            <p:spPr>
              <a:xfrm>
                <a:off x="393192" y="4102386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，方向向右；对长木板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，根据牛顿第二定律可得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，解得长木板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22_1#0ba7bea0e?vcp=1&amp;pid=730716f0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02386"/>
                <a:ext cx="11402568" cy="2155000"/>
              </a:xfrm>
              <a:prstGeom prst="rect">
                <a:avLst/>
              </a:prstGeom>
              <a:blipFill>
                <a:blip r:embed="rId6"/>
                <a:stretch>
                  <a:fillRect l="-1658" r="-58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3_1#2391c4441?vcp=1&amp;pid=730716f0b&amp;color=0,0,0&amp;vtp=1&amp;bt=1&amp;bbb=1"/>
              <p:cNvSpPr/>
              <p:nvPr/>
            </p:nvSpPr>
            <p:spPr>
              <a:xfrm>
                <a:off x="393192" y="72666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（2）要使滑块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不从长木板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左端掉落，求长木板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的最小长度.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3_1#2391c4441?vcp=1&amp;pid=730716f0b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26662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24_1#2391c4441?vcp=1&amp;pid=730716f0b&amp;color=0,0,0&amp;vtp=1&amp;bbb=1&amp;hb=1"/>
              <p:cNvSpPr/>
              <p:nvPr/>
            </p:nvSpPr>
            <p:spPr>
              <a:xfrm>
                <a:off x="393192" y="1226153"/>
                <a:ext cx="11402568" cy="4762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撤去拉力时，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内相对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和长木板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，撤去拉力后，滑块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的受力没变，故滑块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仍然做加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速度不变的加速运动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，长木板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做减速运动，其加速度大小变为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代入数据解得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，设经过时间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两者达到共速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时间内相对位移</a:t>
                </a:r>
              </a:p>
              <a:p>
                <a:pPr latinLnBrk="1">
                  <a:lnSpc>
                    <a:spcPts val="6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，共速之后对长木板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，根据牛顿第二定律有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开始做匀减速运动，</a:t>
                </a:r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3" name="QO_5_AS.24_1#2391c4441?vcp=1&amp;pid=730716f0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26153"/>
                <a:ext cx="11402568" cy="4762500"/>
              </a:xfrm>
              <a:prstGeom prst="rect">
                <a:avLst/>
              </a:prstGeom>
              <a:blipFill>
                <a:blip r:embed="rId4"/>
                <a:stretch>
                  <a:fillRect l="-1658" r="-4278" b="-256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AS.24_1#2391c4441?vcp=1&amp;pid=730716f0b&amp;color=0,0,0&amp;vtp=1&amp;bbb=1&amp;hb=1">
                <a:extLst>
                  <a:ext uri="{FF2B5EF4-FFF2-40B4-BE49-F238E27FC236}">
                    <a16:creationId xmlns:a16="http://schemas.microsoft.com/office/drawing/2014/main" id="{8D746D0B-2255-7F00-02A5-22CABB2C6264}"/>
                  </a:ext>
                </a:extLst>
              </p:cNvPr>
              <p:cNvSpPr/>
              <p:nvPr/>
            </p:nvSpPr>
            <p:spPr>
              <a:xfrm>
                <a:off x="393192" y="2557018"/>
                <a:ext cx="11402568" cy="1748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长木板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也做匀减速运动，滑块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相对于长木板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有向右的相对位移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，大小为</a:t>
                </a:r>
              </a:p>
              <a:p>
                <a:pPr latinLnBrk="1">
                  <a:lnSpc>
                    <a:spcPts val="5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″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.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𝟓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.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𝟓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，故长木板长度至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少为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AS.24_1#2391c4441?vcp=1&amp;pid=730716f0b&amp;color=0,0,0&amp;vtp=1&amp;bbb=1&amp;hb=1">
                <a:extLst>
                  <a:ext uri="{FF2B5EF4-FFF2-40B4-BE49-F238E27FC236}">
                    <a16:creationId xmlns:a16="http://schemas.microsoft.com/office/drawing/2014/main" id="{8D746D0B-2255-7F00-02A5-22CABB2C62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57018"/>
                <a:ext cx="11402568" cy="1748600"/>
              </a:xfrm>
              <a:prstGeom prst="rect">
                <a:avLst/>
              </a:prstGeom>
              <a:blipFill>
                <a:blip r:embed="rId2"/>
                <a:stretch>
                  <a:fillRect l="-1658" b="-1045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3826873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5_1#a9c47d1bd?vcp=1&amp;pid=8661e3378&amp;color=0,0,0&amp;vtp=1&amp;bt=1&amp;bbb=1&amp;hb=1"/>
              <p:cNvSpPr/>
              <p:nvPr/>
            </p:nvSpPr>
            <p:spPr>
              <a:xfrm>
                <a:off x="393192" y="585502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（多选题）如图甲所示，一块质量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静止在水平地面上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个质量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静止在木板的左端，对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施加一向右的水平恒力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，一段时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右端滑出，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继续在地面上运动一段距离后停止，此过程中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的速度随时间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变化的图像如图乙所示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.设最大静摩擦力等于滑动摩擦力，重力加速度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5_1#a9c47d1bd?vcp=1&amp;pid=8661e337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85502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267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6_1#a9c47d1bd.bracket?vcp=1&amp;pid=8661e3378&amp;color=0,0,0&amp;vpa=3&amp;vtp=1&amp;bbb=1"/>
          <p:cNvSpPr/>
          <p:nvPr/>
        </p:nvSpPr>
        <p:spPr>
          <a:xfrm>
            <a:off x="3127661" y="2809272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25_2#a9c47d1bd?vcp=1&amp;pid=8661e337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5539" y="3398298"/>
            <a:ext cx="3987018" cy="169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5_3#a9c47d1bd.choices?vcp=1&amp;pid=8661e3378&amp;color=0,0,0&amp;vtp=1&amp;bbb=1"/>
              <p:cNvSpPr/>
              <p:nvPr/>
            </p:nvSpPr>
            <p:spPr>
              <a:xfrm>
                <a:off x="393192" y="522512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滑块与木板之间的动摩擦因数为0.6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.木板与地面之间的动摩擦因数为0.1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的大小可能为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的大小与木板长度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有关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5_3#a9c47d1bd.choices?vcp=1&amp;pid=8661e337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225129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7_1#a9c47d1bd?vcp=1&amp;pid=8661e3378&amp;color=0,0,0&amp;vtp=1&amp;bt=1&amp;bbb=1&amp;hb=1"/>
              <p:cNvSpPr/>
              <p:nvPr/>
            </p:nvSpPr>
            <p:spPr>
              <a:xfrm>
                <a:off x="393192" y="621284"/>
                <a:ext cx="11402568" cy="5037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由题图乙可知滑块在木板上滑块时，木板的加速度大小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设滑块与木板之间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、木板与地面之间的动摩擦因数分别为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第二定律有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；滑块从木板上滑出后木板的加速度大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，对木板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.A错误，B正确.分析可知，滑块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在木板上滑动时的加速度大小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，对滑块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的大小不可能为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，C错误.根据匀变速直线运动规律可得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题图乙可知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的大小与木板长度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有关，D正确.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7_1#a9c47d1bd?vcp=1&amp;pid=8661e337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21284"/>
                <a:ext cx="11402568" cy="5037900"/>
              </a:xfrm>
              <a:prstGeom prst="rect">
                <a:avLst/>
              </a:prstGeom>
              <a:blipFill>
                <a:blip r:embed="rId3"/>
                <a:stretch>
                  <a:fillRect l="-1658" r="-3957" b="-3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2164</Words>
  <Application>Microsoft Office PowerPoint</Application>
  <PresentationFormat>宽屏</PresentationFormat>
  <Paragraphs>301</Paragraphs>
  <Slides>31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2026-05-25T08:29:29Z</dcterms:created>
  <dcterms:modified xsi:type="dcterms:W3CDTF">2026-05-25T08:32:25Z</dcterms:modified>
  <cp:category/>
  <cp:contentStatus/>
</cp:coreProperties>
</file>