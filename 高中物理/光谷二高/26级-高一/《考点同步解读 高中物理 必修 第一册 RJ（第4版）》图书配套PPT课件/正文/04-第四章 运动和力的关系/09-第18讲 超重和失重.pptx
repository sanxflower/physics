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187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38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d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b616794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第18讲 超重和失重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b61679434.fixed?vcp=1&amp;pid=76d465d4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b61679434.fixed?vcp=1&amp;pid=76d465d4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第18讲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超重和失重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b61679434?lid=a53589de0&amp;cid=a53589de0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b61679434?lid=41c62d348&amp;cid=41c62d348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a53589de0?vcp=1&amp;pid=b61679434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b464325df?colgroup=16,4,14&amp;vcp=1&amp;pid=a53589de0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67692"/>
              </p:ext>
            </p:extLst>
          </p:nvPr>
        </p:nvGraphicFramePr>
        <p:xfrm>
          <a:off x="393192" y="1181100"/>
          <a:ext cx="11365992" cy="273945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0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8856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588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1.超重和失重现象.（★）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2.完全失重现象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超重和失重现象的应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用与危害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3.超重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失重现象的相关计算.（★★）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b464325df.table_image?tii=1&amp;vcp=1&amp;pid=a53589de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27725" y="1765617"/>
            <a:ext cx="3363188" cy="202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41c62d348?vcp=1&amp;pid=b61679434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389f59f92?vcp=1&amp;pid=41c62d348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389f59f92?vcp=1&amp;pid=41c62d348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389f59f92?vcp=1&amp;pid=41c62d348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超重和失重现象的理解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5_BD#f04d87e0b?vcp=1&amp;pid=389f59f92&amp;color=0,0,0&amp;vtp=1&amp;bbb=1"/>
          <p:cNvSpPr/>
          <p:nvPr/>
        </p:nvSpPr>
        <p:spPr>
          <a:xfrm>
            <a:off x="393192" y="1778000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.超重、失重和完全失重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P_5_BD#f04d87e0b?colgroup=10,8,8,8&amp;vcp=1&amp;pid=389f59f92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008620"/>
                  </p:ext>
                </p:extLst>
              </p:nvPr>
            </p:nvGraphicFramePr>
            <p:xfrm>
              <a:off x="393192" y="2945130"/>
              <a:ext cx="11365992" cy="2442972"/>
            </p:xfrm>
            <a:graphic>
              <a:graphicData uri="http://schemas.openxmlformats.org/drawingml/2006/table">
                <a:tbl>
                  <a:tblPr/>
                  <a:tblGrid>
                    <a:gridCol w="3410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超重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完全失重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466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视重与实重的关系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原因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向上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81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&gt;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&lt;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𝑚𝑎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P_5_BD#f04d87e0b?colgroup=10,8,8,8&amp;vcp=1&amp;pid=389f59f92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008620"/>
                  </p:ext>
                </p:extLst>
              </p:nvPr>
            </p:nvGraphicFramePr>
            <p:xfrm>
              <a:off x="393192" y="2945130"/>
              <a:ext cx="11365992" cy="2442972"/>
            </p:xfrm>
            <a:graphic>
              <a:graphicData uri="http://schemas.openxmlformats.org/drawingml/2006/table">
                <a:tbl>
                  <a:tblPr/>
                  <a:tblGrid>
                    <a:gridCol w="3410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51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超重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完全失重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466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视重与实重的关系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966" t="-102469" r="-200460" b="-308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8966" t="-102469" r="-100460" b="-308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966" t="-102469" r="-460" b="-308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原因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966" t="-200000" r="-200460" b="-2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8966" t="-200000" r="-100460" b="-2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966" t="-200000" r="-460" b="-2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6818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8966" t="-156688" r="-200460" b="-70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8966" t="-156688" r="-100460" b="-70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966" t="-156688" r="-460" b="-70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f04d87e0b?vcp=1&amp;pid=389f59f92&amp;color=0,0,0&amp;vtp=1&amp;bt=1&amp;bbb=1"/>
          <p:cNvSpPr/>
          <p:nvPr/>
        </p:nvSpPr>
        <p:spPr>
          <a:xfrm>
            <a:off x="393192" y="2624646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2.对超重和失重的理解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1）物体处于超重和失重状态时，物体的重力并未变化，只是视重变了.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 spc="-10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spc="-10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2）发生超重或失重现象只取决于加速度的方向，与物体的速度方向、大小均无关.</a:t>
            </a:r>
            <a:endParaRPr lang="en-US" altLang="zh-CN" sz="2400" spc="-100" dirty="0"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_1#0e9065ecb?htil=1&amp;vcp=1&amp;pid=389f59f92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53059" y="1881187"/>
            <a:ext cx="667512" cy="225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BD.1_2#0e9065ecb?htil=1&amp;vcp=1&amp;pid=389f59f92&amp;color=0,0,0&amp;vtp=1&amp;bt=1&amp;bbb=1&amp;hb=1"/>
              <p:cNvSpPr/>
              <p:nvPr/>
            </p:nvSpPr>
            <p:spPr>
              <a:xfrm>
                <a:off x="393192" y="1835468"/>
                <a:ext cx="10607040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（娱乐设施）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（2026·安徽合肥一六八中学检测）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蹦极是一项体育运动.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（可视为质点）身系弹性绳自高空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点自由下落，如图所示.图中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点是弹性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绳的原长位置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点是人所到达的最低点，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点是人静止悬吊着时的平衡位置，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人在从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点落下到最低点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BD.1_2#0e9065ecb?htil=1&amp;vcp=1&amp;pid=389f59f9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5468"/>
                <a:ext cx="10607040" cy="2150999"/>
              </a:xfrm>
              <a:prstGeom prst="rect">
                <a:avLst/>
              </a:prstGeom>
              <a:blipFill>
                <a:blip r:embed="rId4"/>
                <a:stretch>
                  <a:fillRect l="-1782" r="-805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_1#0e9065ecb.bracket?vcp=1&amp;pid=389f59f92&amp;color=0,0,0&amp;vpa=1&amp;vtp=1"/>
          <p:cNvSpPr/>
          <p:nvPr/>
        </p:nvSpPr>
        <p:spPr>
          <a:xfrm>
            <a:off x="5238654" y="35004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_3#0e9065ecb.choices?htil=1&amp;vcp=1&amp;pid=389f59f92&amp;color=0,0,0&amp;vtp=1&amp;bbb=1"/>
              <p:cNvSpPr/>
              <p:nvPr/>
            </p:nvSpPr>
            <p:spPr>
              <a:xfrm>
                <a:off x="393192" y="3975163"/>
                <a:ext cx="10607040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41147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，人处于失重状态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点，人的速度最大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411470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，人处于失重状态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点，人的速度为0，加速度也为0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_3#0e9065ecb.choices?htil=1&amp;vcp=1&amp;pid=389f59f9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5163"/>
                <a:ext cx="10607040" cy="1033399"/>
              </a:xfrm>
              <a:prstGeom prst="rect">
                <a:avLst/>
              </a:prstGeom>
              <a:blipFill>
                <a:blip r:embed="rId5"/>
                <a:stretch>
                  <a:fillRect l="-1782" r="-115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3_1#0e9065ecb?vcp=1&amp;pid=389f59f92&amp;color=0,0,0&amp;vtp=1&amp;bt=1&amp;bbb=1&amp;hb=1"/>
              <p:cNvSpPr/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段，弹性绳的拉力小于人的重力，人受到的合力向下，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有向下的加速度，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人处于失重状态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，随着弹性绳对人的拉力的增大，向下的合外力减小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，所以向下的加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速度逐渐减小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点，弹性绳的拉力等于人的重力；在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，弹性绳的拉力大于人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，人受到的合力向上，有向上的加速度，人处于超重状态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，而且加速度随弹性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绳的拉力的增大而增大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段人的速度先增大后减小，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加速度先减小后增大，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点人的速度最大，在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点，弹性绳的形变量最大，即弹性绳的拉力最大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，向上的加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，人的速度为0，A正确.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3_1#0e9065ecb?vcp=1&amp;pid=389f59f9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604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4_1#5d05839b1?vcp=1&amp;pid=389f59f92&amp;color=0,0,0&amp;vtp=1&amp;bt=1&amp;bbb=1"/>
          <p:cNvSpPr/>
          <p:nvPr/>
        </p:nvSpPr>
        <p:spPr>
          <a:xfrm>
            <a:off x="393192" y="96393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5_1#5d05839b1.bracket?vcp=1&amp;pid=389f59f92&amp;color=0,0,0&amp;vpa=2&amp;vtp=1"/>
          <p:cNvSpPr/>
          <p:nvPr/>
        </p:nvSpPr>
        <p:spPr>
          <a:xfrm>
            <a:off x="4551649" y="962026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4" name="QC_5_BD.4_2#5d05839b1.choices?vcp=1&amp;pid=389f59f92&amp;color=0,0,0&amp;vtp=1&amp;bbb=1"/>
          <p:cNvSpPr/>
          <p:nvPr/>
        </p:nvSpPr>
        <p:spPr>
          <a:xfrm>
            <a:off x="393192" y="15123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A.体操运动员双手握住单杠吊在空中不动时处于失重状态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.蹦床运动员在空中上升和下落过程中都处于失重状态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.举重运动员在举起杠铃后不动的那段时间内处于超重状态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.游泳运动员仰卧在水面上静止不动时处于失重状态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AS.6_1#5d05839b1?vcp=1&amp;pid=389f59f92&amp;color=0,0,0&amp;vtp=1&amp;bbb=1&amp;hb=1"/>
              <p:cNvSpPr/>
              <p:nvPr/>
            </p:nvSpPr>
            <p:spPr>
              <a:xfrm>
                <a:off x="393192" y="3718114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当加速度方向竖直向下时，物体处于失重状态；当加速度方向竖直向上时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体处于超重状态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.蹦床运动员在空中上升和下降的过程中，加速度方向均竖直向下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，为完全失重状态，所以B正确.而选项A、C、D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中运动员均为平衡状态，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，既不超重也不失重.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AS.6_1#5d05839b1?vcp=1&amp;pid=389f59f9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18114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4153c5e8b?vcp=1&amp;pid=389f59f92&amp;color=0,0,0&amp;vtp=1&amp;bt=1&amp;bbb=1&amp;hb=1"/>
          <p:cNvSpPr/>
          <p:nvPr/>
        </p:nvSpPr>
        <p:spPr>
          <a:xfrm>
            <a:off x="393192" y="179968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超重和失重的本质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超重和失重是指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“实重”和“视重”的差别.所谓“实重”，即物体所受的实际重力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,物体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在地面附近运动时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,若地理位置和高度没有显著变化,物体所受重力可看作恒力;“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视重”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是测量仪器实际测得的力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,如物体对弹簧测力计的拉力或对台秤的压力.物体超重时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“视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重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”大于“实重”,失重时“视重”小于“实重”.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4153c5e8b?vcp=1&amp;pid=389f59f92&amp;color=0,0,0&amp;vtp=1&amp;bt=1&amp;bbb=1"/>
          <p:cNvSpPr/>
          <p:nvPr/>
        </p:nvSpPr>
        <p:spPr>
          <a:xfrm>
            <a:off x="393192" y="1530286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超重和失重的几种不同运动形式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.超重：</a:t>
            </a:r>
            <a:endParaRPr lang="en-US" altLang="zh-CN" sz="2400" dirty="0"/>
          </a:p>
        </p:txBody>
      </p:sp>
      <p:sp>
        <p:nvSpPr>
          <p:cNvPr id="3" name="P_5_BD#4153c5e8b?bid=1&amp;vcp=1&amp;pid=389f59f92&amp;color=0,0,0&amp;vtp=1"/>
          <p:cNvSpPr/>
          <p:nvPr/>
        </p:nvSpPr>
        <p:spPr>
          <a:xfrm>
            <a:off x="2302956" y="2626423"/>
            <a:ext cx="1973263" cy="103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楷体" pitchFamily="34" charset="-122"/>
                <a:cs typeface="Times New Roman" pitchFamily="34" charset="-120"/>
              </a:rPr>
              <a:t>向上加速运动</a:t>
            </a:r>
            <a:endParaRPr lang="en-US" altLang="zh-CN" sz="2400" dirty="0"/>
          </a:p>
          <a:p>
            <a:pPr algn="l"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楷体" pitchFamily="34" charset="-122"/>
                <a:cs typeface="Times New Roman" pitchFamily="34" charset="-120"/>
              </a:rPr>
              <a:t>向下减速运动</a:t>
            </a:r>
            <a:endParaRPr lang="en-US" altLang="zh-CN" sz="2400" dirty="0"/>
          </a:p>
        </p:txBody>
      </p:sp>
      <p:sp>
        <p:nvSpPr>
          <p:cNvPr id="4" name="P_5_BD#4153c5e8b?vcp=1&amp;pid=389f59f92&amp;color=0,0,0&amp;vtp=1&amp;bbb=1"/>
          <p:cNvSpPr/>
          <p:nvPr/>
        </p:nvSpPr>
        <p:spPr>
          <a:xfrm>
            <a:off x="393192" y="372084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2.失重：</a:t>
            </a:r>
            <a:endParaRPr lang="en-US" altLang="zh-CN" sz="2400" dirty="0"/>
          </a:p>
        </p:txBody>
      </p:sp>
      <p:sp>
        <p:nvSpPr>
          <p:cNvPr id="5" name="P_5_BD#4153c5e8b?bid=2&amp;vcp=1&amp;pid=389f59f92&amp;color=0,0,0&amp;vtp=1"/>
          <p:cNvSpPr/>
          <p:nvPr/>
        </p:nvSpPr>
        <p:spPr>
          <a:xfrm>
            <a:off x="2302956" y="4271708"/>
            <a:ext cx="1973263" cy="103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向下加速运动</a:t>
            </a:r>
            <a:endParaRPr lang="en-US" altLang="zh-CN" sz="2400" dirty="0"/>
          </a:p>
          <a:p>
            <a:pPr algn="l"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向上减速运动</a:t>
            </a:r>
            <a:endParaRPr lang="en-US" altLang="zh-CN" sz="2400" dirty="0"/>
          </a:p>
        </p:txBody>
      </p:sp>
      <p:sp>
        <p:nvSpPr>
          <p:cNvPr id="6" name="P_5_BD#4153c5e8b?bid=1&amp;vcp=1&amp;pid=389f59f92&amp;color=0,0,0&amp;vtp=1">
            <a:extLst>
              <a:ext uri="{FF2B5EF4-FFF2-40B4-BE49-F238E27FC236}">
                <a16:creationId xmlns:a16="http://schemas.microsoft.com/office/drawing/2014/main" id="{016E985D-39DB-CCCA-07C8-8D5F7A5F3707}"/>
              </a:ext>
            </a:extLst>
          </p:cNvPr>
          <p:cNvSpPr/>
          <p:nvPr/>
        </p:nvSpPr>
        <p:spPr>
          <a:xfrm>
            <a:off x="393193" y="2932937"/>
            <a:ext cx="16684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楷体" pitchFamily="34" charset="-122"/>
                <a:cs typeface="Times New Roman" pitchFamily="34" charset="-120"/>
              </a:rPr>
              <a:t>加速度向上</a:t>
            </a:r>
            <a:endParaRPr lang="en-US" altLang="zh-CN" sz="2400" dirty="0"/>
          </a:p>
          <a:p>
            <a:pPr algn="l" latinLnBrk="1">
              <a:lnSpc>
                <a:spcPct val="150000"/>
              </a:lnSpc>
            </a:pPr>
            <a:endParaRPr lang="en-US" altLang="zh-CN" sz="2400" dirty="0"/>
          </a:p>
        </p:txBody>
      </p:sp>
      <p:sp>
        <p:nvSpPr>
          <p:cNvPr id="7" name="SystemAddBraceShape">
            <a:extLst>
              <a:ext uri="{FF2B5EF4-FFF2-40B4-BE49-F238E27FC236}">
                <a16:creationId xmlns:a16="http://schemas.microsoft.com/office/drawing/2014/main" id="{2B7E9D6D-C77A-AF41-4F35-535A031EF83F}"/>
              </a:ext>
            </a:extLst>
          </p:cNvPr>
          <p:cNvSpPr/>
          <p:nvPr/>
        </p:nvSpPr>
        <p:spPr>
          <a:xfrm>
            <a:off x="2048956" y="2880423"/>
            <a:ext cx="76200" cy="653669"/>
          </a:xfrm>
          <a:prstGeom prst="leftBrace">
            <a:avLst>
              <a:gd name="adj1" fmla="val 90000"/>
              <a:gd name="adj2" fmla="val 50000"/>
            </a:avLst>
          </a:prstGeom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_5_BD#4153c5e8b?bid=2&amp;vcp=1&amp;pid=389f59f92&amp;color=0,0,0&amp;vtp=1">
            <a:extLst>
              <a:ext uri="{FF2B5EF4-FFF2-40B4-BE49-F238E27FC236}">
                <a16:creationId xmlns:a16="http://schemas.microsoft.com/office/drawing/2014/main" id="{3DFCDDE4-1D01-376B-B4DD-EAB6644FECAE}"/>
              </a:ext>
            </a:extLst>
          </p:cNvPr>
          <p:cNvSpPr/>
          <p:nvPr/>
        </p:nvSpPr>
        <p:spPr>
          <a:xfrm>
            <a:off x="393193" y="4580318"/>
            <a:ext cx="16684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加速度向下</a:t>
            </a:r>
            <a:endParaRPr lang="en-US" altLang="zh-CN" sz="2400" dirty="0"/>
          </a:p>
          <a:p>
            <a:pPr algn="l" latinLnBrk="1">
              <a:lnSpc>
                <a:spcPct val="150000"/>
              </a:lnSpc>
            </a:pPr>
            <a:endParaRPr lang="en-US" altLang="zh-CN" sz="2400" dirty="0"/>
          </a:p>
        </p:txBody>
      </p:sp>
      <p:sp>
        <p:nvSpPr>
          <p:cNvPr id="9" name="SystemAddBraceShape">
            <a:extLst>
              <a:ext uri="{FF2B5EF4-FFF2-40B4-BE49-F238E27FC236}">
                <a16:creationId xmlns:a16="http://schemas.microsoft.com/office/drawing/2014/main" id="{2487FB7C-A7A7-D026-8130-63EAFE88FB57}"/>
              </a:ext>
            </a:extLst>
          </p:cNvPr>
          <p:cNvSpPr/>
          <p:nvPr/>
        </p:nvSpPr>
        <p:spPr>
          <a:xfrm>
            <a:off x="2048956" y="4525708"/>
            <a:ext cx="76200" cy="657860"/>
          </a:xfrm>
          <a:prstGeom prst="leftBrace">
            <a:avLst>
              <a:gd name="adj1" fmla="val 90000"/>
              <a:gd name="adj2" fmla="val 50000"/>
            </a:avLst>
          </a:prstGeom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4153c5e8b?vcp=1&amp;pid=389f59f92&amp;color=0,0,0&amp;vtp=1&amp;bt=1&amp;bbb=1&amp;hb=1"/>
              <p:cNvSpPr/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判断超重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、失重状态的方法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.从受力的角度判断，当物体所受向上的拉力（或支持力）大于重力时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于超重状态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，小于重力时处于失重状态，等于0时处于完全失重状态.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.从加速度的角度判断，当物体具有向上的加速度时处于超重状态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，具有向下的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加速度时处于失重状态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，向下的加速度为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时处于完全失重状态.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.从运动的角度判断，当物体加速上升或减速下降时，物体处于超重状态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，当物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体加速下降或减速上升时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，物体处于失重状态.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4153c5e8b?vcp=1&amp;pid=389f59f92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f2e79a358?vcp=1&amp;pid=41c62d348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f2e79a358?vcp=1&amp;pid=41c62d348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f2e79a358?vcp=1&amp;pid=41c62d348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完全失重现象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b14961a86?vcp=1&amp;pid=f2e79a358&amp;color=0,0,0&amp;vtp=1&amp;bbb=1&amp;hb=1"/>
              <p:cNvSpPr/>
              <p:nvPr/>
            </p:nvSpPr>
            <p:spPr>
              <a:xfrm>
                <a:off x="393192" y="1092200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完全失重是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时的失重状态，物体仍受重力作用，重力只使物体具有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加速度效果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，不再产生其他效果，使物体“好像”不受重力一样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.平常一切由重力产生的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物理现象都会完全消失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b14961a86?vcp=1&amp;pid=f2e79a35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856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7_1#9d95a69cd?vcp=1&amp;pid=f2e79a358&amp;color=0,0,0&amp;vtp=1&amp;bt=1&amp;bbb=1&amp;hb=1"/>
              <p:cNvSpPr/>
              <p:nvPr/>
            </p:nvSpPr>
            <p:spPr>
              <a:xfrm>
                <a:off x="393192" y="756412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［经典高考题改编］（多选题）如图所示，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两物体叠放在一起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，以相同的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初速度上抛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（不计空气阻力），至回到出发点的过程中，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7_1#9d95a69cd?vcp=1&amp;pid=f2e79a35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6412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81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8_1#9d95a69cd.bracket?vcp=1&amp;pid=f2e79a358&amp;color=0,0,0&amp;vpa=3&amp;vtp=1&amp;bbb=1"/>
          <p:cNvSpPr/>
          <p:nvPr/>
        </p:nvSpPr>
        <p:spPr>
          <a:xfrm>
            <a:off x="10747661" y="1303782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5_BD.7_2#9d95a69cd?vcp=1&amp;pid=f2e79a35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46904" y="1916938"/>
            <a:ext cx="2304288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7_3#9d95a69cd.choices?vcp=1&amp;pid=f2e79a358&amp;color=0,0,0&amp;vtp=1&amp;bbb=1&amp;hb=1"/>
              <p:cNvSpPr/>
              <p:nvPr/>
            </p:nvSpPr>
            <p:spPr>
              <a:xfrm>
                <a:off x="393192" y="3377438"/>
                <a:ext cx="11402568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A.上升过程中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处于超重状态，下降过程中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处于失重状态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.上升和下降过程中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两物体均为完全失重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.上升过程中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物体的压力大于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物体受到的重力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两物体叠放着一起自由释放、水平抛出或者斜向上抛出，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间均无弹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力作用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7_3#9d95a69cd.choices?vcp=1&amp;pid=f2e79a35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77438"/>
                <a:ext cx="11402568" cy="2713990"/>
              </a:xfrm>
              <a:prstGeom prst="rect">
                <a:avLst/>
              </a:prstGeom>
              <a:blipFill>
                <a:blip r:embed="rId5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9_1#9d95a69cd?vcp=1&amp;pid=f2e79a358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整体为研究对象：在上升和下降过程中整体仅受重力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律知加速度为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、方向竖直向下，故全过程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都处于完全失重状态，A错误，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B正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；再以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为研究对象，因加速度为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，方向竖直向下，由牛顿第二定律知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所受合力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仅受重力作用，即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之间没有作用力，C错误；同理可知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论将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两物体叠放着一起自由释放、水平抛出或者斜向上抛出，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两物体均处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于完全失重状态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间均无弹力作用，D正确.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9_1#9d95a69cd?vcp=1&amp;pid=f2e79a35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53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0_1#28ced43a1?htil=2&amp;vcp=1&amp;pid=f2e79a358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33274" y="761587"/>
            <a:ext cx="1527048" cy="243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5_BD.10_2#28ced43a1?htil=2&amp;vcp=1&amp;pid=f2e79a358&amp;color=0,0,0&amp;vtp=1&amp;bt=1&amp;bbb=1&amp;hb=1&amp;hs=1"/>
          <p:cNvSpPr/>
          <p:nvPr/>
        </p:nvSpPr>
        <p:spPr>
          <a:xfrm>
            <a:off x="393192" y="715868"/>
            <a:ext cx="9738360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变式2-1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如图所示，一个盛水的容器底部有一小孔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.静止时用手指堵住小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孔不让它漏水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，假设容器在下述几种运动过程中始终保持平动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，且忽略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空气阻力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4" name="QC_5_AN.11_1#28ced43a1.bracket?vcp=1&amp;pid=f2e79a358&amp;color=0,0,0&amp;vpa=4&amp;vtp=1"/>
          <p:cNvSpPr/>
          <p:nvPr/>
        </p:nvSpPr>
        <p:spPr>
          <a:xfrm>
            <a:off x="2454561" y="18220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5" name="QC_5_BD.10_3#28ced43a1.choices?htil=2&amp;vcp=1&amp;pid=f2e79a358&amp;color=0,0,0&amp;vtp=1&amp;bbb=1&amp;hb=1&amp;hs=1"/>
          <p:cNvSpPr/>
          <p:nvPr/>
        </p:nvSpPr>
        <p:spPr>
          <a:xfrm>
            <a:off x="393192" y="2372073"/>
            <a:ext cx="9738360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A.容器自由下落时，小孔向下漏水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.将容器竖直向上抛出，容器向上运动时，小孔向下漏水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；容器向下运动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，小孔不向下漏水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.将容器水平抛出，容器在运动过程中小孔向下漏水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.将容器斜向上抛出，容器在运动过程中小孔不向下漏水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12_1#28ced43a1?vcp=1&amp;pid=f2e79a358&amp;color=0,0,0&amp;vtp=1&amp;bbb=1&amp;hb=1&amp;hs=1"/>
              <p:cNvSpPr/>
              <p:nvPr/>
            </p:nvSpPr>
            <p:spPr>
              <a:xfrm>
                <a:off x="393192" y="5065363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选项中的几种运动，对整体分析，都只受重力作用，运动加速度为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方向向下，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容器中的水处于完全失重状态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，对容器底部无压力.故在底部的小孔处水不会漏出.故选D.</a:t>
                </a:r>
                <a:endParaRPr lang="en-US" altLang="zh-CN" sz="2400" spc="-50" dirty="0"/>
              </a:p>
            </p:txBody>
          </p:sp>
        </mc:Choice>
        <mc:Fallback xmlns="">
          <p:sp>
            <p:nvSpPr>
              <p:cNvPr id="6" name="QC_5_AS.12_1#28ced43a1?vcp=1&amp;pid=f2e79a358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65363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r="-235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77568703e?vcp=1&amp;pid=f2e79a358&amp;color=0,0,0&amp;vtp=1&amp;bt=1&amp;bbb=1&amp;hb=1"/>
              <p:cNvSpPr/>
              <p:nvPr/>
            </p:nvSpPr>
            <p:spPr>
              <a:xfrm>
                <a:off x="393192" y="672656"/>
                <a:ext cx="11402568" cy="5503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从动力学角度看自由落体运动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.自由落体运动的运动学特征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自由落体运动是物体只在重力作用下从静止开始下落的运动，即物体的初速度为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.自由落体运动的动力学特征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由于物体在做自由落体运动时所受的重力是一个恒力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，由牛顿第二定律可知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体下落的加速度也是恒定的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，从这个角度看，自由落体运动是匀变速直线运动.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.自由落体运动的加速度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可知，物体只在重力作用下产生的加速度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77568703e?vcp=1&amp;pid=f2e79a35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2656"/>
                <a:ext cx="11402568" cy="5503799"/>
              </a:xfrm>
              <a:prstGeom prst="rect">
                <a:avLst/>
              </a:prstGeom>
              <a:blipFill>
                <a:blip r:embed="rId3"/>
                <a:stretch>
                  <a:fillRect l="-1658" r="-535" b="-34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7568703e?vcp=1&amp;pid=f2e79a358&amp;color=0,0,0&amp;vtp=1&amp;bt=1&amp;bbb=1&amp;hb=1"/>
          <p:cNvSpPr/>
          <p:nvPr/>
        </p:nvSpPr>
        <p:spPr>
          <a:xfrm>
            <a:off x="393192" y="235467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在完全失重的状态下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，平时一切由重力产生的物理现象都将完全消失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，比如物体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对支持物无压力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，摆钟停止摆动，浸在水中的物体不再受浮力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，液柱不再产生向下的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压强等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.靠重力才能使用的仪器将失效，不能再使用（如天平、液体气压计等）.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cae6dde9?vcp=1&amp;pid=41c62d348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cae6dde9?vcp=1&amp;pid=41c62d348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6cae6dde9?vcp=1&amp;pid=41c62d348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超重和失重的计算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79bb66801?vcp=1&amp;pid=6cae6dde9&amp;color=0,0,0&amp;vtp=1&amp;bbb=1"/>
          <p:cNvSpPr/>
          <p:nvPr/>
        </p:nvSpPr>
        <p:spPr>
          <a:xfrm>
            <a:off x="393192" y="1092200"/>
            <a:ext cx="11402568" cy="104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algn="ctr" latinLnBrk="1">
              <a:lnSpc>
                <a:spcPts val="43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平衡状态及超重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、失重的比较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#1.1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P_5_BD#79bb66801?colgroup=4,3,9,12,5&amp;vcp=1&amp;pid=6cae6dde9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1631818"/>
                  </p:ext>
                </p:extLst>
              </p:nvPr>
            </p:nvGraphicFramePr>
            <p:xfrm>
              <a:off x="393192" y="2260600"/>
              <a:ext cx="11347704" cy="4042855"/>
            </p:xfrm>
            <a:graphic>
              <a:graphicData uri="http://schemas.openxmlformats.org/drawingml/2006/table">
                <a:tbl>
                  <a:tblPr/>
                  <a:tblGrid>
                    <a:gridCol w="1591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5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52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502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56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10883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特征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44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重力的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运动情况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4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竖直方向上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的受力图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4306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平衡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静止或匀速直线运动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9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095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超重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向上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+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)&gt;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向上加速或向下减速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P_5_BD#79bb66801?colgroup=4,3,9,12,5&amp;vcp=1&amp;pid=6cae6dde9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1631818"/>
                  </p:ext>
                </p:extLst>
              </p:nvPr>
            </p:nvGraphicFramePr>
            <p:xfrm>
              <a:off x="393192" y="2260600"/>
              <a:ext cx="11347704" cy="4042855"/>
            </p:xfrm>
            <a:graphic>
              <a:graphicData uri="http://schemas.openxmlformats.org/drawingml/2006/table">
                <a:tbl>
                  <a:tblPr/>
                  <a:tblGrid>
                    <a:gridCol w="1591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5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52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502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56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108837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特征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324" r="-194606" b="-2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运动情况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4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竖直方向上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43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的受力图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4306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平衡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169" t="-67159" r="-775956" b="-78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324" t="-67159" r="-194606" b="-78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静止或匀速直线运动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29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90955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超重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向上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2324" t="-213679" r="-194606" b="-4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42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向上加速或向下减速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5_BD#79bb66801.table_image?tii=2&amp;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9024" y="3400013"/>
            <a:ext cx="768096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79bb66801.table_image?tii=3&amp;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73284" y="5045329"/>
            <a:ext cx="1179576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P_5_BD#79bb66801?colgroup=4,3,9,12,5&amp;vcp=1&amp;pid=6cae6dde9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06970"/>
                  </p:ext>
                </p:extLst>
              </p:nvPr>
            </p:nvGraphicFramePr>
            <p:xfrm>
              <a:off x="393192" y="1970722"/>
              <a:ext cx="11347704" cy="3540125"/>
            </p:xfrm>
            <a:graphic>
              <a:graphicData uri="http://schemas.openxmlformats.org/drawingml/2006/table">
                <a:tbl>
                  <a:tblPr/>
                  <a:tblGrid>
                    <a:gridCol w="1591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5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52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502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56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808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特征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视重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）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重力的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运动情况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竖直方向上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的受力图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7109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)&lt;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𝑚𝑔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向下加速或向上减速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2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完全失重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抛体运动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正常运行的卫星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P_5_BD#79bb66801?colgroup=4,3,9,12,5&amp;vcp=1&amp;pid=6cae6dde9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106970"/>
                  </p:ext>
                </p:extLst>
              </p:nvPr>
            </p:nvGraphicFramePr>
            <p:xfrm>
              <a:off x="393192" y="1970722"/>
              <a:ext cx="11347704" cy="3540125"/>
            </p:xfrm>
            <a:graphic>
              <a:graphicData uri="http://schemas.openxmlformats.org/drawingml/2006/table">
                <a:tbl>
                  <a:tblPr/>
                  <a:tblGrid>
                    <a:gridCol w="15910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5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352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95020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556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8082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特征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加速度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2324" t="-621" r="-194606" b="-2621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运动情况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竖直方向上</a:t>
                          </a:r>
                          <a:endParaRPr lang="en-US" altLang="zh-CN" sz="1200" dirty="0"/>
                        </a:p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的受力图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7109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2324" t="-71681" r="-194606" b="-867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向下加速或向上减速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21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完全失重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69" t="-198974" r="-775956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2324" t="-198974" r="-194606" b="-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抛体运动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正常运行的卫星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85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79bb66801.table_image?tii=4&amp;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23576" y="3070162"/>
            <a:ext cx="1078992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79bb66801.table_image?tii=5&amp;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68712" y="4441254"/>
            <a:ext cx="1188720" cy="95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79bb66801?colgroup=4,3,9,12,5&amp;vcp=1&amp;pid=6cae6dde9&amp;color=0,0,0&amp;vtp=1&amp;bt=1&amp;bbb=1">
            <a:extLst>
              <a:ext uri="{FF2B5EF4-FFF2-40B4-BE49-F238E27FC236}">
                <a16:creationId xmlns:a16="http://schemas.microsoft.com/office/drawing/2014/main" id="{56424A44-60A4-2189-3D56-15BC2242F72F}"/>
              </a:ext>
            </a:extLst>
          </p:cNvPr>
          <p:cNvSpPr txBox="1"/>
          <p:nvPr/>
        </p:nvSpPr>
        <p:spPr>
          <a:xfrm>
            <a:off x="11125344" y="1345247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13_1#3bae7fc8b?vcp=1&amp;pid=6cae6dde9&amp;color=0,0,0&amp;vtp=1&amp;bt=1&amp;bbb=1&amp;hb=1"/>
              <p:cNvSpPr/>
              <p:nvPr/>
            </p:nvSpPr>
            <p:spPr>
              <a:xfrm>
                <a:off x="393192" y="1170940"/>
                <a:ext cx="11402568" cy="21544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某人在以大小为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的加速度匀加速下降的升降机中最多可举起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的物体，则此人在地面上最多可举起多少千克的物体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？若此人在一匀加速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上升的升降机中最多能举起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，则此升降机上升的加速度为多大</a:t>
                </a:r>
                <a:r>
                  <a:rPr lang="en-US" altLang="zh-CN" sz="100" b="0" i="0" kern="0" spc="-9990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zh-CN" altLang="en-US" sz="2400" b="0" i="0">
                  <a:solidFill>
                    <a:srgbClr val="000000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？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13_1#3bae7fc8b?vcp=1&amp;pid=6cae6dde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0940"/>
                <a:ext cx="11402568" cy="2154428"/>
              </a:xfrm>
              <a:prstGeom prst="rect">
                <a:avLst/>
              </a:prstGeom>
              <a:blipFill>
                <a:blip r:embed="rId3"/>
                <a:stretch>
                  <a:fillRect l="-1658" r="-32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13_2#3bae7fc8b?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4024" y="3437636"/>
            <a:ext cx="2660904" cy="224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AS.14_1#3bae7fc8b?vcp=1&amp;pid=6cae6dde9&amp;color=0,0,0&amp;vtp=1&amp;bt=1&amp;bbb=1&amp;hb=1"/>
              <p:cNvSpPr/>
              <p:nvPr/>
            </p:nvSpPr>
            <p:spPr>
              <a:xfrm>
                <a:off x="393192" y="504000"/>
                <a:ext cx="11402568" cy="572611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以物体为研究对象，对物体进行受力分析和运动状态分析，如图甲所示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.设人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“举力”为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𝟖𝟓𝟓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当他在地上举物体时，设最多可举起质量为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此人在某一匀加速上升的升降机中最多能举起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，显然此时升降机一定处于超重状态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.对物体进行受力分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析和运动情况分析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，如图乙所示.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即升降机加速上升的加速度为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AS.14_1#3bae7fc8b?vcp=1&amp;pid=6cae6dde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726113"/>
              </a:xfrm>
              <a:prstGeom prst="rect">
                <a:avLst/>
              </a:prstGeom>
              <a:blipFill>
                <a:blip r:embed="rId3"/>
                <a:stretch>
                  <a:fillRect l="-1658" r="-4064" b="-31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5_1#52ec7a575?vcp=1&amp;pid=6cae6dde9&amp;color=0,0,0&amp;vtp=1&amp;bt=1&amp;bbb=1&amp;hb=1"/>
              <p:cNvSpPr/>
              <p:nvPr/>
            </p:nvSpPr>
            <p:spPr>
              <a:xfrm>
                <a:off x="393192" y="75596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（生活情境）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将某小区住宅楼的电梯简化成只受重力与绳索拉力作用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电梯在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时由静止开始上升，其加速度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.下列说法正确的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5_1#52ec7a575?vcp=1&amp;pid=6cae6dde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596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7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6_1#52ec7a575.bracket?vcp=1&amp;pid=6cae6dde9&amp;color=0,0,0&amp;vpa=5&amp;vtp=1"/>
          <p:cNvSpPr/>
          <p:nvPr/>
        </p:nvSpPr>
        <p:spPr>
          <a:xfrm>
            <a:off x="930560" y="186213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15_2#52ec7a575?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5848" y="2476563"/>
            <a:ext cx="5486400" cy="2441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5_3#52ec7a575.choices?vcp=1&amp;pid=6cae6dde9&amp;color=0,0,0&amp;vtp=1&amp;bbb=1"/>
              <p:cNvSpPr/>
              <p:nvPr/>
            </p:nvSpPr>
            <p:spPr>
              <a:xfrm>
                <a:off x="393192" y="505466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，电梯处于失重状态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7∼53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内，绳索拉力最小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，电梯处于超重状态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时，电梯速度恰好为0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5_3#52ec7a575.choices?vcp=1&amp;pid=6cae6dde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5466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17_1#52ec7a575?vcp=1&amp;pid=6cae6dde9&amp;color=0,0,0&amp;vtp=1&amp;bt=1&amp;bbb=1&amp;hb=1"/>
              <p:cNvSpPr/>
              <p:nvPr/>
            </p:nvSpPr>
            <p:spPr>
              <a:xfrm>
                <a:off x="393192" y="1263745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电梯由静止开始上升，根据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，电梯的加速度方向向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，电梯处于超重状态，A错误.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内，加速度的方向向下，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电梯处于失重状态，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绳索的拉力小于重力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，电梯处于平衡状态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，绳索拉力等于电梯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，大于电梯失重时绳索的拉力，所以这段时间内绳索拉力不是最小，B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时，电梯向上做减速运动，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，加速度方向向下，电梯处于失重状态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图像与横坐标轴所围的面积大小表示速度的变化量大小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，结合几何知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识可知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图像与横坐标轴所围面积的代数和为0，所以速度的变化量为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而电梯的初速度为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时，电梯速度恰好为0，D正确.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17_1#52ec7a575?vcp=1&amp;pid=6cae6dde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63745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4118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0b3dda776?htil=3&amp;vcp=1&amp;pid=6cae6dde9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10754" y="1120140"/>
            <a:ext cx="3044952" cy="466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0b3dda776?htil=3&amp;vcp=1&amp;pid=6cae6dde9&amp;color=0,0,0&amp;vtp=1&amp;bt=1&amp;bbb=1&amp;hb=1"/>
          <p:cNvSpPr/>
          <p:nvPr/>
        </p:nvSpPr>
        <p:spPr>
          <a:xfrm>
            <a:off x="393192" y="1074420"/>
            <a:ext cx="8220456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超重和失重问题的解题步骤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在分析超重和失重类问题时,要在对物体进行受力分析的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基础上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,以牛顿第二定律为依据来解决.具体的解题步骤如下：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0b3dda776?vcp=1&amp;pid=6cae6dde9&amp;color=0,0,0&amp;vtp=1&amp;bt=1&amp;bbb=1&amp;hb=1"/>
              <p:cNvSpPr/>
              <p:nvPr/>
            </p:nvSpPr>
            <p:spPr>
              <a:xfrm>
                <a:off x="393192" y="957675"/>
                <a:ext cx="11402568" cy="494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3可根据电梯加速度情况直接判断物体处于失重、超重或平衡状态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；已知电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梯由静止开始上升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图像可确认电梯在任一时刻的速度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.结合运动学知识可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轴所围成的图形面积等于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，且有正、负之分：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轴以上为正，以下为负.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有关超重和失重现象的图像问题的分析方法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.通过读取图像信息,获取不同阶段的受力情况,特别是和重力大小相比较.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.分别构建匀变速直线运动或匀速直线运动模型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,利用牛顿第二定律求解不同阶段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0b3dda776?vcp=1&amp;pid=6cae6dde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7675"/>
                <a:ext cx="11402568" cy="4949000"/>
              </a:xfrm>
              <a:prstGeom prst="rect">
                <a:avLst/>
              </a:prstGeom>
              <a:blipFill>
                <a:blip r:embed="rId3"/>
                <a:stretch>
                  <a:fillRect l="-1658" r="-4439" b="-369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c9f4fd766?vcp=1&amp;pid=41c62d348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c9f4fd766?vcp=1&amp;pid=41c62d348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c9f4fd766?vcp=1&amp;pid=41c62d348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超重和失重的拓展应用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2eaf8f5eb?vcp=1&amp;pid=c9f4fd766&amp;color=0,0,0&amp;vtp=1&amp;bbb=1&amp;hb=1"/>
              <p:cNvSpPr/>
              <p:nvPr/>
            </p:nvSpPr>
            <p:spPr>
              <a:xfrm>
                <a:off x="393192" y="1092200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物体不在竖直方向上运动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，只要其加速度在竖直方向上有分量，即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≠0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物体处于失重或超重状态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方向竖直向上时，物体处于超重状态；当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方向竖直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向下时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，物体处于失重状态.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2eaf8f5eb?vcp=1&amp;pid=c9f4fd76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r="-37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8_1#5880deea5?vcp=1&amp;pid=c9f4fd766&amp;color=0,0,0&amp;vtp=1&amp;bt=1&amp;bbb=1&amp;hb=1"/>
              <p:cNvSpPr/>
              <p:nvPr/>
            </p:nvSpPr>
            <p:spPr>
              <a:xfrm>
                <a:off x="393192" y="181508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（全国高考题改编）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的楔形木块放在水平桌面上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顶角为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，两底角为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为两个位于斜面上质量均为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的小木块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有接触面都是光滑的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.现发现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沿斜面下滑，而楔形木块静止不动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，这时楔形木块对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水平桌面的压力等于(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8_1#5880deea5?vcp=1&amp;pid=c9f4fd76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508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0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9_1#5880deea5.bracket?vcp=1&amp;pid=c9f4fd766&amp;color=0,0,0&amp;vpa=6&amp;vtp=1"/>
          <p:cNvSpPr/>
          <p:nvPr/>
        </p:nvSpPr>
        <p:spPr>
          <a:xfrm>
            <a:off x="3368960" y="348005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5_BD.18_2#5880deea5?htil=4&amp;vcp=1&amp;pid=c9f4fd766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37118" y="4000500"/>
            <a:ext cx="2002536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8_3#5880deea5.choices?htil=4&amp;vcp=1&amp;pid=c9f4fd766&amp;color=0,0,0&amp;vtp=1&amp;bbb=1"/>
              <p:cNvSpPr/>
              <p:nvPr/>
            </p:nvSpPr>
            <p:spPr>
              <a:xfrm>
                <a:off x="393192" y="3954780"/>
                <a:ext cx="9262872" cy="10266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73938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73938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8_3#5880deea5.choices?htil=4&amp;vcp=1&amp;pid=c9f4fd76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54780"/>
                <a:ext cx="9262872" cy="1026605"/>
              </a:xfrm>
              <a:prstGeom prst="rect">
                <a:avLst/>
              </a:prstGeom>
              <a:blipFill>
                <a:blip r:embed="rId5"/>
                <a:stretch>
                  <a:fillRect l="-2041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20_1#5880deea5?htil=5&amp;vcp=1&amp;pid=c9f4fd766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5310" y="1617567"/>
            <a:ext cx="4224528" cy="206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C_5_AS.20_2#5880deea5?htil=5&amp;vcp=1&amp;pid=c9f4fd766&amp;color=0,0,0&amp;vtp=1&amp;bt=1&amp;bbb=1&amp;hb=1&amp;hs=1"/>
              <p:cNvSpPr/>
              <p:nvPr/>
            </p:nvSpPr>
            <p:spPr>
              <a:xfrm>
                <a:off x="393192" y="1571847"/>
                <a:ext cx="7040880" cy="21450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进行受力分析（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如图甲所示），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①, 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②.同理，对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④.对木块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C_5_AS.20_2#5880deea5?htil=5&amp;vcp=1&amp;pid=c9f4fd766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1847"/>
                <a:ext cx="7040880" cy="2145030"/>
              </a:xfrm>
              <a:prstGeom prst="rect">
                <a:avLst/>
              </a:prstGeom>
              <a:blipFill>
                <a:blip r:embed="rId4"/>
                <a:stretch>
                  <a:fillRect l="-2684" r="-779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C_5_AS.20_2#5880deea5?htil=5&amp;vcp=1&amp;pid=c9f4fd766&amp;color=0,0,0&amp;vtp=1&amp;bt=1&amp;bbb=1&amp;hb=1&amp;hs=1">
                <a:extLst>
                  <a:ext uri="{FF2B5EF4-FFF2-40B4-BE49-F238E27FC236}">
                    <a16:creationId xmlns:a16="http://schemas.microsoft.com/office/drawing/2014/main" id="{393F2079-E518-1D62-4AD9-A19BCB5B651D}"/>
                  </a:ext>
                </a:extLst>
              </p:cNvPr>
              <p:cNvSpPr/>
              <p:nvPr/>
            </p:nvSpPr>
            <p:spPr>
              <a:xfrm>
                <a:off x="393192" y="3698843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），在竖直方向上有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⑤.又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⑥，联立①②③④⑤⑥式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由牛顿第三定律知，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木块对水平桌面的压力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C_5_AS.20_2#5880deea5?htil=5&amp;vcp=1&amp;pid=c9f4fd766&amp;color=0,0,0&amp;vtp=1&amp;bt=1&amp;bbb=1&amp;hb=1&amp;hs=1">
                <a:extLst>
                  <a:ext uri="{FF2B5EF4-FFF2-40B4-BE49-F238E27FC236}">
                    <a16:creationId xmlns:a16="http://schemas.microsoft.com/office/drawing/2014/main" id="{393F2079-E518-1D62-4AD9-A19BCB5B6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98843"/>
                <a:ext cx="11400008" cy="1596200"/>
              </a:xfrm>
              <a:prstGeom prst="rect">
                <a:avLst/>
              </a:prstGeom>
              <a:blipFill>
                <a:blip r:embed="rId5"/>
                <a:stretch>
                  <a:fillRect l="-1658" r="-1283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AS.20_3#5880deea5?vcp=1&amp;pid=c9f4fd766&amp;color=0,0,0&amp;vtp=1&amp;bt=1&amp;bbb=1&amp;hb=1"/>
              <p:cNvSpPr/>
              <p:nvPr/>
            </p:nvSpPr>
            <p:spPr>
              <a:xfrm>
                <a:off x="393192" y="1675987"/>
                <a:ext cx="11402568" cy="32813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用失重观点求解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它们在竖直方向上的分加速度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因失重而减小的压力分别为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𝒚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木块对水平桌面的压力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AS.20_3#5880deea5?vcp=1&amp;pid=c9f4fd76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75987"/>
                <a:ext cx="11402568" cy="3281363"/>
              </a:xfrm>
              <a:prstGeom prst="rect">
                <a:avLst/>
              </a:prstGeom>
              <a:blipFill>
                <a:blip r:embed="rId3"/>
                <a:stretch>
                  <a:fillRect l="-1658" r="-107" b="-55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&amp;si=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1_1#c2b64bc2e?vcp=1&amp;pid=c9f4fd766&amp;color=0,0,0&amp;vtp=1&amp;bt=1&amp;bbb=1&amp;hb=1"/>
              <p:cNvSpPr/>
              <p:nvPr/>
            </p:nvSpPr>
            <p:spPr>
              <a:xfrm>
                <a:off x="393192" y="781241"/>
                <a:ext cx="11402568" cy="922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（多选题）如图所示，斜面体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始终处于静止状态，在物体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沿斜面下滑的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1_1#c2b64bc2e?vcp=1&amp;pid=c9f4fd76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1241"/>
                <a:ext cx="11402568" cy="922274"/>
              </a:xfrm>
              <a:prstGeom prst="rect">
                <a:avLst/>
              </a:prstGeom>
              <a:blipFill>
                <a:blip r:embed="rId3"/>
                <a:stretch>
                  <a:fillRect l="-1658" t="-1325" b="-20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2_1#c2b64bc2e.bracket?vcp=1&amp;pid=c9f4fd766&amp;color=0,0,0&amp;vpa=7&amp;vtp=1&amp;bbb=1"/>
          <p:cNvSpPr/>
          <p:nvPr/>
        </p:nvSpPr>
        <p:spPr>
          <a:xfrm>
            <a:off x="1565561" y="1261364"/>
            <a:ext cx="865188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ABC</a:t>
            </a:r>
            <a:endParaRPr lang="en-US" altLang="zh-CN" sz="2400" dirty="0"/>
          </a:p>
        </p:txBody>
      </p:sp>
      <p:pic>
        <p:nvPicPr>
          <p:cNvPr id="4" name="QC_5_BD.21_2#c2b64bc2e?htil=6&amp;vcp=1&amp;pid=c9f4fd766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11512" y="1284986"/>
            <a:ext cx="1965960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1_3#c2b64bc2e.choices?htil=6&amp;vcp=1&amp;pid=c9f4fd766&amp;color=0,0,0&amp;vtp=1&amp;bbb=1&amp;hs=1"/>
              <p:cNvSpPr/>
              <p:nvPr/>
            </p:nvSpPr>
            <p:spPr>
              <a:xfrm>
                <a:off x="393192" y="1704467"/>
                <a:ext cx="9299448" cy="19106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A.匀速下滑时，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.加速下滑时，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对地面的压力小于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.减速下滑时，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对地面的压力始终等于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1_3#c2b64bc2e.choices?htil=6&amp;vcp=1&amp;pid=c9f4fd766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04467"/>
                <a:ext cx="9299448" cy="1910652"/>
              </a:xfrm>
              <a:prstGeom prst="rect">
                <a:avLst/>
              </a:prstGeom>
              <a:blipFill>
                <a:blip r:embed="rId5"/>
                <a:stretch>
                  <a:fillRect l="-2033" t="-958" b="-99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23_1#c2b64bc2e?vcp=1&amp;pid=c9f4fd766&amp;color=0,0,0&amp;vtp=1&amp;bbb=1&amp;hb=1&amp;hs=1"/>
              <p:cNvSpPr/>
              <p:nvPr/>
            </p:nvSpPr>
            <p:spPr>
              <a:xfrm>
                <a:off x="393192" y="3622166"/>
                <a:ext cx="11402568" cy="2421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组成的系统，当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匀速下滑时，系统竖直方向没有加速度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，所以不失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重也不超重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，对地面压力等于系统的重力；当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加速下滑时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，整个系统在竖直方向上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有向下的加速度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，处于失重状态，对地面压力小于系统的重力；当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减速下滑时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统在竖直方向上具有向上的加速度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，处于超重状态，对地面的压力大于系统的重力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、B、C正确.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23_1#c2b64bc2e?vcp=1&amp;pid=c9f4fd766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2166"/>
                <a:ext cx="11402568" cy="2421700"/>
              </a:xfrm>
              <a:prstGeom prst="rect">
                <a:avLst/>
              </a:prstGeom>
              <a:blipFill>
                <a:blip r:embed="rId6"/>
                <a:stretch>
                  <a:fillRect l="-1658" t="-504" r="-1230" b="-75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27712038f?vcp=1&amp;pid=c9f4fd766&amp;color=0,0,0&amp;vtp=1&amp;bt=1&amp;bbb=1&amp;hb=1"/>
              <p:cNvSpPr/>
              <p:nvPr/>
            </p:nvSpPr>
            <p:spPr>
              <a:xfrm>
                <a:off x="393192" y="562387"/>
                <a:ext cx="11402568" cy="1735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系统中的超重和失重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，当系统内的部分物体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具有向下的加速度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，系统处于部分失重</a:t>
                </a:r>
              </a:p>
              <a:p>
                <a:pPr latinLnBrk="1">
                  <a:lnSpc>
                    <a:spcPts val="3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.地面对底座的支持力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27712038f?vcp=1&amp;pid=c9f4fd76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62387"/>
                <a:ext cx="11402568" cy="1735900"/>
              </a:xfrm>
              <a:prstGeom prst="rect">
                <a:avLst/>
              </a:prstGeom>
              <a:blipFill>
                <a:blip r:embed="rId3"/>
                <a:stretch>
                  <a:fillRect l="-1658" t="-2807" b="-105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_5_BD#27712038f?htil=7&amp;vcp=1&amp;pid=c9f4fd766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61120" y="1926049"/>
            <a:ext cx="2816352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27712038f?htil=7&amp;vcp=1&amp;pid=c9f4fd766&amp;color=0,0,0&amp;vtp=1&amp;bbb=1&amp;hb=1"/>
              <p:cNvSpPr/>
              <p:nvPr/>
            </p:nvSpPr>
            <p:spPr>
              <a:xfrm>
                <a:off x="393192" y="2295684"/>
                <a:ext cx="8449056" cy="129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如图乙所示，当系统内的部分物体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具有向上的加速度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系统处于部分超重状态，地面对底座的支持力</a:t>
                </a:r>
              </a:p>
              <a:p>
                <a:pPr latinLnBrk="1">
                  <a:lnSpc>
                    <a:spcPts val="3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27712038f?htil=7&amp;vcp=1&amp;pid=c9f4fd76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95684"/>
                <a:ext cx="8449056" cy="1291400"/>
              </a:xfrm>
              <a:prstGeom prst="rect">
                <a:avLst/>
              </a:prstGeom>
              <a:blipFill>
                <a:blip r:embed="rId5"/>
                <a:stretch>
                  <a:fillRect l="-2237" t="-4265" r="-4762" b="-142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27712038f?htil=7&amp;vcp=1&amp;pid=c9f4fd766&amp;color=0,0,0&amp;vtp=1&amp;bbb=1&amp;hb=1&amp;hs=1"/>
              <p:cNvSpPr/>
              <p:nvPr/>
            </p:nvSpPr>
            <p:spPr>
              <a:xfrm>
                <a:off x="393192" y="3589749"/>
                <a:ext cx="8449056" cy="133057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如图丙所示,当滑块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沿斜面加速下滑（或减速上滑）时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,滑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块具有沿竖直方向向下的分加速度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,系统处于部分失重状态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,地面</a:t>
                </a: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对底座的支持力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𝑚𝑎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27712038f?htil=7&amp;vcp=1&amp;pid=c9f4fd766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89749"/>
                <a:ext cx="8449056" cy="1330579"/>
              </a:xfrm>
              <a:prstGeom prst="rect">
                <a:avLst/>
              </a:prstGeom>
              <a:blipFill>
                <a:blip r:embed="rId6"/>
                <a:stretch>
                  <a:fillRect l="-2237" t="-4128" r="-1515" b="-1146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5_BD#27712038f?htil=7&amp;vcp=1&amp;pid=c9f4fd766&amp;color=0,0,0&amp;vtp=1&amp;bbb=1&amp;hb=1&amp;hs=1">
                <a:extLst>
                  <a:ext uri="{FF2B5EF4-FFF2-40B4-BE49-F238E27FC236}">
                    <a16:creationId xmlns:a16="http://schemas.microsoft.com/office/drawing/2014/main" id="{F2E42B8F-AC0E-2E9E-D4BF-7F9548629EA9}"/>
                  </a:ext>
                </a:extLst>
              </p:cNvPr>
              <p:cNvSpPr/>
              <p:nvPr/>
            </p:nvSpPr>
            <p:spPr>
              <a:xfrm>
                <a:off x="395996" y="4923441"/>
                <a:ext cx="11400008" cy="129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显然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，超重或失重的重量刚好为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此即处于超重或失重状态下的系统对支持面或悬挂物弹力</a:t>
                </a:r>
              </a:p>
              <a:p>
                <a:pPr latinLnBrk="1">
                  <a:lnSpc>
                    <a:spcPts val="3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P_5_BD#27712038f?htil=7&amp;vcp=1&amp;pid=c9f4fd766&amp;color=0,0,0&amp;vtp=1&amp;bbb=1&amp;hb=1&amp;hs=1">
                <a:extLst>
                  <a:ext uri="{FF2B5EF4-FFF2-40B4-BE49-F238E27FC236}">
                    <a16:creationId xmlns:a16="http://schemas.microsoft.com/office/drawing/2014/main" id="{F2E42B8F-AC0E-2E9E-D4BF-7F9548629E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923441"/>
                <a:ext cx="11400008" cy="1291400"/>
              </a:xfrm>
              <a:prstGeom prst="rect">
                <a:avLst/>
              </a:prstGeom>
              <a:blipFill>
                <a:blip r:embed="rId7"/>
                <a:stretch>
                  <a:fillRect l="-1658" t="-4265" b="-142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1661</Words>
  <Application>Microsoft Office PowerPoint</Application>
  <PresentationFormat>宽屏</PresentationFormat>
  <Paragraphs>292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2026-05-25T08:03:59Z</dcterms:created>
  <dcterms:modified xsi:type="dcterms:W3CDTF">2026-05-25T08:34:59Z</dcterms:modified>
  <cp:category/>
  <cp:contentStatus/>
</cp:coreProperties>
</file>