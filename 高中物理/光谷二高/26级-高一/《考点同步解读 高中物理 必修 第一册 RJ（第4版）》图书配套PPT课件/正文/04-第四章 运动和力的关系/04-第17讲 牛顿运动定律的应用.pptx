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2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4" d="100"/>
        <a:sy n="174" d="100"/>
      </p:scale>
      <p:origin x="0" y="-257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49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2736a60ac3496b21c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f378cfb7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第17讲 牛顿运动定律的应用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f378cfb7a.fixed?vcp=1&amp;pid=76d465d43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运动和力的关系</a:t>
            </a:r>
            <a:endParaRPr lang="en-US" altLang="zh-CN" sz="4800" dirty="0"/>
          </a:p>
        </p:txBody>
      </p:sp>
      <p:sp>
        <p:nvSpPr>
          <p:cNvPr id="3" name="C_2_BD#f378cfb7a.fixed?vcp=1&amp;pid=76d465d43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第17讲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牛顿运动定律的应用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1#目录1:f378cfb7a?lid=9a3b05e20&amp;cid=9a3b05e20&amp;vtp=1&amp;bt=1&amp;bbb=1">
            <a:hlinkClick r:id="rId3" action="ppaction://hlinksldjump"/>
          </p:cNvPr>
          <p:cNvSpPr/>
          <p:nvPr/>
        </p:nvSpPr>
        <p:spPr>
          <a:xfrm>
            <a:off x="5577840" y="2587752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高考要求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学业标准·考情分析</a:t>
            </a:r>
            <a:endParaRPr lang="en-US" altLang="zh-CN" sz="3200" dirty="0"/>
          </a:p>
        </p:txBody>
      </p:sp>
      <p:sp>
        <p:nvSpPr>
          <p:cNvPr id="3" name="C_1#目录1:f378cfb7a?lid=df81f1186&amp;cid=df81f1186&amp;vtp=1&amp;bbb=1">
            <a:hlinkClick r:id="rId4" action="ppaction://hlinksldjump"/>
          </p:cNvPr>
          <p:cNvSpPr/>
          <p:nvPr/>
        </p:nvSpPr>
        <p:spPr>
          <a:xfrm>
            <a:off x="5577840" y="3419856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考点分类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考点透析·典例剖析</a:t>
            </a:r>
            <a:endParaRPr lang="en-US" altLang="zh-CN" sz="32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9a3b05e20?vcp=1&amp;pid=f378cfb7a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graphicFrame>
        <p:nvGraphicFramePr>
          <p:cNvPr id="5" name="P_4_BD#80d31de82?colgroup=16,4,15&amp;vcp=1&amp;pid=9a3b05e20&amp;color=0,0,0&amp;vtp=1&amp;bb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921788"/>
              </p:ext>
            </p:extLst>
          </p:nvPr>
        </p:nvGraphicFramePr>
        <p:xfrm>
          <a:off x="393192" y="1181100"/>
          <a:ext cx="11400469" cy="2340229"/>
        </p:xfrm>
        <a:graphic>
          <a:graphicData uri="http://schemas.openxmlformats.org/drawingml/2006/table">
            <a:tbl>
              <a:tblPr/>
              <a:tblGrid>
                <a:gridCol w="5105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9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7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考点分析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核心素养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知识图解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9884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1.动力学两类基本问题.（★★）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173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2.光滑斜面上运动时间问题.（★★）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3.多过程问题.（★★）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_4_BD#80d31de82.table_image?tii=1&amp;vcp=1&amp;pid=9a3b05e20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87041" y="1698709"/>
            <a:ext cx="3603872" cy="1787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df81f1186?vcp=1&amp;pid=f378cfb7a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pic>
        <p:nvPicPr>
          <p:cNvPr id="3" name="C_4#d4554cf15?vcp=1&amp;pid=df81f1186&amp;color=0,0,0&amp;tib=255,255,255&amp;vtp=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1100"/>
            <a:ext cx="11320272" cy="457200"/>
          </a:xfrm>
          <a:prstGeom prst="rect">
            <a:avLst/>
          </a:prstGeom>
        </p:spPr>
      </p:pic>
      <p:sp>
        <p:nvSpPr>
          <p:cNvPr id="4" name="C_4_BD#d4554cf15?vcp=1&amp;pid=df81f1186&amp;color=255,255,255&amp;vtp=1"/>
          <p:cNvSpPr/>
          <p:nvPr/>
        </p:nvSpPr>
        <p:spPr>
          <a:xfrm>
            <a:off x="1225296" y="118110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4_BD#d4554cf15?vcp=1&amp;pid=df81f1186&amp;color=0,0,0&amp;vtp=1&amp;bbb=1"/>
          <p:cNvSpPr/>
          <p:nvPr/>
        </p:nvSpPr>
        <p:spPr>
          <a:xfrm>
            <a:off x="1837944" y="118110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从受力情况确定运动情况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回归教材</a:t>
            </a:r>
            <a:endParaRPr lang="en-US" altLang="zh-CN" sz="2600" dirty="0"/>
          </a:p>
        </p:txBody>
      </p:sp>
      <p:sp>
        <p:nvSpPr>
          <p:cNvPr id="6" name="P_5_BD#ee28eec36?vcp=1&amp;pid=d4554cf15&amp;color=0,0,0&amp;vtp=1&amp;bbb=1&amp;hb=1"/>
          <p:cNvSpPr/>
          <p:nvPr/>
        </p:nvSpPr>
        <p:spPr>
          <a:xfrm>
            <a:off x="393192" y="1778000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.基本思路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分析物体的受力情况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，由牛顿第二定律求出物体的加速度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，再由运动学公式确定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物体的运动情况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.流程图如下所示.</a:t>
            </a:r>
            <a:endParaRPr lang="en-US" altLang="zh-CN" sz="2400" dirty="0"/>
          </a:p>
        </p:txBody>
      </p:sp>
      <p:pic>
        <p:nvPicPr>
          <p:cNvPr id="7" name="P_5_BD#ee28eec36?vcp=1&amp;pid=d4554cf15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89504" y="4051300"/>
            <a:ext cx="6419088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ee28eec36?vcp=1&amp;pid=d4554cf15&amp;color=0,0,0&amp;vtp=1&amp;bt=1&amp;bbb=1&amp;hb=1"/>
          <p:cNvSpPr/>
          <p:nvPr/>
        </p:nvSpPr>
        <p:spPr>
          <a:xfrm>
            <a:off x="393192" y="1788986"/>
            <a:ext cx="11402568" cy="326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2.解题的一般步骤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1）确定研究对象，对研究对象进行受力分析和运动分析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，并画出物体的受力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示意图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2）根据力的合成与分解的方法，求出物体所受的合力（包括大小和方向）.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3）根据牛顿第二定律列方程，求出物体的加速度.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4）结合给定的物体运动的初始条件，选择运动学公式，求出所需的运动参量.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5_BD.1_1#7cb39b2b9?htil=1&amp;vcp=1&amp;pid=d4554cf15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75520" y="834136"/>
            <a:ext cx="1901952" cy="97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QO_5_BD.1_2#7cb39b2b9?htil=1&amp;vcp=1&amp;pid=d4554cf15&amp;color=0,0,0&amp;vtp=1&amp;bt=1&amp;bbb=1&amp;hb=1&amp;hs=1"/>
              <p:cNvSpPr/>
              <p:nvPr/>
            </p:nvSpPr>
            <p:spPr>
              <a:xfrm>
                <a:off x="393192" y="788416"/>
                <a:ext cx="9363456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（经典模型）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如图所示，在倾角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的足够长的固定的斜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面底端有一质量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=1.0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.物体与斜面间的动摩擦因数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O_5_BD.1_2#7cb39b2b9?htil=1&amp;vcp=1&amp;pid=d4554cf15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88416"/>
                <a:ext cx="9363456" cy="1037400"/>
              </a:xfrm>
              <a:prstGeom prst="rect">
                <a:avLst/>
              </a:prstGeom>
              <a:blipFill>
                <a:blip r:embed="rId4"/>
                <a:stretch>
                  <a:fillRect l="-2018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O_6_BD.2_1#62d900200?vcp=1&amp;pid=7cb39b2b9&amp;color=0,0,0&amp;vtp=1&amp;bbb=1"/>
          <p:cNvSpPr/>
          <p:nvPr/>
        </p:nvSpPr>
        <p:spPr>
          <a:xfrm>
            <a:off x="393192" y="2874772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（1）绳断时物体的速度大小.</a:t>
            </a:r>
            <a:endParaRPr lang="en-US" altLang="zh-CN" sz="2400" dirty="0"/>
          </a:p>
        </p:txBody>
      </p:sp>
      <p:pic>
        <p:nvPicPr>
          <p:cNvPr id="5" name="QO_6_AS.3_1#62d900200?htil=2&amp;vcp=1&amp;pid=7cb39b2b9&amp;color=0,0,0&amp;tib=255,255,255&amp;vtp=1&amp;hs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86416" y="3413887"/>
            <a:ext cx="1591056" cy="1572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QO_6_AS.3_2#62d900200?htil=2&amp;vcp=1&amp;pid=7cb39b2b9&amp;color=0,0,0&amp;vtp=1&amp;bbb=1&amp;hb=1"/>
              <p:cNvSpPr/>
              <p:nvPr/>
            </p:nvSpPr>
            <p:spPr>
              <a:xfrm>
                <a:off x="393192" y="3368167"/>
                <a:ext cx="9674352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物体向上运动的过程中，受拉力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、斜面支持力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、重力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作用，如图所示.设物体向上运动的加速度为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,根据牛顿第二定律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时物体的速度大小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QO_6_AS.3_2#62d900200?htil=2&amp;vcp=1&amp;pid=7cb39b2b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68167"/>
                <a:ext cx="9674352" cy="2713800"/>
              </a:xfrm>
              <a:prstGeom prst="rect">
                <a:avLst/>
              </a:prstGeom>
              <a:blipFill>
                <a:blip r:embed="rId6"/>
                <a:stretch>
                  <a:fillRect l="-1953" r="-1449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QO_5_BD.1_2#7cb39b2b9?htil=1&amp;vcp=1&amp;pid=d4554cf15&amp;color=0,0,0&amp;vtp=1&amp;bt=1&amp;bbb=1&amp;hb=1&amp;hs=1">
                <a:extLst>
                  <a:ext uri="{FF2B5EF4-FFF2-40B4-BE49-F238E27FC236}">
                    <a16:creationId xmlns:a16="http://schemas.microsoft.com/office/drawing/2014/main" id="{30CD6173-68B3-C96D-070A-B3D89BBDCDB8}"/>
                  </a:ext>
                </a:extLst>
              </p:cNvPr>
              <p:cNvSpPr/>
              <p:nvPr/>
            </p:nvSpPr>
            <p:spPr>
              <a:xfrm>
                <a:off x="393192" y="1834642"/>
                <a:ext cx="11400008" cy="10368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=0.25</m:t>
                    </m:r>
                  </m:oMath>
                </a14:m>
                <a:r>
                  <a:rPr lang="en-US" altLang="zh-CN" sz="2400" b="0" i="0" kern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现用轻细绳使物体由静止沿斜面向上运动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，方向平行于斜面向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.经时间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=4.0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绳子突然断了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已知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=0.6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=0.8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,求：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7" name="QO_5_BD.1_2#7cb39b2b9?htil=1&amp;vcp=1&amp;pid=d4554cf15&amp;color=0,0,0&amp;vtp=1&amp;bt=1&amp;bbb=1&amp;hb=1&amp;hs=1">
                <a:extLst>
                  <a:ext uri="{FF2B5EF4-FFF2-40B4-BE49-F238E27FC236}">
                    <a16:creationId xmlns:a16="http://schemas.microsoft.com/office/drawing/2014/main" id="{30CD6173-68B3-C96D-070A-B3D89BBDCD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34642"/>
                <a:ext cx="11400008" cy="1036828"/>
              </a:xfrm>
              <a:prstGeom prst="rect">
                <a:avLst/>
              </a:prstGeom>
              <a:blipFill>
                <a:blip r:embed="rId7"/>
                <a:stretch>
                  <a:fillRect l="-1658" r="-1123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6_BD.4_1#0e7f50c99?vcp=1&amp;pid=7cb39b2b9&amp;color=0,0,0&amp;vtp=1&amp;bt=1&amp;bbb=1"/>
          <p:cNvSpPr/>
          <p:nvPr/>
        </p:nvSpPr>
        <p:spPr>
          <a:xfrm>
            <a:off x="393192" y="1002760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（2）从绳子断了到物体再返回到斜面底端的运动时间.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QO_6_AS.5_1#0e7f50c99?vcp=1&amp;pid=7cb39b2b9&amp;color=0,0,0&amp;vtp=1&amp;bbb=1&amp;hb=1"/>
              <p:cNvSpPr/>
              <p:nvPr/>
            </p:nvSpPr>
            <p:spPr>
              <a:xfrm>
                <a:off x="393192" y="1502251"/>
                <a:ext cx="11402568" cy="39705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绳断时物体距斜面底端的位移为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𝟏𝟔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.绳断后物体沿斜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面向上做匀减速直线运动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，设运动的加速度大小为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,则根据牛顿第二定律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，对物体沿</a:t>
                </a:r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斜面向上运动的过程有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.物体匀减速运动的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.减速运动的位移为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.此后物体沿斜面匀加速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，设物体下滑的加速度为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,根据牛顿第二定律可得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.设物体由最高点下滑的时间为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,根据运动学公式可得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.所以物体返回斜面底端的时间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O_6_AS.5_1#0e7f50c99?vcp=1&amp;pid=7cb39b2b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02251"/>
                <a:ext cx="11402568" cy="3970528"/>
              </a:xfrm>
              <a:prstGeom prst="rect">
                <a:avLst/>
              </a:prstGeom>
              <a:blipFill>
                <a:blip r:embed="rId3"/>
                <a:stretch>
                  <a:fillRect l="-1658" r="-3690" b="-460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6_1#7c2f6cf0c?vcp=1&amp;pid=d4554cf15&amp;color=0,0,0&amp;vtp=1&amp;bt=1&amp;bbb=1&amp;hb=1"/>
              <p:cNvSpPr/>
              <p:nvPr/>
            </p:nvSpPr>
            <p:spPr>
              <a:xfrm>
                <a:off x="393192" y="1545177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变式1-1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如图所示，一个质量为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的物块放在水平地面上，在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以及摩擦力的作用下，物块以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的速度向右做匀速直线运动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，某时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刻撤去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并从此时开始计时，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6_1#7c2f6cf0c?vcp=1&amp;pid=d4554cf1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45177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7_1#7c2f6cf0c.bracket?vcp=1&amp;pid=d4554cf15&amp;color=0,0,0&amp;vpa=1&amp;vtp=1"/>
          <p:cNvSpPr/>
          <p:nvPr/>
        </p:nvSpPr>
        <p:spPr>
          <a:xfrm>
            <a:off x="7021036" y="2651347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5_BD.6_2#7c2f6cf0c?htil=3&amp;vcp=1&amp;pid=d4554cf1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80744" y="3184492"/>
            <a:ext cx="1965960" cy="57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6_3#7c2f6cf0c.choices?htil=3&amp;vcp=1&amp;pid=d4554cf15&amp;color=0,0,0&amp;vtp=1&amp;bbb=1"/>
              <p:cNvSpPr/>
              <p:nvPr/>
            </p:nvSpPr>
            <p:spPr>
              <a:xfrm>
                <a:off x="393192" y="3138772"/>
                <a:ext cx="929944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时，地面对物块的摩擦力大小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𝑓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的平均速度大小为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时，物块的加速度大小为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时，物块距离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时的位置有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远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6_3#7c2f6cf0c.choices?htil=3&amp;vcp=1&amp;pid=d4554cf1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38772"/>
                <a:ext cx="9299448" cy="2155000"/>
              </a:xfrm>
              <a:prstGeom prst="rect">
                <a:avLst/>
              </a:prstGeom>
              <a:blipFill>
                <a:blip r:embed="rId5"/>
                <a:stretch>
                  <a:fillRect l="-2033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AS.8_1#7c2f6cf0c?vcp=1&amp;pid=d4554cf15&amp;color=0,0,0&amp;vtp=1&amp;bt=1&amp;bbb=1&amp;hb=1"/>
              <p:cNvSpPr/>
              <p:nvPr/>
            </p:nvSpPr>
            <p:spPr>
              <a:xfrm>
                <a:off x="393192" y="1049655"/>
                <a:ext cx="11402568" cy="4648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的速度向右做匀速直线运动，有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，解得滑动摩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擦力为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，方向向左.撤去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,物块向右做匀减速直线运动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，根据牛顿第二定律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,减速到0的时间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之后物块静止.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时物块静止，地面对物块的摩擦力为静摩擦力，大小为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错误；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时，物块静止，加速度为0,C错误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；物块向右做匀减速直线运动的位移大小</a:t>
                </a:r>
              </a:p>
              <a:p>
                <a:pPr latinLnBrk="1">
                  <a:lnSpc>
                    <a:spcPts val="55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时物块已经静止，物块距离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时的位置有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远，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时物块已静止，前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的位移大小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，平均速度大小为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,B正确.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AS.8_1#7c2f6cf0c?vcp=1&amp;pid=d4554cf1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49655"/>
                <a:ext cx="11402568" cy="4648200"/>
              </a:xfrm>
              <a:prstGeom prst="rect">
                <a:avLst/>
              </a:prstGeom>
              <a:blipFill>
                <a:blip r:embed="rId3"/>
                <a:stretch>
                  <a:fillRect l="-1658" r="-695" b="-131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0ca381fa9?htil=4&amp;vcp=1&amp;pid=d4554cf15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71970" y="2532888"/>
            <a:ext cx="3474720" cy="183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P_5_BD#0ca381fa9?htil=4&amp;vcp=1&amp;pid=d4554cf15&amp;color=0,0,0&amp;vtp=1&amp;bt=1&amp;bbb=1"/>
          <p:cNvSpPr/>
          <p:nvPr/>
        </p:nvSpPr>
        <p:spPr>
          <a:xfrm>
            <a:off x="393192" y="2487168"/>
            <a:ext cx="779068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归纳总结</a:t>
            </a:r>
            <a:endParaRPr lang="en-US" altLang="zh-CN" sz="2400" dirty="0"/>
          </a:p>
          <a:p>
            <a:pPr algn="ctr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动力学的两类基本问题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.求解两类问题的思路可用下面的框图来表示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0ca381fa9?vcp=1&amp;pid=d4554cf15&amp;color=0,0,0&amp;vtp=1&amp;bt=1&amp;bbb=1"/>
          <p:cNvSpPr/>
          <p:nvPr/>
        </p:nvSpPr>
        <p:spPr>
          <a:xfrm>
            <a:off x="393192" y="954024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2.两类基本问题的分析要点</a:t>
            </a:r>
            <a:endParaRPr lang="en-US" altLang="zh-CN" sz="2400" dirty="0"/>
          </a:p>
        </p:txBody>
      </p:sp>
      <p:pic>
        <p:nvPicPr>
          <p:cNvPr id="3" name="P_5_BD#0ca381fa9?vcp=1&amp;pid=d4554cf15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17720" y="1567815"/>
            <a:ext cx="2962656" cy="433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0ca381fa9?vcp=1&amp;pid=d4554cf15&amp;color=0,0,0&amp;vtp=1&amp;bt=1&amp;bbb=1"/>
          <p:cNvSpPr/>
          <p:nvPr/>
        </p:nvSpPr>
        <p:spPr>
          <a:xfrm>
            <a:off x="393192" y="585501"/>
            <a:ext cx="1140256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归纳总结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受力分析的一般步骤</a:t>
            </a:r>
            <a:endParaRPr lang="en-US" altLang="zh-CN" sz="2400" dirty="0"/>
          </a:p>
        </p:txBody>
      </p:sp>
      <p:pic>
        <p:nvPicPr>
          <p:cNvPr id="3" name="P_5_BD#0ca381fa9?vcp=1&amp;pid=d4554cf15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97203" y="1758728"/>
            <a:ext cx="1594549" cy="449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3393a8805?vcp=1&amp;pid=df81f1186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3393a8805?vcp=1&amp;pid=df81f1186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4" name="C_4_BD#3393a8805?vcp=1&amp;pid=df81f1186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从运动情况确定受力情况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p:sp>
        <p:nvSpPr>
          <p:cNvPr id="5" name="P_5_BD#d96e01b15?vcp=1&amp;pid=3393a8805&amp;color=0,0,0&amp;vtp=1&amp;bbb=1&amp;hb=1"/>
          <p:cNvSpPr/>
          <p:nvPr/>
        </p:nvSpPr>
        <p:spPr>
          <a:xfrm>
            <a:off x="393192" y="1092200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.基本思路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分析物体的运动情况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，由运动学公式求出物体的加速度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，再由牛顿第二定律求出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物体所受的合外力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，进而可以求出物体所受的其他力.流程图如下所示.</a:t>
            </a:r>
            <a:endParaRPr lang="en-US" altLang="zh-CN" sz="2400" dirty="0"/>
          </a:p>
        </p:txBody>
      </p:sp>
      <p:pic>
        <p:nvPicPr>
          <p:cNvPr id="6" name="P_5_BD#d96e01b15?vcp=1&amp;pid=3393a880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91256" y="3365500"/>
            <a:ext cx="5797296" cy="95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d96e01b15?vcp=1&amp;pid=3393a8805&amp;color=0,0,0&amp;vtp=1&amp;bt=1&amp;bbb=1&amp;hb=1"/>
          <p:cNvSpPr/>
          <p:nvPr/>
        </p:nvSpPr>
        <p:spPr>
          <a:xfrm>
            <a:off x="393192" y="1788986"/>
            <a:ext cx="11402568" cy="326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2.解题的一般步骤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1）确定研究对象，对研究对象进行受力分析和运动分析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，并画出物体的受力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示意图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2）选择合适的运动学公式，求出物体的加速度.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3）根据牛顿第二定律列方程，求出物体所受的合力.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4）根据力的合成与分解的方法，由合力和已知力求出未知力.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O_5_BD.9_1#9c7efe176?vcp=1&amp;pid=3393a8805&amp;color=0,0,0&amp;vtp=1&amp;bt=1&amp;bbb=1&amp;hb=1"/>
              <p:cNvSpPr/>
              <p:nvPr/>
            </p:nvSpPr>
            <p:spPr>
              <a:xfrm>
                <a:off x="393192" y="585502"/>
                <a:ext cx="11402568" cy="15956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（体育竞技）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一位滑雪者如果以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的初速度沿直线冲上一倾角为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的山坡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，从冲坡开始计时，至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3.8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末雪橇速度变为0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.如果雪橇与人的总质量为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=80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，不计空气阻力，求山坡对雪橇的摩擦力的大小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O_5_BD.9_1#9c7efe176?vcp=1&amp;pid=3393a880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85502"/>
                <a:ext cx="11402568" cy="1595628"/>
              </a:xfrm>
              <a:prstGeom prst="rect">
                <a:avLst/>
              </a:prstGeom>
              <a:blipFill>
                <a:blip r:embed="rId3"/>
                <a:stretch>
                  <a:fillRect l="-1658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QO_5_AS.10_1#9c7efe176?vcp=1&amp;pid=3393a8805&amp;color=0,0,0&amp;vtp=1&amp;bbb=1&amp;hb=1"/>
              <p:cNvSpPr/>
              <p:nvPr/>
            </p:nvSpPr>
            <p:spPr>
              <a:xfrm>
                <a:off x="393192" y="2179098"/>
                <a:ext cx="11402568" cy="2180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建立平面直角坐标系，以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轴的正方向，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并将重力进行分解，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.人的受力情况如图所示.由速度公式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.根据牛顿第二定律得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O_5_AS.10_1#9c7efe176?vcp=1&amp;pid=3393a880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79098"/>
                <a:ext cx="11402568" cy="2180400"/>
              </a:xfrm>
              <a:prstGeom prst="rect">
                <a:avLst/>
              </a:prstGeom>
              <a:blipFill>
                <a:blip r:embed="rId4"/>
                <a:stretch>
                  <a:fillRect l="-1658" r="-374" b="-838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QO_5_AS.10_2#9c7efe176?vcp=1&amp;pid=3393a8805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48874" y="4477798"/>
            <a:ext cx="2100348" cy="179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11_1#f9d42747a?vcp=1&amp;pid=3393a8805&amp;color=0,0,0&amp;vtp=1&amp;bt=1&amp;bbb=1&amp;hb=1"/>
              <p:cNvSpPr/>
              <p:nvPr/>
            </p:nvSpPr>
            <p:spPr>
              <a:xfrm>
                <a:off x="393192" y="911353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（多选题）随着物流行业快速发展，快递分拣机器人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、快递无人机等高科技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产品得到广泛应用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.在某次试验飞行过程中，一架质量为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的快递无人机从地面由静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止开始竖直向上运动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，一段时间后关闭动力，其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，运动过程中空气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阻力大小恒定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下列判断正确的是(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11_1#f9d42747a?vcp=1&amp;pid=3393a880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11353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551" b="-88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12_1#f9d42747a.bracket?vcp=1&amp;pid=3393a8805&amp;color=0,0,0&amp;vpa=2&amp;vtp=1&amp;bbb=1"/>
          <p:cNvSpPr/>
          <p:nvPr/>
        </p:nvSpPr>
        <p:spPr>
          <a:xfrm>
            <a:off x="8204994" y="2576322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AD</a:t>
            </a:r>
            <a:endParaRPr lang="en-US" altLang="zh-CN" sz="2400" dirty="0"/>
          </a:p>
        </p:txBody>
      </p:sp>
      <p:pic>
        <p:nvPicPr>
          <p:cNvPr id="4" name="QC_5_BD.11_2#f9d42747a?vcp=1&amp;pid=3393a880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09160" y="3178047"/>
            <a:ext cx="2779776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11_3#f9d42747a.choices?vcp=1&amp;pid=3393a8805&amp;color=0,0,0&amp;vtp=1&amp;bbb=1"/>
              <p:cNvSpPr/>
              <p:nvPr/>
            </p:nvSpPr>
            <p:spPr>
              <a:xfrm>
                <a:off x="393192" y="4905247"/>
                <a:ext cx="11402568" cy="10274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A.无人机上升的最大高度为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96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6∼8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内无人机下降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.无人机的升力大小为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.无人机所受阻力大小为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11_3#f9d42747a.choices?vcp=1&amp;pid=3393a880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905247"/>
                <a:ext cx="11402568" cy="1027430"/>
              </a:xfrm>
              <a:prstGeom prst="rect">
                <a:avLst/>
              </a:prstGeom>
              <a:blipFill>
                <a:blip r:embed="rId5"/>
                <a:stretch>
                  <a:fillRect l="-1658" b="-184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AS.13_1#f9d42747a?vcp=1&amp;pid=3393a8805&amp;color=0,0,0&amp;vtp=1&amp;bt=1&amp;bbb=1&amp;hb=1"/>
              <p:cNvSpPr/>
              <p:nvPr/>
            </p:nvSpPr>
            <p:spPr>
              <a:xfrm>
                <a:off x="393192" y="1449038"/>
                <a:ext cx="11402568" cy="3348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图像与坐标轴围成的图形面积代表位移，由题图可知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，无人机上升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的最大高度为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,A正确；由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内图线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轴上方，则速度为正，说明无人机一直在上升，B错误；由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图像可知，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内无人机做匀加速直线运动，有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,由牛顿第二定律有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内无人机做匀减速直线运动，有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,C错误，D正确.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AS.13_1#f9d42747a?vcp=1&amp;pid=3393a880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49038"/>
                <a:ext cx="11402568" cy="3348800"/>
              </a:xfrm>
              <a:prstGeom prst="rect">
                <a:avLst/>
              </a:prstGeom>
              <a:blipFill>
                <a:blip r:embed="rId3"/>
                <a:stretch>
                  <a:fillRect l="-1658" r="-1016" b="-52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bcf66c8f5?vcp=1&amp;pid=3393a8805&amp;color=0,0,0&amp;vtp=1&amp;bt=1&amp;bbb=1&amp;hb=1"/>
          <p:cNvSpPr/>
          <p:nvPr/>
        </p:nvSpPr>
        <p:spPr>
          <a:xfrm>
            <a:off x="393192" y="1793335"/>
            <a:ext cx="11402568" cy="327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易错警示</a:t>
            </a:r>
            <a:endParaRPr lang="en-US" altLang="zh-CN" sz="2400" dirty="0"/>
          </a:p>
          <a:p>
            <a:pPr algn="ctr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由运动情况确定受力情况时应注意的两个问题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.由运动学规律求加速度，要特别注意加速度的方向，从而确定合力的方向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，不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能将速度的方向和加速度的方向混淆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.题目中所求的力可能是合力，也可能是某一特定的力，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均要先求出合力的大小、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方向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，再根据力的合成与分解求分力.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bcf66c8f5?vcp=1&amp;pid=3393a8805&amp;color=0,0,0&amp;vtp=1&amp;bt=1&amp;bbb=1&amp;hb=1"/>
              <p:cNvSpPr/>
              <p:nvPr/>
            </p:nvSpPr>
            <p:spPr>
              <a:xfrm>
                <a:off x="393192" y="964025"/>
                <a:ext cx="11402568" cy="4949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建立坐标系的技巧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.若物体所受外力都在同一直线上，应建立一维坐标系，也就是选一个正方向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果物体所受外力在同一平面上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，应建立二维直角坐标系.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.仅用牛顿第二定律就能解答的问题，通常选加速度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的方向和垂直于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的方向作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为坐标轴的正方向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；综合应用牛顿定律和运动学公式才能解答的问题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，通常选初速度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的方向和垂直于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的方向为坐标轴正方向，否则易造成正负号的混乱.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.若所解答的问题中涉及物体运动的位移或时间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，通常把所研究的物理过程的起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点作为坐标原点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bcf66c8f5?vcp=1&amp;pid=3393a880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4025"/>
                <a:ext cx="11402568" cy="4949000"/>
              </a:xfrm>
              <a:prstGeom prst="rect">
                <a:avLst/>
              </a:prstGeom>
              <a:blipFill>
                <a:blip r:embed="rId3"/>
                <a:stretch>
                  <a:fillRect l="-1658" r="-588" b="-369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6e5a27162?vcp=1&amp;pid=df81f1186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6e5a27162?vcp=1&amp;pid=df81f1186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4" name="C_4_BD#6e5a27162?vcp=1&amp;pid=df81f1186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动力学多过程问题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p:sp>
        <p:nvSpPr>
          <p:cNvPr id="5" name="P_5_BD#af0dcd326?vcp=1&amp;pid=6e5a27162&amp;color=0,0,0&amp;vtp=1&amp;bbb=1&amp;hb=1"/>
          <p:cNvSpPr/>
          <p:nvPr/>
        </p:nvSpPr>
        <p:spPr>
          <a:xfrm>
            <a:off x="393192" y="1092200"/>
            <a:ext cx="11402568" cy="4386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多运动过程问题的分析思路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：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1）将“多过程”分解为多个“子过程”，各“子过程”间由“衔接点”连接.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2）对各“子过程”进行受力分析和运动分析，必要时画出受力图和过程示意图.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3）根据“子过程”“衔接点”的模型特点选择合理的物理规律列方程.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4）分析“衔接点”速度、加速度等物理量的关联，确定各段间的时间关联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，并列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出相关的辅助方程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5）联立方程组，分析求解，对结果进行必要的验证或讨论.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O_5_BD.14_1#0dd61e0c3?vcp=1&amp;pid=6e5a27162&amp;color=0,0,0&amp;vtp=1&amp;bt=1&amp;bbb=1&amp;hb=1"/>
              <p:cNvSpPr/>
              <p:nvPr/>
            </p:nvSpPr>
            <p:spPr>
              <a:xfrm>
                <a:off x="393192" y="1305306"/>
                <a:ext cx="11402568" cy="21544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考题3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（生活情境）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哈利法塔是目前世界最高的建筑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.游客乘坐观光电梯从地面开始经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历加速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、匀速、减速的过程恰好到达观景台只需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，运行的最大速度为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.一位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游客用便携式拉力传感器测得在加速阶段质量为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的物体受到的竖直向上的拉力为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，若将电梯加速、减速过程视为匀变速直线运动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O_5_BD.14_1#0dd61e0c3?vcp=1&amp;pid=6e5a27162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05306"/>
                <a:ext cx="11402568" cy="2154428"/>
              </a:xfrm>
              <a:prstGeom prst="rect">
                <a:avLst/>
              </a:prstGeom>
              <a:blipFill>
                <a:blip r:embed="rId3"/>
                <a:stretch>
                  <a:fillRect l="-1658" r="-1230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O_6_BD.15_1#a0198de68?vcp=1&amp;pid=0dd61e0c3&amp;color=0,0,0&amp;vtp=1&amp;bbb=1"/>
          <p:cNvSpPr/>
          <p:nvPr/>
        </p:nvSpPr>
        <p:spPr>
          <a:xfrm>
            <a:off x="393192" y="3445002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（1）求电梯加速阶段的加速度大小及加速运动的时间.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O_6_AS.16_1#a0198de68?vcp=1&amp;pid=0dd61e0c3&amp;color=0,0,0&amp;vtp=1&amp;bbb=1&amp;hb=1"/>
              <p:cNvSpPr/>
              <p:nvPr/>
            </p:nvSpPr>
            <p:spPr>
              <a:xfrm>
                <a:off x="393192" y="3938397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设电梯加速阶段的加速度为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，代入数据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又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，代入数据解得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O_6_AS.16_1#a0198de68?vcp=1&amp;pid=0dd61e0c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38397"/>
                <a:ext cx="11402568" cy="1596200"/>
              </a:xfrm>
              <a:prstGeom prst="rect">
                <a:avLst/>
              </a:prstGeom>
              <a:blipFill>
                <a:blip r:embed="rId4"/>
                <a:stretch>
                  <a:fillRect l="-1658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6_BD.17_1#132628295?vcp=1&amp;pid=0dd61e0c3&amp;color=0,0,0&amp;vtp=1&amp;bt=1&amp;bbb=1"/>
          <p:cNvSpPr/>
          <p:nvPr/>
        </p:nvSpPr>
        <p:spPr>
          <a:xfrm>
            <a:off x="393192" y="955040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（2）若减速阶段与加速阶段的加速度大小相等，求观景台的高度.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QO_6_AS.18_1#132628295?vcp=1&amp;pid=0dd61e0c3&amp;color=0,0,0&amp;vtp=1&amp;bbb=1"/>
              <p:cNvSpPr/>
              <p:nvPr/>
            </p:nvSpPr>
            <p:spPr>
              <a:xfrm>
                <a:off x="393192" y="1454531"/>
                <a:ext cx="11402568" cy="2282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电梯加速阶段的位移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𝟏𝟓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𝟏𝟏𝟐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匀速阶段的位移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总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𝟑𝟎𝟎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减速阶段的位移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𝟏𝟏𝟐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因此观景台的高度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，过程如图甲所示.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O_6_AS.18_1#132628295?vcp=1&amp;pid=0dd61e0c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54531"/>
                <a:ext cx="11402568" cy="2282000"/>
              </a:xfrm>
              <a:prstGeom prst="rect">
                <a:avLst/>
              </a:prstGeom>
              <a:blipFill>
                <a:blip r:embed="rId3"/>
                <a:stretch>
                  <a:fillRect l="-1658" b="-775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QO_6_AS.18_3#132628295?htil=1&amp;vcp=1&amp;pid=0dd61e0c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02536" y="3864356"/>
            <a:ext cx="2478024" cy="1792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5" name="QO_6_AS.18_4#132628295?htil=1&amp;vcp=1&amp;pid=0dd61e0c3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08392" y="3873500"/>
            <a:ext cx="2478024" cy="1773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6_BD.19_1#8748aada3?vcp=1&amp;pid=0dd61e0c3&amp;color=0,0,0&amp;vtp=1&amp;bt=1&amp;bbb=1&amp;hb=1"/>
          <p:cNvSpPr/>
          <p:nvPr/>
        </p:nvSpPr>
        <p:spPr>
          <a:xfrm>
            <a:off x="393192" y="1172750"/>
            <a:ext cx="11402568" cy="2155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（3）若电梯设计安装有辅助牵引系统，电梯出现故障，绳索牵引力突然消失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，电梯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从观景台处开始做自由落体运动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，为防止电梯落地引发人员伤亡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，电梯启动辅助牵引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装置使其减速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，牵引力为重力的3倍，下落过程中所有阻力不计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，则电梯自由下落最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长多久必须启动辅助牵引装置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？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QO_6_AS.20_1#8748aada3?vcp=1&amp;pid=0dd61e0c3&amp;color=0,0,0&amp;vtp=1&amp;bbb=1&amp;hb=1"/>
              <p:cNvSpPr/>
              <p:nvPr/>
            </p:nvSpPr>
            <p:spPr>
              <a:xfrm>
                <a:off x="393192" y="3312445"/>
                <a:ext cx="11402568" cy="23576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由题意知，电梯到地面时速度刚好为0，自由下落时的加速度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启动辅助牵引装置后电梯加速度大小为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方向竖直向上，</a:t>
                </a:r>
              </a:p>
              <a:p>
                <a:pPr latinLnBrk="1">
                  <a:lnSpc>
                    <a:spcPts val="5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𝐦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𝐦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𝟕𝟎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𝐦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𝟕𝟎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即电梯自由下落最长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𝟕𝟎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必须启动辅助牵引装置，过程如图乙所示.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O_6_AS.20_1#8748aada3?vcp=1&amp;pid=0dd61e0c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12445"/>
                <a:ext cx="11402568" cy="2357628"/>
              </a:xfrm>
              <a:prstGeom prst="rect">
                <a:avLst/>
              </a:prstGeom>
              <a:blipFill>
                <a:blip r:embed="rId3"/>
                <a:stretch>
                  <a:fillRect l="-1658" b="-77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21_1#a05c26d21?vcp=1&amp;pid=6e5a27162&amp;color=0,0,0&amp;vtp=1&amp;bt=1&amp;bbb=1&amp;hb=1"/>
              <p:cNvSpPr/>
              <p:nvPr/>
            </p:nvSpPr>
            <p:spPr>
              <a:xfrm>
                <a:off x="393192" y="1272127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（多选题）如图所示，倾角为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的斜面固定在水平面上.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的物体（视为质点）在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=240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的水平推力作用下由静止开始沿斜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面向上运动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时，撤去推力.若斜面足够长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，该物体与斜面间的动摩擦因数为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=0.5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=0.6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=0.8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21_1#a05c26d21?vcp=1&amp;pid=6e5a27162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2127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283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22_1#a05c26d21.bracket?vcp=1&amp;pid=6e5a27162&amp;color=0,0,0&amp;vpa=3&amp;vtp=1&amp;bbb=1"/>
          <p:cNvSpPr/>
          <p:nvPr/>
        </p:nvSpPr>
        <p:spPr>
          <a:xfrm>
            <a:off x="9495632" y="2937097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p:pic>
        <p:nvPicPr>
          <p:cNvPr id="4" name="QC_5_BD.21_2#a05c26d21?htil=6&amp;vcp=1&amp;pid=6e5a27162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18355" y="3457542"/>
            <a:ext cx="2423160" cy="104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21_3#a05c26d21.choices?htil=6&amp;vcp=1&amp;pid=6e5a27162&amp;color=0,0,0&amp;vtp=1&amp;bbb=1"/>
              <p:cNvSpPr/>
              <p:nvPr/>
            </p:nvSpPr>
            <p:spPr>
              <a:xfrm>
                <a:off x="393192" y="3411822"/>
                <a:ext cx="884224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A.撤去推力时，物体的速度大小为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36.8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.撤去推力后，物体还能继续沿斜面向上运动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时，物体的速度大小为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2.4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时，物体返回出发点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21_3#a05c26d21.choices?htil=6&amp;vcp=1&amp;pid=6e5a27162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1822"/>
                <a:ext cx="8842248" cy="2155000"/>
              </a:xfrm>
              <a:prstGeom prst="rect">
                <a:avLst/>
              </a:prstGeom>
              <a:blipFill>
                <a:blip r:embed="rId5"/>
                <a:stretch>
                  <a:fillRect l="-213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AS.23_1#a05c26d21?htil=7&amp;vcp=1&amp;pid=6e5a27162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78160" y="549720"/>
            <a:ext cx="1834867" cy="1552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QC_5_AS.23_2#a05c26d21?htil=7&amp;vcp=1&amp;pid=6e5a27162&amp;color=0,0,0&amp;vtp=1&amp;bt=1&amp;bbb=1&amp;hb=1&amp;hs=1"/>
              <p:cNvSpPr/>
              <p:nvPr/>
            </p:nvSpPr>
            <p:spPr>
              <a:xfrm>
                <a:off x="393192" y="504000"/>
                <a:ext cx="8887968" cy="18216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7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对物体进行受力分析，如图所示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，垂直于斜面方向由平衡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条件得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,沿斜面方向由牛顿第二定律得</a:t>
                </a:r>
              </a:p>
              <a:p>
                <a:pPr latinLnBrk="1">
                  <a:lnSpc>
                    <a:spcPts val="37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，撤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去推力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,向上移动的距离为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C_5_AS.23_2#a05c26d21?htil=7&amp;vcp=1&amp;pid=6e5a27162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8887968" cy="1821625"/>
              </a:xfrm>
              <a:prstGeom prst="rect">
                <a:avLst/>
              </a:prstGeom>
              <a:blipFill>
                <a:blip r:embed="rId4"/>
                <a:stretch>
                  <a:fillRect l="-2126" t="-2007" r="-343" b="-96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QC_5_AS.23_2#a05c26d21?htil=7&amp;vcp=1&amp;pid=6e5a27162&amp;color=0,0,0&amp;vtp=1&amp;bt=1&amp;bbb=1&amp;hb=1&amp;hs=1">
                <a:extLst>
                  <a:ext uri="{FF2B5EF4-FFF2-40B4-BE49-F238E27FC236}">
                    <a16:creationId xmlns:a16="http://schemas.microsoft.com/office/drawing/2014/main" id="{6FEE4E1C-0883-3091-02E9-3D12CC114A5C}"/>
                  </a:ext>
                </a:extLst>
              </p:cNvPr>
              <p:cNvSpPr/>
              <p:nvPr/>
            </p:nvSpPr>
            <p:spPr>
              <a:xfrm>
                <a:off x="395996" y="2321243"/>
                <a:ext cx="11400008" cy="401421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,A错误；撤去推力后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，由牛顿第二定律得</a:t>
                </a:r>
              </a:p>
              <a:p>
                <a:pPr latinLnBrk="1">
                  <a:lnSpc>
                    <a:spcPts val="38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，沿斜面继续</a:t>
                </a: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向上运动的时间为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，上滑距离为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,B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；到达最高点后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，对物体受力分析得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</a:p>
              <a:p>
                <a:pPr latinLnBrk="1">
                  <a:lnSpc>
                    <a:spcPts val="3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，物体已下滑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，此时速度为</a:t>
                </a:r>
              </a:p>
              <a:p>
                <a:pPr latinLnBrk="1">
                  <a:lnSpc>
                    <a:spcPts val="5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，C正确；返回全程有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𝟑𝟎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,则全程用时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总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𝟑𝟎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，D错误.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C_5_AS.23_2#a05c26d21?htil=7&amp;vcp=1&amp;pid=6e5a27162&amp;color=0,0,0&amp;vtp=1&amp;bt=1&amp;bbb=1&amp;hb=1&amp;hs=1">
                <a:extLst>
                  <a:ext uri="{FF2B5EF4-FFF2-40B4-BE49-F238E27FC236}">
                    <a16:creationId xmlns:a16="http://schemas.microsoft.com/office/drawing/2014/main" id="{6FEE4E1C-0883-3091-02E9-3D12CC114A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2321243"/>
                <a:ext cx="11400008" cy="4014216"/>
              </a:xfrm>
              <a:prstGeom prst="rect">
                <a:avLst/>
              </a:prstGeom>
              <a:blipFill>
                <a:blip r:embed="rId5"/>
                <a:stretch>
                  <a:fillRect l="-1658" b="-258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&amp;si=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6582c70d2?vcp=1&amp;pid=6e5a27162&amp;color=0,0,0&amp;vtp=1&amp;bt=1&amp;bbb=1"/>
              <p:cNvSpPr/>
              <p:nvPr/>
            </p:nvSpPr>
            <p:spPr>
              <a:xfrm>
                <a:off x="393192" y="504000"/>
                <a:ext cx="11402568" cy="53799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9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求解动力学两类基本问题的物理知识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1）牛顿第二定律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2）牛顿第三定律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3）运动学公式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 kern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 kern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 kern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b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 kern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其中加速度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是联系力和运动的桥梁.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6582c70d2?vcp=1&amp;pid=6e5a27162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5379974"/>
              </a:xfrm>
              <a:prstGeom prst="rect">
                <a:avLst/>
              </a:prstGeom>
              <a:blipFill>
                <a:blip r:embed="rId3"/>
                <a:stretch>
                  <a:fillRect l="-1658" t="-340" b="-340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&amp;si=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6582c70d2?vcp=1&amp;pid=6e5a27162&amp;color=0,0,0&amp;vtp=1&amp;bt=1&amp;bbb=1&amp;hb=1"/>
              <p:cNvSpPr/>
              <p:nvPr/>
            </p:nvSpPr>
            <p:spPr>
              <a:xfrm>
                <a:off x="393192" y="1233996"/>
                <a:ext cx="11402568" cy="4386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动力学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［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点评］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多过程问题求解的关键是要理清物体的运动情况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，也就是要进行运动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过程分析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，接下来就是要找相邻两个过程之间的关联，即边界条件.经过以下流程：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1）合：初步了解全过程，构建大致运动图景；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2）分：将全过程进行分解，分析每个过程的规律；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3）合：找到子过程之间的联系，寻找解题方法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，依据相应定律列出原始表达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式并求解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必要时画出如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等图像，可使问题的解决更加快捷.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6582c70d2?vcp=1&amp;pid=6e5a27162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33996"/>
                <a:ext cx="11402568" cy="4386199"/>
              </a:xfrm>
              <a:prstGeom prst="rect">
                <a:avLst/>
              </a:prstGeom>
              <a:blipFill>
                <a:blip r:embed="rId3"/>
                <a:stretch>
                  <a:fillRect l="-1658" b="-41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&amp;si=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3fd36b81f?vcp=1&amp;pid=df81f1186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3fd36b81f?vcp=1&amp;pid=df81f1186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</a:t>
            </a:r>
            <a:endParaRPr lang="en-US" altLang="zh-CN" sz="2800" dirty="0"/>
          </a:p>
        </p:txBody>
      </p:sp>
      <p:sp>
        <p:nvSpPr>
          <p:cNvPr id="4" name="C_4_BD#3fd36b81f?vcp=1&amp;pid=df81f1186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光滑斜面上的运动时间问题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p:sp>
        <p:nvSpPr>
          <p:cNvPr id="5" name="P_5#339f11bd6?vcp=1&amp;pid=3fd36b81f&amp;color=0,0,0&amp;vtp=1&amp;bbb=1"/>
          <p:cNvSpPr/>
          <p:nvPr/>
        </p:nvSpPr>
        <p:spPr>
          <a:xfrm>
            <a:off x="393192" y="1092200"/>
            <a:ext cx="11402568" cy="482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r>
              <a:rPr lang="en-US" altLang="zh-CN" sz="100" b="1" i="0" kern="0" spc="-9990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#1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P_5_BD#339f11bd6?colgroup=4,13,18&amp;vcp=1&amp;pid=3fd36b81f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7816999"/>
                  </p:ext>
                </p:extLst>
              </p:nvPr>
            </p:nvGraphicFramePr>
            <p:xfrm>
              <a:off x="393192" y="1712595"/>
              <a:ext cx="11356848" cy="2330069"/>
            </p:xfrm>
            <a:graphic>
              <a:graphicData uri="http://schemas.openxmlformats.org/drawingml/2006/table">
                <a:tbl>
                  <a:tblPr/>
                  <a:tblGrid>
                    <a:gridCol w="1444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239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7881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模型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3743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等高斜面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41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倾角越小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下滑时间越长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故图中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P_5_BD#339f11bd6?colgroup=4,13,18&amp;vcp=1&amp;pid=3fd36b81f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7816999"/>
                  </p:ext>
                </p:extLst>
              </p:nvPr>
            </p:nvGraphicFramePr>
            <p:xfrm>
              <a:off x="393192" y="1712595"/>
              <a:ext cx="11356848" cy="2330069"/>
            </p:xfrm>
            <a:graphic>
              <a:graphicData uri="http://schemas.openxmlformats.org/drawingml/2006/table">
                <a:tbl>
                  <a:tblPr/>
                  <a:tblGrid>
                    <a:gridCol w="1444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239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7881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模型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3743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等高斜面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41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6316" t="-27063" r="-211" b="-3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_5_BD#339f11bd6.table_image?tii=2&amp;vcp=1&amp;pid=3fd36b81f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95728" y="2323846"/>
            <a:ext cx="3008376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&amp;si=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P_5_BD#339f11bd6?colgroup=4,13,18&amp;vcp=1&amp;pid=3fd36b81f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5336339"/>
                  </p:ext>
                </p:extLst>
              </p:nvPr>
            </p:nvGraphicFramePr>
            <p:xfrm>
              <a:off x="393192" y="1743646"/>
              <a:ext cx="11356848" cy="3994277"/>
            </p:xfrm>
            <a:graphic>
              <a:graphicData uri="http://schemas.openxmlformats.org/drawingml/2006/table">
                <a:tbl>
                  <a:tblPr/>
                  <a:tblGrid>
                    <a:gridCol w="1444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239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7881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模型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16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等底斜面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9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4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45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∘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时下滑时间最短</a:t>
                          </a:r>
                          <a:endParaRPr lang="en-US" altLang="zh-CN" sz="1200" dirty="0"/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②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倾角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关于“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45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∘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”数值对称的两个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斜面上的下滑时间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相等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其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图像如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图所示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故图中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  <a:p>
                          <a:pPr marL="0" lvl="0" indent="0" algn="ctr" latinLnBrk="1" hangingPunct="0">
                            <a:lnSpc>
                              <a:spcPts val="12400"/>
                            </a:lnSpc>
                          </a:pPr>
                          <a:r>
                            <a:rPr lang="en-US" altLang="zh-CN" sz="695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P_5_BD#339f11bd6?colgroup=4,13,18&amp;vcp=1&amp;pid=3fd36b81f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5336339"/>
                  </p:ext>
                </p:extLst>
              </p:nvPr>
            </p:nvGraphicFramePr>
            <p:xfrm>
              <a:off x="393192" y="1743646"/>
              <a:ext cx="11356848" cy="3994277"/>
            </p:xfrm>
            <a:graphic>
              <a:graphicData uri="http://schemas.openxmlformats.org/drawingml/2006/table">
                <a:tbl>
                  <a:tblPr/>
                  <a:tblGrid>
                    <a:gridCol w="1444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239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7881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模型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16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等底斜面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9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6316" t="-14435" r="-211" b="-12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5_BD#339f11bd6.table_image?tii=3&amp;vcp=1&amp;pid=3fd36b81f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03220" y="2885249"/>
            <a:ext cx="1993392" cy="220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5_BD#339f11bd6.table_image?tii=4&amp;vcp=1&amp;pid=3fd36b81f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32420" y="4262121"/>
            <a:ext cx="1847088" cy="139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5_BD#339f11bd6?colgroup=4,13,18&amp;vcp=1&amp;pid=3fd36b81f&amp;color=0,0,0&amp;vtp=1&amp;bt=1&amp;bbb=1">
            <a:extLst>
              <a:ext uri="{FF2B5EF4-FFF2-40B4-BE49-F238E27FC236}">
                <a16:creationId xmlns:a16="http://schemas.microsoft.com/office/drawing/2014/main" id="{E9E9314B-E5FD-E505-4454-0E0753D8DCE1}"/>
              </a:ext>
            </a:extLst>
          </p:cNvPr>
          <p:cNvSpPr txBox="1"/>
          <p:nvPr/>
        </p:nvSpPr>
        <p:spPr>
          <a:xfrm>
            <a:off x="11134487" y="1118171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&amp;si=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P_5_BD#339f11bd6?colgroup=4,13,18&amp;vcp=1&amp;pid=3fd36b81f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4977329"/>
                  </p:ext>
                </p:extLst>
              </p:nvPr>
            </p:nvGraphicFramePr>
            <p:xfrm>
              <a:off x="393192" y="2265711"/>
              <a:ext cx="11356848" cy="2950147"/>
            </p:xfrm>
            <a:graphic>
              <a:graphicData uri="http://schemas.openxmlformats.org/drawingml/2006/table">
                <a:tbl>
                  <a:tblPr/>
                  <a:tblGrid>
                    <a:gridCol w="1444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239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7881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模型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5751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同圆周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斜面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6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各图中均有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与倾角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无关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又称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“等时圆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”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且各运动时间均等于沿直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径做自由落体运动的时间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即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65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𝑅</m:t>
                                      </m:r>
                                    </m:num>
                                    <m:den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𝑔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P_5_BD#339f11bd6?colgroup=4,13,18&amp;vcp=1&amp;pid=3fd36b81f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4977329"/>
                  </p:ext>
                </p:extLst>
              </p:nvPr>
            </p:nvGraphicFramePr>
            <p:xfrm>
              <a:off x="393192" y="2265711"/>
              <a:ext cx="11356848" cy="2950147"/>
            </p:xfrm>
            <a:graphic>
              <a:graphicData uri="http://schemas.openxmlformats.org/drawingml/2006/table">
                <a:tbl>
                  <a:tblPr/>
                  <a:tblGrid>
                    <a:gridCol w="1444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239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7881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模型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5751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同圆周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斜面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6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6316" t="-20297" r="-211" b="-4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5_BD#339f11bd6.table_image?tii=5&amp;vcp=1&amp;pid=3fd36b81f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29968" y="3049841"/>
            <a:ext cx="3739896" cy="187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5_BD#339f11bd6?colgroup=4,13,18&amp;vcp=1&amp;pid=3fd36b81f&amp;color=0,0,0&amp;vtp=1&amp;bt=1&amp;bbb=1">
            <a:extLst>
              <a:ext uri="{FF2B5EF4-FFF2-40B4-BE49-F238E27FC236}">
                <a16:creationId xmlns:a16="http://schemas.microsoft.com/office/drawing/2014/main" id="{9F84E753-5909-4D55-751C-32DAF6304C02}"/>
              </a:ext>
            </a:extLst>
          </p:cNvPr>
          <p:cNvSpPr txBox="1"/>
          <p:nvPr/>
        </p:nvSpPr>
        <p:spPr>
          <a:xfrm>
            <a:off x="11134487" y="1640237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&amp;si=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24_1#79dea2b7e?vcp=1&amp;pid=3fd36b81f&amp;color=0,0,0&amp;vtp=1&amp;bt=1&amp;bbb=1&amp;hb=1"/>
              <p:cNvSpPr/>
              <p:nvPr/>
            </p:nvSpPr>
            <p:spPr>
              <a:xfrm>
                <a:off x="393192" y="1059085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考题4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（2026⋅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华南师大附中检测）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如图所示，倾角为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的斜面固定在水平地面上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斜面上方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点处，伸出三根光滑轻质细杆至斜面上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，三根细杆位于同一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竖直平面内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与斜面垂直，且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𝐵𝐴𝐶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𝐷𝐴𝐶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45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，现有三个质量均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的小圆环（看作质点）分别套在三根细杆上，依次从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点由静止滑下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，滑到斜面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三点所用时间分别为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24_1#79dea2b7e?vcp=1&amp;pid=3fd36b81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59085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1551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25_1#79dea2b7e.bracket?vcp=1&amp;pid=3fd36b81f&amp;color=0,0,0&amp;vpa=4&amp;vtp=1"/>
          <p:cNvSpPr/>
          <p:nvPr/>
        </p:nvSpPr>
        <p:spPr>
          <a:xfrm>
            <a:off x="9125299" y="3282855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5_BD.24_2#79dea2b7e?vcp=1&amp;pid=3fd36b81f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94376" y="3871880"/>
            <a:ext cx="1600200" cy="131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24_3#79dea2b7e.choices?vcp=1&amp;pid=3fd36b81f&amp;color=0,0,0&amp;vtp=1&amp;bbb=1"/>
              <p:cNvSpPr/>
              <p:nvPr/>
            </p:nvSpPr>
            <p:spPr>
              <a:xfrm>
                <a:off x="393192" y="5319680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923027" algn="l"/>
                    <a:tab pos="5807954" algn="l"/>
                    <a:tab pos="86928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24_3#79dea2b7e.choices?vcp=1&amp;pid=3fd36b81f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319680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&amp;si=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AS.26_1#79dea2b7e?vcp=1&amp;pid=3fd36b81f&amp;color=0,0,0&amp;vtp=1&amp;bt=1&amp;bbb=1"/>
          <p:cNvSpPr/>
          <p:nvPr/>
        </p:nvSpPr>
        <p:spPr>
          <a:xfrm>
            <a:off x="393192" y="585502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QC_5_AS.26_2#79dea2b7e?colgroup=14,7,14&amp;vcp=1&amp;pid=3fd36b81f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7289613"/>
                  </p:ext>
                </p:extLst>
              </p:nvPr>
            </p:nvGraphicFramePr>
            <p:xfrm>
              <a:off x="393192" y="1199293"/>
              <a:ext cx="11356848" cy="2464499"/>
            </p:xfrm>
            <a:graphic>
              <a:graphicData uri="http://schemas.openxmlformats.org/drawingml/2006/table">
                <a:tbl>
                  <a:tblPr/>
                  <a:tblGrid>
                    <a:gridCol w="44439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591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5371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题目信息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对应模型条件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物理模型分析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三根光滑细杆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轨道光滑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需要比较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1" i="1" spc="-10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pc="-100">
                                      <a:solidFill>
                                        <a:srgbClr val="FF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sz="2400" b="1" i="1" spc="-100">
                                      <a:solidFill>
                                        <a:srgbClr val="FF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𝑩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1" i="0" spc="-10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1" i="1" spc="-10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pc="-100">
                                      <a:solidFill>
                                        <a:srgbClr val="FF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sz="2400" b="1" i="1" spc="-100">
                                      <a:solidFill>
                                        <a:srgbClr val="FF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𝑪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1" i="0" spc="-10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1" i="1" spc="-10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pc="-100">
                                      <a:solidFill>
                                        <a:srgbClr val="FF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sz="2400" b="1" i="1" spc="-100">
                                      <a:solidFill>
                                        <a:srgbClr val="FF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𝑫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1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1" i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的大小关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系</a:t>
                          </a:r>
                          <a:r>
                            <a:rPr lang="en-US" altLang="zh-CN" sz="2400" b="1" i="0" spc="-10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由此联想到建立等时圆模型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三个小圆环均从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1" i="1" spc="-100">
                                  <a:solidFill>
                                    <a:srgbClr val="FF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𝑨</m:t>
                              </m:r>
                            </m:oMath>
                          </a14:m>
                          <a:r>
                            <a:rPr lang="en-US" altLang="zh-CN" sz="100" b="1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点由静止滑下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从静止开始运动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74154"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细杆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1" i="1" spc="-100">
                                  <a:solidFill>
                                    <a:srgbClr val="FF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𝑨𝑩</m:t>
                              </m:r>
                            </m:oMath>
                          </a14:m>
                          <a:r>
                            <a:rPr lang="en-US" altLang="zh-CN" sz="2400" b="1" i="0" spc="-10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1" i="1" spc="-100">
                                  <a:solidFill>
                                    <a:srgbClr val="FF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𝑨𝑪</m:t>
                              </m:r>
                            </m:oMath>
                          </a14:m>
                          <a:r>
                            <a:rPr lang="en-US" altLang="zh-CN" sz="2400" b="1" i="0" spc="-10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1" i="1" spc="-100">
                                  <a:solidFill>
                                    <a:srgbClr val="FF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𝑨𝑫</m:t>
                              </m:r>
                            </m:oMath>
                          </a14:m>
                          <a:r>
                            <a:rPr lang="en-US" altLang="zh-CN" sz="100" b="1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在上端相交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A点为</a:t>
                          </a:r>
                          <a:r>
                            <a:rPr lang="en-US" altLang="zh-CN" sz="2400" b="1" i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“竖直圆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环</a:t>
                          </a:r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”的最高点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QC_5_AS.26_2#79dea2b7e?colgroup=14,7,14&amp;vcp=1&amp;pid=3fd36b81f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7289613"/>
                  </p:ext>
                </p:extLst>
              </p:nvPr>
            </p:nvGraphicFramePr>
            <p:xfrm>
              <a:off x="393192" y="1199293"/>
              <a:ext cx="11356848" cy="2464499"/>
            </p:xfrm>
            <a:graphic>
              <a:graphicData uri="http://schemas.openxmlformats.org/drawingml/2006/table">
                <a:tbl>
                  <a:tblPr/>
                  <a:tblGrid>
                    <a:gridCol w="44439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591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5371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题目信息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对应模型条件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物理模型分析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三根光滑细杆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轨道光滑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9665" t="-25231" r="-268" b="-7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7" t="-197590" r="-155967" b="-2216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从静止开始运动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7415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7" t="-154375" r="-155967" b="-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A点为</a:t>
                          </a:r>
                          <a:r>
                            <a:rPr lang="en-US" altLang="zh-CN" sz="2400" b="1" i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“竖直圆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环</a:t>
                          </a:r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”的最高点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QC_5_AS.26_3#79dea2b7e?vcp=1&amp;pid=3fd36b81f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56445" y="3802793"/>
            <a:ext cx="4085209" cy="246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&amp;si=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27_1#3f7949ed2?htil=8&amp;vcp=1&amp;pid=3fd36b81f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45930" y="1363884"/>
            <a:ext cx="1536192" cy="1947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QC_5_BD.27_2#3f7949ed2?htil=8&amp;vcp=1&amp;pid=3fd36b81f&amp;color=0,0,0&amp;vtp=1&amp;bt=1&amp;bbb=1&amp;hb=1&amp;hs=1"/>
              <p:cNvSpPr/>
              <p:nvPr/>
            </p:nvSpPr>
            <p:spPr>
              <a:xfrm>
                <a:off x="393192" y="1318165"/>
                <a:ext cx="9729216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变式4-1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（2026·浙江杭州学军中学检测）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𝑎𝑑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𝑏𝑑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𝑐𝑑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是竖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直面内三根固定的光滑细杆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，它们与水平面之间的夹角分别为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90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altLang="en-US" sz="2400" b="0" i="0" kern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位于同一圆周上，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点为圆周的最高点，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点为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圆周的最低点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.每根杆上都套着一个小滑环（图中未画出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），三个滑环分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C_5_BD.27_2#3f7949ed2?htil=8&amp;vcp=1&amp;pid=3fd36b81f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18165"/>
                <a:ext cx="9729216" cy="2155000"/>
              </a:xfrm>
              <a:prstGeom prst="rect">
                <a:avLst/>
              </a:prstGeom>
              <a:blipFill>
                <a:blip r:embed="rId4"/>
                <a:stretch>
                  <a:fillRect l="-1942" r="-63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28_1#3f7949ed2.bracket?vcp=1&amp;pid=3fd36b81f&amp;color=0,0,0&amp;vpa=5&amp;vtp=1"/>
          <p:cNvSpPr/>
          <p:nvPr/>
        </p:nvSpPr>
        <p:spPr>
          <a:xfrm>
            <a:off x="11013472" y="4005230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27_3#3f7949ed2.choices?htil=8&amp;vcp=1&amp;pid=3fd36b81f&amp;color=0,0,0&amp;vtp=1&amp;bbb=1"/>
              <p:cNvSpPr/>
              <p:nvPr/>
            </p:nvSpPr>
            <p:spPr>
              <a:xfrm>
                <a:off x="393192" y="4497990"/>
                <a:ext cx="11402568" cy="102660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=3:2:1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=1:1:1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=3:2:1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=1:1:1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27_3#3f7949ed2.choices?htil=8&amp;vcp=1&amp;pid=3fd36b81f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497990"/>
                <a:ext cx="11402568" cy="1026605"/>
              </a:xfrm>
              <a:prstGeom prst="rect">
                <a:avLst/>
              </a:prstGeom>
              <a:blipFill>
                <a:blip r:embed="rId5"/>
                <a:stretch>
                  <a:fillRect l="-1658" b="-184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QC_5_BD.27_2#3f7949ed2?htil=8&amp;vcp=1&amp;pid=3fd36b81f&amp;color=0,0,0&amp;vtp=1&amp;bt=1&amp;bbb=1&amp;hb=1&amp;hs=1">
                <a:extLst>
                  <a:ext uri="{FF2B5EF4-FFF2-40B4-BE49-F238E27FC236}">
                    <a16:creationId xmlns:a16="http://schemas.microsoft.com/office/drawing/2014/main" id="{9C17D1B9-5DD2-C19E-2C71-A17A8D3EDEDE}"/>
                  </a:ext>
                </a:extLst>
              </p:cNvPr>
              <p:cNvSpPr/>
              <p:nvPr/>
            </p:nvSpPr>
            <p:spPr>
              <a:xfrm>
                <a:off x="393192" y="3457860"/>
                <a:ext cx="1140000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别从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处释放（初速度为0），用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依次表示各滑环到达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点所用的时间，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依次表示各滑环沿杆下滑过程中的加速度，则下列关系正确的是(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QC_5_BD.27_2#3f7949ed2?htil=8&amp;vcp=1&amp;pid=3fd36b81f&amp;color=0,0,0&amp;vtp=1&amp;bt=1&amp;bbb=1&amp;hb=1&amp;hs=1">
                <a:extLst>
                  <a:ext uri="{FF2B5EF4-FFF2-40B4-BE49-F238E27FC236}">
                    <a16:creationId xmlns:a16="http://schemas.microsoft.com/office/drawing/2014/main" id="{9C17D1B9-5DD2-C19E-2C71-A17A8D3EDE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57860"/>
                <a:ext cx="11400008" cy="1033399"/>
              </a:xfrm>
              <a:prstGeom prst="rect">
                <a:avLst/>
              </a:prstGeom>
              <a:blipFill>
                <a:blip r:embed="rId6"/>
                <a:stretch>
                  <a:fillRect l="-1658" r="-3850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&amp;si=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AS.29_1#3f7949ed2?vcp=1&amp;pid=3fd36b81f&amp;color=0,0,0&amp;vtp=1&amp;bt=1&amp;bbb=1&amp;hb=1"/>
              <p:cNvSpPr/>
              <p:nvPr/>
            </p:nvSpPr>
            <p:spPr>
              <a:xfrm>
                <a:off x="393192" y="2177669"/>
                <a:ext cx="11402568" cy="2510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设任一细杆与竖直方向的夹角为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，滑环下滑的加速度大小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，加速度之比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,C、D错误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；设圆周的半</a:t>
                </a:r>
              </a:p>
              <a:p>
                <a:pPr latinLnBrk="1">
                  <a:lnSpc>
                    <a:spcPts val="6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径为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𝑹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，则滑环下滑的位移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𝑹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,结合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𝑹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𝒈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,A错误，B正确.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AS.29_1#3f7949ed2?vcp=1&amp;pid=3fd36b81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77669"/>
                <a:ext cx="11402568" cy="2510600"/>
              </a:xfrm>
              <a:prstGeom prst="rect">
                <a:avLst/>
              </a:prstGeom>
              <a:blipFill>
                <a:blip r:embed="rId3"/>
                <a:stretch>
                  <a:fillRect l="-1658" r="-321" b="-72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&amp;si=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3e269e478?vcp=1&amp;pid=3fd36b81f&amp;color=0,0,0&amp;vtp=1&amp;bt=1&amp;bbb=1&amp;hb=1"/>
              <p:cNvSpPr/>
              <p:nvPr/>
            </p:nvSpPr>
            <p:spPr>
              <a:xfrm>
                <a:off x="393192" y="1934622"/>
                <a:ext cx="11402568" cy="29764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难点突破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光滑斜面运动时间的推证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.等高的斜面</a:t>
                </a:r>
                <a:endParaRPr lang="en-US" altLang="zh-CN" sz="2400" dirty="0"/>
              </a:p>
              <a:p>
                <a:pPr latinLnBrk="1">
                  <a:lnSpc>
                    <a:spcPts val="6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物体由静止下滑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h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sin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sin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h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由此可知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越大，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越小.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3e269e478?vcp=1&amp;pid=3fd36b81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34622"/>
                <a:ext cx="11402568" cy="2976499"/>
              </a:xfrm>
              <a:prstGeom prst="rect">
                <a:avLst/>
              </a:prstGeom>
              <a:blipFill>
                <a:blip r:embed="rId3"/>
                <a:stretch>
                  <a:fillRect l="-1658" b="-613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&amp;si=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3e269e478?vcp=1&amp;pid=3fd36b81f&amp;color=0,0,0&amp;vtp=1&amp;bt=1&amp;bbb=1&amp;hb=1"/>
              <p:cNvSpPr/>
              <p:nvPr/>
            </p:nvSpPr>
            <p:spPr>
              <a:xfrm>
                <a:off x="393192" y="1996027"/>
                <a:ext cx="11402568" cy="28645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2.同底的斜面</a:t>
                </a:r>
                <a:endParaRPr lang="en-US" altLang="zh-CN" sz="2400" dirty="0"/>
              </a:p>
              <a:p>
                <a:pPr latinLnBrk="1">
                  <a:lnSpc>
                    <a:spcPts val="6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物体由静止下滑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𝑑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cos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4</m:t>
                            </m:r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sin</m:t>
                            </m:r>
                            <m:r>
                              <m:rPr>
                                <m:nor/>
                              </m:rP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 </m:t>
                            </m:r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𝜃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，由此可</a:t>
                </a:r>
              </a:p>
              <a:p>
                <a:pPr latinLnBrk="1">
                  <a:lnSpc>
                    <a:spcPts val="6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45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有最小值，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min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；若两角互余，即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π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</a:p>
              <a:p>
                <a:pPr latinLnBrk="1">
                  <a:lnSpc>
                    <a:spcPts val="56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[2(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π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)]=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−2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，即互余两角对应的下滑时间相等.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3e269e478?vcp=1&amp;pid=3fd36b81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96027"/>
                <a:ext cx="11402568" cy="2864549"/>
              </a:xfrm>
              <a:prstGeom prst="rect">
                <a:avLst/>
              </a:prstGeom>
              <a:blipFill>
                <a:blip r:embed="rId3"/>
                <a:stretch>
                  <a:fillRect l="-1658" r="-160" b="-383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&amp;si=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3e269e478?vcp=1&amp;pid=3fd36b81f&amp;color=0,0,0&amp;vtp=1&amp;bt=1&amp;bbb=1&amp;hb=1"/>
              <p:cNvSpPr/>
              <p:nvPr/>
            </p:nvSpPr>
            <p:spPr>
              <a:xfrm>
                <a:off x="393192" y="1774635"/>
                <a:ext cx="11402568" cy="332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3.同圆周的斜面（等时圆模型）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1）圆周内同顶端的斜面：即在竖直面内的同一个圆周上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，各斜面的顶端都在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竖直圆周的最高点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，底端都落在该圆周上的其他不同点.</a:t>
                </a:r>
                <a:endParaRPr lang="en-US" altLang="zh-CN" sz="2400" dirty="0"/>
              </a:p>
              <a:p>
                <a:pPr latinLnBrk="1">
                  <a:lnSpc>
                    <a:spcPts val="6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𝑅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（物体由静止下滑），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𝑅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6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可推得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𝑅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3e269e478?vcp=1&amp;pid=3fd36b81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74635"/>
                <a:ext cx="11402568" cy="3327400"/>
              </a:xfrm>
              <a:prstGeom prst="rect">
                <a:avLst/>
              </a:prstGeom>
              <a:blipFill>
                <a:blip r:embed="rId3"/>
                <a:stretch>
                  <a:fillRect l="-1658" r="-267" b="-18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&amp;si=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3e269e478?htil=9&amp;vcp=1&amp;pid=3fd36b81f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68128" y="1278064"/>
            <a:ext cx="1609344" cy="2468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P_5_BD#3e269e478?htil=9&amp;vcp=1&amp;pid=3fd36b81f&amp;color=0,0,0&amp;vtp=1&amp;bt=1&amp;bbb=1&amp;hb=1&amp;hs=1"/>
              <p:cNvSpPr/>
              <p:nvPr/>
            </p:nvSpPr>
            <p:spPr>
              <a:xfrm>
                <a:off x="393192" y="1232344"/>
                <a:ext cx="9656064" cy="2980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（2）圆周内同底端的斜面：即在竖直面内的同一个圆周上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，各斜面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的底端都在竖直圆周的最低点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，顶端都在该圆周上的其他不同点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.同理可</a:t>
                </a:r>
              </a:p>
              <a:p>
                <a:pPr latinLnBrk="1">
                  <a:lnSpc>
                    <a:spcPts val="6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推得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𝑅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［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拓展模型］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双圆周内的斜面（如图所示）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即在竖直面内两个圆，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两圆心在同一竖直线上且两圆相外切.各斜面过两圆的公共切点且顶端都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P_5_BD#3e269e478?htil=9&amp;vcp=1&amp;pid=3fd36b81f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32344"/>
                <a:ext cx="9656064" cy="2980500"/>
              </a:xfrm>
              <a:prstGeom prst="rect">
                <a:avLst/>
              </a:prstGeom>
              <a:blipFill>
                <a:blip r:embed="rId4"/>
                <a:stretch>
                  <a:fillRect l="-1957" r="-4545" b="-613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_5_BD#3e269e478?htil=9&amp;vcp=1&amp;pid=3fd36b81f&amp;color=0,0,0&amp;vtp=1&amp;bt=1&amp;bbb=1&amp;hb=1&amp;hs=1">
                <a:extLst>
                  <a:ext uri="{FF2B5EF4-FFF2-40B4-BE49-F238E27FC236}">
                    <a16:creationId xmlns:a16="http://schemas.microsoft.com/office/drawing/2014/main" id="{3C0D87C7-6D83-43B7-2250-A34ABC722492}"/>
                  </a:ext>
                </a:extLst>
              </p:cNvPr>
              <p:cNvSpPr/>
              <p:nvPr/>
            </p:nvSpPr>
            <p:spPr>
              <a:xfrm>
                <a:off x="395996" y="4245610"/>
                <a:ext cx="11400008" cy="138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在上方圆周上的不同点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，底端落在同一直线过下方圆周上的相应位置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.同</a:t>
                </a:r>
              </a:p>
              <a:p>
                <a:pPr latinLnBrk="1">
                  <a:lnSpc>
                    <a:spcPts val="6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理可推得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P_5_BD#3e269e478?htil=9&amp;vcp=1&amp;pid=3fd36b81f&amp;color=0,0,0&amp;vtp=1&amp;bt=1&amp;bbb=1&amp;hb=1&amp;hs=1">
                <a:extLst>
                  <a:ext uri="{FF2B5EF4-FFF2-40B4-BE49-F238E27FC236}">
                    <a16:creationId xmlns:a16="http://schemas.microsoft.com/office/drawing/2014/main" id="{3C0D87C7-6D83-43B7-2250-A34ABC7224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4245610"/>
                <a:ext cx="11400008" cy="1384300"/>
              </a:xfrm>
              <a:prstGeom prst="rect">
                <a:avLst/>
              </a:prstGeom>
              <a:blipFill>
                <a:blip r:embed="rId5"/>
                <a:stretch>
                  <a:fillRect l="-1658" b="-43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&amp;si=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3e269e478?vcp=1&amp;pid=3fd36b81f&amp;color=0,0,0&amp;vtp=1&amp;bt=1&amp;bbb=1"/>
          <p:cNvSpPr/>
          <p:nvPr/>
        </p:nvSpPr>
        <p:spPr>
          <a:xfrm>
            <a:off x="393192" y="585501"/>
            <a:ext cx="1140256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方法梳理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利用等时圆模型解题的思路</a:t>
            </a:r>
            <a:endParaRPr lang="en-US" altLang="zh-CN" sz="2400" dirty="0"/>
          </a:p>
        </p:txBody>
      </p:sp>
      <p:pic>
        <p:nvPicPr>
          <p:cNvPr id="3" name="P_5_BD#3e269e478?vcp=1&amp;pid=3fd36b81f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38617" y="1758728"/>
            <a:ext cx="2320862" cy="449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&amp;si=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2452</Words>
  <Application>Microsoft Office PowerPoint</Application>
  <PresentationFormat>宽屏</PresentationFormat>
  <Paragraphs>308</Paragraphs>
  <Slides>41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9" baseType="lpstr">
      <vt:lpstr>SimHei</vt:lpstr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3</cp:revision>
  <dcterms:created xsi:type="dcterms:W3CDTF">2026-05-25T08:23:12Z</dcterms:created>
  <dcterms:modified xsi:type="dcterms:W3CDTF">2026-05-25T08:34:42Z</dcterms:modified>
  <cp:category/>
  <cp:contentStatus/>
</cp:coreProperties>
</file>