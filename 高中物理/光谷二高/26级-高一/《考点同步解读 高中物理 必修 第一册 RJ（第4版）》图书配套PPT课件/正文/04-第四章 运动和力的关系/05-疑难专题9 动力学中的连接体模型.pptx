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3961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9b2d2ba91f04ee84#tid=6a13c06328bacd03a259d37a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19e4b1f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疑难专题9 动力学中的连接体模型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0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19e4b1fe7.fixed?vcp=1&amp;pid=76d465d43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运动和力的关系</a:t>
            </a:r>
            <a:endParaRPr lang="en-US" altLang="zh-CN" sz="4800" dirty="0"/>
          </a:p>
        </p:txBody>
      </p:sp>
      <p:sp>
        <p:nvSpPr>
          <p:cNvPr id="3" name="C_2_BD#19e4b1fe7.fixed?vcp=1&amp;pid=76d465d43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疑难专题9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动力学中的连接体模型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3_BD#21f34473b?vcp=1&amp;pid=19e4b1fe7&amp;color=0,0,0&amp;vtp=1&amp;bt=1&amp;bbb=1"/>
          <p:cNvSpPr/>
          <p:nvPr/>
        </p:nvSpPr>
        <p:spPr>
          <a:xfrm>
            <a:off x="393192" y="658431"/>
            <a:ext cx="11402568" cy="47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1.连接体模型的常见类型</a:t>
            </a:r>
            <a:r>
              <a:rPr lang="en-US" altLang="zh-CN" sz="100" b="0" i="0" kern="0" spc="-9990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#1</a:t>
            </a:r>
            <a:endParaRPr lang="en-US" altLang="zh-CN" sz="2400" dirty="0"/>
          </a:p>
        </p:txBody>
      </p:sp>
      <p:graphicFrame>
        <p:nvGraphicFramePr>
          <p:cNvPr id="4" name="P_3_BD#21f34473b?colgroup=5,9,20&amp;vcp=1&amp;pid=19e4b1fe7&amp;color=0,0,0&amp;vtp=1&amp;bbb=1&amp;h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015041"/>
              </p:ext>
            </p:extLst>
          </p:nvPr>
        </p:nvGraphicFramePr>
        <p:xfrm>
          <a:off x="393192" y="1271206"/>
          <a:ext cx="11375136" cy="4926457"/>
        </p:xfrm>
        <a:graphic>
          <a:graphicData uri="http://schemas.openxmlformats.org/drawingml/2006/table">
            <a:tbl>
              <a:tblPr/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3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633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类型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图例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运动特点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6348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轻弹簧连接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17900"/>
                        </a:lnSpc>
                      </a:pPr>
                      <a:endParaRPr lang="en-US" altLang="zh-CN" sz="900" spc="0" dirty="0">
                        <a:solidFill>
                          <a:srgbClr val="FFFFFF">
                            <a:alpha val="0"/>
                          </a:srgbClr>
                        </a:solidFill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在弹簧发生形变的过程中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弹力不突变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对两</a:t>
                      </a:r>
                    </a:p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端连接的物体的弹力大小相等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两端物体的速</a:t>
                      </a:r>
                    </a:p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率不一定相等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（在弹簧形变量最大时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两端物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体的速率相等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7476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轻绳连接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16900"/>
                        </a:lnSpc>
                      </a:pPr>
                      <a:endParaRPr lang="en-US" altLang="zh-CN" sz="900" spc="0" dirty="0">
                        <a:solidFill>
                          <a:srgbClr val="FFFFFF">
                            <a:alpha val="0"/>
                          </a:srgbClr>
                        </a:solidFill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轻绳在伸直状态下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两物体沿绳方向速度大</a:t>
                      </a:r>
                    </a:p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小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、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加速度大小相等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方向不一定相同</a:t>
                      </a:r>
                    </a:p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（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根据两端物体的位移关系判断速度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、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加速度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关系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P_3_BD#21f34473b.table_image?tii=1&amp;vcp=1&amp;pid=19e4b1fe7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11780" y="1882458"/>
            <a:ext cx="1810512" cy="2039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5" name="P_3_BD#21f34473b.table_image?tii=2&amp;vcp=1&amp;pid=19e4b1fe7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17520" y="4158805"/>
            <a:ext cx="1399032" cy="192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P_3_BD#21f34473b?colgroup=5,9,20&amp;vcp=1&amp;pid=19e4b1fe7&amp;color=0,0,0&amp;mp=1&amp;vtp=1&amp;bt=1&amp;bbb=1&amp;h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15119"/>
              </p:ext>
            </p:extLst>
          </p:nvPr>
        </p:nvGraphicFramePr>
        <p:xfrm>
          <a:off x="393192" y="1565593"/>
          <a:ext cx="11375136" cy="4350385"/>
        </p:xfrm>
        <a:graphic>
          <a:graphicData uri="http://schemas.openxmlformats.org/drawingml/2006/table">
            <a:tbl>
              <a:tblPr/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3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633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类型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图例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运动特点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0588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轻杆连接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14800"/>
                        </a:lnSpc>
                      </a:pPr>
                      <a:endParaRPr lang="en-US" altLang="zh-CN" sz="900" spc="0" dirty="0">
                        <a:solidFill>
                          <a:srgbClr val="FFFFFF">
                            <a:alpha val="0"/>
                          </a:srgbClr>
                        </a:solidFill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沿杆方向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连接体具有相同的速度和加速度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7164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接触连接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15200"/>
                        </a:lnSpc>
                      </a:pPr>
                      <a:endParaRPr lang="en-US" altLang="zh-CN" sz="900" spc="0" dirty="0">
                        <a:solidFill>
                          <a:srgbClr val="FFFFFF">
                            <a:alpha val="0"/>
                          </a:srgbClr>
                        </a:solidFill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两物体通过弹力或摩擦力作用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可能具有相同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的速度或加速度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P_3_BD#21f34473b.table_image?tii=3&amp;vcp=1&amp;pid=19e4b1fe7&amp;color=0,0,0&amp;mp=1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81428" y="2176844"/>
            <a:ext cx="2871216" cy="1673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P_3_BD#21f34473b.table_image?tii=4&amp;vcp=1&amp;pid=19e4b1fe7&amp;color=0,0,0&amp;mp=1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86000" y="4087432"/>
            <a:ext cx="2862072" cy="1709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3_BD#21f34473b?colgroup=5,9,20&amp;vcp=1&amp;pid=19e4b1fe7&amp;color=0,0,0&amp;mp=1&amp;vtp=1&amp;bt=1&amp;bbb=1">
            <a:extLst>
              <a:ext uri="{FF2B5EF4-FFF2-40B4-BE49-F238E27FC236}">
                <a16:creationId xmlns:a16="http://schemas.microsoft.com/office/drawing/2014/main" id="{ABB6CFE7-B3FC-E986-E0B5-983A511BD922}"/>
              </a:ext>
            </a:extLst>
          </p:cNvPr>
          <p:cNvSpPr txBox="1"/>
          <p:nvPr/>
        </p:nvSpPr>
        <p:spPr>
          <a:xfrm>
            <a:off x="11152775" y="940118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3_BD#21f34473b?vcp=1&amp;pid=19e4b1fe7&amp;color=0,0,0&amp;vtp=1&amp;bt=1&amp;bbb=1"/>
          <p:cNvSpPr/>
          <p:nvPr/>
        </p:nvSpPr>
        <p:spPr>
          <a:xfrm>
            <a:off x="393192" y="1413827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2.解决连接体问题的常用方法</a:t>
            </a:r>
            <a:endParaRPr lang="en-US" altLang="zh-CN" sz="2400" dirty="0"/>
          </a:p>
        </p:txBody>
      </p:sp>
      <p:graphicFrame>
        <p:nvGraphicFramePr>
          <p:cNvPr id="6" name="P_3_BD#21f34473b?colgroup=4,13,18&amp;vcp=1&amp;pid=19e4b1fe7&amp;color=0,0,0&amp;vtp=1&amp;bbb=1&amp;h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245316"/>
              </p:ext>
            </p:extLst>
          </p:nvPr>
        </p:nvGraphicFramePr>
        <p:xfrm>
          <a:off x="393192" y="2026602"/>
          <a:ext cx="11356848" cy="3415665"/>
        </p:xfrm>
        <a:graphic>
          <a:graphicData uri="http://schemas.openxmlformats.org/drawingml/2006/table">
            <a:tbl>
              <a:tblPr/>
              <a:tblGrid>
                <a:gridCol w="1426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7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2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633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100"/>
                        </a:lnSpc>
                      </a:pP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整体法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隔离法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4344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概念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将加速度相同的几个物体作为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一个整体来分析的方法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将研究对象与周围物体分隔开分析的方法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4344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选用原则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研究系统外的物体对系统整体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的作用力或系统整体的加速度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研究系统内物体之间的相互作用力或系统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内物体的加速度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4344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注意问题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受力分析时不用再考虑系统内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物体间的相互作用力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一般隔离受力较少的物体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split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#b77071fea?vcp=1&amp;pid=19e4b1fe7&amp;color=0,0,0&amp;tib=255,255,255&amp;vtp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66344"/>
          </a:xfrm>
          <a:prstGeom prst="rect">
            <a:avLst/>
          </a:prstGeom>
        </p:spPr>
      </p:pic>
      <p:sp>
        <p:nvSpPr>
          <p:cNvPr id="3" name="C_3_BD#b77071fea?vcp=1&amp;pid=19e4b1fe7&amp;color=255,255,255&amp;vtp=1&amp;bt=1&amp;bbb=1"/>
          <p:cNvSpPr/>
          <p:nvPr/>
        </p:nvSpPr>
        <p:spPr>
          <a:xfrm>
            <a:off x="393192" y="502920"/>
            <a:ext cx="8961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考点</a:t>
            </a:r>
            <a:endParaRPr lang="en-US" altLang="zh-CN" sz="2600" dirty="0"/>
          </a:p>
        </p:txBody>
      </p:sp>
      <p:sp>
        <p:nvSpPr>
          <p:cNvPr id="4" name="C_3_BD#b77071fea?vcp=1&amp;pid=19e4b1fe7&amp;color=255,255,255&amp;vtp=1"/>
          <p:cNvSpPr/>
          <p:nvPr/>
        </p:nvSpPr>
        <p:spPr>
          <a:xfrm>
            <a:off x="1298448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en-US" altLang="zh-CN" sz="2800" dirty="0"/>
          </a:p>
        </p:txBody>
      </p:sp>
      <p:sp>
        <p:nvSpPr>
          <p:cNvPr id="5" name="C_3_BD#b77071fea?vcp=1&amp;pid=19e4b1fe7&amp;color=0,0,0&amp;vtp=1&amp;bbb=1"/>
          <p:cNvSpPr/>
          <p:nvPr/>
        </p:nvSpPr>
        <p:spPr>
          <a:xfrm>
            <a:off x="1911096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动力分配原则</a:t>
            </a:r>
            <a:endParaRPr lang="en-US" altLang="zh-CN" sz="2600" dirty="0"/>
          </a:p>
        </p:txBody>
      </p:sp>
      <p:pic>
        <p:nvPicPr>
          <p:cNvPr id="6" name="P_4_BD#4349a336c?htil=1&amp;vcp=1&amp;pid=b77071fea&amp;color=0,0,0&amp;tib=255,255,255&amp;vtp=1&amp;hs=1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23660" y="1010920"/>
            <a:ext cx="4416552" cy="1353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P_4_BD#4349a336c?htil=1&amp;vcp=1&amp;pid=b77071fea&amp;color=0,0,0&amp;vtp=1&amp;bbb=1&amp;hb=1&amp;hs=1"/>
              <p:cNvSpPr/>
              <p:nvPr/>
            </p:nvSpPr>
            <p:spPr>
              <a:xfrm>
                <a:off x="393192" y="965200"/>
                <a:ext cx="6848856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两物块在力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作用下一起运动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，系统的加速度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与每个物块的加速度相同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P_4_BD#4349a336c?htil=1&amp;vcp=1&amp;pid=b77071fea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65200"/>
                <a:ext cx="6848856" cy="1037400"/>
              </a:xfrm>
              <a:prstGeom prst="rect">
                <a:avLst/>
              </a:prstGeom>
              <a:blipFill>
                <a:blip r:embed="rId5"/>
                <a:stretch>
                  <a:fillRect l="-2760" b="-169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_4_BD#4349a336c?htil=1&amp;vcp=1&amp;pid=b77071fea&amp;color=0,0,0&amp;vtp=1&amp;bbb=1&amp;hb=1&amp;hs=1"/>
          <p:cNvSpPr/>
          <p:nvPr/>
        </p:nvSpPr>
        <p:spPr>
          <a:xfrm>
            <a:off x="393192" y="2061273"/>
            <a:ext cx="6848856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如图甲所示：</a:t>
            </a:r>
            <a:endParaRPr lang="en-US" altLang="zh-CN" sz="2400" dirty="0"/>
          </a:p>
        </p:txBody>
      </p:sp>
      <p:sp>
        <p:nvSpPr>
          <p:cNvPr id="9" name="P_4_BD#4349a336c?vcp=1&amp;pid=b77071fea&amp;color=0,0,0&amp;vtp=1&amp;bbb=1"/>
          <p:cNvSpPr/>
          <p:nvPr/>
        </p:nvSpPr>
        <p:spPr>
          <a:xfrm>
            <a:off x="393192" y="5237797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3.如图丙所示：空气阻力不计.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P_4_BD#4349a336c?htil=1&amp;vcp=1&amp;pid=b77071fea&amp;color=0,0,0&amp;vtp=1&amp;bbb=1&amp;hb=1&amp;hs=1">
                <a:extLst>
                  <a:ext uri="{FF2B5EF4-FFF2-40B4-BE49-F238E27FC236}">
                    <a16:creationId xmlns:a16="http://schemas.microsoft.com/office/drawing/2014/main" id="{A8EFA93B-DB2E-1E08-7299-B7A532057DD4}"/>
                  </a:ext>
                </a:extLst>
              </p:cNvPr>
              <p:cNvSpPr/>
              <p:nvPr/>
            </p:nvSpPr>
            <p:spPr>
              <a:xfrm>
                <a:off x="395996" y="2545397"/>
                <a:ext cx="1140000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1）地面光滑.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2）质量为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的物块与地面间的动摩擦因数相同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.如图乙所示：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1）斜面光滑.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2）质量为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的物块与斜面间的动摩擦因数相同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10" name="P_4_BD#4349a336c?htil=1&amp;vcp=1&amp;pid=b77071fea&amp;color=0,0,0&amp;vtp=1&amp;bbb=1&amp;hb=1&amp;hs=1">
                <a:extLst>
                  <a:ext uri="{FF2B5EF4-FFF2-40B4-BE49-F238E27FC236}">
                    <a16:creationId xmlns:a16="http://schemas.microsoft.com/office/drawing/2014/main" id="{A8EFA93B-DB2E-1E08-7299-B7A532057D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2545397"/>
                <a:ext cx="11400008" cy="2709799"/>
              </a:xfrm>
              <a:prstGeom prst="rect">
                <a:avLst/>
              </a:prstGeom>
              <a:blipFill>
                <a:blip r:embed="rId6"/>
                <a:stretch>
                  <a:fillRect b="-6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4_BD#4349a336c?vcp=1&amp;pid=b77071fea&amp;color=0,0,0&amp;mp=1&amp;vtp=1&amp;bt=1&amp;bbb=1&amp;hb=1"/>
              <p:cNvSpPr/>
              <p:nvPr/>
            </p:nvSpPr>
            <p:spPr>
              <a:xfrm>
                <a:off x="393192" y="2788348"/>
                <a:ext cx="11402568" cy="1117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以上几种及类似情形中，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一定时，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两物块间的弹力大小只与物块的质量有关，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aseline="-10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弹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4_BD#4349a336c?vcp=1&amp;pid=b77071fea&amp;color=0,0,0&amp;mp=1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788348"/>
                <a:ext cx="11402568" cy="1117600"/>
              </a:xfrm>
              <a:prstGeom prst="rect">
                <a:avLst/>
              </a:prstGeom>
              <a:blipFill>
                <a:blip r:embed="rId3"/>
                <a:stretch>
                  <a:fillRect l="-1658" b="-543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_1#03060a229?vcp=1&amp;pid=b77071fea&amp;color=0,0,0&amp;vtp=1&amp;bt=1&amp;bbb=1&amp;hb=1"/>
              <p:cNvSpPr/>
              <p:nvPr/>
            </p:nvSpPr>
            <p:spPr>
              <a:xfrm>
                <a:off x="393192" y="570675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例1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［经典高考题改编］如图所示，在粗糙水平面上依次并排紧靠着三个木块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1、2、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，已知木块1、2、3的质量分别为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，每个木块与水平面间的动摩擦因数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均相同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.现用一水平向右的恒力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推木块，使三个木块一起向右做匀加速直线运动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木块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1对木块2的作用力与木块2对木块3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的作用力的大小之比为(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_1#03060a229?vcp=1&amp;pid=b77071fea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70675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535" b="-880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BD.1_2#03060a229?vcp=1&amp;pid=b77071fea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51960" y="2837371"/>
            <a:ext cx="3694176" cy="502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QC_4_AN.2_1#03060a229.bracket?vcp=1&amp;pid=b77071fea&amp;color=0,0,0&amp;vpa=1&amp;vtp=1"/>
          <p:cNvSpPr/>
          <p:nvPr/>
        </p:nvSpPr>
        <p:spPr>
          <a:xfrm>
            <a:off x="8868061" y="2235645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_3#03060a229.choices?vcp=1&amp;pid=b77071fea&amp;color=0,0,0&amp;vtp=1&amp;bbb=1"/>
              <p:cNvSpPr/>
              <p:nvPr/>
            </p:nvSpPr>
            <p:spPr>
              <a:xfrm>
                <a:off x="393192" y="3472371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923027" algn="l"/>
                    <a:tab pos="5807954" algn="l"/>
                    <a:tab pos="86928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3:2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5:3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2:1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3:1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_3#03060a229.choices?vcp=1&amp;pid=b77071fea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72371"/>
                <a:ext cx="11402568" cy="477330"/>
              </a:xfrm>
              <a:prstGeom prst="rect">
                <a:avLst/>
              </a:prstGeom>
              <a:blipFill>
                <a:blip r:embed="rId5"/>
                <a:stretch>
                  <a:fillRect l="-1658" b="-397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AS.3_1#03060a229?vcp=1&amp;pid=b77071fea&amp;color=0,0,0&amp;vtp=1&amp;bbb=1&amp;hb=1"/>
              <p:cNvSpPr/>
              <p:nvPr/>
            </p:nvSpPr>
            <p:spPr>
              <a:xfrm>
                <a:off x="393192" y="3953066"/>
                <a:ext cx="11402568" cy="2146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将三个木块1、2、3看作整体，由牛顿第二定律得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；将木块2、3隔离出来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，由牛顿第二定律得</a:t>
                </a:r>
              </a:p>
              <a:p>
                <a:pPr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；再隔离木块3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，由牛顿第二定律得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，选项B正确.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AS.3_1#03060a229?vcp=1&amp;pid=b77071fea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53066"/>
                <a:ext cx="11402568" cy="2146300"/>
              </a:xfrm>
              <a:prstGeom prst="rect">
                <a:avLst/>
              </a:prstGeom>
              <a:blipFill>
                <a:blip r:embed="rId6"/>
                <a:stretch>
                  <a:fillRect l="-1658" b="-481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4_1#fef30be73?htil=2&amp;vcp=1&amp;pid=b77071fea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07203" y="549719"/>
            <a:ext cx="2331720" cy="106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BD.4_2#fef30be73?htil=2&amp;vcp=1&amp;pid=b77071fea&amp;color=0,0,0&amp;vtp=1&amp;bt=1&amp;bbb=1&amp;hb=1&amp;hs=1"/>
              <p:cNvSpPr/>
              <p:nvPr/>
            </p:nvSpPr>
            <p:spPr>
              <a:xfrm>
                <a:off x="393192" y="504000"/>
                <a:ext cx="8933688" cy="153606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变式1-1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（2026·湖北襄阳四中检测）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，质量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两物块紧靠在一起放在倾角为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的固定斜面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，两物块与斜面间的动摩擦因数相同，重力加速度为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，用始终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BD.4_2#fef30be73?htil=2&amp;vcp=1&amp;pid=b77071fea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8933688" cy="1536065"/>
              </a:xfrm>
              <a:prstGeom prst="rect">
                <a:avLst/>
              </a:prstGeom>
              <a:blipFill>
                <a:blip r:embed="rId4"/>
                <a:stretch>
                  <a:fillRect l="-2116" t="-794" r="-1502" b="-1150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4_AN.5_1#fef30be73.bracket?vcp=1&amp;pid=b77071fea&amp;color=0,0,0&amp;vpa=2&amp;vtp=1&amp;bbb=1"/>
          <p:cNvSpPr/>
          <p:nvPr/>
        </p:nvSpPr>
        <p:spPr>
          <a:xfrm>
            <a:off x="4032164" y="2543492"/>
            <a:ext cx="661988" cy="45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0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4_3#fef30be73.choices?vcp=1&amp;pid=b77071fea&amp;color=0,0,0&amp;vtp=1&amp;bbb=1"/>
              <p:cNvSpPr/>
              <p:nvPr/>
            </p:nvSpPr>
            <p:spPr>
              <a:xfrm>
                <a:off x="393192" y="3066985"/>
                <a:ext cx="11402568" cy="4650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100"/>
                  </a:lnSpc>
                  <a:tabLst>
                    <a:tab pos="2764277" algn="l"/>
                    <a:tab pos="5490454" algn="l"/>
                    <a:tab pos="854683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A.增大推力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.减小倾角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.减小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.减小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4_3#fef30be73.choices?vcp=1&amp;pid=b77071fea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066985"/>
                <a:ext cx="11402568" cy="465074"/>
              </a:xfrm>
              <a:prstGeom prst="rect">
                <a:avLst/>
              </a:prstGeom>
              <a:blipFill>
                <a:blip r:embed="rId5"/>
                <a:stretch>
                  <a:fillRect l="-1658" b="-4078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AS.6_1#fef30be73?vcp=1&amp;pid=b77071fea&amp;color=0,0,0&amp;vtp=1&amp;bbb=1&amp;hb=1"/>
              <p:cNvSpPr/>
              <p:nvPr/>
            </p:nvSpPr>
            <p:spPr>
              <a:xfrm>
                <a:off x="393192" y="3542664"/>
                <a:ext cx="11402568" cy="27804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设物块与斜面间的动摩擦因数为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整体进行受力分析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，有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进行受力分析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，有</a:t>
                </a:r>
              </a:p>
              <a:p>
                <a:pPr latinLnBrk="1">
                  <a:lnSpc>
                    <a:spcPts val="5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，联立以上两式可得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𝑩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𝑨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𝑩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𝑨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𝑩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为了增大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间的压力，即增大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𝑨𝑩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，可以增大推力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、减小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的质量或增大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的质量，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、D正确，B、C错误.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AS.6_1#fef30be73?vcp=1&amp;pid=b77071fea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42664"/>
                <a:ext cx="11402568" cy="2780475"/>
              </a:xfrm>
              <a:prstGeom prst="rect">
                <a:avLst/>
              </a:prstGeom>
              <a:blipFill>
                <a:blip r:embed="rId6"/>
                <a:stretch>
                  <a:fillRect l="-1658" r="-3476" b="-657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4_2#fef30be73?htil=2&amp;vcp=1&amp;pid=b77071fea&amp;color=0,0,0&amp;vtp=1&amp;bt=1&amp;bbb=1&amp;hb=1&amp;hs=1">
                <a:extLst>
                  <a:ext uri="{FF2B5EF4-FFF2-40B4-BE49-F238E27FC236}">
                    <a16:creationId xmlns:a16="http://schemas.microsoft.com/office/drawing/2014/main" id="{6E544FBC-B93D-6E28-B07F-09DB5BFEBCF8}"/>
                  </a:ext>
                </a:extLst>
              </p:cNvPr>
              <p:cNvSpPr/>
              <p:nvPr/>
            </p:nvSpPr>
            <p:spPr>
              <a:xfrm>
                <a:off x="395996" y="2021395"/>
                <a:ext cx="11400008" cy="9889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平行于斜面向上的恒力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，使它们沿斜面向上匀加速运动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，为了增大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间的压</a:t>
                </a:r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下列办法中可行的是(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4_2#fef30be73?htil=2&amp;vcp=1&amp;pid=b77071fea&amp;color=0,0,0&amp;vtp=1&amp;bt=1&amp;bbb=1&amp;hb=1&amp;hs=1">
                <a:extLst>
                  <a:ext uri="{FF2B5EF4-FFF2-40B4-BE49-F238E27FC236}">
                    <a16:creationId xmlns:a16="http://schemas.microsoft.com/office/drawing/2014/main" id="{6E544FBC-B93D-6E28-B07F-09DB5BFEBC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2021395"/>
                <a:ext cx="11400008" cy="988949"/>
              </a:xfrm>
              <a:prstGeom prst="rect">
                <a:avLst/>
              </a:prstGeom>
              <a:blipFill>
                <a:blip r:embed="rId7"/>
                <a:stretch>
                  <a:fillRect l="-1658" b="-1851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#433966723?vcp=1&amp;pid=19e4b1fe7&amp;color=0,0,0&amp;tib=255,255,255&amp;vtp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66344"/>
          </a:xfrm>
          <a:prstGeom prst="rect">
            <a:avLst/>
          </a:prstGeom>
        </p:spPr>
      </p:pic>
      <p:sp>
        <p:nvSpPr>
          <p:cNvPr id="3" name="C_3_BD#433966723?vcp=1&amp;pid=19e4b1fe7&amp;color=255,255,255&amp;vtp=1&amp;bt=1&amp;bbb=1"/>
          <p:cNvSpPr/>
          <p:nvPr/>
        </p:nvSpPr>
        <p:spPr>
          <a:xfrm>
            <a:off x="393192" y="502920"/>
            <a:ext cx="8961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考点</a:t>
            </a:r>
            <a:endParaRPr lang="en-US" altLang="zh-CN" sz="2600" dirty="0"/>
          </a:p>
        </p:txBody>
      </p:sp>
      <p:sp>
        <p:nvSpPr>
          <p:cNvPr id="4" name="C_3_BD#433966723?vcp=1&amp;pid=19e4b1fe7&amp;color=255,255,255&amp;vtp=1"/>
          <p:cNvSpPr/>
          <p:nvPr/>
        </p:nvSpPr>
        <p:spPr>
          <a:xfrm>
            <a:off x="1298448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en-US" altLang="zh-CN" sz="2800" dirty="0"/>
          </a:p>
        </p:txBody>
      </p:sp>
      <p:sp>
        <p:nvSpPr>
          <p:cNvPr id="5" name="C_3_BD#433966723?vcp=1&amp;pid=19e4b1fe7&amp;color=0,0,0&amp;vtp=1&amp;bbb=1"/>
          <p:cNvSpPr/>
          <p:nvPr/>
        </p:nvSpPr>
        <p:spPr>
          <a:xfrm>
            <a:off x="1911096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加速度相同类连接体问题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BD.7_1#ce31d90cb?vcp=1&amp;pid=433966723&amp;color=0,0,0&amp;vtp=1&amp;bbb=1&amp;hb=1"/>
              <p:cNvSpPr/>
              <p:nvPr/>
            </p:nvSpPr>
            <p:spPr>
              <a:xfrm>
                <a:off x="393192" y="965200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例2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如图所示，细线一端系着质量为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的小球，另一端系在车厢顶部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，小车在水平推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力的作用下在水平面上做直线运动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，细线与竖直方向的夹角保持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不变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，且放在小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车上的质量为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的木块也与车厢保持相对静止.已知当地的重力加速度为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，木块与车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厢底板间的动摩擦因数为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0.75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BD.7_1#ce31d90cb?vcp=1&amp;pid=43396672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65200"/>
                <a:ext cx="11402568" cy="2150999"/>
              </a:xfrm>
              <a:prstGeom prst="rect">
                <a:avLst/>
              </a:prstGeom>
              <a:blipFill>
                <a:blip r:embed="rId4"/>
                <a:stretch>
                  <a:fillRect l="-1658" r="-428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QC_4_AN.8_1#ce31d90cb.bracket?vcp=1&amp;pid=433966723&amp;color=0,0,0&amp;vpa=3&amp;vtp=1"/>
          <p:cNvSpPr/>
          <p:nvPr/>
        </p:nvSpPr>
        <p:spPr>
          <a:xfrm>
            <a:off x="7593298" y="2630170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pic>
        <p:nvPicPr>
          <p:cNvPr id="8" name="QC_4_BD.7_2#ce31d90cb?htil=3&amp;vcp=1&amp;pid=433966723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39335" y="3144520"/>
            <a:ext cx="2770632" cy="1572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QC_4_BD.7_3#ce31d90cb.choices?htil=3&amp;vcp=1&amp;pid=433966723&amp;color=0,0,0&amp;vtp=1&amp;bbb=1"/>
              <p:cNvSpPr/>
              <p:nvPr/>
            </p:nvSpPr>
            <p:spPr>
              <a:xfrm>
                <a:off x="393192" y="3098800"/>
                <a:ext cx="8494776" cy="230809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A.小车不可能向左运动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.此时小球的加速度大小为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.此时木块受到的摩擦力大小为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0.75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，方向水平向右</a:t>
                </a:r>
                <a:endParaRPr lang="en-US" altLang="zh-CN" sz="2400" dirty="0"/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.此时木块受到的摩擦力大小为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，方向水平向右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9" name="QC_4_BD.7_3#ce31d90cb.choices?htil=3&amp;vcp=1&amp;pid=43396672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098800"/>
                <a:ext cx="8494776" cy="2308098"/>
              </a:xfrm>
              <a:prstGeom prst="rect">
                <a:avLst/>
              </a:prstGeom>
              <a:blipFill>
                <a:blip r:embed="rId6"/>
                <a:stretch>
                  <a:fillRect l="-2225" b="-448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9_1#ce31d90cb?htil=4&amp;vcp=1&amp;pid=433966723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06445" y="1511141"/>
            <a:ext cx="1508760" cy="2011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AS.9_2#ce31d90cb?htil=4&amp;vcp=1&amp;pid=433966723&amp;color=0,0,0&amp;vtp=1&amp;bt=1&amp;bbb=1&amp;hb=1&amp;hs=1"/>
              <p:cNvSpPr/>
              <p:nvPr/>
            </p:nvSpPr>
            <p:spPr>
              <a:xfrm>
                <a:off x="393192" y="1465421"/>
                <a:ext cx="9756648" cy="22439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如图甲所示，对小球受力分析，水平方向上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，由牛顿第二定律有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，竖直方向上，由平衡条件有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，联立解得</a:t>
                </a:r>
              </a:p>
              <a:p>
                <a:pPr latinLnBrk="1">
                  <a:lnSpc>
                    <a:spcPts val="51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，方向水平向右，则小车可能向左减速运动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，也可能向右加速运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，A、B错误；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AS.9_2#ce31d90cb?htil=4&amp;vcp=1&amp;pid=433966723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65421"/>
                <a:ext cx="9756648" cy="2243900"/>
              </a:xfrm>
              <a:prstGeom prst="rect">
                <a:avLst/>
              </a:prstGeom>
              <a:blipFill>
                <a:blip r:embed="rId4"/>
                <a:stretch>
                  <a:fillRect l="-1938" r="-875" b="-815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QC_4_AS.9_3#ce31d90cb?htil=5&amp;vcp=1&amp;pid=433966723&amp;color=0,0,0&amp;tib=255,255,255&amp;vtp=1&amp;hs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42448" y="3752437"/>
            <a:ext cx="1335024" cy="1380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9_4#ce31d90cb?htil=5&amp;vcp=1&amp;pid=433966723&amp;color=0,0,0&amp;vtp=1&amp;bbb=1&amp;hb=1&amp;hs=1"/>
              <p:cNvSpPr/>
              <p:nvPr/>
            </p:nvSpPr>
            <p:spPr>
              <a:xfrm>
                <a:off x="393192" y="3706717"/>
                <a:ext cx="9930384" cy="16851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小车上质量为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的木块与车厢保持相对静止，如图乙所示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，设木块受到的</a:t>
                </a:r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摩擦力大小为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，由牛顿第二定律有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，方向水平向右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AS.9_4#ce31d90cb?htil=5&amp;vcp=1&amp;pid=433966723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06717"/>
                <a:ext cx="9930384" cy="1685100"/>
              </a:xfrm>
              <a:prstGeom prst="rect">
                <a:avLst/>
              </a:prstGeom>
              <a:blipFill>
                <a:blip r:embed="rId6"/>
                <a:stretch>
                  <a:fillRect l="-1903" b="-1123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0_1#189022b54?vcp=1&amp;pid=433966723&amp;color=0,0,0&amp;vtp=1&amp;bt=1&amp;bbb=1&amp;hb=1"/>
              <p:cNvSpPr/>
              <p:nvPr/>
            </p:nvSpPr>
            <p:spPr>
              <a:xfrm>
                <a:off x="393192" y="1245394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变式2-1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（2026·湖北部分高中检测）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（多选题）如图所示，一质量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、倾角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45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的斜面体放在光滑水平地面上，斜面体上有一质量为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的光滑楔形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.用一水平向左的恒力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作用在斜面体上，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此系统恰好能保持相对静止地向左运动.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重力加速度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下列判断正确的是(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0_1#189022b54?vcp=1&amp;pid=43396672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45394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963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1_1#189022b54.bracket?vcp=1&amp;pid=433966723&amp;color=0,0,0&amp;vpa=4&amp;vtp=1&amp;bbb=1"/>
          <p:cNvSpPr/>
          <p:nvPr/>
        </p:nvSpPr>
        <p:spPr>
          <a:xfrm>
            <a:off x="6541294" y="2910364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BD</a:t>
            </a:r>
            <a:endParaRPr lang="en-US" altLang="zh-CN" sz="2400" dirty="0"/>
          </a:p>
        </p:txBody>
      </p:sp>
      <p:pic>
        <p:nvPicPr>
          <p:cNvPr id="4" name="QC_4_BD.10_2#189022b54?htil=6&amp;vcp=1&amp;pid=43396672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84287" y="3430809"/>
            <a:ext cx="2020824" cy="1344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0_3#189022b54.choices?htil=6&amp;vcp=1&amp;pid=433966723&amp;color=0,0,0&amp;vtp=1&amp;bbb=1"/>
              <p:cNvSpPr/>
              <p:nvPr/>
            </p:nvSpPr>
            <p:spPr>
              <a:xfrm>
                <a:off x="393192" y="3385089"/>
                <a:ext cx="9244584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A.系统做匀速直线运动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=40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.斜面体对楔形物体的作用力大小为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e>
                    </m:rad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.增大恒力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，楔形物体将相对斜面体沿斜面向上运动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0_3#189022b54.choices?htil=6&amp;vcp=1&amp;pid=43396672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85089"/>
                <a:ext cx="9244584" cy="2155000"/>
              </a:xfrm>
              <a:prstGeom prst="rect">
                <a:avLst/>
              </a:prstGeom>
              <a:blipFill>
                <a:blip r:embed="rId5"/>
                <a:stretch>
                  <a:fillRect l="-2045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2_1#189022b54?vcp=1&amp;pid=433966723&amp;color=0,0,0&amp;vtp=1&amp;bt=1&amp;bbb=1&amp;hb=1"/>
              <p:cNvSpPr/>
              <p:nvPr/>
            </p:nvSpPr>
            <p:spPr>
              <a:xfrm>
                <a:off x="393192" y="585502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对系统整体受力分析如图甲所示，由牛顿第二定律有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；对楔形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物体受力分析如图乙所示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，由牛顿第二定律有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𝟒𝟓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,可得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，A错误，B正确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；斜面体对楔形物体的作用力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𝟒𝟓</m:t>
                            </m:r>
                          </m:e>
                          <m: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</m:rad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</m:rad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，C错误；外力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增大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，则斜面体在水平面上的加速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度增大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，斜面体对楔形物体的支持也增大，则支持力在竖直方向的分量大于重力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，有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向上的加速度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，则楔形物体将会相对斜面体沿斜面上滑，D正确.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2_1#189022b54?vcp=1&amp;pid=43396672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85502"/>
                <a:ext cx="11402568" cy="3272600"/>
              </a:xfrm>
              <a:prstGeom prst="rect">
                <a:avLst/>
              </a:prstGeom>
              <a:blipFill>
                <a:blip r:embed="rId3"/>
                <a:stretch>
                  <a:fillRect l="-1658" r="-535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AS.12_2#189022b54?vcp=1&amp;pid=43396672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54424" y="3990055"/>
            <a:ext cx="3280104" cy="212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#24338dd79?vcp=1&amp;pid=19e4b1fe7&amp;color=0,0,0&amp;tib=255,255,255&amp;vtp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66344"/>
          </a:xfrm>
          <a:prstGeom prst="rect">
            <a:avLst/>
          </a:prstGeom>
        </p:spPr>
      </p:pic>
      <p:sp>
        <p:nvSpPr>
          <p:cNvPr id="3" name="C_3_BD#24338dd79?vcp=1&amp;pid=19e4b1fe7&amp;color=255,255,255&amp;vtp=1&amp;bt=1&amp;bbb=1"/>
          <p:cNvSpPr/>
          <p:nvPr/>
        </p:nvSpPr>
        <p:spPr>
          <a:xfrm>
            <a:off x="393192" y="502920"/>
            <a:ext cx="8961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考点</a:t>
            </a:r>
            <a:endParaRPr lang="en-US" altLang="zh-CN" sz="2600" dirty="0"/>
          </a:p>
        </p:txBody>
      </p:sp>
      <p:sp>
        <p:nvSpPr>
          <p:cNvPr id="4" name="C_3_BD#24338dd79?vcp=1&amp;pid=19e4b1fe7&amp;color=255,255,255&amp;vtp=1"/>
          <p:cNvSpPr/>
          <p:nvPr/>
        </p:nvSpPr>
        <p:spPr>
          <a:xfrm>
            <a:off x="1298448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</a:t>
            </a:r>
            <a:endParaRPr lang="en-US" altLang="zh-CN" sz="2800" dirty="0"/>
          </a:p>
        </p:txBody>
      </p:sp>
      <p:sp>
        <p:nvSpPr>
          <p:cNvPr id="5" name="C_3_BD#24338dd79?vcp=1&amp;pid=19e4b1fe7&amp;color=0,0,0&amp;vtp=1&amp;bbb=1"/>
          <p:cNvSpPr/>
          <p:nvPr/>
        </p:nvSpPr>
        <p:spPr>
          <a:xfrm>
            <a:off x="1911096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加速度不相同类连接体问题</a:t>
            </a:r>
            <a:endParaRPr lang="en-US" altLang="zh-CN" sz="2600" dirty="0"/>
          </a:p>
        </p:txBody>
      </p:sp>
      <p:pic>
        <p:nvPicPr>
          <p:cNvPr id="6" name="P_4_BD#a6000a361?htil=7&amp;vcp=1&amp;pid=24338dd79&amp;color=0,0,0&amp;tib=255,255,255&amp;vtp=1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70305" y="1010920"/>
            <a:ext cx="859536" cy="1911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P_4_BD#a6000a361?htil=7&amp;vcp=1&amp;pid=24338dd79&amp;color=0,0,0&amp;vtp=1&amp;bbb=1&amp;hb=1&amp;hs=1"/>
              <p:cNvSpPr/>
              <p:nvPr/>
            </p:nvSpPr>
            <p:spPr>
              <a:xfrm>
                <a:off x="393192" y="965200"/>
                <a:ext cx="10405872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如图所示，假设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向下运动，由于绳长不变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，不计滑轮与绳的质量及之间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的摩擦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的加速度大小相等.分别隔离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，根据牛顿第二定律列方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程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T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T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T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T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，联立三式可得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P_4_BD#a6000a361?htil=7&amp;vcp=1&amp;pid=24338dd79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65200"/>
                <a:ext cx="10405872" cy="2155000"/>
              </a:xfrm>
              <a:prstGeom prst="rect">
                <a:avLst/>
              </a:prstGeom>
              <a:blipFill>
                <a:blip r:embed="rId5"/>
                <a:stretch>
                  <a:fillRect l="-1816" r="-1054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_4_BD#a6000a361?htil=8&amp;vcp=1&amp;pid=24338dd79&amp;color=0,0,0&amp;tib=255,255,255&amp;vtp=1&amp;hs=1&amp;hs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06640" y="3157220"/>
            <a:ext cx="4370832" cy="1481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P_4_BD#a6000a361?htil=8&amp;vcp=1&amp;pid=24338dd79&amp;color=0,0,0&amp;vtp=1&amp;bbb=1&amp;hb=1&amp;hs=1"/>
              <p:cNvSpPr/>
              <p:nvPr/>
            </p:nvSpPr>
            <p:spPr>
              <a:xfrm>
                <a:off x="393192" y="3111500"/>
                <a:ext cx="6894576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在滑轮连接体中，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虽然两物块加速度方向不同，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但大小相同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，也可以对整体应用牛顿第二定律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，具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体方程为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：动力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阻力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总质量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.在上图所示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9" name="P_4_BD#a6000a361?htil=8&amp;vcp=1&amp;pid=24338dd79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11500"/>
                <a:ext cx="6894576" cy="1596200"/>
              </a:xfrm>
              <a:prstGeom prst="rect">
                <a:avLst/>
              </a:prstGeom>
              <a:blipFill>
                <a:blip r:embed="rId7"/>
                <a:stretch>
                  <a:fillRect l="-2741" r="-4332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P_4_BD#a6000a361?htil=8&amp;vcp=1&amp;pid=24338dd79&amp;color=0,0,0&amp;vtp=1&amp;bbb=1&amp;hb=1&amp;hs=1">
                <a:extLst>
                  <a:ext uri="{FF2B5EF4-FFF2-40B4-BE49-F238E27FC236}">
                    <a16:creationId xmlns:a16="http://schemas.microsoft.com/office/drawing/2014/main" id="{845D33CD-AD68-6F70-B5DF-0AA5F5F018F3}"/>
                  </a:ext>
                </a:extLst>
              </p:cNvPr>
              <p:cNvSpPr/>
              <p:nvPr/>
            </p:nvSpPr>
            <p:spPr>
              <a:xfrm>
                <a:off x="395996" y="4699000"/>
                <a:ext cx="1140000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的模型中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的重力为动力，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的重力为阻力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.这个结论对下图甲、乙所示的滑轮连接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体模型也是适用的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10" name="P_4_BD#a6000a361?htil=8&amp;vcp=1&amp;pid=24338dd79&amp;color=0,0,0&amp;vtp=1&amp;bbb=1&amp;hb=1&amp;hs=1">
                <a:extLst>
                  <a:ext uri="{FF2B5EF4-FFF2-40B4-BE49-F238E27FC236}">
                    <a16:creationId xmlns:a16="http://schemas.microsoft.com/office/drawing/2014/main" id="{845D33CD-AD68-6F70-B5DF-0AA5F5F018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4699000"/>
                <a:ext cx="11400008" cy="1037400"/>
              </a:xfrm>
              <a:prstGeom prst="rect">
                <a:avLst/>
              </a:prstGeom>
              <a:blipFill>
                <a:blip r:embed="rId8"/>
                <a:stretch>
                  <a:fillRect l="-1658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3_1#97a671405?vcp=1&amp;pid=24338dd79&amp;color=0,0,0&amp;vtp=1&amp;bt=1&amp;bbb=1&amp;hb=1"/>
              <p:cNvSpPr/>
              <p:nvPr/>
            </p:nvSpPr>
            <p:spPr>
              <a:xfrm>
                <a:off x="393192" y="678942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例3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华科附中检测）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（多选题）如图所示的装置叫阿特伍德机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.绳子两端的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物体竖直运动的加速度大小总是小于自由落体的加速度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，这使得实验者可以有较长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的时间从容地观测和研究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.轻绳与轻滑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轮间的摩擦不计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，轻绳不可伸长且足够长.物体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由图示位置静止释放后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3_1#97a671405?vcp=1&amp;pid=24338dd7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78942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r="-1123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4_1#97a671405.bracket?vcp=1&amp;pid=24338dd79&amp;color=0,0,0&amp;vpa=5&amp;vtp=1&amp;bbb=1"/>
          <p:cNvSpPr/>
          <p:nvPr/>
        </p:nvSpPr>
        <p:spPr>
          <a:xfrm>
            <a:off x="689260" y="2902712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BD</a:t>
            </a:r>
            <a:endParaRPr lang="en-US" altLang="zh-CN" sz="2400" dirty="0"/>
          </a:p>
        </p:txBody>
      </p:sp>
      <p:pic>
        <p:nvPicPr>
          <p:cNvPr id="4" name="QC_4_BD.13_2#97a671405?htil=9&amp;vcp=1&amp;pid=24338dd79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11904" y="3410458"/>
            <a:ext cx="1106424" cy="2157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3_3#97a671405.choices?htil=9&amp;vcp=1&amp;pid=24338dd79&amp;color=0,0,0&amp;vtp=1&amp;bbb=1"/>
              <p:cNvSpPr/>
              <p:nvPr/>
            </p:nvSpPr>
            <p:spPr>
              <a:xfrm>
                <a:off x="393192" y="3364738"/>
                <a:ext cx="10158984" cy="279368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A.轻绳上的拉力大小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𝑇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58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6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的取值小一些，便于实验者观测和研究</a:t>
                </a:r>
                <a:endParaRPr lang="en-US" altLang="zh-CN" sz="2400" dirty="0"/>
              </a:p>
              <a:p>
                <a:pPr latinLnBrk="1">
                  <a:lnSpc>
                    <a:spcPts val="6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的取值大一些，便于实验者观测和研究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3_3#97a671405.choices?htil=9&amp;vcp=1&amp;pid=24338dd79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64738"/>
                <a:ext cx="10158984" cy="2793683"/>
              </a:xfrm>
              <a:prstGeom prst="rect">
                <a:avLst/>
              </a:prstGeom>
              <a:blipFill>
                <a:blip r:embed="rId5"/>
                <a:stretch>
                  <a:fillRect l="-1861" b="-371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5_1#97a671405?vcp=1&amp;pid=24338dd79&amp;color=0,0,0&amp;vtp=1&amp;bt=1&amp;bbb=1&amp;hb=1"/>
              <p:cNvSpPr/>
              <p:nvPr/>
            </p:nvSpPr>
            <p:spPr>
              <a:xfrm>
                <a:off x="393192" y="2139188"/>
                <a:ext cx="11402568" cy="2383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对物体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，由牛顿第二定律得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整体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，由牛顿第二定律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</a:t>
                </a:r>
              </a:p>
              <a:p>
                <a:pPr latinLnBrk="1">
                  <a:lnSpc>
                    <a:spcPts val="6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正确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𝑴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den>
                        </m:f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知，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的取值大一些，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小些，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便于实验者观测和研究，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5_1#97a671405?vcp=1&amp;pid=24338dd7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139188"/>
                <a:ext cx="11402568" cy="2383600"/>
              </a:xfrm>
              <a:prstGeom prst="rect">
                <a:avLst/>
              </a:prstGeom>
              <a:blipFill>
                <a:blip r:embed="rId3"/>
                <a:stretch>
                  <a:fillRect l="-1658" r="-1604" b="-741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16_1#021a7f69f?htil=10&amp;vcp=1&amp;pid=24338dd79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48063" y="549720"/>
            <a:ext cx="2835258" cy="801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BD.16_2#021a7f69f?htil=10&amp;vcp=1&amp;pid=24338dd79&amp;color=0,0,0&amp;vtp=1&amp;bt=1&amp;bbb=1&amp;hb=1&amp;hs=1"/>
              <p:cNvSpPr/>
              <p:nvPr/>
            </p:nvSpPr>
            <p:spPr>
              <a:xfrm>
                <a:off x="393192" y="504000"/>
                <a:ext cx="7552944" cy="9486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0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变式3-1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（2026·湖北黄石二中模拟）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）质量</a:t>
                </a:r>
              </a:p>
              <a:p>
                <a:pPr latinLnBrk="1">
                  <a:lnSpc>
                    <a:spcPts val="38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分别为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形状、大小均相同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，将它们通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BD.16_2#021a7f69f?htil=10&amp;vcp=1&amp;pid=24338dd79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7552944" cy="948690"/>
              </a:xfrm>
              <a:prstGeom prst="rect">
                <a:avLst/>
              </a:prstGeom>
              <a:blipFill>
                <a:blip r:embed="rId4"/>
                <a:stretch>
                  <a:fillRect l="-2502" t="-3226" b="-1935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4_AN.17_1#021a7f69f.bracket?vcp=1&amp;pid=24338dd79&amp;color=0,0,0&amp;vpa=6&amp;vtp=1&amp;bbb=1"/>
          <p:cNvSpPr/>
          <p:nvPr/>
        </p:nvSpPr>
        <p:spPr>
          <a:xfrm>
            <a:off x="1857661" y="2965704"/>
            <a:ext cx="882650" cy="44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8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ACD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6_3#021a7f69f.choices?vcp=1&amp;pid=24338dd79&amp;color=0,0,0&amp;vtp=1&amp;bbb=1"/>
              <p:cNvSpPr/>
              <p:nvPr/>
            </p:nvSpPr>
            <p:spPr>
              <a:xfrm>
                <a:off x="393192" y="3411410"/>
                <a:ext cx="11402568" cy="101835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0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A.轻绳上的拉力大小为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.轻绳上的拉力大小为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0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运动的加速度大小为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(1−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运动的加速度大小为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6_3#021a7f69f.choices?vcp=1&amp;pid=24338dd79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11410"/>
                <a:ext cx="11402568" cy="1018350"/>
              </a:xfrm>
              <a:prstGeom prst="rect">
                <a:avLst/>
              </a:prstGeom>
              <a:blipFill>
                <a:blip r:embed="rId5"/>
                <a:stretch>
                  <a:fillRect l="-1658" t="-599" b="-1018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AS.18_1#021a7f69f?vcp=1&amp;pid=24338dd79&amp;color=0,0,0&amp;vtp=1&amp;bbb=1&amp;hb=1"/>
              <p:cNvSpPr/>
              <p:nvPr/>
            </p:nvSpPr>
            <p:spPr>
              <a:xfrm>
                <a:off x="393192" y="4435983"/>
                <a:ext cx="11402568" cy="151866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0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第一次放置时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静止，则由平衡条件可得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.第二次放置时，对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，联立解得</a:t>
                </a:r>
              </a:p>
              <a:p>
                <a:pPr latinLnBrk="1">
                  <a:lnSpc>
                    <a:spcPts val="39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，A、C、D正确.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AS.18_1#021a7f69f?vcp=1&amp;pid=24338dd79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435983"/>
                <a:ext cx="11402568" cy="1518666"/>
              </a:xfrm>
              <a:prstGeom prst="rect">
                <a:avLst/>
              </a:prstGeom>
              <a:blipFill>
                <a:blip r:embed="rId6"/>
                <a:stretch>
                  <a:fillRect l="-1658" t="-402" r="-2032" b="-682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16_2#021a7f69f?htil=10&amp;vcp=1&amp;pid=24338dd79&amp;color=0,0,0&amp;vtp=1&amp;bt=1&amp;bbb=1&amp;hb=1&amp;hs=1">
                <a:extLst>
                  <a:ext uri="{FF2B5EF4-FFF2-40B4-BE49-F238E27FC236}">
                    <a16:creationId xmlns:a16="http://schemas.microsoft.com/office/drawing/2014/main" id="{3CF3349B-9A27-3DD3-B7D8-EE897455EC8B}"/>
                  </a:ext>
                </a:extLst>
              </p:cNvPr>
              <p:cNvSpPr/>
              <p:nvPr/>
            </p:nvSpPr>
            <p:spPr>
              <a:xfrm>
                <a:off x="393192" y="1455610"/>
                <a:ext cx="11400008" cy="19604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过轻绳跨过光滑定滑轮连接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，如图甲所示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，斜面静止于光滑水平地面上，绳子平行于</a:t>
                </a:r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倾角为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的斜面，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恰好能静止在斜面上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，不考虑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与斜面之间的摩擦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，重力加速</a:t>
                </a:r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，若互换两物块位置，按图乙放置，然后释放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，斜面仍保持静止，则下列说法</a:t>
                </a:r>
              </a:p>
              <a:p>
                <a:pPr latinLnBrk="1">
                  <a:lnSpc>
                    <a:spcPts val="38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16_2#021a7f69f?htil=10&amp;vcp=1&amp;pid=24338dd79&amp;color=0,0,0&amp;vtp=1&amp;bt=1&amp;bbb=1&amp;hb=1&amp;hs=1">
                <a:extLst>
                  <a:ext uri="{FF2B5EF4-FFF2-40B4-BE49-F238E27FC236}">
                    <a16:creationId xmlns:a16="http://schemas.microsoft.com/office/drawing/2014/main" id="{3CF3349B-9A27-3DD3-B7D8-EE897455EC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55610"/>
                <a:ext cx="11400008" cy="1960499"/>
              </a:xfrm>
              <a:prstGeom prst="rect">
                <a:avLst/>
              </a:prstGeom>
              <a:blipFill>
                <a:blip r:embed="rId7"/>
                <a:stretch>
                  <a:fillRect l="-1658" t="-312" r="-1230" b="-934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#55a935b44?vcp=1&amp;pid=19e4b1fe7&amp;color=0,0,0&amp;tib=255,255,255&amp;vtp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66344"/>
          </a:xfrm>
          <a:prstGeom prst="rect">
            <a:avLst/>
          </a:prstGeom>
        </p:spPr>
      </p:pic>
      <p:sp>
        <p:nvSpPr>
          <p:cNvPr id="3" name="C_3_BD#55a935b44?vcp=1&amp;pid=19e4b1fe7&amp;color=255,255,255&amp;vtp=1&amp;bt=1&amp;bbb=1"/>
          <p:cNvSpPr/>
          <p:nvPr/>
        </p:nvSpPr>
        <p:spPr>
          <a:xfrm>
            <a:off x="393192" y="502920"/>
            <a:ext cx="8961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考点</a:t>
            </a:r>
            <a:endParaRPr lang="en-US" altLang="zh-CN" sz="2600" dirty="0"/>
          </a:p>
        </p:txBody>
      </p:sp>
      <p:sp>
        <p:nvSpPr>
          <p:cNvPr id="4" name="C_3_BD#55a935b44?vcp=1&amp;pid=19e4b1fe7&amp;color=255,255,255&amp;vtp=1"/>
          <p:cNvSpPr/>
          <p:nvPr/>
        </p:nvSpPr>
        <p:spPr>
          <a:xfrm>
            <a:off x="1298448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4</a:t>
            </a:r>
            <a:endParaRPr lang="en-US" altLang="zh-CN" sz="2800" dirty="0"/>
          </a:p>
        </p:txBody>
      </p:sp>
      <p:sp>
        <p:nvSpPr>
          <p:cNvPr id="5" name="C_3_BD#55a935b44?vcp=1&amp;pid=19e4b1fe7&amp;color=0,0,0&amp;vtp=1&amp;bbb=1"/>
          <p:cNvSpPr/>
          <p:nvPr/>
        </p:nvSpPr>
        <p:spPr>
          <a:xfrm>
            <a:off x="1911096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弹簧连接体模型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BD.19_1#a071a09f8?vcp=1&amp;pid=55a935b44&amp;color=0,0,0&amp;vtp=1&amp;bbb=1&amp;hb=1"/>
              <p:cNvSpPr/>
              <p:nvPr/>
            </p:nvSpPr>
            <p:spPr>
              <a:xfrm>
                <a:off x="393192" y="965200"/>
                <a:ext cx="11402568" cy="32685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例4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西北工大附中检测）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（多选题）在两个倾角为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的足够长且固定的相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同斜面体上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，分别有如图所示的两套装置.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分别是固定在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上的挡板，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面水平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上表面与斜面平行，完全相同的两个弹簧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一端固定在挡板上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，另一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端分别连在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，所有接触面都光滑，重力加速度为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分别保持相对静止且沿斜面自由下滑的过程中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，下列说法正确的是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BD.19_1#a071a09f8?vcp=1&amp;pid=55a935b44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65200"/>
                <a:ext cx="11402568" cy="3268599"/>
              </a:xfrm>
              <a:prstGeom prst="rect">
                <a:avLst/>
              </a:prstGeom>
              <a:blipFill>
                <a:blip r:embed="rId4"/>
                <a:stretch>
                  <a:fillRect l="-1658" r="-1283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QC_4_AN.20_1#a071a09f8.bracket?vcp=1&amp;pid=55a935b44&amp;color=0,0,0&amp;vpa=7&amp;vtp=1&amp;bbb=1"/>
          <p:cNvSpPr/>
          <p:nvPr/>
        </p:nvSpPr>
        <p:spPr>
          <a:xfrm>
            <a:off x="651160" y="3747770"/>
            <a:ext cx="8651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BCD</a:t>
            </a:r>
            <a:endParaRPr lang="en-US" altLang="zh-CN" sz="2400" dirty="0"/>
          </a:p>
        </p:txBody>
      </p:sp>
      <p:pic>
        <p:nvPicPr>
          <p:cNvPr id="8" name="QC_4_BD.19_2#a071a09f8?htil=11&amp;vcp=1&amp;pid=55a935b44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58360" y="4249420"/>
            <a:ext cx="3236976" cy="107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QC_4_BD.19_3#a071a09f8.choices?htil=11&amp;vcp=1&amp;pid=55a935b44&amp;color=0,0,0&amp;vtp=1&amp;bbb=1"/>
              <p:cNvSpPr/>
              <p:nvPr/>
            </p:nvSpPr>
            <p:spPr>
              <a:xfrm>
                <a:off x="393192" y="4203700"/>
                <a:ext cx="8028432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处于原长状态，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处于拉伸状态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处于压缩状态，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处于原长状态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的压力等于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cos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的压力等于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产生弹力，弹力大小为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9" name="QC_4_BD.19_3#a071a09f8.choices?htil=11&amp;vcp=1&amp;pid=55a935b4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203700"/>
                <a:ext cx="8028432" cy="2158302"/>
              </a:xfrm>
              <a:prstGeom prst="rect">
                <a:avLst/>
              </a:prstGeom>
              <a:blipFill>
                <a:blip r:embed="rId6"/>
                <a:stretch>
                  <a:fillRect l="-2354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21_1#a071a09f8?vcp=1&amp;pid=55a935b44&amp;color=0,0,0&amp;vtp=1&amp;bt=1&amp;bbb=1&amp;hb=1"/>
              <p:cNvSpPr/>
              <p:nvPr/>
            </p:nvSpPr>
            <p:spPr>
              <a:xfrm>
                <a:off x="393192" y="1527683"/>
                <a:ext cx="11402568" cy="3827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对两套装置整体受力分析，整体加速度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，方向沿斜面向下；对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力分析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，设弹簧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的弹力为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，由牛顿第二定律得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，方向水平向左，故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处于压缩状态，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，由牛顿第三定律可得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的压力大小为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受力分析，设弹簧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的弹力为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，方向沿斜面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向下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，由牛顿第二定律可得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，即弹簧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处于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原长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𝑫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的压力等于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，选项A错误，B、C、D正确.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21_1#a071a09f8?vcp=1&amp;pid=55a935b4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27683"/>
                <a:ext cx="11402568" cy="3827399"/>
              </a:xfrm>
              <a:prstGeom prst="rect">
                <a:avLst/>
              </a:prstGeom>
              <a:blipFill>
                <a:blip r:embed="rId3"/>
                <a:stretch>
                  <a:fillRect l="-1658" r="-1176" b="-49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22_1#8f373d6de?vcp=1&amp;pid=55a935b44&amp;color=0,0,0&amp;vtp=1&amp;bt=1&amp;bbb=1&amp;hb=1"/>
              <p:cNvSpPr/>
              <p:nvPr/>
            </p:nvSpPr>
            <p:spPr>
              <a:xfrm>
                <a:off x="393192" y="900875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变式4-1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（多选题）如图所示，粗糙水平面上有一轻弹簧连接着物块甲、乙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，用大小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的水平恒力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作用在物块甲上时，物块甲、乙一起向左做匀加速直线运动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物块甲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、乙的质量分别为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，两物块与地面间的动摩擦因数均为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0.3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，取重力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加速度大小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22_1#8f373d6de?vcp=1&amp;pid=55a935b4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00875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267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BD.22_2#8f373d6de?vcp=1&amp;pid=55a935b4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55464" y="3167570"/>
            <a:ext cx="2478024" cy="484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QC_4_AN.23_1#8f373d6de.bracket?vcp=1&amp;pid=55a935b44&amp;color=0,0,0&amp;vpa=8&amp;vtp=1&amp;bbb=1"/>
          <p:cNvSpPr/>
          <p:nvPr/>
        </p:nvSpPr>
        <p:spPr>
          <a:xfrm>
            <a:off x="6404197" y="2565845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22_3#8f373d6de.choices?vcp=1&amp;pid=55a935b44&amp;color=0,0,0&amp;vtp=1&amp;bbb=1"/>
              <p:cNvSpPr/>
              <p:nvPr/>
            </p:nvSpPr>
            <p:spPr>
              <a:xfrm>
                <a:off x="393192" y="3789870"/>
                <a:ext cx="11402568" cy="21577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A.物块甲的加速度大小为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.弹簧上的弹力大小为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.若撤去恒力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，则撤去瞬间物块乙的加速度大小为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.若撤去恒力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，则撤去瞬间物块甲的加速度大小为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9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22_3#8f373d6de.choices?vcp=1&amp;pid=55a935b4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89870"/>
                <a:ext cx="11402568" cy="2157730"/>
              </a:xfrm>
              <a:prstGeom prst="rect">
                <a:avLst/>
              </a:prstGeom>
              <a:blipFill>
                <a:blip r:embed="rId5"/>
                <a:stretch>
                  <a:fillRect l="-1658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24_1#8f373d6de?vcp=1&amp;pid=55a935b44&amp;color=0,0,0&amp;vtp=1&amp;bt=1&amp;bbb=1&amp;hb=1"/>
              <p:cNvSpPr/>
              <p:nvPr/>
            </p:nvSpPr>
            <p:spPr>
              <a:xfrm>
                <a:off x="393192" y="841248"/>
                <a:ext cx="11402568" cy="516801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求解物块甲的加速度（用整体法分析），由题意得，物块甲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、乙一起向左做匀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加速直线运动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，物块甲、乙的加速度相等，对物块甲、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乙组成的系统用整体法分析，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由牛顿第二定律可得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甲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乙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甲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乙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</a:p>
              <a:p>
                <a:pPr latinLnBrk="1">
                  <a:lnSpc>
                    <a:spcPts val="58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baseline="-100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甲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baseline="-100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乙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baseline="-100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甲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baseline="-100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乙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，故A错误；求解弹簧弹力的大小用隔离法计算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，选物块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甲或物块乙作为研究对象都可以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，对物块乙进行分析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，由牛顿第二定律可得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弹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乙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乙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，代入数据解得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弹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，故B正确；若撤去恒力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，则撤去瞬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间弹簧弹力不会发生突变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，物块乙的加速度不变，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乙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，故C正确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；若撤去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恒力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，则撤去瞬间弹簧弹力不会发生突变，对物块甲求解加速度用隔离法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</a:t>
                </a:r>
              </a:p>
              <a:p>
                <a:pPr latinLnBrk="1">
                  <a:lnSpc>
                    <a:spcPts val="4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第二定律可得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弹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甲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甲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甲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甲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24_1#8f373d6de?vcp=1&amp;pid=55a935b4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41248"/>
                <a:ext cx="11402568" cy="5168011"/>
              </a:xfrm>
              <a:prstGeom prst="rect">
                <a:avLst/>
              </a:prstGeom>
              <a:blipFill>
                <a:blip r:embed="rId3"/>
                <a:stretch>
                  <a:fillRect l="-1658" r="-1016" b="-318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&amp;si=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1445</Words>
  <Application>Microsoft Office PowerPoint</Application>
  <PresentationFormat>宽屏</PresentationFormat>
  <Paragraphs>210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SimHei</vt:lpstr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2026-05-25T08:09:55Z</dcterms:created>
  <dcterms:modified xsi:type="dcterms:W3CDTF">2026-05-25T08:12:17Z</dcterms:modified>
  <cp:category/>
  <cp:contentStatus/>
</cp:coreProperties>
</file>