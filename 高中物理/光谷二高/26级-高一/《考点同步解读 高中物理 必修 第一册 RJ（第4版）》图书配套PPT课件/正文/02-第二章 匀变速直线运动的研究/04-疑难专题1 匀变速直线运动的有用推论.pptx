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846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28bacd03a259d372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f068d94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疑难专题1 匀变速直线运动的有用推论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f068d9442.fixed?vcp=1&amp;pid=efd683a83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f068d9442.fixed?vcp=1&amp;pid=efd683a83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疑难专题1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匀变速直线运动的有用推论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077c44939?vcp=1&amp;pid=f068d9442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077c44939?vcp=1&amp;pid=f068d9442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077c44939?vcp=1&amp;pid=f068d9442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3_BD#077c44939?vcp=1&amp;pid=f068d9442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匀变速直线运动中间时刻的瞬时速度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_4_BD#eead7c789?vcp=1&amp;pid=077c44939&amp;color=0,0,0&amp;vtp=1&amp;bbb=1&amp;hb=1"/>
              <p:cNvSpPr/>
              <p:nvPr/>
            </p:nvSpPr>
            <p:spPr>
              <a:xfrm>
                <a:off x="393192" y="965200"/>
                <a:ext cx="11402568" cy="525316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1.做匀变速直线运动的物体，在一段时间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内的平均速度等于这段时间内中间时刻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的瞬时速度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，还等于这段时间内初、末速度矢量和的一半.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.推导：设物体的初速度为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，做匀变速直线运动的加速度为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①,</a:t>
                </a:r>
                <a:endParaRPr lang="en-US" altLang="zh-CN" sz="2400" dirty="0"/>
              </a:p>
              <a:p>
                <a:pPr latinLnBrk="1">
                  <a:lnSpc>
                    <a:spcPts val="5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②,</a:t>
                </a:r>
                <a:endParaRPr lang="en-US" altLang="zh-CN" sz="2400" dirty="0"/>
              </a:p>
              <a:p>
                <a:pPr latinLnBrk="1">
                  <a:lnSpc>
                    <a:spcPts val="5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①②得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，联立以上各式解得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.说明：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是矢量和，不是代数和；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+0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只适用于匀变速直线运动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</a:t>
                </a:r>
              </a:p>
              <a:p>
                <a:pPr latinLnBrk="1">
                  <a:lnSpc>
                    <a:spcPts val="5600"/>
                  </a:lnSpc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适用于任何形式的运动.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P_4_BD#eead7c789?vcp=1&amp;pid=077c4493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11402568" cy="5253165"/>
              </a:xfrm>
              <a:prstGeom prst="rect">
                <a:avLst/>
              </a:prstGeom>
              <a:blipFill>
                <a:blip r:embed="rId4"/>
                <a:stretch>
                  <a:fillRect l="-1658" r="-1016" b="-197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1_1#a030fba57?vcp=1&amp;pid=077c44939&amp;color=0,0,0&amp;vtp=1&amp;bt=1&amp;bbb=1&amp;hb=1"/>
              <p:cNvSpPr/>
              <p:nvPr/>
            </p:nvSpPr>
            <p:spPr>
              <a:xfrm>
                <a:off x="393192" y="2361025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（体育竞技）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（2026·湖北黄冈重点中学检测）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一个冰球在冰面上滑行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，依次通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过长度都是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的两段距离，并继续向前运动，它通过第一段距离的时间为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,通过第二段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距离的时间为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.若冰球在冰面上的运动可看作匀变速直线运动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，求冰球在第一段距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离末时的速度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1_1#a030fba57?vcp=1&amp;pid=077c4493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61025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1176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S.2_1#a030fba57?vcp=1&amp;pid=077c44939&amp;color=0,0,0&amp;vtp=1&amp;bt=1&amp;bbb=1&amp;hb=1"/>
              <p:cNvSpPr/>
              <p:nvPr/>
            </p:nvSpPr>
            <p:spPr>
              <a:xfrm>
                <a:off x="393192" y="973550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由题意可得，冰球做匀减速运动，其运动简图如图所示.以冰球过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为起始时刻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、起始点，设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三点的速度分别为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S.2_1#a030fba57?vcp=1&amp;pid=077c4493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73550"/>
                <a:ext cx="11402568" cy="1117600"/>
              </a:xfrm>
              <a:prstGeom prst="rect">
                <a:avLst/>
              </a:prstGeom>
              <a:blipFill>
                <a:blip r:embed="rId3"/>
                <a:stretch>
                  <a:fillRect l="-1658" b="-9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AS.2_2#a030fba57?vcp=1&amp;pid=077c4493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83480" y="2224881"/>
            <a:ext cx="2212848" cy="47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AS.2_3#a030fba57?vcp=1&amp;pid=077c44939&amp;color=0,0,0&amp;vtp=1&amp;bbb=1&amp;hb=1"/>
              <p:cNvSpPr/>
              <p:nvPr/>
            </p:nvSpPr>
            <p:spPr>
              <a:xfrm>
                <a:off x="393192" y="2834481"/>
                <a:ext cx="11402568" cy="2882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；①</a:t>
                </a:r>
                <a:endParaRPr lang="en-US" altLang="zh-CN" sz="2400" dirty="0"/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；②</a:t>
                </a:r>
                <a:endParaRPr lang="en-US" altLang="zh-CN" sz="2400" dirty="0"/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；③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①②③式，解得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ct val="11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4" name="QO_4_AS.2_3#a030fba57?vcp=1&amp;pid=077c4493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34481"/>
                <a:ext cx="11402568" cy="2882900"/>
              </a:xfrm>
              <a:prstGeom prst="rect">
                <a:avLst/>
              </a:prstGeom>
              <a:blipFill>
                <a:blip r:embed="rId5"/>
                <a:stretch>
                  <a:fillRect l="-1658" b="-338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4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S.2_3#a030fba57?vcp=1&amp;pid=077c44939&amp;color=0,0,0&amp;vtp=1&amp;bbb=1&amp;hb=1">
                <a:extLst>
                  <a:ext uri="{FF2B5EF4-FFF2-40B4-BE49-F238E27FC236}">
                    <a16:creationId xmlns:a16="http://schemas.microsoft.com/office/drawing/2014/main" id="{9A5589FB-3ECB-6D19-BAFA-D706807C0508}"/>
                  </a:ext>
                </a:extLst>
              </p:cNvPr>
              <p:cNvSpPr/>
              <p:nvPr/>
            </p:nvSpPr>
            <p:spPr>
              <a:xfrm>
                <a:off x="393192" y="2397093"/>
                <a:ext cx="11402568" cy="1917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​</m:t>
                        </m:r>
                      </m:e>
                      <m:sub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段中间时刻速度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段中间时刻速度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，这两</a:t>
                </a:r>
              </a:p>
              <a:p>
                <a:pPr latinLnBrk="1">
                  <a:lnSpc>
                    <a:spcPts val="5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个时刻相隔时间为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,则匀减速运动的加速度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​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​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sub>
                        </m:sSub>
                      </m:num>
                      <m:den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代入，得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S.2_3#a030fba57?vcp=1&amp;pid=077c44939&amp;color=0,0,0&amp;vtp=1&amp;bbb=1&amp;hb=1">
                <a:extLst>
                  <a:ext uri="{FF2B5EF4-FFF2-40B4-BE49-F238E27FC236}">
                    <a16:creationId xmlns:a16="http://schemas.microsoft.com/office/drawing/2014/main" id="{9A5589FB-3ECB-6D19-BAFA-D706807C0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97093"/>
                <a:ext cx="11402568" cy="1917700"/>
              </a:xfrm>
              <a:prstGeom prst="rect">
                <a:avLst/>
              </a:prstGeom>
              <a:blipFill>
                <a:blip r:embed="rId2"/>
                <a:stretch>
                  <a:fillRect l="-1658" t="-317" r="-3797" b="-53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1508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3_1#23e32ae3c?vcp=1&amp;pid=077c44939&amp;color=0,0,0&amp;vtp=1&amp;bt=1&amp;bbb=1&amp;hb=1"/>
              <p:cNvSpPr/>
              <p:nvPr/>
            </p:nvSpPr>
            <p:spPr>
              <a:xfrm>
                <a:off x="393192" y="872141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一辆汽车沿平直的道路做匀减速直线运动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，前三分之二位移内的平均速度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,后三分之一位移内的平均速度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,那么汽车行驶到全程的前三分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之二位置处的瞬时速度大小为(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3_1#23e32ae3c?vcp=1&amp;pid=077c4493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72141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4_1#23e32ae3c.bracket?vcp=1&amp;pid=077c44939&amp;color=0,0,0&amp;vpa=1&amp;vtp=1"/>
          <p:cNvSpPr/>
          <p:nvPr/>
        </p:nvSpPr>
        <p:spPr>
          <a:xfrm>
            <a:off x="4588160" y="1978311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3_2#23e32ae3c.choices?vcp=1&amp;pid=077c44939&amp;color=0,0,0&amp;vtp=1&amp;bbb=1"/>
              <p:cNvSpPr/>
              <p:nvPr/>
            </p:nvSpPr>
            <p:spPr>
              <a:xfrm>
                <a:off x="393192" y="2521679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23027" algn="l"/>
                    <a:tab pos="5807954" algn="l"/>
                    <a:tab pos="869288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3_2#23e32ae3c.choices?vcp=1&amp;pid=077c4493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21679"/>
                <a:ext cx="11402568" cy="477330"/>
              </a:xfrm>
              <a:prstGeom prst="rect">
                <a:avLst/>
              </a:prstGeom>
              <a:blipFill>
                <a:blip r:embed="rId4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5_1#23e32ae3c?vcp=1&amp;pid=077c44939&amp;color=0,0,0&amp;vtp=1&amp;bbb=1&amp;hb=1"/>
              <p:cNvSpPr/>
              <p:nvPr/>
            </p:nvSpPr>
            <p:spPr>
              <a:xfrm>
                <a:off x="393192" y="3009931"/>
                <a:ext cx="11402568" cy="2993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由平均速度的定义可知前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、后两段所经历的时间之比为</a:t>
                </a:r>
              </a:p>
              <a:p>
                <a:pPr latinLnBrk="1">
                  <a:lnSpc>
                    <a:spcPts val="63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den>
                        </m:f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，可假设时间分别为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，由时间中点的瞬时速度等于平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均速度可知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时刻的速度分别为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，可得加速度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（即汽车行驶到全程的前三分之二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位置处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）的速度大小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5_1#23e32ae3c?vcp=1&amp;pid=077c4493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09931"/>
                <a:ext cx="11402568" cy="2993200"/>
              </a:xfrm>
              <a:prstGeom prst="rect">
                <a:avLst/>
              </a:prstGeom>
              <a:blipFill>
                <a:blip r:embed="rId5"/>
                <a:stretch>
                  <a:fillRect l="-1658" r="-321" b="-590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c40536f93?vcp=1&amp;pid=f068d9442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c40536f93?vcp=1&amp;pid=f068d9442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c40536f93?vcp=1&amp;pid=f068d9442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5" name="C_3_BD#c40536f93?vcp=1&amp;pid=f068d9442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匀变速直线运动中点位置的瞬时速度</a:t>
            </a:r>
            <a:endParaRPr lang="en-US" altLang="zh-CN" sz="2600" dirty="0"/>
          </a:p>
        </p:txBody>
      </p:sp>
      <p:pic>
        <p:nvPicPr>
          <p:cNvPr id="6" name="P_4_BD#a2377c577?htil=1&amp;vcp=1&amp;pid=c40536f93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15930" y="1010919"/>
            <a:ext cx="3566160" cy="104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P_4_BD#a2377c577?htil=1&amp;vcp=1&amp;pid=c40536f93&amp;color=0,0,0&amp;vtp=1&amp;bbb=1&amp;hb=1&amp;hs=1"/>
              <p:cNvSpPr/>
              <p:nvPr/>
            </p:nvSpPr>
            <p:spPr>
              <a:xfrm>
                <a:off x="393192" y="965200"/>
                <a:ext cx="7699248" cy="1612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1.匀变速直线运动中，位移中点的瞬时速度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与对应</a:t>
                </a:r>
              </a:p>
              <a:p>
                <a:pPr latinLnBrk="1">
                  <a:lnSpc>
                    <a:spcPts val="6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时间段内的初速度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、末速度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的关系式是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P_4_BD#a2377c577?htil=1&amp;vcp=1&amp;pid=c40536f9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7699248" cy="1612900"/>
              </a:xfrm>
              <a:prstGeom prst="rect">
                <a:avLst/>
              </a:prstGeom>
              <a:blipFill>
                <a:blip r:embed="rId5"/>
                <a:stretch>
                  <a:fillRect l="-2454" r="-238" b="-226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P_4_BD#a2377c577?htil=1&amp;vcp=1&amp;pid=c40536f93&amp;color=0,0,0&amp;vtp=1&amp;bbb=1&amp;hb=1&amp;hs=1">
                <a:extLst>
                  <a:ext uri="{FF2B5EF4-FFF2-40B4-BE49-F238E27FC236}">
                    <a16:creationId xmlns:a16="http://schemas.microsoft.com/office/drawing/2014/main" id="{5BAE5D70-0487-843E-759B-A9F1829E2D9B}"/>
                  </a:ext>
                </a:extLst>
              </p:cNvPr>
              <p:cNvSpPr/>
              <p:nvPr/>
            </p:nvSpPr>
            <p:spPr>
              <a:xfrm>
                <a:off x="395996" y="2566543"/>
                <a:ext cx="11400008" cy="1485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.推导：对前一半位移有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,对后一半位</a:t>
                </a:r>
              </a:p>
              <a:p>
                <a:pPr latinLnBrk="1">
                  <a:lnSpc>
                    <a:spcPts val="6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b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,两式联立可得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b="0" i="0">
                                    <a:solidFill>
                                      <a:srgbClr val="00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P_4_BD#a2377c577?htil=1&amp;vcp=1&amp;pid=c40536f93&amp;color=0,0,0&amp;vtp=1&amp;bbb=1&amp;hb=1&amp;hs=1">
                <a:extLst>
                  <a:ext uri="{FF2B5EF4-FFF2-40B4-BE49-F238E27FC236}">
                    <a16:creationId xmlns:a16="http://schemas.microsoft.com/office/drawing/2014/main" id="{5BAE5D70-0487-843E-759B-A9F1829E2D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2566543"/>
                <a:ext cx="11400008" cy="1485900"/>
              </a:xfrm>
              <a:prstGeom prst="rect">
                <a:avLst/>
              </a:prstGeom>
              <a:blipFill>
                <a:blip r:embed="rId6"/>
                <a:stretch>
                  <a:fillRect l="-1658" b="-16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4_BD#a2377c577?htil=2&amp;vcp=1&amp;pid=c40536f93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94854" y="1469549"/>
            <a:ext cx="4026678" cy="2157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P_4_BD#a2377c577?htil=2&amp;vcp=1&amp;pid=c40536f93&amp;color=0,0,0&amp;vtp=1&amp;bt=1&amp;bbb=1&amp;hb=1&amp;hs=1"/>
              <p:cNvSpPr/>
              <p:nvPr/>
            </p:nvSpPr>
            <p:spPr>
              <a:xfrm>
                <a:off x="393192" y="1482249"/>
                <a:ext cx="7187184" cy="21890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3.说明：不论是匀加速还是匀减速直线运动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.总有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,除进行定量计算证明外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，还可以由图像法加以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证明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图像中，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图线与时间轴围成的面积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P_4_BD#a2377c577?htil=2&amp;vcp=1&amp;pid=c40536f93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82249"/>
                <a:ext cx="7187184" cy="2189099"/>
              </a:xfrm>
              <a:prstGeom prst="rect">
                <a:avLst/>
              </a:prstGeom>
              <a:blipFill>
                <a:blip r:embed="rId4"/>
                <a:stretch>
                  <a:fillRect l="-2629" r="-2120" b="-863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4_BD#a2377c577?htil=2&amp;vcp=1&amp;pid=c40536f93&amp;color=0,0,0&amp;vtp=1&amp;bt=1&amp;bbb=1&amp;hb=1&amp;hs=1">
                <a:extLst>
                  <a:ext uri="{FF2B5EF4-FFF2-40B4-BE49-F238E27FC236}">
                    <a16:creationId xmlns:a16="http://schemas.microsoft.com/office/drawing/2014/main" id="{6612CFB3-DC27-D51E-9629-5F746AC2480C}"/>
                  </a:ext>
                </a:extLst>
              </p:cNvPr>
              <p:cNvSpPr/>
              <p:nvPr/>
            </p:nvSpPr>
            <p:spPr>
              <a:xfrm>
                <a:off x="395996" y="3665443"/>
                <a:ext cx="11400008" cy="175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大小表示位移大小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.当物体做匀加速直线运动时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，由图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;当物体做匀减速直线运动时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，由图乙可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.所以当物体做匀变速直线运动时，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𝑡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P_4_BD#a2377c577?htil=2&amp;vcp=1&amp;pid=c40536f93&amp;color=0,0,0&amp;vtp=1&amp;bt=1&amp;bbb=1&amp;hb=1&amp;hs=1">
                <a:extLst>
                  <a:ext uri="{FF2B5EF4-FFF2-40B4-BE49-F238E27FC236}">
                    <a16:creationId xmlns:a16="http://schemas.microsoft.com/office/drawing/2014/main" id="{6612CFB3-DC27-D51E-9629-5F746AC248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665443"/>
                <a:ext cx="11400008" cy="1752600"/>
              </a:xfrm>
              <a:prstGeom prst="rect">
                <a:avLst/>
              </a:prstGeom>
              <a:blipFill>
                <a:blip r:embed="rId5"/>
                <a:stretch>
                  <a:fillRect l="-1658" b="-277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6_1#45f20d6ed?vcp=1&amp;pid=c40536f93&amp;color=0,0,0&amp;vtp=1&amp;bt=1&amp;bbb=1&amp;hb=1"/>
              <p:cNvSpPr/>
              <p:nvPr/>
            </p:nvSpPr>
            <p:spPr>
              <a:xfrm>
                <a:off x="393192" y="1478598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（体育竞技）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一滑雪运动员从长度为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的山坡顶端由静止开始沿直线匀加速滑至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山脚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，经历的时间为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则下列说法不正确的是(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6_1#45f20d6ed?vcp=1&amp;pid=c40536f9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78598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7_1#45f20d6ed.bracket?vcp=1&amp;pid=c40536f93&amp;color=0,0,0&amp;vpa=2&amp;vtp=1"/>
          <p:cNvSpPr/>
          <p:nvPr/>
        </p:nvSpPr>
        <p:spPr>
          <a:xfrm>
            <a:off x="6633941" y="2025968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6_2#45f20d6ed.choices?vcp=1&amp;pid=c40536f93&amp;color=0,0,0&amp;vtp=1&amp;bbb=1"/>
              <p:cNvSpPr/>
              <p:nvPr/>
            </p:nvSpPr>
            <p:spPr>
              <a:xfrm>
                <a:off x="393192" y="2512123"/>
                <a:ext cx="11402568" cy="257460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A.运动员运动全过程中的平均速度是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时刻的瞬时速度是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.运动员运动到山坡中点时的瞬时速度是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e>
                        </m:rad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.运动员从山顶运动到山坡中点所需的时间是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e>
                        </m:rad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6_2#45f20d6ed.choices?vcp=1&amp;pid=c40536f9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12123"/>
                <a:ext cx="11402568" cy="2574608"/>
              </a:xfrm>
              <a:prstGeom prst="rect">
                <a:avLst/>
              </a:prstGeom>
              <a:blipFill>
                <a:blip r:embed="rId4"/>
                <a:stretch>
                  <a:fillRect l="-1658" b="-42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8_1#45f20d6ed?vcp=1&amp;pid=c40536f93&amp;color=0,0,0&amp;vtp=1&amp;bt=1&amp;bbb=1&amp;hb=1"/>
              <p:cNvSpPr/>
              <p:nvPr/>
            </p:nvSpPr>
            <p:spPr>
              <a:xfrm>
                <a:off x="393192" y="1920113"/>
                <a:ext cx="11402568" cy="280752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运动员全过程中的平均速度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，A正确；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时刻运动员的瞬时速度等于全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过程的平均速度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，B错误；设运动员的末速度为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,运动员运动</a:t>
                </a:r>
              </a:p>
              <a:p>
                <a:pPr latinLnBrk="1">
                  <a:lnSpc>
                    <a:spcPts val="8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到山坡中点时的瞬时速度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en-US" altLang="zh-CN" sz="2400" b="1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微软雅黑" pitchFamily="34" charset="-122"/>
                                        <a:cs typeface="Times New Roman" pitchFamily="34" charset="-12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1" i="1">
                                        <a:solidFill>
                                          <a:srgbClr val="FF0000"/>
                                        </a:solidFill>
                                        <a:latin typeface="Cambria Math" pitchFamily="34" charset="0"/>
                                        <a:ea typeface="Cambria Math" pitchFamily="34" charset="-122"/>
                                        <a:cs typeface="Cambria Math" pitchFamily="34" charset="-120"/>
                                      </a:rPr>
                                      <m:t>𝟐</m:t>
                                    </m:r>
                                    <m:r>
                                      <a:rPr lang="en-US" altLang="zh-CN" sz="2400" b="1" i="1">
                                        <a:solidFill>
                                          <a:srgbClr val="FF0000"/>
                                        </a:solidFill>
                                        <a:latin typeface="Cambria Math" pitchFamily="34" charset="0"/>
                                        <a:ea typeface="Cambria Math" pitchFamily="34" charset="-122"/>
                                        <a:cs typeface="Cambria Math" pitchFamily="34" charset="-120"/>
                                      </a:rPr>
                                      <m:t>𝑳</m:t>
                                    </m:r>
                                  </m:num>
                                  <m:den>
                                    <m:r>
                                      <a:rPr lang="en-US" altLang="zh-CN" sz="2400" b="1" i="1">
                                        <a:solidFill>
                                          <a:srgbClr val="FF0000"/>
                                        </a:solidFill>
                                        <a:latin typeface="Cambria Math" pitchFamily="34" charset="0"/>
                                        <a:ea typeface="Cambria Math" pitchFamily="34" charset="-122"/>
                                        <a:cs typeface="Cambria Math" pitchFamily="34" charset="-120"/>
                                      </a:rPr>
                                      <m:t>𝒕</m:t>
                                    </m:r>
                                  </m:den>
                                </m:f>
                                <m:r>
                                  <a:rPr lang="en-US" altLang="zh-CN" sz="2400" b="1" i="0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,C正确；设运动员的加速度为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,到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达山坡中点用时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8_1#45f20d6ed?vcp=1&amp;pid=c40536f9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20113"/>
                <a:ext cx="11402568" cy="2807526"/>
              </a:xfrm>
              <a:prstGeom prst="rect">
                <a:avLst/>
              </a:prstGeom>
              <a:blipFill>
                <a:blip r:embed="rId3"/>
                <a:stretch>
                  <a:fillRect l="-1658" r="-1551" b="-347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9_1#e6501e092?vcp=1&amp;pid=c40536f93&amp;color=0,0,0&amp;vtp=1&amp;bt=1&amp;bbb=1&amp;hb=1"/>
              <p:cNvSpPr/>
              <p:nvPr/>
            </p:nvSpPr>
            <p:spPr>
              <a:xfrm>
                <a:off x="393192" y="80279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一个做匀减速直线运动的物体，先后经过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两点时的速度大小分别是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,所用时间为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9_1#e6501e092?vcp=1&amp;pid=c40536f9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02799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802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0_1#e6501e092.bracket?vcp=1&amp;pid=c40536f93&amp;color=0,0,0&amp;vpa=3&amp;vtp=1"/>
          <p:cNvSpPr/>
          <p:nvPr/>
        </p:nvSpPr>
        <p:spPr>
          <a:xfrm>
            <a:off x="5347493" y="135016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9_2#e6501e092.choices?vcp=1&amp;pid=c40536f93&amp;color=0,0,0&amp;vtp=1&amp;bbb=1"/>
              <p:cNvSpPr/>
              <p:nvPr/>
            </p:nvSpPr>
            <p:spPr>
              <a:xfrm>
                <a:off x="393192" y="1836324"/>
                <a:ext cx="11402568" cy="147758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2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A.物体的加速度大小为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中点时的速率是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17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9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时刻的速率是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.物体在这段时间内的位移为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2.5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9_2#e6501e092.choices?vcp=1&amp;pid=c40536f9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36324"/>
                <a:ext cx="11402568" cy="1477582"/>
              </a:xfrm>
              <a:prstGeom prst="rect">
                <a:avLst/>
              </a:prstGeom>
              <a:blipFill>
                <a:blip r:embed="rId4"/>
                <a:stretch>
                  <a:fillRect l="-1658" b="-69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1_1#e6501e092?vcp=1&amp;pid=c40536f93&amp;color=0,0,0&amp;vtp=1&amp;bbb=1&amp;hb=1"/>
              <p:cNvSpPr/>
              <p:nvPr/>
            </p:nvSpPr>
            <p:spPr>
              <a:xfrm>
                <a:off x="393192" y="3320764"/>
                <a:ext cx="11402568" cy="2510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物体的加速度大小为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|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|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；由位移中点速度公式可知物体经</a:t>
                </a:r>
              </a:p>
              <a:p>
                <a:pPr latinLnBrk="1">
                  <a:lnSpc>
                    <a:spcPts val="6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中点时的速率为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𝟏𝟔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𝒗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𝟏𝟕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</m:e>
                    </m:rad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；由中间时刻速度公式可知物体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时刻的速率为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″=</m:t>
                    </m:r>
                    <m:bar>
                      <m:barPr>
                        <m:pos m:val="top"/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；物体在这段时间内的位移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1_1#e6501e092?vcp=1&amp;pid=c40536f9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20764"/>
                <a:ext cx="11402568" cy="2510600"/>
              </a:xfrm>
              <a:prstGeom prst="rect">
                <a:avLst/>
              </a:prstGeom>
              <a:blipFill>
                <a:blip r:embed="rId5"/>
                <a:stretch>
                  <a:fillRect l="-1658" r="-1337" b="-70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44ed446f3?vcp=1&amp;pid=f068d9442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44ed446f3?vcp=1&amp;pid=f068d9442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44ed446f3?vcp=1&amp;pid=f068d9442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5" name="C_3_BD#44ed446f3?vcp=1&amp;pid=f068d9442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初速度为0的匀加速直线运动的比例式推论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P_4_BD#f97786dd5?colgroup=1,11,16,4&amp;vcp=1&amp;pid=44ed446f3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0391764"/>
                  </p:ext>
                </p:extLst>
              </p:nvPr>
            </p:nvGraphicFramePr>
            <p:xfrm>
              <a:off x="393192" y="1092200"/>
              <a:ext cx="11365992" cy="5234051"/>
            </p:xfrm>
            <a:graphic>
              <a:graphicData uri="http://schemas.openxmlformats.org/drawingml/2006/table">
                <a:tbl>
                  <a:tblPr/>
                  <a:tblGrid>
                    <a:gridCol w="7406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9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943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819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比例名称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推导思路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344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等</a:t>
                          </a:r>
                        </a:p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</a:t>
                          </a:r>
                        </a:p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末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末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3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末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𝑛𝑇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末的瞬时速度之比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:⋯: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=1:2:3:⋯: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由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𝑣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𝑎𝑡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直接导出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645793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3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…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𝑛𝑇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内的位移之比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:⋯: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:⋯: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由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直接导出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21281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第1个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第2个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第3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个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第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个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𝑇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内的位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移之比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latinLnBrk="1" hangingPunct="0">
                            <a:lnSpc>
                              <a:spcPts val="36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Ⅰ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Ⅱ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Ⅲ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:⋯: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=1:3:5:⋯:(2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𝑛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−1</m:t>
                              </m:r>
                              <m:r>
                                <m:rPr>
                                  <m:nor/>
                                </m:rPr>
                                <a:rPr kumimoji="0" lang="en-US" altLang="zh-CN" sz="2400" b="0" i="0" u="none" strike="noStrike" kern="1200" cap="none" spc="-10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③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由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</m:t>
                              </m:r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并结合数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列导出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P_4_BD#f97786dd5?colgroup=1,11,16,4&amp;vcp=1&amp;pid=44ed446f3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0391764"/>
                  </p:ext>
                </p:extLst>
              </p:nvPr>
            </p:nvGraphicFramePr>
            <p:xfrm>
              <a:off x="393192" y="1092200"/>
              <a:ext cx="11365992" cy="5234051"/>
            </p:xfrm>
            <a:graphic>
              <a:graphicData uri="http://schemas.openxmlformats.org/drawingml/2006/table">
                <a:tbl>
                  <a:tblPr/>
                  <a:tblGrid>
                    <a:gridCol w="7406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490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29437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8191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比例名称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推导思路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344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等</a:t>
                          </a:r>
                        </a:p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分</a:t>
                          </a:r>
                        </a:p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" t="-51875" r="-183740" b="-39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5023" t="-51875" r="-30184" b="-39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692" t="-51875" r="-769" b="-39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645793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" t="-90000" r="-183740" b="-13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5023" t="-90000" r="-30184" b="-13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692" t="-90000" r="-769" b="-13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121281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" t="-147414" r="-183740" b="-2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5023" t="-147414" r="-30184" b="-2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7692" t="-147414" r="-769" b="-2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P_4_BD#f97786dd5?colgroup=2,12,16,4&amp;vcp=1&amp;pid=44ed446f3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4968201"/>
                  </p:ext>
                </p:extLst>
              </p:nvPr>
            </p:nvGraphicFramePr>
            <p:xfrm>
              <a:off x="393192" y="1065339"/>
              <a:ext cx="11365992" cy="5313936"/>
            </p:xfrm>
            <a:graphic>
              <a:graphicData uri="http://schemas.openxmlformats.org/drawingml/2006/table">
                <a:tbl>
                  <a:tblPr/>
                  <a:tblGrid>
                    <a:gridCol w="7589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404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29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3677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990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比例名称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推导思路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39736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等分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通过前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前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3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𝑛𝑥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的位移时的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速度之比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41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Ⅰ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Ⅱ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Ⅲ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:⋯: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=1: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:⋯: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𝑛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④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由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=2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𝑎𝑥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直接导出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5624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通过前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前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3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𝑛𝑥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的位移所用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的时间之比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9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:⋯: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=1: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:⋯: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𝑛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⑤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6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由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直接导出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28051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通过连续相等的位移所用的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l" latinLnBrk="1" hangingPunct="0">
                            <a:lnSpc>
                              <a:spcPts val="40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Ⅰ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Ⅱ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Ⅲ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:⋯: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=1:(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−1):(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):⋯:(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𝑁</m:t>
                                  </m:r>
                                </m:e>
                              </m:rad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𝑁</m:t>
                                  </m:r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−1</m:t>
                                  </m:r>
                                </m:e>
                              </m:rad>
                              <m:r>
                                <a:rPr lang="en-US" altLang="zh-CN" sz="2400" b="0" i="0" spc="-100" smtClean="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⑥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6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由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2400" b="0" i="1" spc="-100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微软雅黑" pitchFamily="34" charset="-122"/>
                                          <a:cs typeface="Times New Roman" pitchFamily="34" charset="-12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2</m:t>
                                      </m:r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r>
                                        <a:rPr lang="en-US" altLang="zh-CN" sz="2400" b="0" i="0" spc="-100">
                                          <a:solidFill>
                                            <a:srgbClr val="000000"/>
                                          </a:solidFill>
                                          <a:latin typeface="Cambria Math" pitchFamily="34" charset="0"/>
                                          <a:ea typeface="Cambria Math" pitchFamily="34" charset="-122"/>
                                          <a:cs typeface="Cambria Math" pitchFamily="34" charset="-120"/>
                                        </a:rPr>
                                        <m:t>𝑎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并结合数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列导出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P_4_BD#f97786dd5?colgroup=2,12,16,4&amp;vcp=1&amp;pid=44ed446f3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4968201"/>
                  </p:ext>
                </p:extLst>
              </p:nvPr>
            </p:nvGraphicFramePr>
            <p:xfrm>
              <a:off x="393192" y="1065339"/>
              <a:ext cx="11365992" cy="5313936"/>
            </p:xfrm>
            <a:graphic>
              <a:graphicData uri="http://schemas.openxmlformats.org/drawingml/2006/table">
                <a:tbl>
                  <a:tblPr/>
                  <a:tblGrid>
                    <a:gridCol w="7589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404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297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3677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990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比例名称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关系式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推导思路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39736">
                    <a:tc rowSpan="3"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等分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" t="-34177" r="-176508" b="-2400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893" t="-34177" r="-32224" b="-2400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3680" t="-34177" r="-743" b="-2400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456246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" t="-133054" r="-176508" b="-138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893" t="-133054" r="-32224" b="-138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3680" t="-133054" r="-743" b="-138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28051">
                    <a:tc v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通过连续相等的位移所用的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时间之比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9893" t="-175710" r="-32224" b="-4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93680" t="-175710" r="-743" b="-41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4_BD#f97786dd5?colgroup=2,12,16,4&amp;vcp=1&amp;pid=44ed446f3&amp;color=0,0,0&amp;mp=1&amp;vtp=1&amp;bt=1&amp;bbb=1">
            <a:extLst>
              <a:ext uri="{FF2B5EF4-FFF2-40B4-BE49-F238E27FC236}">
                <a16:creationId xmlns:a16="http://schemas.microsoft.com/office/drawing/2014/main" id="{FC843FBC-BBF0-5B86-E940-AC55DAB08E58}"/>
              </a:ext>
            </a:extLst>
          </p:cNvPr>
          <p:cNvSpPr txBox="1"/>
          <p:nvPr/>
        </p:nvSpPr>
        <p:spPr>
          <a:xfrm>
            <a:off x="11143632" y="502923"/>
            <a:ext cx="615553" cy="44550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37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4_BD#f97786dd5?vcp=1&amp;pid=44ed446f3&amp;color=0,0,0&amp;vtp=1&amp;bt=1&amp;bbb=1&amp;hb=1"/>
              <p:cNvSpPr/>
              <p:nvPr/>
            </p:nvSpPr>
            <p:spPr>
              <a:xfrm>
                <a:off x="393192" y="1254157"/>
                <a:ext cx="11402568" cy="4393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方法技巧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.表中比例式只适用于初速度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的匀加速直线运动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.对于做匀减速且速度一直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0的运动，可采用逆向思维分析，将其等效看成反向的初速度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的匀加速运动，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也可用此比例式.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.应用比例式时，可任意从比例中取出两个或一部分比例进行应用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，但比例顺序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要对应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，不能颠倒,比例数值不能改变.如在初速度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的匀加速直线运动中，第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内和第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内的位移之比，可从比例式中挑出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19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=3:37(3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和37可由通项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导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=19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时代入求得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.其他比例式的用法与此相同.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#1.1.2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4_BD#f97786dd5?vcp=1&amp;pid=44ed44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54157"/>
                <a:ext cx="11402568" cy="4393502"/>
              </a:xfrm>
              <a:prstGeom prst="rect">
                <a:avLst/>
              </a:prstGeom>
              <a:blipFill>
                <a:blip r:embed="rId3"/>
                <a:stretch>
                  <a:fillRect l="-1658" r="-4118" b="-430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12_1#716c812be?vcp=1&amp;pid=44ed446f3&amp;color=0,0,0&amp;vtp=1&amp;bt=1&amp;bbb=1&amp;hb=1"/>
              <p:cNvSpPr/>
              <p:nvPr/>
            </p:nvSpPr>
            <p:spPr>
              <a:xfrm>
                <a:off x="393192" y="2635345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（经典模型）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一列车由等长的车厢连接而成，车厢之间的间隙忽略不计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，一人站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在站台上与第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1节车厢的最前端相齐.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当列车由静止开始做匀加速直线运动时开始计时，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测得第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1节车厢通过他的时间为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，则从第5节到第16节车厢通过他的时间为多少？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12_1#716c812be?vcp=1&amp;pid=44ed44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5345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2567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S.13_1#716c812be?vcp=1&amp;pid=44ed446f3&amp;color=0,0,0&amp;vtp=1&amp;bt=1&amp;bbb=1&amp;hb=1"/>
              <p:cNvSpPr/>
              <p:nvPr/>
            </p:nvSpPr>
            <p:spPr>
              <a:xfrm>
                <a:off x="393192" y="921258"/>
                <a:ext cx="11402568" cy="502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本题若以列车为研究对象，由于列车不能简化为质点，不便于分析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，故以列车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为参考系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，把列车的运动转化为人的运动.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通过连续相等的位移所用的时间之比为</a:t>
                </a:r>
              </a:p>
              <a:p>
                <a:pPr latinLnBrk="1">
                  <a:lnSpc>
                    <a:spcPts val="48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):⋯:(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e>
                    </m:rad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𝟏𝟔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𝟏𝟓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𝟏𝟓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𝟏𝟒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+⋯+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𝟓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e>
                        </m:rad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𝟏𝟔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e>
                        </m:rad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.所以所求时间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设每节车厢长为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,则人通过第1节车厢的时间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𝒍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.人通过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4节车厢的时间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𝒍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×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.人通过前16节车厢的时间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𝟏𝟔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𝒍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×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𝟏𝟔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.故所求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𝟏𝟔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S.13_1#716c812be?vcp=1&amp;pid=44ed44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21258"/>
                <a:ext cx="11402568" cy="5025200"/>
              </a:xfrm>
              <a:prstGeom prst="rect">
                <a:avLst/>
              </a:prstGeom>
              <a:blipFill>
                <a:blip r:embed="rId3"/>
                <a:stretch>
                  <a:fillRect l="-1658" r="-1390" b="-36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4_1#333f87de6?vcp=1&amp;pid=44ed446f3&amp;color=0,0,0&amp;vtp=1&amp;bt=1&amp;bbb=1&amp;hb=1"/>
              <p:cNvSpPr/>
              <p:nvPr/>
            </p:nvSpPr>
            <p:spPr>
              <a:xfrm>
                <a:off x="393192" y="785623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（逆向思维法）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（2026·湖北武汉武钢三中检测）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，在水平面上固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定着四个完全相同的木块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，一颗子弹以水平速度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射入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.若子弹在木块中做匀减速直线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，当穿透第四个木块（即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位置）时速度恰好为0，子弹可视为质点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，下列说法正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4_1#333f87de6?vcp=1&amp;pid=44ed44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85623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12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5_1#333f87de6.bracket?vcp=1&amp;pid=44ed446f3&amp;color=0,0,0&amp;vpa=4&amp;vtp=1"/>
          <p:cNvSpPr/>
          <p:nvPr/>
        </p:nvSpPr>
        <p:spPr>
          <a:xfrm>
            <a:off x="1540161" y="245059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4_2#333f87de6?vcp=1&amp;pid=44ed446f3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90872" y="3052318"/>
            <a:ext cx="2807208" cy="676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4_3#333f87de6.choices?vcp=1&amp;pid=44ed446f3&amp;color=0,0,0&amp;vtp=1&amp;bbb=1"/>
              <p:cNvSpPr/>
              <p:nvPr/>
            </p:nvSpPr>
            <p:spPr>
              <a:xfrm>
                <a:off x="393192" y="3865118"/>
                <a:ext cx="11402568" cy="21957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A.子弹通过每一个木块时，其速度变化量均相同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.子弹到达各点的速率之比为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=4:3:2:1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.子弹从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𝐷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点全过程的平均速度大小等于到达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点的瞬时速度大小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.子弹通过各个木块所经历的时间之比为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𝑂𝐴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𝐴𝐵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𝐵𝐶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𝐶𝐷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=1: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:2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4_3#333f87de6.choices?vcp=1&amp;pid=44ed446f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65118"/>
                <a:ext cx="11402568" cy="2195703"/>
              </a:xfrm>
              <a:prstGeom prst="rect">
                <a:avLst/>
              </a:prstGeom>
              <a:blipFill>
                <a:blip r:embed="rId5"/>
                <a:stretch>
                  <a:fillRect l="-1658" b="-861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6_1#333f87de6?vcp=1&amp;pid=44ed446f3&amp;color=0,0,0&amp;vtp=1&amp;bt=1&amp;bbb=1&amp;hb=1"/>
              <p:cNvSpPr/>
              <p:nvPr/>
            </p:nvSpPr>
            <p:spPr>
              <a:xfrm>
                <a:off x="393192" y="938181"/>
                <a:ext cx="11402568" cy="48087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由于子弹的速度越来越小，故穿过每一块木块的时间不相等，根据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，速度的变化量不相等，A错误；将子弹的运动反向视为初速度为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0的匀加速直线运</a:t>
                </a:r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可知，子弹通过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各点的速度之比为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，即子</a:t>
                </a:r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弹到达各点的速率之比为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；根据匀变速直线运动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的推论有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，可知子弹从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点运动到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𝑫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点全过程的平均速度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正确；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将子弹的运动视为反向初速度为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0的匀加速直线运动，则由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，反向通过</a:t>
                </a:r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各木块用时之比为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，则子弹从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点进入后通过各个木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块所经历的时间之比为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𝑨𝑩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𝑪𝑫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6_1#333f87de6?vcp=1&amp;pid=44ed446f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38181"/>
                <a:ext cx="11402568" cy="4808728"/>
              </a:xfrm>
              <a:prstGeom prst="rect">
                <a:avLst/>
              </a:prstGeom>
              <a:blipFill>
                <a:blip r:embed="rId3"/>
                <a:stretch>
                  <a:fillRect l="-1658" r="-2299" b="-367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1391</Words>
  <Application>Microsoft Office PowerPoint</Application>
  <PresentationFormat>宽屏</PresentationFormat>
  <Paragraphs>182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2026-05-25T08:31:02Z</dcterms:created>
  <dcterms:modified xsi:type="dcterms:W3CDTF">2026-05-25T08:32:45Z</dcterms:modified>
  <cp:category/>
  <cp:contentStatus/>
</cp:coreProperties>
</file>