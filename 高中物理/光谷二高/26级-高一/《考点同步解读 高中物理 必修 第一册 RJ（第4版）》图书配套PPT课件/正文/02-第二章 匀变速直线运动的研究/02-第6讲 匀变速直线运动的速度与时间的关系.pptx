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81" r:id="rId25"/>
    <p:sldId id="282" r:id="rId26"/>
    <p:sldId id="283" r:id="rId27"/>
    <p:sldId id="284" r:id="rId28"/>
    <p:sldId id="286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0129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9b2d2ba91f04ee84#tid=6a13c062736a60ac3496b213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97d6e0ca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第6讲 匀变速直线运动的速度与时间的关系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97d6e0cac.fixed?vcp=1&amp;pid=efd683a83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匀变速直线运动的研究</a:t>
            </a:r>
            <a:endParaRPr lang="en-US" altLang="zh-CN" sz="4800" dirty="0"/>
          </a:p>
        </p:txBody>
      </p:sp>
      <p:sp>
        <p:nvSpPr>
          <p:cNvPr id="3" name="C_2_BD#97d6e0cac.fixed?vcp=1&amp;pid=efd683a83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第6讲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匀变速直线运动的速度与时间的关系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1#目录1:97d6e0cac?lid=51b6f9d60&amp;cid=51b6f9d60&amp;vtp=1&amp;bt=1&amp;bbb=1">
            <a:hlinkClick r:id="rId3" action="ppaction://hlinksldjump"/>
          </p:cNvPr>
          <p:cNvSpPr/>
          <p:nvPr/>
        </p:nvSpPr>
        <p:spPr>
          <a:xfrm>
            <a:off x="5577840" y="2587752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高考要求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学业标准·考情分析</a:t>
            </a:r>
            <a:endParaRPr lang="en-US" altLang="zh-CN" sz="3200" dirty="0"/>
          </a:p>
        </p:txBody>
      </p:sp>
      <p:sp>
        <p:nvSpPr>
          <p:cNvPr id="3" name="C_1#目录1:97d6e0cac?lid=57dac5f99&amp;cid=57dac5f99&amp;vtp=1&amp;bbb=1">
            <a:hlinkClick r:id="rId4" action="ppaction://hlinksldjump"/>
          </p:cNvPr>
          <p:cNvSpPr/>
          <p:nvPr/>
        </p:nvSpPr>
        <p:spPr>
          <a:xfrm>
            <a:off x="5577840" y="3419856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考点分类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考点透析·典例剖析</a:t>
            </a:r>
            <a:endParaRPr lang="en-US" altLang="zh-CN" sz="3200" dirty="0"/>
          </a:p>
        </p:txBody>
      </p:sp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_BD#51b6f9d60?vcp=1&amp;pid=97d6e0cac&amp;color=0,112,192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P_4_BD#7d5c0809c?colgroup=20,2,12&amp;vcp=1&amp;pid=51b6f9d60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4822664"/>
                  </p:ext>
                </p:extLst>
              </p:nvPr>
            </p:nvGraphicFramePr>
            <p:xfrm>
              <a:off x="393192" y="1181100"/>
              <a:ext cx="11365992" cy="3928364"/>
            </p:xfrm>
            <a:graphic>
              <a:graphicData uri="http://schemas.openxmlformats.org/drawingml/2006/table">
                <a:tbl>
                  <a:tblPr/>
                  <a:tblGrid>
                    <a:gridCol w="62636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966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1056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97434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考点分析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核心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素养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知识图解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05332"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1.匀变速直线运动的定义及判断.（★）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观念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ct val="150000"/>
                            </a:lnSpc>
                          </a:pPr>
                          <a:endParaRPr lang="en-US" altLang="zh-CN" sz="900" spc="0" dirty="0"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74344"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2.匀变速直线运动公式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+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的含义及其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实际应用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.（★★★）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观念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74344"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3.匀变速直线运动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图像信息的判读及应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用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.（★★★★★）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科学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思维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P_4_BD#7d5c0809c?colgroup=20,2,12&amp;vcp=1&amp;pid=51b6f9d60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4822664"/>
                  </p:ext>
                </p:extLst>
              </p:nvPr>
            </p:nvGraphicFramePr>
            <p:xfrm>
              <a:off x="393192" y="1181100"/>
              <a:ext cx="11365992" cy="3928364"/>
            </p:xfrm>
            <a:graphic>
              <a:graphicData uri="http://schemas.openxmlformats.org/drawingml/2006/table">
                <a:tbl>
                  <a:tblPr/>
                  <a:tblGrid>
                    <a:gridCol w="62636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966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1056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97434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考点分析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核心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素养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知识图解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05332"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1.匀变速直线运动的定义及判断.（★）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观念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ct val="150000"/>
                            </a:lnSpc>
                          </a:pPr>
                          <a:endParaRPr lang="en-US" altLang="zh-CN" sz="900" spc="0" dirty="0"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7434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7" t="-204375" r="-81615" b="-1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观念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7434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7" t="-304375" r="-81615" b="-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科学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思维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_4_BD#7d5c0809c.table_image?tii=1&amp;vcp=1&amp;pid=51b6f9d60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49540" y="2480310"/>
            <a:ext cx="3913632" cy="2304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_BD#57dac5f99?vcp=1&amp;pid=97d6e0cac&amp;color=0,112,192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p:pic>
        <p:nvPicPr>
          <p:cNvPr id="3" name="C_4#38abf6c68?vcp=1&amp;pid=57dac5f99&amp;color=0,0,0&amp;tib=255,255,255&amp;vtp=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181100"/>
            <a:ext cx="11320272" cy="457200"/>
          </a:xfrm>
          <a:prstGeom prst="rect">
            <a:avLst/>
          </a:prstGeom>
        </p:spPr>
      </p:pic>
      <p:sp>
        <p:nvSpPr>
          <p:cNvPr id="4" name="C_4_BD#38abf6c68?vcp=1&amp;pid=57dac5f99&amp;color=255,255,255&amp;vtp=1"/>
          <p:cNvSpPr/>
          <p:nvPr/>
        </p:nvSpPr>
        <p:spPr>
          <a:xfrm>
            <a:off x="1225296" y="118110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en-US" altLang="zh-CN" sz="2800" dirty="0"/>
          </a:p>
        </p:txBody>
      </p:sp>
      <p:sp>
        <p:nvSpPr>
          <p:cNvPr id="5" name="C_4_BD#38abf6c68?vcp=1&amp;pid=57dac5f99&amp;color=0,0,0&amp;vtp=1&amp;bbb=1"/>
          <p:cNvSpPr/>
          <p:nvPr/>
        </p:nvSpPr>
        <p:spPr>
          <a:xfrm>
            <a:off x="1837944" y="118110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匀变速直线运动的定义及判断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回归教材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P_5_BD#1640927ad?vcp=1&amp;pid=38abf6c68&amp;color=0,0,0&amp;vtp=1&amp;bbb=1"/>
              <p:cNvSpPr/>
              <p:nvPr/>
            </p:nvSpPr>
            <p:spPr>
              <a:xfrm>
                <a:off x="393192" y="1778000"/>
                <a:ext cx="11402568" cy="3352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.定义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沿着一条直线且加速度不变的运动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，叫作匀变速直线运动.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.特点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1）任意相等时间内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相等，速度均匀变化.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常量，即加速度恒定不变.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P_5_BD#1640927ad?vcp=1&amp;pid=38abf6c68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78000"/>
                <a:ext cx="11402568" cy="3352800"/>
              </a:xfrm>
              <a:prstGeom prst="rect">
                <a:avLst/>
              </a:prstGeom>
              <a:blipFill>
                <a:blip r:embed="rId5"/>
                <a:stretch>
                  <a:fillRect b="-309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1640927ad?vcp=1&amp;pid=38abf6c68&amp;color=0,0,0&amp;vtp=1&amp;bt=1&amp;bbb=1"/>
          <p:cNvSpPr/>
          <p:nvPr/>
        </p:nvSpPr>
        <p:spPr>
          <a:xfrm>
            <a:off x="393192" y="2127060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3.两类匀变速直线运动的特点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P_5_BD#1640927ad?colgroup=8,11,15&amp;vcp=1&amp;pid=38abf6c68&amp;color=0,0,0&amp;vtp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2457425"/>
                  </p:ext>
                </p:extLst>
              </p:nvPr>
            </p:nvGraphicFramePr>
            <p:xfrm>
              <a:off x="393192" y="2739834"/>
              <a:ext cx="11356848" cy="1989201"/>
            </p:xfrm>
            <a:graphic>
              <a:graphicData uri="http://schemas.openxmlformats.org/drawingml/2006/table">
                <a:tbl>
                  <a:tblPr/>
                  <a:tblGrid>
                    <a:gridCol w="28254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490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78231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0"/>
                            </a:lnSpc>
                          </a:pP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匀加速直线运动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匀减速直线运动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特点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同向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反向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速度大小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增大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减小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举例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汽车加速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汽车刹车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火车进站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P_5_BD#1640927ad?colgroup=8,11,15&amp;vcp=1&amp;pid=38abf6c68&amp;color=0,0,0&amp;vtp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2457425"/>
                  </p:ext>
                </p:extLst>
              </p:nvPr>
            </p:nvGraphicFramePr>
            <p:xfrm>
              <a:off x="393192" y="2739834"/>
              <a:ext cx="11356848" cy="1989201"/>
            </p:xfrm>
            <a:graphic>
              <a:graphicData uri="http://schemas.openxmlformats.org/drawingml/2006/table">
                <a:tbl>
                  <a:tblPr/>
                  <a:tblGrid>
                    <a:gridCol w="28254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490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78231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0"/>
                            </a:lnSpc>
                          </a:pP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匀加速直线运动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匀减速直线运动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特点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610" t="-100000" r="-127967" b="-229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7580" t="-100000" r="-255" b="-2292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速度大小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增大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减小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举例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汽车加速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汽车刹车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火车进站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>
    <p:split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1_1#34021c5cf?vcp=1&amp;pid=38abf6c68&amp;color=0,0,0&amp;vtp=1&amp;bt=1&amp;bbb=1&amp;hb=1"/>
              <p:cNvSpPr/>
              <p:nvPr/>
            </p:nvSpPr>
            <p:spPr>
              <a:xfrm>
                <a:off x="393192" y="1285272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一个质点做直线运动，在第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内速度增加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内速度增加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内速度增加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,在第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内速度增加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则这个质点的运动(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BD.1_1#34021c5cf?vcp=1&amp;pid=38abf6c68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85272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214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2_1#34021c5cf.bracket?vcp=1&amp;pid=38abf6c68&amp;color=0,0,0&amp;vpa=1&amp;vtp=1"/>
          <p:cNvSpPr/>
          <p:nvPr/>
        </p:nvSpPr>
        <p:spPr>
          <a:xfrm>
            <a:off x="10052336" y="1832642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sp>
        <p:nvSpPr>
          <p:cNvPr id="4" name="QC_5_BD.1_2#34021c5cf.choices?vcp=1&amp;pid=38abf6c68&amp;color=0,0,0&amp;vtp=1&amp;bbb=1"/>
          <p:cNvSpPr/>
          <p:nvPr/>
        </p:nvSpPr>
        <p:spPr>
          <a:xfrm>
            <a:off x="393192" y="2318797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400"/>
              </a:lnSpc>
              <a:tabLst>
                <a:tab pos="5807954" algn="l"/>
              </a:tabLst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.是匀速直线运动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.一定是匀加速直线运动</a:t>
            </a:r>
            <a:endParaRPr lang="en-US" altLang="zh-CN" sz="2400" dirty="0"/>
          </a:p>
          <a:p>
            <a:pPr latinLnBrk="1">
              <a:lnSpc>
                <a:spcPts val="4200"/>
              </a:lnSpc>
              <a:tabLst>
                <a:tab pos="5807954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C.不一定是匀加速直线运动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.一定是非匀变速直线运动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AS.3_1#34021c5cf?vcp=1&amp;pid=38abf6c68&amp;color=0,0,0&amp;vtp=1&amp;bbb=1&amp;hb=1"/>
              <p:cNvSpPr/>
              <p:nvPr/>
            </p:nvSpPr>
            <p:spPr>
              <a:xfrm>
                <a:off x="393192" y="3421538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由题意知，质点的速度随时间在增加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，但不能判断是否在任意相等时间内都均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匀增加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，而匀加速直线运动必须是任意相等时间内速度的增加量相等.例如第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可能前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质点速度不变，后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速度增加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，并不是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“任意相等时间内均匀变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化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”的.故选C.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AS.3_1#34021c5cf?vcp=1&amp;pid=38abf6c68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21538"/>
                <a:ext cx="11402568" cy="2155000"/>
              </a:xfrm>
              <a:prstGeom prst="rect">
                <a:avLst/>
              </a:prstGeom>
              <a:blipFill>
                <a:blip r:embed="rId4"/>
                <a:stretch>
                  <a:fillRect l="-1658" r="-1016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4_1#8e58d1442?vcp=1&amp;pid=38abf6c68&amp;color=0,0,0&amp;vtp=1&amp;bt=1&amp;bbb=1&amp;hb=1"/>
          <p:cNvSpPr/>
          <p:nvPr/>
        </p:nvSpPr>
        <p:spPr>
          <a:xfrm>
            <a:off x="393192" y="690373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变式1-1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（2026·湖北省武昌实验中学检测）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关于匀变速直线运动的定义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，下列正确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5_AN.5_1#8e58d1442.bracket?vcp=1&amp;pid=38abf6c68&amp;color=0,0,0&amp;vpa=2&amp;vtp=1"/>
          <p:cNvSpPr/>
          <p:nvPr/>
        </p:nvSpPr>
        <p:spPr>
          <a:xfrm>
            <a:off x="1235360" y="1237743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sp>
        <p:nvSpPr>
          <p:cNvPr id="4" name="QC_5_BD.4_2#8e58d1442.choices?vcp=1&amp;pid=38abf6c68&amp;color=0,0,0&amp;vtp=1&amp;bbb=1"/>
          <p:cNvSpPr/>
          <p:nvPr/>
        </p:nvSpPr>
        <p:spPr>
          <a:xfrm>
            <a:off x="393192" y="1786508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A.只有速度随时间均匀增加的直线运动，才称为匀变速直线运动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.只有速度随时间均匀减小的直线运动，才称为匀变速直线运动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.加速度恒定，速度随时间均匀变化的直线运动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.位移随时间均匀变化的直线运动</a:t>
            </a:r>
            <a:endParaRPr lang="en-US" altLang="zh-CN" sz="2400" dirty="0"/>
          </a:p>
        </p:txBody>
      </p:sp>
      <p:sp>
        <p:nvSpPr>
          <p:cNvPr id="5" name="QC_5_AS.6_1#8e58d1442?vcp=1&amp;pid=38abf6c68&amp;color=0,0,0&amp;vtp=1&amp;bbb=1&amp;hb=1"/>
          <p:cNvSpPr/>
          <p:nvPr/>
        </p:nvSpPr>
        <p:spPr>
          <a:xfrm>
            <a:off x="393192" y="3992308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匀变速直线运动中的速度均匀变化，加速度保持不变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，即加速度的大小和方向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都不变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，若加速度方向与速度方向相同，则物体做匀加速直线运动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，若加速度方向与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速度方向相反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，则物体做匀减速直线运动，故A、B错误，C正确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；匀速直线运动中位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移随时间均匀变化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，故D错误.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d1cb9dcfd?vcp=1&amp;pid=38abf6c68&amp;color=0,0,0&amp;vtp=1&amp;bt=1&amp;bbb=1"/>
          <p:cNvSpPr/>
          <p:nvPr/>
        </p:nvSpPr>
        <p:spPr>
          <a:xfrm>
            <a:off x="393192" y="1180338"/>
            <a:ext cx="11402568" cy="103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名师点拨</a:t>
            </a:r>
            <a:endParaRPr lang="en-US" altLang="zh-CN" sz="2400" dirty="0"/>
          </a:p>
          <a:p>
            <a:pPr algn="ctr"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物体做加速运动或减速运动的判断</a:t>
            </a:r>
            <a:endParaRPr lang="en-US" altLang="zh-CN" sz="2400" dirty="0"/>
          </a:p>
        </p:txBody>
      </p:sp>
      <p:pic>
        <p:nvPicPr>
          <p:cNvPr id="3" name="P_5_BD#d1cb9dcfd?vcp=1&amp;pid=38abf6c68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81144" y="2353564"/>
            <a:ext cx="3026664" cy="3310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d1cb9dcfd?vcp=1&amp;pid=38abf6c68&amp;color=0,0,0&amp;vtp=1&amp;bt=1&amp;bbb=1&amp;hb=1"/>
          <p:cNvSpPr/>
          <p:nvPr/>
        </p:nvSpPr>
        <p:spPr>
          <a:xfrm>
            <a:off x="393192" y="2080355"/>
            <a:ext cx="11402568" cy="2713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拓展延伸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常见的变速运动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，实际上并不是严格意义上的匀变速直线运动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，但是这些运动可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以近似看成是匀变速直线运动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.例如，发射炮弹时炮弹在炮筒里的运动，火车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、汽车等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交通工具在加速启动的一段时间内的运动，石块从不高的地方下落或被竖直向上抛出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时的运动等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019d110ea?vcp=1&amp;pid=57dac5f99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019d110ea?vcp=1&amp;pid=57dac5f99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en-US" altLang="zh-CN" sz="2800" dirty="0"/>
          </a:p>
        </p:txBody>
      </p:sp>
      <p:sp>
        <p:nvSpPr>
          <p:cNvPr id="4" name="C_4_BD#019d110ea?vcp=1&amp;pid=57dac5f99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速度与时间的关系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易错点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P_5_BD#e0338dc31?vcp=1&amp;pid=019d110ea&amp;color=0,0,0&amp;vtp=1&amp;bbb=1"/>
              <p:cNvSpPr/>
              <p:nvPr/>
            </p:nvSpPr>
            <p:spPr>
              <a:xfrm>
                <a:off x="393192" y="1092200"/>
                <a:ext cx="11402568" cy="10375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algn="ctr"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对速度与时间的关系式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的理解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P_5_BD#e0338dc31?vcp=1&amp;pid=019d110ea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92200"/>
                <a:ext cx="11402568" cy="1037590"/>
              </a:xfrm>
              <a:prstGeom prst="rect">
                <a:avLst/>
              </a:prstGeom>
              <a:blipFill>
                <a:blip r:embed="rId4"/>
                <a:stretch>
                  <a:fillRect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P_5_BD#e0338dc31?colgroup=4,32&amp;vcp=1&amp;pid=019d110ea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5291944"/>
                  </p:ext>
                </p:extLst>
              </p:nvPr>
            </p:nvGraphicFramePr>
            <p:xfrm>
              <a:off x="393192" y="2259330"/>
              <a:ext cx="11356848" cy="3950209"/>
            </p:xfrm>
            <a:graphic>
              <a:graphicData uri="http://schemas.openxmlformats.org/drawingml/2006/table">
                <a:tbl>
                  <a:tblPr/>
                  <a:tblGrid>
                    <a:gridCol w="14081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19963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7490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866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含义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皆为某时刻的状态量,加速度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恒定不变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856">
                    <a:tc rowSpan="3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矢量性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皆为矢量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一般规定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的方向为正方向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同向,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逐渐增大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物体做匀加速直线运动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87044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反向,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逐渐减小或减为0后再反向</a:t>
                          </a:r>
                          <a:endParaRPr lang="en-US" altLang="zh-CN" sz="1200" dirty="0"/>
                        </a:p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增大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物体做匀减速运动,减为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0后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再反向做匀加速直线运动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特殊形式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,则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𝑎𝑡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∝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97415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在使用公式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+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计算时,必须考虑各量的方向关系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,与正方向相同取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正值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,相反取负值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P_5_BD#e0338dc31?colgroup=4,32&amp;vcp=1&amp;pid=019d110ea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5291944"/>
                  </p:ext>
                </p:extLst>
              </p:nvPr>
            </p:nvGraphicFramePr>
            <p:xfrm>
              <a:off x="393192" y="2259330"/>
              <a:ext cx="11356848" cy="3950209"/>
            </p:xfrm>
            <a:graphic>
              <a:graphicData uri="http://schemas.openxmlformats.org/drawingml/2006/table">
                <a:tbl>
                  <a:tblPr/>
                  <a:tblGrid>
                    <a:gridCol w="14081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19963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7490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866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含义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207" t="-1220" r="-122" b="-72073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856">
                    <a:tc rowSpan="3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矢量性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207" t="-101220" r="-122" b="-62073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2790" t="-201220" r="-60609" b="-5207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物体做匀加速直线运动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87044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2790" t="-152469" r="-60609" b="-1635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物体做匀减速运动,减为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0后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再反向做匀加速直线运动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特殊形式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207" t="-504938" r="-122" b="-22716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97415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207" t="-306250" r="-122" b="-15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>
    <p:split dir="in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7_1#cc235fb51?vcp=1&amp;pid=019d110ea&amp;color=0,0,0&amp;vtp=1&amp;bt=1&amp;bbb=1&amp;hb=1"/>
              <p:cNvSpPr/>
              <p:nvPr/>
            </p:nvSpPr>
            <p:spPr>
              <a:xfrm>
                <a:off x="393192" y="976027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考题2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一个质点做匀变速直线运动，其速度随时间的变化规律为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=20−4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endParaRPr lang="zh-CN" altLang="en-US" sz="2400" b="0" i="0">
                  <a:solidFill>
                    <a:srgbClr val="000000"/>
                  </a:solidFill>
                  <a:latin typeface="Cambria Math" pitchFamily="34" charset="0"/>
                  <a:ea typeface="Cambria Math" pitchFamily="34" charset="-122"/>
                  <a:cs typeface="Cambria Math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的单位是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的单位是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7_1#cc235fb51?vcp=1&amp;pid=019d110ea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76027"/>
                <a:ext cx="11402568" cy="1037400"/>
              </a:xfrm>
              <a:prstGeom prst="rect">
                <a:avLst/>
              </a:prstGeom>
              <a:blipFill>
                <a:blip r:embed="rId3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O_6_BD.8_1#d99974a16?vcp=1&amp;pid=cc235fb51&amp;color=0,0,0&amp;vtp=1&amp;bbb=1"/>
          <p:cNvSpPr/>
          <p:nvPr/>
        </p:nvSpPr>
        <p:spPr>
          <a:xfrm>
            <a:off x="393192" y="2022253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（1）求质点的初速度与加速度及两者方向的关系.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6_AS.9_1#d99974a16?vcp=1&amp;pid=cc235fb51&amp;color=0,0,0&amp;vtp=1&amp;bbb=1&amp;hb=1"/>
              <p:cNvSpPr/>
              <p:nvPr/>
            </p:nvSpPr>
            <p:spPr>
              <a:xfrm>
                <a:off x="393192" y="2515648"/>
                <a:ext cx="11402568" cy="104616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得质点的初速度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,加速度</a:t>
                </a:r>
              </a:p>
              <a:p>
                <a:pPr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，两者方向相反.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6_AS.9_1#d99974a16?vcp=1&amp;pid=cc235fb51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515648"/>
                <a:ext cx="11402568" cy="1046163"/>
              </a:xfrm>
              <a:prstGeom prst="rect">
                <a:avLst/>
              </a:prstGeom>
              <a:blipFill>
                <a:blip r:embed="rId4"/>
                <a:stretch>
                  <a:fillRect l="-1658" b="-175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6_BD.10_1#14c85df9a?vcp=1&amp;pid=cc235fb51&amp;color=0,0,0&amp;vtp=1&amp;bbb=1"/>
              <p:cNvSpPr/>
              <p:nvPr/>
            </p:nvSpPr>
            <p:spPr>
              <a:xfrm>
                <a:off x="393192" y="3624612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（2）求质点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末的速度.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6_BD.10_1#14c85df9a?vcp=1&amp;pid=cc235fb51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24612"/>
                <a:ext cx="11402568" cy="488125"/>
              </a:xfrm>
              <a:prstGeom prst="rect">
                <a:avLst/>
              </a:prstGeom>
              <a:blipFill>
                <a:blip r:embed="rId5"/>
                <a:stretch>
                  <a:fillRect l="-1658" b="-362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O_6_AS.11_1#14c85df9a?vcp=1&amp;pid=cc235fb51&amp;color=0,0,0&amp;vtp=1&amp;bbb=1"/>
              <p:cNvSpPr/>
              <p:nvPr/>
            </p:nvSpPr>
            <p:spPr>
              <a:xfrm>
                <a:off x="393192" y="4168807"/>
                <a:ext cx="11402568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质点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末的速度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O_6_AS.11_1#14c85df9a?vcp=1&amp;pid=cc235fb51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168807"/>
                <a:ext cx="11402568" cy="484124"/>
              </a:xfrm>
              <a:prstGeom prst="rect">
                <a:avLst/>
              </a:prstGeom>
              <a:blipFill>
                <a:blip r:embed="rId6"/>
                <a:stretch>
                  <a:fillRect l="-1658" b="-379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QO_6_BD.12_1#9df345c1a?vcp=1&amp;pid=cc235fb51&amp;color=0,0,0&amp;vtp=1&amp;bbb=1"/>
              <p:cNvSpPr/>
              <p:nvPr/>
            </p:nvSpPr>
            <p:spPr>
              <a:xfrm>
                <a:off x="393192" y="4713002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（3）若该质点是处于紧急刹车状态的汽车，求汽车在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末的速度.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O_6_BD.12_1#9df345c1a?vcp=1&amp;pid=cc235fb51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713002"/>
                <a:ext cx="11402568" cy="488125"/>
              </a:xfrm>
              <a:prstGeom prst="rect">
                <a:avLst/>
              </a:prstGeom>
              <a:blipFill>
                <a:blip r:embed="rId7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QO_6_AS.13_1#9df345c1a?vcp=1&amp;pid=cc235fb51&amp;color=0,0,0&amp;vtp=1&amp;bbb=1"/>
              <p:cNvSpPr/>
              <p:nvPr/>
            </p:nvSpPr>
            <p:spPr>
              <a:xfrm>
                <a:off x="393192" y="5201254"/>
                <a:ext cx="11402568" cy="66490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57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刹车时间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刹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=|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|=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末汽车已停止运动，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末的速度为0.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8" name="QO_6_AS.13_1#9df345c1a?vcp=1&amp;pid=cc235fb51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201254"/>
                <a:ext cx="11402568" cy="664909"/>
              </a:xfrm>
              <a:prstGeom prst="rect">
                <a:avLst/>
              </a:prstGeom>
              <a:blipFill>
                <a:blip r:embed="rId8"/>
                <a:stretch>
                  <a:fillRect l="-1658" b="-1651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build="p" animBg="1"/>
      <p:bldP spid="8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14_1#9b2b73b69?vcp=1&amp;pid=019d110ea&amp;color=0,0,0&amp;vtp=1&amp;bt=1&amp;bbb=1&amp;hb=1"/>
              <p:cNvSpPr/>
              <p:nvPr/>
            </p:nvSpPr>
            <p:spPr>
              <a:xfrm>
                <a:off x="393192" y="1549241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变式2-1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（交通安全）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（2026·江西临川二中检测）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汽车以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的速度在水平路面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上匀速行驶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，遇到紧急情况急踩刹车，刹车过程可看成做匀减速直线运动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，加速度大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，则汽车刹车后第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末、第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末的速度分别为(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BD.14_1#9b2b73b69?vcp=1&amp;pid=019d110ea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49241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535" b="-1187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15_1#9b2b73b69.bracket?vcp=1&amp;pid=019d110ea&amp;color=0,0,0&amp;vpa=3&amp;vtp=1"/>
          <p:cNvSpPr/>
          <p:nvPr/>
        </p:nvSpPr>
        <p:spPr>
          <a:xfrm>
            <a:off x="8388699" y="2655411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5_BD.14_2#9b2b73b69.choices?vcp=1&amp;pid=019d110ea&amp;color=0,0,0&amp;vtp=1&amp;bbb=1"/>
              <p:cNvSpPr/>
              <p:nvPr/>
            </p:nvSpPr>
            <p:spPr>
              <a:xfrm>
                <a:off x="393192" y="3198779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3313552" algn="l"/>
                    <a:tab pos="5750804" algn="l"/>
                    <a:tab pos="914055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,0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19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.0,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5_BD.14_2#9b2b73b69.choices?vcp=1&amp;pid=019d110ea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98779"/>
                <a:ext cx="11402568" cy="477330"/>
              </a:xfrm>
              <a:prstGeom prst="rect">
                <a:avLst/>
              </a:prstGeom>
              <a:blipFill>
                <a:blip r:embed="rId4"/>
                <a:stretch>
                  <a:fillRect l="-1658" b="-397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AS.16_1#9b2b73b69?vcp=1&amp;pid=019d110ea&amp;color=0,0,0&amp;vtp=1&amp;bbb=1&amp;hb=1"/>
              <p:cNvSpPr/>
              <p:nvPr/>
            </p:nvSpPr>
            <p:spPr>
              <a:xfrm>
                <a:off x="393192" y="3687031"/>
                <a:ext cx="11402568" cy="1621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汽车的刹车时间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，汽车刹车后第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末已经停下，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0；根据匀变速直线运动的速度公式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，可得汽车第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末的速度为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=[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+(−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]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，故选B.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AS.16_1#9b2b73b69?vcp=1&amp;pid=019d110ea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87031"/>
                <a:ext cx="11402568" cy="1621600"/>
              </a:xfrm>
              <a:prstGeom prst="rect">
                <a:avLst/>
              </a:prstGeom>
              <a:blipFill>
                <a:blip r:embed="rId5"/>
                <a:stretch>
                  <a:fillRect l="-1658" r="-2246" b="-1090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26f489514?vcp=1&amp;pid=019d110ea&amp;color=0,0,0&amp;vtp=1&amp;bt=1&amp;bbb=1"/>
          <p:cNvSpPr/>
          <p:nvPr/>
        </p:nvSpPr>
        <p:spPr>
          <a:xfrm>
            <a:off x="393192" y="1590262"/>
            <a:ext cx="11402568" cy="103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教材拓展</a:t>
            </a:r>
            <a:endParaRPr lang="en-US" altLang="zh-CN" sz="2400" dirty="0"/>
          </a:p>
          <a:p>
            <a:pPr algn="ctr"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速度与时间关系式的推导</a:t>
            </a:r>
            <a:endParaRPr lang="en-US" altLang="zh-CN" sz="2400" dirty="0"/>
          </a:p>
        </p:txBody>
      </p:sp>
      <p:pic>
        <p:nvPicPr>
          <p:cNvPr id="3" name="P_5_BD#26f489514?htil=1&amp;vcp=1&amp;pid=019d110ea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22899" y="2682208"/>
            <a:ext cx="2185416" cy="206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P_5_BD#26f489514?htil=1&amp;vcp=1&amp;pid=019d110ea&amp;color=0,0,0&amp;vtp=1&amp;bbb=1&amp;hb=1&amp;hs=1"/>
              <p:cNvSpPr/>
              <p:nvPr/>
            </p:nvSpPr>
            <p:spPr>
              <a:xfrm>
                <a:off x="393192" y="2636488"/>
                <a:ext cx="9079992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设一个物体做匀变速直线运动,在0时刻速度为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时刻速度为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图像如图所示.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P_5_BD#26f489514?htil=1&amp;vcp=1&amp;pid=019d110ea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636488"/>
                <a:ext cx="9079992" cy="1037400"/>
              </a:xfrm>
              <a:prstGeom prst="rect">
                <a:avLst/>
              </a:prstGeom>
              <a:blipFill>
                <a:blip r:embed="rId4"/>
                <a:stretch>
                  <a:fillRect l="-873" r="-873" b="-169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P_5_BD#26f489514?htil=1&amp;vcp=1&amp;pid=019d110ea&amp;color=0,0,0&amp;vtp=1&amp;bbb=1&amp;hb=1&amp;hs=1"/>
              <p:cNvSpPr/>
              <p:nvPr/>
            </p:nvSpPr>
            <p:spPr>
              <a:xfrm>
                <a:off x="393192" y="3676618"/>
                <a:ext cx="9089136" cy="1062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由加速度的定义可知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−0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,变形可得匀变速直线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运动的速度与时间的关系式: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P_5_BD#26f489514?htil=1&amp;vcp=1&amp;pid=019d110ea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76618"/>
                <a:ext cx="9089136" cy="1062800"/>
              </a:xfrm>
              <a:prstGeom prst="rect">
                <a:avLst/>
              </a:prstGeom>
              <a:blipFill>
                <a:blip r:embed="rId5"/>
                <a:stretch>
                  <a:fillRect l="-2079" b="-1724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P_5_BD#26f489514?htil=1&amp;vcp=1&amp;pid=019d110ea&amp;color=0,0,0&amp;vtp=1&amp;bbb=1&amp;hb=1&amp;hs=1">
                <a:extLst>
                  <a:ext uri="{FF2B5EF4-FFF2-40B4-BE49-F238E27FC236}">
                    <a16:creationId xmlns:a16="http://schemas.microsoft.com/office/drawing/2014/main" id="{5CD8F51E-12AE-48F0-D0F4-F82A69A97A3A}"/>
                  </a:ext>
                </a:extLst>
              </p:cNvPr>
              <p:cNvSpPr/>
              <p:nvPr/>
            </p:nvSpPr>
            <p:spPr>
              <a:xfrm>
                <a:off x="395996" y="4739418"/>
                <a:ext cx="11400008" cy="478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P_5_BD#26f489514?htil=1&amp;vcp=1&amp;pid=019d110ea&amp;color=0,0,0&amp;vtp=1&amp;bbb=1&amp;hb=1&amp;hs=1">
                <a:extLst>
                  <a:ext uri="{FF2B5EF4-FFF2-40B4-BE49-F238E27FC236}">
                    <a16:creationId xmlns:a16="http://schemas.microsoft.com/office/drawing/2014/main" id="{5CD8F51E-12AE-48F0-D0F4-F82A69A97A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4739418"/>
                <a:ext cx="11400008" cy="478600"/>
              </a:xfrm>
              <a:prstGeom prst="rect">
                <a:avLst/>
              </a:prstGeom>
              <a:blipFill>
                <a:blip r:embed="rId6"/>
                <a:stretch>
                  <a:fillRect b="-379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26f489514?vcp=1&amp;pid=019d110ea&amp;color=0,0,0&amp;vtp=1&amp;bt=1&amp;bbb=1&amp;hb=1"/>
              <p:cNvSpPr/>
              <p:nvPr/>
            </p:nvSpPr>
            <p:spPr>
              <a:xfrm>
                <a:off x="393192" y="1048512"/>
                <a:ext cx="11402568" cy="4386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易错警示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.速度公式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虽然是由加速度定义式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变形得到的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,但两式的适用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条件是不同的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只适用于匀变速直线运动;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可适用于任何运动形式.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.刹车问题的分析思路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汽车刹车速度减为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0后将停止运动，解决这类问题的方法是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：首先计算出速度变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0所需要的时间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，然后比较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的大小关系.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时，直接应用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计算速度.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时，末速度为0.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5_BD#26f489514?vcp=1&amp;pid=019d110ea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48512"/>
                <a:ext cx="11402568" cy="4386199"/>
              </a:xfrm>
              <a:prstGeom prst="rect">
                <a:avLst/>
              </a:prstGeom>
              <a:blipFill>
                <a:blip r:embed="rId3"/>
                <a:stretch>
                  <a:fillRect l="-1658" b="-402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8801bfcba?vcp=1&amp;pid=57dac5f99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8801bfcba?vcp=1&amp;pid=57dac5f99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</a:t>
            </a:r>
            <a:endParaRPr lang="en-US" altLang="zh-CN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_4_BD#8801bfcba?vcp=1&amp;pid=57dac5f99&amp;color=0,0,0&amp;vtp=1&amp;bbb=1"/>
              <p:cNvSpPr/>
              <p:nvPr/>
            </p:nvSpPr>
            <p:spPr>
              <a:xfrm>
                <a:off x="1837944" y="502920"/>
                <a:ext cx="9939528" cy="457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 latinLnBrk="1">
                  <a:lnSpc>
                    <a:spcPts val="3200"/>
                  </a:lnSpc>
                </a:pPr>
                <a:r>
                  <a:rPr lang="en-US" altLang="zh-CN" sz="2600" b="1" i="0" dirty="0">
                    <a:solidFill>
                      <a:srgbClr val="000000"/>
                    </a:solidFill>
                    <a:latin typeface="Times New Roman" pitchFamily="34" charset="0"/>
                    <a:ea typeface="SimHei" pitchFamily="34" charset="-122"/>
                    <a:cs typeface="Times New Roman" pitchFamily="34" charset="-120"/>
                  </a:rPr>
                  <a:t>匀变速直线运动的</a:t>
                </a:r>
                <a14:m>
                  <m:oMath xmlns:m="http://schemas.openxmlformats.org/officeDocument/2006/math">
                    <m:r>
                      <a:rPr lang="en-US" altLang="zh-CN" sz="2600" b="1" i="1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600" b="1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600" b="1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600" b="1" i="1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SimHei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600" b="1" i="0" dirty="0">
                    <a:solidFill>
                      <a:srgbClr val="000000"/>
                    </a:solidFill>
                    <a:latin typeface="Times New Roman" pitchFamily="34" charset="0"/>
                    <a:ea typeface="SimHei" pitchFamily="34" charset="-122"/>
                    <a:cs typeface="Times New Roman" pitchFamily="34" charset="-120"/>
                  </a:rPr>
                  <a:t>图像</a:t>
                </a:r>
                <a:r>
                  <a:rPr lang="en-US" altLang="zh-CN" sz="26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600" b="1" i="0" dirty="0">
                    <a:solidFill>
                      <a:srgbClr val="000000"/>
                    </a:solidFill>
                    <a:latin typeface="Times New Roman" pitchFamily="34" charset="0"/>
                    <a:ea typeface="SimHei" pitchFamily="34" charset="-122"/>
                    <a:cs typeface="Times New Roman" pitchFamily="34" charset="-120"/>
                  </a:rPr>
                  <a:t>难点</a:t>
                </a:r>
                <a:endParaRPr lang="en-US" altLang="zh-CN" sz="2600" dirty="0"/>
              </a:p>
            </p:txBody>
          </p:sp>
        </mc:Choice>
        <mc:Fallback>
          <p:sp>
            <p:nvSpPr>
              <p:cNvPr id="4" name="C_4_BD#8801bfcba?vcp=1&amp;pid=57dac5f99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7944" y="502920"/>
                <a:ext cx="9939528" cy="457200"/>
              </a:xfrm>
              <a:prstGeom prst="rect">
                <a:avLst/>
              </a:prstGeom>
              <a:blipFill>
                <a:blip r:embed="rId4"/>
                <a:stretch>
                  <a:fillRect l="-2025" t="-21333" b="-3066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_5_BD#21eb0b7f2?vcp=1&amp;pid=8801bfcba&amp;color=0,0,0&amp;vtp=1&amp;bbb=1"/>
          <p:cNvSpPr/>
          <p:nvPr/>
        </p:nvSpPr>
        <p:spPr>
          <a:xfrm>
            <a:off x="393192" y="1092200"/>
            <a:ext cx="11402568" cy="488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endParaRPr lang="en-US" altLang="zh-CN" sz="2400" dirty="0"/>
          </a:p>
        </p:txBody>
      </p:sp>
      <p:pic>
        <p:nvPicPr>
          <p:cNvPr id="6" name="P_5_BD#21eb0b7f2?htil=2&amp;vcp=1&amp;pid=8801bfcba&amp;color=0,0,0&amp;tib=255,255,255&amp;vtp=1&amp;hs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36812" y="1631315"/>
            <a:ext cx="1856232" cy="1591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P_5_BD#21eb0b7f2?htil=2&amp;vcp=1&amp;pid=8801bfcba&amp;color=0,0,0&amp;vtp=1&amp;bbb=1&amp;hb=1"/>
              <p:cNvSpPr/>
              <p:nvPr/>
            </p:nvSpPr>
            <p:spPr>
              <a:xfrm>
                <a:off x="393192" y="1585595"/>
                <a:ext cx="9409176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匀变速直线运动的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图像是一条倾斜的直线，如图所示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，图线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表示匀加速直线运动，图线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表示匀减速直线运动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.图线纵截距表示初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，斜率表示加速度.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P_5_BD#21eb0b7f2?htil=2&amp;vcp=1&amp;pid=8801bfcba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85595"/>
                <a:ext cx="9409176" cy="2155000"/>
              </a:xfrm>
              <a:prstGeom prst="rect">
                <a:avLst/>
              </a:prstGeom>
              <a:blipFill>
                <a:blip r:embed="rId6"/>
                <a:stretch>
                  <a:fillRect l="-2009" r="-454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21eb0b7f2?vcp=1&amp;pid=8801bfcba&amp;color=0,0,0&amp;vtp=1&amp;bt=1&amp;bbb=1"/>
              <p:cNvSpPr/>
              <p:nvPr/>
            </p:nvSpPr>
            <p:spPr>
              <a:xfrm>
                <a:off x="393192" y="614616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2.匀变速直线运动图像的分析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图像的基本认识（如图甲）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5_BD#21eb0b7f2?vcp=1&amp;pid=8801bfcba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14616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" name="P_5_BD#21eb0b7f2?colgroup=9,3,23&amp;vcp=1&amp;pid=8801bfcba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7839286"/>
                  </p:ext>
                </p:extLst>
              </p:nvPr>
            </p:nvGraphicFramePr>
            <p:xfrm>
              <a:off x="393192" y="1786826"/>
              <a:ext cx="11365992" cy="4442588"/>
            </p:xfrm>
            <a:graphic>
              <a:graphicData uri="http://schemas.openxmlformats.org/drawingml/2006/table">
                <a:tbl>
                  <a:tblPr/>
                  <a:tblGrid>
                    <a:gridCol w="29443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789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34263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8666">
                    <a:tc row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图线上某点的纵坐标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正或负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表示瞬时速度的方向（时刻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之后,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𝑐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的运动方向改变）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856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绝对值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表示瞬时速度的大小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74344">
                    <a:tc row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图线的斜率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正或负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表示加速度的方向（图线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表示加速度方向与正方向一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致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8856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绝对值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表示加速度的大小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74344">
                    <a:tc row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图线与坐标轴的交点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纵截距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表示初速度（三者初速度方向相同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图线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对应的初速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度最大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98666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横截距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表示速度为0的时刻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98856"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两图线的交点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表示该时刻速度相等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" name="P_5_BD#21eb0b7f2?colgroup=9,3,23&amp;vcp=1&amp;pid=8801bfcba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7839286"/>
                  </p:ext>
                </p:extLst>
              </p:nvPr>
            </p:nvGraphicFramePr>
            <p:xfrm>
              <a:off x="393192" y="1786826"/>
              <a:ext cx="11365992" cy="4442588"/>
            </p:xfrm>
            <a:graphic>
              <a:graphicData uri="http://schemas.openxmlformats.org/drawingml/2006/table">
                <a:tbl>
                  <a:tblPr/>
                  <a:tblGrid>
                    <a:gridCol w="29443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789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34263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8666">
                    <a:tc row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图线上某点的纵坐标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正或负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4855" t="-1220" r="-166" b="-8182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856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绝对值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表示瞬时速度的大小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74344">
                    <a:tc row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图线的斜率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正或负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4855" t="-103125" r="-166" b="-268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8856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绝对值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表示加速度的大小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74344">
                    <a:tc row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图线与坐标轴的交点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纵截距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4855" t="-253750" r="-166" b="-11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98666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横截距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表示速度为0的时刻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98856"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两图线的交点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表示该时刻速度相等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>
    <p:split dir="in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_5_BD#21eb0b7f2?htil=3&amp;vcp=1&amp;pid=8801bfcba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09560" y="2528316"/>
            <a:ext cx="3867912" cy="184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P_5_BD#21eb0b7f2?htil=3&amp;vcp=1&amp;pid=8801bfcba&amp;color=0,0,0&amp;vtp=1&amp;bt=1&amp;bbb=1&amp;hb=1"/>
              <p:cNvSpPr/>
              <p:nvPr/>
            </p:nvSpPr>
            <p:spPr>
              <a:xfrm>
                <a:off x="393192" y="2482596"/>
                <a:ext cx="7406640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图像的拐点：图乙中图线的拐点（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折点）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表示加速度方向改变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，速度出现极值.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P_5_BD#21eb0b7f2?htil=3&amp;vcp=1&amp;pid=8801bfcba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482596"/>
                <a:ext cx="7406640" cy="1037400"/>
              </a:xfrm>
              <a:prstGeom prst="rect">
                <a:avLst/>
              </a:prstGeom>
              <a:blipFill>
                <a:blip r:embed="rId4"/>
                <a:stretch>
                  <a:fillRect l="-2551" r="-4856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BD.17_1#c69299576?htil=4&amp;vcp=1&amp;pid=8801bfcba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93624" y="549719"/>
            <a:ext cx="4562856" cy="2313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5_BD.17_2#c69299576?htil=4&amp;vcp=1&amp;pid=8801bfcba&amp;color=0,0,0&amp;vtp=1&amp;bt=1&amp;bbb=1&amp;hb=1&amp;hs=1"/>
              <p:cNvSpPr/>
              <p:nvPr/>
            </p:nvSpPr>
            <p:spPr>
              <a:xfrm>
                <a:off x="393192" y="504000"/>
                <a:ext cx="6702552" cy="15572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考题3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（多选题）甲、乙两物体在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时刻经过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同一位置且沿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轴运动，其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5_BD.17_2#c69299576?htil=4&amp;vcp=1&amp;pid=8801bfcba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6702552" cy="1557274"/>
              </a:xfrm>
              <a:prstGeom prst="rect">
                <a:avLst/>
              </a:prstGeom>
              <a:blipFill>
                <a:blip r:embed="rId4"/>
                <a:stretch>
                  <a:fillRect l="-2821" r="-2548" b="-1176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5_AN.18_1#c69299576.bracket?vcp=1&amp;pid=8801bfcba&amp;color=0,0,0&amp;vpa=4&amp;vtp=1&amp;bbb=1"/>
          <p:cNvSpPr/>
          <p:nvPr/>
        </p:nvSpPr>
        <p:spPr>
          <a:xfrm>
            <a:off x="689260" y="1583436"/>
            <a:ext cx="644525" cy="46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1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17_3#c69299576.choices?vcp=1&amp;pid=8801bfcba&amp;color=0,0,0&amp;vtp=1&amp;bbb=1&amp;hs=1"/>
              <p:cNvSpPr/>
              <p:nvPr/>
            </p:nvSpPr>
            <p:spPr>
              <a:xfrm>
                <a:off x="393192" y="2999295"/>
                <a:ext cx="11402568" cy="10111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A.甲、乙在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内沿同一方向运动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.乙在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0∼7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内的位移为0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.甲在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内做往复运动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.甲、乙在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时的加速度方向相同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17_3#c69299576.choices?vcp=1&amp;pid=8801bfcba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999295"/>
                <a:ext cx="11402568" cy="1011174"/>
              </a:xfrm>
              <a:prstGeom prst="rect">
                <a:avLst/>
              </a:prstGeom>
              <a:blipFill>
                <a:blip r:embed="rId5"/>
                <a:stretch>
                  <a:fillRect l="-1658" b="-186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5_AS.19_1#c69299576?vcp=1&amp;pid=8801bfcba&amp;color=0,0,0&amp;vtp=1&amp;bbb=1&amp;hb=1"/>
              <p:cNvSpPr/>
              <p:nvPr/>
            </p:nvSpPr>
            <p:spPr>
              <a:xfrm>
                <a:off x="393192" y="4010977"/>
                <a:ext cx="11402568" cy="21073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内甲沿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轴正方向运动，乙先沿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轴负方向运动，后沿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轴正方向运动，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错误；在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内乙的位移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,B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正确；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内甲的速度恒为正值，始终沿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轴正方向运动，C错误；在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甲、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乙的速度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—时间图像的斜率均为负值，即甲、乙的加速度方向均沿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轴负方向，D正确.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5_AS.19_1#c69299576?vcp=1&amp;pid=8801bfcba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010977"/>
                <a:ext cx="11402568" cy="2107375"/>
              </a:xfrm>
              <a:prstGeom prst="rect">
                <a:avLst/>
              </a:prstGeom>
              <a:blipFill>
                <a:blip r:embed="rId6"/>
                <a:stretch>
                  <a:fillRect l="-1658" r="-3422" b="-83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20_1#47ce518d0?vcp=1&amp;pid=8801bfcba&amp;color=0,0,0&amp;vtp=1&amp;bt=1&amp;bbb=1&amp;hb=1"/>
          <p:cNvSpPr/>
          <p:nvPr/>
        </p:nvSpPr>
        <p:spPr>
          <a:xfrm>
            <a:off x="393192" y="1098868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变式3-1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（多选题）甲、乙两辆汽车同时从同一地点沿同一直线由静止出发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，它们的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速度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—时间图像如图所示，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下列说法中正确的是(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5_AN.21_1#47ce518d0.bracket?vcp=1&amp;pid=8801bfcba&amp;color=0,0,0&amp;vpa=5&amp;vtp=1&amp;bbb=1"/>
          <p:cNvSpPr/>
          <p:nvPr/>
        </p:nvSpPr>
        <p:spPr>
          <a:xfrm>
            <a:off x="7090061" y="1646238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</a:t>
            </a:r>
            <a:endParaRPr lang="en-US" altLang="zh-CN" sz="2400" dirty="0"/>
          </a:p>
        </p:txBody>
      </p:sp>
      <p:pic>
        <p:nvPicPr>
          <p:cNvPr id="4" name="QC_5_BD.20_2#47ce518d0?vcp=1&amp;pid=8801bfcba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81728" y="2259393"/>
            <a:ext cx="2825496" cy="2313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20_3#47ce518d0.choices?vcp=1&amp;pid=8801bfcba&amp;color=0,0,0&amp;vtp=1&amp;bbb=1"/>
              <p:cNvSpPr/>
              <p:nvPr/>
            </p:nvSpPr>
            <p:spPr>
              <a:xfrm>
                <a:off x="393192" y="4710493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A.乙车在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𝑑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时间内始终做匀减速运动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.乙车在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时刻以后一直做匀变速运动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.两辆汽车在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𝑐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时刻相距最远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.甲车在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𝑐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时刻被乙车追上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20_3#47ce518d0.choices?vcp=1&amp;pid=8801bfcba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710493"/>
                <a:ext cx="11402568" cy="1033399"/>
              </a:xfrm>
              <a:prstGeom prst="rect">
                <a:avLst/>
              </a:prstGeom>
              <a:blipFill>
                <a:blip r:embed="rId4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&amp;si=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AS.22_1#47ce518d0?vcp=1&amp;pid=8801bfcba&amp;color=0,0,0&amp;vtp=1&amp;bt=1&amp;bbb=1&amp;hb=1"/>
              <p:cNvSpPr/>
              <p:nvPr/>
            </p:nvSpPr>
            <p:spPr>
              <a:xfrm>
                <a:off x="393192" y="1812385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图像的斜率表示加速度，由题图可知乙车在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𝒅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时间内加速度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方向与速度方向相同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，做匀加速运动，在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时间内做匀减速运动，A错误；在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刻以后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，乙车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图像的斜率恒定不变，说明乙车在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时刻以后一直做匀变速运动，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正确；两辆汽车在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𝒄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时刻的速度相等，且在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时间内乙车向负方向运动，在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𝒄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时间内乙车向正方向运动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，但速度小于甲车，甲车在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𝒅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时间内一直向正方向运动，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故两辆汽车在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𝒄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时刻相距最远，甲车在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𝒄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时刻没有被乙车追上，C正确，D错误.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AS.22_1#47ce518d0?vcp=1&amp;pid=8801bfcba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12385"/>
                <a:ext cx="11402568" cy="3272600"/>
              </a:xfrm>
              <a:prstGeom prst="rect">
                <a:avLst/>
              </a:prstGeom>
              <a:blipFill>
                <a:blip r:embed="rId3"/>
                <a:stretch>
                  <a:fillRect l="-1658" r="-1925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&amp;si=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#ea8fb26ee?vcp=1&amp;pid=8801bfcba&amp;color=0,0,0&amp;vtp=1&amp;bt=1&amp;bbb=1"/>
              <p:cNvSpPr/>
              <p:nvPr/>
            </p:nvSpPr>
            <p:spPr>
              <a:xfrm>
                <a:off x="393192" y="585502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名师点拨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&lt;/m&gt;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图像可以确定：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.初速度的大小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&lt;/m&gt;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即图像中纵轴的截距.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2.运动是加速运动还是减速运动.图甲是匀加速运动，图乙是匀减速运动.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5#ea8fb26ee?vcp=1&amp;pid=8801bfcba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85502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_5_BD#ea8fb26ee?vcp=1&amp;pid=8801bfcba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06805" y="2801398"/>
            <a:ext cx="2975343" cy="1611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P_5_BD#ea8fb26ee?vcp=1&amp;pid=8801bfcba&amp;color=0,0,0&amp;vtp=1&amp;bbb=1&amp;hb=1"/>
              <p:cNvSpPr/>
              <p:nvPr/>
            </p:nvSpPr>
            <p:spPr>
              <a:xfrm>
                <a:off x="393192" y="4546822"/>
                <a:ext cx="11402568" cy="16810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，即为图线的斜率.如图乙中，若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9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3−4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4−2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=−0.5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.某时刻的速度或达到某速度所需的时间.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P_5_BD#ea8fb26ee?vcp=1&amp;pid=8801bfcba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546822"/>
                <a:ext cx="11402568" cy="1681099"/>
              </a:xfrm>
              <a:prstGeom prst="rect">
                <a:avLst/>
              </a:prstGeom>
              <a:blipFill>
                <a:blip r:embed="rId5"/>
                <a:stretch>
                  <a:fillRect b="-1087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&amp;si=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#ea8fb26ee?vcp=1&amp;pid=8801bfcba&amp;color=0,0,0&amp;vtp=1&amp;bt=1&amp;bbb=1"/>
          <p:cNvSpPr/>
          <p:nvPr/>
        </p:nvSpPr>
        <p:spPr>
          <a:xfrm>
            <a:off x="393192" y="1080262"/>
            <a:ext cx="11402568" cy="103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归纳总结</a:t>
            </a:r>
            <a:endParaRPr lang="en-US" altLang="zh-CN" sz="2400" dirty="0"/>
          </a:p>
          <a:p>
            <a:pPr algn="ctr"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几种常见速度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—时间图像的特点归类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P_5_BD#ea8fb26ee?colgroup=10,5,19&amp;vcp=1&amp;pid=8801bfcba&amp;color=0,0,0&amp;vtp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353428"/>
                  </p:ext>
                </p:extLst>
              </p:nvPr>
            </p:nvGraphicFramePr>
            <p:xfrm>
              <a:off x="393192" y="2253488"/>
              <a:ext cx="11384280" cy="3510280"/>
            </p:xfrm>
            <a:graphic>
              <a:graphicData uri="http://schemas.openxmlformats.org/drawingml/2006/table">
                <a:tbl>
                  <a:tblPr/>
                  <a:tblGrid>
                    <a:gridCol w="334670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659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7161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70942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匀加速直线运动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30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′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′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0086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加速度减小的加速运动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38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′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′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P_5_BD#ea8fb26ee?colgroup=10,5,19&amp;vcp=1&amp;pid=8801bfcba&amp;color=0,0,0&amp;vtp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353428"/>
                  </p:ext>
                </p:extLst>
              </p:nvPr>
            </p:nvGraphicFramePr>
            <p:xfrm>
              <a:off x="393192" y="2253488"/>
              <a:ext cx="11384280" cy="3510280"/>
            </p:xfrm>
            <a:graphic>
              <a:graphicData uri="http://schemas.openxmlformats.org/drawingml/2006/table">
                <a:tbl>
                  <a:tblPr/>
                  <a:tblGrid>
                    <a:gridCol w="334670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659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7161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70942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匀加速直线运动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30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7651" t="-356" r="-201" b="-1060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0086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加速度减小的加速运动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38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7651" t="-95270" r="-201" b="-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_5_BD#ea8fb26ee.table_image?tii=2&amp;vcp=1&amp;pid=8801bfcba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90772" y="2372106"/>
            <a:ext cx="1664208" cy="1472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5" name="P_5_BD#ea8fb26ee.table_image?tii=3&amp;vcp=1&amp;pid=8801bfcba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90772" y="4081526"/>
            <a:ext cx="1664208" cy="1563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&amp;si=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7" name="P_5_BD#ea8fb26ee?colgroup=10,5,19&amp;vcp=1&amp;pid=8801bfcba&amp;color=0,0,0&amp;vtp=1&amp;bt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6429671"/>
                  </p:ext>
                </p:extLst>
              </p:nvPr>
            </p:nvGraphicFramePr>
            <p:xfrm>
              <a:off x="393192" y="1153795"/>
              <a:ext cx="11384280" cy="5173980"/>
            </p:xfrm>
            <a:graphic>
              <a:graphicData uri="http://schemas.openxmlformats.org/drawingml/2006/table">
                <a:tbl>
                  <a:tblPr/>
                  <a:tblGrid>
                    <a:gridCol w="334670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659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7161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727708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加速度增大的加速运动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34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′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&lt;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′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0942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匀减速直线运动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30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′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′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736852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加速度减小的减速运动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34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′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|&gt;|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′|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7" name="P_5_BD#ea8fb26ee?colgroup=10,5,19&amp;vcp=1&amp;pid=8801bfcba&amp;color=0,0,0&amp;vtp=1&amp;bt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6429671"/>
                  </p:ext>
                </p:extLst>
              </p:nvPr>
            </p:nvGraphicFramePr>
            <p:xfrm>
              <a:off x="393192" y="1153795"/>
              <a:ext cx="11384280" cy="5173980"/>
            </p:xfrm>
            <a:graphic>
              <a:graphicData uri="http://schemas.openxmlformats.org/drawingml/2006/table">
                <a:tbl>
                  <a:tblPr/>
                  <a:tblGrid>
                    <a:gridCol w="334670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659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7161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727708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加速度增大的加速运动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34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7651" t="-352" r="-201" b="-1996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0942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匀减速直线运动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30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7651" t="-101423" r="-201" b="-1017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736852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加速度减小的减速运动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34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7651" t="-198596" r="-201" b="-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_5_BD#ea8fb26ee.table_image?tii=4&amp;vcp=1&amp;pid=8801bfcba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90772" y="1267841"/>
            <a:ext cx="1664208" cy="1499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P_5_BD#ea8fb26ee.table_image?tii=5&amp;vcp=1&amp;pid=8801bfcba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90772" y="3000121"/>
            <a:ext cx="1664208" cy="1472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5" name="P_5_BD#ea8fb26ee.table_image?tii=6&amp;vcp=1&amp;pid=8801bfcba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90772" y="4709541"/>
            <a:ext cx="1664208" cy="1499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5_BD#ea8fb26ee?colgroup=10,5,19&amp;vcp=1&amp;pid=8801bfcba&amp;color=0,0,0&amp;vtp=1&amp;bt=1&amp;bbb=1">
            <a:extLst>
              <a:ext uri="{FF2B5EF4-FFF2-40B4-BE49-F238E27FC236}">
                <a16:creationId xmlns:a16="http://schemas.microsoft.com/office/drawing/2014/main" id="{9B99B06E-7C15-9743-C2E1-67CB00A929DD}"/>
              </a:ext>
            </a:extLst>
          </p:cNvPr>
          <p:cNvSpPr txBox="1"/>
          <p:nvPr/>
        </p:nvSpPr>
        <p:spPr>
          <a:xfrm>
            <a:off x="11161920" y="528320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&amp;si=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8" name="P_5_BD#ea8fb26ee?colgroup=10,5,19&amp;vcp=1&amp;pid=8801bfcba&amp;color=0,0,0&amp;vtp=1&amp;bt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9070677"/>
                  </p:ext>
                </p:extLst>
              </p:nvPr>
            </p:nvGraphicFramePr>
            <p:xfrm>
              <a:off x="393192" y="2886075"/>
              <a:ext cx="11384280" cy="1709420"/>
            </p:xfrm>
            <a:graphic>
              <a:graphicData uri="http://schemas.openxmlformats.org/drawingml/2006/table">
                <a:tbl>
                  <a:tblPr/>
                  <a:tblGrid>
                    <a:gridCol w="334670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659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7161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70942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加速度增大的减速运动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30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′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|&lt;|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′|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8" name="P_5_BD#ea8fb26ee?colgroup=10,5,19&amp;vcp=1&amp;pid=8801bfcba&amp;color=0,0,0&amp;vtp=1&amp;bt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9070677"/>
                  </p:ext>
                </p:extLst>
              </p:nvPr>
            </p:nvGraphicFramePr>
            <p:xfrm>
              <a:off x="393192" y="2886075"/>
              <a:ext cx="11384280" cy="1709420"/>
            </p:xfrm>
            <a:graphic>
              <a:graphicData uri="http://schemas.openxmlformats.org/drawingml/2006/table">
                <a:tbl>
                  <a:tblPr/>
                  <a:tblGrid>
                    <a:gridCol w="334670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659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7161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70942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加速度增大的减速运动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30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7651" t="-356" r="-201" b="-7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_5_BD#ea8fb26ee.table_image?tii=7&amp;vcp=1&amp;pid=8801bfcba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90772" y="3004693"/>
            <a:ext cx="1664208" cy="1472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5_BD#ea8fb26ee?colgroup=10,5,19&amp;vcp=1&amp;pid=8801bfcba&amp;color=0,0,0&amp;vtp=1&amp;bt=1&amp;bbb=1">
            <a:extLst>
              <a:ext uri="{FF2B5EF4-FFF2-40B4-BE49-F238E27FC236}">
                <a16:creationId xmlns:a16="http://schemas.microsoft.com/office/drawing/2014/main" id="{D7DA7B84-C64D-B9A1-7BD6-6ADE441FE99B}"/>
              </a:ext>
            </a:extLst>
          </p:cNvPr>
          <p:cNvSpPr txBox="1"/>
          <p:nvPr/>
        </p:nvSpPr>
        <p:spPr>
          <a:xfrm>
            <a:off x="11161920" y="2260600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&amp;si=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#ea8fb26ee?vcp=1&amp;pid=8801bfcba&amp;color=0,0,0&amp;vtp=1&amp;bt=1&amp;bbb=1&amp;hb=1"/>
              <p:cNvSpPr/>
              <p:nvPr/>
            </p:nvSpPr>
            <p:spPr>
              <a:xfrm>
                <a:off x="393192" y="1506315"/>
                <a:ext cx="11402568" cy="3831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名师点拨</a:t>
                </a:r>
                <a:endParaRPr lang="en-US" altLang="zh-CN" sz="2400" dirty="0"/>
              </a:p>
              <a:p>
                <a:pPr algn="ctr" latinLnBrk="1">
                  <a:lnSpc>
                    <a:spcPts val="4400"/>
                  </a:lnSpc>
                </a:pPr>
                <a:r>
                  <a:rPr lang="en-US" altLang="zh-CN" sz="100" b="0" i="0" kern="0" spc="-9990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m&gt;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&lt;/m&gt;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图像问题的“三看”“三定”“一计算”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.“三看”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1）一看轴：看清坐标轴表示的物理量.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2）二看线：看清图线的形状，确定两个物理量的变化规律.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3）三看点：看清交点、折点、边界点，明确不同“点”的物理意义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，确定物理量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的变化范围及其条件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5#ea8fb26ee?vcp=1&amp;pid=8801bfcba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06315"/>
                <a:ext cx="11402568" cy="3831400"/>
              </a:xfrm>
              <a:prstGeom prst="rect">
                <a:avLst/>
              </a:prstGeom>
              <a:blipFill>
                <a:blip r:embed="rId3"/>
                <a:stretch>
                  <a:fillRect l="-1658" r="-1497" b="-47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&amp;si=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ea8fb26ee?vcp=1&amp;pid=8801bfcba&amp;color=0,0,0&amp;vtp=1&amp;bt=1&amp;bbb=1"/>
          <p:cNvSpPr/>
          <p:nvPr/>
        </p:nvSpPr>
        <p:spPr>
          <a:xfrm>
            <a:off x="393192" y="1788986"/>
            <a:ext cx="11402568" cy="326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2.“三定”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1）一定：确定图像与物体运动过程的关系.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2）二定：确定图像与物理公式的关系.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3）三定：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确定图像中各图线的联系.</a:t>
            </a:r>
          </a:p>
          <a:p>
            <a:pPr marL="0" marR="0" lvl="0" indent="0" defTabSz="914400" rtl="0" eaLnBrk="1" fontAlgn="auto" latinLnBrk="1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 panose="02010600030101010101" pitchFamily="2" charset="-122"/>
                <a:ea typeface="SimSun" pitchFamily="34" charset="-122"/>
                <a:cs typeface="SimSun" pitchFamily="34" charset="-120"/>
              </a:rPr>
              <a:t>   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3.“一计算”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defTabSz="914400" rtl="0" eaLnBrk="1" fontAlgn="auto" latinLnBrk="1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把图像信息与相应的物理规律相结合，进行计算，作出判断.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&amp;si=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1410</Words>
  <Application>Microsoft Office PowerPoint</Application>
  <PresentationFormat>宽屏</PresentationFormat>
  <Paragraphs>232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SimHei</vt:lpstr>
      <vt:lpstr>KaiTi</vt:lpstr>
      <vt:lpstr>SimSun</vt:lpstr>
      <vt:lpstr>微软雅黑</vt:lpstr>
      <vt:lpstr>Arial</vt:lpstr>
      <vt:lpstr>Calibri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2026-05-25T08:15:51Z</dcterms:created>
  <dcterms:modified xsi:type="dcterms:W3CDTF">2026-05-25T08:17:12Z</dcterms:modified>
  <cp:category/>
  <cp:contentStatus/>
</cp:coreProperties>
</file>