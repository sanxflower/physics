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7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7266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9b2d2ba91f04ee84#tid=6a13c06328bacd03a259d374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e6322d5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疑难专题3 相遇与追及问题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e6322d591.fixed?vcp=1&amp;pid=efd683a83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匀变速直线运动的研究</a:t>
            </a:r>
            <a:endParaRPr lang="en-US" altLang="zh-CN" sz="4800" dirty="0"/>
          </a:p>
        </p:txBody>
      </p:sp>
      <p:sp>
        <p:nvSpPr>
          <p:cNvPr id="3" name="C_2_BD#e6322d591.fixed?vcp=1&amp;pid=efd683a83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疑难专题3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相遇与追及问题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#f7f8933b1?vcp=1&amp;pid=e6322d591&amp;color=0,0,0&amp;tib=255,255,255&amp;vtp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66344"/>
          </a:xfrm>
          <a:prstGeom prst="rect">
            <a:avLst/>
          </a:prstGeom>
        </p:spPr>
      </p:pic>
      <p:sp>
        <p:nvSpPr>
          <p:cNvPr id="3" name="C_3_BD#f7f8933b1?vcp=1&amp;pid=e6322d591&amp;color=255,255,255&amp;vtp=1&amp;bt=1&amp;bbb=1"/>
          <p:cNvSpPr/>
          <p:nvPr/>
        </p:nvSpPr>
        <p:spPr>
          <a:xfrm>
            <a:off x="393192" y="502920"/>
            <a:ext cx="8961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考点</a:t>
            </a:r>
            <a:endParaRPr lang="en-US" altLang="zh-CN" sz="2600" dirty="0"/>
          </a:p>
        </p:txBody>
      </p:sp>
      <p:sp>
        <p:nvSpPr>
          <p:cNvPr id="4" name="C_3_BD#f7f8933b1?vcp=1&amp;pid=e6322d591&amp;color=255,255,255&amp;vtp=1"/>
          <p:cNvSpPr/>
          <p:nvPr/>
        </p:nvSpPr>
        <p:spPr>
          <a:xfrm>
            <a:off x="1298448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en-US" altLang="zh-CN" sz="2800" dirty="0"/>
          </a:p>
        </p:txBody>
      </p:sp>
      <p:sp>
        <p:nvSpPr>
          <p:cNvPr id="5" name="C_3_BD#f7f8933b1?vcp=1&amp;pid=e6322d591&amp;color=0,0,0&amp;vtp=1&amp;bbb=1"/>
          <p:cNvSpPr/>
          <p:nvPr/>
        </p:nvSpPr>
        <p:spPr>
          <a:xfrm>
            <a:off x="1911096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对相遇与追及问题的理解</a:t>
            </a:r>
            <a:endParaRPr lang="en-US" altLang="zh-CN" sz="2600" dirty="0"/>
          </a:p>
        </p:txBody>
      </p:sp>
      <p:sp>
        <p:nvSpPr>
          <p:cNvPr id="6" name="P_4_BD#9a179743c?vcp=1&amp;pid=f7f8933b1&amp;color=0,0,0&amp;vtp=1&amp;bbb=1&amp;hb=1"/>
          <p:cNvSpPr/>
          <p:nvPr/>
        </p:nvSpPr>
        <p:spPr>
          <a:xfrm>
            <a:off x="393192" y="965200"/>
            <a:ext cx="11402568" cy="2713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1.相遇问题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1）条件：同向运动的物体追上即相遇；相向运动的物体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，各自发生的位移的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绝对值之和等于开始时两物体之间的距离时即相遇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2）临界状态：避免相碰撞的临界状态是两个物体处于相同位置时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，两者的相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对速度为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0.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4_BD#9a179743c?vcp=1&amp;pid=f7f8933b1&amp;color=0,0,0&amp;vtp=1&amp;bt=1&amp;bbb=1&amp;hb=1"/>
              <p:cNvSpPr/>
              <p:nvPr/>
            </p:nvSpPr>
            <p:spPr>
              <a:xfrm>
                <a:off x="393192" y="1238345"/>
                <a:ext cx="11402568" cy="4390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2.追及问题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1）追及问题满足的两个关系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①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时间关系：从后面的物体追赶开始，到追上前面的物体时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，两物体经历的时间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②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位移关系：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为开始追赶时两物体之间的距离，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表示前面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被追赶物体的位移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表示后面追赶物体的位移.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2）临界条件：当两个物体的速度相等时，可能出现恰好追上、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恰好避免相撞、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相距最远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、相距最近等情况，即出现上述四种情况的临界条件为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4_BD#9a179743c?vcp=1&amp;pid=f7f8933b1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38345"/>
                <a:ext cx="11402568" cy="4390200"/>
              </a:xfrm>
              <a:prstGeom prst="rect">
                <a:avLst/>
              </a:prstGeom>
              <a:blipFill>
                <a:blip r:embed="rId3"/>
                <a:stretch>
                  <a:fillRect l="-1658" r="-1872" b="-416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_1#f439831b2?vcp=1&amp;pid=f7f8933b1&amp;color=0,0,0&amp;vtp=1&amp;bt=1&amp;bbb=1&amp;hb=1"/>
              <p:cNvSpPr/>
              <p:nvPr/>
            </p:nvSpPr>
            <p:spPr>
              <a:xfrm>
                <a:off x="393192" y="1272127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例1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（多选题）一辆小汽车以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的速度刚好追上一辆以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的速度匀速骑行的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自行车时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，发现前方有危险，小汽车立即刹车，做匀减速直线运动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，刹车时的加速度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.而自行车继续保持原来的速度行驶，若两车都可看作质点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,对于两车的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下列判断正确的是(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_1#f439831b2?vcp=1&amp;pid=f7f8933b1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72127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535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_1#f439831b2.bracket?vcp=1&amp;pid=f7f8933b1&amp;color=0,0,0&amp;vpa=1&amp;vtp=1&amp;bbb=1"/>
          <p:cNvSpPr/>
          <p:nvPr/>
        </p:nvSpPr>
        <p:spPr>
          <a:xfrm>
            <a:off x="3813460" y="2937097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_2#f439831b2.choices?vcp=1&amp;pid=f7f8933b1&amp;color=0,0,0&amp;vtp=1&amp;bbb=1"/>
              <p:cNvSpPr/>
              <p:nvPr/>
            </p:nvSpPr>
            <p:spPr>
              <a:xfrm>
                <a:off x="393192" y="3411822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A.在自行车追上小汽车之前，两车之间的最大距离为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.在自行车追上小汽车之前，两车之间的最大距离为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14.4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.经过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4.8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的时间，自行车将追上小汽车并反超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.经过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的时间，自行车将追上小汽车并反超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_2#f439831b2.choices?vcp=1&amp;pid=f7f8933b1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11822"/>
                <a:ext cx="11402568" cy="2155000"/>
              </a:xfrm>
              <a:prstGeom prst="rect">
                <a:avLst/>
              </a:prstGeom>
              <a:blipFill>
                <a:blip r:embed="rId4"/>
                <a:stretch>
                  <a:fillRect l="-1658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3_1#f439831b2?vcp=1&amp;pid=f7f8933b1&amp;color=0,0,0&amp;vtp=1&amp;bt=1&amp;bbb=1&amp;hb=1"/>
              <p:cNvSpPr/>
              <p:nvPr/>
            </p:nvSpPr>
            <p:spPr>
              <a:xfrm>
                <a:off x="393192" y="1663890"/>
                <a:ext cx="11402568" cy="3352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两车速度相等时，两车之间的距离最大，则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,所以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两车间的最大距离为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,A错误，B正确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;小汽车刹车</a:t>
                </a:r>
              </a:p>
              <a:p>
                <a:pPr latinLnBrk="1">
                  <a:lnSpc>
                    <a:spcPts val="5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过程所用的时间为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,此过程中小汽车和自行车的位移分别为</a:t>
                </a:r>
              </a:p>
              <a:p>
                <a:pPr latinLnBrk="1">
                  <a:lnSpc>
                    <a:spcPts val="58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，由此可知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，小汽车停止运动后才被自行</a:t>
                </a:r>
              </a:p>
              <a:p>
                <a:pPr latinLnBrk="1">
                  <a:lnSpc>
                    <a:spcPts val="5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车追上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,C错误,D正确.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3_1#f439831b2?vcp=1&amp;pid=f7f8933b1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63890"/>
                <a:ext cx="11402568" cy="3352800"/>
              </a:xfrm>
              <a:prstGeom prst="rect">
                <a:avLst/>
              </a:prstGeom>
              <a:blipFill>
                <a:blip r:embed="rId3"/>
                <a:stretch>
                  <a:fillRect l="-1658" r="-1390" b="-163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4_BD#8da312986?vcp=1&amp;pid=f7f8933b1&amp;color=0,0,0&amp;vtp=1&amp;bt=1&amp;bbb=1&amp;hb=1"/>
          <p:cNvSpPr/>
          <p:nvPr/>
        </p:nvSpPr>
        <p:spPr>
          <a:xfrm>
            <a:off x="393192" y="2628995"/>
            <a:ext cx="11402568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误区警示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若被追赶的物体做匀减速直线运动，一定要注意判断被追上前该物体是否已经停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止运动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4_1#dc703ed57?vcp=1&amp;pid=f7f8933b1&amp;color=0,0,0&amp;vtp=1&amp;bt=1&amp;bbb=1&amp;hb=1"/>
              <p:cNvSpPr/>
              <p:nvPr/>
            </p:nvSpPr>
            <p:spPr>
              <a:xfrm>
                <a:off x="393192" y="1275239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变式1-1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象群经过某一平直路段时，一小象因贪玩而落后象群里的象妈妈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时才察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，于是小象立刻由静止开始以大小为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的加速度追赶象妈妈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.若象妈妈以大小为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的速度匀速前行，小象达到最大速度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后的速度保持不变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，则下列说法正确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4_1#dc703ed57?vcp=1&amp;pid=f7f8933b1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75239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283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5_1#dc703ed57.bracket?vcp=1&amp;pid=f7f8933b1&amp;color=0,0,0&amp;vpa=2&amp;vtp=1"/>
          <p:cNvSpPr/>
          <p:nvPr/>
        </p:nvSpPr>
        <p:spPr>
          <a:xfrm>
            <a:off x="1235360" y="2940209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4_2#dc703ed57.choices?vcp=1&amp;pid=f7f8933b1&amp;color=0,0,0&amp;vtp=1&amp;bbb=1"/>
              <p:cNvSpPr/>
              <p:nvPr/>
            </p:nvSpPr>
            <p:spPr>
              <a:xfrm>
                <a:off x="393192" y="3414934"/>
                <a:ext cx="11402568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A.从小象开始追赶象妈妈起，经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它们相距最远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.小象追赶象妈妈的过程中，与象妈妈的最远距离为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.从小象开始追赶象妈妈起，经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小象追上象妈妈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.小象追赶象妈妈过程中的位移大小为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4_2#dc703ed57.choices?vcp=1&amp;pid=f7f8933b1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14934"/>
                <a:ext cx="11402568" cy="2158302"/>
              </a:xfrm>
              <a:prstGeom prst="rect">
                <a:avLst/>
              </a:prstGeom>
              <a:blipFill>
                <a:blip r:embed="rId4"/>
                <a:stretch>
                  <a:fillRect l="-1658" b="-8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6_1#dc703ed57?vcp=1&amp;pid=f7f8933b1&amp;color=0,0,0&amp;vtp=1&amp;bt=1&amp;bbb=1&amp;hb=1"/>
              <p:cNvSpPr/>
              <p:nvPr/>
            </p:nvSpPr>
            <p:spPr>
              <a:xfrm>
                <a:off x="393192" y="1420749"/>
                <a:ext cx="11402568" cy="382993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小象与象妈妈达到共同速度时它们相距最远，从小象开始追赶象妈妈起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，到它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们相距最远所用的时间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，最远距离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𝐦𝐚𝐱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A、B错误；从小象开始追赶象妈妈起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，到小象达到最大速度所用的时间</a:t>
                </a:r>
              </a:p>
              <a:p>
                <a:pPr latinLnBrk="1">
                  <a:lnSpc>
                    <a:spcPts val="58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𝐦𝐚𝐱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，设从小象开始追赶象妈妈起，经时间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小象追上象妈妈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，有</a:t>
                </a:r>
              </a:p>
              <a:p>
                <a:pPr latinLnBrk="1">
                  <a:lnSpc>
                    <a:spcPts val="58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𝐦𝐚𝐱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𝐦𝐚𝐱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，小象追赶象妈妈过程中的位移大小</a:t>
                </a:r>
              </a:p>
              <a:p>
                <a:pPr latinLnBrk="1">
                  <a:lnSpc>
                    <a:spcPts val="5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𝐦𝐚𝐱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𝐦𝐚𝐱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，故C错误，D正确.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6_1#dc703ed57?vcp=1&amp;pid=f7f8933b1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20749"/>
                <a:ext cx="11402568" cy="3829939"/>
              </a:xfrm>
              <a:prstGeom prst="rect">
                <a:avLst/>
              </a:prstGeom>
              <a:blipFill>
                <a:blip r:embed="rId3"/>
                <a:stretch>
                  <a:fillRect l="-1658" r="-1016" b="-286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#7f7d98ed0?vcp=1&amp;pid=e6322d591&amp;color=0,0,0&amp;tib=255,255,255&amp;vtp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66344"/>
          </a:xfrm>
          <a:prstGeom prst="rect">
            <a:avLst/>
          </a:prstGeom>
        </p:spPr>
      </p:pic>
      <p:sp>
        <p:nvSpPr>
          <p:cNvPr id="3" name="C_3_BD#7f7d98ed0?vcp=1&amp;pid=e6322d591&amp;color=255,255,255&amp;vtp=1&amp;bt=1&amp;bbb=1"/>
          <p:cNvSpPr/>
          <p:nvPr/>
        </p:nvSpPr>
        <p:spPr>
          <a:xfrm>
            <a:off x="393192" y="502920"/>
            <a:ext cx="8961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考点</a:t>
            </a:r>
            <a:endParaRPr lang="en-US" altLang="zh-CN" sz="2600" dirty="0"/>
          </a:p>
        </p:txBody>
      </p:sp>
      <p:sp>
        <p:nvSpPr>
          <p:cNvPr id="4" name="C_3_BD#7f7d98ed0?vcp=1&amp;pid=e6322d591&amp;color=255,255,255&amp;vtp=1"/>
          <p:cNvSpPr/>
          <p:nvPr/>
        </p:nvSpPr>
        <p:spPr>
          <a:xfrm>
            <a:off x="1298448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/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en-US" altLang="zh-CN" sz="2800" dirty="0"/>
          </a:p>
        </p:txBody>
      </p:sp>
      <p:sp>
        <p:nvSpPr>
          <p:cNvPr id="5" name="C_3_BD#7f7d98ed0?vcp=1&amp;pid=e6322d591&amp;color=0,0,0&amp;vtp=1&amp;bbb=1"/>
          <p:cNvSpPr/>
          <p:nvPr/>
        </p:nvSpPr>
        <p:spPr>
          <a:xfrm>
            <a:off x="1911096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相遇与追及问题的常用方法与技巧</a:t>
            </a:r>
            <a:endParaRPr lang="en-US" altLang="zh-CN" sz="2600" dirty="0"/>
          </a:p>
        </p:txBody>
      </p:sp>
      <p:sp>
        <p:nvSpPr>
          <p:cNvPr id="6" name="P_4_BD#1b636e91b?vcp=1&amp;pid=7f7d98ed0&amp;color=0,0,0&amp;vtp=1&amp;bbb=1"/>
          <p:cNvSpPr/>
          <p:nvPr/>
        </p:nvSpPr>
        <p:spPr>
          <a:xfrm>
            <a:off x="393192" y="965200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1.常用方法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P_4_BD#1b636e91b?colgroup=3,32&amp;vcp=1&amp;pid=7f7d98ed0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8362634"/>
                  </p:ext>
                </p:extLst>
              </p:nvPr>
            </p:nvGraphicFramePr>
            <p:xfrm>
              <a:off x="393192" y="1585595"/>
              <a:ext cx="11365992" cy="4188905"/>
            </p:xfrm>
            <a:graphic>
              <a:graphicData uri="http://schemas.openxmlformats.org/drawingml/2006/table">
                <a:tbl>
                  <a:tblPr/>
                  <a:tblGrid>
                    <a:gridCol w="12344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1315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903923"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临界条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件法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当两物体到达同一位置时两者速度相同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则恰能追上或恰追不上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也是两者避碰的临界条件）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3488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判别</a:t>
                          </a:r>
                          <a:endParaRPr lang="en-US" altLang="zh-CN" sz="1200" dirty="0"/>
                        </a:p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式法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若追者甲和被追者乙最初相距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令两者在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时相遇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则有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spc="-100" baseline="-10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甲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spc="-100" baseline="-10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乙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得到关于时间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的一元二次方程.当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−4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𝑎𝑐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&gt;0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两者相遇两次或相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遇一次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（两正根时相遇两次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一正根一负根时相遇一次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）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当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−4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𝑎𝑐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两者恰好相遇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当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−4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𝑎𝑐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&lt;0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两者不会</a:t>
                          </a:r>
                          <a:endParaRPr lang="en-US" altLang="zh-CN" sz="1200" dirty="0"/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相遇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03732"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相对运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动法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取两物体中的一个物体为参考系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研究另外一个物体的运动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.这种情况下碰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撞或不碰撞的临界条件是当物体的相对速度为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0时二者间的距离也恰好为0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P_4_BD#1b636e91b?colgroup=3,32&amp;vcp=1&amp;pid=7f7d98ed0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8362634"/>
                  </p:ext>
                </p:extLst>
              </p:nvPr>
            </p:nvGraphicFramePr>
            <p:xfrm>
              <a:off x="393192" y="1585595"/>
              <a:ext cx="11365992" cy="4188905"/>
            </p:xfrm>
            <a:graphic>
              <a:graphicData uri="http://schemas.openxmlformats.org/drawingml/2006/table">
                <a:tbl>
                  <a:tblPr/>
                  <a:tblGrid>
                    <a:gridCol w="12344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1315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913765"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临界条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件法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当两物体到达同一位置时两者速度相同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则恰能追上或恰追不上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也是两者避碰的临界条件）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361565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判别</a:t>
                          </a:r>
                          <a:endParaRPr lang="en-US" altLang="zh-CN" sz="1200" dirty="0"/>
                        </a:p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式法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274" t="-39691" r="-120" b="-461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13575"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相对运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动法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取两物体中的一个物体为参考系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研究另外一个物体的运动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.这种情况下碰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撞或不碰撞的临界条件是当物体的相对速度为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0时二者间的距离也恰好为0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>
    <p:split dir="in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_4_BD#1b636e91b?colgroup=3,32&amp;vcp=1&amp;pid=7f7d98ed0&amp;color=0,0,0&amp;vtp=1&amp;bbb=1&amp;hb=1">
            <a:extLst>
              <a:ext uri="{FF2B5EF4-FFF2-40B4-BE49-F238E27FC236}">
                <a16:creationId xmlns:a16="http://schemas.microsoft.com/office/drawing/2014/main" id="{3D42BDE5-2122-E2F3-50E9-823BA0C72A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085337"/>
              </p:ext>
            </p:extLst>
          </p:nvPr>
        </p:nvGraphicFramePr>
        <p:xfrm>
          <a:off x="393192" y="1201373"/>
          <a:ext cx="11365992" cy="913765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1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3923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图像法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将两个物体运动的速度与时间的关系在同一图像中画出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然后利用图像分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析求解相关问题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P_4_BD#1b636e91b?colgroup=3,32&amp;vcp=1&amp;pid=7f7d98ed0&amp;color=0,0,0&amp;vtp=1&amp;bbb=1&amp;hb=1">
            <a:extLst>
              <a:ext uri="{FF2B5EF4-FFF2-40B4-BE49-F238E27FC236}">
                <a16:creationId xmlns:a16="http://schemas.microsoft.com/office/drawing/2014/main" id="{E252BE88-79F8-7E6B-2AFA-DC22317D4A3D}"/>
              </a:ext>
            </a:extLst>
          </p:cNvPr>
          <p:cNvSpPr txBox="1"/>
          <p:nvPr/>
        </p:nvSpPr>
        <p:spPr>
          <a:xfrm>
            <a:off x="9219185" y="576978"/>
            <a:ext cx="2540000" cy="50321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  <p:sp>
        <p:nvSpPr>
          <p:cNvPr id="4" name="P_4_BD#1b636e91b?vcp=1&amp;pid=7f7d98ed0&amp;color=0,0,0&amp;vtp=1&amp;bt=1&amp;bbb=1">
            <a:extLst>
              <a:ext uri="{FF2B5EF4-FFF2-40B4-BE49-F238E27FC236}">
                <a16:creationId xmlns:a16="http://schemas.microsoft.com/office/drawing/2014/main" id="{AA79E0DA-3656-BF9C-495F-46D4F1D09E00}"/>
              </a:ext>
            </a:extLst>
          </p:cNvPr>
          <p:cNvSpPr/>
          <p:nvPr/>
        </p:nvSpPr>
        <p:spPr>
          <a:xfrm>
            <a:off x="393192" y="2242773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2.两个解题技巧</a:t>
            </a:r>
            <a:endParaRPr lang="en-US" altLang="zh-CN" sz="2400" dirty="0"/>
          </a:p>
        </p:txBody>
      </p:sp>
      <p:pic>
        <p:nvPicPr>
          <p:cNvPr id="5" name="P_4_BD#1b636e91b?vcp=1&amp;pid=7f7d98ed0&amp;color=0,0,0&amp;tib=255,255,255&amp;vtp=1" descr="preencoded.png">
            <a:extLst>
              <a:ext uri="{FF2B5EF4-FFF2-40B4-BE49-F238E27FC236}">
                <a16:creationId xmlns:a16="http://schemas.microsoft.com/office/drawing/2014/main" id="{8B601462-75C6-522F-416D-C5A774F28FD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98582" y="2863168"/>
            <a:ext cx="4791791" cy="3414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938886"/>
      </p:ext>
    </p:extLst>
  </p:cSld>
  <p:clrMapOvr>
    <a:masterClrMapping/>
  </p:clrMapOvr>
  <p:transition>
    <p:split dir="in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BD.7_1#bc90dc27f?vcp=1&amp;pid=7f7d98ed0&amp;color=0,0,0&amp;vtp=1&amp;bt=1&amp;bbb=1&amp;hb=1"/>
              <p:cNvSpPr/>
              <p:nvPr/>
            </p:nvSpPr>
            <p:spPr>
              <a:xfrm>
                <a:off x="393192" y="891445"/>
                <a:ext cx="11402568" cy="10622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例2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（2026·江西师大附中检测）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一辆自行车以速度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aseline="-10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自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匀速经过汽车时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，汽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车从静止开始以加速度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做匀加速直线运动.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BD.7_1#bc90dc27f?vcp=1&amp;pid=7f7d98ed0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91445"/>
                <a:ext cx="11402568" cy="1062228"/>
              </a:xfrm>
              <a:prstGeom prst="rect">
                <a:avLst/>
              </a:prstGeom>
              <a:blipFill>
                <a:blip r:embed="rId3"/>
                <a:stretch>
                  <a:fillRect l="-1658" r="-695" b="-1724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O_5_BD.8_1#8815263f5?vcp=1&amp;pid=bc90dc27f&amp;color=0,0,0&amp;vtp=1&amp;bbb=1"/>
          <p:cNvSpPr/>
          <p:nvPr/>
        </p:nvSpPr>
        <p:spPr>
          <a:xfrm>
            <a:off x="393192" y="1964341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（1）当汽车速度是多少时，自行车超过汽车的距离最大？最大距离是多少？</a:t>
            </a:r>
            <a:endParaRPr lang="en-US" altLang="zh-CN" sz="2400" dirty="0"/>
          </a:p>
        </p:txBody>
      </p:sp>
      <p:pic>
        <p:nvPicPr>
          <p:cNvPr id="4" name="QO_5_AS.9_1#8815263f5?htil=1&amp;vcp=1&amp;pid=bc90dc27f&amp;color=0,0,0&amp;tib=255,255,255&amp;vtp=1&amp;hs=1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44934" y="2562066"/>
            <a:ext cx="2167128" cy="161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O_5_AS.9_2#8815263f5?htil=1&amp;vcp=1&amp;pid=bc90dc27f&amp;color=0,0,0&amp;vtp=1&amp;bbb=1&amp;hb=1&amp;hs=1"/>
          <p:cNvSpPr/>
          <p:nvPr/>
        </p:nvSpPr>
        <p:spPr>
          <a:xfrm>
            <a:off x="393192" y="2516346"/>
            <a:ext cx="9098280" cy="2155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方法一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常规法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汽车启动后速度由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0逐渐增大，而自行车的速度是定值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，当汽车的速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度小于自行车的速度时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，两车间的距离越来越大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，当汽车的速度大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于自行车的速度时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，两车间的距离越来越小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，所以当两车的速度相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O_5_AS.9_2#8815263f5?htil=1&amp;vcp=1&amp;pid=bc90dc27f&amp;color=0,0,0&amp;vtp=1&amp;bbb=1&amp;hb=1&amp;hs=1">
                <a:extLst>
                  <a:ext uri="{FF2B5EF4-FFF2-40B4-BE49-F238E27FC236}">
                    <a16:creationId xmlns:a16="http://schemas.microsoft.com/office/drawing/2014/main" id="{B7F5CEBC-8BB4-D282-0DCB-EE00D465A74E}"/>
                  </a:ext>
                </a:extLst>
              </p:cNvPr>
              <p:cNvSpPr/>
              <p:nvPr/>
            </p:nvSpPr>
            <p:spPr>
              <a:xfrm>
                <a:off x="395996" y="4667536"/>
                <a:ext cx="11400008" cy="1168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等时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，两车之间的距离最大，有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汽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自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，最大距离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自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O_5_AS.9_2#8815263f5?htil=1&amp;vcp=1&amp;pid=bc90dc27f&amp;color=0,0,0&amp;vtp=1&amp;bbb=1&amp;hb=1&amp;hs=1">
                <a:extLst>
                  <a:ext uri="{FF2B5EF4-FFF2-40B4-BE49-F238E27FC236}">
                    <a16:creationId xmlns:a16="http://schemas.microsoft.com/office/drawing/2014/main" id="{B7F5CEBC-8BB4-D282-0DCB-EE00D465A7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4667536"/>
                <a:ext cx="11400008" cy="1168400"/>
              </a:xfrm>
              <a:prstGeom prst="rect">
                <a:avLst/>
              </a:prstGeom>
              <a:blipFill>
                <a:blip r:embed="rId5"/>
                <a:stretch>
                  <a:fillRect l="-1658" b="-942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6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AS.9_3#8815263f5?vcp=1&amp;pid=bc90dc27f&amp;color=0,0,0&amp;mp=1&amp;vtp=1&amp;bt=1&amp;bbb=1&amp;hb=1"/>
              <p:cNvSpPr/>
              <p:nvPr/>
            </p:nvSpPr>
            <p:spPr>
              <a:xfrm>
                <a:off x="393192" y="985425"/>
                <a:ext cx="11402568" cy="28240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方法二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二次函数极值法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设两车的运动时间为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,则两车间的距离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关于时间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的函数关系式为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汽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自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,根据二次函数的特点可知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</a:t>
                </a:r>
              </a:p>
              <a:p>
                <a:pPr latinLnBrk="1">
                  <a:lnSpc>
                    <a:spcPts val="51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×(−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最大，最大值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方法三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图像法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AS.9_3#8815263f5?vcp=1&amp;pid=bc90dc27f&amp;color=0,0,0&amp;mp=1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85425"/>
                <a:ext cx="11402568" cy="2824099"/>
              </a:xfrm>
              <a:prstGeom prst="rect">
                <a:avLst/>
              </a:prstGeom>
              <a:blipFill>
                <a:blip r:embed="rId3"/>
                <a:stretch>
                  <a:fillRect l="-1658" b="-647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S.9_4#8815263f5?vcp=1&amp;pid=bc90dc27f&amp;color=0,0,0&amp;vtp=1&amp;bbb=1&amp;hb=1"/>
              <p:cNvSpPr/>
              <p:nvPr/>
            </p:nvSpPr>
            <p:spPr>
              <a:xfrm>
                <a:off x="393192" y="3813015"/>
                <a:ext cx="11402568" cy="1676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在同一坐标系中作出汽车与自行车的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图像，如图所示，根据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图像中图线与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时间轴所围图形的面积表示位移的大小可知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汽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车相距最远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，最远距离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S.9_4#8815263f5?vcp=1&amp;pid=bc90dc27f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813015"/>
                <a:ext cx="11402568" cy="1676400"/>
              </a:xfrm>
              <a:prstGeom prst="rect">
                <a:avLst/>
              </a:prstGeom>
              <a:blipFill>
                <a:blip r:embed="rId4"/>
                <a:stretch>
                  <a:fillRect l="-1658" r="-214" b="-654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3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O_5_BD.10_1#ec1ac138a?vcp=1&amp;pid=bc90dc27f&amp;color=0,0,0&amp;vtp=1&amp;bt=1&amp;bbb=1"/>
          <p:cNvSpPr/>
          <p:nvPr/>
        </p:nvSpPr>
        <p:spPr>
          <a:xfrm>
            <a:off x="393192" y="1365060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（2）当汽车速度是多少时，汽车刚好追上自行车？经历了多长时间？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S.11_1#ec1ac138a?vcp=1&amp;pid=bc90dc27f&amp;color=0,0,0&amp;vtp=1&amp;bbb=1&amp;hb=1"/>
              <p:cNvSpPr/>
              <p:nvPr/>
            </p:nvSpPr>
            <p:spPr>
              <a:xfrm>
                <a:off x="393192" y="1923161"/>
                <a:ext cx="11402568" cy="333921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方法一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常规法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当汽车追上自行车时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，两车位移相等，有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自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,代入数据解得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汽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图像法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由图可知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,若汽车追上自行车，则两车位移相等，即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图像中图线与时间轴所围图</a:t>
                </a:r>
              </a:p>
              <a:p>
                <a:pPr latinLnBrk="1">
                  <a:lnSpc>
                    <a:spcPts val="4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形的面积相等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，由图可知当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时两车位移相等，此时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汽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S.11_1#ec1ac138a?vcp=1&amp;pid=bc90dc27f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923161"/>
                <a:ext cx="11402568" cy="3339211"/>
              </a:xfrm>
              <a:prstGeom prst="rect">
                <a:avLst/>
              </a:prstGeom>
              <a:blipFill>
                <a:blip r:embed="rId3"/>
                <a:stretch>
                  <a:fillRect l="-1658" b="-510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BD.12_1#1bb8e34e1?vcp=1&amp;pid=7f7d98ed0&amp;color=0,0,0&amp;vtp=1&amp;bt=1&amp;bbb=1&amp;hb=1"/>
              <p:cNvSpPr/>
              <p:nvPr/>
            </p:nvSpPr>
            <p:spPr>
              <a:xfrm>
                <a:off x="393192" y="2635250"/>
                <a:ext cx="11402568" cy="15963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变式2-1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一辆汽车在十字路口等候绿灯，当绿灯亮时汽车以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的加速度开始加速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行驶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，恰在这时一辆自行车以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的速度匀速驶来，从后面超过汽车.试求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：汽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车从路口启动后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，在追上自行车之前经过多长时间两车相距最远？此时距离是多少？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BD.12_1#1bb8e34e1?vcp=1&amp;pid=7f7d98ed0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635250"/>
                <a:ext cx="11402568" cy="1596390"/>
              </a:xfrm>
              <a:prstGeom prst="rect">
                <a:avLst/>
              </a:prstGeom>
              <a:blipFill>
                <a:blip r:embed="rId3"/>
                <a:stretch>
                  <a:fillRect l="-1658" r="-535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O_4_AN.13_1#1bb8e34e1?vcp=1&amp;pid=7f7d98ed0&amp;color=0,0,0&amp;vtp=1&amp;bt=1&amp;bbb=1&amp;hb=1"/>
          <p:cNvSpPr/>
          <p:nvPr/>
        </p:nvSpPr>
        <p:spPr>
          <a:xfrm>
            <a:off x="393192" y="958120"/>
            <a:ext cx="11402568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[答案]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方法一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物理分析法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画出汽车和自行车的行程草图如图甲所示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，当汽车的速度与自行车的速度相等时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，两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车之间的距离最大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  <p:pic>
        <p:nvPicPr>
          <p:cNvPr id="3" name="QO_4_AN.13_3#1bb8e34e1?iti=1&amp;htil=1&amp;vcp=1&amp;pid=7f7d98ed0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86584" y="2678716"/>
            <a:ext cx="1719072" cy="1124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QO_4_AN.13_4#1bb8e34e1?iti=2&amp;htil=1&amp;vcp=1&amp;pid=7f7d98ed0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21040" y="2678716"/>
            <a:ext cx="1261872" cy="1124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O_4_AN.13_5#1bb8e34e1?iti=1&amp;htil=1&amp;vcp=1&amp;pid=7f7d98ed0&amp;color=0,0,0&amp;vtp=1"/>
          <p:cNvSpPr/>
          <p:nvPr/>
        </p:nvSpPr>
        <p:spPr>
          <a:xfrm>
            <a:off x="3059589" y="3930428"/>
            <a:ext cx="373062" cy="89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latinLnBrk="1">
              <a:lnSpc>
                <a:spcPct val="150000"/>
              </a:lnSpc>
            </a:pPr>
            <a:r>
              <a:rPr lang="en-US" altLang="zh-CN" sz="2400" b="0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甲</a:t>
            </a:r>
            <a:endParaRPr lang="en-US" altLang="zh-CN" sz="2400" dirty="0"/>
          </a:p>
        </p:txBody>
      </p:sp>
      <p:sp>
        <p:nvSpPr>
          <p:cNvPr id="6" name="QO_4_AN.13_6#1bb8e34e1?iti=2&amp;htil=1&amp;vcp=1&amp;pid=7f7d98ed0&amp;color=0,0,0&amp;vtp=1"/>
          <p:cNvSpPr/>
          <p:nvPr/>
        </p:nvSpPr>
        <p:spPr>
          <a:xfrm>
            <a:off x="8765445" y="3930428"/>
            <a:ext cx="373062" cy="89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latinLnBrk="1">
              <a:lnSpc>
                <a:spcPct val="150000"/>
              </a:lnSpc>
            </a:pPr>
            <a:r>
              <a:rPr lang="en-US" altLang="zh-CN" sz="2400" b="0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乙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QO_4_AN.13_7#1bb8e34e1?vcp=1&amp;pid=7f7d98ed0&amp;color=0,0,0&amp;vtp=1&amp;bbb=1&amp;hb=1"/>
              <p:cNvSpPr/>
              <p:nvPr/>
            </p:nvSpPr>
            <p:spPr>
              <a:xfrm>
                <a:off x="393192" y="4431316"/>
                <a:ext cx="11402568" cy="14588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58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设经过时间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两车之间的距离最大，则有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汽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,所以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6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汽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O_4_AN.13_7#1bb8e34e1?vcp=1&amp;pid=7f7d98ed0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431316"/>
                <a:ext cx="11402568" cy="1458849"/>
              </a:xfrm>
              <a:prstGeom prst="rect">
                <a:avLst/>
              </a:prstGeom>
              <a:blipFill>
                <a:blip r:embed="rId5"/>
                <a:stretch>
                  <a:fillRect l="-1658" b="-711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5" grpId="0" build="p" animBg="1"/>
      <p:bldP spid="6" grpId="0" build="p" animBg="1"/>
      <p:bldP spid="7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AN.13_8#1bb8e34e1?vcp=1&amp;pid=7f7d98ed0&amp;color=0,0,0&amp;mp=1&amp;vtp=1&amp;bt=1&amp;bbb=1&amp;hb=1"/>
              <p:cNvSpPr/>
              <p:nvPr/>
            </p:nvSpPr>
            <p:spPr>
              <a:xfrm>
                <a:off x="393192" y="1292797"/>
                <a:ext cx="11402568" cy="3911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方法二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图像法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画出自行车和汽车的速度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—时间图像如图乙所示，自行车的位移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自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等于其图线与时间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轴围成的矩形的面积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，而汽车的位移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汽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则等于其图线与时间轴围成的三角形的面积. 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两车之间的距离则等于图中矩形与三角形的面积之差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，不难看出，当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,矩形与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三角形的面积之差最大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由图像可知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时汽车的速度为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时两车的距离最大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AN.13_8#1bb8e34e1?vcp=1&amp;pid=7f7d98ed0&amp;color=0,0,0&amp;mp=1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92797"/>
                <a:ext cx="11402568" cy="3911600"/>
              </a:xfrm>
              <a:prstGeom prst="rect">
                <a:avLst/>
              </a:prstGeom>
              <a:blipFill>
                <a:blip r:embed="rId3"/>
                <a:stretch>
                  <a:fillRect l="-1658" r="-1283" b="-280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#dbba766f3?vcp=1&amp;pid=e6322d591&amp;color=0,0,0&amp;tib=255,255,255&amp;vtp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66344"/>
          </a:xfrm>
          <a:prstGeom prst="rect">
            <a:avLst/>
          </a:prstGeom>
        </p:spPr>
      </p:pic>
      <p:sp>
        <p:nvSpPr>
          <p:cNvPr id="3" name="C_3_BD#dbba766f3?vcp=1&amp;pid=e6322d591&amp;color=255,255,255&amp;vtp=1&amp;bt=1&amp;bbb=1"/>
          <p:cNvSpPr/>
          <p:nvPr/>
        </p:nvSpPr>
        <p:spPr>
          <a:xfrm>
            <a:off x="393192" y="502920"/>
            <a:ext cx="8961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考点</a:t>
            </a:r>
            <a:endParaRPr lang="en-US" altLang="zh-CN" sz="2600" dirty="0"/>
          </a:p>
        </p:txBody>
      </p:sp>
      <p:sp>
        <p:nvSpPr>
          <p:cNvPr id="4" name="C_3_BD#dbba766f3?vcp=1&amp;pid=e6322d591&amp;color=255,255,255&amp;vtp=1"/>
          <p:cNvSpPr/>
          <p:nvPr/>
        </p:nvSpPr>
        <p:spPr>
          <a:xfrm>
            <a:off x="1298448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</a:t>
            </a:r>
            <a:endParaRPr lang="en-US" altLang="zh-CN" sz="2800" dirty="0"/>
          </a:p>
        </p:txBody>
      </p:sp>
      <p:sp>
        <p:nvSpPr>
          <p:cNvPr id="5" name="C_3_BD#dbba766f3?vcp=1&amp;pid=e6322d591&amp;color=0,0,0&amp;vtp=1&amp;bbb=1"/>
          <p:cNvSpPr/>
          <p:nvPr/>
        </p:nvSpPr>
        <p:spPr>
          <a:xfrm>
            <a:off x="1911096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相遇与追及问题的常见类型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P_4_BD#fbd6a0288?vcp=1&amp;pid=dbba766f3&amp;color=0,0,0&amp;vtp=1&amp;bbb=1"/>
              <p:cNvSpPr/>
              <p:nvPr/>
            </p:nvSpPr>
            <p:spPr>
              <a:xfrm>
                <a:off x="393192" y="965200"/>
                <a:ext cx="11402568" cy="10147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.初速度小者追初速度大者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设被追者与追赶者初始距离为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#1.1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P_4_BD#fbd6a0288?vcp=1&amp;pid=dbba766f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65200"/>
                <a:ext cx="11402568" cy="1014730"/>
              </a:xfrm>
              <a:prstGeom prst="rect">
                <a:avLst/>
              </a:prstGeom>
              <a:blipFill>
                <a:blip r:embed="rId4"/>
                <a:stretch>
                  <a:fillRect b="-1856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" name="P_4_BD#fbd6a0288?colgroup=13,6,16&amp;vcp=1&amp;pid=dbba766f3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3803900"/>
                  </p:ext>
                </p:extLst>
              </p:nvPr>
            </p:nvGraphicFramePr>
            <p:xfrm>
              <a:off x="393192" y="2108200"/>
              <a:ext cx="11356848" cy="4284981"/>
            </p:xfrm>
            <a:graphic>
              <a:graphicData uri="http://schemas.openxmlformats.org/drawingml/2006/table">
                <a:tbl>
                  <a:tblPr/>
                  <a:tblGrid>
                    <a:gridCol w="41330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939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1297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3930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1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类型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1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1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196402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1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匀加速追匀速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72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43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(1)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以前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后面物体与前面物体</a:t>
                          </a:r>
                        </a:p>
                        <a:p>
                          <a:pPr marL="0" indent="0" algn="l" latinLnBrk="1" hangingPunct="0">
                            <a:lnSpc>
                              <a:spcPts val="43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间距不断增大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endParaRPr lang="en-US" altLang="zh-CN" sz="1200" spc="-100" dirty="0"/>
                        </a:p>
                        <a:p>
                          <a:pPr marL="0" indent="0" algn="l" latinLnBrk="1" hangingPunct="0">
                            <a:lnSpc>
                              <a:spcPts val="43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(2)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两物体速度相等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相距</a:t>
                          </a:r>
                        </a:p>
                        <a:p>
                          <a:pPr marL="0" indent="0" algn="l" latinLnBrk="1" hangingPunct="0">
                            <a:lnSpc>
                              <a:spcPts val="43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最远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间距为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endParaRPr lang="en-US" altLang="zh-CN" sz="1200" spc="-100" dirty="0"/>
                        </a:p>
                        <a:p>
                          <a:pPr marL="0" indent="0" algn="l" latinLnBrk="1" hangingPunct="0">
                            <a:lnSpc>
                              <a:spcPts val="43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3）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以后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后面物体与前面物</a:t>
                          </a:r>
                        </a:p>
                        <a:p>
                          <a:pPr marL="0" indent="0" algn="l" latinLnBrk="1" hangingPunct="0">
                            <a:lnSpc>
                              <a:spcPts val="43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体间距逐渐减小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直到追上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endParaRPr lang="en-US" altLang="zh-CN" sz="1200" spc="-100" dirty="0"/>
                        </a:p>
                        <a:p>
                          <a:pPr marL="0" lvl="0" indent="0" algn="l" latinLnBrk="1" hangingPunct="0">
                            <a:lnSpc>
                              <a:spcPts val="41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4）一定能追上且只能相遇一次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90955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1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匀速追匀减速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8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" name="P_4_BD#fbd6a0288?colgroup=13,6,16&amp;vcp=1&amp;pid=dbba766f3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3803900"/>
                  </p:ext>
                </p:extLst>
              </p:nvPr>
            </p:nvGraphicFramePr>
            <p:xfrm>
              <a:off x="393192" y="2108200"/>
              <a:ext cx="11356848" cy="4284981"/>
            </p:xfrm>
            <a:graphic>
              <a:graphicData uri="http://schemas.openxmlformats.org/drawingml/2006/table">
                <a:tbl>
                  <a:tblPr/>
                  <a:tblGrid>
                    <a:gridCol w="41330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939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1297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3930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1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类型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1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1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196402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1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匀加速追匀速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72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1496" t="-14472" r="-238" b="-48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54927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1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匀速追匀减速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8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P_4_BD#fbd6a0288.table_image?tii=1&amp;vcp=1&amp;pid=dbba766f3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81728" y="2680431"/>
            <a:ext cx="1783080" cy="2130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9" name="P_4_BD#fbd6a0288.table_image?tii=2&amp;vcp=1&amp;pid=dbba766f3&amp;color=0,0,0&amp;tib=255,255,255&amp;vtp=1" descr="preencoded.png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22876" y="5005991"/>
            <a:ext cx="1700784" cy="1225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" name="P_4_BD#fbd6a0288?colgroup=13,6,16&amp;vcp=1&amp;pid=dbba766f3&amp;color=0,0,0&amp;mp=1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4923891"/>
                  </p:ext>
                </p:extLst>
              </p:nvPr>
            </p:nvGraphicFramePr>
            <p:xfrm>
              <a:off x="393192" y="1794193"/>
              <a:ext cx="11356848" cy="3893185"/>
            </p:xfrm>
            <a:graphic>
              <a:graphicData uri="http://schemas.openxmlformats.org/drawingml/2006/table">
                <a:tbl>
                  <a:tblPr/>
                  <a:tblGrid>
                    <a:gridCol w="41330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939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1297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类型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52654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匀加速追匀减速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8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(1)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以前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后面物体与前面物体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间距不断增大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endParaRPr lang="en-US" altLang="zh-CN" sz="1200" spc="-100" dirty="0"/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(2)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两物体速度相等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相距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最远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间距为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endParaRPr lang="en-US" altLang="zh-CN" sz="1200" spc="-100" dirty="0"/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3）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以后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后面物体与前面物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体间距逐渐减小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直到追上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endParaRPr lang="en-US" altLang="zh-CN" sz="1200" spc="-100" dirty="0"/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4）一定能追上且只能相遇一次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74012"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匀加速追匀加速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（被追者加速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度小于追赶者加速度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38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" name="P_4_BD#fbd6a0288?colgroup=13,6,16&amp;vcp=1&amp;pid=dbba766f3&amp;color=0,0,0&amp;mp=1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4923891"/>
                  </p:ext>
                </p:extLst>
              </p:nvPr>
            </p:nvGraphicFramePr>
            <p:xfrm>
              <a:off x="393192" y="1794193"/>
              <a:ext cx="11356848" cy="3893185"/>
            </p:xfrm>
            <a:graphic>
              <a:graphicData uri="http://schemas.openxmlformats.org/drawingml/2006/table">
                <a:tbl>
                  <a:tblPr/>
                  <a:tblGrid>
                    <a:gridCol w="41330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939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1297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类型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52654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匀加速追匀减速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8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1496" t="-14695" r="-238" b="-43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74012"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匀加速追匀加速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（被追者加速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度小于追赶者加速度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38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_4_BD#fbd6a0288.table_image?tii=3&amp;vcp=1&amp;pid=dbba766f3&amp;color=0,0,0&amp;mp=1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22876" y="2437447"/>
            <a:ext cx="1700784" cy="1225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P_4_BD#fbd6a0288.table_image?tii=4&amp;vcp=1&amp;pid=dbba766f3&amp;color=0,0,0&amp;mp=1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22876" y="3977704"/>
            <a:ext cx="1700784" cy="154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4_BD#fbd6a0288?colgroup=13,6,16&amp;vcp=1&amp;pid=dbba766f3&amp;color=0,0,0&amp;mp=1&amp;vtp=1&amp;bt=1&amp;bbb=1">
            <a:extLst>
              <a:ext uri="{FF2B5EF4-FFF2-40B4-BE49-F238E27FC236}">
                <a16:creationId xmlns:a16="http://schemas.microsoft.com/office/drawing/2014/main" id="{E06AA131-59A5-6F26-6FDC-F12AE6EBACC5}"/>
              </a:ext>
            </a:extLst>
          </p:cNvPr>
          <p:cNvSpPr txBox="1"/>
          <p:nvPr/>
        </p:nvSpPr>
        <p:spPr>
          <a:xfrm>
            <a:off x="11134487" y="1168718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4_1#bc1cf927f?vcp=1&amp;pid=dbba766f3&amp;color=0,0,0&amp;vtp=1&amp;bt=1&amp;bbb=1&amp;hb=1"/>
              <p:cNvSpPr/>
              <p:nvPr/>
            </p:nvSpPr>
            <p:spPr>
              <a:xfrm>
                <a:off x="393192" y="1827689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例3-1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［经典·全国高考］（多选题）甲、乙两车在平直公路上同向行驶，其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像如图所示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.已知两车在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时并排行驶，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4_1#bc1cf927f?vcp=1&amp;pid=dbba766f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27689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5_1#bc1cf927f.bracket?vcp=1&amp;pid=dbba766f3&amp;color=0,0,0&amp;vpa=3&amp;vtp=1&amp;bbb=1"/>
          <p:cNvSpPr/>
          <p:nvPr/>
        </p:nvSpPr>
        <p:spPr>
          <a:xfrm>
            <a:off x="6838157" y="2375059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BD</a:t>
            </a:r>
            <a:endParaRPr lang="en-US" altLang="zh-CN" sz="2400" dirty="0"/>
          </a:p>
        </p:txBody>
      </p:sp>
      <p:pic>
        <p:nvPicPr>
          <p:cNvPr id="4" name="QC_4_BD.14_2#bc1cf927f?htil=3&amp;vcp=1&amp;pid=dbba766f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72557" y="2906934"/>
            <a:ext cx="2313432" cy="180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4_3#bc1cf927f.choices?htil=3&amp;vcp=1&amp;pid=dbba766f3&amp;color=0,0,0&amp;vtp=1&amp;bbb=1"/>
              <p:cNvSpPr/>
              <p:nvPr/>
            </p:nvSpPr>
            <p:spPr>
              <a:xfrm>
                <a:off x="393192" y="2861214"/>
                <a:ext cx="8951976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时，甲车在乙车后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时，甲车在乙车前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7.5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.两车另一次并排行驶的时刻是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.甲、乙车两次并排行驶的位置之间沿公路方向的距离为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4_3#bc1cf927f.choices?htil=3&amp;vcp=1&amp;pid=dbba766f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861214"/>
                <a:ext cx="8951976" cy="2158302"/>
              </a:xfrm>
              <a:prstGeom prst="rect">
                <a:avLst/>
              </a:prstGeom>
              <a:blipFill>
                <a:blip r:embed="rId5"/>
                <a:stretch>
                  <a:fillRect l="-2112" b="-8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6_1#bc1cf927f?vcp=1&amp;pid=dbba766f3&amp;color=0,0,0&amp;vtp=1&amp;bt=1&amp;bbb=1&amp;hb=1"/>
              <p:cNvSpPr/>
              <p:nvPr/>
            </p:nvSpPr>
            <p:spPr>
              <a:xfrm>
                <a:off x="393192" y="1472025"/>
                <a:ext cx="11402568" cy="3492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方法一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公式法</a:t>
                </a:r>
                <a:endParaRPr lang="en-US" altLang="zh-CN" sz="2400" dirty="0"/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由题图可知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，甲车做初速度为0的匀加速直线运动，且加速度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甲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；乙车做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匀加速直线运动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，且初速度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乙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，甲、乙两车的位移分别为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甲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甲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乙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乙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时，两车并排行驶，说明在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</a:p>
              <a:p>
                <a:pPr latinLnBrk="1">
                  <a:lnSpc>
                    <a:spcPts val="4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甲车在乙车前面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，且两车沿公路方向的距离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乙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甲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，选项B正确.</a:t>
                </a:r>
                <a:endParaRPr lang="en-US" altLang="zh-CN" sz="2400" dirty="0"/>
              </a:p>
              <a:p>
                <a:pPr latinLnBrk="1">
                  <a:lnSpc>
                    <a:spcPct val="150000"/>
                  </a:lnSpc>
                </a:pPr>
                <a:endParaRPr lang="en-US" altLang="zh-CN" sz="2400" dirty="0"/>
              </a:p>
            </p:txBody>
          </p:sp>
        </mc:Choice>
        <mc:Fallback>
          <p:sp>
            <p:nvSpPr>
              <p:cNvPr id="2" name="QC_4_AS.16_1#bc1cf927f?vcp=1&amp;pid=dbba766f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72025"/>
                <a:ext cx="11402568" cy="3492500"/>
              </a:xfrm>
              <a:prstGeom prst="rect">
                <a:avLst/>
              </a:prstGeom>
              <a:blipFill>
                <a:blip r:embed="rId3"/>
                <a:stretch>
                  <a:fillRect l="-1658" r="-3316" b="-331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6_1#bc1cf927f?vcp=1&amp;pid=dbba766f3&amp;color=0,0,0&amp;vtp=1&amp;bt=1&amp;bbb=1&amp;hb=1">
                <a:extLst>
                  <a:ext uri="{FF2B5EF4-FFF2-40B4-BE49-F238E27FC236}">
                    <a16:creationId xmlns:a16="http://schemas.microsoft.com/office/drawing/2014/main" id="{123B42E9-8D6E-DEAC-0351-CBDEF4378B81}"/>
                  </a:ext>
                </a:extLst>
              </p:cNvPr>
              <p:cNvSpPr/>
              <p:nvPr/>
            </p:nvSpPr>
            <p:spPr>
              <a:xfrm>
                <a:off x="393192" y="1554004"/>
                <a:ext cx="11402568" cy="334949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，甲车的位移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甲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甲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，乙车的位移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乙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乙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,可见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乙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甲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，而在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，甲车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在乙车前面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处，故在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时，两车并排行驶，选项A、C错误.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甲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、乙车两次并排行驶分别出现在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时，故甲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、乙车两次并排行驶的位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置之间沿公路方向的距离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𝒔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，等于在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内甲车（或乙车）的位移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甲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甲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（或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乙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乙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），选项D正确.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6_1#bc1cf927f?vcp=1&amp;pid=dbba766f3&amp;color=0,0,0&amp;vtp=1&amp;bt=1&amp;bbb=1&amp;hb=1">
                <a:extLst>
                  <a:ext uri="{FF2B5EF4-FFF2-40B4-BE49-F238E27FC236}">
                    <a16:creationId xmlns:a16="http://schemas.microsoft.com/office/drawing/2014/main" id="{123B42E9-8D6E-DEAC-0351-CBDEF4378B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54004"/>
                <a:ext cx="11402568" cy="3349498"/>
              </a:xfrm>
              <a:prstGeom prst="rect">
                <a:avLst/>
              </a:prstGeom>
              <a:blipFill>
                <a:blip r:embed="rId2"/>
                <a:stretch>
                  <a:fillRect l="-1658" r="-642" b="-51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2929200"/>
      </p:ext>
    </p:extLst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&amp;si=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16_2#bc1cf927f?htil=4&amp;vcp=1&amp;pid=dbba766f3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34856" y="636524"/>
            <a:ext cx="2642616" cy="2011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AS.16_3#bc1cf927f?htil=4&amp;vcp=1&amp;pid=dbba766f3&amp;color=0,0,0&amp;vtp=1&amp;bt=1&amp;bbb=1&amp;hb=1&amp;hs=1"/>
              <p:cNvSpPr/>
              <p:nvPr/>
            </p:nvSpPr>
            <p:spPr>
              <a:xfrm>
                <a:off x="393192" y="590804"/>
                <a:ext cx="8622792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方法二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图像法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图像中，图线与时间轴所围面积表示位移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.通过在题图上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作图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（如图所示），能准确地作出两车在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内的位移差与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内的位移差是相等的（均为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），均可用图中粉色部分“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Ⅰ”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AS.16_3#bc1cf927f?htil=4&amp;vcp=1&amp;pid=dbba766f3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90804"/>
                <a:ext cx="8622792" cy="2155000"/>
              </a:xfrm>
              <a:prstGeom prst="rect">
                <a:avLst/>
              </a:prstGeom>
              <a:blipFill>
                <a:blip r:embed="rId4"/>
                <a:stretch>
                  <a:fillRect l="-2192" r="-3819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AS.16_3#bc1cf927f?htil=4&amp;vcp=1&amp;pid=dbba766f3&amp;color=0,0,0&amp;vtp=1&amp;bt=1&amp;bbb=1&amp;hb=1&amp;hs=1">
                <a:extLst>
                  <a:ext uri="{FF2B5EF4-FFF2-40B4-BE49-F238E27FC236}">
                    <a16:creationId xmlns:a16="http://schemas.microsoft.com/office/drawing/2014/main" id="{C38F1120-48C9-271C-854A-0E03C8B251AB}"/>
                  </a:ext>
                </a:extLst>
              </p:cNvPr>
              <p:cNvSpPr/>
              <p:nvPr/>
            </p:nvSpPr>
            <p:spPr>
              <a:xfrm>
                <a:off x="393192" y="2739454"/>
                <a:ext cx="11400008" cy="33909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的面积表示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，乙的位移大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由于两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时是并排行驶的，可知，在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，甲车在乙车前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，选项B正确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时，乙车追上甲车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，两车并排行驶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，选项A、C错误.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甲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、乙车两次并排行驶分别出现在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时，故甲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、乙车两次并排行驶的位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置之间沿公路方向的距离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𝒔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，等于在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内甲车或乙车的位移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，可用图中黄色部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“Ⅱ”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的面积表示，即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𝟏𝟓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𝟐𝟓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)×(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，选项D正确.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AS.16_3#bc1cf927f?htil=4&amp;vcp=1&amp;pid=dbba766f3&amp;color=0,0,0&amp;vtp=1&amp;bt=1&amp;bbb=1&amp;hb=1&amp;hs=1">
                <a:extLst>
                  <a:ext uri="{FF2B5EF4-FFF2-40B4-BE49-F238E27FC236}">
                    <a16:creationId xmlns:a16="http://schemas.microsoft.com/office/drawing/2014/main" id="{C38F1120-48C9-271C-854A-0E03C8B251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739454"/>
                <a:ext cx="11400008" cy="3390900"/>
              </a:xfrm>
              <a:prstGeom prst="rect">
                <a:avLst/>
              </a:prstGeom>
              <a:blipFill>
                <a:blip r:embed="rId5"/>
                <a:stretch>
                  <a:fillRect l="-1658" r="-909" b="-305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&amp;si=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7_1#e9084e1a3?vcp=1&amp;pid=dbba766f3&amp;color=0,0,0&amp;vtp=1&amp;bt=1&amp;bbb=1&amp;hb=1"/>
              <p:cNvSpPr/>
              <p:nvPr/>
            </p:nvSpPr>
            <p:spPr>
              <a:xfrm>
                <a:off x="393192" y="628968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变式3-1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（多选题）如图甲所示，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车在同一平直公路的两个平行车道上行驶，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该路段限速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.当两车车头平齐时开始计时，两车运动的位移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—时间图像如图乙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车的图线是抛物线的一部分，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车的图线是直线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，在两车不违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章的情况下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7_1#e9084e1a3?vcp=1&amp;pid=dbba766f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28968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444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8_1#e9084e1a3.bracket?vcp=1&amp;pid=dbba766f3&amp;color=0,0,0&amp;vpa=4&amp;vtp=1&amp;bbb=1"/>
          <p:cNvSpPr/>
          <p:nvPr/>
        </p:nvSpPr>
        <p:spPr>
          <a:xfrm>
            <a:off x="4956460" y="2293938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</a:t>
            </a:r>
            <a:endParaRPr lang="en-US" altLang="zh-CN" sz="2400" dirty="0"/>
          </a:p>
        </p:txBody>
      </p:sp>
      <p:pic>
        <p:nvPicPr>
          <p:cNvPr id="4" name="QC_4_BD.17_2#e9084e1a3?vcp=1&amp;pid=dbba766f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34840" y="2895663"/>
            <a:ext cx="3328416" cy="2157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7_3#e9084e1a3.choices?vcp=1&amp;pid=dbba766f3&amp;color=0,0,0&amp;vtp=1&amp;bbb=1"/>
              <p:cNvSpPr/>
              <p:nvPr/>
            </p:nvSpPr>
            <p:spPr>
              <a:xfrm>
                <a:off x="393192" y="5181663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车运动的加速度大小为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时，两车的速度相同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车追上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车的最短时间为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7.2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.两车相遇两次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7_3#e9084e1a3.choices?vcp=1&amp;pid=dbba766f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181663"/>
                <a:ext cx="11402568" cy="1033399"/>
              </a:xfrm>
              <a:prstGeom prst="rect">
                <a:avLst/>
              </a:prstGeom>
              <a:blipFill>
                <a:blip r:embed="rId5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&amp;si=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9_1#e9084e1a3?vcp=1&amp;pid=dbba766f3&amp;color=0,0,0&amp;vtp=1&amp;bt=1&amp;bbb=1&amp;hb=1"/>
              <p:cNvSpPr/>
              <p:nvPr/>
            </p:nvSpPr>
            <p:spPr>
              <a:xfrm>
                <a:off x="393192" y="1169924"/>
                <a:ext cx="11402568" cy="3920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由匀变速直线运动规律可知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，由题图乙可知当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</a:p>
              <a:p>
                <a:pPr latinLnBrk="1">
                  <a:lnSpc>
                    <a:spcPts val="45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，故A错误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；由题图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乙可知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车匀速运动的速度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，由匀变速直线运动规律可得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，故B正确；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车加速到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𝐦𝐚𝐱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𝐡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后做匀速运动，追上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车的时间最短，由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𝐦𝐚𝐱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车的加速时间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车追上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𝐦𝐚𝐱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车速度大于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车，不会再相遇，故C正确，D错误.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9_1#e9084e1a3?vcp=1&amp;pid=dbba766f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69924"/>
                <a:ext cx="11402568" cy="3920300"/>
              </a:xfrm>
              <a:prstGeom prst="rect">
                <a:avLst/>
              </a:prstGeom>
              <a:blipFill>
                <a:blip r:embed="rId3"/>
                <a:stretch>
                  <a:fillRect l="-1658" r="-2941" b="-451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&amp;si=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4_BD#972b51fb9?vcp=1&amp;pid=dbba766f3&amp;color=0,0,0&amp;vtp=1&amp;bt=1&amp;bbb=1&amp;hb=1"/>
              <p:cNvSpPr/>
              <p:nvPr/>
            </p:nvSpPr>
            <p:spPr>
              <a:xfrm>
                <a:off x="393192" y="502920"/>
                <a:ext cx="11402568" cy="127565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5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.初速度大者追初速度小者</a:t>
                </a:r>
                <a:endParaRPr lang="en-US" altLang="zh-CN" sz="2400" dirty="0"/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为开始时两物体间的距离，开始追赶时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，后面物体与前面物体间的距离在不</a:t>
                </a:r>
              </a:p>
              <a:p>
                <a:pPr latinLnBrk="1">
                  <a:lnSpc>
                    <a:spcPts val="3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断减小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#2.1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4_BD#972b51fb9?vcp=1&amp;pid=dbba766f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2920"/>
                <a:ext cx="11402568" cy="1275652"/>
              </a:xfrm>
              <a:prstGeom prst="rect">
                <a:avLst/>
              </a:prstGeom>
              <a:blipFill>
                <a:blip r:embed="rId3"/>
                <a:stretch>
                  <a:fillRect l="-1658" t="-4306" r="-481" b="-1435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P_4_BD#972b51fb9?colgroup=8,6,20&amp;vcp=1&amp;pid=dbba766f3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9888812"/>
                  </p:ext>
                </p:extLst>
              </p:nvPr>
            </p:nvGraphicFramePr>
            <p:xfrm>
              <a:off x="393192" y="1916557"/>
              <a:ext cx="11365992" cy="4426585"/>
            </p:xfrm>
            <a:graphic>
              <a:graphicData uri="http://schemas.openxmlformats.org/drawingml/2006/table">
                <a:tbl>
                  <a:tblPr/>
                  <a:tblGrid>
                    <a:gridCol w="287121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8483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40994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67995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3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类型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3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3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7199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4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匀减速追匀速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15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当两物体速度相等时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即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时刻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有下面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结论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：</a:t>
                          </a:r>
                          <a:endParaRPr lang="en-US" altLang="zh-CN" sz="1200" dirty="0"/>
                        </a:p>
                        <a:p>
                          <a:pPr marL="0" indent="0" algn="l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1）若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,则恰能追上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两物体只能相遇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一次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这也是避免相撞的临界条件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endParaRPr lang="en-US" altLang="zh-CN" sz="1200" spc="-100" dirty="0"/>
                        </a:p>
                        <a:p>
                          <a:pPr marL="0" indent="0" algn="l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2）若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,则不能追上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此时两物体之间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距离最小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最小距离为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;</a:t>
                          </a:r>
                          <a:endParaRPr lang="en-US" altLang="zh-CN" sz="1200" dirty="0"/>
                        </a:p>
                        <a:p>
                          <a:pPr marL="0" indent="0" algn="l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3）若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则相遇两次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设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时刻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两物体第一次相遇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00" b="0" i="0" kern="0" spc="-99900">
                            <a:solidFill>
                              <a:srgbClr val="FFFFFF"/>
                            </a:solidFill>
                            <a:latin typeface="Times New Roman" pitchFamily="34" charset="0"/>
                            <a:ea typeface="微软雅黑" pitchFamily="34" charset="-122"/>
                            <a:cs typeface="Times New Roman" pitchFamily="34" charset="-120"/>
                          </a:endParaRPr>
                        </a:p>
                        <a:p>
                          <a:pPr marL="0" lvl="0" indent="0" algn="l" latinLnBrk="1" hangingPunct="0">
                            <a:lnSpc>
                              <a:spcPts val="34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关于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对称）时刻两物体第二次相遇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47199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4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匀速追匀加速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24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P_4_BD#972b51fb9?colgroup=8,6,20&amp;vcp=1&amp;pid=dbba766f3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9888812"/>
                  </p:ext>
                </p:extLst>
              </p:nvPr>
            </p:nvGraphicFramePr>
            <p:xfrm>
              <a:off x="393192" y="1916557"/>
              <a:ext cx="11365992" cy="4426585"/>
            </p:xfrm>
            <a:graphic>
              <a:graphicData uri="http://schemas.openxmlformats.org/drawingml/2006/table">
                <a:tbl>
                  <a:tblPr/>
                  <a:tblGrid>
                    <a:gridCol w="287121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8483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40994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67995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3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类型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3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3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7199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4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匀减速追匀速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15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7376" t="-12615" r="-190" b="-4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48659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4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匀速追匀加速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24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_4_BD#972b51fb9.table_image?tii=5&amp;vcp=1&amp;pid=dbba766f3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56432" y="2416461"/>
            <a:ext cx="1700784" cy="1408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5" name="P_4_BD#972b51fb9.table_image?tii=6&amp;vcp=1&amp;pid=dbba766f3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56432" y="4411250"/>
            <a:ext cx="1700784" cy="1408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&amp;si=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7" name="P_4_BD#972b51fb9?colgroup=8,6,20&amp;vcp=1&amp;pid=dbba766f3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7131231"/>
                  </p:ext>
                </p:extLst>
              </p:nvPr>
            </p:nvGraphicFramePr>
            <p:xfrm>
              <a:off x="393192" y="1323277"/>
              <a:ext cx="11365992" cy="4835017"/>
            </p:xfrm>
            <a:graphic>
              <a:graphicData uri="http://schemas.openxmlformats.org/drawingml/2006/table">
                <a:tbl>
                  <a:tblPr/>
                  <a:tblGrid>
                    <a:gridCol w="287121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8483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40994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类型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093468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匀减速追匀加速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24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当两物体速度相等时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即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时刻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有下面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结论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：</a:t>
                          </a:r>
                          <a:endParaRPr lang="en-US" altLang="zh-CN" sz="1200" dirty="0"/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1）若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,则恰能追上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两物体只能相遇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一次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这也是避免相撞的临界条件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endParaRPr lang="en-US" altLang="zh-CN" sz="1200" spc="-100" dirty="0"/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2）若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,则不能追上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此时两物体之间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距离最小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最小距离为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;</a:t>
                          </a:r>
                          <a:endParaRPr lang="en-US" altLang="zh-CN" sz="1200" dirty="0"/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3）若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则相遇两次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设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时刻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两物体第一次相遇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00" b="0" i="0" kern="0" spc="-99900">
                            <a:solidFill>
                              <a:srgbClr val="FFFFFF"/>
                            </a:solidFill>
                            <a:latin typeface="Times New Roman" pitchFamily="34" charset="0"/>
                            <a:ea typeface="微软雅黑" pitchFamily="34" charset="-122"/>
                            <a:cs typeface="Times New Roman" pitchFamily="34" charset="-120"/>
                          </a:endParaRP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关于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对称）时刻两物体第二次相遇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48916"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匀减速追匀减速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（被追者加速度小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于追赶者加速度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36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7" name="P_4_BD#972b51fb9?colgroup=8,6,20&amp;vcp=1&amp;pid=dbba766f3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7131231"/>
                  </p:ext>
                </p:extLst>
              </p:nvPr>
            </p:nvGraphicFramePr>
            <p:xfrm>
              <a:off x="393192" y="1323277"/>
              <a:ext cx="11365992" cy="4835017"/>
            </p:xfrm>
            <a:graphic>
              <a:graphicData uri="http://schemas.openxmlformats.org/drawingml/2006/table">
                <a:tbl>
                  <a:tblPr/>
                  <a:tblGrid>
                    <a:gridCol w="287121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8483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40994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类型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093468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匀减速追匀加速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24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376" t="-11641" r="-190" b="-35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48916"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匀减速追匀减速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（被追者加速度小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于追赶者加速度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36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_4_BD#972b51fb9.table_image?tii=7&amp;vcp=1&amp;pid=dbba766f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56432" y="2158556"/>
            <a:ext cx="1700784" cy="1408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P_4_BD#972b51fb9.table_image?tii=8&amp;vcp=1&amp;pid=dbba766f3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56432" y="4270311"/>
            <a:ext cx="1700784" cy="1527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4_BD#972b51fb9?colgroup=8,6,20&amp;vcp=1&amp;pid=dbba766f3&amp;color=0,0,0&amp;vtp=1&amp;bt=1&amp;bbb=1">
            <a:extLst>
              <a:ext uri="{FF2B5EF4-FFF2-40B4-BE49-F238E27FC236}">
                <a16:creationId xmlns:a16="http://schemas.microsoft.com/office/drawing/2014/main" id="{7C63F5C4-6856-A79C-3E19-976A67AC2290}"/>
              </a:ext>
            </a:extLst>
          </p:cNvPr>
          <p:cNvSpPr txBox="1"/>
          <p:nvPr/>
        </p:nvSpPr>
        <p:spPr>
          <a:xfrm>
            <a:off x="11143632" y="697802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&amp;si=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BD.20_1#19df45923?vcp=1&amp;pid=dbba766f3&amp;color=0,0,0&amp;vtp=1&amp;bt=1&amp;bbb=1&amp;hb=1"/>
              <p:cNvSpPr/>
              <p:nvPr/>
            </p:nvSpPr>
            <p:spPr>
              <a:xfrm>
                <a:off x="393192" y="2635345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例3-2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火车以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的速度匀速行驶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，司机发现前方同一平直轨道上相距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处有另一列火车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的速度同向匀速行驶，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车立即做加速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的匀减速直线运动.要使两车不相撞，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应满足什么条件？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BD.20_1#19df45923?vcp=1&amp;pid=dbba766f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635345"/>
                <a:ext cx="11402568" cy="1596200"/>
              </a:xfrm>
              <a:prstGeom prst="rect">
                <a:avLst/>
              </a:prstGeom>
              <a:blipFill>
                <a:blip r:embed="rId3"/>
                <a:stretch>
                  <a:fillRect l="-1658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&amp;si=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AS.21_1#19df45923?vcp=1&amp;pid=dbba766f3&amp;color=0,0,0&amp;vtp=1&amp;bt=1&amp;bbb=1&amp;hb=1"/>
              <p:cNvSpPr/>
              <p:nvPr/>
            </p:nvSpPr>
            <p:spPr>
              <a:xfrm>
                <a:off x="393192" y="627475"/>
                <a:ext cx="11402568" cy="2235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的最小值为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时两车恰好相遇.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方法一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临界法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若经时间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恰好追上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速度关系有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位移关系有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AS.21_1#19df45923?vcp=1&amp;pid=dbba766f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27475"/>
                <a:ext cx="11402568" cy="2235200"/>
              </a:xfrm>
              <a:prstGeom prst="rect">
                <a:avLst/>
              </a:prstGeom>
              <a:blipFill>
                <a:blip r:embed="rId3"/>
                <a:stretch>
                  <a:fillRect l="-1658" b="-463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4_AS.21_2#19df45923?htil=5&amp;vcp=1&amp;pid=dbba766f3&amp;color=0,0,0&amp;tib=255,255,255&amp;vtp=1&amp;hs=1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09880" y="2919317"/>
            <a:ext cx="1664208" cy="1572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4_AS.21_3#19df45923?htil=5&amp;vcp=1&amp;pid=dbba766f3&amp;color=0,0,0&amp;vtp=1&amp;bbb=1&amp;hb=1&amp;hs=1"/>
              <p:cNvSpPr/>
              <p:nvPr/>
            </p:nvSpPr>
            <p:spPr>
              <a:xfrm>
                <a:off x="393192" y="2873597"/>
                <a:ext cx="9610344" cy="1676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方法二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图像法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作出两车的速度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—时间图像如图所示，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时刻两车恰好相遇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，由题意及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图线与坐标轴所围图形面积的物理意义有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𝒔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4_AS.21_3#19df45923?htil=5&amp;vcp=1&amp;pid=dbba766f3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873597"/>
                <a:ext cx="9610344" cy="1676400"/>
              </a:xfrm>
              <a:prstGeom prst="rect">
                <a:avLst/>
              </a:prstGeom>
              <a:blipFill>
                <a:blip r:embed="rId5"/>
                <a:stretch>
                  <a:fillRect l="-1967" b="-654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4_AS.21_3#19df45923?htil=5&amp;vcp=1&amp;pid=dbba766f3&amp;color=0,0,0&amp;vtp=1&amp;bbb=1&amp;hb=1&amp;hs=1">
                <a:extLst>
                  <a:ext uri="{FF2B5EF4-FFF2-40B4-BE49-F238E27FC236}">
                    <a16:creationId xmlns:a16="http://schemas.microsoft.com/office/drawing/2014/main" id="{962B967C-12E7-8EF1-13E4-5CA042EFC95C}"/>
                  </a:ext>
                </a:extLst>
              </p:cNvPr>
              <p:cNvSpPr/>
              <p:nvPr/>
            </p:nvSpPr>
            <p:spPr>
              <a:xfrm>
                <a:off x="395996" y="4695031"/>
                <a:ext cx="11400008" cy="119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代入数据解得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𝟐𝟎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4_AS.21_3#19df45923?htil=5&amp;vcp=1&amp;pid=dbba766f3&amp;color=0,0,0&amp;vtp=1&amp;bbb=1&amp;hb=1&amp;hs=1">
                <a:extLst>
                  <a:ext uri="{FF2B5EF4-FFF2-40B4-BE49-F238E27FC236}">
                    <a16:creationId xmlns:a16="http://schemas.microsoft.com/office/drawing/2014/main" id="{962B967C-12E7-8EF1-13E4-5CA042EFC9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4695031"/>
                <a:ext cx="11400008" cy="1193800"/>
              </a:xfrm>
              <a:prstGeom prst="rect">
                <a:avLst/>
              </a:prstGeom>
              <a:blipFill>
                <a:blip r:embed="rId6"/>
                <a:stretch>
                  <a:fillRect l="-1658" b="-510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4" grpId="0" build="p" animBg="1"/>
      <p:bldP spid="5" grpId="0" build="p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&amp;si=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22_1#da0b0d6a2?vcp=1&amp;pid=dbba766f3&amp;color=0,0,0&amp;vtp=1&amp;bt=1&amp;bbb=1&amp;hb=1"/>
              <p:cNvSpPr/>
              <p:nvPr/>
            </p:nvSpPr>
            <p:spPr>
              <a:xfrm>
                <a:off x="393192" y="908813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变式3-2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两辆完全相同的汽车，沿水平直线一前一后匀速行驶，速度均为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,若前车突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然以恒定加速度刹车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，在它刚停车后，后车以与前车相同的加速度开始刹车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，已知前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车在刹车过程中所行驶的距离为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,若要保证两车在上述情况下不相撞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，则两车在匀速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行驶时至少应保持的距离为(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22_1#da0b0d6a2?vcp=1&amp;pid=dbba766f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08813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802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3_1#da0b0d6a2.bracket?vcp=1&amp;pid=dbba766f3&amp;color=0,0,0&amp;vpa=5&amp;vtp=1"/>
          <p:cNvSpPr/>
          <p:nvPr/>
        </p:nvSpPr>
        <p:spPr>
          <a:xfrm>
            <a:off x="4296060" y="2573782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22_2#da0b0d6a2.choices?vcp=1&amp;pid=dbba766f3&amp;color=0,0,0&amp;vtp=1&amp;bbb=1"/>
              <p:cNvSpPr/>
              <p:nvPr/>
            </p:nvSpPr>
            <p:spPr>
              <a:xfrm>
                <a:off x="393192" y="3104450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789677" algn="l"/>
                    <a:tab pos="5719054" algn="l"/>
                    <a:tab pos="864843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22_2#da0b0d6a2.choices?vcp=1&amp;pid=dbba766f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04450"/>
                <a:ext cx="11402568" cy="477330"/>
              </a:xfrm>
              <a:prstGeom prst="rect">
                <a:avLst/>
              </a:prstGeom>
              <a:blipFill>
                <a:blip r:embed="rId4"/>
                <a:stretch>
                  <a:fillRect l="-1658" b="-3924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QC_4_AS.24_1#da0b0d6a2?htil=6&amp;vcp=1&amp;pid=dbba766f3&amp;color=0,0,0&amp;tib=255,255,255&amp;vtp=1&amp;hs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50952" y="3647567"/>
            <a:ext cx="4096512" cy="210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AS.24_2#da0b0d6a2?htil=6&amp;vcp=1&amp;pid=dbba766f3&amp;color=0,0,0&amp;vtp=1&amp;bbb=1&amp;hb=1"/>
              <p:cNvSpPr/>
              <p:nvPr/>
            </p:nvSpPr>
            <p:spPr>
              <a:xfrm>
                <a:off x="393192" y="3592703"/>
                <a:ext cx="7168896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从前车刹车开始计时，作出两车的速度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—时间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图像如图所示.后车比前车多通过的位移等于图中所画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阴影部分的面积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，其值为前车位移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的两倍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为保证两车不相撞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，应至少相隔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.故B正确.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AS.24_2#da0b0d6a2?htil=6&amp;vcp=1&amp;pid=dbba766f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92703"/>
                <a:ext cx="7168896" cy="2155000"/>
              </a:xfrm>
              <a:prstGeom prst="rect">
                <a:avLst/>
              </a:prstGeom>
              <a:blipFill>
                <a:blip r:embed="rId6"/>
                <a:stretch>
                  <a:fillRect l="-2636" r="-2041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&amp;si=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2163</Words>
  <Application>Microsoft Office PowerPoint</Application>
  <PresentationFormat>宽屏</PresentationFormat>
  <Paragraphs>274</Paragraphs>
  <Slides>31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9" baseType="lpstr">
      <vt:lpstr>SimHei</vt:lpstr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2026-05-25T08:07:15Z</dcterms:created>
  <dcterms:modified xsi:type="dcterms:W3CDTF">2026-05-25T08:09:42Z</dcterms:modified>
  <cp:category/>
  <cp:contentStatus/>
</cp:coreProperties>
</file>