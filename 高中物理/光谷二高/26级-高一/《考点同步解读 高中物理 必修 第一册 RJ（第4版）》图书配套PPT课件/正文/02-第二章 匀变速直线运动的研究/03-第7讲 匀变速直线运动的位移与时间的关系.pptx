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19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b06fd9fa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b06fd9fae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b06fd9fae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匀变速直线运动的位移与时间的关系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b06fd9fae?lid=6e863552c&amp;cid=6e863552c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b06fd9fae?lid=27f7b9436&amp;cid=27f7b9436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6e863552c?vcp=1&amp;pid=b06fd9fae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7574393b5?colgroup=16,4,1,13&amp;vcp=1&amp;pid=6e863552c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82769"/>
              </p:ext>
            </p:extLst>
          </p:nvPr>
        </p:nvGraphicFramePr>
        <p:xfrm>
          <a:off x="393192" y="1181100"/>
          <a:ext cx="11347704" cy="3479928"/>
        </p:xfrm>
        <a:graphic>
          <a:graphicData uri="http://schemas.openxmlformats.org/drawingml/2006/table">
            <a:tbl>
              <a:tblPr/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5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27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识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</a:t>
                      </a:r>
                    </a:p>
                    <a:p>
                      <a:pPr marL="0" lvl="0" indent="0"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匀变速直线运动的位移公式及应用.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.匀变速直线运动的速度与位移的关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系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.匀变速直线运动在实际情境中的应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用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7574393b5.table_image?tii=1&amp;vcp=1&amp;pid=6e863552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30668" y="1281843"/>
            <a:ext cx="4005072" cy="230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27f7b9436?vcp=1&amp;pid=b06fd9fae&amp;color=0,112,192&amp;mp=1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ea19a0985?vcp=1&amp;pid=27f7b9436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ea19a0985?vcp=1&amp;pid=27f7b9436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ea19a0985?vcp=1&amp;pid=27f7b9436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匀变速直线运动的位移（微元法、极限思想）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#fe5340e63?vcp=1&amp;pid=ea19a0985&amp;color=0,0,0&amp;vtp=1&amp;bbb=1&amp;hb=1"/>
              <p:cNvSpPr/>
              <p:nvPr/>
            </p:nvSpPr>
            <p:spPr>
              <a:xfrm>
                <a:off x="393192" y="1778000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.做匀速直线运动的物体，在时间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，其数值大小正好是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&gt;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下面的矩形面积大小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#fe5340e63?vcp=1&amp;pid=ea19a098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551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fe5340e63?iti=1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7008" y="3492500"/>
            <a:ext cx="2176272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fe5340e63?iti=2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5232" y="3510788"/>
            <a:ext cx="1618488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P_5_BD#fe5340e63?iti=3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60536" y="3501644"/>
            <a:ext cx="2075688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0" name="P_5_BD#fe5340e63?iti=1&amp;htil=1&amp;vcp=1&amp;pid=ea19a0985&amp;color=0,0,0&amp;vtp=1"/>
          <p:cNvSpPr/>
          <p:nvPr/>
        </p:nvSpPr>
        <p:spPr>
          <a:xfrm>
            <a:off x="2108613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/>
          </a:p>
        </p:txBody>
      </p:sp>
      <p:sp>
        <p:nvSpPr>
          <p:cNvPr id="11" name="P_5_BD#fe5340e63?iti=2&amp;htil=1&amp;vcp=1&amp;pid=ea19a0985&amp;color=0,0,0&amp;vtp=1"/>
          <p:cNvSpPr/>
          <p:nvPr/>
        </p:nvSpPr>
        <p:spPr>
          <a:xfrm>
            <a:off x="5907945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p:sp>
        <p:nvSpPr>
          <p:cNvPr id="12" name="P_5_BD#fe5340e63?iti=3&amp;htil=1&amp;vcp=1&amp;pid=ea19a0985&amp;color=0,0,0&amp;vtp=1"/>
          <p:cNvSpPr/>
          <p:nvPr/>
        </p:nvSpPr>
        <p:spPr>
          <a:xfrm>
            <a:off x="9711849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丙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fe5340e63?vcp=1&amp;pid=ea19a0985&amp;color=0,0,0&amp;mp=1&amp;vtp=1&amp;bt=1&amp;bbb=1&amp;hb=1"/>
              <p:cNvSpPr/>
              <p:nvPr/>
            </p:nvSpPr>
            <p:spPr>
              <a:xfrm>
                <a:off x="393192" y="18060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2.做匀变速直线运动的物体，在时间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内的位移的数值等于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图线下方的梯形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𝑂𝐴𝑃𝑄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的面积，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如图乙所示.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3.对匀变速直线运动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图像的理解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如果一个物体的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图像如图丙所示，图线与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轴围成两个三角形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，面积分别为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时间内的总位移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移为正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，位移为负.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fe5340e63?vcp=1&amp;pid=ea19a0985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060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_1#be8ebe6cb?htil=2&amp;vcp=1&amp;pid=ea19a098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1114" y="1324831"/>
            <a:ext cx="2295144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_2#be8ebe6cb?htil=2&amp;vcp=1&amp;pid=ea19a0985&amp;color=0,0,0&amp;vtp=1&amp;bt=1&amp;bbb=1&amp;hb=1&amp;hs=1"/>
              <p:cNvSpPr/>
              <p:nvPr/>
            </p:nvSpPr>
            <p:spPr>
              <a:xfrm>
                <a:off x="393192" y="1279112"/>
                <a:ext cx="897940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（2026·湖北黄冈中学教学检测）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男子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3米跳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板跳水比赛中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，从运动员离开跳板开始计时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，跳水过程中可视为质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点的运动员的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图像如图所示，运动员的轨迹视为直线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，取竖直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向下为正方向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_2#be8ebe6cb?htil=2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9112"/>
                <a:ext cx="8979408" cy="2150999"/>
              </a:xfrm>
              <a:prstGeom prst="rect">
                <a:avLst/>
              </a:prstGeom>
              <a:blipFill>
                <a:blip r:embed="rId4"/>
                <a:stretch>
                  <a:fillRect l="-2105" r="-176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_1#be8ebe6cb.bracket?vcp=1&amp;pid=ea19a0985&amp;color=0,0,0&amp;vpa=1&amp;vtp=1"/>
          <p:cNvSpPr/>
          <p:nvPr/>
        </p:nvSpPr>
        <p:spPr>
          <a:xfrm>
            <a:off x="4969160" y="294408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_3#be8ebe6cb.choices?htil=2&amp;vcp=1&amp;pid=ea19a0985&amp;color=0,0,0&amp;vtp=1&amp;bbb=1&amp;hs=1"/>
              <p:cNvSpPr/>
              <p:nvPr/>
            </p:nvSpPr>
            <p:spPr>
              <a:xfrm>
                <a:off x="393192" y="3411061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内加速度逐渐增大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时开始上浮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_3#be8ebe6cb.choices?htil=2&amp;vcp=1&amp;pid=ea19a098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061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3_1#be8ebe6cb?htil=3&amp;vcp=1&amp;pid=ea19a098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8213" y="1218565"/>
            <a:ext cx="2295144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AS.3_2#be8ebe6cb?htil=3&amp;vcp=1&amp;pid=ea19a0985&amp;color=0,0,0&amp;vtp=1&amp;bt=1&amp;bbb=1&amp;hb=1&amp;hs=1"/>
              <p:cNvSpPr/>
              <p:nvPr/>
            </p:nvSpPr>
            <p:spPr>
              <a:xfrm>
                <a:off x="393192" y="1172845"/>
                <a:ext cx="89794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图像的斜率代表加速度,根据图像可知，在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，图像的斜率在减小，加速度减小，故A错误；在题干中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下为正方向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，由图像得,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内运动员向上运动，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AS.3_2#be8ebe6cb?htil=3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2845"/>
                <a:ext cx="8979408" cy="1596200"/>
              </a:xfrm>
              <a:prstGeom prst="rect">
                <a:avLst/>
              </a:prstGeom>
              <a:blipFill>
                <a:blip r:embed="rId4"/>
                <a:stretch>
                  <a:fillRect l="-2105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AS.3_2#be8ebe6cb?htil=3&amp;vcp=1&amp;pid=ea19a0985&amp;color=0,0,0&amp;vtp=1&amp;bt=1&amp;bbb=1&amp;hb=1&amp;hs=1">
                <a:extLst>
                  <a:ext uri="{FF2B5EF4-FFF2-40B4-BE49-F238E27FC236}">
                    <a16:creationId xmlns:a16="http://schemas.microsoft.com/office/drawing/2014/main" id="{9DDF0C24-7E77-B9D1-103E-E11A2025EA92}"/>
                  </a:ext>
                </a:extLst>
              </p:cNvPr>
              <p:cNvSpPr/>
              <p:nvPr/>
            </p:nvSpPr>
            <p:spPr>
              <a:xfrm>
                <a:off x="393192" y="2766441"/>
                <a:ext cx="11400008" cy="279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末入水，故B错误；在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，图线与时间轴围成图形的面积代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的曲线与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轴围成的面积代表其位移，如图所示将曲线部分的两个端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点用直线连接起来，三角形的面积表示的位移为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，实际曲线所围成图形的面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积小于三角形的面积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，所以运动员在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内的位移小于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；运动员在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内做匀变速直线运动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AS.3_2#be8ebe6cb?htil=3&amp;vcp=1&amp;pid=ea19a0985&amp;color=0,0,0&amp;vtp=1&amp;bt=1&amp;bbb=1&amp;hb=1&amp;hs=1">
                <a:extLst>
                  <a:ext uri="{FF2B5EF4-FFF2-40B4-BE49-F238E27FC236}">
                    <a16:creationId xmlns:a16="http://schemas.microsoft.com/office/drawing/2014/main" id="{9DDF0C24-7E77-B9D1-103E-E11A2025E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66441"/>
                <a:ext cx="11400008" cy="2794000"/>
              </a:xfrm>
              <a:prstGeom prst="rect">
                <a:avLst/>
              </a:prstGeom>
              <a:blipFill>
                <a:blip r:embed="rId5"/>
                <a:stretch>
                  <a:fillRect l="-1658" r="-1604" b="-37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4_1#dd5e6a37f?vcp=1&amp;pid=ea19a0985&amp;color=0,0,0&amp;vtp=1&amp;bt=1&amp;bbb=1&amp;hb=1"/>
              <p:cNvSpPr/>
              <p:nvPr/>
            </p:nvSpPr>
            <p:spPr>
              <a:xfrm>
                <a:off x="393192" y="58550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（2026·鄂东南教改联盟检测）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、乙两物体从同一点开始沿同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图像和乙的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.下列说法中正确的是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4_1#dd5e6a37f?vcp=1&amp;pid=ea19a098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5_1#dd5e6a37f.bracket?vcp=1&amp;pid=ea19a0985&amp;color=0,0,0&amp;vpa=2&amp;vtp=1&amp;bbb=1"/>
          <p:cNvSpPr/>
          <p:nvPr/>
        </p:nvSpPr>
        <p:spPr>
          <a:xfrm>
            <a:off x="651160" y="1691672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5_BD.4_2#dd5e6a37f?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6942" y="2306099"/>
            <a:ext cx="5195069" cy="166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4_3#dd5e6a37f.choices?vcp=1&amp;pid=ea19a0985&amp;color=0,0,0&amp;vtp=1&amp;bbb=1"/>
              <p:cNvSpPr/>
              <p:nvPr/>
            </p:nvSpPr>
            <p:spPr>
              <a:xfrm>
                <a:off x="393192" y="4104671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内甲做匀速直线运动，乙做匀减速直线运动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4∼6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内，甲的速度等大同向，乙的加速度等大同向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时，甲、乙相遇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内甲的路程为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,乙的路程为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4_3#dd5e6a37f.choices?vcp=1&amp;pid=ea19a098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04671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6_1#dd5e6a37f?vcp=1&amp;pid=ea19a0985&amp;color=0,0,0&amp;vtp=1&amp;bt=1&amp;bbb=1&amp;hb=1"/>
              <p:cNvSpPr/>
              <p:nvPr/>
            </p:nvSpPr>
            <p:spPr>
              <a:xfrm>
                <a:off x="393192" y="1026033"/>
                <a:ext cx="11402568" cy="449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图像中图线的斜率表示速度，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图像中图线的斜率表示加速度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内，甲做匀速直线运动，乙先做匀减速直线运动，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后做反向的匀加速直线运动，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内，题图甲中的两段图线平行，则速度等大同向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乙中的两段图线平等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，则加速度等大同向，故B正确；在前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，由于甲、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乙两物体从同一点开始沿同一直线运动，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时，甲、乙相遇，故C正确；甲在前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内的总路程为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，乙的路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6_1#dd5e6a37f?vcp=1&amp;pid=ea19a098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6033"/>
                <a:ext cx="11402568" cy="4495800"/>
              </a:xfrm>
              <a:prstGeom prst="rect">
                <a:avLst/>
              </a:prstGeom>
              <a:blipFill>
                <a:blip r:embed="rId3"/>
                <a:stretch>
                  <a:fillRect l="-1658" r="-3636" b="-23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5ac47fa83?vcp=1&amp;pid=ea19a0985&amp;color=0,0,0&amp;vtp=1&amp;bt=1&amp;bbb=1"/>
          <p:cNvSpPr/>
          <p:nvPr/>
        </p:nvSpPr>
        <p:spPr>
          <a:xfrm>
            <a:off x="393192" y="585501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匀变速直线运动位移的推导</a:t>
            </a:r>
            <a:endParaRPr lang="en-US" altLang="zh-CN" sz="2400" dirty="0"/>
          </a:p>
        </p:txBody>
      </p:sp>
      <p:pic>
        <p:nvPicPr>
          <p:cNvPr id="3" name="P_5_BD#5ac47fa83?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5369" y="1758728"/>
            <a:ext cx="1778214" cy="44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5ac47fa83?htil=4&amp;vcp=1&amp;pid=ea19a098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4109" y="1009872"/>
            <a:ext cx="1856232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5ac47fa83?htil=4&amp;vcp=1&amp;pid=ea19a0985&amp;color=0,0,0&amp;vtp=1&amp;bt=1&amp;bbb=1&amp;hb=1&amp;hs=1"/>
              <p:cNvSpPr/>
              <p:nvPr/>
            </p:nvSpPr>
            <p:spPr>
              <a:xfrm>
                <a:off x="393192" y="964152"/>
                <a:ext cx="940917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关于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“面积”的两点说明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.在任何形式的直线运动的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,图线与时间轴所围的面积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都代表物体的位移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5ac47fa83?htil=4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4152"/>
                <a:ext cx="9409176" cy="2155000"/>
              </a:xfrm>
              <a:prstGeom prst="rect">
                <a:avLst/>
              </a:prstGeom>
              <a:blipFill>
                <a:blip r:embed="rId4"/>
                <a:stretch>
                  <a:fillRect l="-2009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5ac47fa83?vcp=1&amp;pid=ea19a0985&amp;color=0,0,0&amp;vtp=1&amp;bbb=1&amp;hs=1"/>
              <p:cNvSpPr/>
              <p:nvPr/>
            </p:nvSpPr>
            <p:spPr>
              <a:xfrm>
                <a:off x="393192" y="316245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spc="-5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2.物体的位移等于所有正、负面积的代数和，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而路程则等于所有面积的绝对值之和.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延伸拓展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图像呈曲线时，表明物体做非匀变速运动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，可通过虚构直线引入匀变速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直线运动进行面积的对比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，从而获取位移的大小关系.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图像所围面积的总和（不再分上正下负,全部为正），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获取路程数据.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4" name="P_5_BD#5ac47fa83?vcp=1&amp;pid=ea19a098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62459"/>
                <a:ext cx="11402568" cy="2709799"/>
              </a:xfrm>
              <a:prstGeom prst="rect">
                <a:avLst/>
              </a:prstGeom>
              <a:blipFill>
                <a:blip r:embed="rId5"/>
                <a:stretch>
                  <a:fillRect l="-1658" r="-1016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e98ea8257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e98ea8257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e98ea8257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匀变速直线运动位移公式的应用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#4686d70e9?vcp=1&amp;pid=e98ea8257&amp;color=0,0,0&amp;vtp=1&amp;bbb=1&amp;hb=1"/>
              <p:cNvSpPr/>
              <p:nvPr/>
            </p:nvSpPr>
            <p:spPr>
              <a:xfrm>
                <a:off x="393192" y="1092200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.匀变速直线运动的位移公式为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，式中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表示初速度，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&gt;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.初速度为0的匀加速直线运动的位移公式为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.在匀变速直线运动位移公式中,矢量符号规定一般取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方向为正方向.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#4686d70e9?vcp=1&amp;pid=e98ea82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709799"/>
              </a:xfrm>
              <a:prstGeom prst="rect">
                <a:avLst/>
              </a:prstGeom>
              <a:blipFill>
                <a:blip r:embed="rId4"/>
                <a:stretch>
                  <a:fillRect l="-1658" r="-26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P_5_BD#4686d70e9?colgroup=12,23&amp;vcp=1&amp;pid=e98ea8257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018923"/>
                  </p:ext>
                </p:extLst>
              </p:nvPr>
            </p:nvGraphicFramePr>
            <p:xfrm>
              <a:off x="393192" y="3933063"/>
              <a:ext cx="11365992" cy="1995424"/>
            </p:xfrm>
            <a:graphic>
              <a:graphicData uri="http://schemas.openxmlformats.org/drawingml/2006/table">
                <a:tbl>
                  <a:tblPr/>
                  <a:tblGrid>
                    <a:gridCol w="3959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6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P_5_BD#4686d70e9?colgroup=12,23&amp;vcp=1&amp;pid=e98ea8257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018923"/>
                  </p:ext>
                </p:extLst>
              </p:nvPr>
            </p:nvGraphicFramePr>
            <p:xfrm>
              <a:off x="393192" y="3933063"/>
              <a:ext cx="11365992" cy="1995424"/>
            </p:xfrm>
            <a:graphic>
              <a:graphicData uri="http://schemas.openxmlformats.org/drawingml/2006/table">
                <a:tbl>
                  <a:tblPr/>
                  <a:tblGrid>
                    <a:gridCol w="3959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6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580" t="-1220" r="-165" b="-3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580" t="-101220" r="-165" b="-2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7_1#d1d5c9fa4?vcp=1&amp;pid=e98ea8257&amp;color=0,0,0&amp;mp=1&amp;vtp=1&amp;bt=1&amp;bbb=1&amp;hb=1"/>
              <p:cNvSpPr/>
              <p:nvPr/>
            </p:nvSpPr>
            <p:spPr>
              <a:xfrm>
                <a:off x="393192" y="124393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（科技前沿）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（2026·江西九江重点中学检测）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，一智能机器人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速度为0时可立即转身反向，不计转身时间）在直线上行走，其运动位移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随运动时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的变化关系为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,各量单位均为国际单位制中的单位.从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开始计时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7_1#d1d5c9fa4?vcp=1&amp;pid=e98ea8257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393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695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8_1#d1d5c9fa4.bracket?vcp=1&amp;pid=e98ea8257&amp;color=0,0,0&amp;mp=1&amp;vpa=3&amp;vtp=1"/>
          <p:cNvSpPr/>
          <p:nvPr/>
        </p:nvSpPr>
        <p:spPr>
          <a:xfrm>
            <a:off x="625760" y="290890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7_2#d1d5c9fa4?htil=5&amp;vcp=1&amp;pid=e98ea825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16082" y="3491960"/>
            <a:ext cx="1463040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7_3#d1d5c9fa4.choices?htil=5&amp;vcp=1&amp;pid=e98ea8257&amp;color=0,0,0&amp;vtp=1&amp;bbb=1"/>
              <p:cNvSpPr/>
              <p:nvPr/>
            </p:nvSpPr>
            <p:spPr>
              <a:xfrm>
                <a:off x="393192" y="3446240"/>
                <a:ext cx="98023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A.智能机器人做匀加速直线运动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时，智能机器人的速度大小为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.智能机器人在前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.智能机器人在前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7_3#d1d5c9fa4.choices?htil=5&amp;vcp=1&amp;pid=e98ea825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46240"/>
                <a:ext cx="9802368" cy="2158302"/>
              </a:xfrm>
              <a:prstGeom prst="rect">
                <a:avLst/>
              </a:prstGeom>
              <a:blipFill>
                <a:blip r:embed="rId5"/>
                <a:stretch>
                  <a:fillRect l="-192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9_1#d1d5c9fa4?vcp=1&amp;pid=e98ea8257&amp;color=0,0,0&amp;vtp=1&amp;bt=1&amp;bbb=1&amp;hb=1"/>
              <p:cNvSpPr/>
              <p:nvPr/>
            </p:nvSpPr>
            <p:spPr>
              <a:xfrm>
                <a:off x="393192" y="844010"/>
                <a:ext cx="11402568" cy="4974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与匀变速直线运动的位移公式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对比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，可得智能机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器人的初速度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，初速度沿负方向且初速度与加速度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，则智能机器人先沿负方向做匀减速直线运动，速度为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0后沿正方向做匀加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，智能机器人的速度为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,B错误；由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可得智能机器人在前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,故C错误；分析可知，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时智能机器人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0,之后反向运动，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内通过的路程为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|=|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内通过的路程为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|−|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，则智能机器人在前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内的路程为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9_1#d1d5c9fa4?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44010"/>
                <a:ext cx="11402568" cy="4974400"/>
              </a:xfrm>
              <a:prstGeom prst="rect">
                <a:avLst/>
              </a:prstGeom>
              <a:blipFill>
                <a:blip r:embed="rId3"/>
                <a:stretch>
                  <a:fillRect l="-1658" r="-535" b="-36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0_1#be2785752?htil=6&amp;vcp=1&amp;pid=e98ea8257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2496" y="1320958"/>
            <a:ext cx="2414016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0_2#be2785752?htil=6&amp;vcp=1&amp;pid=e98ea8257&amp;color=0,0,0&amp;vtp=1&amp;bt=1&amp;bbb=1&amp;hb=1"/>
              <p:cNvSpPr/>
              <p:nvPr/>
            </p:nvSpPr>
            <p:spPr>
              <a:xfrm>
                <a:off x="393192" y="1275239"/>
                <a:ext cx="885139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（图像信息）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一辆小车（视为质点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）沿某一方向做直线运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的变化图像如图中的实线所示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，实线与虚线组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成开口向上的抛物线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，抛物线的顶点坐标为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(−5,0)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轴的交点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(0,25)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0_2#be2785752?htil=6&amp;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8851392" cy="2150999"/>
              </a:xfrm>
              <a:prstGeom prst="rect">
                <a:avLst/>
              </a:prstGeom>
              <a:blipFill>
                <a:blip r:embed="rId4"/>
                <a:stretch>
                  <a:fillRect l="-2135" r="-186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1_1#be2785752.bracket?vcp=1&amp;pid=e98ea8257&amp;color=0,0,0&amp;vpa=4&amp;vtp=1"/>
          <p:cNvSpPr/>
          <p:nvPr/>
        </p:nvSpPr>
        <p:spPr>
          <a:xfrm>
            <a:off x="4888199" y="2940209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0_3#be2785752.choices?htil=6&amp;vcp=1&amp;pid=e98ea8257&amp;color=0,0,0&amp;vtp=1&amp;bbb=1"/>
              <p:cNvSpPr/>
              <p:nvPr/>
            </p:nvSpPr>
            <p:spPr>
              <a:xfrm>
                <a:off x="393192" y="3414934"/>
                <a:ext cx="885139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A.小车做匀加速运动，且加速度大小为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.小车的初速度大小为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时刻小车的速度大小为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内，小车的位移大小为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0_3#be2785752.choices?htil=6&amp;vcp=1&amp;pid=e98ea825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8851392" cy="2158302"/>
              </a:xfrm>
              <a:prstGeom prst="rect">
                <a:avLst/>
              </a:prstGeom>
              <a:blipFill>
                <a:blip r:embed="rId5"/>
                <a:stretch>
                  <a:fillRect l="-2135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2_1#be2785752?vcp=1&amp;pid=e98ea8257&amp;color=0,0,0&amp;vtp=1&amp;bt=1&amp;bbb=1&amp;hb=1"/>
              <p:cNvSpPr/>
              <p:nvPr/>
            </p:nvSpPr>
            <p:spPr>
              <a:xfrm>
                <a:off x="393192" y="1552512"/>
                <a:ext cx="11402568" cy="336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设题图中抛物线方程为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，变化得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.由此可见，小车做匀加速直线运动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可知初始位置坐标为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，初速度的大小为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时刻小车的速度大小为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，位置坐标为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时间内，小车的位移大小为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2_1#be2785752?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52512"/>
                <a:ext cx="11402568" cy="3361500"/>
              </a:xfrm>
              <a:prstGeom prst="rect">
                <a:avLst/>
              </a:prstGeom>
              <a:blipFill>
                <a:blip r:embed="rId3"/>
                <a:stretch>
                  <a:fillRect l="-1658" r="-4385" b="-54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5bdcf1262?vcp=1&amp;pid=e98ea8257&amp;color=0,0,0&amp;vtp=1&amp;bt=1&amp;bbb=1&amp;hb=1"/>
              <p:cNvSpPr/>
              <p:nvPr/>
            </p:nvSpPr>
            <p:spPr>
              <a:xfrm>
                <a:off x="393192" y="615093"/>
                <a:ext cx="11402568" cy="561873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拓展延伸</a:t>
                </a:r>
                <a:endParaRPr lang="en-US" altLang="zh-CN" sz="2400" dirty="0"/>
              </a:p>
              <a:p>
                <a:pPr algn="ctr"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对位移公式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的理解与应用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.公式的矢量性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该公式是矢量式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，公式中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均是矢量.应用公式解题时，先规定正方向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根据正方向明确式中各量的正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、负值.一般情况下，规定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.公式的拓展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，这就是初速度为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0的匀变速直线运动的位移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公式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的二次方成正比.</a:t>
                </a:r>
                <a:endParaRPr lang="en-US" altLang="zh-CN" sz="2400" dirty="0"/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，这是已知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时求匀变速直线运动的位移公式.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5bdcf1262?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15093"/>
                <a:ext cx="11402568" cy="5618734"/>
              </a:xfrm>
              <a:prstGeom prst="rect">
                <a:avLst/>
              </a:prstGeom>
              <a:blipFill>
                <a:blip r:embed="rId3"/>
                <a:stretch>
                  <a:fillRect l="-1658" r="-1604" b="-18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5bdcf1262?htil=7&amp;vcp=1&amp;pid=e98ea8257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718" y="847915"/>
            <a:ext cx="3392424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5bdcf1262?htil=7&amp;vcp=1&amp;pid=e98ea8257&amp;color=0,0,0&amp;vtp=1&amp;bt=1&amp;bbb=1&amp;hb=1&amp;hs=1"/>
              <p:cNvSpPr/>
              <p:nvPr/>
            </p:nvSpPr>
            <p:spPr>
              <a:xfrm>
                <a:off x="393192" y="802195"/>
                <a:ext cx="7872984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教材拓展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匀变速直线运动的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.图线形状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：由匀变速直线运动的位移公式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5bdcf1262?htil=7&amp;vcp=1&amp;pid=e98ea8257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2195"/>
                <a:ext cx="7872984" cy="1592199"/>
              </a:xfrm>
              <a:prstGeom prst="rect">
                <a:avLst/>
              </a:prstGeom>
              <a:blipFill>
                <a:blip r:embed="rId4"/>
                <a:stretch>
                  <a:fillRect l="-240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5bdcf1262?vcp=1&amp;pid=e98ea8257&amp;color=0,0,0&amp;vtp=1&amp;bbb=1&amp;hb=1"/>
              <p:cNvSpPr/>
              <p:nvPr/>
            </p:nvSpPr>
            <p:spPr>
              <a:xfrm>
                <a:off x="393192" y="310692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2.若坐标原点处图线的切线斜率不为0，则意味着开始计时时刻质点的速度不为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我们可以在图像上寻找两组坐标值代入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，即可求得质点的初速度和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对应的纵坐标值不一定是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，要看零时刻质点的初始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位置是否为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5bdcf1262?vcp=1&amp;pid=e98ea82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06928"/>
                <a:ext cx="11402568" cy="2713800"/>
              </a:xfrm>
              <a:prstGeom prst="rect">
                <a:avLst/>
              </a:prstGeom>
              <a:blipFill>
                <a:blip r:embed="rId5"/>
                <a:stretch>
                  <a:fillRect l="-1658" r="-58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5bdcf1262?htil=7&amp;vcp=1&amp;pid=e98ea8257&amp;color=0,0,0&amp;vtp=1&amp;bt=1&amp;bbb=1&amp;hb=1&amp;hs=1">
                <a:extLst>
                  <a:ext uri="{FF2B5EF4-FFF2-40B4-BE49-F238E27FC236}">
                    <a16:creationId xmlns:a16="http://schemas.microsoft.com/office/drawing/2014/main" id="{01F80989-5361-F29E-2987-59901E3775C6}"/>
                  </a:ext>
                </a:extLst>
              </p:cNvPr>
              <p:cNvSpPr/>
              <p:nvPr/>
            </p:nvSpPr>
            <p:spPr>
              <a:xfrm>
                <a:off x="395996" y="2395792"/>
                <a:ext cx="11400008" cy="7101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图线是一个二次函数图线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5bdcf1262?htil=7&amp;vcp=1&amp;pid=e98ea8257&amp;color=0,0,0&amp;vtp=1&amp;bt=1&amp;bbb=1&amp;hb=1&amp;hs=1">
                <a:extLst>
                  <a:ext uri="{FF2B5EF4-FFF2-40B4-BE49-F238E27FC236}">
                    <a16:creationId xmlns:a16="http://schemas.microsoft.com/office/drawing/2014/main" id="{01F80989-5361-F29E-2987-59901E377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95792"/>
                <a:ext cx="11400008" cy="710184"/>
              </a:xfrm>
              <a:prstGeom prst="rect">
                <a:avLst/>
              </a:prstGeom>
              <a:blipFill>
                <a:blip r:embed="rId6"/>
                <a:stretch>
                  <a:fillRect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b2881cb5b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b2881cb5b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b2881cb5b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匀变速直线运动速度与位移的关系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fdcbcb8cb?vcp=1&amp;pid=b2881cb5b&amp;color=0,0,0&amp;vtp=1&amp;bbb=1"/>
              <p:cNvSpPr/>
              <p:nvPr/>
            </p:nvSpPr>
            <p:spPr>
              <a:xfrm>
                <a:off x="393192" y="1092200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.匀变速直线运动速度与位移的关系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分别表示物体运动位移为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的末速度和初速度，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为加速度.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.符号规定：一般规定初速度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取正值.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对匀减速直线运动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fdcbcb8cb?vcp=1&amp;pid=b2881cb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3268599"/>
              </a:xfrm>
              <a:prstGeom prst="rect">
                <a:avLst/>
              </a:prstGeom>
              <a:blipFill>
                <a:blip r:embed="rId4"/>
                <a:stretch>
                  <a:fillRect b="-57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3_1#2fa5efae3?vcp=1&amp;pid=b2881cb5b&amp;color=0,0,0&amp;vtp=1&amp;bt=1&amp;bbb=1&amp;hb=1"/>
              <p:cNvSpPr/>
              <p:nvPr/>
            </p:nvSpPr>
            <p:spPr>
              <a:xfrm>
                <a:off x="393192" y="1223169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（军事科技）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若“歼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”战机正常起飞过程中加速度为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就达到起飞速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度腾空而起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.现已知“辽宁号”航空母舰起飞甲板长为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，且战机起飞过程可简化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.现有两种方式助其正常起飞，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方法一是在航空母舰静止的情况下，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用弹射系统给战机一定的初速度；方法二是起飞前先让航空母舰沿战机起飞方向以某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一速度匀速航行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3_1#2fa5efae3?vcp=1&amp;pid=b2881cb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23169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230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BD.14_1#cc3d8b45c?vcp=1&amp;pid=2fa5efae3&amp;color=0,0,0&amp;vtp=1&amp;bbb=1"/>
              <p:cNvSpPr/>
              <p:nvPr/>
            </p:nvSpPr>
            <p:spPr>
              <a:xfrm>
                <a:off x="393192" y="3964908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（1）方法一情况下弹射系统使战机具有的最小速度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BD.14_1#cc3d8b45c?vcp=1&amp;pid=2fa5efae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64908"/>
                <a:ext cx="11402568" cy="488125"/>
              </a:xfrm>
              <a:prstGeom prst="rect">
                <a:avLst/>
              </a:prstGeom>
              <a:blipFill>
                <a:blip r:embed="rId4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AS.15_1#cc3d8b45c?vcp=1&amp;pid=2fa5efae3&amp;color=0,0,0&amp;vtp=1&amp;bbb=1&amp;hb=1"/>
              <p:cNvSpPr/>
              <p:nvPr/>
            </p:nvSpPr>
            <p:spPr>
              <a:xfrm>
                <a:off x="393192" y="4453160"/>
                <a:ext cx="11402568" cy="117817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设战机的起飞速度为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𝒂𝒔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6_AS.15_1#cc3d8b45c?vcp=1&amp;pid=2fa5efae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53160"/>
                <a:ext cx="11402568" cy="1178179"/>
              </a:xfrm>
              <a:prstGeom prst="rect">
                <a:avLst/>
              </a:prstGeom>
              <a:blipFill>
                <a:blip r:embed="rId5"/>
                <a:stretch>
                  <a:fillRect l="-1658" b="-139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16_1#32d10a641?vcp=1&amp;pid=2fa5efae3&amp;color=0,0,0&amp;vtp=1&amp;bt=1&amp;bbb=1"/>
          <p:cNvSpPr/>
          <p:nvPr/>
        </p:nvSpPr>
        <p:spPr>
          <a:xfrm>
            <a:off x="393192" y="2219389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（2）方法二情况下航空母舰的最小速度及此过程中的位移.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S.17_1#32d10a641?vcp=1&amp;pid=2fa5efae3&amp;color=0,0,0&amp;vtp=1&amp;bbb=1&amp;hb=1"/>
              <p:cNvSpPr/>
              <p:nvPr/>
            </p:nvSpPr>
            <p:spPr>
              <a:xfrm>
                <a:off x="393192" y="2718880"/>
                <a:ext cx="11402568" cy="18369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设第二种方法中起飞过程经历的时间为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 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𝐦𝐢𝐧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,战机的位移</a:t>
                </a:r>
              </a:p>
              <a:p>
                <a:pPr latinLnBrk="1">
                  <a:lnSpc>
                    <a:spcPts val="5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 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𝐦𝐢𝐧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,航空母舰的位移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,位移关系为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𝒂𝒔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𝒂𝑳</m:t>
                        </m:r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𝒔𝑳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S.17_1#32d10a641?vcp=1&amp;pid=2fa5efae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18880"/>
                <a:ext cx="11402568" cy="1836928"/>
              </a:xfrm>
              <a:prstGeom prst="rect">
                <a:avLst/>
              </a:prstGeom>
              <a:blipFill>
                <a:blip r:embed="rId3"/>
                <a:stretch>
                  <a:fillRect l="-1658" b="-102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8_1#00d82420b?vcp=1&amp;pid=b2881cb5b&amp;color=0,0,0&amp;vtp=1&amp;bt=1&amp;bbb=1&amp;hb=1"/>
              <p:cNvSpPr/>
              <p:nvPr/>
            </p:nvSpPr>
            <p:spPr>
              <a:xfrm>
                <a:off x="393192" y="113236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（生活情境）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如图，汽车匀加速经过笔直的公路边的等间距的树木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.设车头经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1棵树时的速度为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,经过第4棵树时的速度为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,则它经过第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2棵树时的速度为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8_1#00d82420b?vcp=1&amp;pid=b2881cb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236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80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BD.18_2#00d82420b?vcp=1&amp;pid=b2881cb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20440" y="2852960"/>
            <a:ext cx="5157216" cy="52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AN.19_1#00d82420b.bracket?vcp=1&amp;pid=b2881cb5b&amp;color=0,0,0&amp;vpa=5&amp;vtp=1"/>
          <p:cNvSpPr/>
          <p:nvPr/>
        </p:nvSpPr>
        <p:spPr>
          <a:xfrm>
            <a:off x="625760" y="223853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8_3#00d82420b.choices?vcp=1&amp;pid=b2881cb5b&amp;color=0,0,0&amp;vtp=1&amp;bbb=1"/>
              <p:cNvSpPr/>
              <p:nvPr/>
            </p:nvSpPr>
            <p:spPr>
              <a:xfrm>
                <a:off x="393192" y="3513360"/>
                <a:ext cx="11402568" cy="825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500"/>
                  </a:lnSpc>
                  <a:tabLst>
                    <a:tab pos="2662677" algn="l"/>
                    <a:tab pos="5655554" algn="l"/>
                    <a:tab pos="87754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+2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8_3#00d82420b.choices?vcp=1&amp;pid=b2881cb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3360"/>
                <a:ext cx="11402568" cy="825500"/>
              </a:xfrm>
              <a:prstGeom prst="rect">
                <a:avLst/>
              </a:prstGeom>
              <a:blipFill>
                <a:blip r:embed="rId5"/>
                <a:stretch>
                  <a:fillRect l="-1658" b="-58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20_1#00d82420b?vcp=1&amp;pid=b2881cb5b&amp;color=0,0,0&amp;vtp=1&amp;bbb=1&amp;hb=1"/>
              <p:cNvSpPr/>
              <p:nvPr/>
            </p:nvSpPr>
            <p:spPr>
              <a:xfrm>
                <a:off x="393192" y="4338860"/>
                <a:ext cx="11402568" cy="13926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设两棵树之间的距离为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，设车头经过第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2棵树时的</a:t>
                </a:r>
              </a:p>
              <a:p>
                <a:pPr latinLnBrk="1">
                  <a:lnSpc>
                    <a:spcPts val="6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20_1#00d82420b?vcp=1&amp;pid=b2881cb5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8860"/>
                <a:ext cx="11402568" cy="1392619"/>
              </a:xfrm>
              <a:prstGeom prst="rect">
                <a:avLst/>
              </a:prstGeom>
              <a:blipFill>
                <a:blip r:embed="rId6"/>
                <a:stretch>
                  <a:fillRect l="-1658" b="-43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393fa71a0?htil=8&amp;vcp=1&amp;pid=b2881cb5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9050" y="1314196"/>
            <a:ext cx="3566160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393fa71a0?htil=8&amp;vcp=1&amp;pid=b2881cb5b&amp;color=0,0,0&amp;vtp=1&amp;bt=1&amp;bbb=1&amp;hs=1"/>
          <p:cNvSpPr/>
          <p:nvPr/>
        </p:nvSpPr>
        <p:spPr>
          <a:xfrm>
            <a:off x="393192" y="1268476"/>
            <a:ext cx="7708392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.公式的推导</a:t>
            </a:r>
            <a:endParaRPr lang="en-US" altLang="zh-CN" sz="2400" dirty="0"/>
          </a:p>
        </p:txBody>
      </p:sp>
      <p:sp>
        <p:nvSpPr>
          <p:cNvPr id="4" name="P_5_BD#393fa71a0?htil=8&amp;vcp=1&amp;pid=b2881cb5b&amp;color=0,0,0&amp;vtp=1&amp;bbb=1&amp;hs=1"/>
          <p:cNvSpPr/>
          <p:nvPr/>
        </p:nvSpPr>
        <p:spPr>
          <a:xfrm>
            <a:off x="393192" y="2364613"/>
            <a:ext cx="7708392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2.理解要点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1）该公式仅适用于匀变速直线运动.</a:t>
            </a:r>
            <a:endParaRPr lang="en-US" altLang="zh-CN" sz="2400" dirty="0"/>
          </a:p>
        </p:txBody>
      </p:sp>
      <p:sp>
        <p:nvSpPr>
          <p:cNvPr id="5" name="P_5_BD#393fa71a0?vcp=1&amp;pid=b2881cb5b&amp;color=0,0,0&amp;vtp=1&amp;bbb=1&amp;hs=1"/>
          <p:cNvSpPr/>
          <p:nvPr/>
        </p:nvSpPr>
        <p:spPr>
          <a:xfrm>
            <a:off x="393192" y="345395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（2）各量之间的关系及意义如下图所示.</a:t>
            </a:r>
            <a:endParaRPr lang="en-US" altLang="zh-CN" sz="2400" dirty="0"/>
          </a:p>
        </p:txBody>
      </p:sp>
      <p:pic>
        <p:nvPicPr>
          <p:cNvPr id="6" name="P_5_BD#393fa71a0?vcp=1&amp;pid=b2881cb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0328" y="4069207"/>
            <a:ext cx="2368296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393fa71a0?vcp=1&amp;pid=b2881cb5b&amp;color=0,0,0&amp;mp=1&amp;vtp=1&amp;bt=1&amp;bbb=1&amp;hb=1"/>
              <p:cNvSpPr/>
              <p:nvPr/>
            </p:nvSpPr>
            <p:spPr>
              <a:xfrm>
                <a:off x="393192" y="1789367"/>
                <a:ext cx="11402568" cy="32818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.物体做加速运动时，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取正值；做减速运动时，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取负值.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，说明物体的位移方向与初速度的方向相同；位移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的位移方向与初速度的方向相反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.特殊情况：当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时，公式简化为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，公式简化为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393fa71a0?vcp=1&amp;pid=b2881cb5b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9367"/>
                <a:ext cx="11402568" cy="3281871"/>
              </a:xfrm>
              <a:prstGeom prst="rect">
                <a:avLst/>
              </a:prstGeom>
              <a:blipFill>
                <a:blip r:embed="rId3"/>
                <a:stretch>
                  <a:fillRect l="-1658" b="-55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d7077749e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d7077749e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d7077749e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刹车模型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398aa78c1?vcp=1&amp;pid=d7077749e&amp;color=0,0,0&amp;vtp=1&amp;bbb=1&amp;hb=1"/>
              <p:cNvSpPr/>
              <p:nvPr/>
            </p:nvSpPr>
            <p:spPr>
              <a:xfrm>
                <a:off x="393192" y="1092200"/>
                <a:ext cx="11402568" cy="5320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、飞机降落后在跑道上滑行等都可简化为单方向的匀减速直线运动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速度减小到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0后，就停止运动，不可能倒过来做反向运动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，所以运动的最长时间为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,最大距离为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在计算这类运动的位移时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，应先计算出速度减小到0所用的时间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，再与题中所给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进行比较.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，则不能用题目所给的时间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，应按刹车后停下来所经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历的时间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进行计算.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，说明经过时间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运动还没有停止，则应用题目所给的时间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直接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398aa78c1?vcp=1&amp;pid=d7077749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5320475"/>
              </a:xfrm>
              <a:prstGeom prst="rect">
                <a:avLst/>
              </a:prstGeom>
              <a:blipFill>
                <a:blip r:embed="rId4"/>
                <a:stretch>
                  <a:fillRect l="-1658" r="-1444" b="-34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1_1#6db7c8192?vcp=1&amp;pid=d7077749e&amp;color=0,0,0&amp;vtp=1&amp;bt=1&amp;bbb=1&amp;hb=1"/>
              <p:cNvSpPr/>
              <p:nvPr/>
            </p:nvSpPr>
            <p:spPr>
              <a:xfrm>
                <a:off x="393192" y="579723"/>
                <a:ext cx="11402568" cy="1036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［教材改编题］（易错题）一辆汽车刹车前速度为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，刹车时获得的加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1_1#6db7c8192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9723"/>
                <a:ext cx="11402568" cy="1036828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BD.22_1#f2a7dcc61?vcp=1&amp;pid=6db7c8192&amp;color=0,0,0&amp;vtp=1&amp;bbb=1"/>
              <p:cNvSpPr/>
              <p:nvPr/>
            </p:nvSpPr>
            <p:spPr>
              <a:xfrm>
                <a:off x="393192" y="168189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（1）汽车开始刹车后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内滑行的距离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BD.22_1#f2a7dcc61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1892"/>
                <a:ext cx="11402568" cy="488125"/>
              </a:xfrm>
              <a:prstGeom prst="rect">
                <a:avLst/>
              </a:prstGeom>
              <a:blipFill>
                <a:blip r:embed="rId4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AS.23_1#f2a7dcc61?vcp=1&amp;pid=6db7c8192&amp;color=0,0,0&amp;vtp=1&amp;bbb=1&amp;hb=1"/>
              <p:cNvSpPr/>
              <p:nvPr/>
            </p:nvSpPr>
            <p:spPr>
              <a:xfrm>
                <a:off x="393192" y="2170144"/>
                <a:ext cx="11402568" cy="3949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先求汽车从开始刹车到停下来所经历的时间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.由题意知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,末速度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,以初速度方向为正方向，由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及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说明汽车刹车后经过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停下来，因此汽车开始刹车后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.根据位移公式得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6_AS.23_1#f2a7dcc61?vcp=1&amp;pid=6db7c819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0144"/>
                <a:ext cx="11402568" cy="3949700"/>
              </a:xfrm>
              <a:prstGeom prst="rect">
                <a:avLst/>
              </a:prstGeom>
              <a:blipFill>
                <a:blip r:embed="rId5"/>
                <a:stretch>
                  <a:fillRect l="-1658" b="-26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6_BD.24_1#658b67dfc?vcp=1&amp;pid=6db7c8192&amp;color=0,0,0&amp;vtp=1&amp;bt=1&amp;bbb=1"/>
              <p:cNvSpPr/>
              <p:nvPr/>
            </p:nvSpPr>
            <p:spPr>
              <a:xfrm>
                <a:off x="393192" y="134175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（2）汽车从开始刹车到滑行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的距离所经历的时间.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6_BD.24_1#658b67dfc?vcp=1&amp;pid=6db7c8192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41755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S.25_1#658b67dfc?vcp=1&amp;pid=6db7c8192&amp;color=0,0,0&amp;vtp=1&amp;bbb=1"/>
              <p:cNvSpPr/>
              <p:nvPr/>
            </p:nvSpPr>
            <p:spPr>
              <a:xfrm>
                <a:off x="393192" y="1841246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根据位移公式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汽车总刹车时间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,很显然,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不合题意，应舍去.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S.25_1#658b67dfc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1246"/>
                <a:ext cx="11402568" cy="1621600"/>
              </a:xfrm>
              <a:prstGeom prst="rect">
                <a:avLst/>
              </a:prstGeom>
              <a:blipFill>
                <a:blip r:embed="rId4"/>
                <a:stretch>
                  <a:fillRect l="-1658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BD.26_1#0dda64a90?vcp=1&amp;pid=6db7c8192&amp;color=0,0,0&amp;vtp=1&amp;bbb=1"/>
              <p:cNvSpPr/>
              <p:nvPr/>
            </p:nvSpPr>
            <p:spPr>
              <a:xfrm>
                <a:off x="393192" y="351897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（3）汽车静止前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内滑行的距离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6_BD.26_1#0dda64a90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8979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6_AS.27_1#0dda64a90?vcp=1&amp;pid=6db7c8192&amp;color=0,0,0&amp;vtp=1&amp;bbb=1&amp;hb=1"/>
              <p:cNvSpPr/>
              <p:nvPr/>
            </p:nvSpPr>
            <p:spPr>
              <a:xfrm>
                <a:off x="393192" y="4007231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时，汽车的速度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6_AS.27_1#0dda64a90?vcp=1&amp;pid=6db7c819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07231"/>
                <a:ext cx="11402568" cy="1117600"/>
              </a:xfrm>
              <a:prstGeom prst="rect">
                <a:avLst/>
              </a:prstGeom>
              <a:blipFill>
                <a:blip r:embed="rId6"/>
                <a:stretch>
                  <a:fillRect l="-1658" r="-588" b="-9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28_1#00ee9d6d1?vcp=1&amp;pid=d7077749e&amp;color=0,0,0&amp;vtp=1&amp;bt=1&amp;bbb=1&amp;hb=1"/>
              <p:cNvSpPr/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（易错题）（多选题）一辆车以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，某时刻开始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以恒定的加速度刹车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28_1#00ee9d6d1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32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9_1#00ee9d6d1.bracket?vcp=1&amp;pid=d7077749e&amp;color=0,0,0&amp;vpa=6&amp;vtp=1&amp;bbb=1"/>
          <p:cNvSpPr/>
          <p:nvPr/>
        </p:nvSpPr>
        <p:spPr>
          <a:xfrm>
            <a:off x="8618823" y="2375059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28_2#00ee9d6d1.choices?vcp=1&amp;pid=d7077749e&amp;color=0,0,0&amp;vtp=1&amp;bbb=1"/>
              <p:cNvSpPr/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A.汽车刹车时的加速度大小为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内汽车的位移为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.汽车运动过程中，在最后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内发生的位移为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28_2#00ee9d6d1.choices?vcp=1&amp;pid=d7077749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30_1#00ee9d6d1?vcp=1&amp;pid=d7077749e&amp;color=0,0,0&amp;vtp=1&amp;bt=1&amp;bbb=1&amp;hb=1"/>
              <p:cNvSpPr/>
              <p:nvPr/>
            </p:nvSpPr>
            <p:spPr>
              <a:xfrm>
                <a:off x="393192" y="1135158"/>
                <a:ext cx="11402568" cy="4417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由题意知汽车的初速度为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汽车刹车时的加速度为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；汽车从开始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刹车到停止所需的时间为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内的位移等于汽车在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内的刹车位移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内的平均速度等于汽车在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第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第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由逆向思维可得，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汽车运动过程中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内发生的位移为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最后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最后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30_1#00ee9d6d1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5158"/>
                <a:ext cx="11402568" cy="4417949"/>
              </a:xfrm>
              <a:prstGeom prst="rect">
                <a:avLst/>
              </a:prstGeom>
              <a:blipFill>
                <a:blip r:embed="rId3"/>
                <a:stretch>
                  <a:fillRect l="-1658" r="-1658" b="-24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6c92b720d?vcp=1&amp;pid=d7077749e&amp;color=0,0,0&amp;vtp=1&amp;bt=1&amp;bbb=1&amp;hb=1"/>
          <p:cNvSpPr/>
          <p:nvPr/>
        </p:nvSpPr>
        <p:spPr>
          <a:xfrm>
            <a:off x="393192" y="208035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“逆向思维法”就是沿着物理过程发生的相反方向，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根据结果探索原因的思维方式，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即把运动过程的末态当成初态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、初态当成末态进行反向研究的方法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，该方法一般用于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末态已知的情况或末态很容易确定的情况，如匀减速直线运动可看成加速度相同的匀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6c92b720d?vcp=1&amp;pid=d7077749e&amp;color=0,0,0&amp;vtp=1&amp;bt=1&amp;bbb=1&amp;hb=1"/>
              <p:cNvSpPr/>
              <p:nvPr/>
            </p:nvSpPr>
            <p:spPr>
              <a:xfrm>
                <a:off x="393192" y="1046544"/>
                <a:ext cx="11402568" cy="4610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延伸拓展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（1）问还可这样求解：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:endParaRPr lang="en-US" altLang="zh-CN" sz="2400" dirty="0"/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0−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25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2×(−10)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=31.25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（3）问采用逆向思维法.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把汽车减速到速度为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0的过程看作初速度为0的匀加速直线运动的逆过程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的加速度做初速度为0的匀加速运动，在第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内的位移大小即所求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×10×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6c92b720d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46544"/>
                <a:ext cx="11402568" cy="4610100"/>
              </a:xfrm>
              <a:prstGeom prst="rect">
                <a:avLst/>
              </a:prstGeom>
              <a:blipFill>
                <a:blip r:embed="rId3"/>
                <a:stretch>
                  <a:fillRect l="-1658" r="-535" b="-22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2252</Words>
  <Application>Microsoft Office PowerPoint</Application>
  <PresentationFormat>宽屏</PresentationFormat>
  <Paragraphs>270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2026-05-25T08:16:40Z</dcterms:created>
  <dcterms:modified xsi:type="dcterms:W3CDTF">2026-05-25T08:18:55Z</dcterms:modified>
  <cp:category/>
  <cp:contentStatus/>
</cp:coreProperties>
</file>