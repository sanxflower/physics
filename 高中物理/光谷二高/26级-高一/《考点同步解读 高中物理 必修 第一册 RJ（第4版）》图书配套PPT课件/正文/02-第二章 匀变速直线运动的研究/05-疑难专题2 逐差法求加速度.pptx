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3" r:id="rId7"/>
    <p:sldId id="264" r:id="rId8"/>
    <p:sldId id="276"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484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328bacd03a259d373#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34f769ea3">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疑难专题2 逐差法求加速度</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34f769ea3.fixed?vcp=1&amp;pid=efd683a83&amp;color=0,112,192&amp;vtp=1&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第二章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匀变速直线运动的研究</a:t>
            </a:r>
            <a:endParaRPr lang="en-US" altLang="zh-CN" sz="4800" dirty="0"/>
          </a:p>
        </p:txBody>
      </p:sp>
      <p:sp>
        <p:nvSpPr>
          <p:cNvPr id="3" name="C_2_BD#34f769ea3.fixed?vcp=1&amp;pid=efd683a83&amp;color=0,0,0&amp;vtp=1&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疑难专题2</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逐差法求加速度</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pic>
        <p:nvPicPr>
          <p:cNvPr id="2" name="C_3#34ae6eb25?vcp=1&amp;pid=34f769ea3&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34ae6eb25?vcp=1&amp;pid=34f769ea3&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34ae6eb25?vcp=1&amp;pid=34f769ea3&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3_BD#34ae6eb25?vcp=1&amp;pid=34f769ea3&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匀变速直线运动的位移差公式</a:t>
            </a:r>
            <a:endParaRPr lang="en-US" altLang="zh-CN" sz="2600" dirty="0"/>
          </a:p>
        </p:txBody>
      </p:sp>
      <mc:AlternateContent xmlns:mc="http://schemas.openxmlformats.org/markup-compatibility/2006">
        <mc:Choice xmlns:a14="http://schemas.microsoft.com/office/drawing/2010/main" Requires="a14">
          <p:sp>
            <p:nvSpPr>
              <p:cNvPr id="6" name="P_4_BD#17fd751d7?vcp=1&amp;pid=34ae6eb25&amp;color=0,0,0&amp;vtp=1&amp;bbb=1&amp;hb=1"/>
              <p:cNvSpPr/>
              <p:nvPr/>
            </p:nvSpPr>
            <p:spPr>
              <a:xfrm>
                <a:off x="393192" y="965200"/>
                <a:ext cx="11402568" cy="2794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1.公式：在连续相等的时间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Times New Roman" pitchFamily="34" charset="0"/>
                    <a:ea typeface="微软雅黑" pitchFamily="34" charset="-122"/>
                    <a:cs typeface="Times New Roman" pitchFamily="34" charset="-120"/>
                  </a:rPr>
                  <a:t>内的位移之差为一恒定值，即</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.对</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的理解</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表明匀变速直线运动在连续相等的时间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内的位移之差为一恒定</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值</a:t>
                </a:r>
                <a:r>
                  <a:rPr lang="en-US" altLang="zh-CN" sz="2400" b="0" i="0" dirty="0">
                    <a:solidFill>
                      <a:srgbClr val="000000"/>
                    </a:solidFill>
                    <a:latin typeface="Times New Roman" pitchFamily="34" charset="0"/>
                    <a:ea typeface="微软雅黑" pitchFamily="34" charset="-122"/>
                    <a:cs typeface="Times New Roman" pitchFamily="34" charset="-120"/>
                  </a:rPr>
                  <a:t>，据此可判断物体是否为匀变速直线运动.所以该式又称为匀变速直线运动的判别式.</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的变形式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m:rPr>
                            <m:sty m:val="p"/>
                          </m:rPr>
                          <a:rPr lang="en-US" altLang="zh-CN" sz="2400" b="0" i="0">
                            <a:solidFill>
                              <a:srgbClr val="000000"/>
                            </a:solidFill>
                            <a:latin typeface="Cambria Math" pitchFamily="34" charset="0"/>
                            <a:ea typeface="Cambria Math" pitchFamily="34" charset="-122"/>
                            <a:cs typeface="Cambria Math" pitchFamily="34" charset="-120"/>
                          </a:rPr>
                          <m:t>Δ</m:t>
                        </m:r>
                        <m:r>
                          <m:rPr>
                            <m:nor/>
                          </m:rPr>
                          <a:rPr lang="en-US" altLang="zh-CN" sz="2400" b="0" i="0">
                            <a:solidFill>
                              <a:srgbClr val="000000"/>
                            </a:solidFill>
                            <a:latin typeface="Cambria Math" pitchFamily="34" charset="0"/>
                            <a:ea typeface="Cambria Math" pitchFamily="34" charset="-122"/>
                            <a:cs typeface="Cambria Math" pitchFamily="34" charset="-120"/>
                          </a:rPr>
                          <m:t> </m:t>
                        </m:r>
                        <m:r>
                          <a:rPr lang="en-US" altLang="zh-CN" sz="2400" b="0" i="0">
                            <a:solidFill>
                              <a:srgbClr val="000000"/>
                            </a:solidFill>
                            <a:latin typeface="Cambria Math" pitchFamily="34" charset="0"/>
                            <a:ea typeface="Cambria Math" pitchFamily="34" charset="-122"/>
                            <a:cs typeface="Cambria Math" pitchFamily="34" charset="-120"/>
                          </a:rPr>
                          <m:t>𝑥</m:t>
                        </m:r>
                      </m:num>
                      <m:den>
                        <m:r>
                          <a:rPr lang="en-US" altLang="zh-CN" sz="2400" b="0" i="0">
                            <a:solidFill>
                              <a:srgbClr val="000000"/>
                            </a:solidFill>
                            <a:latin typeface="Cambria Math" pitchFamily="34" charset="0"/>
                            <a:ea typeface="Cambria Math" pitchFamily="34" charset="-122"/>
                            <a:cs typeface="Cambria Math" pitchFamily="34" charset="-120"/>
                          </a:rPr>
                          <m:t>𝑇</m:t>
                        </m:r>
                        <m:r>
                          <m:rPr>
                            <m:nor/>
                          </m:rPr>
                          <a:rPr lang="en-US" altLang="zh-CN" sz="2400" b="0" i="0">
                            <a:solidFill>
                              <a:srgbClr val="000000"/>
                            </a:solidFill>
                            <a:latin typeface="Cambria Math" pitchFamily="34" charset="0"/>
                            <a:ea typeface="Cambria Math" pitchFamily="34" charset="-122"/>
                            <a:cs typeface="Cambria Math" pitchFamily="34" charset="-120"/>
                          </a:rPr>
                          <m:t> </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可以用来计算匀变速直线运动的加速度.</a:t>
                </a:r>
                <a:endParaRPr lang="en-US" altLang="zh-CN" sz="2400" dirty="0"/>
              </a:p>
            </p:txBody>
          </p:sp>
        </mc:Choice>
        <mc:Fallback>
          <p:sp>
            <p:nvSpPr>
              <p:cNvPr id="6" name="P_4_BD#17fd751d7?vcp=1&amp;pid=34ae6eb25&amp;color=0,0,0&amp;vtp=1&amp;bbb=1&amp;hb=1"/>
              <p:cNvSpPr>
                <a:spLocks noRot="1" noChangeAspect="1" noMove="1" noResize="1" noEditPoints="1" noAdjustHandles="1" noChangeArrowheads="1" noChangeShapeType="1" noTextEdit="1"/>
              </p:cNvSpPr>
              <p:nvPr/>
            </p:nvSpPr>
            <p:spPr>
              <a:xfrm>
                <a:off x="393192" y="965200"/>
                <a:ext cx="11402568" cy="2794000"/>
              </a:xfrm>
              <a:prstGeom prst="rect">
                <a:avLst/>
              </a:prstGeom>
              <a:blipFill>
                <a:blip r:embed="rId4"/>
                <a:stretch>
                  <a:fillRect l="-1658" r="-1925" b="-3704"/>
                </a:stretch>
              </a:blipFill>
              <a:ln/>
            </p:spPr>
            <p:txBody>
              <a:bodyPr/>
              <a:lstStyle/>
              <a:p>
                <a:r>
                  <a:rPr lang="zh-CN" altLang="en-US">
                    <a:noFill/>
                  </a:rPr>
                  <a:t> </a:t>
                </a:r>
              </a:p>
            </p:txBody>
          </p:sp>
        </mc:Fallback>
      </mc:AlternateContent>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sp>
        <p:nvSpPr>
          <p:cNvPr id="2" name="P_4_BD#17fd751d7?vcp=1&amp;pid=34ae6eb25&amp;color=0,0,0&amp;vtp=1&amp;bt=1&amp;bbb=1"/>
          <p:cNvSpPr/>
          <p:nvPr/>
        </p:nvSpPr>
        <p:spPr>
          <a:xfrm>
            <a:off x="393192" y="958437"/>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3.证明</a:t>
            </a:r>
            <a:endParaRPr lang="en-US" altLang="zh-CN" sz="2400" dirty="0"/>
          </a:p>
        </p:txBody>
      </p:sp>
      <p:pic>
        <p:nvPicPr>
          <p:cNvPr id="3" name="P_4_BD#17fd751d7?vcp=1&amp;pid=34ae6eb25&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3410712" y="1571212"/>
            <a:ext cx="5376672" cy="8229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4" name="P_4_BD#17fd751d7?vcp=1&amp;pid=34ae6eb25&amp;color=0,0,0&amp;vtp=1&amp;bbb=1&amp;hb=1"/>
              <p:cNvSpPr/>
              <p:nvPr/>
            </p:nvSpPr>
            <p:spPr>
              <a:xfrm>
                <a:off x="393192" y="2523712"/>
                <a:ext cx="11402568" cy="33955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设物体在第1个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2400" b="0" i="0" dirty="0">
                    <a:solidFill>
                      <a:srgbClr val="000000"/>
                    </a:solidFill>
                    <a:latin typeface="Times New Roman" pitchFamily="34" charset="0"/>
                    <a:ea typeface="微软雅黑" pitchFamily="34" charset="-122"/>
                    <a:cs typeface="Times New Roman" pitchFamily="34" charset="-120"/>
                  </a:rPr>
                  <a:t>开始的时刻的速度为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,则在第1个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时间内物体的位移为</a:t>
                </a:r>
              </a:p>
              <a:p>
                <a:pPr latinLnBrk="1">
                  <a:lnSpc>
                    <a:spcPts val="62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,前</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2400" b="0" i="0" dirty="0">
                    <a:solidFill>
                      <a:srgbClr val="000000"/>
                    </a:solidFill>
                    <a:latin typeface="Times New Roman" pitchFamily="34" charset="0"/>
                    <a:ea typeface="微软雅黑" pitchFamily="34" charset="-122"/>
                    <a:cs typeface="Times New Roman" pitchFamily="34" charset="-120"/>
                  </a:rPr>
                  <a:t>时间内物体的位移为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𝑇</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，在第2个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时间</a:t>
                </a:r>
              </a:p>
              <a:p>
                <a:pPr latinLnBrk="1">
                  <a:lnSpc>
                    <a:spcPts val="6200"/>
                  </a:lnSpc>
                </a:pPr>
                <a:r>
                  <a:rPr lang="en-US" altLang="zh-CN" sz="2400" b="0" i="0">
                    <a:solidFill>
                      <a:srgbClr val="000000"/>
                    </a:solidFill>
                    <a:latin typeface="Times New Roman" pitchFamily="34" charset="0"/>
                    <a:ea typeface="微软雅黑" pitchFamily="34" charset="-122"/>
                    <a:cs typeface="Times New Roman" pitchFamily="34" charset="-120"/>
                  </a:rPr>
                  <a:t>内的位移</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3</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,连续相等时间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内的位移差</a:t>
                </a:r>
              </a:p>
              <a:p>
                <a:pPr latinLnBrk="1">
                  <a:lnSpc>
                    <a:spcPts val="6200"/>
                  </a:lnSpc>
                </a:pP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3</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0</m:t>
                        </m:r>
                      </m:sub>
                    </m:sSub>
                    <m:r>
                      <a:rPr lang="en-US" altLang="zh-CN" sz="2400" b="0" i="0">
                        <a:solidFill>
                          <a:srgbClr val="000000"/>
                        </a:solidFill>
                        <a:latin typeface="Cambria Math" pitchFamily="34" charset="0"/>
                        <a:ea typeface="Cambria Math" pitchFamily="34" charset="-122"/>
                        <a:cs typeface="Cambria Math" pitchFamily="34" charset="-120"/>
                      </a:rPr>
                      <m:t>𝑇</m:t>
                    </m:r>
                    <m:r>
                      <a:rPr lang="en-US" altLang="zh-CN" sz="2400" b="0" i="0">
                        <a:solidFill>
                          <a:srgbClr val="000000"/>
                        </a:solidFill>
                        <a:latin typeface="Cambria Math" pitchFamily="34" charset="0"/>
                        <a:ea typeface="Cambria Math" pitchFamily="34" charset="-122"/>
                        <a:cs typeface="Cambria Math" pitchFamily="34" charset="-120"/>
                      </a:rPr>
                      <m:t>−</m:t>
                    </m:r>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r>
                          <a:rPr lang="en-US" altLang="zh-CN" sz="2400" b="0" i="0">
                            <a:solidFill>
                              <a:srgbClr val="000000"/>
                            </a:solidFill>
                            <a:latin typeface="Cambria Math" pitchFamily="34" charset="0"/>
                            <a:ea typeface="Cambria Math" pitchFamily="34" charset="-122"/>
                            <a:cs typeface="Cambria Math" pitchFamily="34" charset="-120"/>
                          </a:rPr>
                          <m:t>2</m:t>
                        </m:r>
                      </m:den>
                    </m:f>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，即</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进一步推导可得</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3</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4</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3</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P_4_BD#17fd751d7?vcp=1&amp;pid=34ae6eb25&amp;color=0,0,0&amp;vtp=1&amp;bbb=1&amp;hb=1"/>
              <p:cNvSpPr>
                <a:spLocks noRot="1" noChangeAspect="1" noMove="1" noResize="1" noEditPoints="1" noAdjustHandles="1" noChangeArrowheads="1" noChangeShapeType="1" noTextEdit="1"/>
              </p:cNvSpPr>
              <p:nvPr/>
            </p:nvSpPr>
            <p:spPr>
              <a:xfrm>
                <a:off x="393192" y="2523712"/>
                <a:ext cx="11402568" cy="3395599"/>
              </a:xfrm>
              <a:prstGeom prst="rect">
                <a:avLst/>
              </a:prstGeom>
              <a:blipFill>
                <a:blip r:embed="rId4"/>
                <a:stretch>
                  <a:fillRect l="-1658" r="-588" b="-5386"/>
                </a:stretch>
              </a:blipFill>
              <a:ln/>
            </p:spPr>
            <p:txBody>
              <a:bodyPr/>
              <a:lstStyle/>
              <a:p>
                <a:r>
                  <a:rPr lang="zh-CN" altLang="en-US">
                    <a:noFill/>
                  </a:rPr>
                  <a:t> </a:t>
                </a:r>
              </a:p>
            </p:txBody>
          </p:sp>
        </mc:Fallback>
      </mc:AlternateContent>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P_4_BD#17fd751d7?htil=1&amp;vcp=1&amp;pid=34ae6eb25&amp;color=0,0,0&amp;tib=255,255,255&amp;vtp=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401932" y="1422591"/>
            <a:ext cx="2249424" cy="187452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P_4_BD#17fd751d7?htil=1&amp;vcp=1&amp;pid=34ae6eb25&amp;color=0,0,0&amp;vtp=1&amp;bt=1&amp;bbb=1&amp;hb=1&amp;hs=1"/>
              <p:cNvSpPr/>
              <p:nvPr/>
            </p:nvSpPr>
            <p:spPr>
              <a:xfrm>
                <a:off x="393192" y="1276287"/>
                <a:ext cx="9015984" cy="2154428"/>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还可从图像入手，巧妙证明：</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如图所示</a:t>
                </a:r>
                <a:r>
                  <a:rPr lang="en-US" altLang="zh-CN" sz="2400" b="0" i="0" dirty="0">
                    <a:solidFill>
                      <a:srgbClr val="000000"/>
                    </a:solidFill>
                    <a:latin typeface="Times New Roman" pitchFamily="34" charset="0"/>
                    <a:ea typeface="微软雅黑" pitchFamily="34" charset="-122"/>
                    <a:cs typeface="Times New Roman" pitchFamily="34" charset="-120"/>
                  </a:rPr>
                  <a:t>，若已知该图像中图线斜率为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,则由图可知</a:t>
                </a:r>
                <a:r>
                  <a:rPr lang="en-US" altLang="zh-CN" sz="2400" b="0" i="0">
                    <a:solidFill>
                      <a:srgbClr val="000000"/>
                    </a:solidFill>
                    <a:latin typeface="Times New Roman" pitchFamily="34" charset="0"/>
                    <a:ea typeface="微软雅黑" pitchFamily="34" charset="-122"/>
                    <a:cs typeface="Times New Roman" pitchFamily="34" charset="-120"/>
                  </a:rPr>
                  <a:t>，图中阴</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影部分面积表示第</a:t>
                </a:r>
                <a:r>
                  <a:rPr lang="en-US" altLang="zh-CN" sz="2400" b="0" i="0" dirty="0">
                    <a:solidFill>
                      <a:srgbClr val="000000"/>
                    </a:solidFill>
                    <a:latin typeface="Times New Roman" pitchFamily="34" charset="0"/>
                    <a:ea typeface="微软雅黑" pitchFamily="34" charset="-122"/>
                    <a:cs typeface="Times New Roman" pitchFamily="34" charset="-120"/>
                  </a:rPr>
                  <a:t>2个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2400" b="0" i="0" dirty="0">
                    <a:solidFill>
                      <a:srgbClr val="000000"/>
                    </a:solidFill>
                    <a:latin typeface="Times New Roman" pitchFamily="34" charset="0"/>
                    <a:ea typeface="微软雅黑" pitchFamily="34" charset="-122"/>
                    <a:cs typeface="Times New Roman" pitchFamily="34" charset="-120"/>
                  </a:rPr>
                  <a:t>时间内比第1个</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𝑇</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时间内多运动的位移</a:t>
                </a:r>
                <a:r>
                  <a:rPr lang="en-US" altLang="zh-CN" sz="2400" b="0" i="0">
                    <a:solidFill>
                      <a:srgbClr val="000000"/>
                    </a:solidFill>
                    <a:latin typeface="Times New Roman" pitchFamily="34" charset="0"/>
                    <a:ea typeface="微软雅黑" pitchFamily="34" charset="-122"/>
                    <a:cs typeface="Times New Roman" pitchFamily="34" charset="-120"/>
                  </a:rPr>
                  <a:t>，即</a:t>
                </a:r>
              </a:p>
              <a:p>
                <a:pPr latinLnBrk="1">
                  <a:lnSpc>
                    <a:spcPts val="4200"/>
                  </a:lnSpc>
                </a:pP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3" name="P_4_BD#17fd751d7?htil=1&amp;vcp=1&amp;pid=34ae6eb25&amp;color=0,0,0&amp;vtp=1&amp;bt=1&amp;bbb=1&amp;hb=1&amp;hs=1"/>
              <p:cNvSpPr>
                <a:spLocks noRot="1" noChangeAspect="1" noMove="1" noResize="1" noEditPoints="1" noAdjustHandles="1" noChangeArrowheads="1" noChangeShapeType="1" noTextEdit="1"/>
              </p:cNvSpPr>
              <p:nvPr/>
            </p:nvSpPr>
            <p:spPr>
              <a:xfrm>
                <a:off x="393192" y="1276287"/>
                <a:ext cx="9015984" cy="2154428"/>
              </a:xfrm>
              <a:prstGeom prst="rect">
                <a:avLst/>
              </a:prstGeom>
              <a:blipFill>
                <a:blip r:embed="rId4"/>
                <a:stretch>
                  <a:fillRect l="-2096" b="-847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P_4_BD#17fd751d7?vcp=1&amp;pid=34ae6eb25&amp;color=0,0,0&amp;vtp=1&amp;bt=1&amp;bbb=1&amp;hb=1&amp;hs=1">
                <a:extLst>
                  <a:ext uri="{FF2B5EF4-FFF2-40B4-BE49-F238E27FC236}">
                    <a16:creationId xmlns:a16="http://schemas.microsoft.com/office/drawing/2014/main" id="{F3750B69-B519-9A7B-B1AA-716F0E1633AA}"/>
                  </a:ext>
                </a:extLst>
              </p:cNvPr>
              <p:cNvSpPr/>
              <p:nvPr/>
            </p:nvSpPr>
            <p:spPr>
              <a:xfrm>
                <a:off x="393192" y="3424365"/>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4.说明</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1）公式只适用匀变速直线运动（匀加速或匀减速均可，若为匀减速</a:t>
                </a:r>
                <a:r>
                  <a:rPr lang="en-US" altLang="zh-CN" sz="2400" b="0" i="0">
                    <a:solidFill>
                      <a:srgbClr val="000000"/>
                    </a:solidFill>
                    <a:latin typeface="Times New Roman" pitchFamily="34" charset="0"/>
                    <a:ea typeface="微软雅黑" pitchFamily="34" charset="-122"/>
                    <a:cs typeface="Times New Roman" pitchFamily="34" charset="-120"/>
                  </a:rPr>
                  <a:t>，则</a:t>
                </a:r>
              </a:p>
              <a:p>
                <a:pPr latinLnBrk="1">
                  <a:lnSpc>
                    <a:spcPts val="4400"/>
                  </a:lnSpc>
                </a:pP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&lt;0</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&lt;0</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）,所选取的时间段必须相等，初速度可不为0.</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2）若所选取的相等时间不相邻，则公式为</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Δ</m:t>
                    </m:r>
                    <m:r>
                      <a:rPr lang="en-US" altLang="zh-CN" sz="2400" b="0" i="0">
                        <a:solidFill>
                          <a:srgbClr val="000000"/>
                        </a:solidFill>
                        <a:latin typeface="Cambria Math" pitchFamily="34" charset="0"/>
                        <a:ea typeface="Cambria Math" pitchFamily="34" charset="-122"/>
                        <a:cs typeface="Cambria Math" pitchFamily="34" charset="-120"/>
                      </a:rPr>
                      <m:t>𝑥</m:t>
                    </m:r>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𝑚</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𝑛</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P_4_BD#17fd751d7?vcp=1&amp;pid=34ae6eb25&amp;color=0,0,0&amp;vtp=1&amp;bt=1&amp;bbb=1&amp;hb=1&amp;hs=1">
                <a:extLst>
                  <a:ext uri="{FF2B5EF4-FFF2-40B4-BE49-F238E27FC236}">
                    <a16:creationId xmlns:a16="http://schemas.microsoft.com/office/drawing/2014/main" id="{F3750B69-B519-9A7B-B1AA-716F0E1633AA}"/>
                  </a:ext>
                </a:extLst>
              </p:cNvPr>
              <p:cNvSpPr>
                <a:spLocks noRot="1" noChangeAspect="1" noMove="1" noResize="1" noEditPoints="1" noAdjustHandles="1" noChangeArrowheads="1" noChangeShapeType="1" noTextEdit="1"/>
              </p:cNvSpPr>
              <p:nvPr/>
            </p:nvSpPr>
            <p:spPr>
              <a:xfrm>
                <a:off x="393192" y="3424365"/>
                <a:ext cx="11402568" cy="2150999"/>
              </a:xfrm>
              <a:prstGeom prst="rect">
                <a:avLst/>
              </a:prstGeom>
              <a:blipFill>
                <a:blip r:embed="rId5"/>
                <a:stretch>
                  <a:fillRect l="-963" b="-849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_1#4da2bc185?vcp=1&amp;pid=34ae6eb25&amp;color=0,0,0&amp;vtp=1&amp;bt=1&amp;bbb=1&amp;hb=1"/>
              <p:cNvSpPr/>
              <p:nvPr/>
            </p:nvSpPr>
            <p:spPr>
              <a:xfrm>
                <a:off x="393192" y="1272127"/>
                <a:ext cx="11402568"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（2026·湖北黄冈中学阶段性检测）</a:t>
                </a:r>
                <a:r>
                  <a:rPr lang="en-US" altLang="zh-CN" sz="2400" b="0" i="0" dirty="0">
                    <a:solidFill>
                      <a:srgbClr val="000000"/>
                    </a:solidFill>
                    <a:latin typeface="Times New Roman" pitchFamily="34" charset="0"/>
                    <a:ea typeface="微软雅黑" pitchFamily="34" charset="-122"/>
                    <a:cs typeface="Times New Roman" pitchFamily="34" charset="-120"/>
                  </a:rPr>
                  <a:t>从固定斜面上的</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2400" b="0" i="0" dirty="0">
                    <a:solidFill>
                      <a:srgbClr val="000000"/>
                    </a:solidFill>
                    <a:latin typeface="Times New Roman" pitchFamily="34" charset="0"/>
                    <a:ea typeface="微软雅黑" pitchFamily="34" charset="-122"/>
                    <a:cs typeface="Times New Roman" pitchFamily="34" charset="-120"/>
                  </a:rPr>
                  <a:t>点每隔</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由静止释放一</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个同样的小球</a:t>
                </a:r>
                <a:r>
                  <a:rPr lang="en-US" altLang="zh-CN" sz="2400" b="0" i="0" dirty="0">
                    <a:solidFill>
                      <a:srgbClr val="000000"/>
                    </a:solidFill>
                    <a:latin typeface="Times New Roman" pitchFamily="34" charset="0"/>
                    <a:ea typeface="微软雅黑" pitchFamily="34" charset="-122"/>
                    <a:cs typeface="Times New Roman" pitchFamily="34" charset="-120"/>
                  </a:rPr>
                  <a:t>，释放后小球做匀加速直线运动.某一时刻</a:t>
                </a:r>
                <a:r>
                  <a:rPr lang="en-US" altLang="zh-CN" sz="2400" b="0" i="0">
                    <a:solidFill>
                      <a:srgbClr val="000000"/>
                    </a:solidFill>
                    <a:latin typeface="Times New Roman" pitchFamily="34" charset="0"/>
                    <a:ea typeface="微软雅黑" pitchFamily="34" charset="-122"/>
                    <a:cs typeface="Times New Roman" pitchFamily="34" charset="-120"/>
                  </a:rPr>
                  <a:t>，拍下小球在斜面上滚动的照</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片</a:t>
                </a:r>
                <a:r>
                  <a:rPr lang="en-US" altLang="zh-CN" sz="2400" b="0" i="0" dirty="0">
                    <a:solidFill>
                      <a:srgbClr val="000000"/>
                    </a:solidFill>
                    <a:latin typeface="Times New Roman" pitchFamily="34" charset="0"/>
                    <a:ea typeface="微软雅黑" pitchFamily="34" charset="-122"/>
                    <a:cs typeface="Times New Roman" pitchFamily="34" charset="-120"/>
                  </a:rPr>
                  <a:t>，如图所示，测得相邻小球位置间的距离</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𝐴𝐵</m:t>
                        </m:r>
                      </m:sub>
                    </m:sSub>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𝐵𝐶</m:t>
                        </m:r>
                      </m:sub>
                    </m:sSub>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dirty="0">
                    <a:solidFill>
                      <a:srgbClr val="000000"/>
                    </a:solidFill>
                    <a:latin typeface="Times New Roman" pitchFamily="34" charset="0"/>
                    <a:ea typeface="微软雅黑" pitchFamily="34" charset="-122"/>
                    <a:cs typeface="Times New Roman" pitchFamily="34" charset="-120"/>
                  </a:rPr>
                  <a:t>.已知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𝑂</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点到斜面</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底端的距离为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𝑙</m:t>
                    </m:r>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由以上数据可以得出(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_1#4da2bc185?vcp=1&amp;pid=34ae6eb25&amp;color=0,0,0&amp;vtp=1&amp;bt=1&amp;bbb=1&amp;hb=1"/>
              <p:cNvSpPr>
                <a:spLocks noRot="1" noChangeAspect="1" noMove="1" noResize="1" noEditPoints="1" noAdjustHandles="1" noChangeArrowheads="1" noChangeShapeType="1" noTextEdit="1"/>
              </p:cNvSpPr>
              <p:nvPr/>
            </p:nvSpPr>
            <p:spPr>
              <a:xfrm>
                <a:off x="393192" y="1272127"/>
                <a:ext cx="11402568" cy="2150999"/>
              </a:xfrm>
              <a:prstGeom prst="rect">
                <a:avLst/>
              </a:prstGeom>
              <a:blipFill>
                <a:blip r:embed="rId3"/>
                <a:stretch>
                  <a:fillRect l="-1658" r="-1230" b="-8499"/>
                </a:stretch>
              </a:blipFill>
              <a:ln/>
            </p:spPr>
            <p:txBody>
              <a:bodyPr/>
              <a:lstStyle/>
              <a:p>
                <a:r>
                  <a:rPr lang="zh-CN" altLang="en-US">
                    <a:noFill/>
                  </a:rPr>
                  <a:t> </a:t>
                </a:r>
              </a:p>
            </p:txBody>
          </p:sp>
        </mc:Fallback>
      </mc:AlternateContent>
      <p:sp>
        <p:nvSpPr>
          <p:cNvPr id="3" name="QC_4_AN.2_1#4da2bc185.bracket?vcp=1&amp;pid=34ae6eb25&amp;color=0,0,0&amp;vpa=1&amp;vtp=1"/>
          <p:cNvSpPr/>
          <p:nvPr/>
        </p:nvSpPr>
        <p:spPr>
          <a:xfrm>
            <a:off x="6797517" y="293709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pic>
        <p:nvPicPr>
          <p:cNvPr id="4" name="QC_4_BD.1_2#4da2bc185?htil=2&amp;vcp=1&amp;pid=34ae6eb25&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846372" y="3457542"/>
            <a:ext cx="3044952" cy="1252728"/>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_3#4da2bc185.choices?htil=2&amp;vcp=1&amp;pid=34ae6eb25&amp;color=0,0,0&amp;vtp=1&amp;bbb=1"/>
              <p:cNvSpPr/>
              <p:nvPr/>
            </p:nvSpPr>
            <p:spPr>
              <a:xfrm>
                <a:off x="393192" y="3411822"/>
                <a:ext cx="8220456"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A.小球的加速度大小为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.小球在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点的速度为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.斜面上最多有5个小球在滚动</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.从图示时刻开始，再经过</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0.06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释放下一个小球</a:t>
                </a:r>
                <a:endParaRPr lang="en-US" altLang="zh-CN" sz="2400" dirty="0"/>
              </a:p>
            </p:txBody>
          </p:sp>
        </mc:Choice>
        <mc:Fallback>
          <p:sp>
            <p:nvSpPr>
              <p:cNvPr id="5" name="QC_4_BD.1_3#4da2bc185.choices?htil=2&amp;vcp=1&amp;pid=34ae6eb25&amp;color=0,0,0&amp;vtp=1&amp;bbb=1"/>
              <p:cNvSpPr>
                <a:spLocks noRot="1" noChangeAspect="1" noMove="1" noResize="1" noEditPoints="1" noAdjustHandles="1" noChangeArrowheads="1" noChangeShapeType="1" noTextEdit="1"/>
              </p:cNvSpPr>
              <p:nvPr/>
            </p:nvSpPr>
            <p:spPr>
              <a:xfrm>
                <a:off x="393192" y="3411822"/>
                <a:ext cx="8220456" cy="2155000"/>
              </a:xfrm>
              <a:prstGeom prst="rect">
                <a:avLst/>
              </a:prstGeom>
              <a:blipFill>
                <a:blip r:embed="rId5"/>
                <a:stretch>
                  <a:fillRect l="-2300"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3_1#4da2bc185?vcp=1&amp;pid=34ae6eb25&amp;color=0,0,0&amp;vtp=1&amp;bt=1&amp;bbb=1&amp;hb=1"/>
              <p:cNvSpPr/>
              <p:nvPr/>
            </p:nvSpPr>
            <p:spPr>
              <a:xfrm>
                <a:off x="393192" y="770699"/>
                <a:ext cx="11402568" cy="51689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本题中各小球在同一时刻的运动位置关系可转化成同一小球做初速度为</a:t>
                </a:r>
                <a:r>
                  <a:rPr lang="en-US" altLang="zh-CN" sz="2400" b="1" i="0">
                    <a:solidFill>
                      <a:srgbClr val="FF0000"/>
                    </a:solidFill>
                    <a:latin typeface="Times New Roman" pitchFamily="34" charset="0"/>
                    <a:ea typeface="微软雅黑" pitchFamily="34" charset="-122"/>
                    <a:cs typeface="Times New Roman" pitchFamily="34" charset="-120"/>
                  </a:rPr>
                  <a:t>0的匀</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加速直线运动间隔相等时间</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Times New Roman" pitchFamily="34" charset="0"/>
                    <a:ea typeface="微软雅黑" pitchFamily="34" charset="-122"/>
                    <a:cs typeface="Times New Roman" pitchFamily="34" charset="-120"/>
                  </a:rPr>
                  <a:t>拍摄的频闪照片，根据位移差公式</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,可得</a:t>
                </a:r>
              </a:p>
              <a:p>
                <a:pPr latinLnBrk="1">
                  <a:lnSpc>
                    <a:spcPts val="5100"/>
                  </a:lnSpc>
                </a:pPr>
                <a:r>
                  <a:rPr lang="en-US" altLang="zh-CN" sz="2400" b="1" i="0">
                    <a:solidFill>
                      <a:srgbClr val="FF0000"/>
                    </a:solidFill>
                    <a:latin typeface="Times New Roman" pitchFamily="34" charset="0"/>
                    <a:ea typeface="微软雅黑" pitchFamily="34" charset="-122"/>
                    <a:cs typeface="Times New Roman" pitchFamily="34" charset="-120"/>
                  </a:rPr>
                  <a:t>小球的加速度大小为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𝑩𝑪</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𝑨𝑩</m:t>
                            </m:r>
                          </m:sub>
                        </m:sSub>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,A错误</a:t>
                </a:r>
                <a:r>
                  <a:rPr lang="en-US" altLang="zh-CN" sz="2400" b="1" i="0">
                    <a:solidFill>
                      <a:srgbClr val="FF0000"/>
                    </a:solidFill>
                    <a:latin typeface="Times New Roman" pitchFamily="34" charset="0"/>
                    <a:ea typeface="微软雅黑" pitchFamily="34" charset="-122"/>
                    <a:cs typeface="Times New Roman" pitchFamily="34" charset="-120"/>
                  </a:rPr>
                  <a:t>.由平均速度公</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式可得小球在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点时的速度为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𝑨𝑩</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𝑩𝑪</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𝟏𝟒</m:t>
                        </m:r>
                      </m:num>
                      <m:den>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,则小球在</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𝑪</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点时的速</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度为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𝑪</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,B错误.小球刚从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点由静止</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释放时</a:t>
                </a:r>
                <a:r>
                  <a:rPr lang="en-US" altLang="zh-CN" sz="2400" b="1" i="0" dirty="0">
                    <a:solidFill>
                      <a:srgbClr val="FF0000"/>
                    </a:solidFill>
                    <a:latin typeface="Times New Roman" pitchFamily="34" charset="0"/>
                    <a:ea typeface="微软雅黑" pitchFamily="34" charset="-122"/>
                    <a:cs typeface="Times New Roman" pitchFamily="34" charset="-120"/>
                  </a:rPr>
                  <a:t>，到前一个小球的距离</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e>
                      <m:sup>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，根据</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初速度为</a:t>
                </a:r>
                <a:r>
                  <a:rPr lang="en-US" altLang="zh-CN" sz="2400" b="1" i="0" dirty="0">
                    <a:solidFill>
                      <a:srgbClr val="FF0000"/>
                    </a:solidFill>
                    <a:latin typeface="Times New Roman" pitchFamily="34" charset="0"/>
                    <a:ea typeface="微软雅黑" pitchFamily="34" charset="-122"/>
                    <a:cs typeface="Times New Roman" pitchFamily="34" charset="-120"/>
                  </a:rPr>
                  <a:t>0的匀变速直线运动的规律可知</a:t>
                </a:r>
                <a:r>
                  <a:rPr lang="en-US" altLang="zh-CN" sz="2400" b="1" i="0">
                    <a:solidFill>
                      <a:srgbClr val="FF0000"/>
                    </a:solidFill>
                    <a:latin typeface="Times New Roman" pitchFamily="34" charset="0"/>
                    <a:ea typeface="微软雅黑" pitchFamily="34" charset="-122"/>
                    <a:cs typeface="Times New Roman" pitchFamily="34" charset="-120"/>
                  </a:rPr>
                  <a:t>，相邻两个小球之间的距离之比为</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𝟗</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，则相邻两小球之间的距离分别为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𝟐𝟕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𝑶</m:t>
                    </m:r>
                  </m:oMath>
                </a14:m>
                <a:r>
                  <a:rPr lang="en-US" altLang="zh-CN" sz="2400" b="1" i="0" dirty="0">
                    <a:solidFill>
                      <a:srgbClr val="FF0000"/>
                    </a:solidFill>
                    <a:latin typeface="Times New Roman" pitchFamily="34" charset="0"/>
                    <a:ea typeface="微软雅黑" pitchFamily="34" charset="-122"/>
                    <a:cs typeface="Times New Roman" pitchFamily="34" charset="-120"/>
                  </a:rPr>
                  <a:t>点与斜面底端之间的距离为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,刚释放第5个小球时，第</a:t>
                </a:r>
                <a:r>
                  <a:rPr lang="en-US" altLang="zh-CN" sz="2400" b="1" i="0">
                    <a:solidFill>
                      <a:srgbClr val="FF0000"/>
                    </a:solidFill>
                    <a:latin typeface="Times New Roman" pitchFamily="34" charset="0"/>
                    <a:ea typeface="微软雅黑" pitchFamily="34" charset="-122"/>
                    <a:cs typeface="Times New Roman" pitchFamily="34" charset="-120"/>
                  </a:rPr>
                  <a:t>1个小</a:t>
                </a:r>
              </a:p>
              <a:p>
                <a:pPr latinLnBrk="1">
                  <a:lnSpc>
                    <a:spcPct val="150000"/>
                  </a:lnSpc>
                </a:pPr>
                <a:endParaRPr lang="en-US" altLang="zh-CN" sz="2400" dirty="0"/>
              </a:p>
            </p:txBody>
          </p:sp>
        </mc:Choice>
        <mc:Fallback>
          <p:sp>
            <p:nvSpPr>
              <p:cNvPr id="2" name="QC_4_AS.3_1#4da2bc185?vcp=1&amp;pid=34ae6eb25&amp;color=0,0,0&amp;vtp=1&amp;bt=1&amp;bbb=1&amp;hb=1"/>
              <p:cNvSpPr>
                <a:spLocks noRot="1" noChangeAspect="1" noMove="1" noResize="1" noEditPoints="1" noAdjustHandles="1" noChangeArrowheads="1" noChangeShapeType="1" noTextEdit="1"/>
              </p:cNvSpPr>
              <p:nvPr/>
            </p:nvSpPr>
            <p:spPr>
              <a:xfrm>
                <a:off x="393192" y="770699"/>
                <a:ext cx="11402568" cy="5168900"/>
              </a:xfrm>
              <a:prstGeom prst="rect">
                <a:avLst/>
              </a:prstGeom>
              <a:blipFill>
                <a:blip r:embed="rId3"/>
                <a:stretch>
                  <a:fillRect l="-1658" r="-856" b="-235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wipe(left)">
                                      <p:cBhvr>
                                        <p:cTn id="31" dur="500"/>
                                        <p:tgtEl>
                                          <p:spTgt spid="2">
                                            <p:txEl>
                                              <p:pRg st="7" end="7"/>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
                                            <p:txEl>
                                              <p:pRg st="8" end="8"/>
                                            </p:txEl>
                                          </p:spTgt>
                                        </p:tgtEl>
                                        <p:attrNameLst>
                                          <p:attrName>style.visibility</p:attrName>
                                        </p:attrNameLst>
                                      </p:cBhvr>
                                      <p:to>
                                        <p:strVal val="visible"/>
                                      </p:to>
                                    </p:set>
                                    <p:animEffect transition="in" filter="wipe(left)">
                                      <p:cBhvr>
                                        <p:cTn id="34"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3_1#4da2bc185?vcp=1&amp;pid=34ae6eb25&amp;color=0,0,0&amp;vtp=1&amp;bt=1&amp;bbb=1&amp;hb=1">
                <a:extLst>
                  <a:ext uri="{FF2B5EF4-FFF2-40B4-BE49-F238E27FC236}">
                    <a16:creationId xmlns:a16="http://schemas.microsoft.com/office/drawing/2014/main" id="{2FD40747-212E-3304-F5EB-2D868575328C}"/>
                  </a:ext>
                </a:extLst>
              </p:cNvPr>
              <p:cNvSpPr/>
              <p:nvPr/>
            </p:nvSpPr>
            <p:spPr>
              <a:xfrm>
                <a:off x="393192" y="1158558"/>
                <a:ext cx="11402568" cy="4143502"/>
              </a:xfrm>
              <a:prstGeom prst="rect">
                <a:avLst/>
              </a:prstGeom>
              <a:noFill/>
              <a:ln/>
            </p:spPr>
            <p:txBody>
              <a:bodyPr wrap="none" lIns="0" tIns="0" rIns="0" bIns="0" rtlCol="0" anchor="t"/>
              <a:lstStyle/>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球和第</a:t>
                </a:r>
                <a:r>
                  <a:rPr lang="en-US" altLang="zh-CN" sz="2400" b="1" i="0" dirty="0">
                    <a:solidFill>
                      <a:srgbClr val="FF0000"/>
                    </a:solidFill>
                    <a:latin typeface="Times New Roman" pitchFamily="34" charset="0"/>
                    <a:ea typeface="微软雅黑" pitchFamily="34" charset="-122"/>
                    <a:cs typeface="Times New Roman" pitchFamily="34" charset="-120"/>
                  </a:rPr>
                  <a:t>5个小球之间的距离为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𝟓</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𝟒𝟖</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&lt;</m:t>
                    </m:r>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b="1" i="0" kern="0" spc="-99900">
                  <a:solidFill>
                    <a:srgbClr val="FFFFFF"/>
                  </a:solidFill>
                  <a:latin typeface="Times New Roman" pitchFamily="34" charset="0"/>
                  <a:ea typeface="微软雅黑" pitchFamily="34" charset="-122"/>
                  <a:cs typeface="Times New Roman" pitchFamily="34" charset="-120"/>
                </a:endParaRP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或</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𝟓</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𝟒𝟖</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&lt;</m:t>
                    </m:r>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，刚释放第6个小球时，第1个小球和第</a:t>
                </a:r>
                <a:r>
                  <a:rPr lang="en-US" altLang="zh-CN" sz="2400" b="1" i="0">
                    <a:solidFill>
                      <a:srgbClr val="FF0000"/>
                    </a:solidFill>
                    <a:latin typeface="Times New Roman" pitchFamily="34" charset="0"/>
                    <a:ea typeface="微软雅黑" pitchFamily="34" charset="-122"/>
                    <a:cs typeface="Times New Roman" pitchFamily="34" charset="-120"/>
                  </a:rPr>
                  <a:t>6个小球之</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间的距离为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𝟔</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𝟗</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&gt;</m:t>
                    </m:r>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或</a:t>
                </a:r>
              </a:p>
              <a:p>
                <a:pPr latinLnBrk="1">
                  <a:lnSpc>
                    <a:spcPts val="46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𝒔</m:t>
                        </m:r>
                      </m:e>
                      <m:sub>
                        <m:r>
                          <a:rPr lang="en-US" altLang="zh-CN" sz="2400" b="1" i="1">
                            <a:solidFill>
                              <a:srgbClr val="FF0000"/>
                            </a:solidFill>
                            <a:latin typeface="Cambria Math" pitchFamily="34" charset="0"/>
                            <a:ea typeface="Cambria Math" pitchFamily="34" charset="-122"/>
                            <a:cs typeface="Cambria Math" pitchFamily="34" charset="-120"/>
                          </a:rPr>
                          <m:t>𝟔</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a:solidFill>
                          <a:srgbClr val="FF0000"/>
                        </a:solidFill>
                        <a:latin typeface="Cambria Math" pitchFamily="34" charset="0"/>
                        <a:ea typeface="Cambria Math" pitchFamily="34" charset="-122"/>
                        <a:cs typeface="Cambria Math" pitchFamily="34" charset="-120"/>
                      </a:rPr>
                      <m:t>&gt;</m:t>
                    </m:r>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r>
                      <a:rPr lang="en-US" altLang="zh-CN" sz="2400" b="1" i="0" smtClean="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，所以斜面上最多有5个小球在滚动，C正确</a:t>
                </a:r>
                <a:r>
                  <a:rPr lang="en-US" altLang="zh-CN" sz="2400" b="1" i="0">
                    <a:solidFill>
                      <a:srgbClr val="FF0000"/>
                    </a:solidFill>
                    <a:latin typeface="Times New Roman" pitchFamily="34" charset="0"/>
                    <a:ea typeface="微软雅黑" pitchFamily="34" charset="-122"/>
                    <a:cs typeface="Times New Roman" pitchFamily="34" charset="-120"/>
                  </a:rPr>
                  <a:t>.小球在</a:t>
                </a:r>
              </a:p>
              <a:p>
                <a:pPr latinLnBrk="1">
                  <a:lnSpc>
                    <a:spcPts val="44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点的速度为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𝟕</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，可知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点处小球从</a:t>
                </a:r>
              </a:p>
              <a:p>
                <a:pPr latinLnBrk="1">
                  <a:lnSpc>
                    <a:spcPts val="4600"/>
                  </a:lnSpc>
                </a:pPr>
                <a:r>
                  <a:rPr lang="en-US" altLang="zh-CN" sz="2400" b="1" i="0">
                    <a:solidFill>
                      <a:srgbClr val="FF0000"/>
                    </a:solidFill>
                    <a:latin typeface="Times New Roman" pitchFamily="34" charset="0"/>
                    <a:ea typeface="微软雅黑" pitchFamily="34" charset="-122"/>
                    <a:cs typeface="Times New Roman" pitchFamily="34" charset="-120"/>
                  </a:rPr>
                  <a:t>释放已经运动的时间为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𝑨</m:t>
                            </m:r>
                          </m:sub>
                        </m:sSub>
                      </m:num>
                      <m:den>
                        <m:r>
                          <a:rPr lang="en-US" altLang="zh-CN" sz="2400" b="1" i="1">
                            <a:solidFill>
                              <a:srgbClr val="FF0000"/>
                            </a:solidFill>
                            <a:latin typeface="Cambria Math" pitchFamily="34" charset="0"/>
                            <a:ea typeface="Cambria Math" pitchFamily="34" charset="-122"/>
                            <a:cs typeface="Cambria Math" pitchFamily="34" charset="-120"/>
                          </a:rPr>
                          <m:t>𝒂</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𝟔</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,从图示时刻开始</a:t>
                </a:r>
                <a:r>
                  <a:rPr lang="en-US" altLang="zh-CN" sz="2400" b="1" i="0">
                    <a:solidFill>
                      <a:srgbClr val="FF0000"/>
                    </a:solidFill>
                    <a:latin typeface="Times New Roman" pitchFamily="34" charset="0"/>
                    <a:ea typeface="微软雅黑" pitchFamily="34" charset="-122"/>
                    <a:cs typeface="Times New Roman" pitchFamily="34" charset="-120"/>
                  </a:rPr>
                  <a:t>，再释放下一个小球需要的时</a:t>
                </a:r>
              </a:p>
              <a:p>
                <a:pPr latinLnBrk="1">
                  <a:lnSpc>
                    <a:spcPts val="6100"/>
                  </a:lnSpc>
                </a:pPr>
                <a:r>
                  <a:rPr lang="en-US" altLang="zh-CN" sz="2400" b="1" i="0">
                    <a:solidFill>
                      <a:srgbClr val="FF0000"/>
                    </a:solidFill>
                    <a:latin typeface="Times New Roman" pitchFamily="34" charset="0"/>
                    <a:ea typeface="微软雅黑" pitchFamily="34" charset="-122"/>
                    <a:cs typeface="Times New Roman" pitchFamily="34" charset="-120"/>
                  </a:rPr>
                  <a:t>间为</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𝒕</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𝟔</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num>
                      <m:den>
                        <m:r>
                          <a:rPr lang="en-US" altLang="zh-CN" sz="2400" b="1" i="1">
                            <a:solidFill>
                              <a:srgbClr val="FF0000"/>
                            </a:solidFill>
                            <a:latin typeface="Cambria Math" pitchFamily="34" charset="0"/>
                            <a:ea typeface="Cambria Math" pitchFamily="34" charset="-122"/>
                            <a:cs typeface="Cambria Math" pitchFamily="34" charset="-120"/>
                          </a:rPr>
                          <m:t>𝟔</m:t>
                        </m:r>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,D错误.</a:t>
                </a:r>
                <a:endParaRPr lang="en-US" altLang="zh-CN" sz="2400" dirty="0"/>
              </a:p>
            </p:txBody>
          </p:sp>
        </mc:Choice>
        <mc:Fallback>
          <p:sp>
            <p:nvSpPr>
              <p:cNvPr id="2" name="QC_4_AS.3_1#4da2bc185?vcp=1&amp;pid=34ae6eb25&amp;color=0,0,0&amp;vtp=1&amp;bt=1&amp;bbb=1&amp;hb=1">
                <a:extLst>
                  <a:ext uri="{FF2B5EF4-FFF2-40B4-BE49-F238E27FC236}">
                    <a16:creationId xmlns:a16="http://schemas.microsoft.com/office/drawing/2014/main" id="{2FD40747-212E-3304-F5EB-2D868575328C}"/>
                  </a:ext>
                </a:extLst>
              </p:cNvPr>
              <p:cNvSpPr>
                <a:spLocks noRot="1" noChangeAspect="1" noMove="1" noResize="1" noEditPoints="1" noAdjustHandles="1" noChangeArrowheads="1" noChangeShapeType="1" noTextEdit="1"/>
              </p:cNvSpPr>
              <p:nvPr/>
            </p:nvSpPr>
            <p:spPr>
              <a:xfrm>
                <a:off x="393192" y="1158558"/>
                <a:ext cx="11402568" cy="4143502"/>
              </a:xfrm>
              <a:prstGeom prst="rect">
                <a:avLst/>
              </a:prstGeom>
              <a:blipFill>
                <a:blip r:embed="rId2"/>
                <a:stretch>
                  <a:fillRect l="-1658" r="-802" b="-2500"/>
                </a:stretch>
              </a:blipFill>
              <a:ln/>
            </p:spPr>
            <p:txBody>
              <a:bodyPr/>
              <a:lstStyle/>
              <a:p>
                <a:r>
                  <a:rPr lang="zh-CN" altLang="en-US">
                    <a:noFill/>
                  </a:rPr>
                  <a:t> </a:t>
                </a:r>
              </a:p>
            </p:txBody>
          </p:sp>
        </mc:Fallback>
      </mc:AlternateContent>
    </p:spTree>
    <p:extLst>
      <p:ext uri="{BB962C8B-B14F-4D97-AF65-F5344CB8AC3E}">
        <p14:creationId xmlns:p14="http://schemas.microsoft.com/office/powerpoint/2010/main" val="3912122187"/>
      </p:ext>
    </p:extLst>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left)">
                                      <p:cBhvr>
                                        <p:cTn id="2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BD.4_1#bf4ec6470?vcp=1&amp;pid=34ae6eb25&amp;color=0,0,0&amp;vtp=1&amp;bt=1&amp;bbb=1&amp;hb=1"/>
              <p:cNvSpPr/>
              <p:nvPr/>
            </p:nvSpPr>
            <p:spPr>
              <a:xfrm>
                <a:off x="393192" y="1401667"/>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一物体以某一初速度做匀变速直线运动，在连续相等的两个时间间隔内</a:t>
                </a:r>
                <a:r>
                  <a:rPr lang="en-US" altLang="zh-CN" sz="2400" b="0" i="0">
                    <a:solidFill>
                      <a:srgbClr val="000000"/>
                    </a:solidFill>
                    <a:latin typeface="Times New Roman" pitchFamily="34" charset="0"/>
                    <a:ea typeface="微软雅黑" pitchFamily="34" charset="-122"/>
                    <a:cs typeface="Times New Roman" pitchFamily="34" charset="-120"/>
                  </a:rPr>
                  <a:t>，通</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过的位移大小分别是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oMath>
                </a14:m>
                <a:r>
                  <a:rPr lang="en-US" altLang="zh-CN" sz="2400" b="0" i="0" dirty="0">
                    <a:solidFill>
                      <a:srgbClr val="000000"/>
                    </a:solidFill>
                    <a:latin typeface="Times New Roman" pitchFamily="34" charset="0"/>
                    <a:ea typeface="微软雅黑" pitchFamily="34" charset="-122"/>
                    <a:cs typeface="Times New Roman" pitchFamily="34" charset="-120"/>
                  </a:rPr>
                  <a:t>,每一个时间间隔为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,求：</a:t>
                </a:r>
                <a:endParaRPr lang="en-US" altLang="zh-CN" sz="2400" dirty="0"/>
              </a:p>
            </p:txBody>
          </p:sp>
        </mc:Choice>
        <mc:Fallback>
          <p:sp>
            <p:nvSpPr>
              <p:cNvPr id="2" name="QO_4_BD.4_1#bf4ec6470?vcp=1&amp;pid=34ae6eb25&amp;color=0,0,0&amp;vtp=1&amp;bt=1&amp;bbb=1&amp;hb=1"/>
              <p:cNvSpPr>
                <a:spLocks noRot="1" noChangeAspect="1" noMove="1" noResize="1" noEditPoints="1" noAdjustHandles="1" noChangeArrowheads="1" noChangeShapeType="1" noTextEdit="1"/>
              </p:cNvSpPr>
              <p:nvPr/>
            </p:nvSpPr>
            <p:spPr>
              <a:xfrm>
                <a:off x="393192" y="1401667"/>
                <a:ext cx="11402568" cy="1037400"/>
              </a:xfrm>
              <a:prstGeom prst="rect">
                <a:avLst/>
              </a:prstGeom>
              <a:blipFill>
                <a:blip r:embed="rId3"/>
                <a:stretch>
                  <a:fillRect l="-1658" r="-107" b="-17059"/>
                </a:stretch>
              </a:blipFill>
              <a:ln/>
            </p:spPr>
            <p:txBody>
              <a:bodyPr/>
              <a:lstStyle/>
              <a:p>
                <a:r>
                  <a:rPr lang="zh-CN" altLang="en-US">
                    <a:noFill/>
                  </a:rPr>
                  <a:t> </a:t>
                </a:r>
              </a:p>
            </p:txBody>
          </p:sp>
        </mc:Fallback>
      </mc:AlternateContent>
      <p:sp>
        <p:nvSpPr>
          <p:cNvPr id="3" name="QO_5_BD.5_1#a9c57735c?vcp=1&amp;pid=bf4ec6470&amp;color=0,0,0&amp;vtp=1&amp;bbb=1"/>
          <p:cNvSpPr/>
          <p:nvPr/>
        </p:nvSpPr>
        <p:spPr>
          <a:xfrm>
            <a:off x="393192" y="2447893"/>
            <a:ext cx="11402568" cy="48812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（1）物体的加速度大小.</a:t>
            </a:r>
            <a:endParaRPr lang="en-US" altLang="zh-CN" sz="2400" dirty="0"/>
          </a:p>
        </p:txBody>
      </p:sp>
      <mc:AlternateContent xmlns:mc="http://schemas.openxmlformats.org/markup-compatibility/2006">
        <mc:Choice xmlns:a14="http://schemas.microsoft.com/office/drawing/2010/main" Requires="a14">
          <p:sp>
            <p:nvSpPr>
              <p:cNvPr id="4" name="QO_5_AN.6_1#a9c57735c?vcp=1&amp;pid=bf4ec6470&amp;color=0,0,0&amp;vtp=1&amp;bbb=1"/>
              <p:cNvSpPr/>
              <p:nvPr/>
            </p:nvSpPr>
            <p:spPr>
              <a:xfrm>
                <a:off x="393192" y="2941288"/>
                <a:ext cx="11513503" cy="722249"/>
              </a:xfrm>
              <a:prstGeom prst="rect">
                <a:avLst/>
              </a:prstGeom>
              <a:noFill/>
              <a:ln/>
            </p:spPr>
            <p:txBody>
              <a:bodyPr wrap="none" lIns="0" tIns="0" rIns="0" bIns="0" rtlCol="0" anchor="t"/>
              <a:lstStyle/>
              <a:p>
                <a:pPr algn="l" latinLnBrk="1">
                  <a:lnSpc>
                    <a:spcPts val="6200"/>
                  </a:lnSpc>
                </a:pPr>
                <a:r>
                  <a:rPr lang="en-US" altLang="zh-CN" sz="2400" b="1" i="0" dirty="0">
                    <a:solidFill>
                      <a:srgbClr val="FF0000"/>
                    </a:solidFill>
                    <a:latin typeface="Times New Roman" pitchFamily="34" charset="0"/>
                    <a:ea typeface="微软雅黑" pitchFamily="34" charset="-122"/>
                    <a:cs typeface="Times New Roman" pitchFamily="34" charset="-120"/>
                  </a:rPr>
                  <a:t>[答案]</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根据位移差公式</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，可得加速度大小</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𝒙</m:t>
                        </m:r>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𝟔𝟒</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𝟐𝟒</m:t>
                        </m:r>
                      </m:num>
                      <m:den>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𝟒</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O_5_AN.6_1#a9c57735c?vcp=1&amp;pid=bf4ec6470&amp;color=0,0,0&amp;vtp=1&amp;bbb=1"/>
              <p:cNvSpPr>
                <a:spLocks noRot="1" noChangeAspect="1" noMove="1" noResize="1" noEditPoints="1" noAdjustHandles="1" noChangeArrowheads="1" noChangeShapeType="1" noTextEdit="1"/>
              </p:cNvSpPr>
              <p:nvPr/>
            </p:nvSpPr>
            <p:spPr>
              <a:xfrm>
                <a:off x="393192" y="2941288"/>
                <a:ext cx="11513503" cy="722249"/>
              </a:xfrm>
              <a:prstGeom prst="rect">
                <a:avLst/>
              </a:prstGeom>
              <a:blipFill>
                <a:blip r:embed="rId4"/>
                <a:stretch>
                  <a:fillRect l="-1642" r="-424" b="-14286"/>
                </a:stretch>
              </a:blipFill>
              <a:ln/>
            </p:spPr>
            <p:txBody>
              <a:bodyPr/>
              <a:lstStyle/>
              <a:p>
                <a:r>
                  <a:rPr lang="zh-CN" altLang="en-US">
                    <a:noFill/>
                  </a:rPr>
                  <a:t> </a:t>
                </a:r>
              </a:p>
            </p:txBody>
          </p:sp>
        </mc:Fallback>
      </mc:AlternateContent>
      <p:sp>
        <p:nvSpPr>
          <p:cNvPr id="5" name="QO_5_BD.7_1#28086fb9d?vcp=1&amp;pid=bf4ec6470&amp;color=0,0,0&amp;vtp=1&amp;bbb=1"/>
          <p:cNvSpPr/>
          <p:nvPr/>
        </p:nvSpPr>
        <p:spPr>
          <a:xfrm>
            <a:off x="393192" y="3675983"/>
            <a:ext cx="11402568" cy="48812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（2）物体的初速度大小.</a:t>
            </a:r>
            <a:endParaRPr lang="en-US" altLang="zh-CN" sz="2400" dirty="0"/>
          </a:p>
        </p:txBody>
      </p:sp>
      <mc:AlternateContent xmlns:mc="http://schemas.openxmlformats.org/markup-compatibility/2006">
        <mc:Choice xmlns:a14="http://schemas.microsoft.com/office/drawing/2010/main" Requires="a14">
          <p:sp>
            <p:nvSpPr>
              <p:cNvPr id="6" name="QO_5_AN.8_1#28086fb9d?vcp=1&amp;pid=bf4ec6470&amp;color=0,0,0&amp;vtp=1&amp;bbb=1&amp;hb=1"/>
              <p:cNvSpPr/>
              <p:nvPr/>
            </p:nvSpPr>
            <p:spPr>
              <a:xfrm>
                <a:off x="393192" y="4169378"/>
                <a:ext cx="11402568" cy="1062800"/>
              </a:xfrm>
              <a:prstGeom prst="rect">
                <a:avLst/>
              </a:prstGeom>
              <a:noFill/>
              <a:ln/>
            </p:spPr>
            <p:txBody>
              <a:bodyPr wrap="none" lIns="0" tIns="0" rIns="0" bIns="0" rtlCol="0" anchor="t"/>
              <a:lstStyle/>
              <a:p>
                <a:pPr algn="l" latinLnBrk="1">
                  <a:lnSpc>
                    <a:spcPts val="4600"/>
                  </a:lnSpc>
                </a:pPr>
                <a:r>
                  <a:rPr lang="en-US" altLang="zh-CN" sz="2400" b="1" i="0" dirty="0">
                    <a:solidFill>
                      <a:srgbClr val="FF0000"/>
                    </a:solidFill>
                    <a:latin typeface="Times New Roman" pitchFamily="34" charset="0"/>
                    <a:ea typeface="微软雅黑" pitchFamily="34" charset="-122"/>
                    <a:cs typeface="Times New Roman" pitchFamily="34" charset="-120"/>
                  </a:rPr>
                  <a:t>[答案]</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根据位移—时间公式</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，第一个</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内有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1">
                        <a:solidFill>
                          <a:srgbClr val="FF0000"/>
                        </a:solidFill>
                        <a:latin typeface="Cambria Math" pitchFamily="34" charset="0"/>
                        <a:ea typeface="Cambria Math" pitchFamily="34" charset="-122"/>
                        <a:cs typeface="Cambria Math" pitchFamily="34" charset="-120"/>
                      </a:rPr>
                      <m:t>𝒕</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num>
                      <m:den>
                        <m:r>
                          <a:rPr lang="en-US" altLang="zh-CN" sz="2400" b="1" i="1">
                            <a:solidFill>
                              <a:srgbClr val="FF0000"/>
                            </a:solidFill>
                            <a:latin typeface="Cambria Math" pitchFamily="34" charset="0"/>
                            <a:ea typeface="Cambria Math" pitchFamily="34" charset="-122"/>
                            <a:cs typeface="Cambria Math" pitchFamily="34" charset="-120"/>
                          </a:rPr>
                          <m:t>𝟐</m:t>
                        </m:r>
                      </m:den>
                    </m:f>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𝒕</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，解得</a:t>
                </a:r>
              </a:p>
              <a:p>
                <a:pPr latinLnBrk="1">
                  <a:lnSpc>
                    <a:spcPts val="42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𝟎</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QO_5_AN.8_1#28086fb9d?vcp=1&amp;pid=bf4ec6470&amp;color=0,0,0&amp;vtp=1&amp;bbb=1&amp;hb=1"/>
              <p:cNvSpPr>
                <a:spLocks noRot="1" noChangeAspect="1" noMove="1" noResize="1" noEditPoints="1" noAdjustHandles="1" noChangeArrowheads="1" noChangeShapeType="1" noTextEdit="1"/>
              </p:cNvSpPr>
              <p:nvPr/>
            </p:nvSpPr>
            <p:spPr>
              <a:xfrm>
                <a:off x="393192" y="4169378"/>
                <a:ext cx="11402568" cy="1062800"/>
              </a:xfrm>
              <a:prstGeom prst="rect">
                <a:avLst/>
              </a:prstGeom>
              <a:blipFill>
                <a:blip r:embed="rId5"/>
                <a:stretch>
                  <a:fillRect l="-1658" b="-1666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pic>
        <p:nvPicPr>
          <p:cNvPr id="2" name="C_3#c18a50fc4?vcp=1&amp;pid=34f769ea3&amp;color=0,0,0&amp;tib=255,255,255&amp;vtp=1" descr="preencoded.png"/>
          <p:cNvPicPr>
            <a:picLocks noChangeAspect="1"/>
          </p:cNvPicPr>
          <p:nvPr/>
        </p:nvPicPr>
        <p:blipFill>
          <a:blip r:embed="rId3"/>
          <a:stretch>
            <a:fillRect/>
          </a:stretch>
        </p:blipFill>
        <p:spPr>
          <a:xfrm>
            <a:off x="411480" y="502920"/>
            <a:ext cx="11320272" cy="466344"/>
          </a:xfrm>
          <a:prstGeom prst="rect">
            <a:avLst/>
          </a:prstGeom>
        </p:spPr>
      </p:pic>
      <p:sp>
        <p:nvSpPr>
          <p:cNvPr id="3" name="C_3_BD#c18a50fc4?vcp=1&amp;pid=34f769ea3&amp;color=255,255,255&amp;vtp=1&amp;bt=1&amp;bbb=1"/>
          <p:cNvSpPr/>
          <p:nvPr/>
        </p:nvSpPr>
        <p:spPr>
          <a:xfrm>
            <a:off x="393192" y="502920"/>
            <a:ext cx="896112" cy="457200"/>
          </a:xfrm>
          <a:prstGeom prst="rect">
            <a:avLst/>
          </a:prstGeom>
          <a:noFill/>
          <a:ln/>
        </p:spPr>
        <p:txBody>
          <a:bodyPr wrap="none" lIns="0" tIns="0" rIns="0" bIns="0" rtlCol="0" anchor="ctr"/>
          <a:lstStyle/>
          <a:p>
            <a:pPr algn="ctr" latinLnBrk="1">
              <a:lnSpc>
                <a:spcPts val="3200"/>
              </a:lnSpc>
            </a:pPr>
            <a:r>
              <a:rPr lang="en-US" altLang="zh-CN" sz="2600" b="1" i="0" dirty="0">
                <a:solidFill>
                  <a:srgbClr val="FFFFFF"/>
                </a:solidFill>
                <a:latin typeface="SimHei" pitchFamily="34" charset="0"/>
                <a:ea typeface="SimHei" pitchFamily="34" charset="-122"/>
                <a:cs typeface="SimHei" pitchFamily="34" charset="-120"/>
              </a:rPr>
              <a:t>考点</a:t>
            </a:r>
            <a:endParaRPr lang="en-US" altLang="zh-CN" sz="2600" dirty="0"/>
          </a:p>
        </p:txBody>
      </p:sp>
      <p:sp>
        <p:nvSpPr>
          <p:cNvPr id="4" name="C_3_BD#c18a50fc4?vcp=1&amp;pid=34f769ea3&amp;color=255,255,255&amp;vtp=1"/>
          <p:cNvSpPr/>
          <p:nvPr/>
        </p:nvSpPr>
        <p:spPr>
          <a:xfrm>
            <a:off x="1298448"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5" name="C_3_BD#c18a50fc4?vcp=1&amp;pid=34f769ea3&amp;color=0,0,0&amp;vtp=1&amp;bbb=1"/>
          <p:cNvSpPr/>
          <p:nvPr/>
        </p:nvSpPr>
        <p:spPr>
          <a:xfrm>
            <a:off x="1911096"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打点纸带的处理方法</a:t>
            </a:r>
            <a:endParaRPr lang="en-US" altLang="zh-CN" sz="2600" dirty="0"/>
          </a:p>
        </p:txBody>
      </p:sp>
      <mc:AlternateContent xmlns:mc="http://schemas.openxmlformats.org/markup-compatibility/2006">
        <mc:Choice xmlns:a14="http://schemas.microsoft.com/office/drawing/2010/main" Requires="a14">
          <p:sp>
            <p:nvSpPr>
              <p:cNvPr id="6" name="P_4_BD#a43a62dd1?vcp=1&amp;pid=c18a50fc4&amp;color=0,0,0&amp;vtp=1&amp;bbb=1&amp;hb=1"/>
              <p:cNvSpPr/>
              <p:nvPr/>
            </p:nvSpPr>
            <p:spPr>
              <a:xfrm>
                <a:off x="393192" y="965200"/>
                <a:ext cx="11402568" cy="38314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1.瞬时速度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的求法</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求打下某一计数点</a:t>
                </a:r>
                <a:r>
                  <a:rPr lang="en-US" altLang="zh-CN" sz="2400" b="0" i="0" dirty="0">
                    <a:solidFill>
                      <a:srgbClr val="000000"/>
                    </a:solidFill>
                    <a:latin typeface="Times New Roman" pitchFamily="34" charset="0"/>
                    <a:ea typeface="微软雅黑" pitchFamily="34" charset="-122"/>
                    <a:cs typeface="Times New Roman" pitchFamily="34" charset="-120"/>
                  </a:rPr>
                  <a:t>（或计时点）时的瞬时速度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𝑣</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,一般用某段时间中间时刻的瞬时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速度等于这段时间内的平均速度求解.</a:t>
                </a: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SimSun" panose="02010600030101010101" pitchFamily="2" charset="-122"/>
                    <a:ea typeface="SimSun" pitchFamily="34" charset="-122"/>
                    <a:cs typeface="SimSun" pitchFamily="34" charset="-120"/>
                  </a:rPr>
                  <a:t>    </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2.由纸带求物体运动加速度的方法</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1）利用</a:t>
                </a:r>
                <a14:m>
                  <m:oMath xmlns:m="http://schemas.openxmlformats.org/officeDocument/2006/math">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𝑣</m:t>
                    </m:r>
                    <m:r>
                      <m:rPr>
                        <m:nor/>
                      </m:rP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 </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𝑡</m:t>
                    </m:r>
                  </m:oMath>
                </a14:m>
                <a:r>
                  <a:rPr kumimoji="0" lang="en-US" altLang="zh-CN" sz="100" b="0" i="0" u="none" strike="noStrike" kern="0" cap="none" spc="-99900" normalizeH="0" baseline="0" noProof="0" dirty="0">
                    <a:ln>
                      <a:noFill/>
                    </a:ln>
                    <a:solidFill>
                      <a:srgbClr val="FFFFFF"/>
                    </a:solidFill>
                    <a:effectLst/>
                    <a:uLnTx/>
                    <a:uFillTx/>
                    <a:latin typeface="Times New Roman" pitchFamily="34" charset="0"/>
                    <a:ea typeface="微软雅黑" pitchFamily="34" charset="-122"/>
                    <a:cs typeface="Times New Roman" pitchFamily="34" charset="-120"/>
                  </a:rPr>
                  <a:t> </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图像求加速度</a:t>
                </a:r>
                <a:endParaRPr kumimoji="0" lang="en-US" altLang="zh-CN" sz="2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求出打各计数点时物体的瞬时速度</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，作出</a:t>
                </a:r>
                <a14:m>
                  <m:oMath xmlns:m="http://schemas.openxmlformats.org/officeDocument/2006/math">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𝑣</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m:t>
                    </m:r>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𝑡</m:t>
                    </m:r>
                  </m:oMath>
                </a14:m>
                <a:r>
                  <a:rPr kumimoji="0" lang="en-US" altLang="zh-CN" sz="100" b="0" i="0" u="none" strike="noStrike" kern="0" cap="none" spc="-99900" normalizeH="0" baseline="0" noProof="0" dirty="0">
                    <a:ln>
                      <a:noFill/>
                    </a:ln>
                    <a:solidFill>
                      <a:srgbClr val="FFFFFF"/>
                    </a:solidFill>
                    <a:effectLst/>
                    <a:uLnTx/>
                    <a:uFillTx/>
                    <a:latin typeface="Times New Roman" pitchFamily="34" charset="0"/>
                    <a:ea typeface="微软雅黑" pitchFamily="34" charset="-122"/>
                    <a:cs typeface="Times New Roman" pitchFamily="34" charset="-120"/>
                  </a:rPr>
                  <a:t> </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图像</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，通过求图像的斜率来求得物</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体运动的加速度</a:t>
                </a:r>
                <a14:m>
                  <m:oMath xmlns:m="http://schemas.openxmlformats.org/officeDocument/2006/math">
                    <m:r>
                      <a:rPr kumimoji="0" lang="en-US" altLang="zh-CN" sz="2400" b="0" i="0" u="none" strike="noStrike" kern="1200" cap="none" spc="0" normalizeH="0" baseline="0" noProof="0">
                        <a:ln>
                          <a:noFill/>
                        </a:ln>
                        <a:solidFill>
                          <a:srgbClr val="000000"/>
                        </a:solidFill>
                        <a:effectLst/>
                        <a:uLnTx/>
                        <a:uFillTx/>
                        <a:latin typeface="Cambria Math" pitchFamily="34" charset="0"/>
                        <a:ea typeface="Cambria Math" pitchFamily="34" charset="-122"/>
                        <a:cs typeface="Cambria Math" pitchFamily="34" charset="-120"/>
                      </a:rPr>
                      <m:t>𝑎</m:t>
                    </m:r>
                  </m:oMath>
                </a14:m>
                <a:r>
                  <a:rPr kumimoji="0" lang="en-US" altLang="zh-CN" sz="100" b="0" i="0" u="none" strike="noStrike" kern="0" cap="none" spc="-99900" normalizeH="0" baseline="0" noProof="0" dirty="0">
                    <a:ln>
                      <a:noFill/>
                    </a:ln>
                    <a:solidFill>
                      <a:srgbClr val="FFFFFF"/>
                    </a:solidFill>
                    <a:effectLst/>
                    <a:uLnTx/>
                    <a:uFillTx/>
                    <a:latin typeface="Times New Roman" pitchFamily="34" charset="0"/>
                    <a:ea typeface="微软雅黑" pitchFamily="34" charset="-122"/>
                    <a:cs typeface="Times New Roman" pitchFamily="34" charset="-120"/>
                  </a:rPr>
                  <a:t> </a:t>
                </a:r>
                <a:r>
                  <a:rPr kumimoji="0" lang="en-US" altLang="zh-CN" sz="2400" b="0" i="0" u="none" strike="noStrike" kern="1200" cap="none" spc="0" normalizeH="0" baseline="0" noProof="0" dirty="0">
                    <a:ln>
                      <a:noFill/>
                    </a:ln>
                    <a:solidFill>
                      <a:srgbClr val="000000"/>
                    </a:solidFill>
                    <a:effectLst/>
                    <a:uLnTx/>
                    <a:uFillTx/>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P_4_BD#a43a62dd1?vcp=1&amp;pid=c18a50fc4&amp;color=0,0,0&amp;vtp=1&amp;bbb=1&amp;hb=1"/>
              <p:cNvSpPr>
                <a:spLocks noRot="1" noChangeAspect="1" noMove="1" noResize="1" noEditPoints="1" noAdjustHandles="1" noChangeArrowheads="1" noChangeShapeType="1" noTextEdit="1"/>
              </p:cNvSpPr>
              <p:nvPr/>
            </p:nvSpPr>
            <p:spPr>
              <a:xfrm>
                <a:off x="393192" y="965200"/>
                <a:ext cx="11402568" cy="3831400"/>
              </a:xfrm>
              <a:prstGeom prst="rect">
                <a:avLst/>
              </a:prstGeom>
              <a:blipFill>
                <a:blip r:embed="rId4"/>
                <a:stretch>
                  <a:fillRect l="-1658" r="-1016" b="-476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P_4_BD#a43a62dd1?vcp=1&amp;pid=c18a50fc4&amp;color=0,0,0&amp;vtp=1&amp;bt=1&amp;bbb=1"/>
          <p:cNvSpPr/>
          <p:nvPr/>
        </p:nvSpPr>
        <p:spPr>
          <a:xfrm>
            <a:off x="393192" y="1672146"/>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（2）利用逐差法求加速度</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①</a:t>
            </a:r>
            <a:r>
              <a:rPr lang="en-US" altLang="zh-CN" sz="2400" b="0" i="0" dirty="0">
                <a:solidFill>
                  <a:srgbClr val="000000"/>
                </a:solidFill>
                <a:latin typeface="Times New Roman" pitchFamily="34" charset="0"/>
                <a:ea typeface="微软雅黑" pitchFamily="34" charset="-122"/>
                <a:cs typeface="Times New Roman" pitchFamily="34" charset="-120"/>
              </a:rPr>
              <a:t>连续型纸带</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如图甲所示的纸带中</a:t>
            </a:r>
            <a:r>
              <a:rPr lang="en-US" altLang="zh-CN" sz="2400" b="0" i="0" dirty="0">
                <a:solidFill>
                  <a:srgbClr val="000000"/>
                </a:solidFill>
                <a:latin typeface="Times New Roman" pitchFamily="34" charset="0"/>
                <a:ea typeface="微软雅黑" pitchFamily="34" charset="-122"/>
                <a:cs typeface="Times New Roman" pitchFamily="34" charset="-120"/>
              </a:rPr>
              <a:t>，可以测得具有相等时间间隔的相邻各个计数点间的距离.</a:t>
            </a:r>
            <a:endParaRPr lang="en-US" altLang="zh-CN" sz="2400" dirty="0"/>
          </a:p>
        </p:txBody>
      </p:sp>
      <p:pic>
        <p:nvPicPr>
          <p:cNvPr id="3" name="P_4_BD#a43a62dd1?vcp=1&amp;pid=c18a50fc4&amp;color=0,0,0&amp;tib=255,255,255&amp;vt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3383280" y="3391726"/>
            <a:ext cx="5422392" cy="114300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P_4_BD#a43a62dd1?vcp=1&amp;pid=c18a50fc4&amp;color=0,0,0&amp;vtp=1&amp;bbb=1"/>
          <p:cNvSpPr/>
          <p:nvPr/>
        </p:nvSpPr>
        <p:spPr>
          <a:xfrm>
            <a:off x="393192" y="4674426"/>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可以直接采用逐差法求匀变速直线运动的加速度.</a:t>
            </a:r>
            <a:endParaRPr lang="en-US" altLang="zh-CN" sz="2400" dirty="0"/>
          </a:p>
        </p:txBody>
      </p:sp>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P_4_BD#a43a62dd1?htil=3&amp;vcp=1&amp;pid=c18a50fc4&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6643238" y="1177925"/>
            <a:ext cx="5074920" cy="117957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P_4_BD#a43a62dd1?htil=3&amp;vcp=1&amp;pid=c18a50fc4&amp;color=0,0,0&amp;vtp=1&amp;bt=1&amp;bbb=1&amp;hb=1&amp;hs=1"/>
          <p:cNvSpPr/>
          <p:nvPr/>
        </p:nvSpPr>
        <p:spPr>
          <a:xfrm>
            <a:off x="393192" y="1031621"/>
            <a:ext cx="6190488" cy="15963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②间隔型纸带</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如图乙所示的纸带中，纸带的某一段或某</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几段的数据丢失或不可测量，这种纸带即间隔</a:t>
            </a:r>
            <a:endParaRPr lang="en-US" altLang="zh-CN" sz="2400" dirty="0"/>
          </a:p>
        </p:txBody>
      </p:sp>
      <p:pic>
        <p:nvPicPr>
          <p:cNvPr id="4" name="P_4_BD#a43a62dd1?htil=4&amp;vcp=1&amp;pid=c18a50fc4&amp;color=0,0,0&amp;tib=255,255,255&amp;vtp=1&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7882128" y="3801491"/>
            <a:ext cx="3895344" cy="133502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P_4_BD#a43a62dd1?htil=4&amp;vcp=1&amp;pid=c18a50fc4&amp;color=0,0,0&amp;vtp=1&amp;bbb=1&amp;hb=1"/>
              <p:cNvSpPr/>
              <p:nvPr/>
            </p:nvSpPr>
            <p:spPr>
              <a:xfrm>
                <a:off x="393192" y="3664331"/>
                <a:ext cx="7370064" cy="2154428"/>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③重叠型纸带</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如图丙所示的纸带中</a:t>
                </a:r>
                <a:r>
                  <a:rPr lang="en-US" altLang="zh-CN" sz="2400" b="0" i="0" dirty="0">
                    <a:solidFill>
                      <a:srgbClr val="000000"/>
                    </a:solidFill>
                    <a:latin typeface="Times New Roman" pitchFamily="34" charset="0"/>
                    <a:ea typeface="微软雅黑" pitchFamily="34" charset="-122"/>
                    <a:cs typeface="Times New Roman" pitchFamily="34" charset="-120"/>
                  </a:rPr>
                  <a:t>，所测距离有一部分重叠</a:t>
                </a:r>
                <a:r>
                  <a:rPr lang="en-US" altLang="zh-CN" sz="2400" b="0" i="0">
                    <a:solidFill>
                      <a:srgbClr val="000000"/>
                    </a:solidFill>
                    <a:latin typeface="Times New Roman" pitchFamily="34" charset="0"/>
                    <a:ea typeface="微软雅黑" pitchFamily="34" charset="-122"/>
                    <a:cs typeface="Times New Roman" pitchFamily="34" charset="-120"/>
                  </a:rPr>
                  <a:t>，这</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种即重叠型纸带</a:t>
                </a:r>
                <a:r>
                  <a:rPr lang="en-US" altLang="zh-CN" sz="2400" b="0" i="0" dirty="0">
                    <a:solidFill>
                      <a:srgbClr val="000000"/>
                    </a:solidFill>
                    <a:latin typeface="Times New Roman" pitchFamily="34" charset="0"/>
                    <a:ea typeface="微软雅黑" pitchFamily="34" charset="-122"/>
                    <a:cs typeface="Times New Roman" pitchFamily="34" charset="-120"/>
                  </a:rPr>
                  <a:t>，可利用已知数据之差</a:t>
                </a:r>
                <a:r>
                  <a:rPr lang="en-US" altLang="zh-CN" sz="2400" b="0" i="0">
                    <a:solidFill>
                      <a:srgbClr val="000000"/>
                    </a:solidFill>
                    <a:latin typeface="Times New Roman" pitchFamily="34" charset="0"/>
                    <a:ea typeface="微软雅黑" pitchFamily="34" charset="-122"/>
                    <a:cs typeface="Times New Roman" pitchFamily="34" charset="-120"/>
                  </a:rPr>
                  <a:t>，得到</a:t>
                </a:r>
              </a:p>
              <a:p>
                <a:pPr latinLnBrk="1">
                  <a:lnSpc>
                    <a:spcPts val="42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2→3</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0→1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=2</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,从而求得加速度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P_4_BD#a43a62dd1?htil=4&amp;vcp=1&amp;pid=c18a50fc4&amp;color=0,0,0&amp;vtp=1&amp;bbb=1&amp;hb=1"/>
              <p:cNvSpPr>
                <a:spLocks noRot="1" noChangeAspect="1" noMove="1" noResize="1" noEditPoints="1" noAdjustHandles="1" noChangeArrowheads="1" noChangeShapeType="1" noTextEdit="1"/>
              </p:cNvSpPr>
              <p:nvPr/>
            </p:nvSpPr>
            <p:spPr>
              <a:xfrm>
                <a:off x="393192" y="3664331"/>
                <a:ext cx="7370064" cy="2154428"/>
              </a:xfrm>
              <a:prstGeom prst="rect">
                <a:avLst/>
              </a:prstGeom>
              <a:blipFill>
                <a:blip r:embed="rId5"/>
                <a:stretch>
                  <a:fillRect l="-2564" r="-1737" b="-8475"/>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P_4_BD#a43a62dd1?htil=3&amp;vcp=1&amp;pid=c18a50fc4&amp;color=0,0,0&amp;vtp=1&amp;bt=1&amp;bbb=1&amp;hb=1&amp;hs=1">
                <a:extLst>
                  <a:ext uri="{FF2B5EF4-FFF2-40B4-BE49-F238E27FC236}">
                    <a16:creationId xmlns:a16="http://schemas.microsoft.com/office/drawing/2014/main" id="{39D1902F-F7D7-BBE2-E927-2C36123368BC}"/>
                  </a:ext>
                </a:extLst>
              </p:cNvPr>
              <p:cNvSpPr/>
              <p:nvPr/>
            </p:nvSpPr>
            <p:spPr>
              <a:xfrm>
                <a:off x="393192" y="2624201"/>
                <a:ext cx="11400008" cy="1036828"/>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型纸带</a:t>
                </a:r>
                <a:r>
                  <a:rPr lang="en-US" altLang="zh-CN" sz="2400" b="0" i="0" dirty="0">
                    <a:solidFill>
                      <a:srgbClr val="000000"/>
                    </a:solidFill>
                    <a:latin typeface="Times New Roman" pitchFamily="34" charset="0"/>
                    <a:ea typeface="微软雅黑" pitchFamily="34" charset="-122"/>
                    <a:cs typeface="Times New Roman" pitchFamily="34" charset="-120"/>
                  </a:rPr>
                  <a:t>，可以采用重新选取计数点的方法</a:t>
                </a:r>
                <a:r>
                  <a:rPr lang="en-US" altLang="zh-CN" sz="2400" b="0" i="0">
                    <a:solidFill>
                      <a:srgbClr val="000000"/>
                    </a:solidFill>
                    <a:latin typeface="Times New Roman" pitchFamily="34" charset="0"/>
                    <a:ea typeface="微软雅黑" pitchFamily="34" charset="-122"/>
                    <a:cs typeface="Times New Roman" pitchFamily="34" charset="-120"/>
                  </a:rPr>
                  <a:t>，将</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2400" b="0" i="0" dirty="0">
                    <a:solidFill>
                      <a:srgbClr val="000000"/>
                    </a:solidFill>
                    <a:latin typeface="Times New Roman" pitchFamily="34" charset="0"/>
                    <a:ea typeface="微软雅黑" pitchFamily="34" charset="-122"/>
                    <a:cs typeface="Times New Roman" pitchFamily="34" charset="-120"/>
                  </a:rPr>
                  <a:t>区间段视为一段，</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5</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6</m:t>
                        </m:r>
                      </m:sub>
                    </m:sSub>
                    <m:r>
                      <a:rPr lang="en-US" altLang="zh-CN" sz="2400" b="0" i="0" smtClean="0">
                        <a:solidFill>
                          <a:srgbClr val="000000"/>
                        </a:solidFill>
                        <a:latin typeface="Cambria Math" pitchFamily="34" charset="0"/>
                        <a:ea typeface="Cambria Math" pitchFamily="34" charset="-122"/>
                        <a:cs typeface="Cambria Math" pitchFamily="34" charset="-120"/>
                      </a:rPr>
                      <m:t>)</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区</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间段视为另一段</a:t>
                </a:r>
                <a:r>
                  <a:rPr lang="en-US" altLang="zh-CN" sz="2400" b="0" i="0" dirty="0">
                    <a:solidFill>
                      <a:srgbClr val="000000"/>
                    </a:solidFill>
                    <a:latin typeface="Times New Roman" pitchFamily="34" charset="0"/>
                    <a:ea typeface="微软雅黑" pitchFamily="34" charset="-122"/>
                    <a:cs typeface="Times New Roman" pitchFamily="34" charset="-120"/>
                  </a:rPr>
                  <a:t>，利用</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𝑚</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𝑛</m:t>
                        </m:r>
                      </m:sub>
                    </m:sSub>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𝑚</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𝑛</m:t>
                    </m:r>
                    <m:r>
                      <a:rPr lang="en-US" altLang="zh-CN" sz="2400" b="0" i="0">
                        <a:solidFill>
                          <a:srgbClr val="000000"/>
                        </a:solidFill>
                        <a:latin typeface="Cambria Math" pitchFamily="34" charset="0"/>
                        <a:ea typeface="Cambria Math" pitchFamily="34" charset="-122"/>
                        <a:cs typeface="Cambria Math" pitchFamily="34" charset="-120"/>
                      </a:rPr>
                      <m:t>)</m:t>
                    </m:r>
                    <m:r>
                      <a:rPr lang="en-US" altLang="zh-CN" sz="2400" b="0" i="0">
                        <a:solidFill>
                          <a:srgbClr val="000000"/>
                        </a:solidFill>
                        <a:latin typeface="Cambria Math" pitchFamily="34" charset="0"/>
                        <a:ea typeface="Cambria Math" pitchFamily="34" charset="-122"/>
                        <a:cs typeface="Cambria Math" pitchFamily="34" charset="-120"/>
                      </a:rPr>
                      <m:t>𝑎</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a:rPr lang="en-US" altLang="zh-CN" sz="2400" b="0" i="0">
                            <a:solidFill>
                              <a:srgbClr val="000000"/>
                            </a:solidFill>
                            <a:latin typeface="Cambria Math" pitchFamily="34" charset="0"/>
                            <a:ea typeface="Cambria Math" pitchFamily="34" charset="-122"/>
                            <a:cs typeface="Cambria Math" pitchFamily="34" charset="-120"/>
                          </a:rPr>
                          <m:t>𝑇</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a:solidFill>
                      <a:srgbClr val="000000"/>
                    </a:solidFill>
                    <a:latin typeface="Times New Roman" pitchFamily="34" charset="0"/>
                    <a:ea typeface="微软雅黑" pitchFamily="34" charset="-122"/>
                    <a:cs typeface="Times New Roman" pitchFamily="34" charset="-120"/>
                  </a:rPr>
                  <a:t>求解加速度</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6" name="P_4_BD#a43a62dd1?htil=3&amp;vcp=1&amp;pid=c18a50fc4&amp;color=0,0,0&amp;vtp=1&amp;bt=1&amp;bbb=1&amp;hb=1&amp;hs=1">
                <a:extLst>
                  <a:ext uri="{FF2B5EF4-FFF2-40B4-BE49-F238E27FC236}">
                    <a16:creationId xmlns:a16="http://schemas.microsoft.com/office/drawing/2014/main" id="{39D1902F-F7D7-BBE2-E927-2C36123368BC}"/>
                  </a:ext>
                </a:extLst>
              </p:cNvPr>
              <p:cNvSpPr>
                <a:spLocks noRot="1" noChangeAspect="1" noMove="1" noResize="1" noEditPoints="1" noAdjustHandles="1" noChangeArrowheads="1" noChangeShapeType="1" noTextEdit="1"/>
              </p:cNvSpPr>
              <p:nvPr/>
            </p:nvSpPr>
            <p:spPr>
              <a:xfrm>
                <a:off x="393192" y="2624201"/>
                <a:ext cx="11400008" cy="1036828"/>
              </a:xfrm>
              <a:prstGeom prst="rect">
                <a:avLst/>
              </a:prstGeom>
              <a:blipFill>
                <a:blip r:embed="rId6"/>
                <a:stretch>
                  <a:fillRect l="-1658" r="-428" b="-16959"/>
                </a:stretch>
              </a:blipFill>
              <a:ln/>
            </p:spPr>
            <p:txBody>
              <a:bodyPr/>
              <a:lstStyle/>
              <a:p>
                <a:r>
                  <a:rPr lang="zh-CN" altLang="en-US">
                    <a:noFill/>
                  </a:rPr>
                  <a:t> </a:t>
                </a:r>
              </a:p>
            </p:txBody>
          </p:sp>
        </mc:Fallback>
      </mc:AlternateContent>
    </p:spTree>
  </p:cSld>
  <p:clrMapOvr>
    <a:masterClrMapping/>
  </p:clrMapOvr>
  <p:transition>
    <p:split dir="in"/>
  </p:transition>
</p:sld>
</file>

<file path=ppt/slides/slide13.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pic>
        <p:nvPicPr>
          <p:cNvPr id="2" name="QO_4_BD.9_1#44defac45?htil=5&amp;vcp=1&amp;pid=c18a50fc4&amp;color=0,0,0&amp;tib=255,255,255&amp;vtp=1&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921300" y="800132"/>
            <a:ext cx="2788920" cy="66751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O_4_BD.9_2#44defac45?htil=5&amp;vcp=1&amp;pid=c18a50fc4&amp;color=0,0,0&amp;vtp=1&amp;bt=1&amp;bbb=1&amp;hb=1&amp;hs=1"/>
          <p:cNvSpPr/>
          <p:nvPr/>
        </p:nvSpPr>
        <p:spPr>
          <a:xfrm>
            <a:off x="393192" y="754412"/>
            <a:ext cx="847648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例2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（2026·江西临川教学评估测试）</a:t>
            </a:r>
            <a:r>
              <a:rPr lang="en-US" altLang="zh-CN" sz="2400" b="0" i="0" dirty="0">
                <a:solidFill>
                  <a:srgbClr val="000000"/>
                </a:solidFill>
                <a:latin typeface="Times New Roman" pitchFamily="34" charset="0"/>
                <a:ea typeface="微软雅黑" pitchFamily="34" charset="-122"/>
                <a:cs typeface="Times New Roman" pitchFamily="34" charset="-120"/>
              </a:rPr>
              <a:t>某同学在</a:t>
            </a:r>
            <a:r>
              <a:rPr lang="en-US" altLang="zh-CN" sz="2400" b="0" i="0">
                <a:solidFill>
                  <a:srgbClr val="000000"/>
                </a:solidFill>
                <a:latin typeface="Times New Roman" pitchFamily="34" charset="0"/>
                <a:ea typeface="微软雅黑" pitchFamily="34" charset="-122"/>
                <a:cs typeface="Times New Roman" pitchFamily="34" charset="-120"/>
              </a:rPr>
              <a:t>“测匀变速直线</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运动的加速度</a:t>
            </a:r>
            <a:r>
              <a:rPr lang="en-US" altLang="zh-CN" sz="2400" b="0" i="0" dirty="0">
                <a:solidFill>
                  <a:srgbClr val="000000"/>
                </a:solidFill>
                <a:latin typeface="Times New Roman" pitchFamily="34" charset="0"/>
                <a:ea typeface="微软雅黑" pitchFamily="34" charset="-122"/>
                <a:cs typeface="Times New Roman" pitchFamily="34" charset="-120"/>
              </a:rPr>
              <a:t>”的实验中，用打点计时器</a:t>
            </a:r>
            <a:r>
              <a:rPr lang="en-US" altLang="zh-CN" sz="2400" b="0" i="0">
                <a:solidFill>
                  <a:srgbClr val="000000"/>
                </a:solidFill>
                <a:latin typeface="Times New Roman" pitchFamily="34" charset="0"/>
                <a:ea typeface="微软雅黑" pitchFamily="34" charset="-122"/>
                <a:cs typeface="Times New Roman" pitchFamily="34" charset="-120"/>
              </a:rPr>
              <a:t>（所接电源的频率为</a:t>
            </a:r>
            <a:endParaRPr lang="en-US" altLang="zh-CN" sz="2400" dirty="0"/>
          </a:p>
        </p:txBody>
      </p:sp>
      <p:sp>
        <p:nvSpPr>
          <p:cNvPr id="4" name="QC_5_BD.10_1#ba7721d03?vcp=1&amp;pid=44defac45&amp;color=0,0,0&amp;vtp=1&amp;bbb=1"/>
          <p:cNvSpPr/>
          <p:nvPr/>
        </p:nvSpPr>
        <p:spPr>
          <a:xfrm>
            <a:off x="393192" y="3388137"/>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（1）关于接通电源和释放纸带的顺序</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i="0">
                <a:solidFill>
                  <a:srgbClr val="000000"/>
                </a:solidFill>
                <a:latin typeface="SimSun" pitchFamily="34" charset="0"/>
                <a:ea typeface="SimSun" pitchFamily="34" charset="-122"/>
                <a:cs typeface="SimSun" pitchFamily="34" charset="-120"/>
              </a:rPr>
              <a:t>___</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C_5_AN.11_1#ba7721d03.blank?vcp=1&amp;pid=44defac45&amp;color=0,0,0&amp;vpa=2&amp;vtp=1"/>
          <p:cNvSpPr/>
          <p:nvPr/>
        </p:nvSpPr>
        <p:spPr>
          <a:xfrm>
            <a:off x="8144161" y="3348132"/>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sp>
        <p:nvSpPr>
          <p:cNvPr id="6" name="QC_5_BD.10_2#ba7721d03.choices?vcp=1&amp;pid=44defac45&amp;color=0,0,0&amp;vtp=1&amp;bbb=1"/>
          <p:cNvSpPr/>
          <p:nvPr/>
        </p:nvSpPr>
        <p:spPr>
          <a:xfrm>
            <a:off x="393192" y="3944143"/>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A.先接通电源</a:t>
            </a:r>
            <a:r>
              <a:rPr lang="en-US" altLang="zh-CN" sz="2400" b="0" i="0">
                <a:solidFill>
                  <a:srgbClr val="000000"/>
                </a:solidFill>
                <a:latin typeface="Times New Roman" pitchFamily="34" charset="0"/>
                <a:ea typeface="微软雅黑" pitchFamily="34" charset="-122"/>
                <a:cs typeface="Times New Roman" pitchFamily="34" charset="-120"/>
              </a:rPr>
              <a:t>，后释放纸带</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.先释放纸带，后接通电源</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C.释放纸带同时接通电源</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.先接通电源或先释放纸带都可以</a:t>
            </a:r>
            <a:endParaRPr lang="en-US" altLang="zh-CN" sz="2400" dirty="0"/>
          </a:p>
        </p:txBody>
      </p:sp>
      <p:sp>
        <p:nvSpPr>
          <p:cNvPr id="7" name="QC_5_AS.12_1#ba7721d03?vcp=1&amp;pid=44defac45&amp;color=0,0,0&amp;vtp=1&amp;bbb=1&amp;hb=1"/>
          <p:cNvSpPr/>
          <p:nvPr/>
        </p:nvSpPr>
        <p:spPr>
          <a:xfrm>
            <a:off x="393192" y="5047773"/>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为了提高纸带的利用率，使用打点计时器时要先接通电源，后释放纸带，</a:t>
            </a:r>
            <a:r>
              <a:rPr lang="en-US" altLang="zh-CN" sz="2400" b="1" i="0">
                <a:solidFill>
                  <a:srgbClr val="FF0000"/>
                </a:solidFill>
                <a:latin typeface="Times New Roman" pitchFamily="34" charset="0"/>
                <a:ea typeface="微软雅黑" pitchFamily="34" charset="-122"/>
                <a:cs typeface="Times New Roman" pitchFamily="34" charset="-120"/>
              </a:rPr>
              <a:t>故A</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正确</a:t>
            </a:r>
            <a:r>
              <a:rPr lang="en-US" altLang="zh-CN" sz="2400" b="1" i="0" dirty="0">
                <a:solidFill>
                  <a:srgbClr val="FF0000"/>
                </a:solidFill>
                <a:latin typeface="Times New Roman" pitchFamily="34" charset="0"/>
                <a:ea typeface="微软雅黑" pitchFamily="34" charset="-122"/>
                <a:cs typeface="Times New Roman" pitchFamily="34" charset="-120"/>
              </a:rPr>
              <a:t>，B、C、D错误.</a:t>
            </a:r>
            <a:endParaRPr lang="en-US" altLang="zh-CN" sz="2400" dirty="0"/>
          </a:p>
        </p:txBody>
      </p:sp>
      <mc:AlternateContent xmlns:mc="http://schemas.openxmlformats.org/markup-compatibility/2006">
        <mc:Choice xmlns:a14="http://schemas.microsoft.com/office/drawing/2010/main" Requires="a14">
          <p:sp>
            <p:nvSpPr>
              <p:cNvPr id="8" name="QO_4_BD.9_2#44defac45?htil=5&amp;vcp=1&amp;pid=c18a50fc4&amp;color=0,0,0&amp;vtp=1&amp;bt=1&amp;bbb=1&amp;hb=1&amp;hs=1">
                <a:extLst>
                  <a:ext uri="{FF2B5EF4-FFF2-40B4-BE49-F238E27FC236}">
                    <a16:creationId xmlns:a16="http://schemas.microsoft.com/office/drawing/2014/main" id="{E63093DE-E563-A3B5-E584-FF1229CCE572}"/>
                  </a:ext>
                </a:extLst>
              </p:cNvPr>
              <p:cNvSpPr/>
              <p:nvPr/>
            </p:nvSpPr>
            <p:spPr>
              <a:xfrm>
                <a:off x="393192" y="1800638"/>
                <a:ext cx="11400008" cy="1596200"/>
              </a:xfrm>
              <a:prstGeom prst="rect">
                <a:avLst/>
              </a:prstGeom>
              <a:noFill/>
              <a:ln/>
            </p:spPr>
            <p:txBody>
              <a:bodyPr wrap="none" lIns="0" tIns="0" rIns="0" bIns="0" rtlCol="0" anchor="t"/>
              <a:lstStyle/>
              <a:p>
                <a:pPr latinLnBrk="1">
                  <a:lnSpc>
                    <a:spcPts val="44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2400" b="0" i="0" dirty="0">
                    <a:solidFill>
                      <a:srgbClr val="000000"/>
                    </a:solidFill>
                    <a:latin typeface="Times New Roman" pitchFamily="34" charset="0"/>
                    <a:ea typeface="微软雅黑" pitchFamily="34" charset="-122"/>
                    <a:cs typeface="Times New Roman" pitchFamily="34" charset="-120"/>
                  </a:rPr>
                  <a:t>,即每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0.02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打一个点</a:t>
                </a:r>
                <a:r>
                  <a:rPr lang="en-US" altLang="zh-CN" sz="2400" b="0" i="0">
                    <a:solidFill>
                      <a:srgbClr val="000000"/>
                    </a:solidFill>
                    <a:latin typeface="Times New Roman" pitchFamily="34" charset="0"/>
                    <a:ea typeface="微软雅黑" pitchFamily="34" charset="-122"/>
                    <a:cs typeface="Times New Roman" pitchFamily="34" charset="-120"/>
                  </a:rPr>
                  <a:t>）记录了被小车拖动的纸带的运动情况</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，在纸带</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上确定出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𝐶</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𝐷</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𝐸</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共5</a:t>
                </a:r>
                <a:r>
                  <a:rPr lang="en-US" altLang="zh-CN" sz="2400" b="0" i="0">
                    <a:solidFill>
                      <a:srgbClr val="000000"/>
                    </a:solidFill>
                    <a:latin typeface="Times New Roman" pitchFamily="34" charset="0"/>
                    <a:ea typeface="微软雅黑" pitchFamily="34" charset="-122"/>
                    <a:cs typeface="Times New Roman" pitchFamily="34" charset="-120"/>
                  </a:rPr>
                  <a:t>个计数点，其相邻两个计数点间还有</a:t>
                </a:r>
                <a:r>
                  <a:rPr lang="en-US" altLang="zh-CN" sz="2400" b="0" i="0" dirty="0">
                    <a:solidFill>
                      <a:srgbClr val="000000"/>
                    </a:solidFill>
                    <a:latin typeface="Times New Roman" pitchFamily="34" charset="0"/>
                    <a:ea typeface="微软雅黑" pitchFamily="34" charset="-122"/>
                    <a:cs typeface="Times New Roman" pitchFamily="34" charset="-120"/>
                  </a:rPr>
                  <a:t>4个点未画出</a:t>
                </a:r>
                <a:r>
                  <a:rPr lang="en-US" altLang="zh-CN" sz="2400" b="0" i="0">
                    <a:solidFill>
                      <a:srgbClr val="000000"/>
                    </a:solidFill>
                    <a:latin typeface="Times New Roman" pitchFamily="34" charset="0"/>
                    <a:ea typeface="微软雅黑" pitchFamily="34" charset="-122"/>
                    <a:cs typeface="Times New Roman" pitchFamily="34" charset="-120"/>
                  </a:rPr>
                  <a:t>，其中</a:t>
                </a:r>
              </a:p>
              <a:p>
                <a:pPr latinLnBrk="1">
                  <a:lnSpc>
                    <a:spcPts val="4200"/>
                  </a:lnSpc>
                </a:pP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=4.61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=6.59</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3</m:t>
                        </m:r>
                      </m:sub>
                    </m:sSub>
                    <m:r>
                      <a:rPr lang="en-US" altLang="zh-CN" sz="2400" b="0" i="0">
                        <a:solidFill>
                          <a:srgbClr val="000000"/>
                        </a:solidFill>
                        <a:latin typeface="Cambria Math" pitchFamily="34" charset="0"/>
                        <a:ea typeface="Cambria Math" pitchFamily="34" charset="-122"/>
                        <a:cs typeface="Cambria Math" pitchFamily="34" charset="-120"/>
                      </a:rPr>
                      <m:t>=8.61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𝑥</m:t>
                        </m:r>
                      </m:e>
                      <m:sub>
                        <m:r>
                          <a:rPr lang="en-US" altLang="zh-CN" sz="2400" b="0" i="0">
                            <a:solidFill>
                              <a:srgbClr val="000000"/>
                            </a:solidFill>
                            <a:latin typeface="Cambria Math" pitchFamily="34" charset="0"/>
                            <a:ea typeface="Cambria Math" pitchFamily="34" charset="-122"/>
                            <a:cs typeface="Cambria Math" pitchFamily="34" charset="-120"/>
                          </a:rPr>
                          <m:t>4</m:t>
                        </m:r>
                      </m:sub>
                    </m:sSub>
                    <m:r>
                      <a:rPr lang="en-US" altLang="zh-CN" sz="2400" b="0" i="0">
                        <a:solidFill>
                          <a:srgbClr val="000000"/>
                        </a:solidFill>
                        <a:latin typeface="Cambria Math" pitchFamily="34" charset="0"/>
                        <a:ea typeface="Cambria Math" pitchFamily="34" charset="-122"/>
                        <a:cs typeface="Cambria Math" pitchFamily="34" charset="-120"/>
                      </a:rPr>
                      <m:t>=10.61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8" name="QO_4_BD.9_2#44defac45?htil=5&amp;vcp=1&amp;pid=c18a50fc4&amp;color=0,0,0&amp;vtp=1&amp;bt=1&amp;bbb=1&amp;hb=1&amp;hs=1">
                <a:extLst>
                  <a:ext uri="{FF2B5EF4-FFF2-40B4-BE49-F238E27FC236}">
                    <a16:creationId xmlns:a16="http://schemas.microsoft.com/office/drawing/2014/main" id="{E63093DE-E563-A3B5-E584-FF1229CCE572}"/>
                  </a:ext>
                </a:extLst>
              </p:cNvPr>
              <p:cNvSpPr>
                <a:spLocks noRot="1" noChangeAspect="1" noMove="1" noResize="1" noEditPoints="1" noAdjustHandles="1" noChangeArrowheads="1" noChangeShapeType="1" noTextEdit="1"/>
              </p:cNvSpPr>
              <p:nvPr/>
            </p:nvSpPr>
            <p:spPr>
              <a:xfrm>
                <a:off x="393192" y="1800638"/>
                <a:ext cx="11400008" cy="1596200"/>
              </a:xfrm>
              <a:prstGeom prst="rect">
                <a:avLst/>
              </a:prstGeom>
              <a:blipFill>
                <a:blip r:embed="rId4"/>
                <a:stretch>
                  <a:fillRect l="-1658" r="-1444" b="-114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bg/>
                                          </p:spTgt>
                                        </p:tgtEl>
                                        <p:attrNameLst>
                                          <p:attrName>style.visibility</p:attrName>
                                        </p:attrNameLst>
                                      </p:cBhvr>
                                      <p:to>
                                        <p:strVal val="visible"/>
                                      </p:to>
                                    </p:set>
                                    <p:animEffect transition="in" filter="wipe(left)">
                                      <p:cBhvr>
                                        <p:cTn id="15" dur="500"/>
                                        <p:tgtEl>
                                          <p:spTgt spid="7">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wipe(left)">
                                      <p:cBhvr>
                                        <p:cTn id="18" dur="500"/>
                                        <p:tgtEl>
                                          <p:spTgt spid="7">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wipe(left)">
                                      <p:cBhvr>
                                        <p:cTn id="21"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13_1#3c67e9a00?vcp=1&amp;pid=44defac45&amp;color=0,0,0&amp;vtp=1&amp;bt=1&amp;bbb=1&amp;hb=1"/>
              <p:cNvSpPr/>
              <p:nvPr/>
            </p:nvSpPr>
            <p:spPr>
              <a:xfrm>
                <a:off x="393192" y="1680623"/>
                <a:ext cx="11402568" cy="10375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0" i="0">
                    <a:solidFill>
                      <a:srgbClr val="000000"/>
                    </a:solidFill>
                    <a:latin typeface="Times New Roman" pitchFamily="34" charset="0"/>
                    <a:ea typeface="微软雅黑" pitchFamily="34" charset="-122"/>
                    <a:cs typeface="Times New Roman" pitchFamily="34" charset="-120"/>
                  </a:rPr>
                  <a:t>）小车运动的加速度大小为</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smtClean="0">
                        <a:solidFill>
                          <a:srgbClr val="000000"/>
                        </a:solidFill>
                        <a:latin typeface="Cambria Math" pitchFamily="34" charset="0"/>
                        <a:ea typeface="Cambria Math" pitchFamily="34" charset="-122"/>
                        <a:cs typeface="Cambria Math" pitchFamily="34" charset="-120"/>
                      </a:rPr>
                      <m:t>m</m:t>
                    </m:r>
                    <m:r>
                      <a:rPr lang="en-US" altLang="zh-CN" sz="2400" b="0" i="0" smtClean="0">
                        <a:solidFill>
                          <a:srgbClr val="000000"/>
                        </a:solidFill>
                        <a:latin typeface="Cambria Math" pitchFamily="34" charset="0"/>
                        <a:ea typeface="Cambria Math" pitchFamily="34" charset="-122"/>
                        <a:cs typeface="Cambria Math" pitchFamily="34" charset="-120"/>
                      </a:rPr>
                      <m:t>/</m:t>
                    </m:r>
                    <m:sSup>
                      <m:sSupPr>
                        <m:ctrlPr>
                          <a:rPr lang="en-US" altLang="zh-CN" sz="2400" b="0" i="1" dirty="0" smtClean="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2400" b="0" i="0" dirty="0">
                    <a:solidFill>
                      <a:srgbClr val="000000"/>
                    </a:solidFill>
                    <a:latin typeface="Times New Roman" pitchFamily="34" charset="0"/>
                    <a:ea typeface="微软雅黑" pitchFamily="34" charset="-122"/>
                    <a:cs typeface="Times New Roman" pitchFamily="34" charset="-120"/>
                  </a:rPr>
                  <a:t>，小车在</a:t>
                </a:r>
                <a14:m>
                  <m:oMath xmlns:m="http://schemas.openxmlformats.org/officeDocument/2006/math">
                    <m:r>
                      <a:rPr lang="en-US" altLang="zh-CN" sz="2400" b="0" i="0" smtClean="0">
                        <a:solidFill>
                          <a:srgbClr val="000000"/>
                        </a:solidFill>
                        <a:latin typeface="Cambria Math" pitchFamily="34" charset="0"/>
                        <a:ea typeface="Cambria Math" pitchFamily="34" charset="-122"/>
                        <a:cs typeface="Cambria Math" pitchFamily="34" charset="-120"/>
                      </a:rPr>
                      <m:t>𝐷</m:t>
                    </m:r>
                  </m:oMath>
                </a14:m>
                <a:r>
                  <a:rPr lang="en-US" altLang="zh-CN" sz="2400" b="0" i="0">
                    <a:solidFill>
                      <a:srgbClr val="000000"/>
                    </a:solidFill>
                    <a:latin typeface="Times New Roman" pitchFamily="34" charset="0"/>
                    <a:ea typeface="微软雅黑" pitchFamily="34" charset="-122"/>
                    <a:cs typeface="Times New Roman" pitchFamily="34" charset="-120"/>
                  </a:rPr>
                  <a:t>点的瞬时速度大小为</a:t>
                </a:r>
                <a:r>
                  <a:rPr lang="en-US" altLang="zh-CN" sz="2400" i="0">
                    <a:solidFill>
                      <a:srgbClr val="000000"/>
                    </a:solidFill>
                    <a:latin typeface="SimSun" pitchFamily="34" charset="0"/>
                    <a:ea typeface="SimSun" pitchFamily="34" charset="-122"/>
                    <a:cs typeface="SimSun" pitchFamily="34" charset="-120"/>
                  </a:rPr>
                  <a:t>______</a:t>
                </a:r>
                <a14:m>
                  <m:oMath xmlns:m="http://schemas.openxmlformats.org/officeDocument/2006/math">
                    <m:r>
                      <m:rPr>
                        <m:sty m:val="p"/>
                      </m:rPr>
                      <a:rPr lang="en-US" altLang="zh-CN" sz="2400" b="0" i="0" smtClean="0">
                        <a:solidFill>
                          <a:srgbClr val="000000"/>
                        </a:solidFill>
                        <a:latin typeface="Cambria Math" pitchFamily="34" charset="0"/>
                        <a:ea typeface="Cambria Math" pitchFamily="34" charset="-122"/>
                        <a:cs typeface="Cambria Math" pitchFamily="34" charset="-120"/>
                      </a:rPr>
                      <m:t>m</m:t>
                    </m:r>
                    <m:r>
                      <a:rPr lang="en-US" altLang="zh-CN" sz="2400" b="0" i="0" smtClean="0">
                        <a:solidFill>
                          <a:srgbClr val="000000"/>
                        </a:solidFill>
                        <a:latin typeface="Cambria Math" pitchFamily="34" charset="0"/>
                        <a:ea typeface="Cambria Math" pitchFamily="34" charset="-122"/>
                        <a:cs typeface="Cambria Math" pitchFamily="34" charset="-120"/>
                      </a:rPr>
                      <m:t>/</m:t>
                    </m:r>
                    <m:r>
                      <m:rPr>
                        <m:sty m:val="p"/>
                      </m:rPr>
                      <a:rPr lang="en-US" altLang="zh-CN" sz="2400" b="0" i="0" smtClean="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结果均保留两位有效数字）</a:t>
                </a:r>
                <a:endParaRPr lang="en-US" altLang="zh-CN" sz="2400" dirty="0">
                  <a:solidFill>
                    <a:srgbClr val="000000"/>
                  </a:solidFill>
                </a:endParaRPr>
              </a:p>
            </p:txBody>
          </p:sp>
        </mc:Choice>
        <mc:Fallback>
          <p:sp>
            <p:nvSpPr>
              <p:cNvPr id="2" name="QB_5_BD.13_1#3c67e9a00?vcp=1&amp;pid=44defac45&amp;color=0,0,0&amp;vtp=1&amp;bt=1&amp;bbb=1&amp;hb=1"/>
              <p:cNvSpPr>
                <a:spLocks noRot="1" noChangeAspect="1" noMove="1" noResize="1" noEditPoints="1" noAdjustHandles="1" noChangeArrowheads="1" noChangeShapeType="1" noTextEdit="1"/>
              </p:cNvSpPr>
              <p:nvPr/>
            </p:nvSpPr>
            <p:spPr>
              <a:xfrm>
                <a:off x="393192" y="1680623"/>
                <a:ext cx="11402568" cy="1037590"/>
              </a:xfrm>
              <a:prstGeom prst="rect">
                <a:avLst/>
              </a:prstGeom>
              <a:blipFill>
                <a:blip r:embed="rId3"/>
                <a:stretch>
                  <a:fillRect l="-1658" r="-535" b="-1705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QB_5_AN.14_1#3c67e9a00.blank?vcp=1&amp;pid=44defac45&amp;color=0,0,0&amp;vpa=3&amp;vtp=1&amp;bbb=1"/>
              <p:cNvSpPr/>
              <p:nvPr/>
            </p:nvSpPr>
            <p:spPr>
              <a:xfrm>
                <a:off x="4582604" y="1757394"/>
                <a:ext cx="633413" cy="353441"/>
              </a:xfrm>
              <a:prstGeom prst="rect">
                <a:avLst/>
              </a:prstGeom>
              <a:noFill/>
              <a:ln/>
            </p:spPr>
            <p:txBody>
              <a:bodyPr wrap="none" lIns="0" tIns="0" rIns="0" bIns="0" rtlCol="0" anchor="t"/>
              <a:lstStyle/>
              <a:p>
                <a:pPr algn="ctr" latinLnBrk="1">
                  <a:lnSpc>
                    <a:spcPts val="30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𝟐</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p:sp>
            <p:nvSpPr>
              <p:cNvPr id="3" name="QB_5_AN.14_1#3c67e9a00.blank?vcp=1&amp;pid=44defac45&amp;color=0,0,0&amp;vpa=3&amp;vtp=1&amp;bbb=1"/>
              <p:cNvSpPr>
                <a:spLocks noRot="1" noChangeAspect="1" noMove="1" noResize="1" noEditPoints="1" noAdjustHandles="1" noChangeArrowheads="1" noChangeShapeType="1" noTextEdit="1"/>
              </p:cNvSpPr>
              <p:nvPr/>
            </p:nvSpPr>
            <p:spPr>
              <a:xfrm>
                <a:off x="4582604" y="1757394"/>
                <a:ext cx="633413" cy="353441"/>
              </a:xfrm>
              <a:prstGeom prst="rect">
                <a:avLst/>
              </a:prstGeom>
              <a:blipFill>
                <a:blip r:embed="rId4"/>
                <a:stretch>
                  <a:fillRect l="-4808" r="-3846" b="-1206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QB_5_AN.15_1#3c67e9a00.blank?vcp=1&amp;pid=44defac45&amp;color=0,0,0&amp;vpa=4&amp;vtp=1&amp;bbb=1"/>
              <p:cNvSpPr/>
              <p:nvPr/>
            </p:nvSpPr>
            <p:spPr>
              <a:xfrm>
                <a:off x="10187560" y="1757394"/>
                <a:ext cx="815975" cy="353441"/>
              </a:xfrm>
              <a:prstGeom prst="rect">
                <a:avLst/>
              </a:prstGeom>
              <a:noFill/>
              <a:ln/>
            </p:spPr>
            <p:txBody>
              <a:bodyPr wrap="none" lIns="0" tIns="0" rIns="0" bIns="0" rtlCol="0" anchor="t"/>
              <a:lstStyle/>
              <a:p>
                <a:pPr algn="ctr" latinLnBrk="1">
                  <a:lnSpc>
                    <a:spcPts val="30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𝟎</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𝟗𝟔</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100" dirty="0"/>
              </a:p>
            </p:txBody>
          </p:sp>
        </mc:Choice>
        <mc:Fallback>
          <p:sp>
            <p:nvSpPr>
              <p:cNvPr id="4" name="QB_5_AN.15_1#3c67e9a00.blank?vcp=1&amp;pid=44defac45&amp;color=0,0,0&amp;vpa=4&amp;vtp=1&amp;bbb=1"/>
              <p:cNvSpPr>
                <a:spLocks noRot="1" noChangeAspect="1" noMove="1" noResize="1" noEditPoints="1" noAdjustHandles="1" noChangeArrowheads="1" noChangeShapeType="1" noTextEdit="1"/>
              </p:cNvSpPr>
              <p:nvPr/>
            </p:nvSpPr>
            <p:spPr>
              <a:xfrm>
                <a:off x="10187560" y="1757394"/>
                <a:ext cx="815975" cy="353441"/>
              </a:xfrm>
              <a:prstGeom prst="rect">
                <a:avLst/>
              </a:prstGeom>
              <a:blipFill>
                <a:blip r:embed="rId5"/>
                <a:stretch>
                  <a:fillRect l="-2985" r="-3731" b="-1206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B_5_AS.16_1#3c67e9a00?vcp=1&amp;pid=44defac45&amp;color=0,0,0&amp;vtp=1&amp;bbb=1&amp;hb=1"/>
              <p:cNvSpPr/>
              <p:nvPr/>
            </p:nvSpPr>
            <p:spPr>
              <a:xfrm>
                <a:off x="393192" y="2784253"/>
                <a:ext cx="11402568" cy="22733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因为相邻两个计数点间还有4个点未画出</a:t>
                </a:r>
                <a:r>
                  <a:rPr lang="en-US" altLang="zh-CN" sz="2400" b="1" i="0">
                    <a:solidFill>
                      <a:srgbClr val="FF0000"/>
                    </a:solidFill>
                    <a:latin typeface="Times New Roman" pitchFamily="34" charset="0"/>
                    <a:ea typeface="微软雅黑" pitchFamily="34" charset="-122"/>
                    <a:cs typeface="Times New Roman" pitchFamily="34" charset="-120"/>
                  </a:rPr>
                  <a:t>，所以相邻两个计数点之间的时间间</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隔为</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𝑻</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𝟓</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𝟎𝟐</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𝐬</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𝟏</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𝐬</m:t>
                    </m:r>
                  </m:oMath>
                </a14:m>
                <a:r>
                  <a:rPr lang="en-US" altLang="zh-CN" sz="2400" b="1" i="0" dirty="0">
                    <a:solidFill>
                      <a:srgbClr val="FF0000"/>
                    </a:solidFill>
                    <a:latin typeface="Times New Roman" pitchFamily="34" charset="0"/>
                    <a:ea typeface="微软雅黑" pitchFamily="34" charset="-122"/>
                    <a:cs typeface="Times New Roman" pitchFamily="34" charset="-120"/>
                  </a:rPr>
                  <a:t>.根据</a:t>
                </a:r>
                <a14:m>
                  <m:oMath xmlns:m="http://schemas.openxmlformats.org/officeDocument/2006/math">
                    <m:r>
                      <a:rPr lang="en-US" altLang="zh-CN" sz="2400" b="1" i="0" smtClean="0">
                        <a:solidFill>
                          <a:srgbClr val="FF0000"/>
                        </a:solidFill>
                        <a:latin typeface="Cambria Math" pitchFamily="34" charset="0"/>
                        <a:ea typeface="Cambria Math" pitchFamily="34" charset="-122"/>
                        <a:cs typeface="Cambria Math" pitchFamily="34" charset="-120"/>
                      </a:rPr>
                      <m:t>𝚫</m:t>
                    </m:r>
                    <m:r>
                      <a:rPr lang="en-US" altLang="zh-CN" sz="2400" b="1" i="1" smtClean="0">
                        <a:solidFill>
                          <a:srgbClr val="FF0000"/>
                        </a:solidFill>
                        <a:latin typeface="Cambria Math" pitchFamily="34" charset="0"/>
                        <a:ea typeface="Cambria Math" pitchFamily="34" charset="-122"/>
                        <a:cs typeface="Cambria Math" pitchFamily="34" charset="-120"/>
                      </a:rPr>
                      <m:t>𝒙</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𝒂</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2400" b="1" i="0" dirty="0">
                    <a:solidFill>
                      <a:srgbClr val="FF0000"/>
                    </a:solidFill>
                    <a:latin typeface="Times New Roman" pitchFamily="34" charset="0"/>
                    <a:ea typeface="微软雅黑" pitchFamily="34" charset="-122"/>
                    <a:cs typeface="Times New Roman" pitchFamily="34" charset="-120"/>
                  </a:rPr>
                  <a:t>,得</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𝒂</m:t>
                    </m:r>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𝟒</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num>
                      <m:den>
                        <m:r>
                          <a:rPr lang="en-US" altLang="zh-CN" sz="2400" b="1" i="1">
                            <a:solidFill>
                              <a:srgbClr val="FF0000"/>
                            </a:solidFill>
                            <a:latin typeface="Cambria Math" pitchFamily="34" charset="0"/>
                            <a:ea typeface="Cambria Math" pitchFamily="34" charset="-122"/>
                            <a:cs typeface="Cambria Math" pitchFamily="34" charset="-120"/>
                          </a:rPr>
                          <m:t>𝟒</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，代入数据解得</a:t>
                </a:r>
              </a:p>
              <a:p>
                <a:pPr latinLnBrk="1">
                  <a:lnSpc>
                    <a:spcPts val="4400"/>
                  </a:lnSpc>
                </a:pP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𝒂</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𝟐</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𝐦</m:t>
                    </m:r>
                    <m:r>
                      <a:rPr lang="en-US" altLang="zh-CN" sz="2400" b="1" i="0" smtClean="0">
                        <a:solidFill>
                          <a:srgbClr val="FF0000"/>
                        </a:solidFill>
                        <a:latin typeface="Cambria Math" pitchFamily="34" charset="0"/>
                        <a:ea typeface="Cambria Math" pitchFamily="34" charset="-122"/>
                        <a:cs typeface="Cambria Math" pitchFamily="34" charset="-120"/>
                      </a:rPr>
                      <m:t>/</m:t>
                    </m:r>
                    <m:sSup>
                      <m:sSup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,根据匀变速直线运动中点时刻的瞬时速度等于该过程中的平均速度</a:t>
                </a:r>
                <a:r>
                  <a:rPr lang="en-US" altLang="zh-CN" sz="2400" b="1" i="0">
                    <a:solidFill>
                      <a:srgbClr val="FF0000"/>
                    </a:solidFill>
                    <a:latin typeface="Times New Roman" pitchFamily="34" charset="0"/>
                    <a:ea typeface="微软雅黑" pitchFamily="34" charset="-122"/>
                    <a:cs typeface="Times New Roman" pitchFamily="34" charset="-120"/>
                  </a:rPr>
                  <a:t>，则</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有小车在</a:t>
                </a:r>
                <a14:m>
                  <m:oMath xmlns:m="http://schemas.openxmlformats.org/officeDocument/2006/math">
                    <m:r>
                      <a:rPr lang="en-US" altLang="zh-CN" sz="2400" b="1" i="1" smtClean="0">
                        <a:solidFill>
                          <a:srgbClr val="FF0000"/>
                        </a:solidFill>
                        <a:latin typeface="Cambria Math" pitchFamily="34" charset="0"/>
                        <a:ea typeface="Cambria Math" pitchFamily="34" charset="-122"/>
                        <a:cs typeface="Cambria Math" pitchFamily="34" charset="-120"/>
                      </a:rPr>
                      <m:t>𝑫</m:t>
                    </m:r>
                  </m:oMath>
                </a14:m>
                <a:r>
                  <a:rPr lang="en-US" altLang="zh-CN" sz="2400" b="1" i="0" dirty="0">
                    <a:solidFill>
                      <a:srgbClr val="FF0000"/>
                    </a:solidFill>
                    <a:latin typeface="Times New Roman" pitchFamily="34" charset="0"/>
                    <a:ea typeface="微软雅黑" pitchFamily="34" charset="-122"/>
                    <a:cs typeface="Times New Roman" pitchFamily="34" charset="-120"/>
                  </a:rPr>
                  <a:t>点的瞬时速度</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𝑫</m:t>
                        </m:r>
                      </m:sub>
                    </m:sSub>
                    <m:r>
                      <a:rPr lang="en-US" altLang="zh-CN" sz="2400" b="1" i="0" smtClean="0">
                        <a:solidFill>
                          <a:srgbClr val="FF0000"/>
                        </a:solidFill>
                        <a:latin typeface="Cambria Math" pitchFamily="34" charset="0"/>
                        <a:ea typeface="Cambria Math" pitchFamily="34" charset="-122"/>
                        <a:cs typeface="Cambria Math" pitchFamily="34" charset="-120"/>
                      </a:rPr>
                      <m:t>=</m:t>
                    </m:r>
                    <m:f>
                      <m:f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𝟒</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oMath>
                </a14:m>
                <a:r>
                  <a:rPr lang="en-US" altLang="zh-CN" sz="2400" b="1" i="0" dirty="0">
                    <a:solidFill>
                      <a:srgbClr val="FF0000"/>
                    </a:solidFill>
                    <a:latin typeface="Times New Roman" pitchFamily="34" charset="0"/>
                    <a:ea typeface="微软雅黑" pitchFamily="34" charset="-122"/>
                    <a:cs typeface="Times New Roman" pitchFamily="34" charset="-120"/>
                  </a:rPr>
                  <a:t>,代入数据解得</a:t>
                </a:r>
                <a14:m>
                  <m:oMath xmlns:m="http://schemas.openxmlformats.org/officeDocument/2006/math">
                    <m:sSub>
                      <m:sSubPr>
                        <m:ctrlPr>
                          <a:rPr lang="en-US" altLang="zh-CN" sz="2400" b="1" i="1" dirty="0" smtClean="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𝑫</m:t>
                        </m:r>
                      </m:sub>
                    </m:sSub>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𝟎</m:t>
                    </m:r>
                    <m:r>
                      <a:rPr lang="en-US" altLang="zh-CN" sz="2400" b="1" i="1" smtClean="0">
                        <a:solidFill>
                          <a:srgbClr val="FF0000"/>
                        </a:solidFill>
                        <a:latin typeface="Cambria Math" pitchFamily="34" charset="0"/>
                        <a:ea typeface="Cambria Math" pitchFamily="34" charset="-122"/>
                        <a:cs typeface="Cambria Math" pitchFamily="34" charset="-120"/>
                      </a:rPr>
                      <m:t>.</m:t>
                    </m:r>
                    <m:r>
                      <a:rPr lang="en-US" altLang="zh-CN" sz="2400" b="1" i="1" smtClean="0">
                        <a:solidFill>
                          <a:srgbClr val="FF0000"/>
                        </a:solidFill>
                        <a:latin typeface="Cambria Math" pitchFamily="34" charset="0"/>
                        <a:ea typeface="Cambria Math" pitchFamily="34" charset="-122"/>
                        <a:cs typeface="Cambria Math" pitchFamily="34" charset="-120"/>
                      </a:rPr>
                      <m:t>𝟗𝟔</m:t>
                    </m:r>
                    <m:r>
                      <m:rPr>
                        <m:nor/>
                      </m:rPr>
                      <a:rPr lang="en-US" altLang="zh-CN" sz="2400" b="1" i="0" smtClean="0">
                        <a:solidFill>
                          <a:srgbClr val="FF0000"/>
                        </a:solidFill>
                        <a:latin typeface="Cambria Math" pitchFamily="34" charset="0"/>
                        <a:ea typeface="Cambria Math" pitchFamily="34" charset="-122"/>
                        <a:cs typeface="Cambria Math" pitchFamily="34" charset="-120"/>
                      </a:rPr>
                      <m:t> </m:t>
                    </m:r>
                    <m:r>
                      <a:rPr lang="en-US" altLang="zh-CN" sz="2400" b="1" i="0" smtClean="0">
                        <a:solidFill>
                          <a:srgbClr val="FF0000"/>
                        </a:solidFill>
                        <a:latin typeface="Cambria Math" pitchFamily="34" charset="0"/>
                        <a:ea typeface="Cambria Math" pitchFamily="34" charset="-122"/>
                        <a:cs typeface="Cambria Math" pitchFamily="34" charset="-120"/>
                      </a:rPr>
                      <m:t>𝐦</m:t>
                    </m:r>
                    <m:r>
                      <a:rPr lang="en-US" altLang="zh-CN" sz="2400" b="1" i="0" smtClean="0">
                        <a:solidFill>
                          <a:srgbClr val="FF0000"/>
                        </a:solidFill>
                        <a:latin typeface="Cambria Math" pitchFamily="34" charset="0"/>
                        <a:ea typeface="Cambria Math" pitchFamily="34" charset="-122"/>
                        <a:cs typeface="Cambria Math" pitchFamily="34" charset="-120"/>
                      </a:rPr>
                      <m:t>/</m:t>
                    </m:r>
                    <m:r>
                      <a:rPr lang="en-US" altLang="zh-CN" sz="2400" b="1" i="0" smtClean="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solidFill>
                    <a:srgbClr val="FF0000"/>
                  </a:solidFill>
                </a:endParaRPr>
              </a:p>
            </p:txBody>
          </p:sp>
        </mc:Choice>
        <mc:Fallback>
          <p:sp>
            <p:nvSpPr>
              <p:cNvPr id="5" name="QB_5_AS.16_1#3c67e9a00?vcp=1&amp;pid=44defac45&amp;color=0,0,0&amp;vtp=1&amp;bbb=1&amp;hb=1"/>
              <p:cNvSpPr>
                <a:spLocks noRot="1" noChangeAspect="1" noMove="1" noResize="1" noEditPoints="1" noAdjustHandles="1" noChangeArrowheads="1" noChangeShapeType="1" noTextEdit="1"/>
              </p:cNvSpPr>
              <p:nvPr/>
            </p:nvSpPr>
            <p:spPr>
              <a:xfrm>
                <a:off x="393192" y="2784253"/>
                <a:ext cx="11402568" cy="2273300"/>
              </a:xfrm>
              <a:prstGeom prst="rect">
                <a:avLst/>
              </a:prstGeom>
              <a:blipFill>
                <a:blip r:embed="rId6"/>
                <a:stretch>
                  <a:fillRect l="-1658" r="-1444" b="-455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animEffect transition="in" filter="wipe(left)">
                                      <p:cBhvr>
                                        <p:cTn id="23" dur="500"/>
                                        <p:tgtEl>
                                          <p:spTgt spid="5">
                                            <p:bg/>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animEffect transition="in" filter="wipe(left)">
                                      <p:cBhvr>
                                        <p:cTn id="29" dur="500"/>
                                        <p:tgtEl>
                                          <p:spTgt spid="5">
                                            <p:txEl>
                                              <p:pRg st="1" end="1"/>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wipe(left)">
                                      <p:cBhvr>
                                        <p:cTn id="32" dur="500"/>
                                        <p:tgtEl>
                                          <p:spTgt spid="5">
                                            <p:txEl>
                                              <p:pRg st="2" end="2"/>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wipe(left)">
                                      <p:cBhvr>
                                        <p:cTn id="3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17_1#3e0be9622?vcp=1&amp;pid=44defac45&amp;color=0,0,0&amp;vtp=1&amp;bt=1&amp;bbb=1&amp;hb=1"/>
              <p:cNvSpPr/>
              <p:nvPr/>
            </p:nvSpPr>
            <p:spPr>
              <a:xfrm>
                <a:off x="393192" y="2111757"/>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（3）如果在测匀变速直线运动的加速度时</a:t>
                </a:r>
                <a:r>
                  <a:rPr lang="en-US" altLang="zh-CN" sz="2400" b="0" i="0">
                    <a:solidFill>
                      <a:srgbClr val="000000"/>
                    </a:solidFill>
                    <a:latin typeface="Times New Roman" pitchFamily="34" charset="0"/>
                    <a:ea typeface="微软雅黑" pitchFamily="34" charset="-122"/>
                    <a:cs typeface="Times New Roman" pitchFamily="34" charset="-120"/>
                  </a:rPr>
                  <a:t>，实验者不知道所接电源的实际工作频率</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大于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，这样计算出的加速度值与真实值相比</a:t>
                </a:r>
                <a:r>
                  <a:rPr lang="en-US" altLang="zh-CN" sz="2400" i="0">
                    <a:solidFill>
                      <a:srgbClr val="000000"/>
                    </a:solidFill>
                    <a:latin typeface="SimSun" pitchFamily="34" charset="0"/>
                    <a:ea typeface="SimSun" pitchFamily="34" charset="-122"/>
                    <a:cs typeface="SimSun" pitchFamily="34" charset="-120"/>
                  </a:rPr>
                  <a:t>______</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填“偏大”“偏小”或“不变”）.</a:t>
                </a:r>
                <a:endParaRPr lang="en-US" altLang="zh-CN" sz="2400" dirty="0"/>
              </a:p>
            </p:txBody>
          </p:sp>
        </mc:Choice>
        <mc:Fallback>
          <p:sp>
            <p:nvSpPr>
              <p:cNvPr id="2" name="QB_5_BD.17_1#3e0be9622?vcp=1&amp;pid=44defac45&amp;color=0,0,0&amp;vtp=1&amp;bt=1&amp;bbb=1&amp;hb=1"/>
              <p:cNvSpPr>
                <a:spLocks noRot="1" noChangeAspect="1" noMove="1" noResize="1" noEditPoints="1" noAdjustHandles="1" noChangeArrowheads="1" noChangeShapeType="1" noTextEdit="1"/>
              </p:cNvSpPr>
              <p:nvPr/>
            </p:nvSpPr>
            <p:spPr>
              <a:xfrm>
                <a:off x="393192" y="2111757"/>
                <a:ext cx="11402568" cy="1033399"/>
              </a:xfrm>
              <a:prstGeom prst="rect">
                <a:avLst/>
              </a:prstGeom>
              <a:blipFill>
                <a:blip r:embed="rId3"/>
                <a:stretch>
                  <a:fillRect l="-1658" r="-1337" b="-17647"/>
                </a:stretch>
              </a:blipFill>
              <a:ln/>
            </p:spPr>
            <p:txBody>
              <a:bodyPr/>
              <a:lstStyle/>
              <a:p>
                <a:r>
                  <a:rPr lang="zh-CN" altLang="en-US">
                    <a:noFill/>
                  </a:rPr>
                  <a:t> </a:t>
                </a:r>
              </a:p>
            </p:txBody>
          </p:sp>
        </mc:Fallback>
      </mc:AlternateContent>
      <p:sp>
        <p:nvSpPr>
          <p:cNvPr id="3" name="QB_5_AN.18_1#3e0be9622.blank?vcp=1&amp;pid=44defac45&amp;color=0,0,0&amp;vpa=5&amp;vtp=1&amp;bbb=1"/>
          <p:cNvSpPr/>
          <p:nvPr/>
        </p:nvSpPr>
        <p:spPr>
          <a:xfrm>
            <a:off x="6951948" y="2621027"/>
            <a:ext cx="830263" cy="47879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偏小</a:t>
            </a:r>
            <a:endParaRPr lang="en-US" altLang="zh-CN" sz="2400" dirty="0"/>
          </a:p>
        </p:txBody>
      </p:sp>
      <mc:AlternateContent xmlns:mc="http://schemas.openxmlformats.org/markup-compatibility/2006">
        <mc:Choice xmlns:a14="http://schemas.microsoft.com/office/drawing/2010/main" Requires="a14">
          <p:sp>
            <p:nvSpPr>
              <p:cNvPr id="4" name="QB_5_AS.19_1#3e0be9622?vcp=1&amp;pid=44defac45&amp;color=0,0,0&amp;vtp=1&amp;bbb=1&amp;hb=1"/>
              <p:cNvSpPr/>
              <p:nvPr/>
            </p:nvSpPr>
            <p:spPr>
              <a:xfrm>
                <a:off x="393192" y="3145282"/>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当所接电源的频率大于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𝟓𝟎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𝐇𝐳</m:t>
                    </m:r>
                  </m:oMath>
                </a14:m>
                <a:r>
                  <a:rPr lang="en-US" altLang="zh-CN" sz="2400" b="1" i="0" dirty="0">
                    <a:solidFill>
                      <a:srgbClr val="FF0000"/>
                    </a:solidFill>
                    <a:latin typeface="Times New Roman" pitchFamily="34" charset="0"/>
                    <a:ea typeface="微软雅黑" pitchFamily="34" charset="-122"/>
                    <a:cs typeface="Times New Roman" pitchFamily="34" charset="-120"/>
                  </a:rPr>
                  <a:t>时，打点周期小于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，连接相等时间内的位</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移之差减小</a:t>
                </a:r>
                <a:r>
                  <a:rPr lang="en-US" altLang="zh-CN" sz="2400" b="1" i="0" dirty="0">
                    <a:solidFill>
                      <a:srgbClr val="FF0000"/>
                    </a:solidFill>
                    <a:latin typeface="Times New Roman" pitchFamily="34" charset="0"/>
                    <a:ea typeface="微软雅黑" pitchFamily="34" charset="-122"/>
                    <a:cs typeface="Times New Roman" pitchFamily="34" charset="-120"/>
                  </a:rPr>
                  <a:t>，但实验者不知道，仍按原来的周期计算加速度，由</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𝚫</m:t>
                    </m:r>
                    <m:r>
                      <a:rPr lang="en-US" altLang="zh-CN" sz="2400" b="1" i="1">
                        <a:solidFill>
                          <a:srgbClr val="FF0000"/>
                        </a:solidFill>
                        <a:latin typeface="Cambria Math" pitchFamily="34" charset="0"/>
                        <a:ea typeface="Cambria Math" pitchFamily="34" charset="-122"/>
                        <a:cs typeface="Cambria Math" pitchFamily="34" charset="-120"/>
                      </a:rPr>
                      <m:t>𝒙</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𝒂</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𝑻</m:t>
                        </m:r>
                      </m:e>
                      <m:sup>
                        <m:r>
                          <a:rPr lang="en-US" altLang="zh-CN" sz="2400" b="1" i="1">
                            <a:solidFill>
                              <a:srgbClr val="FF0000"/>
                            </a:solidFill>
                            <a:latin typeface="Cambria Math" pitchFamily="34" charset="0"/>
                            <a:ea typeface="Cambria Math" pitchFamily="34" charset="-122"/>
                            <a:cs typeface="Cambria Math" pitchFamily="34" charset="-120"/>
                          </a:rPr>
                          <m:t>𝟐</m:t>
                        </m:r>
                      </m:sup>
                    </m:sSup>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可知</a:t>
                </a:r>
                <a:r>
                  <a:rPr lang="en-US" altLang="zh-CN" sz="2400" b="1" i="0">
                    <a:solidFill>
                      <a:srgbClr val="FF0000"/>
                    </a:solidFill>
                    <a:latin typeface="Times New Roman" pitchFamily="34" charset="0"/>
                    <a:ea typeface="微软雅黑" pitchFamily="34" charset="-122"/>
                    <a:cs typeface="Times New Roman" pitchFamily="34" charset="-120"/>
                  </a:rPr>
                  <a:t>，计算</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出的加速度值与真实值相比偏小</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4" name="QB_5_AS.19_1#3e0be9622?vcp=1&amp;pid=44defac45&amp;color=0,0,0&amp;vtp=1&amp;bbb=1&amp;hb=1"/>
              <p:cNvSpPr>
                <a:spLocks noRot="1" noChangeAspect="1" noMove="1" noResize="1" noEditPoints="1" noAdjustHandles="1" noChangeArrowheads="1" noChangeShapeType="1" noTextEdit="1"/>
              </p:cNvSpPr>
              <p:nvPr/>
            </p:nvSpPr>
            <p:spPr>
              <a:xfrm>
                <a:off x="393192" y="3145282"/>
                <a:ext cx="11402568" cy="1596200"/>
              </a:xfrm>
              <a:prstGeom prst="rect">
                <a:avLst/>
              </a:prstGeom>
              <a:blipFill>
                <a:blip r:embed="rId4"/>
                <a:stretch>
                  <a:fillRect l="-1658" r="-1176" b="-110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wipe(left)">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O_4_BD.20_1#d28c7e62a?vcp=1&amp;pid=c18a50fc4&amp;color=0,0,0&amp;vtp=1&amp;bt=1&amp;bbb=1&amp;hb=1"/>
              <p:cNvSpPr/>
              <p:nvPr/>
            </p:nvSpPr>
            <p:spPr>
              <a:xfrm>
                <a:off x="393192" y="947674"/>
                <a:ext cx="11402568" cy="3272600"/>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（2026·河南郑州外国语学校检测）</a:t>
                </a:r>
                <a:r>
                  <a:rPr lang="en-US" altLang="zh-CN" sz="2400" b="0" i="0" dirty="0">
                    <a:solidFill>
                      <a:srgbClr val="000000"/>
                    </a:solidFill>
                    <a:latin typeface="Times New Roman" pitchFamily="34" charset="0"/>
                    <a:ea typeface="微软雅黑" pitchFamily="34" charset="-122"/>
                    <a:cs typeface="Times New Roman" pitchFamily="34" charset="-120"/>
                  </a:rPr>
                  <a:t>在“探究小车做匀变速直线运动规律</a:t>
                </a:r>
                <a:r>
                  <a:rPr lang="en-US" altLang="zh-CN" sz="2400" b="0" i="0">
                    <a:solidFill>
                      <a:srgbClr val="000000"/>
                    </a:solidFill>
                    <a:latin typeface="Times New Roman" pitchFamily="34" charset="0"/>
                    <a:ea typeface="微软雅黑" pitchFamily="34" charset="-122"/>
                    <a:cs typeface="Times New Roman" pitchFamily="34" charset="-120"/>
                  </a:rPr>
                  <a:t>”的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实验中</a:t>
                </a:r>
                <a:r>
                  <a:rPr lang="en-US" altLang="zh-CN" sz="2400" b="0" i="0" dirty="0">
                    <a:solidFill>
                      <a:srgbClr val="000000"/>
                    </a:solidFill>
                    <a:latin typeface="Times New Roman" pitchFamily="34" charset="0"/>
                    <a:ea typeface="微软雅黑" pitchFamily="34" charset="-122"/>
                    <a:cs typeface="Times New Roman" pitchFamily="34" charset="-120"/>
                  </a:rPr>
                  <a:t>，记录小车运动的纸带如图所示，电火花计时器的打点频率为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Hz</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，在纸带</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上选择标为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0∼6</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的计数点，相邻两个计数点间还有四个计时点未画出</a:t>
                </a:r>
                <a:r>
                  <a:rPr lang="en-US" altLang="zh-CN" sz="2400" b="0" i="0">
                    <a:solidFill>
                      <a:srgbClr val="000000"/>
                    </a:solidFill>
                    <a:latin typeface="Times New Roman" pitchFamily="34" charset="0"/>
                    <a:ea typeface="微软雅黑" pitchFamily="34" charset="-122"/>
                    <a:cs typeface="Times New Roman" pitchFamily="34" charset="-120"/>
                  </a:rPr>
                  <a:t>，纸带旁边并排</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放着毫米刻度尺</a:t>
                </a:r>
                <a:r>
                  <a:rPr lang="en-US" altLang="zh-CN" sz="2400" b="0" i="0" dirty="0">
                    <a:solidFill>
                      <a:srgbClr val="000000"/>
                    </a:solidFill>
                    <a:latin typeface="Times New Roman" pitchFamily="34" charset="0"/>
                    <a:ea typeface="微软雅黑" pitchFamily="34" charset="-122"/>
                    <a:cs typeface="Times New Roman" pitchFamily="34" charset="-120"/>
                  </a:rPr>
                  <a:t>（图中未画出），刻度尺的0刻度线对齐纸带上的0计数点</a:t>
                </a:r>
                <a:r>
                  <a:rPr lang="en-US" altLang="zh-CN" sz="2400" b="0" i="0">
                    <a:solidFill>
                      <a:srgbClr val="000000"/>
                    </a:solidFill>
                    <a:latin typeface="Times New Roman" pitchFamily="34" charset="0"/>
                    <a:ea typeface="微软雅黑" pitchFamily="34" charset="-122"/>
                    <a:cs typeface="Times New Roman" pitchFamily="34" charset="-120"/>
                  </a:rPr>
                  <a:t>，打点计时</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器打下</a:t>
                </a:r>
                <a:r>
                  <a:rPr lang="en-US" altLang="zh-CN" sz="2400" b="0" i="0" dirty="0">
                    <a:solidFill>
                      <a:srgbClr val="000000"/>
                    </a:solidFill>
                    <a:latin typeface="Times New Roman" pitchFamily="34" charset="0"/>
                    <a:ea typeface="微软雅黑" pitchFamily="34" charset="-122"/>
                    <a:cs typeface="Times New Roman" pitchFamily="34" charset="-120"/>
                  </a:rPr>
                  <a:t>0计数点时作为计时起点，请你根据放大的图片读取数据，并计算出打下2</a:t>
                </a:r>
                <a:r>
                  <a:rPr lang="en-US" altLang="zh-CN" sz="2400" b="0" i="0">
                    <a:solidFill>
                      <a:srgbClr val="000000"/>
                    </a:solidFill>
                    <a:latin typeface="Times New Roman" pitchFamily="34" charset="0"/>
                    <a:ea typeface="微软雅黑" pitchFamily="34" charset="-122"/>
                    <a:cs typeface="Times New Roman" pitchFamily="34" charset="-120"/>
                  </a:rPr>
                  <a:t>和4</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两个计数点时小车的速度大小和小车的加速度大小</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O_4_BD.20_1#d28c7e62a?vcp=1&amp;pid=c18a50fc4&amp;color=0,0,0&amp;vtp=1&amp;bt=1&amp;bbb=1&amp;hb=1"/>
              <p:cNvSpPr>
                <a:spLocks noRot="1" noChangeAspect="1" noMove="1" noResize="1" noEditPoints="1" noAdjustHandles="1" noChangeArrowheads="1" noChangeShapeType="1" noTextEdit="1"/>
              </p:cNvSpPr>
              <p:nvPr/>
            </p:nvSpPr>
            <p:spPr>
              <a:xfrm>
                <a:off x="393192" y="947674"/>
                <a:ext cx="11402568" cy="3272600"/>
              </a:xfrm>
              <a:prstGeom prst="rect">
                <a:avLst/>
              </a:prstGeom>
              <a:blipFill>
                <a:blip r:embed="rId3"/>
                <a:stretch>
                  <a:fillRect l="-1658" r="-1551" b="-5587"/>
                </a:stretch>
              </a:blipFill>
              <a:ln/>
            </p:spPr>
            <p:txBody>
              <a:bodyPr/>
              <a:lstStyle/>
              <a:p>
                <a:r>
                  <a:rPr lang="zh-CN" altLang="en-US">
                    <a:noFill/>
                  </a:rPr>
                  <a:t> </a:t>
                </a:r>
              </a:p>
            </p:txBody>
          </p:sp>
        </mc:Fallback>
      </mc:AlternateContent>
      <p:pic>
        <p:nvPicPr>
          <p:cNvPr id="3" name="QO_4_BD.20_2#d28c7e62a?vcp=1&amp;pid=c18a50fc4&amp;color=0,0,0&amp;tib=255,255,255&amp;vtp=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3575304" y="4319270"/>
            <a:ext cx="5047488" cy="1591056"/>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17.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21_1#491d2695f?vcp=1&amp;pid=d28c7e62a&amp;color=0,0,0&amp;vtp=1&amp;bt=1&amp;bbb=1&amp;hb=1"/>
              <p:cNvSpPr/>
              <p:nvPr/>
            </p:nvSpPr>
            <p:spPr>
              <a:xfrm>
                <a:off x="393192" y="923164"/>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（1）计数点</a:t>
                </a:r>
                <a:r>
                  <a:rPr lang="en-US" altLang="zh-CN" sz="2400" b="0" i="0">
                    <a:solidFill>
                      <a:srgbClr val="000000"/>
                    </a:solidFill>
                    <a:latin typeface="Times New Roman" pitchFamily="34" charset="0"/>
                    <a:ea typeface="微软雅黑" pitchFamily="34" charset="-122"/>
                    <a:cs typeface="Times New Roman" pitchFamily="34" charset="-120"/>
                  </a:rPr>
                  <a:t>1、3、5、6在刻度尺上的读数分别是</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i="0">
                    <a:solidFill>
                      <a:srgbClr val="000000"/>
                    </a:solidFill>
                    <a:latin typeface="SimSun" pitchFamily="34" charset="0"/>
                    <a:ea typeface="SimSun" pitchFamily="34" charset="-122"/>
                    <a:cs typeface="SimSun" pitchFamily="34" charset="-120"/>
                  </a:rPr>
                  <a:t>______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p>
              <a:p>
                <a:pPr latinLnBrk="1">
                  <a:lnSpc>
                    <a:spcPts val="4200"/>
                  </a:lnSpc>
                </a:pPr>
                <a:r>
                  <a:rPr lang="en-US" altLang="zh-CN" sz="2400" i="0">
                    <a:solidFill>
                      <a:srgbClr val="000000"/>
                    </a:solidFill>
                    <a:latin typeface="SimSun" pitchFamily="34" charset="0"/>
                    <a:ea typeface="SimSun" pitchFamily="34" charset="-122"/>
                    <a:cs typeface="SimSun" pitchFamily="34" charset="-120"/>
                  </a:rPr>
                  <a:t>______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cm</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B_5_BD.21_1#491d2695f?vcp=1&amp;pid=d28c7e62a&amp;color=0,0,0&amp;vtp=1&amp;bt=1&amp;bbb=1&amp;hb=1"/>
              <p:cNvSpPr>
                <a:spLocks noRot="1" noChangeAspect="1" noMove="1" noResize="1" noEditPoints="1" noAdjustHandles="1" noChangeArrowheads="1" noChangeShapeType="1" noTextEdit="1"/>
              </p:cNvSpPr>
              <p:nvPr/>
            </p:nvSpPr>
            <p:spPr>
              <a:xfrm>
                <a:off x="393192" y="923164"/>
                <a:ext cx="11402568" cy="1033399"/>
              </a:xfrm>
              <a:prstGeom prst="rect">
                <a:avLst/>
              </a:prstGeom>
              <a:blipFill>
                <a:blip r:embed="rId3"/>
                <a:stretch>
                  <a:fillRect l="-1658" b="-17647"/>
                </a:stretch>
              </a:blipFill>
              <a:ln/>
            </p:spPr>
            <p:txBody>
              <a:bodyPr/>
              <a:lstStyle/>
              <a:p>
                <a:r>
                  <a:rPr lang="zh-CN" altLang="en-US">
                    <a:noFill/>
                  </a:rPr>
                  <a:t> </a:t>
                </a:r>
              </a:p>
            </p:txBody>
          </p:sp>
        </mc:Fallback>
      </mc:AlternateContent>
      <p:sp>
        <p:nvSpPr>
          <p:cNvPr id="3" name="QB_5_AN.22_1#491d2695f.blank?vcp=1&amp;pid=d28c7e62a&amp;color=0,0,0&amp;vpa=6&amp;vtp=1&amp;bbb=1"/>
          <p:cNvSpPr/>
          <p:nvPr/>
        </p:nvSpPr>
        <p:spPr>
          <a:xfrm>
            <a:off x="6924961" y="895224"/>
            <a:ext cx="7540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1.20</a:t>
            </a:r>
            <a:endParaRPr lang="en-US" altLang="zh-CN" sz="2400" dirty="0"/>
          </a:p>
        </p:txBody>
      </p:sp>
      <p:sp>
        <p:nvSpPr>
          <p:cNvPr id="4" name="QB_5_AN.23_1#491d2695f.blank?vcp=1&amp;pid=d28c7e62a&amp;color=0,0,0&amp;vpa=7&amp;vtp=1&amp;bbb=1"/>
          <p:cNvSpPr/>
          <p:nvPr/>
        </p:nvSpPr>
        <p:spPr>
          <a:xfrm>
            <a:off x="8380698" y="895224"/>
            <a:ext cx="7540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5.40</a:t>
            </a:r>
            <a:endParaRPr lang="en-US" altLang="zh-CN" sz="2400" dirty="0"/>
          </a:p>
        </p:txBody>
      </p:sp>
      <p:sp>
        <p:nvSpPr>
          <p:cNvPr id="5" name="QB_5_AN.24_1#491d2695f.blank?vcp=1&amp;pid=d28c7e62a&amp;color=0,0,0&amp;vpa=8&amp;vtp=1&amp;bbb=1"/>
          <p:cNvSpPr/>
          <p:nvPr/>
        </p:nvSpPr>
        <p:spPr>
          <a:xfrm>
            <a:off x="9836436" y="895224"/>
            <a:ext cx="906463" cy="497650"/>
          </a:xfrm>
          <a:prstGeom prst="rect">
            <a:avLst/>
          </a:prstGeom>
          <a:noFill/>
          <a:ln/>
        </p:spPr>
        <p:txBody>
          <a:bodyPr wrap="none" lIns="0" tIns="0" rIns="0" bIns="0" rtlCol="0" anchor="t"/>
          <a:lstStyle/>
          <a:p>
            <a:pPr algn="ctr"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12.00</a:t>
            </a:r>
            <a:endParaRPr lang="en-US" altLang="zh-CN" sz="2400" dirty="0"/>
          </a:p>
        </p:txBody>
      </p:sp>
      <p:sp>
        <p:nvSpPr>
          <p:cNvPr id="6" name="QB_5_AN.25_1#491d2695f.blank?vcp=1&amp;pid=d28c7e62a&amp;color=0,0,0&amp;vpa=9&amp;vtp=1&amp;bbb=1"/>
          <p:cNvSpPr/>
          <p:nvPr/>
        </p:nvSpPr>
        <p:spPr>
          <a:xfrm>
            <a:off x="371760" y="1432433"/>
            <a:ext cx="906463" cy="478600"/>
          </a:xfrm>
          <a:prstGeom prst="rect">
            <a:avLst/>
          </a:prstGeom>
          <a:noFill/>
          <a:ln/>
        </p:spPr>
        <p:txBody>
          <a:bodyPr wrap="none" lIns="0" tIns="0" rIns="0" bIns="0" rtlCol="0" anchor="t"/>
          <a:lstStyle/>
          <a:p>
            <a:pPr algn="ct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16.20</a:t>
            </a:r>
            <a:endParaRPr lang="en-US" altLang="zh-CN" sz="2400" dirty="0"/>
          </a:p>
        </p:txBody>
      </p:sp>
      <mc:AlternateContent xmlns:mc="http://schemas.openxmlformats.org/markup-compatibility/2006">
        <mc:Choice xmlns:a14="http://schemas.microsoft.com/office/drawing/2010/main" Requires="a14">
          <p:sp>
            <p:nvSpPr>
              <p:cNvPr id="7" name="QB_5_AS.26_1#491d2695f?vcp=1&amp;pid=d28c7e62a&amp;color=0,0,0&amp;vtp=1&amp;bbb=1&amp;hb=1"/>
              <p:cNvSpPr/>
              <p:nvPr/>
            </p:nvSpPr>
            <p:spPr>
              <a:xfrm>
                <a:off x="393192" y="1968373"/>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毫米刻度尺读数时要估读到分度值的下一位，即毫米的下一位，计数点</a:t>
                </a:r>
                <a:r>
                  <a:rPr lang="en-US" altLang="zh-CN" sz="2400" b="1" i="0">
                    <a:solidFill>
                      <a:srgbClr val="FF0000"/>
                    </a:solidFill>
                    <a:latin typeface="Times New Roman" pitchFamily="34" charset="0"/>
                    <a:ea typeface="微软雅黑" pitchFamily="34" charset="-122"/>
                    <a:cs typeface="Times New Roman" pitchFamily="34" charset="-120"/>
                  </a:rPr>
                  <a:t>1、3、</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5、6</a:t>
                </a:r>
                <a:r>
                  <a:rPr lang="en-US" altLang="zh-CN" sz="2400" b="1" i="0" dirty="0">
                    <a:solidFill>
                      <a:srgbClr val="FF0000"/>
                    </a:solidFill>
                    <a:latin typeface="Times New Roman" pitchFamily="34" charset="0"/>
                    <a:ea typeface="微软雅黑" pitchFamily="34" charset="-122"/>
                    <a:cs typeface="Times New Roman" pitchFamily="34" charset="-120"/>
                  </a:rPr>
                  <a:t>在刻度尺上的读数分别是</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𝟓</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2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𝟔</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𝐜𝐦</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7" name="QB_5_AS.26_1#491d2695f?vcp=1&amp;pid=d28c7e62a&amp;color=0,0,0&amp;vtp=1&amp;bbb=1&amp;hb=1"/>
              <p:cNvSpPr>
                <a:spLocks noRot="1" noChangeAspect="1" noMove="1" noResize="1" noEditPoints="1" noAdjustHandles="1" noChangeArrowheads="1" noChangeShapeType="1" noTextEdit="1"/>
              </p:cNvSpPr>
              <p:nvPr/>
            </p:nvSpPr>
            <p:spPr>
              <a:xfrm>
                <a:off x="393192" y="1968373"/>
                <a:ext cx="11402568" cy="1596200"/>
              </a:xfrm>
              <a:prstGeom prst="rect">
                <a:avLst/>
              </a:prstGeom>
              <a:blipFill>
                <a:blip r:embed="rId4"/>
                <a:stretch>
                  <a:fillRect l="-1658" r="-1016" b="-1106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QB_5_BD.27_1#d2928cea3?vcp=1&amp;pid=d28c7e62a&amp;color=0,0,0&amp;vtp=1&amp;bbb=1"/>
              <p:cNvSpPr/>
              <p:nvPr/>
            </p:nvSpPr>
            <p:spPr>
              <a:xfrm>
                <a:off x="393192" y="3611815"/>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（2）打下2和4两个计数点时小车的速度大小分别为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4</m:t>
                        </m:r>
                      </m:sub>
                    </m:sSub>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i="0">
                    <a:solidFill>
                      <a:srgbClr val="000000"/>
                    </a:solidFill>
                    <a:latin typeface="SimSun" pitchFamily="34" charset="0"/>
                    <a:ea typeface="SimSun" pitchFamily="34" charset="-122"/>
                    <a:cs typeface="SimSun" pitchFamily="34" charset="-120"/>
                  </a:rPr>
                  <a:t>_____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s</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8" name="QB_5_BD.27_1#d2928cea3?vcp=1&amp;pid=d28c7e62a&amp;color=0,0,0&amp;vtp=1&amp;bbb=1"/>
              <p:cNvSpPr>
                <a:spLocks noRot="1" noChangeAspect="1" noMove="1" noResize="1" noEditPoints="1" noAdjustHandles="1" noChangeArrowheads="1" noChangeShapeType="1" noTextEdit="1"/>
              </p:cNvSpPr>
              <p:nvPr/>
            </p:nvSpPr>
            <p:spPr>
              <a:xfrm>
                <a:off x="393192" y="3611815"/>
                <a:ext cx="11402568" cy="484124"/>
              </a:xfrm>
              <a:prstGeom prst="rect">
                <a:avLst/>
              </a:prstGeom>
              <a:blipFill>
                <a:blip r:embed="rId5"/>
                <a:stretch>
                  <a:fillRect l="-1658" b="-37500"/>
                </a:stretch>
              </a:blipFill>
              <a:ln/>
            </p:spPr>
            <p:txBody>
              <a:bodyPr/>
              <a:lstStyle/>
              <a:p>
                <a:r>
                  <a:rPr lang="zh-CN" altLang="en-US">
                    <a:noFill/>
                  </a:rPr>
                  <a:t> </a:t>
                </a:r>
              </a:p>
            </p:txBody>
          </p:sp>
        </mc:Fallback>
      </mc:AlternateContent>
      <p:sp>
        <p:nvSpPr>
          <p:cNvPr id="9" name="QB_5_AN.28_1#d2928cea3.blank?vcp=1&amp;pid=d28c7e62a&amp;color=0,0,0&amp;vpa=10&amp;vtp=1&amp;bbb=1"/>
          <p:cNvSpPr/>
          <p:nvPr/>
        </p:nvSpPr>
        <p:spPr>
          <a:xfrm>
            <a:off x="7844758" y="3571810"/>
            <a:ext cx="754063"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0.21</a:t>
            </a:r>
            <a:endParaRPr lang="en-US" altLang="zh-CN" sz="2400" dirty="0"/>
          </a:p>
        </p:txBody>
      </p:sp>
      <p:sp>
        <p:nvSpPr>
          <p:cNvPr id="10" name="QB_5_AN.29_1#d2928cea3.blank?vcp=1&amp;pid=d28c7e62a&amp;color=0,0,0&amp;vpa=11&amp;vtp=1&amp;bbb=1"/>
          <p:cNvSpPr/>
          <p:nvPr/>
        </p:nvSpPr>
        <p:spPr>
          <a:xfrm>
            <a:off x="9819925" y="3571810"/>
            <a:ext cx="754063"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0.33</a:t>
            </a:r>
            <a:endParaRPr lang="en-US" altLang="zh-CN" sz="2400" dirty="0"/>
          </a:p>
        </p:txBody>
      </p:sp>
      <mc:AlternateContent xmlns:mc="http://schemas.openxmlformats.org/markup-compatibility/2006">
        <mc:Choice xmlns:a14="http://schemas.microsoft.com/office/drawing/2010/main" Requires="a14">
          <p:sp>
            <p:nvSpPr>
              <p:cNvPr id="11" name="QB_5_AS.30_1#d2928cea3?vcp=1&amp;pid=d28c7e62a&amp;color=0,0,0&amp;vtp=1&amp;bbb=1&amp;hb=1"/>
              <p:cNvSpPr/>
              <p:nvPr/>
            </p:nvSpPr>
            <p:spPr>
              <a:xfrm>
                <a:off x="393192" y="4100068"/>
                <a:ext cx="11402568" cy="17145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打相邻两计数点的时间间隔为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𝑻</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𝟎𝟐</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，则打下计数点2和</a:t>
                </a:r>
                <a:r>
                  <a:rPr lang="en-US" altLang="zh-CN" sz="2400" b="1" i="0">
                    <a:solidFill>
                      <a:srgbClr val="FF0000"/>
                    </a:solidFill>
                    <a:latin typeface="Times New Roman" pitchFamily="34" charset="0"/>
                    <a:ea typeface="微软雅黑" pitchFamily="34" charset="-122"/>
                    <a:cs typeface="Times New Roman" pitchFamily="34" charset="-120"/>
                  </a:rPr>
                  <a:t>4时小</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车的速度大小分别为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den>
                    </m:f>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𝟒</m:t>
                        </m:r>
                      </m:sub>
                    </m:sSub>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sub>
                        </m:sSub>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1">
                            <a:solidFill>
                              <a:srgbClr val="FF0000"/>
                            </a:solidFill>
                            <a:latin typeface="Cambria Math" pitchFamily="34" charset="0"/>
                            <a:ea typeface="Cambria Math" pitchFamily="34" charset="-122"/>
                            <a:cs typeface="Cambria Math" pitchFamily="34" charset="-120"/>
                          </a:rPr>
                          <m:t>𝑻</m:t>
                        </m:r>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𝟏𝟐</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num>
                      <m:den>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den>
                    </m:f>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𝟑𝟑</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𝐬</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11" name="QB_5_AS.30_1#d2928cea3?vcp=1&amp;pid=d28c7e62a&amp;color=0,0,0&amp;vtp=1&amp;bbb=1&amp;hb=1"/>
              <p:cNvSpPr>
                <a:spLocks noRot="1" noChangeAspect="1" noMove="1" noResize="1" noEditPoints="1" noAdjustHandles="1" noChangeArrowheads="1" noChangeShapeType="1" noTextEdit="1"/>
              </p:cNvSpPr>
              <p:nvPr/>
            </p:nvSpPr>
            <p:spPr>
              <a:xfrm>
                <a:off x="393192" y="4100068"/>
                <a:ext cx="11402568" cy="1714500"/>
              </a:xfrm>
              <a:prstGeom prst="rect">
                <a:avLst/>
              </a:prstGeom>
              <a:blipFill>
                <a:blip r:embed="rId6"/>
                <a:stretch>
                  <a:fillRect l="-1658" r="-1283" b="-60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
                                            <p:bg/>
                                          </p:spTgt>
                                        </p:tgtEl>
                                        <p:attrNameLst>
                                          <p:attrName>style.visibility</p:attrName>
                                        </p:attrNameLst>
                                      </p:cBhvr>
                                      <p:to>
                                        <p:strVal val="visible"/>
                                      </p:to>
                                    </p:set>
                                    <p:animEffect transition="in" filter="wipe(left)">
                                      <p:cBhvr>
                                        <p:cTn id="23" dur="500"/>
                                        <p:tgtEl>
                                          <p:spTgt spid="5">
                                            <p:bg/>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wipe(left)">
                                      <p:cBhvr>
                                        <p:cTn id="26" dur="500"/>
                                        <p:tgtEl>
                                          <p:spTgt spid="5">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bg/>
                                          </p:spTgt>
                                        </p:tgtEl>
                                        <p:attrNameLst>
                                          <p:attrName>style.visibility</p:attrName>
                                        </p:attrNameLst>
                                      </p:cBhvr>
                                      <p:to>
                                        <p:strVal val="visible"/>
                                      </p:to>
                                    </p:set>
                                    <p:animEffect transition="in" filter="wipe(left)">
                                      <p:cBhvr>
                                        <p:cTn id="31" dur="500"/>
                                        <p:tgtEl>
                                          <p:spTgt spid="6">
                                            <p:bg/>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6">
                                            <p:txEl>
                                              <p:pRg st="0" end="0"/>
                                            </p:txEl>
                                          </p:spTgt>
                                        </p:tgtEl>
                                        <p:attrNameLst>
                                          <p:attrName>style.visibility</p:attrName>
                                        </p:attrNameLst>
                                      </p:cBhvr>
                                      <p:to>
                                        <p:strVal val="visible"/>
                                      </p:to>
                                    </p:set>
                                    <p:animEffect transition="in" filter="wipe(left)">
                                      <p:cBhvr>
                                        <p:cTn id="34" dur="500"/>
                                        <p:tgtEl>
                                          <p:spTgt spid="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bg/>
                                          </p:spTgt>
                                        </p:tgtEl>
                                        <p:attrNameLst>
                                          <p:attrName>style.visibility</p:attrName>
                                        </p:attrNameLst>
                                      </p:cBhvr>
                                      <p:to>
                                        <p:strVal val="visible"/>
                                      </p:to>
                                    </p:set>
                                    <p:animEffect transition="in" filter="wipe(left)">
                                      <p:cBhvr>
                                        <p:cTn id="39" dur="500"/>
                                        <p:tgtEl>
                                          <p:spTgt spid="7">
                                            <p:bg/>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wipe(left)">
                                      <p:cBhvr>
                                        <p:cTn id="42" dur="500"/>
                                        <p:tgtEl>
                                          <p:spTgt spid="7">
                                            <p:txEl>
                                              <p:pRg st="0" end="0"/>
                                            </p:txEl>
                                          </p:spTgt>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7">
                                            <p:txEl>
                                              <p:pRg st="1" end="1"/>
                                            </p:txEl>
                                          </p:spTgt>
                                        </p:tgtEl>
                                        <p:attrNameLst>
                                          <p:attrName>style.visibility</p:attrName>
                                        </p:attrNameLst>
                                      </p:cBhvr>
                                      <p:to>
                                        <p:strVal val="visible"/>
                                      </p:to>
                                    </p:set>
                                    <p:animEffect transition="in" filter="wipe(left)">
                                      <p:cBhvr>
                                        <p:cTn id="45" dur="500"/>
                                        <p:tgtEl>
                                          <p:spTgt spid="7">
                                            <p:txEl>
                                              <p:pRg st="1" end="1"/>
                                            </p:txEl>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wipe(left)">
                                      <p:cBhvr>
                                        <p:cTn id="48" dur="500"/>
                                        <p:tgtEl>
                                          <p:spTgt spid="7">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bg/>
                                          </p:spTgt>
                                        </p:tgtEl>
                                        <p:attrNameLst>
                                          <p:attrName>style.visibility</p:attrName>
                                        </p:attrNameLst>
                                      </p:cBhvr>
                                      <p:to>
                                        <p:strVal val="visible"/>
                                      </p:to>
                                    </p:set>
                                    <p:animEffect transition="in" filter="wipe(left)">
                                      <p:cBhvr>
                                        <p:cTn id="53" dur="500"/>
                                        <p:tgtEl>
                                          <p:spTgt spid="9">
                                            <p:bg/>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wipe(left)">
                                      <p:cBhvr>
                                        <p:cTn id="56" dur="500"/>
                                        <p:tgtEl>
                                          <p:spTgt spid="9">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
                                            <p:bg/>
                                          </p:spTgt>
                                        </p:tgtEl>
                                        <p:attrNameLst>
                                          <p:attrName>style.visibility</p:attrName>
                                        </p:attrNameLst>
                                      </p:cBhvr>
                                      <p:to>
                                        <p:strVal val="visible"/>
                                      </p:to>
                                    </p:set>
                                    <p:animEffect transition="in" filter="wipe(left)">
                                      <p:cBhvr>
                                        <p:cTn id="61" dur="500"/>
                                        <p:tgtEl>
                                          <p:spTgt spid="10">
                                            <p:bg/>
                                          </p:spTgt>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0">
                                            <p:txEl>
                                              <p:pRg st="0" end="0"/>
                                            </p:txEl>
                                          </p:spTgt>
                                        </p:tgtEl>
                                        <p:attrNameLst>
                                          <p:attrName>style.visibility</p:attrName>
                                        </p:attrNameLst>
                                      </p:cBhvr>
                                      <p:to>
                                        <p:strVal val="visible"/>
                                      </p:to>
                                    </p:set>
                                    <p:animEffect transition="in" filter="wipe(left)">
                                      <p:cBhvr>
                                        <p:cTn id="64" dur="500"/>
                                        <p:tgtEl>
                                          <p:spTgt spid="10">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1">
                                            <p:bg/>
                                          </p:spTgt>
                                        </p:tgtEl>
                                        <p:attrNameLst>
                                          <p:attrName>style.visibility</p:attrName>
                                        </p:attrNameLst>
                                      </p:cBhvr>
                                      <p:to>
                                        <p:strVal val="visible"/>
                                      </p:to>
                                    </p:set>
                                    <p:animEffect transition="in" filter="wipe(left)">
                                      <p:cBhvr>
                                        <p:cTn id="69" dur="500"/>
                                        <p:tgtEl>
                                          <p:spTgt spid="11">
                                            <p:bg/>
                                          </p:spTgt>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1">
                                            <p:txEl>
                                              <p:pRg st="0" end="0"/>
                                            </p:txEl>
                                          </p:spTgt>
                                        </p:tgtEl>
                                        <p:attrNameLst>
                                          <p:attrName>style.visibility</p:attrName>
                                        </p:attrNameLst>
                                      </p:cBhvr>
                                      <p:to>
                                        <p:strVal val="visible"/>
                                      </p:to>
                                    </p:set>
                                    <p:animEffect transition="in" filter="wipe(left)">
                                      <p:cBhvr>
                                        <p:cTn id="72" dur="500"/>
                                        <p:tgtEl>
                                          <p:spTgt spid="11">
                                            <p:txEl>
                                              <p:pRg st="0" end="0"/>
                                            </p:txEl>
                                          </p:spTgt>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1">
                                            <p:txEl>
                                              <p:pRg st="1" end="1"/>
                                            </p:txEl>
                                          </p:spTgt>
                                        </p:tgtEl>
                                        <p:attrNameLst>
                                          <p:attrName>style.visibility</p:attrName>
                                        </p:attrNameLst>
                                      </p:cBhvr>
                                      <p:to>
                                        <p:strVal val="visible"/>
                                      </p:to>
                                    </p:set>
                                    <p:animEffect transition="in" filter="wipe(left)">
                                      <p:cBhvr>
                                        <p:cTn id="75" dur="500"/>
                                        <p:tgtEl>
                                          <p:spTgt spid="11">
                                            <p:txEl>
                                              <p:pRg st="1" end="1"/>
                                            </p:txEl>
                                          </p:spTgt>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11">
                                            <p:txEl>
                                              <p:pRg st="2" end="2"/>
                                            </p:txEl>
                                          </p:spTgt>
                                        </p:tgtEl>
                                        <p:attrNameLst>
                                          <p:attrName>style.visibility</p:attrName>
                                        </p:attrNameLst>
                                      </p:cBhvr>
                                      <p:to>
                                        <p:strVal val="visible"/>
                                      </p:to>
                                    </p:set>
                                    <p:animEffect transition="in" filter="wipe(left)">
                                      <p:cBhvr>
                                        <p:cTn id="78"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P spid="5" grpId="0" build="p" animBg="1"/>
      <p:bldP spid="6" grpId="0" build="p" animBg="1"/>
      <p:bldP spid="7" grpId="0" build="p" animBg="1"/>
      <p:bldP spid="9" grpId="0" build="p" animBg="1"/>
      <p:bldP spid="10" grpId="0" build="p" animBg="1"/>
      <p:bldP spid="11"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B_5_BD.31_1#133e72fe2?vcp=1&amp;pid=d28c7e62a&amp;color=0,0,0&amp;vtp=1&amp;bt=1&amp;bbb=1"/>
              <p:cNvSpPr/>
              <p:nvPr/>
            </p:nvSpPr>
            <p:spPr>
              <a:xfrm>
                <a:off x="393192" y="2603056"/>
                <a:ext cx="11402568" cy="484124"/>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（3）小车的加速度大小为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𝑎</m:t>
                    </m:r>
                    <m:r>
                      <a:rPr lang="en-US" altLang="zh-CN" sz="2400" b="0" i="0">
                        <a:solidFill>
                          <a:srgbClr val="000000"/>
                        </a:solidFill>
                        <a:latin typeface="Cambria Math" pitchFamily="34" charset="0"/>
                        <a:ea typeface="Cambria Math" pitchFamily="34" charset="-122"/>
                        <a:cs typeface="Cambria Math" pitchFamily="34" charset="-120"/>
                      </a:rPr>
                      <m:t>=</m:t>
                    </m:r>
                  </m:oMath>
                </a14:m>
                <a:r>
                  <a:rPr lang="en-US" altLang="zh-CN" sz="2400" i="0">
                    <a:solidFill>
                      <a:srgbClr val="000000"/>
                    </a:solidFill>
                    <a:latin typeface="SimSun" pitchFamily="34" charset="0"/>
                    <a:ea typeface="SimSun" pitchFamily="34" charset="-122"/>
                    <a:cs typeface="SimSun" pitchFamily="34" charset="-120"/>
                  </a:rPr>
                  <a:t>____</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B_5_BD.31_1#133e72fe2?vcp=1&amp;pid=d28c7e62a&amp;color=0,0,0&amp;vtp=1&amp;bt=1&amp;bbb=1"/>
              <p:cNvSpPr>
                <a:spLocks noRot="1" noChangeAspect="1" noMove="1" noResize="1" noEditPoints="1" noAdjustHandles="1" noChangeArrowheads="1" noChangeShapeType="1" noTextEdit="1"/>
              </p:cNvSpPr>
              <p:nvPr/>
            </p:nvSpPr>
            <p:spPr>
              <a:xfrm>
                <a:off x="393192" y="2603056"/>
                <a:ext cx="11402568" cy="484124"/>
              </a:xfrm>
              <a:prstGeom prst="rect">
                <a:avLst/>
              </a:prstGeom>
              <a:blipFill>
                <a:blip r:embed="rId3"/>
                <a:stretch>
                  <a:fillRect l="-1658" b="-39241"/>
                </a:stretch>
              </a:blipFill>
              <a:ln/>
            </p:spPr>
            <p:txBody>
              <a:bodyPr/>
              <a:lstStyle/>
              <a:p>
                <a:r>
                  <a:rPr lang="zh-CN" altLang="en-US">
                    <a:noFill/>
                  </a:rPr>
                  <a:t> </a:t>
                </a:r>
              </a:p>
            </p:txBody>
          </p:sp>
        </mc:Fallback>
      </mc:AlternateContent>
      <p:sp>
        <p:nvSpPr>
          <p:cNvPr id="3" name="QB_5_AN.32_1#133e72fe2.blank?vcp=1&amp;pid=d28c7e62a&amp;color=0,0,0&amp;vpa=12&amp;vtp=1&amp;bbb=1"/>
          <p:cNvSpPr/>
          <p:nvPr/>
        </p:nvSpPr>
        <p:spPr>
          <a:xfrm>
            <a:off x="4365910" y="2563051"/>
            <a:ext cx="601663"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0.6</a:t>
            </a:r>
            <a:endParaRPr lang="en-US" altLang="zh-CN" sz="2400" dirty="0"/>
          </a:p>
        </p:txBody>
      </p:sp>
      <mc:AlternateContent xmlns:mc="http://schemas.openxmlformats.org/markup-compatibility/2006">
        <mc:Choice xmlns:a14="http://schemas.microsoft.com/office/drawing/2010/main" Requires="a14">
          <p:sp>
            <p:nvSpPr>
              <p:cNvPr id="4" name="QB_5_AS.33_1#133e72fe2?vcp=1&amp;pid=d28c7e62a&amp;color=0,0,0&amp;vtp=1&amp;bbb=1"/>
              <p:cNvSpPr/>
              <p:nvPr/>
            </p:nvSpPr>
            <p:spPr>
              <a:xfrm>
                <a:off x="393192" y="3088830"/>
                <a:ext cx="11402568" cy="12065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利用逐差法，可得小车的加速度大小为</a:t>
                </a:r>
                <a:endParaRPr lang="en-US" altLang="zh-CN" sz="2400" dirty="0"/>
              </a:p>
              <a:p>
                <a:pPr latinLnBrk="1">
                  <a:lnSpc>
                    <a:spcPts val="51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𝒂</m:t>
                    </m:r>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𝒙</m:t>
                            </m:r>
                          </m:e>
                          <m:sub>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sub>
                        </m:sSub>
                      </m:num>
                      <m:den>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1">
                            <a:solidFill>
                              <a:srgbClr val="FF0000"/>
                            </a:solidFill>
                            <a:latin typeface="Cambria Math" pitchFamily="34" charset="0"/>
                            <a:ea typeface="Cambria Math" pitchFamily="34" charset="-122"/>
                            <a:cs typeface="Cambria Math" pitchFamily="34" charset="-120"/>
                          </a:rPr>
                          <m:t>𝑻</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𝟏𝟔</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𝟒𝟎</m:t>
                        </m:r>
                      </m:num>
                      <m:den>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m:t>
                            </m:r>
                          </m:e>
                          <m:sup>
                            <m:r>
                              <a:rPr lang="en-US" altLang="zh-CN" sz="2400" b="1" i="1">
                                <a:solidFill>
                                  <a:srgbClr val="FF0000"/>
                                </a:solidFill>
                                <a:latin typeface="Cambria Math" pitchFamily="34" charset="0"/>
                                <a:ea typeface="Cambria Math" pitchFamily="34" charset="-122"/>
                                <a:cs typeface="Cambria Math" pitchFamily="34" charset="-120"/>
                              </a:rPr>
                              <m:t>𝟐</m:t>
                            </m:r>
                          </m:sup>
                        </m:sSup>
                      </m:den>
                    </m:f>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1">
                            <a:solidFill>
                              <a:srgbClr val="FF0000"/>
                            </a:solidFill>
                            <a:latin typeface="Cambria Math" pitchFamily="34" charset="0"/>
                            <a:ea typeface="Cambria Math" pitchFamily="34" charset="-122"/>
                            <a:cs typeface="Cambria Math" pitchFamily="34" charset="-120"/>
                          </a:rPr>
                          <m:t>𝟏𝟎</m:t>
                        </m:r>
                      </m:e>
                      <m: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sup>
                    </m:sSup>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𝟔</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𝐦</m:t>
                    </m:r>
                    <m:r>
                      <a:rPr lang="en-US" altLang="zh-CN" sz="2400" b="1" i="0">
                        <a:solidFill>
                          <a:srgbClr val="FF0000"/>
                        </a:solidFill>
                        <a:latin typeface="Cambria Math" pitchFamily="34" charset="0"/>
                        <a:ea typeface="Cambria Math" pitchFamily="34" charset="-122"/>
                        <a:cs typeface="Cambria Math" pitchFamily="34" charset="-120"/>
                      </a:rPr>
                      <m:t>/</m:t>
                    </m:r>
                    <m:sSup>
                      <m:sSup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pPr>
                      <m:e>
                        <m:r>
                          <a:rPr lang="en-US" altLang="zh-CN" sz="2400" b="1" i="0">
                            <a:solidFill>
                              <a:srgbClr val="FF0000"/>
                            </a:solidFill>
                            <a:latin typeface="Cambria Math" pitchFamily="34" charset="0"/>
                            <a:ea typeface="Cambria Math" pitchFamily="34" charset="-122"/>
                            <a:cs typeface="Cambria Math" pitchFamily="34" charset="-120"/>
                          </a:rPr>
                          <m:t>𝐬</m:t>
                        </m:r>
                      </m:e>
                      <m:sup>
                        <m:r>
                          <a:rPr lang="en-US" altLang="zh-CN" sz="2400" b="1" i="1">
                            <a:solidFill>
                              <a:srgbClr val="FF0000"/>
                            </a:solidFill>
                            <a:latin typeface="Cambria Math" pitchFamily="34" charset="0"/>
                            <a:ea typeface="Cambria Math" pitchFamily="34" charset="-122"/>
                            <a:cs typeface="Cambria Math" pitchFamily="34" charset="-120"/>
                          </a:rPr>
                          <m:t>𝟐</m:t>
                        </m:r>
                      </m:sup>
                    </m:sSup>
                    <m:r>
                      <a:rPr lang="en-US" altLang="zh-CN" sz="2400" b="1" i="0">
                        <a:solidFill>
                          <a:srgbClr val="FF0000"/>
                        </a:solidFill>
                        <a:latin typeface="Cambria Math" pitchFamily="34" charset="0"/>
                        <a:ea typeface="Cambria Math" pitchFamily="34" charset="-122"/>
                        <a:cs typeface="Cambria Math" pitchFamily="34" charset="-120"/>
                      </a:rPr>
                      <m:t>.</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4" name="QB_5_AS.33_1#133e72fe2?vcp=1&amp;pid=d28c7e62a&amp;color=0,0,0&amp;vtp=1&amp;bbb=1"/>
              <p:cNvSpPr>
                <a:spLocks noRot="1" noChangeAspect="1" noMove="1" noResize="1" noEditPoints="1" noAdjustHandles="1" noChangeArrowheads="1" noChangeShapeType="1" noTextEdit="1"/>
              </p:cNvSpPr>
              <p:nvPr/>
            </p:nvSpPr>
            <p:spPr>
              <a:xfrm>
                <a:off x="393192" y="3088830"/>
                <a:ext cx="11402568" cy="1206500"/>
              </a:xfrm>
              <a:prstGeom prst="rect">
                <a:avLst/>
              </a:prstGeom>
              <a:blipFill>
                <a:blip r:embed="rId4"/>
                <a:stretch>
                  <a:fillRect l="-1658"/>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animEffect transition="in" filter="wipe(left)">
                                      <p:cBhvr>
                                        <p:cTn id="15" dur="500"/>
                                        <p:tgtEl>
                                          <p:spTgt spid="4">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left)">
                                      <p:cBhvr>
                                        <p:cTn id="18" dur="500"/>
                                        <p:tgtEl>
                                          <p:spTgt spid="4">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amp;si=20">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1365</Words>
  <Application>Microsoft Office PowerPoint</Application>
  <PresentationFormat>宽屏</PresentationFormat>
  <Paragraphs>147</Paragraphs>
  <Slides>19</Slides>
  <Notes>18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SimHei</vt:lpstr>
      <vt:lpstr>KaiTi</vt:lpstr>
      <vt:lpstr>SimSun</vt:lpstr>
      <vt:lpstr>微软雅黑</vt:lpstr>
      <vt:lpstr>Arial</vt:lpstr>
      <vt:lpstr>Calibri</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2026-05-25T08:06:05Z</dcterms:created>
  <dcterms:modified xsi:type="dcterms:W3CDTF">2026-05-25T08:07:45Z</dcterms:modified>
  <cp:category/>
  <cp:contentStatus/>
</cp:coreProperties>
</file>