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7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0370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9b2d2ba91f04ee84#tid=6a13c062736a60ac3496b215#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pic>
        <p:nvPicPr>
          <p:cNvPr id="3" name="MasterShapeName?linknodeid=back_to_first_catalog" descr="preencoded.png">
            <a:hlinkClick r:id="rId3" action="ppaction://hlinksldjump"/>
          </p:cNvPr>
          <p:cNvPicPr>
            <a:picLocks noChangeAspect="1"/>
          </p:cNvPicPr>
          <p:nvPr/>
        </p:nvPicPr>
        <p:blipFill>
          <a:blip r:embed="rId4"/>
          <a:stretch>
            <a:fillRect/>
          </a:stretch>
        </p:blipFill>
        <p:spPr>
          <a:xfrm>
            <a:off x="11750040" y="6409944"/>
            <a:ext cx="448056" cy="448056"/>
          </a:xfrm>
          <a:prstGeom prst="rect">
            <a:avLst/>
          </a:prstGeom>
        </p:spPr>
      </p:pic>
      <p:sp>
        <p:nvSpPr>
          <p:cNvPr id="4"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5" name="MasterShapeName"/>
          <p:cNvSpPr/>
          <p:nvPr/>
        </p:nvSpPr>
        <p:spPr>
          <a:xfrm>
            <a:off x="5760720" y="54864"/>
            <a:ext cx="6117336"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df=1b3d5a529">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pic>
        <p:nvPicPr>
          <p:cNvPr id="3" name="MasterShapeName?linknodeid=back_to_first_catalog" descr="preencoded.png">
            <a:hlinkClick r:id="rId3" action="ppaction://hlinksldjump"/>
          </p:cNvPr>
          <p:cNvPicPr>
            <a:picLocks noChangeAspect="1"/>
          </p:cNvPicPr>
          <p:nvPr/>
        </p:nvPicPr>
        <p:blipFill>
          <a:blip r:embed="rId4"/>
          <a:stretch>
            <a:fillRect/>
          </a:stretch>
        </p:blipFill>
        <p:spPr>
          <a:xfrm>
            <a:off x="11750040" y="6409944"/>
            <a:ext cx="448056" cy="448056"/>
          </a:xfrm>
          <a:prstGeom prst="rect">
            <a:avLst/>
          </a:prstGeom>
        </p:spPr>
      </p:pic>
      <p:sp>
        <p:nvSpPr>
          <p:cNvPr id="4"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5" name="MasterShapeName"/>
          <p:cNvSpPr/>
          <p:nvPr/>
        </p:nvSpPr>
        <p:spPr>
          <a:xfrm>
            <a:off x="5760720" y="54864"/>
            <a:ext cx="6117336"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第8讲 自由落体运动</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slide" Target="slide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2#1b3d5a529.fixed?vcp=1&amp;pid=efd683a83&amp;color=0,112,192&amp;vtp=1&amp;bbb=1"/>
          <p:cNvSpPr/>
          <p:nvPr/>
        </p:nvSpPr>
        <p:spPr>
          <a:xfrm>
            <a:off x="0" y="2157984"/>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第二章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匀变速直线运动的研究</a:t>
            </a:r>
            <a:endParaRPr lang="en-US" altLang="zh-CN" sz="4800" dirty="0"/>
          </a:p>
        </p:txBody>
      </p:sp>
      <p:sp>
        <p:nvSpPr>
          <p:cNvPr id="3" name="C_2_BD#1b3d5a529.fixed?vcp=1&amp;pid=efd683a83&amp;color=0,0,0&amp;vtp=1&amp;bbb=1"/>
          <p:cNvSpPr/>
          <p:nvPr/>
        </p:nvSpPr>
        <p:spPr>
          <a:xfrm>
            <a:off x="265176" y="3602736"/>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第8讲</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自由落体运动</a:t>
            </a:r>
            <a:endParaRPr lang="en-US" altLang="zh-CN" sz="44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sp>
        <p:nvSpPr>
          <p:cNvPr id="2" name="C_1#目录1:1b3d5a529?lid=88c137852&amp;cid=88c137852&amp;vtp=1&amp;bt=1&amp;bbb=1">
            <a:hlinkClick r:id="rId3" action="ppaction://hlinksldjump"/>
          </p:cNvPr>
          <p:cNvSpPr/>
          <p:nvPr/>
        </p:nvSpPr>
        <p:spPr>
          <a:xfrm>
            <a:off x="5577840" y="2587752"/>
            <a:ext cx="6117336" cy="649224"/>
          </a:xfrm>
          <a:prstGeom prst="rect">
            <a:avLst/>
          </a:prstGeom>
          <a:noFill/>
          <a:ln/>
        </p:spPr>
        <p:txBody>
          <a:bodyPr wrap="none" lIns="0" tIns="0" rIns="0" bIns="0" rtlCol="0" anchor="ctr"/>
          <a:lstStyle/>
          <a:p>
            <a:pPr algn="l" latinLnBrk="1">
              <a:lnSpc>
                <a:spcPts val="4000"/>
              </a:lnSpc>
            </a:pPr>
            <a:r>
              <a:rPr lang="en-US" altLang="zh-CN" sz="3200" b="1" i="0" dirty="0">
                <a:solidFill>
                  <a:srgbClr val="000000"/>
                </a:solidFill>
                <a:latin typeface="微软雅黑" pitchFamily="34" charset="0"/>
                <a:ea typeface="微软雅黑" pitchFamily="34" charset="-122"/>
                <a:cs typeface="微软雅黑" pitchFamily="34" charset="-120"/>
              </a:rPr>
              <a:t>高考要求</a:t>
            </a:r>
            <a:r>
              <a:rPr lang="en-US" altLang="zh-CN" sz="3200" b="1" i="0" dirty="0">
                <a:solidFill>
                  <a:srgbClr val="000000"/>
                </a:solidFill>
                <a:latin typeface="SimSun" pitchFamily="34" charset="0"/>
                <a:ea typeface="SimSun" pitchFamily="34" charset="-122"/>
                <a:cs typeface="SimSun" pitchFamily="34" charset="-120"/>
              </a:rPr>
              <a:t> </a:t>
            </a:r>
            <a:r>
              <a:rPr lang="en-US" altLang="zh-CN" sz="3200" b="1" i="0" dirty="0">
                <a:solidFill>
                  <a:srgbClr val="000000"/>
                </a:solidFill>
                <a:latin typeface="微软雅黑" pitchFamily="34" charset="0"/>
                <a:ea typeface="微软雅黑" pitchFamily="34" charset="-122"/>
                <a:cs typeface="微软雅黑" pitchFamily="34" charset="-120"/>
              </a:rPr>
              <a:t>学业标准·考情分析</a:t>
            </a:r>
            <a:endParaRPr lang="en-US" altLang="zh-CN" sz="3200" dirty="0"/>
          </a:p>
        </p:txBody>
      </p:sp>
      <p:sp>
        <p:nvSpPr>
          <p:cNvPr id="3" name="C_1#目录1:1b3d5a529?lid=f59f0646b&amp;cid=f59f0646b&amp;vtp=1&amp;bbb=1">
            <a:hlinkClick r:id="rId4" action="ppaction://hlinksldjump"/>
          </p:cNvPr>
          <p:cNvSpPr/>
          <p:nvPr/>
        </p:nvSpPr>
        <p:spPr>
          <a:xfrm>
            <a:off x="5577840" y="3419856"/>
            <a:ext cx="6117336" cy="649224"/>
          </a:xfrm>
          <a:prstGeom prst="rect">
            <a:avLst/>
          </a:prstGeom>
          <a:noFill/>
          <a:ln/>
        </p:spPr>
        <p:txBody>
          <a:bodyPr wrap="none" lIns="0" tIns="0" rIns="0" bIns="0" rtlCol="0" anchor="ctr"/>
          <a:lstStyle/>
          <a:p>
            <a:pPr algn="l" latinLnBrk="1">
              <a:lnSpc>
                <a:spcPts val="4000"/>
              </a:lnSpc>
            </a:pPr>
            <a:r>
              <a:rPr lang="en-US" altLang="zh-CN" sz="3200" b="1" i="0" dirty="0">
                <a:solidFill>
                  <a:srgbClr val="000000"/>
                </a:solidFill>
                <a:latin typeface="微软雅黑" pitchFamily="34" charset="0"/>
                <a:ea typeface="微软雅黑" pitchFamily="34" charset="-122"/>
                <a:cs typeface="微软雅黑" pitchFamily="34" charset="-120"/>
              </a:rPr>
              <a:t>考点分类</a:t>
            </a:r>
            <a:r>
              <a:rPr lang="en-US" altLang="zh-CN" sz="3200" b="1" i="0" dirty="0">
                <a:solidFill>
                  <a:srgbClr val="000000"/>
                </a:solidFill>
                <a:latin typeface="SimSun" pitchFamily="34" charset="0"/>
                <a:ea typeface="SimSun" pitchFamily="34" charset="-122"/>
                <a:cs typeface="SimSun" pitchFamily="34" charset="-120"/>
              </a:rPr>
              <a:t> </a:t>
            </a:r>
            <a:r>
              <a:rPr lang="en-US" altLang="zh-CN" sz="3200" b="1" i="0" dirty="0">
                <a:solidFill>
                  <a:srgbClr val="000000"/>
                </a:solidFill>
                <a:latin typeface="微软雅黑" pitchFamily="34" charset="0"/>
                <a:ea typeface="微软雅黑" pitchFamily="34" charset="-122"/>
                <a:cs typeface="微软雅黑" pitchFamily="34" charset="-120"/>
              </a:rPr>
              <a:t>考点透析·典例剖析</a:t>
            </a:r>
            <a:endParaRPr lang="en-US" altLang="zh-CN" sz="3200" dirty="0"/>
          </a:p>
        </p:txBody>
      </p:sp>
    </p:spTree>
  </p:cSld>
  <p:clrMapOvr>
    <a:masterClrMapping/>
  </p:clrMapOvr>
  <p:transition>
    <p:split dir="in"/>
  </p:transition>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p:pic>
        <p:nvPicPr>
          <p:cNvPr id="2" name="C_3_BD#88c137852?vcp=1&amp;pid=1b3d5a529&amp;color=0,112,192&amp;tib=255,255,255&amp;vtp=1&amp;bt=1" descr="preencoded.png"/>
          <p:cNvPicPr>
            <a:picLocks noChangeAspect="1"/>
          </p:cNvPicPr>
          <p:nvPr/>
        </p:nvPicPr>
        <p:blipFill>
          <a:blip r:embed="rId3"/>
          <a:stretch>
            <a:fillRect/>
          </a:stretch>
        </p:blipFill>
        <p:spPr>
          <a:xfrm>
            <a:off x="393192" y="502920"/>
            <a:ext cx="4727448" cy="548640"/>
          </a:xfrm>
          <a:prstGeom prst="rect">
            <a:avLst/>
          </a:prstGeom>
        </p:spPr>
      </p:pic>
      <p:graphicFrame>
        <p:nvGraphicFramePr>
          <p:cNvPr id="5" name="P_4_BD#fd097c718?colgroup=15,4,15&amp;vcp=1&amp;pid=88c137852&amp;color=0,0,0&amp;vtp=1&amp;bbb=1&amp;hb=1"/>
          <p:cNvGraphicFramePr>
            <a:graphicFrameLocks noGrp="1"/>
          </p:cNvGraphicFramePr>
          <p:nvPr>
            <p:extLst>
              <p:ext uri="{D42A27DB-BD31-4B8C-83A1-F6EECF244321}">
                <p14:modId xmlns:p14="http://schemas.microsoft.com/office/powerpoint/2010/main" val="819574404"/>
              </p:ext>
            </p:extLst>
          </p:nvPr>
        </p:nvGraphicFramePr>
        <p:xfrm>
          <a:off x="393192" y="1181100"/>
          <a:ext cx="11365992" cy="3446463"/>
        </p:xfrm>
        <a:graphic>
          <a:graphicData uri="http://schemas.openxmlformats.org/drawingml/2006/table">
            <a:tbl>
              <a:tblPr/>
              <a:tblGrid>
                <a:gridCol w="4983480">
                  <a:extLst>
                    <a:ext uri="{9D8B030D-6E8A-4147-A177-3AD203B41FA5}">
                      <a16:colId xmlns:a16="http://schemas.microsoft.com/office/drawing/2014/main" val="20000"/>
                    </a:ext>
                  </a:extLst>
                </a:gridCol>
                <a:gridCol w="1618488">
                  <a:extLst>
                    <a:ext uri="{9D8B030D-6E8A-4147-A177-3AD203B41FA5}">
                      <a16:colId xmlns:a16="http://schemas.microsoft.com/office/drawing/2014/main" val="20001"/>
                    </a:ext>
                  </a:extLst>
                </a:gridCol>
                <a:gridCol w="4764024">
                  <a:extLst>
                    <a:ext uri="{9D8B030D-6E8A-4147-A177-3AD203B41FA5}">
                      <a16:colId xmlns:a16="http://schemas.microsoft.com/office/drawing/2014/main" val="20002"/>
                    </a:ext>
                  </a:extLst>
                </a:gridCol>
              </a:tblGrid>
              <a:tr h="492633">
                <a:tc>
                  <a:txBody>
                    <a:bodyPr/>
                    <a:lstStyle/>
                    <a:p>
                      <a:pPr algn="ctr" latinLnBrk="1" hangingPunct="0">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考点分析</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核心素养</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知识图解</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05332">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0" i="0">
                          <a:solidFill>
                            <a:srgbClr val="000000"/>
                          </a:solidFill>
                          <a:latin typeface="Times New Roman" pitchFamily="34" charset="0"/>
                          <a:ea typeface="微软雅黑" pitchFamily="34" charset="-122"/>
                          <a:cs typeface="Times New Roman" pitchFamily="34" charset="-120"/>
                        </a:rPr>
                        <a:t>伽利略对自由落体运动的研究.</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科学思维</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a:txBody>
                    <a:bodyPr/>
                    <a:lstStyle/>
                    <a:p>
                      <a:pPr algn="ctr" latinLnBrk="1" hangingPunct="0">
                        <a:lnSpc>
                          <a:spcPts val="156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4344">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2.实验：</a:t>
                      </a:r>
                      <a:r>
                        <a:rPr lang="en-US" altLang="zh-CN" sz="2400" b="0" i="0">
                          <a:solidFill>
                            <a:srgbClr val="000000"/>
                          </a:solidFill>
                          <a:latin typeface="Times New Roman" pitchFamily="34" charset="0"/>
                          <a:ea typeface="微软雅黑" pitchFamily="34" charset="-122"/>
                          <a:cs typeface="Times New Roman" pitchFamily="34" charset="-120"/>
                        </a:rPr>
                        <a:t>研究自由落体运动的规律.</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科学探究</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2"/>
                  </a:ext>
                </a:extLst>
              </a:tr>
              <a:tr h="974154">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3</a:t>
                      </a:r>
                      <a:r>
                        <a:rPr lang="en-US" altLang="zh-CN" sz="2400" b="0" i="0">
                          <a:solidFill>
                            <a:srgbClr val="000000"/>
                          </a:solidFill>
                          <a:latin typeface="Times New Roman" pitchFamily="34" charset="0"/>
                          <a:ea typeface="微软雅黑" pitchFamily="34" charset="-122"/>
                          <a:cs typeface="Times New Roman" pitchFamily="34" charset="-120"/>
                        </a:rPr>
                        <a:t>.自由落体运动性质及重力加速度的</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测量</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物理观念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3"/>
                  </a:ext>
                </a:extLst>
              </a:tr>
            </a:tbl>
          </a:graphicData>
        </a:graphic>
      </p:graphicFrame>
      <p:pic>
        <p:nvPicPr>
          <p:cNvPr id="4" name="P_4_BD#fd097c718.table_image?tii=1&amp;vcp=1&amp;pid=88c137852&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7205472" y="2268252"/>
            <a:ext cx="4343400" cy="1764792"/>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p:pic>
        <p:nvPicPr>
          <p:cNvPr id="2" name="C_3_BD#f59f0646b?vcp=1&amp;pid=1b3d5a529&amp;color=0,112,192&amp;tib=255,255,255&amp;vtp=1&amp;bt=1" descr="preencoded.png"/>
          <p:cNvPicPr>
            <a:picLocks noChangeAspect="1"/>
          </p:cNvPicPr>
          <p:nvPr/>
        </p:nvPicPr>
        <p:blipFill>
          <a:blip r:embed="rId3"/>
          <a:stretch>
            <a:fillRect/>
          </a:stretch>
        </p:blipFill>
        <p:spPr>
          <a:xfrm>
            <a:off x="393192" y="502920"/>
            <a:ext cx="4727448" cy="548640"/>
          </a:xfrm>
          <a:prstGeom prst="rect">
            <a:avLst/>
          </a:prstGeom>
        </p:spPr>
      </p:pic>
      <p:pic>
        <p:nvPicPr>
          <p:cNvPr id="3" name="C_4#2f2768b41?vcp=1&amp;pid=f59f0646b&amp;color=0,0,0&amp;tib=255,255,255&amp;vtp=1" descr="preencoded.png"/>
          <p:cNvPicPr>
            <a:picLocks noChangeAspect="1"/>
          </p:cNvPicPr>
          <p:nvPr/>
        </p:nvPicPr>
        <p:blipFill>
          <a:blip r:embed="rId4"/>
          <a:stretch>
            <a:fillRect/>
          </a:stretch>
        </p:blipFill>
        <p:spPr>
          <a:xfrm>
            <a:off x="411480" y="1181100"/>
            <a:ext cx="11320272" cy="457200"/>
          </a:xfrm>
          <a:prstGeom prst="rect">
            <a:avLst/>
          </a:prstGeom>
        </p:spPr>
      </p:pic>
      <p:sp>
        <p:nvSpPr>
          <p:cNvPr id="4" name="C_4_BD#2f2768b41?vcp=1&amp;pid=f59f0646b&amp;color=255,255,255&amp;vtp=1"/>
          <p:cNvSpPr/>
          <p:nvPr/>
        </p:nvSpPr>
        <p:spPr>
          <a:xfrm>
            <a:off x="1225296" y="118110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1</a:t>
            </a:r>
            <a:endParaRPr lang="en-US" altLang="zh-CN" sz="2800" dirty="0"/>
          </a:p>
        </p:txBody>
      </p:sp>
      <p:sp>
        <p:nvSpPr>
          <p:cNvPr id="5" name="C_4_BD#2f2768b41?vcp=1&amp;pid=f59f0646b&amp;color=0,0,0&amp;vtp=1&amp;bbb=1"/>
          <p:cNvSpPr/>
          <p:nvPr/>
        </p:nvSpPr>
        <p:spPr>
          <a:xfrm>
            <a:off x="1837944" y="118110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伽利略对自由落体运动的研究</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回归教材</a:t>
            </a:r>
            <a:endParaRPr lang="en-US" altLang="zh-CN" sz="2600" dirty="0"/>
          </a:p>
        </p:txBody>
      </p:sp>
      <p:sp>
        <p:nvSpPr>
          <p:cNvPr id="6" name="P_5_BD#803de408e?vcp=1&amp;pid=2f2768b41&amp;color=0,0,0&amp;vtp=1&amp;bbb=1&amp;hb=1"/>
          <p:cNvSpPr/>
          <p:nvPr/>
        </p:nvSpPr>
        <p:spPr>
          <a:xfrm>
            <a:off x="393192" y="1778000"/>
            <a:ext cx="11402568" cy="2155000"/>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.数学推理</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伽利略用数学推理证明</a:t>
            </a:r>
            <a:r>
              <a:rPr lang="en-US" altLang="zh-CN" sz="2400" b="0" i="0" dirty="0">
                <a:solidFill>
                  <a:srgbClr val="000000"/>
                </a:solidFill>
                <a:latin typeface="Times New Roman" pitchFamily="34" charset="0"/>
                <a:ea typeface="微软雅黑" pitchFamily="34" charset="-122"/>
                <a:cs typeface="Times New Roman" pitchFamily="34" charset="-120"/>
              </a:rPr>
              <a:t>，只要物体通过的位移与所用时间的二次方成正比</a:t>
            </a:r>
            <a:r>
              <a:rPr lang="en-US" altLang="zh-CN" sz="2400" b="0" i="0">
                <a:solidFill>
                  <a:srgbClr val="000000"/>
                </a:solidFill>
                <a:latin typeface="Times New Roman" pitchFamily="34" charset="0"/>
                <a:ea typeface="微软雅黑" pitchFamily="34" charset="-122"/>
                <a:cs typeface="Times New Roman" pitchFamily="34" charset="-120"/>
              </a:rPr>
              <a:t>，物体</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就做初速度为</a:t>
            </a:r>
            <a:r>
              <a:rPr lang="en-US" altLang="zh-CN" sz="2400" b="0" i="0" dirty="0">
                <a:solidFill>
                  <a:srgbClr val="000000"/>
                </a:solidFill>
                <a:latin typeface="Times New Roman" pitchFamily="34" charset="0"/>
                <a:ea typeface="微软雅黑" pitchFamily="34" charset="-122"/>
                <a:cs typeface="Times New Roman" pitchFamily="34" charset="-120"/>
              </a:rPr>
              <a:t>0的匀加速直线运动.</a:t>
            </a:r>
            <a:endParaRPr lang="en-US" altLang="zh-CN" sz="2400" dirty="0"/>
          </a:p>
        </p:txBody>
      </p:sp>
    </p:spTree>
  </p:cSld>
  <p:clrMapOvr>
    <a:masterClrMapping/>
  </p:clrMapOvr>
  <p:transition>
    <p:split dir="in"/>
  </p:transition>
</p:sld>
</file>

<file path=ppt/slides/slide6.xml><?xml version="1.0" encoding="utf-8"?>
<p:sld xmlns:a="http://schemas.openxmlformats.org/drawingml/2006/main" xmlns:r="http://schemas.openxmlformats.org/officeDocument/2006/relationships" xmlns:p="http://schemas.openxmlformats.org/presentationml/2006/main">
  <p:cSld name="Slide 6&amp;si=6">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P_5_BD#803de408e?vcp=1&amp;pid=2f2768b41&amp;color=0,0,0&amp;vtp=1&amp;bt=1&amp;bbb=1&amp;hb=1"/>
              <p:cNvSpPr/>
              <p:nvPr/>
            </p:nvSpPr>
            <p:spPr>
              <a:xfrm>
                <a:off x="393192" y="1126585"/>
                <a:ext cx="11402568" cy="2286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2.实验验证</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1）让小球沿阻力很小的斜面滚下，如图所示.</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2）观察小球多次从同一斜面不同起点滚下的位移与所用时间二次方的比值</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𝑥</m:t>
                        </m:r>
                      </m:num>
                      <m:den>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𝑡</m:t>
                            </m:r>
                          </m:e>
                          <m:sup>
                            <m:r>
                              <a:rPr lang="en-US" altLang="zh-CN" sz="2400" b="0" i="0">
                                <a:solidFill>
                                  <a:srgbClr val="000000"/>
                                </a:solidFill>
                                <a:latin typeface="Cambria Math" pitchFamily="34" charset="0"/>
                                <a:ea typeface="Cambria Math" pitchFamily="34" charset="-122"/>
                                <a:cs typeface="Cambria Math" pitchFamily="34" charset="-120"/>
                              </a:rPr>
                              <m:t>2</m:t>
                            </m:r>
                          </m:sup>
                        </m:sSup>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p>
              <a:p>
                <a:pPr latinLnBrk="1">
                  <a:lnSpc>
                    <a:spcPts val="4800"/>
                  </a:lnSpc>
                </a:pPr>
                <a:r>
                  <a:rPr lang="en-US" altLang="zh-CN" sz="2400" b="0" i="0">
                    <a:solidFill>
                      <a:srgbClr val="000000"/>
                    </a:solidFill>
                    <a:latin typeface="Times New Roman" pitchFamily="34" charset="0"/>
                    <a:ea typeface="微软雅黑" pitchFamily="34" charset="-122"/>
                    <a:cs typeface="Times New Roman" pitchFamily="34" charset="-120"/>
                  </a:rPr>
                  <a:t>得出</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num>
                      <m:den>
                        <m:sSubSup>
                          <m:sSubSupPr>
                            <m:ctrlPr>
                              <a:rPr lang="en-US" altLang="zh-CN" sz="2400" b="0" i="1">
                                <a:solidFill>
                                  <a:srgbClr val="000000"/>
                                </a:solidFill>
                                <a:latin typeface="Cambria Math" panose="02040503050406030204" pitchFamily="18" charset="0"/>
                                <a:ea typeface="Cambria Math" pitchFamily="34" charset="-122"/>
                                <a:cs typeface="Cambria Math"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𝑡</m:t>
                            </m:r>
                          </m:e>
                          <m:sub>
                            <m:r>
                              <a:rPr lang="en-US" altLang="zh-CN" sz="2400" b="0" i="0">
                                <a:solidFill>
                                  <a:srgbClr val="000000"/>
                                </a:solidFill>
                                <a:latin typeface="Cambria Math" pitchFamily="34" charset="0"/>
                                <a:ea typeface="Cambria Math" pitchFamily="34" charset="-122"/>
                                <a:cs typeface="Cambria Math" pitchFamily="34" charset="-120"/>
                              </a:rPr>
                              <m:t>1</m:t>
                            </m:r>
                          </m:sub>
                          <m:sup>
                            <m:r>
                              <a:rPr lang="en-US" altLang="zh-CN" sz="2400" b="0" i="0">
                                <a:solidFill>
                                  <a:srgbClr val="000000"/>
                                </a:solidFill>
                                <a:latin typeface="Cambria Math" pitchFamily="34" charset="0"/>
                                <a:ea typeface="Cambria Math" pitchFamily="34" charset="-122"/>
                                <a:cs typeface="Cambria Math" pitchFamily="34" charset="-120"/>
                              </a:rPr>
                              <m:t>2</m:t>
                            </m:r>
                          </m:sup>
                        </m:sSubSup>
                      </m:den>
                    </m:f>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num>
                      <m:den>
                        <m:sSubSup>
                          <m:sSubSupPr>
                            <m:ctrlPr>
                              <a:rPr lang="en-US" altLang="zh-CN" sz="2400" b="0" i="1">
                                <a:solidFill>
                                  <a:srgbClr val="000000"/>
                                </a:solidFill>
                                <a:latin typeface="Cambria Math" panose="02040503050406030204" pitchFamily="18" charset="0"/>
                                <a:ea typeface="Cambria Math" pitchFamily="34" charset="-122"/>
                                <a:cs typeface="Cambria Math"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𝑡</m:t>
                            </m:r>
                          </m:e>
                          <m:sub>
                            <m:r>
                              <a:rPr lang="en-US" altLang="zh-CN" sz="2400" b="0" i="0">
                                <a:solidFill>
                                  <a:srgbClr val="000000"/>
                                </a:solidFill>
                                <a:latin typeface="Cambria Math" pitchFamily="34" charset="0"/>
                                <a:ea typeface="Cambria Math" pitchFamily="34" charset="-122"/>
                                <a:cs typeface="Cambria Math" pitchFamily="34" charset="-120"/>
                              </a:rPr>
                              <m:t>2</m:t>
                            </m:r>
                          </m:sub>
                          <m:sup>
                            <m:r>
                              <a:rPr lang="en-US" altLang="zh-CN" sz="2400" b="0" i="0">
                                <a:solidFill>
                                  <a:srgbClr val="000000"/>
                                </a:solidFill>
                                <a:latin typeface="Cambria Math" pitchFamily="34" charset="0"/>
                                <a:ea typeface="Cambria Math" pitchFamily="34" charset="-122"/>
                                <a:cs typeface="Cambria Math" pitchFamily="34" charset="-120"/>
                              </a:rPr>
                              <m:t>2</m:t>
                            </m:r>
                          </m:sup>
                        </m:sSubSup>
                      </m:den>
                    </m:f>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3</m:t>
                            </m:r>
                          </m:sub>
                        </m:sSub>
                      </m:num>
                      <m:den>
                        <m:sSubSup>
                          <m:sSubSupPr>
                            <m:ctrlPr>
                              <a:rPr lang="en-US" altLang="zh-CN" sz="2400" b="0" i="1">
                                <a:solidFill>
                                  <a:srgbClr val="000000"/>
                                </a:solidFill>
                                <a:latin typeface="Cambria Math" panose="02040503050406030204" pitchFamily="18" charset="0"/>
                                <a:ea typeface="Cambria Math" pitchFamily="34" charset="-122"/>
                                <a:cs typeface="Cambria Math" pitchFamily="34" charset="-120"/>
                              </a:rPr>
                            </m:ctrlPr>
                          </m:sSubSupPr>
                          <m:e>
                            <m:r>
                              <a:rPr lang="en-US" altLang="zh-CN" sz="2400" b="0" i="0">
                                <a:solidFill>
                                  <a:srgbClr val="000000"/>
                                </a:solidFill>
                                <a:latin typeface="Cambria Math" pitchFamily="34" charset="0"/>
                                <a:ea typeface="Cambria Math" pitchFamily="34" charset="-122"/>
                                <a:cs typeface="Cambria Math" pitchFamily="34" charset="-120"/>
                              </a:rPr>
                              <m:t>𝑡</m:t>
                            </m:r>
                          </m:e>
                          <m:sub>
                            <m:r>
                              <a:rPr lang="en-US" altLang="zh-CN" sz="2400" b="0" i="0">
                                <a:solidFill>
                                  <a:srgbClr val="000000"/>
                                </a:solidFill>
                                <a:latin typeface="Cambria Math" pitchFamily="34" charset="0"/>
                                <a:ea typeface="Cambria Math" pitchFamily="34" charset="-122"/>
                                <a:cs typeface="Cambria Math" pitchFamily="34" charset="-120"/>
                              </a:rPr>
                              <m:t>3</m:t>
                            </m:r>
                          </m:sub>
                          <m:sup>
                            <m:r>
                              <a:rPr lang="en-US" altLang="zh-CN" sz="2400" b="0" i="0">
                                <a:solidFill>
                                  <a:srgbClr val="000000"/>
                                </a:solidFill>
                                <a:latin typeface="Cambria Math" pitchFamily="34" charset="0"/>
                                <a:ea typeface="Cambria Math" pitchFamily="34" charset="-122"/>
                                <a:cs typeface="Cambria Math" pitchFamily="34" charset="-120"/>
                              </a:rPr>
                              <m:t>2</m:t>
                            </m:r>
                          </m:sup>
                        </m:sSubSup>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SimSun" panose="02010600030101010101" pitchFamily="2" charset="-122"/>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,说明小球的速度均匀变化.</a:t>
                </a:r>
                <a:endParaRPr lang="en-US" altLang="zh-CN" sz="2400" dirty="0"/>
              </a:p>
            </p:txBody>
          </p:sp>
        </mc:Choice>
        <mc:Fallback>
          <p:sp>
            <p:nvSpPr>
              <p:cNvPr id="2" name="P_5_BD#803de408e?vcp=1&amp;pid=2f2768b41&amp;color=0,0,0&amp;vtp=1&amp;bt=1&amp;bbb=1&amp;hb=1"/>
              <p:cNvSpPr>
                <a:spLocks noRot="1" noChangeAspect="1" noMove="1" noResize="1" noEditPoints="1" noAdjustHandles="1" noChangeArrowheads="1" noChangeShapeType="1" noTextEdit="1"/>
              </p:cNvSpPr>
              <p:nvPr/>
            </p:nvSpPr>
            <p:spPr>
              <a:xfrm>
                <a:off x="393192" y="1126585"/>
                <a:ext cx="11402568" cy="2286000"/>
              </a:xfrm>
              <a:prstGeom prst="rect">
                <a:avLst/>
              </a:prstGeom>
              <a:blipFill>
                <a:blip r:embed="rId3"/>
                <a:stretch>
                  <a:fillRect l="-1658" r="-1230" b="-1867"/>
                </a:stretch>
              </a:blipFill>
              <a:ln/>
            </p:spPr>
            <p:txBody>
              <a:bodyPr/>
              <a:lstStyle/>
              <a:p>
                <a:r>
                  <a:rPr lang="zh-CN" altLang="en-US">
                    <a:noFill/>
                  </a:rPr>
                  <a:t> </a:t>
                </a:r>
              </a:p>
            </p:txBody>
          </p:sp>
        </mc:Fallback>
      </mc:AlternateContent>
      <p:pic>
        <p:nvPicPr>
          <p:cNvPr id="3" name="P_5_BD#803de408e?htil=1&amp;vcp=1&amp;pid=2f2768b41&amp;color=0,0,0&amp;tib=255,255,255&amp;vtp=1&amp;hs=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9447176" y="3465290"/>
            <a:ext cx="2276856" cy="155448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4" name="P_5_BD#803de408e?htil=1&amp;vcp=1&amp;pid=2f2768b41&amp;color=0,0,0&amp;vtp=1&amp;bbb=1&amp;hb=1"/>
              <p:cNvSpPr/>
              <p:nvPr/>
            </p:nvSpPr>
            <p:spPr>
              <a:xfrm>
                <a:off x="393192" y="3419570"/>
                <a:ext cx="8988552"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（3）如果不断加大斜面的倾角</a:t>
                </a:r>
                <a:r>
                  <a:rPr lang="en-US" altLang="zh-CN" sz="2400" b="0" i="0">
                    <a:solidFill>
                      <a:srgbClr val="000000"/>
                    </a:solidFill>
                    <a:latin typeface="Times New Roman" pitchFamily="34" charset="0"/>
                    <a:ea typeface="微软雅黑" pitchFamily="34" charset="-122"/>
                    <a:cs typeface="Times New Roman" pitchFamily="34" charset="-120"/>
                  </a:rPr>
                  <a:t>，小球对于每一个特定的倾角</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从不同高度滚下</a:t>
                </a:r>
                <a:r>
                  <a:rPr lang="en-US" altLang="zh-CN" sz="2400" b="0" i="0" dirty="0">
                    <a:solidFill>
                      <a:srgbClr val="000000"/>
                    </a:solidFill>
                    <a:latin typeface="Times New Roman" pitchFamily="34" charset="0"/>
                    <a:ea typeface="微软雅黑" pitchFamily="34" charset="-122"/>
                    <a:cs typeface="Times New Roman" pitchFamily="34" charset="-120"/>
                  </a:rPr>
                  <a:t>，其比值仍然保持不变</a:t>
                </a:r>
                <a:r>
                  <a:rPr lang="en-US" altLang="zh-CN" sz="2400" b="0" i="0">
                    <a:solidFill>
                      <a:srgbClr val="000000"/>
                    </a:solidFill>
                    <a:latin typeface="Times New Roman" pitchFamily="34" charset="0"/>
                    <a:ea typeface="微软雅黑" pitchFamily="34" charset="-122"/>
                    <a:cs typeface="Times New Roman" pitchFamily="34" charset="-120"/>
                  </a:rPr>
                  <a:t>，则可以合理外推至倾角为</a:t>
                </a:r>
              </a:p>
              <a:p>
                <a:pPr latinLnBrk="1">
                  <a:lnSpc>
                    <a:spcPts val="4400"/>
                  </a:lnSpc>
                </a:pPr>
                <a14:m>
                  <m:oMath xmlns:m="http://schemas.openxmlformats.org/officeDocument/2006/math">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90</m:t>
                        </m:r>
                      </m:e>
                      <m:sup>
                        <m:r>
                          <a:rPr lang="en-US" altLang="zh-CN" sz="2400" b="0" i="0">
                            <a:solidFill>
                              <a:srgbClr val="000000"/>
                            </a:solidFill>
                            <a:latin typeface="Cambria Math" pitchFamily="34" charset="0"/>
                            <a:ea typeface="Cambria Math" pitchFamily="34" charset="-122"/>
                            <a:cs typeface="Cambria Math" pitchFamily="34" charset="-120"/>
                          </a:rPr>
                          <m:t>∘</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，即物体自由下落时，其比值也保持不变，如图所示.由此</a:t>
                </a:r>
                <a:r>
                  <a:rPr lang="en-US" altLang="zh-CN" sz="2400" b="0" i="0">
                    <a:solidFill>
                      <a:srgbClr val="000000"/>
                    </a:solidFill>
                    <a:latin typeface="Times New Roman" pitchFamily="34" charset="0"/>
                    <a:ea typeface="微软雅黑" pitchFamily="34" charset="-122"/>
                    <a:cs typeface="Times New Roman" pitchFamily="34" charset="-120"/>
                  </a:rPr>
                  <a:t>，伽</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利略间接地验证了自由落体运动是匀变速直线运动</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4" name="P_5_BD#803de408e?htil=1&amp;vcp=1&amp;pid=2f2768b41&amp;color=0,0,0&amp;vtp=1&amp;bbb=1&amp;hb=1"/>
              <p:cNvSpPr>
                <a:spLocks noRot="1" noChangeAspect="1" noMove="1" noResize="1" noEditPoints="1" noAdjustHandles="1" noChangeArrowheads="1" noChangeShapeType="1" noTextEdit="1"/>
              </p:cNvSpPr>
              <p:nvPr/>
            </p:nvSpPr>
            <p:spPr>
              <a:xfrm>
                <a:off x="393192" y="3419570"/>
                <a:ext cx="8988552" cy="2155000"/>
              </a:xfrm>
              <a:prstGeom prst="rect">
                <a:avLst/>
              </a:prstGeom>
              <a:blipFill>
                <a:blip r:embed="rId5"/>
                <a:stretch>
                  <a:fillRect l="-2103" r="-1153" b="-8499"/>
                </a:stretch>
              </a:blipFill>
              <a:ln/>
            </p:spPr>
            <p:txBody>
              <a:bodyPr/>
              <a:lstStyle/>
              <a:p>
                <a:r>
                  <a:rPr lang="zh-CN" altLang="en-US">
                    <a:noFill/>
                  </a:rPr>
                  <a:t> </a:t>
                </a:r>
              </a:p>
            </p:txBody>
          </p:sp>
        </mc:Fallback>
      </mc:AlternateContent>
    </p:spTree>
  </p:cSld>
  <p:clrMapOvr>
    <a:masterClrMapping/>
  </p:clrMapOvr>
  <p:transition>
    <p:split dir="in"/>
  </p:transition>
</p:sld>
</file>

<file path=ppt/slides/slide7.xml><?xml version="1.0" encoding="utf-8"?>
<p:sld xmlns:a="http://schemas.openxmlformats.org/drawingml/2006/main" xmlns:r="http://schemas.openxmlformats.org/officeDocument/2006/relationships" xmlns:p="http://schemas.openxmlformats.org/presentationml/2006/main">
  <p:cSld name="Slide 7&amp;si=7">
    <p:spTree>
      <p:nvGrpSpPr>
        <p:cNvPr id="1" name=""/>
        <p:cNvGrpSpPr/>
        <p:nvPr/>
      </p:nvGrpSpPr>
      <p:grpSpPr>
        <a:xfrm>
          <a:off x="0" y="0"/>
          <a:ext cx="0" cy="0"/>
          <a:chOff x="0" y="0"/>
          <a:chExt cx="0" cy="0"/>
        </a:xfrm>
      </p:grpSpPr>
      <p:sp>
        <p:nvSpPr>
          <p:cNvPr id="2" name="QC_5_BD.1_1#6fe544f4e?vcp=1&amp;pid=2f2768b41&amp;color=0,0,0&amp;vtp=1&amp;bt=1&amp;bbb=1&amp;hb=1"/>
          <p:cNvSpPr/>
          <p:nvPr/>
        </p:nvSpPr>
        <p:spPr>
          <a:xfrm>
            <a:off x="393192" y="1513872"/>
            <a:ext cx="11402568" cy="15921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考题1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（多选题）伽利略对自由落体运动的研究，</a:t>
            </a:r>
            <a:r>
              <a:rPr lang="en-US" altLang="zh-CN" sz="2400" b="0" i="0">
                <a:solidFill>
                  <a:srgbClr val="000000"/>
                </a:solidFill>
                <a:latin typeface="Times New Roman" pitchFamily="34" charset="0"/>
                <a:ea typeface="微软雅黑" pitchFamily="34" charset="-122"/>
                <a:cs typeface="Times New Roman" pitchFamily="34" charset="-120"/>
              </a:rPr>
              <a:t>是科学实验和逻辑思维的完美结合，</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如图所示</a:t>
            </a:r>
            <a:r>
              <a:rPr lang="en-US" altLang="zh-CN" sz="2400" b="0" i="0" dirty="0">
                <a:solidFill>
                  <a:srgbClr val="000000"/>
                </a:solidFill>
                <a:latin typeface="Times New Roman" pitchFamily="34" charset="0"/>
                <a:ea typeface="微软雅黑" pitchFamily="34" charset="-122"/>
                <a:cs typeface="Times New Roman" pitchFamily="34" charset="-120"/>
              </a:rPr>
              <a:t>，可大致表示其实验和思维的过程.对这一过程的分析</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AN.2_1#6fe544f4e.bracket?vcp=1&amp;pid=2f2768b41&amp;color=0,0,0&amp;vpa=1&amp;vtp=1&amp;bbb=1"/>
          <p:cNvSpPr/>
          <p:nvPr/>
        </p:nvSpPr>
        <p:spPr>
          <a:xfrm>
            <a:off x="676560" y="2620042"/>
            <a:ext cx="661988"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AC</a:t>
            </a:r>
            <a:endParaRPr lang="en-US" altLang="zh-CN" sz="2400" dirty="0"/>
          </a:p>
        </p:txBody>
      </p:sp>
      <p:pic>
        <p:nvPicPr>
          <p:cNvPr id="4" name="QC_5_BD.1_2#6fe544f4e?htil=2&amp;vcp=1&amp;pid=2f2768b41&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8651553" y="3215798"/>
            <a:ext cx="2871216" cy="1664208"/>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5" name="QC_5_BD.1_3#6fe544f4e.choices?htil=2&amp;vcp=1&amp;pid=2f2768b41&amp;color=0,0,0&amp;vtp=1&amp;bbb=1"/>
          <p:cNvSpPr/>
          <p:nvPr/>
        </p:nvSpPr>
        <p:spPr>
          <a:xfrm>
            <a:off x="393192" y="3170078"/>
            <a:ext cx="8394192"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A.其中甲图是实验现象，丁图是经过合理的外推得到的结论</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.其中丁图是实验现象，甲图是经过合理的外推得到的结论</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.甲图的实验，可“冲淡”重力的作用，使实验现象更明显</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.丁图的实验，可“放大”重力的作用，使实验现象更明显</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5_AS.3_1#6fe544f4e?vcp=1&amp;pid=2f2768b41&amp;color=0,0,0&amp;vtp=1&amp;bt=1&amp;bbb=1&amp;hb=1"/>
              <p:cNvSpPr/>
              <p:nvPr/>
            </p:nvSpPr>
            <p:spPr>
              <a:xfrm>
                <a:off x="393192" y="2086705"/>
                <a:ext cx="11402568" cy="27138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根据伽利略对自由落体运动的研究过程可知，甲图是实验现象</a:t>
                </a:r>
                <a:r>
                  <a:rPr lang="en-US" altLang="zh-CN" sz="2400" b="1" i="0">
                    <a:solidFill>
                      <a:srgbClr val="FF0000"/>
                    </a:solidFill>
                    <a:latin typeface="Times New Roman" pitchFamily="34" charset="0"/>
                    <a:ea typeface="微软雅黑" pitchFamily="34" charset="-122"/>
                    <a:cs typeface="Times New Roman" pitchFamily="34" charset="-120"/>
                  </a:rPr>
                  <a:t>，然后将斜面倾</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角逐渐加大</a:t>
                </a:r>
                <a:r>
                  <a:rPr lang="en-US" altLang="zh-CN" sz="2400" b="1" i="0" dirty="0">
                    <a:solidFill>
                      <a:srgbClr val="FF0000"/>
                    </a:solidFill>
                    <a:latin typeface="Times New Roman" pitchFamily="34" charset="0"/>
                    <a:ea typeface="微软雅黑" pitchFamily="34" charset="-122"/>
                    <a:cs typeface="Times New Roman" pitchFamily="34" charset="-120"/>
                  </a:rPr>
                  <a:t>，再进行合理的外推，外推到倾角是</a:t>
                </a:r>
                <a14:m>
                  <m:oMath xmlns:m="http://schemas.openxmlformats.org/officeDocument/2006/math">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𝟗𝟎</m:t>
                        </m:r>
                      </m:e>
                      <m:sup>
                        <m:r>
                          <a:rPr lang="en-US" altLang="zh-CN" sz="2400" b="1" i="0">
                            <a:solidFill>
                              <a:srgbClr val="FF0000"/>
                            </a:solidFill>
                            <a:latin typeface="Cambria Math" pitchFamily="34" charset="0"/>
                            <a:ea typeface="Cambria Math" pitchFamily="34" charset="-122"/>
                            <a:cs typeface="Cambria Math" pitchFamily="34" charset="-120"/>
                          </a:rPr>
                          <m:t>∘</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时的情况</a:t>
                </a:r>
                <a:r>
                  <a:rPr lang="en-US" altLang="zh-CN" sz="2400" b="1" i="0">
                    <a:solidFill>
                      <a:srgbClr val="FF0000"/>
                    </a:solidFill>
                    <a:latin typeface="Times New Roman" pitchFamily="34" charset="0"/>
                    <a:ea typeface="微软雅黑" pitchFamily="34" charset="-122"/>
                    <a:cs typeface="Times New Roman" pitchFamily="34" charset="-120"/>
                  </a:rPr>
                  <a:t>，故丁图是经过合理外</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推得到的结论</a:t>
                </a:r>
                <a:r>
                  <a:rPr lang="en-US" altLang="zh-CN" sz="2400" b="1" i="0" dirty="0">
                    <a:solidFill>
                      <a:srgbClr val="FF0000"/>
                    </a:solidFill>
                    <a:latin typeface="Times New Roman" pitchFamily="34" charset="0"/>
                    <a:ea typeface="微软雅黑" pitchFamily="34" charset="-122"/>
                    <a:cs typeface="Times New Roman" pitchFamily="34" charset="-120"/>
                  </a:rPr>
                  <a:t>；甲图的实验，可“冲淡”重力的作用，使实验现象更明显，</a:t>
                </a:r>
                <a:r>
                  <a:rPr lang="en-US" altLang="zh-CN" sz="2400" b="1" i="0">
                    <a:solidFill>
                      <a:srgbClr val="FF0000"/>
                    </a:solidFill>
                    <a:latin typeface="Times New Roman" pitchFamily="34" charset="0"/>
                    <a:ea typeface="微软雅黑" pitchFamily="34" charset="-122"/>
                    <a:cs typeface="Times New Roman" pitchFamily="34" charset="-120"/>
                  </a:rPr>
                  <a:t>丁图的实验，</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小球实际上是在重力的作用下下落</a:t>
                </a:r>
                <a:r>
                  <a:rPr lang="en-US" altLang="zh-CN" sz="2400" b="1" i="0" dirty="0">
                    <a:solidFill>
                      <a:srgbClr val="FF0000"/>
                    </a:solidFill>
                    <a:latin typeface="Times New Roman" pitchFamily="34" charset="0"/>
                    <a:ea typeface="微软雅黑" pitchFamily="34" charset="-122"/>
                    <a:cs typeface="Times New Roman" pitchFamily="34" charset="-120"/>
                  </a:rPr>
                  <a:t>，并没有“放大”重力的作用，故选项A、C正确，</a:t>
                </a:r>
                <a:r>
                  <a:rPr lang="en-US" altLang="zh-CN" sz="2400" b="1" i="0">
                    <a:solidFill>
                      <a:srgbClr val="FF0000"/>
                    </a:solidFill>
                    <a:latin typeface="Times New Roman" pitchFamily="34" charset="0"/>
                    <a:ea typeface="微软雅黑" pitchFamily="34" charset="-122"/>
                    <a:cs typeface="Times New Roman" pitchFamily="34" charset="-120"/>
                  </a:rPr>
                  <a:t>B、</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D</a:t>
                </a:r>
                <a:r>
                  <a:rPr lang="en-US" altLang="zh-CN" sz="2400" b="1" i="0" dirty="0">
                    <a:solidFill>
                      <a:srgbClr val="FF0000"/>
                    </a:solidFill>
                    <a:latin typeface="Times New Roman" pitchFamily="34" charset="0"/>
                    <a:ea typeface="微软雅黑" pitchFamily="34" charset="-122"/>
                    <a:cs typeface="Times New Roman" pitchFamily="34" charset="-120"/>
                  </a:rPr>
                  <a:t>错误.</a:t>
                </a:r>
                <a:endParaRPr lang="en-US" altLang="zh-CN" sz="2400" dirty="0"/>
              </a:p>
            </p:txBody>
          </p:sp>
        </mc:Choice>
        <mc:Fallback>
          <p:sp>
            <p:nvSpPr>
              <p:cNvPr id="2" name="QC_5_AS.3_1#6fe544f4e?vcp=1&amp;pid=2f2768b41&amp;color=0,0,0&amp;vtp=1&amp;bt=1&amp;bbb=1&amp;hb=1"/>
              <p:cNvSpPr>
                <a:spLocks noRot="1" noChangeAspect="1" noMove="1" noResize="1" noEditPoints="1" noAdjustHandles="1" noChangeArrowheads="1" noChangeShapeType="1" noTextEdit="1"/>
              </p:cNvSpPr>
              <p:nvPr/>
            </p:nvSpPr>
            <p:spPr>
              <a:xfrm>
                <a:off x="393192" y="2086705"/>
                <a:ext cx="11402568" cy="2713800"/>
              </a:xfrm>
              <a:prstGeom prst="rect">
                <a:avLst/>
              </a:prstGeom>
              <a:blipFill>
                <a:blip r:embed="rId3"/>
                <a:stretch>
                  <a:fillRect l="-1658" r="-3529" b="-6742"/>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p:sp>
        <p:nvSpPr>
          <p:cNvPr id="2" name="QO_5_BD.4_1#c6040f706?vcp=1&amp;pid=2f2768b41&amp;color=0,0,0&amp;vtp=1&amp;bt=1&amp;bbb=1&amp;hb=1"/>
          <p:cNvSpPr/>
          <p:nvPr/>
        </p:nvSpPr>
        <p:spPr>
          <a:xfrm>
            <a:off x="393192" y="949706"/>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变式1-1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（北京高考题节选）</a:t>
            </a:r>
            <a:r>
              <a:rPr lang="en-US" altLang="zh-CN" sz="2400" b="0" i="0" dirty="0">
                <a:solidFill>
                  <a:srgbClr val="000000"/>
                </a:solidFill>
                <a:latin typeface="Times New Roman" pitchFamily="34" charset="0"/>
                <a:ea typeface="微软雅黑" pitchFamily="34" charset="-122"/>
                <a:cs typeface="Times New Roman" pitchFamily="34" charset="-120"/>
              </a:rPr>
              <a:t>早在16世纪末</a:t>
            </a:r>
            <a:r>
              <a:rPr lang="en-US" altLang="zh-CN" sz="2400" b="0" i="0">
                <a:solidFill>
                  <a:srgbClr val="000000"/>
                </a:solidFill>
                <a:latin typeface="Times New Roman" pitchFamily="34" charset="0"/>
                <a:ea typeface="微软雅黑" pitchFamily="34" charset="-122"/>
                <a:cs typeface="Times New Roman" pitchFamily="34" charset="-120"/>
              </a:rPr>
              <a:t>，伽利略就猜想落体运动的速度应该是均</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匀变化的</a:t>
            </a:r>
            <a:r>
              <a:rPr lang="en-US" altLang="zh-CN" sz="2400" b="0" i="0" dirty="0">
                <a:solidFill>
                  <a:srgbClr val="000000"/>
                </a:solidFill>
                <a:latin typeface="Times New Roman" pitchFamily="34" charset="0"/>
                <a:ea typeface="微软雅黑" pitchFamily="34" charset="-122"/>
                <a:cs typeface="Times New Roman" pitchFamily="34" charset="-120"/>
              </a:rPr>
              <a:t>.当时只能靠滴水计时，为此他设计了如图所示的“斜面实验</a:t>
            </a:r>
            <a:r>
              <a:rPr lang="en-US" altLang="zh-CN" sz="2400" b="0" i="0">
                <a:solidFill>
                  <a:srgbClr val="000000"/>
                </a:solidFill>
                <a:latin typeface="Times New Roman" pitchFamily="34" charset="0"/>
                <a:ea typeface="微软雅黑" pitchFamily="34" charset="-122"/>
                <a:cs typeface="Times New Roman" pitchFamily="34" charset="-120"/>
              </a:rPr>
              <a:t>”，反复做了上百</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次</a:t>
            </a:r>
            <a:r>
              <a:rPr lang="en-US" altLang="zh-CN" sz="2400" b="0" i="0" dirty="0">
                <a:solidFill>
                  <a:srgbClr val="000000"/>
                </a:solidFill>
                <a:latin typeface="Times New Roman" pitchFamily="34" charset="0"/>
                <a:ea typeface="微软雅黑" pitchFamily="34" charset="-122"/>
                <a:cs typeface="Times New Roman" pitchFamily="34" charset="-120"/>
              </a:rPr>
              <a:t>，验证了他的猜想.请你结合匀变速直线运动的知识，分析说明如何利用伽利略</a:t>
            </a:r>
            <a:r>
              <a:rPr lang="en-US" altLang="zh-CN" sz="2400" b="0" i="0">
                <a:solidFill>
                  <a:srgbClr val="000000"/>
                </a:solidFill>
                <a:latin typeface="Times New Roman" pitchFamily="34" charset="0"/>
                <a:ea typeface="微软雅黑" pitchFamily="34" charset="-122"/>
                <a:cs typeface="Times New Roman" pitchFamily="34" charset="-120"/>
              </a:rPr>
              <a:t>“斜</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面实验</a:t>
            </a:r>
            <a:r>
              <a:rPr lang="en-US" altLang="zh-CN" sz="2400" b="0" i="0" dirty="0">
                <a:solidFill>
                  <a:srgbClr val="000000"/>
                </a:solidFill>
                <a:latin typeface="Times New Roman" pitchFamily="34" charset="0"/>
                <a:ea typeface="微软雅黑" pitchFamily="34" charset="-122"/>
                <a:cs typeface="Times New Roman" pitchFamily="34" charset="-120"/>
              </a:rPr>
              <a:t>”检验小球的速度是随时间均匀变化的.</a:t>
            </a:r>
            <a:endParaRPr lang="en-US" altLang="zh-CN" sz="2400" dirty="0"/>
          </a:p>
        </p:txBody>
      </p:sp>
      <p:pic>
        <p:nvPicPr>
          <p:cNvPr id="3" name="QO_5_BD.4_2#c6040f706?vcp=1&amp;pid=2f2768b41&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4764024" y="3216402"/>
            <a:ext cx="2660904" cy="713232"/>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4" name="QO_5_AN.5_1#c6040f706?vcp=1&amp;pid=2f2768b41&amp;color=0,0,0&amp;vtp=1&amp;bbb=1&amp;hb=1"/>
              <p:cNvSpPr/>
              <p:nvPr/>
            </p:nvSpPr>
            <p:spPr>
              <a:xfrm>
                <a:off x="393192" y="4067302"/>
                <a:ext cx="11402568" cy="1634300"/>
              </a:xfrm>
              <a:prstGeom prst="rect">
                <a:avLst/>
              </a:prstGeom>
              <a:noFill/>
              <a:ln/>
            </p:spPr>
            <p:txBody>
              <a:bodyPr wrap="none" lIns="0" tIns="0" rIns="0" bIns="0" rtlCol="0" anchor="t"/>
              <a:lstStyle/>
              <a:p>
                <a:pPr algn="l" latinLnBrk="1">
                  <a:lnSpc>
                    <a:spcPts val="4600"/>
                  </a:lnSpc>
                </a:pPr>
                <a:r>
                  <a:rPr lang="en-US" altLang="zh-CN" sz="2400" b="1" i="0" dirty="0">
                    <a:solidFill>
                      <a:srgbClr val="FF0000"/>
                    </a:solidFill>
                    <a:latin typeface="Times New Roman" pitchFamily="34" charset="0"/>
                    <a:ea typeface="微软雅黑" pitchFamily="34" charset="-122"/>
                    <a:cs typeface="Times New Roman" pitchFamily="34" charset="-120"/>
                  </a:rPr>
                  <a:t>[答案]</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如果小球的初速度为0，其速度</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𝒗</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𝒕</m:t>
                    </m:r>
                  </m:oMath>
                </a14:m>
                <a:r>
                  <a:rPr lang="en-US" altLang="zh-CN" sz="2400" b="1" i="0" dirty="0">
                    <a:solidFill>
                      <a:srgbClr val="FF0000"/>
                    </a:solidFill>
                    <a:latin typeface="Times New Roman" pitchFamily="34" charset="0"/>
                    <a:ea typeface="微软雅黑" pitchFamily="34" charset="-122"/>
                    <a:cs typeface="Times New Roman" pitchFamily="34" charset="-120"/>
                  </a:rPr>
                  <a:t>，那么它通过的位移</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𝒗</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𝒕</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，故推出</a:t>
                </a:r>
              </a:p>
              <a:p>
                <a:pPr latinLnBrk="1">
                  <a:lnSpc>
                    <a:spcPts val="45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.因此，只要测量小球通过不同位移所用的时间</a:t>
                </a:r>
                <a:r>
                  <a:rPr lang="en-US" altLang="zh-CN" sz="2400" b="1" i="0">
                    <a:solidFill>
                      <a:srgbClr val="FF0000"/>
                    </a:solidFill>
                    <a:latin typeface="Times New Roman" pitchFamily="34" charset="0"/>
                    <a:ea typeface="微软雅黑" pitchFamily="34" charset="-122"/>
                    <a:cs typeface="Times New Roman" pitchFamily="34" charset="-120"/>
                  </a:rPr>
                  <a:t>，就可以检验小球的速度是否随</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时间均匀变化</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4" name="QO_5_AN.5_1#c6040f706?vcp=1&amp;pid=2f2768b41&amp;color=0,0,0&amp;vtp=1&amp;bbb=1&amp;hb=1"/>
              <p:cNvSpPr>
                <a:spLocks noRot="1" noChangeAspect="1" noMove="1" noResize="1" noEditPoints="1" noAdjustHandles="1" noChangeArrowheads="1" noChangeShapeType="1" noTextEdit="1"/>
              </p:cNvSpPr>
              <p:nvPr/>
            </p:nvSpPr>
            <p:spPr>
              <a:xfrm>
                <a:off x="393192" y="4067302"/>
                <a:ext cx="11402568" cy="1634300"/>
              </a:xfrm>
              <a:prstGeom prst="rect">
                <a:avLst/>
              </a:prstGeom>
              <a:blipFill>
                <a:blip r:embed="rId4"/>
                <a:stretch>
                  <a:fillRect l="-1658" r="-535" b="-1119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wipe(left)">
                                      <p:cBhvr>
                                        <p:cTn id="13" dur="500"/>
                                        <p:tgtEl>
                                          <p:spTgt spid="4">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wipe(left)">
                                      <p:cBhvr>
                                        <p:cTn id="16"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p:sp>
        <p:nvSpPr>
          <p:cNvPr id="2" name="P_5_BD#ce0ff689e?vcp=1&amp;pid=2f2768b41&amp;color=0,0,0&amp;vtp=1&amp;bt=1&amp;bbb=1"/>
          <p:cNvSpPr/>
          <p:nvPr/>
        </p:nvSpPr>
        <p:spPr>
          <a:xfrm>
            <a:off x="393192" y="504000"/>
            <a:ext cx="11402568" cy="1417574"/>
          </a:xfrm>
          <a:prstGeom prst="rect">
            <a:avLst/>
          </a:prstGeom>
          <a:noFill/>
          <a:ln/>
        </p:spPr>
        <p:txBody>
          <a:bodyPr wrap="none" lIns="0" tIns="0" rIns="0" bIns="0" rtlCol="0" anchor="t"/>
          <a:lstStyle/>
          <a:p>
            <a:pPr algn="l" latinLnBrk="1">
              <a:lnSpc>
                <a:spcPts val="3900"/>
              </a:lnSpc>
            </a:pPr>
            <a:r>
              <a:rPr lang="en-US" altLang="zh-CN" sz="2400" b="1" i="0" dirty="0">
                <a:solidFill>
                  <a:srgbClr val="000000"/>
                </a:solidFill>
                <a:latin typeface="Times New Roman" pitchFamily="34" charset="0"/>
                <a:ea typeface="微软雅黑" pitchFamily="34" charset="-122"/>
                <a:cs typeface="Times New Roman" pitchFamily="34" charset="-120"/>
              </a:rPr>
              <a:t>教材拓展</a:t>
            </a:r>
            <a:endParaRPr lang="en-US" altLang="zh-CN" sz="2400" dirty="0"/>
          </a:p>
          <a:p>
            <a:pPr algn="ctr" latinLnBrk="1">
              <a:lnSpc>
                <a:spcPts val="3900"/>
              </a:lnSpc>
            </a:pPr>
            <a:r>
              <a:rPr lang="en-US" altLang="zh-CN" sz="2400" b="1" i="0">
                <a:solidFill>
                  <a:srgbClr val="000000"/>
                </a:solidFill>
                <a:latin typeface="Times New Roman" pitchFamily="34" charset="0"/>
                <a:ea typeface="微软雅黑" pitchFamily="34" charset="-122"/>
                <a:cs typeface="Times New Roman" pitchFamily="34" charset="-120"/>
              </a:rPr>
              <a:t>伽利略的科学方法</a:t>
            </a:r>
            <a:endParaRPr lang="en-US" altLang="zh-CN" sz="2400" dirty="0"/>
          </a:p>
          <a:p>
            <a:pPr latinLnBrk="1">
              <a:lnSpc>
                <a:spcPts val="37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.伽利略科学方法的基本要素</a:t>
            </a:r>
            <a:endParaRPr lang="en-US" altLang="zh-CN" sz="2400" dirty="0"/>
          </a:p>
        </p:txBody>
      </p:sp>
      <p:pic>
        <p:nvPicPr>
          <p:cNvPr id="3" name="P_5_BD#ce0ff689e?vcp=1&amp;pid=2f2768b41&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4828032" y="2054733"/>
            <a:ext cx="2532888" cy="1655064"/>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4" name="P_5_BD#ce0ff689e?vcp=1&amp;pid=2f2768b41&amp;color=0,0,0&amp;vtp=1&amp;bbb=1&amp;hb=1"/>
          <p:cNvSpPr/>
          <p:nvPr/>
        </p:nvSpPr>
        <p:spPr>
          <a:xfrm>
            <a:off x="393192" y="3845433"/>
            <a:ext cx="11402568" cy="2421700"/>
          </a:xfrm>
          <a:prstGeom prst="rect">
            <a:avLst/>
          </a:prstGeom>
          <a:noFill/>
          <a:ln/>
        </p:spPr>
        <p:txBody>
          <a:bodyPr wrap="none" lIns="0" tIns="0" rIns="0" bIns="0" rtlCol="0" anchor="t"/>
          <a:lstStyle/>
          <a:p>
            <a:pPr algn="l" latinLnBrk="1">
              <a:lnSpc>
                <a:spcPts val="39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2.伽利略科学方法的意义</a:t>
            </a:r>
            <a:endParaRPr lang="en-US" altLang="zh-CN" sz="2400" dirty="0"/>
          </a:p>
          <a:p>
            <a:pPr latinLnBrk="1">
              <a:lnSpc>
                <a:spcPts val="39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1）伽利略第一次把实验和逻辑推理（包括数学演算）和谐地结合起来</a:t>
            </a:r>
            <a:r>
              <a:rPr lang="en-US" altLang="zh-CN" sz="2400" b="0" i="0">
                <a:solidFill>
                  <a:srgbClr val="000000"/>
                </a:solidFill>
                <a:latin typeface="Times New Roman" pitchFamily="34" charset="0"/>
                <a:ea typeface="微软雅黑" pitchFamily="34" charset="-122"/>
                <a:cs typeface="Times New Roman" pitchFamily="34" charset="-120"/>
              </a:rPr>
              <a:t>，从而</a:t>
            </a:r>
          </a:p>
          <a:p>
            <a:pPr latinLnBrk="1">
              <a:lnSpc>
                <a:spcPts val="3900"/>
              </a:lnSpc>
            </a:pPr>
            <a:r>
              <a:rPr lang="en-US" altLang="zh-CN" sz="2400" b="0" i="0">
                <a:solidFill>
                  <a:srgbClr val="000000"/>
                </a:solidFill>
                <a:latin typeface="Times New Roman" pitchFamily="34" charset="0"/>
                <a:ea typeface="微软雅黑" pitchFamily="34" charset="-122"/>
                <a:cs typeface="Times New Roman" pitchFamily="34" charset="-120"/>
              </a:rPr>
              <a:t>发展了人类的科学思维方法和科学研究方法</a:t>
            </a:r>
            <a:r>
              <a:rPr lang="en-US" altLang="zh-CN" sz="2400" b="0" i="0" dirty="0">
                <a:solidFill>
                  <a:srgbClr val="000000"/>
                </a:solidFill>
                <a:latin typeface="Times New Roman" pitchFamily="34" charset="0"/>
                <a:ea typeface="微软雅黑" pitchFamily="34" charset="-122"/>
                <a:cs typeface="Times New Roman" pitchFamily="34" charset="-120"/>
              </a:rPr>
              <a:t>，打开了近代科学的大门.</a:t>
            </a:r>
            <a:endParaRPr lang="en-US" altLang="zh-CN" sz="2400" dirty="0"/>
          </a:p>
          <a:p>
            <a:pPr latinLnBrk="1">
              <a:lnSpc>
                <a:spcPts val="39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2）伽利略的发现以及他所应用的科学的推理方法</a:t>
            </a:r>
            <a:r>
              <a:rPr lang="en-US" altLang="zh-CN" sz="2400" b="0" i="0">
                <a:solidFill>
                  <a:srgbClr val="000000"/>
                </a:solidFill>
                <a:latin typeface="Times New Roman" pitchFamily="34" charset="0"/>
                <a:ea typeface="微软雅黑" pitchFamily="34" charset="-122"/>
                <a:cs typeface="Times New Roman" pitchFamily="34" charset="-120"/>
              </a:rPr>
              <a:t>，是人类思想史上最伟大的</a:t>
            </a:r>
          </a:p>
          <a:p>
            <a:pPr latinLnBrk="1">
              <a:lnSpc>
                <a:spcPts val="3800"/>
              </a:lnSpc>
            </a:pPr>
            <a:r>
              <a:rPr lang="en-US" altLang="zh-CN" sz="2400" b="0" i="0">
                <a:solidFill>
                  <a:srgbClr val="000000"/>
                </a:solidFill>
                <a:latin typeface="Times New Roman" pitchFamily="34" charset="0"/>
                <a:ea typeface="微软雅黑" pitchFamily="34" charset="-122"/>
                <a:cs typeface="Times New Roman" pitchFamily="34" charset="-120"/>
              </a:rPr>
              <a:t>成就之一</a:t>
            </a:r>
            <a:r>
              <a:rPr lang="en-US" altLang="zh-CN" sz="2400" b="0" i="0" dirty="0">
                <a:solidFill>
                  <a:srgbClr val="000000"/>
                </a:solidFill>
                <a:latin typeface="Times New Roman" pitchFamily="34" charset="0"/>
                <a:ea typeface="微软雅黑" pitchFamily="34" charset="-122"/>
                <a:cs typeface="Times New Roman" pitchFamily="34" charset="-120"/>
              </a:rPr>
              <a:t>，而且标志着物理学的真正开端.</a:t>
            </a:r>
            <a:endParaRPr lang="en-US" altLang="zh-CN" sz="2400" dirty="0"/>
          </a:p>
        </p:txBody>
      </p:sp>
    </p:spTree>
  </p:cSld>
  <p:clrMapOvr>
    <a:masterClrMapping/>
  </p:clrMapOvr>
  <p:transition>
    <p:split dir="in"/>
  </p:transition>
</p:sld>
</file>

<file path=ppt/slides/slide11.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P_5_BD#ce0ff689e?vcp=1&amp;pid=2f2768b41&amp;color=0,0,0&amp;vtp=1&amp;bt=1&amp;bbb=1&amp;hb=1"/>
              <p:cNvSpPr/>
              <p:nvPr/>
            </p:nvSpPr>
            <p:spPr>
              <a:xfrm>
                <a:off x="393192" y="1251045"/>
                <a:ext cx="11402568" cy="43902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教材拓展</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伽利略实验的设计之妙</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在伽利略之前的学者们总是通过思辨性的论战来决定谁是谁非，而伽利略则首先</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采用以实验验证猜想和假设的科学方法</a:t>
                </a:r>
                <a:r>
                  <a:rPr lang="en-US" altLang="zh-CN" sz="2400" b="0" i="0" dirty="0">
                    <a:solidFill>
                      <a:srgbClr val="000000"/>
                    </a:solidFill>
                    <a:latin typeface="Times New Roman" pitchFamily="34" charset="0"/>
                    <a:ea typeface="微软雅黑" pitchFamily="34" charset="-122"/>
                    <a:cs typeface="Times New Roman" pitchFamily="34" charset="-120"/>
                  </a:rPr>
                  <a:t>.然而由于当时实验技术不够发达</a:t>
                </a:r>
                <a:r>
                  <a:rPr lang="en-US" altLang="zh-CN" sz="2400" b="0" i="0">
                    <a:solidFill>
                      <a:srgbClr val="000000"/>
                    </a:solidFill>
                    <a:latin typeface="Times New Roman" pitchFamily="34" charset="0"/>
                    <a:ea typeface="微软雅黑" pitchFamily="34" charset="-122"/>
                    <a:cs typeface="Times New Roman" pitchFamily="34" charset="-120"/>
                  </a:rPr>
                  <a:t>，无法直接测</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定瞬时速度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oMath>
                </a14:m>
                <a:r>
                  <a:rPr lang="en-US" altLang="zh-CN" sz="2400" b="0" i="0" dirty="0">
                    <a:solidFill>
                      <a:srgbClr val="000000"/>
                    </a:solidFill>
                    <a:latin typeface="Times New Roman" pitchFamily="34" charset="0"/>
                    <a:ea typeface="微软雅黑" pitchFamily="34" charset="-122"/>
                    <a:cs typeface="Times New Roman" pitchFamily="34" charset="-120"/>
                  </a:rPr>
                  <a:t>从而证明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𝑡</m:t>
                    </m:r>
                  </m:oMath>
                </a14:m>
                <a:r>
                  <a:rPr lang="en-US" altLang="zh-CN" sz="2400" b="0" i="0" dirty="0">
                    <a:solidFill>
                      <a:srgbClr val="000000"/>
                    </a:solidFill>
                    <a:latin typeface="Times New Roman" pitchFamily="34" charset="0"/>
                    <a:ea typeface="微软雅黑" pitchFamily="34" charset="-122"/>
                    <a:cs typeface="Times New Roman" pitchFamily="34" charset="-120"/>
                  </a:rPr>
                  <a:t>成正比.通过数学运算可知，若</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𝑡</m:t>
                    </m:r>
                  </m:oMath>
                </a14:m>
                <a:r>
                  <a:rPr lang="en-US" altLang="zh-CN" sz="2400" b="0" i="0" dirty="0">
                    <a:solidFill>
                      <a:srgbClr val="000000"/>
                    </a:solidFill>
                    <a:latin typeface="Times New Roman" pitchFamily="34" charset="0"/>
                    <a:ea typeface="微软雅黑" pitchFamily="34" charset="-122"/>
                    <a:cs typeface="Times New Roman" pitchFamily="34" charset="-120"/>
                  </a:rPr>
                  <a:t>,则有</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𝑡</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，这样</a:t>
                </a:r>
                <a:r>
                  <a:rPr lang="en-US" altLang="zh-CN" sz="2400" b="0" i="0">
                    <a:solidFill>
                      <a:srgbClr val="000000"/>
                    </a:solidFill>
                    <a:latin typeface="Times New Roman" pitchFamily="34" charset="0"/>
                    <a:ea typeface="微软雅黑" pitchFamily="34" charset="-122"/>
                    <a:cs typeface="Times New Roman" pitchFamily="34" charset="-120"/>
                  </a:rPr>
                  <a:t>，只</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要验证出物体通过的位移与时间的平方成正比即可</a:t>
                </a:r>
                <a:r>
                  <a:rPr lang="en-US" altLang="zh-CN" sz="2400" b="0" i="0" dirty="0">
                    <a:solidFill>
                      <a:srgbClr val="000000"/>
                    </a:solidFill>
                    <a:latin typeface="Times New Roman" pitchFamily="34" charset="0"/>
                    <a:ea typeface="微软雅黑" pitchFamily="34" charset="-122"/>
                    <a:cs typeface="Times New Roman" pitchFamily="34" charset="-120"/>
                  </a:rPr>
                  <a:t>.但是，物体下落较快</a:t>
                </a:r>
                <a:r>
                  <a:rPr lang="en-US" altLang="zh-CN" sz="2400" b="0" i="0">
                    <a:solidFill>
                      <a:srgbClr val="000000"/>
                    </a:solidFill>
                    <a:latin typeface="Times New Roman" pitchFamily="34" charset="0"/>
                    <a:ea typeface="微软雅黑" pitchFamily="34" charset="-122"/>
                    <a:cs typeface="Times New Roman" pitchFamily="34" charset="-120"/>
                  </a:rPr>
                  <a:t>，而当时只能</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靠滴水等节拍器计时</a:t>
                </a:r>
                <a:r>
                  <a:rPr lang="en-US" altLang="zh-CN" sz="2400" b="0" i="0" dirty="0">
                    <a:solidFill>
                      <a:srgbClr val="000000"/>
                    </a:solidFill>
                    <a:latin typeface="Times New Roman" pitchFamily="34" charset="0"/>
                    <a:ea typeface="微软雅黑" pitchFamily="34" charset="-122"/>
                    <a:cs typeface="Times New Roman" pitchFamily="34" charset="-120"/>
                  </a:rPr>
                  <a:t>，这样的计时工具还是不能测量自由落体运动所用的时间.</a:t>
                </a:r>
                <a:r>
                  <a:rPr lang="en-US" altLang="zh-CN" sz="2400" b="0" i="0">
                    <a:solidFill>
                      <a:srgbClr val="000000"/>
                    </a:solidFill>
                    <a:latin typeface="Times New Roman" pitchFamily="34" charset="0"/>
                    <a:ea typeface="微软雅黑" pitchFamily="34" charset="-122"/>
                    <a:cs typeface="Times New Roman" pitchFamily="34" charset="-120"/>
                  </a:rPr>
                  <a:t>为此，</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伽利略设计了一个斜面实验</a:t>
                </a:r>
                <a:r>
                  <a:rPr lang="en-US" altLang="zh-CN" sz="2400" b="0" i="0" dirty="0">
                    <a:solidFill>
                      <a:srgbClr val="000000"/>
                    </a:solidFill>
                    <a:latin typeface="Times New Roman" pitchFamily="34" charset="0"/>
                    <a:ea typeface="微软雅黑" pitchFamily="34" charset="-122"/>
                    <a:cs typeface="Times New Roman" pitchFamily="34" charset="-120"/>
                  </a:rPr>
                  <a:t>，使物体的运动速度变慢，解决了测量的难题.</a:t>
                </a:r>
                <a:endParaRPr lang="en-US" altLang="zh-CN" sz="2400" dirty="0"/>
              </a:p>
            </p:txBody>
          </p:sp>
        </mc:Choice>
        <mc:Fallback>
          <p:sp>
            <p:nvSpPr>
              <p:cNvPr id="2" name="P_5_BD#ce0ff689e?vcp=1&amp;pid=2f2768b41&amp;color=0,0,0&amp;vtp=1&amp;bt=1&amp;bbb=1&amp;hb=1"/>
              <p:cNvSpPr>
                <a:spLocks noRot="1" noChangeAspect="1" noMove="1" noResize="1" noEditPoints="1" noAdjustHandles="1" noChangeArrowheads="1" noChangeShapeType="1" noTextEdit="1"/>
              </p:cNvSpPr>
              <p:nvPr/>
            </p:nvSpPr>
            <p:spPr>
              <a:xfrm>
                <a:off x="393192" y="1251045"/>
                <a:ext cx="11402568" cy="4390200"/>
              </a:xfrm>
              <a:prstGeom prst="rect">
                <a:avLst/>
              </a:prstGeom>
              <a:blipFill>
                <a:blip r:embed="rId3"/>
                <a:stretch>
                  <a:fillRect l="-1658" r="-1283" b="-4167"/>
                </a:stretch>
              </a:blipFill>
              <a:ln/>
            </p:spPr>
            <p:txBody>
              <a:bodyPr/>
              <a:lstStyle/>
              <a:p>
                <a:r>
                  <a:rPr lang="zh-CN" altLang="en-US">
                    <a:noFill/>
                  </a:rPr>
                  <a:t> </a:t>
                </a:r>
              </a:p>
            </p:txBody>
          </p:sp>
        </mc:Fallback>
      </mc:AlternateContent>
    </p:spTree>
  </p:cSld>
  <p:clrMapOvr>
    <a:masterClrMapping/>
  </p:clrMapOvr>
  <p:transition>
    <p:split dir="in"/>
  </p:transition>
</p:sld>
</file>

<file path=ppt/slides/slide12.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p:pic>
        <p:nvPicPr>
          <p:cNvPr id="2" name="C_4#e982b2f02?vcp=1&amp;pid=f59f0646b&amp;color=0,0,0&amp;tib=255,255,255&amp;vtp=1&amp;bt=1" descr="preencoded.png"/>
          <p:cNvPicPr>
            <a:picLocks noChangeAspect="1"/>
          </p:cNvPicPr>
          <p:nvPr/>
        </p:nvPicPr>
        <p:blipFill>
          <a:blip r:embed="rId3"/>
          <a:stretch>
            <a:fillRect/>
          </a:stretch>
        </p:blipFill>
        <p:spPr>
          <a:xfrm>
            <a:off x="411480" y="502920"/>
            <a:ext cx="11320272" cy="457200"/>
          </a:xfrm>
          <a:prstGeom prst="rect">
            <a:avLst/>
          </a:prstGeom>
        </p:spPr>
      </p:pic>
      <p:sp>
        <p:nvSpPr>
          <p:cNvPr id="3" name="C_4_BD#e982b2f02?vcp=1&amp;pid=f59f0646b&amp;color=255,255,255&amp;vtp=1"/>
          <p:cNvSpPr/>
          <p:nvPr/>
        </p:nvSpPr>
        <p:spPr>
          <a:xfrm>
            <a:off x="1225296"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2</a:t>
            </a:r>
            <a:endParaRPr lang="en-US" altLang="zh-CN" sz="2800" dirty="0"/>
          </a:p>
        </p:txBody>
      </p:sp>
      <p:sp>
        <p:nvSpPr>
          <p:cNvPr id="4" name="C_4_BD#e982b2f02?vcp=1&amp;pid=f59f0646b&amp;color=0,0,0&amp;vtp=1&amp;bbb=1"/>
          <p:cNvSpPr/>
          <p:nvPr/>
        </p:nvSpPr>
        <p:spPr>
          <a:xfrm>
            <a:off x="1837944"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实验：研究自由落体运动的规律</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易错点</a:t>
            </a:r>
            <a:endParaRPr lang="en-US" altLang="zh-CN" sz="2600" dirty="0"/>
          </a:p>
        </p:txBody>
      </p:sp>
      <p:sp>
        <p:nvSpPr>
          <p:cNvPr id="5" name="P_5_BD#21d99677f?vcp=1&amp;pid=e982b2f02&amp;color=0,0,0&amp;vtp=1&amp;bbb=1&amp;hb=1"/>
          <p:cNvSpPr/>
          <p:nvPr/>
        </p:nvSpPr>
        <p:spPr>
          <a:xfrm>
            <a:off x="393192" y="1092200"/>
            <a:ext cx="11402568" cy="3831400"/>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.实验步骤</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1）把打点计时器固定在铁架台上，连接好电源.</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2）把纸带穿过两个限位孔，下端通过铁夹将重物和纸带连接起来</a:t>
            </a:r>
            <a:r>
              <a:rPr lang="en-US" altLang="zh-CN" sz="2400" b="0" i="0">
                <a:solidFill>
                  <a:srgbClr val="000000"/>
                </a:solidFill>
                <a:latin typeface="Times New Roman" pitchFamily="34" charset="0"/>
                <a:ea typeface="微软雅黑" pitchFamily="34" charset="-122"/>
                <a:cs typeface="Times New Roman" pitchFamily="34" charset="-120"/>
              </a:rPr>
              <a:t>，让重物靠</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近打点计时器</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3）用手捏住纸带上端，把纸带拉成竖直状态，先接通电源</a:t>
            </a:r>
            <a:r>
              <a:rPr lang="en-US" altLang="zh-CN" sz="2400" b="0" i="0">
                <a:solidFill>
                  <a:srgbClr val="000000"/>
                </a:solidFill>
                <a:latin typeface="Times New Roman" pitchFamily="34" charset="0"/>
                <a:ea typeface="微软雅黑" pitchFamily="34" charset="-122"/>
                <a:cs typeface="Times New Roman" pitchFamily="34" charset="-120"/>
              </a:rPr>
              <a:t>，再松开纸带让重</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物自由下落</a:t>
            </a:r>
            <a:r>
              <a:rPr lang="en-US" altLang="zh-CN" sz="2400" b="0" i="0" dirty="0">
                <a:solidFill>
                  <a:srgbClr val="000000"/>
                </a:solidFill>
                <a:latin typeface="Times New Roman" pitchFamily="34" charset="0"/>
                <a:ea typeface="微软雅黑" pitchFamily="34" charset="-122"/>
                <a:cs typeface="Times New Roman" pitchFamily="34" charset="-120"/>
              </a:rPr>
              <a:t>，重物落地后立即关闭电源,打点计时器在纸带上打下一系列的点.</a:t>
            </a:r>
            <a:endParaRPr lang="en-US" altLang="zh-CN" sz="2400" dirty="0"/>
          </a:p>
        </p:txBody>
      </p:sp>
    </p:spTree>
  </p:cSld>
  <p:clrMapOvr>
    <a:masterClrMapping/>
  </p:clrMapOvr>
  <p:transition>
    <p:split dir="in"/>
  </p:transition>
</p:sld>
</file>

<file path=ppt/slides/slide13.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p:sp>
        <p:nvSpPr>
          <p:cNvPr id="2" name="P_5_BD#21d99677f?vcp=1&amp;pid=e982b2f02&amp;color=0,0,0&amp;mp=1&amp;vtp=1&amp;bt=1&amp;bbb=1"/>
          <p:cNvSpPr/>
          <p:nvPr/>
        </p:nvSpPr>
        <p:spPr>
          <a:xfrm>
            <a:off x="393192" y="1397508"/>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（4）重复几次，</a:t>
            </a:r>
            <a:r>
              <a:rPr lang="en-US" altLang="zh-CN" sz="2400" b="0" i="0">
                <a:solidFill>
                  <a:srgbClr val="000000"/>
                </a:solidFill>
                <a:latin typeface="Times New Roman" pitchFamily="34" charset="0"/>
                <a:ea typeface="微软雅黑" pitchFamily="34" charset="-122"/>
                <a:cs typeface="Times New Roman" pitchFamily="34" charset="-120"/>
              </a:rPr>
              <a:t>选取一条点迹清晰的纸带分析.</a:t>
            </a:r>
          </a:p>
          <a:p>
            <a:pPr latinLnBrk="1">
              <a:lnSpc>
                <a:spcPts val="4200"/>
              </a:lnSpc>
            </a:pPr>
            <a:r>
              <a:rPr kumimoji="0" lang="en-US" altLang="zh-CN" sz="2400" b="0" i="0" u="none" strike="noStrike" kern="1200" cap="none" spc="0" normalizeH="0" baseline="0" noProof="0">
                <a:ln>
                  <a:noFill/>
                </a:ln>
                <a:solidFill>
                  <a:srgbClr val="000000"/>
                </a:solidFill>
                <a:effectLst/>
                <a:uLnTx/>
                <a:uFillTx/>
                <a:latin typeface="SimSun" panose="02010600030101010101" pitchFamily="2" charset="-122"/>
                <a:ea typeface="SimSun" pitchFamily="34" charset="-122"/>
                <a:cs typeface="SimSun" pitchFamily="34" charset="-120"/>
              </a:rPr>
              <a:t>    </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（5）改变重物的质量，重复上面的实验.</a:t>
            </a:r>
            <a:endParaRPr lang="en-US" altLang="zh-CN" sz="2400" dirty="0"/>
          </a:p>
        </p:txBody>
      </p:sp>
      <p:pic>
        <p:nvPicPr>
          <p:cNvPr id="4" name="P_5_BD#21d99677f?vcp=1&amp;pid=e982b2f02&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5010912" y="2569718"/>
            <a:ext cx="2176272" cy="2889504"/>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14.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P_5_BD#21d99677f?vcp=1&amp;pid=e982b2f02&amp;color=0,0,0&amp;mp=1&amp;vtp=1&amp;bt=1&amp;bbb=1&amp;hb=1"/>
              <p:cNvSpPr/>
              <p:nvPr/>
            </p:nvSpPr>
            <p:spPr>
              <a:xfrm>
                <a:off x="393192" y="853027"/>
                <a:ext cx="11402568" cy="4948428"/>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2.数据处理</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1）用毫米刻度尺测量出纸带上的计数点间的距离.</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2）由</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𝑛</m:t>
                        </m:r>
                      </m:sub>
                    </m:sSub>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𝑛</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𝑛</m:t>
                            </m:r>
                            <m:r>
                              <a:rPr lang="en-US" altLang="zh-CN" sz="2400" b="0" i="0">
                                <a:solidFill>
                                  <a:srgbClr val="000000"/>
                                </a:solidFill>
                                <a:latin typeface="Cambria Math" pitchFamily="34" charset="0"/>
                                <a:ea typeface="Cambria Math" pitchFamily="34" charset="-122"/>
                                <a:cs typeface="Cambria Math" pitchFamily="34" charset="-120"/>
                              </a:rPr>
                              <m:t>+1</m:t>
                            </m:r>
                          </m:sub>
                        </m:sSub>
                      </m:num>
                      <m:den>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𝑇</m:t>
                        </m:r>
                      </m:den>
                    </m:f>
                  </m:oMath>
                </a14:m>
                <a:r>
                  <a:rPr lang="en-US" altLang="zh-CN" sz="2400" b="0" i="0" dirty="0">
                    <a:solidFill>
                      <a:srgbClr val="000000"/>
                    </a:solidFill>
                    <a:latin typeface="Times New Roman" pitchFamily="34" charset="0"/>
                    <a:ea typeface="微软雅黑" pitchFamily="34" charset="-122"/>
                    <a:cs typeface="Times New Roman" pitchFamily="34" charset="-120"/>
                  </a:rPr>
                  <a:t>求出各计数点对应的瞬时速度，作出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𝑡</m:t>
                    </m:r>
                  </m:oMath>
                </a14:m>
                <a:r>
                  <a:rPr lang="en-US" altLang="zh-CN" sz="2400" b="0" i="0" dirty="0">
                    <a:solidFill>
                      <a:srgbClr val="000000"/>
                    </a:solidFill>
                    <a:latin typeface="Times New Roman" pitchFamily="34" charset="0"/>
                    <a:ea typeface="微软雅黑" pitchFamily="34" charset="-122"/>
                    <a:cs typeface="Times New Roman" pitchFamily="34" charset="-120"/>
                  </a:rPr>
                  <a:t>图像.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𝑡</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图像是</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一条过坐标原点的倾斜直线</a:t>
                </a:r>
                <a:r>
                  <a:rPr lang="en-US" altLang="zh-CN" sz="2400" b="0" i="0" dirty="0">
                    <a:solidFill>
                      <a:srgbClr val="000000"/>
                    </a:solidFill>
                    <a:latin typeface="Times New Roman" pitchFamily="34" charset="0"/>
                    <a:ea typeface="微软雅黑" pitchFamily="34" charset="-122"/>
                    <a:cs typeface="Times New Roman" pitchFamily="34" charset="-120"/>
                  </a:rPr>
                  <a:t>，其斜率表示加速度.</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3）由连续相等时间内位移差大致相等判断为匀变速直线运动</a:t>
                </a:r>
                <a:r>
                  <a:rPr lang="en-US" altLang="zh-CN" sz="2400" b="0" i="0">
                    <a:solidFill>
                      <a:srgbClr val="000000"/>
                    </a:solidFill>
                    <a:latin typeface="Times New Roman" pitchFamily="34" charset="0"/>
                    <a:ea typeface="微软雅黑" pitchFamily="34" charset="-122"/>
                    <a:cs typeface="Times New Roman" pitchFamily="34" charset="-120"/>
                  </a:rPr>
                  <a:t>，再利用</a:t>
                </a:r>
              </a:p>
              <a:p>
                <a:pPr latinLnBrk="1">
                  <a:lnSpc>
                    <a:spcPts val="4400"/>
                  </a:lnSpc>
                </a:pP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𝑎𝑇</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计算加速度（利用逐差法处理数据）.</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4</a:t>
                </a:r>
                <a:r>
                  <a:rPr lang="en-US" altLang="zh-CN" sz="2400" b="0" i="0" dirty="0">
                    <a:solidFill>
                      <a:srgbClr val="000000"/>
                    </a:solidFill>
                    <a:latin typeface="Times New Roman" pitchFamily="34" charset="0"/>
                    <a:ea typeface="微软雅黑" pitchFamily="34" charset="-122"/>
                    <a:cs typeface="Times New Roman" pitchFamily="34" charset="-120"/>
                  </a:rPr>
                  <a:t>.实验结论</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自由落体运动是初速度为</a:t>
                </a:r>
                <a:r>
                  <a:rPr lang="en-US" altLang="zh-CN" sz="2400" b="0" i="0" dirty="0">
                    <a:solidFill>
                      <a:srgbClr val="000000"/>
                    </a:solidFill>
                    <a:latin typeface="Times New Roman" pitchFamily="34" charset="0"/>
                    <a:ea typeface="微软雅黑" pitchFamily="34" charset="-122"/>
                    <a:cs typeface="Times New Roman" pitchFamily="34" charset="-120"/>
                  </a:rPr>
                  <a:t>0的匀加速直线运动，其加速度与质量无关</a:t>
                </a:r>
                <a:r>
                  <a:rPr lang="en-US" altLang="zh-CN" sz="2400" b="0" i="0">
                    <a:solidFill>
                      <a:srgbClr val="000000"/>
                    </a:solidFill>
                    <a:latin typeface="Times New Roman" pitchFamily="34" charset="0"/>
                    <a:ea typeface="微软雅黑" pitchFamily="34" charset="-122"/>
                    <a:cs typeface="Times New Roman" pitchFamily="34" charset="-120"/>
                  </a:rPr>
                  <a:t>，大小约为</a:t>
                </a:r>
              </a:p>
              <a:p>
                <a:pPr latinLnBrk="1">
                  <a:lnSpc>
                    <a:spcPts val="4200"/>
                  </a:lnSpc>
                </a:pP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9.8</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P_5_BD#21d99677f?vcp=1&amp;pid=e982b2f02&amp;color=0,0,0&amp;mp=1&amp;vtp=1&amp;bt=1&amp;bbb=1&amp;hb=1"/>
              <p:cNvSpPr>
                <a:spLocks noRot="1" noChangeAspect="1" noMove="1" noResize="1" noEditPoints="1" noAdjustHandles="1" noChangeArrowheads="1" noChangeShapeType="1" noTextEdit="1"/>
              </p:cNvSpPr>
              <p:nvPr/>
            </p:nvSpPr>
            <p:spPr>
              <a:xfrm>
                <a:off x="393192" y="853027"/>
                <a:ext cx="11402568" cy="4948428"/>
              </a:xfrm>
              <a:prstGeom prst="rect">
                <a:avLst/>
              </a:prstGeom>
              <a:blipFill>
                <a:blip r:embed="rId3"/>
                <a:stretch>
                  <a:fillRect l="-1658" r="-374" b="-3571"/>
                </a:stretch>
              </a:blipFill>
              <a:ln/>
            </p:spPr>
            <p:txBody>
              <a:bodyPr/>
              <a:lstStyle/>
              <a:p>
                <a:r>
                  <a:rPr lang="zh-CN" altLang="en-US">
                    <a:noFill/>
                  </a:rPr>
                  <a:t> </a:t>
                </a:r>
              </a:p>
            </p:txBody>
          </p:sp>
        </mc:Fallback>
      </mc:AlternateContent>
    </p:spTree>
  </p:cSld>
  <p:clrMapOvr>
    <a:masterClrMapping/>
  </p:clrMapOvr>
  <p:transition>
    <p:split dir="in"/>
  </p:transition>
</p:sld>
</file>

<file path=ppt/slides/slide15.xml><?xml version="1.0" encoding="utf-8"?>
<p:sld xmlns:a="http://schemas.openxmlformats.org/drawingml/2006/main" xmlns:r="http://schemas.openxmlformats.org/officeDocument/2006/relationships" xmlns:p="http://schemas.openxmlformats.org/presentationml/2006/main">
  <p:cSld name="Slide 16&amp;si=16">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O_5_BD.6_1#1fb8ef5a0?vcp=1&amp;pid=e982b2f02&amp;color=0,0,0&amp;vtp=1&amp;bt=1&amp;bbb=1&amp;hb=1"/>
              <p:cNvSpPr/>
              <p:nvPr/>
            </p:nvSpPr>
            <p:spPr>
              <a:xfrm>
                <a:off x="393192" y="1506728"/>
                <a:ext cx="11402568" cy="1037590"/>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考题2</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某同学用如图甲所示装置测定重力加速度的大小，已知打点的频率为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Hz</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请回答下列问题</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O_5_BD.6_1#1fb8ef5a0?vcp=1&amp;pid=e982b2f02&amp;color=0,0,0&amp;vtp=1&amp;bt=1&amp;bbb=1&amp;hb=1"/>
              <p:cNvSpPr>
                <a:spLocks noRot="1" noChangeAspect="1" noMove="1" noResize="1" noEditPoints="1" noAdjustHandles="1" noChangeArrowheads="1" noChangeShapeType="1" noTextEdit="1"/>
              </p:cNvSpPr>
              <p:nvPr/>
            </p:nvSpPr>
            <p:spPr>
              <a:xfrm>
                <a:off x="393192" y="1506728"/>
                <a:ext cx="11402568" cy="1037590"/>
              </a:xfrm>
              <a:prstGeom prst="rect">
                <a:avLst/>
              </a:prstGeom>
              <a:blipFill>
                <a:blip r:embed="rId3"/>
                <a:stretch>
                  <a:fillRect l="-1658" b="-17647"/>
                </a:stretch>
              </a:blipFill>
              <a:ln/>
            </p:spPr>
            <p:txBody>
              <a:bodyPr/>
              <a:lstStyle/>
              <a:p>
                <a:r>
                  <a:rPr lang="zh-CN" altLang="en-US">
                    <a:noFill/>
                  </a:rPr>
                  <a:t> </a:t>
                </a:r>
              </a:p>
            </p:txBody>
          </p:sp>
        </mc:Fallback>
      </mc:AlternateContent>
      <p:pic>
        <p:nvPicPr>
          <p:cNvPr id="3" name="QO_5_BD.6_2#1fb8ef5a0?vcp=1&amp;pid=e982b2f02&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3163824" y="2679954"/>
            <a:ext cx="5870448" cy="2670048"/>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16.xml><?xml version="1.0" encoding="utf-8"?>
<p:sld xmlns:a="http://schemas.openxmlformats.org/drawingml/2006/main" xmlns:r="http://schemas.openxmlformats.org/officeDocument/2006/relationships" xmlns:p="http://schemas.openxmlformats.org/presentationml/2006/main">
  <p:cSld name="Slide 17&amp;si=17">
    <p:spTree>
      <p:nvGrpSpPr>
        <p:cNvPr id="1" name=""/>
        <p:cNvGrpSpPr/>
        <p:nvPr/>
      </p:nvGrpSpPr>
      <p:grpSpPr>
        <a:xfrm>
          <a:off x="0" y="0"/>
          <a:ext cx="0" cy="0"/>
          <a:chOff x="0" y="0"/>
          <a:chExt cx="0" cy="0"/>
        </a:xfrm>
      </p:grpSpPr>
      <p:sp>
        <p:nvSpPr>
          <p:cNvPr id="2" name="QC_6_BD.7_1#e200e8e74?vcp=1&amp;pid=1fb8ef5a0&amp;color=0,0,0&amp;vtp=1&amp;bt=1&amp;bbb=1&amp;hb=1"/>
          <p:cNvSpPr/>
          <p:nvPr/>
        </p:nvSpPr>
        <p:spPr>
          <a:xfrm>
            <a:off x="393192" y="794513"/>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（1）（多选题）除电火花计时器（含纸带、复写纸）、重物、铁架台、夹子</a:t>
            </a:r>
            <a:r>
              <a:rPr lang="en-US" altLang="zh-CN" sz="2400" b="0" i="0">
                <a:solidFill>
                  <a:srgbClr val="000000"/>
                </a:solidFill>
                <a:latin typeface="Times New Roman" pitchFamily="34" charset="0"/>
                <a:ea typeface="微软雅黑" pitchFamily="34" charset="-122"/>
                <a:cs typeface="Times New Roman" pitchFamily="34" charset="-120"/>
              </a:rPr>
              <a:t>、导线</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及开关外，在下面的器材中还必须使用的有</a:t>
            </a:r>
            <a:r>
              <a:rPr lang="en-US" altLang="zh-CN" sz="2400" i="0">
                <a:solidFill>
                  <a:srgbClr val="000000"/>
                </a:solidFill>
                <a:latin typeface="SimSun" pitchFamily="34" charset="0"/>
                <a:ea typeface="SimSun" pitchFamily="34" charset="-122"/>
                <a:cs typeface="SimSun" pitchFamily="34" charset="-120"/>
              </a:rPr>
              <a:t>_____</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6_AN.8_1#e200e8e74.blank?vcp=1&amp;pid=1fb8ef5a0&amp;color=0,0,0&amp;vpa=2&amp;vtp=1&amp;bbb=1"/>
          <p:cNvSpPr/>
          <p:nvPr/>
        </p:nvSpPr>
        <p:spPr>
          <a:xfrm>
            <a:off x="6201060" y="1303783"/>
            <a:ext cx="661988"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AC</a:t>
            </a:r>
            <a:endParaRPr lang="en-US" altLang="zh-CN" sz="2400" dirty="0"/>
          </a:p>
        </p:txBody>
      </p:sp>
      <mc:AlternateContent xmlns:mc="http://schemas.openxmlformats.org/markup-compatibility/2006">
        <mc:Choice xmlns:a14="http://schemas.microsoft.com/office/drawing/2010/main" Requires="a14">
          <p:sp>
            <p:nvSpPr>
              <p:cNvPr id="4" name="QC_6_BD.7_2#e200e8e74.choices?vcp=1&amp;pid=1fb8ef5a0&amp;color=0,0,0&amp;vtp=1&amp;bbb=1"/>
              <p:cNvSpPr/>
              <p:nvPr/>
            </p:nvSpPr>
            <p:spPr>
              <a:xfrm>
                <a:off x="393192" y="1828038"/>
                <a:ext cx="11402568" cy="1033399"/>
              </a:xfrm>
              <a:prstGeom prst="rect">
                <a:avLst/>
              </a:prstGeom>
              <a:noFill/>
              <a:ln/>
            </p:spPr>
            <p:txBody>
              <a:bodyPr wrap="none" lIns="0" tIns="0" rIns="0" bIns="0" rtlCol="0" anchor="t"/>
              <a:lstStyle/>
              <a:p>
                <a:pPr latinLnBrk="1">
                  <a:lnSpc>
                    <a:spcPts val="4400"/>
                  </a:lnSpc>
                  <a:tabLst>
                    <a:tab pos="5807954" algn="l"/>
                  </a:tabLst>
                </a:pPr>
                <a:r>
                  <a:rPr lang="en-US" altLang="zh-CN" sz="2400" b="0" i="0" dirty="0">
                    <a:solidFill>
                      <a:srgbClr val="000000"/>
                    </a:solidFill>
                    <a:latin typeface="Times New Roman" pitchFamily="34" charset="0"/>
                    <a:ea typeface="微软雅黑" pitchFamily="34" charset="-122"/>
                    <a:cs typeface="Times New Roman" pitchFamily="34" charset="-120"/>
                  </a:rPr>
                  <a:t>A.电压合适的</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Hz</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交流电源</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.电压可调的直流电源</a:t>
                </a:r>
                <a:endParaRPr lang="en-US" altLang="zh-CN" sz="2400" dirty="0"/>
              </a:p>
              <a:p>
                <a:pPr latinLnBrk="1">
                  <a:lnSpc>
                    <a:spcPts val="4200"/>
                  </a:lnSpc>
                  <a:tabLst>
                    <a:tab pos="5807954" algn="l"/>
                  </a:tabLst>
                </a:pPr>
                <a:r>
                  <a:rPr lang="en-US" altLang="zh-CN" sz="2400" b="0" i="0">
                    <a:solidFill>
                      <a:srgbClr val="000000"/>
                    </a:solidFill>
                    <a:latin typeface="Times New Roman" pitchFamily="34" charset="0"/>
                    <a:ea typeface="微软雅黑" pitchFamily="34" charset="-122"/>
                    <a:cs typeface="Times New Roman" pitchFamily="34" charset="-120"/>
                  </a:rPr>
                  <a:t>C.刻度尺</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.秒表</a:t>
                </a:r>
                <a:endParaRPr lang="en-US" altLang="zh-CN" sz="2400" dirty="0"/>
              </a:p>
            </p:txBody>
          </p:sp>
        </mc:Choice>
        <mc:Fallback>
          <p:sp>
            <p:nvSpPr>
              <p:cNvPr id="4" name="QC_6_BD.7_2#e200e8e74.choices?vcp=1&amp;pid=1fb8ef5a0&amp;color=0,0,0&amp;vtp=1&amp;bbb=1"/>
              <p:cNvSpPr>
                <a:spLocks noRot="1" noChangeAspect="1" noMove="1" noResize="1" noEditPoints="1" noAdjustHandles="1" noChangeArrowheads="1" noChangeShapeType="1" noTextEdit="1"/>
              </p:cNvSpPr>
              <p:nvPr/>
            </p:nvSpPr>
            <p:spPr>
              <a:xfrm>
                <a:off x="393192" y="1828038"/>
                <a:ext cx="11402568" cy="1033399"/>
              </a:xfrm>
              <a:prstGeom prst="rect">
                <a:avLst/>
              </a:prstGeom>
              <a:blipFill>
                <a:blip r:embed="rId3"/>
                <a:stretch>
                  <a:fillRect l="-1658" b="-17751"/>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QC_6_AS.9_1#e200e8e74?vcp=1&amp;pid=1fb8ef5a0&amp;color=0,0,0&amp;vtp=1&amp;bbb=1&amp;hb=1"/>
              <p:cNvSpPr/>
              <p:nvPr/>
            </p:nvSpPr>
            <p:spPr>
              <a:xfrm>
                <a:off x="393192" y="2868168"/>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还必须用到的器材是电压合适的</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𝟓𝟎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𝐇𝐳</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交流电源和刻度尺</a:t>
                </a:r>
                <a:r>
                  <a:rPr lang="en-US" altLang="zh-CN" sz="2400" b="1" i="0">
                    <a:solidFill>
                      <a:srgbClr val="FF0000"/>
                    </a:solidFill>
                    <a:latin typeface="Times New Roman" pitchFamily="34" charset="0"/>
                    <a:ea typeface="微软雅黑" pitchFamily="34" charset="-122"/>
                    <a:cs typeface="Times New Roman" pitchFamily="34" charset="-120"/>
                  </a:rPr>
                  <a:t>，不需要秒表和电压</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可调的直流电源</a:t>
                </a:r>
                <a:r>
                  <a:rPr lang="en-US" altLang="zh-CN" sz="2400" b="1" i="0" dirty="0">
                    <a:solidFill>
                      <a:srgbClr val="FF0000"/>
                    </a:solidFill>
                    <a:latin typeface="Times New Roman" pitchFamily="34" charset="0"/>
                    <a:ea typeface="微软雅黑" pitchFamily="34" charset="-122"/>
                    <a:cs typeface="Times New Roman" pitchFamily="34" charset="-120"/>
                  </a:rPr>
                  <a:t>，故选</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𝐀𝐂</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QC_6_AS.9_1#e200e8e74?vcp=1&amp;pid=1fb8ef5a0&amp;color=0,0,0&amp;vtp=1&amp;bbb=1&amp;hb=1"/>
              <p:cNvSpPr>
                <a:spLocks noRot="1" noChangeAspect="1" noMove="1" noResize="1" noEditPoints="1" noAdjustHandles="1" noChangeArrowheads="1" noChangeShapeType="1" noTextEdit="1"/>
              </p:cNvSpPr>
              <p:nvPr/>
            </p:nvSpPr>
            <p:spPr>
              <a:xfrm>
                <a:off x="393192" y="2868168"/>
                <a:ext cx="11402568" cy="1037400"/>
              </a:xfrm>
              <a:prstGeom prst="rect">
                <a:avLst/>
              </a:prstGeom>
              <a:blipFill>
                <a:blip r:embed="rId4"/>
                <a:stretch>
                  <a:fillRect l="-1658" r="-53" b="-17059"/>
                </a:stretch>
              </a:blipFill>
              <a:ln/>
            </p:spPr>
            <p:txBody>
              <a:bodyPr/>
              <a:lstStyle/>
              <a:p>
                <a:r>
                  <a:rPr lang="zh-CN" altLang="en-US">
                    <a:noFill/>
                  </a:rPr>
                  <a:t> </a:t>
                </a:r>
              </a:p>
            </p:txBody>
          </p:sp>
        </mc:Fallback>
      </mc:AlternateContent>
      <p:sp>
        <p:nvSpPr>
          <p:cNvPr id="6" name="QB_6_BD.10_1#19e3312a6?vcp=1&amp;pid=1fb8ef5a0&amp;color=0,0,0&amp;vtp=1&amp;bbb=1&amp;hb=1"/>
          <p:cNvSpPr/>
          <p:nvPr/>
        </p:nvSpPr>
        <p:spPr>
          <a:xfrm>
            <a:off x="393192" y="3908298"/>
            <a:ext cx="11402568" cy="10374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（2）打出的纸带如图乙所示</a:t>
            </a:r>
            <a:r>
              <a:rPr lang="en-US" altLang="zh-CN" sz="2400" b="0" i="0">
                <a:solidFill>
                  <a:srgbClr val="000000"/>
                </a:solidFill>
                <a:latin typeface="Times New Roman" pitchFamily="34" charset="0"/>
                <a:ea typeface="微软雅黑" pitchFamily="34" charset="-122"/>
                <a:cs typeface="Times New Roman" pitchFamily="34" charset="-120"/>
              </a:rPr>
              <a:t>，可以判断实验时重物连接在纸带的</a:t>
            </a:r>
            <a:r>
              <a:rPr lang="en-US" altLang="zh-CN" sz="2400" i="0">
                <a:solidFill>
                  <a:srgbClr val="000000"/>
                </a:solidFill>
                <a:latin typeface="SimSun" pitchFamily="34" charset="0"/>
                <a:ea typeface="SimSun" pitchFamily="34" charset="-122"/>
                <a:cs typeface="SimSun" pitchFamily="34" charset="-120"/>
              </a:rPr>
              <a:t>____</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填“左”或“</a:t>
            </a:r>
            <a:r>
              <a:rPr lang="en-US" altLang="zh-CN" sz="2400" b="0" i="0">
                <a:solidFill>
                  <a:srgbClr val="000000"/>
                </a:solidFill>
                <a:latin typeface="Times New Roman" pitchFamily="34" charset="0"/>
                <a:ea typeface="微软雅黑" pitchFamily="34" charset="-122"/>
                <a:cs typeface="Times New Roman" pitchFamily="34" charset="-120"/>
              </a:rPr>
              <a:t>右”）</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端</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7" name="QB_6_AN.11_1#19e3312a6.blank?vcp=1&amp;pid=1fb8ef5a0&amp;color=0,0,0&amp;vpa=3&amp;vtp=1"/>
          <p:cNvSpPr/>
          <p:nvPr/>
        </p:nvSpPr>
        <p:spPr>
          <a:xfrm>
            <a:off x="9096661" y="3880358"/>
            <a:ext cx="525463" cy="497840"/>
          </a:xfrm>
          <a:prstGeom prst="rect">
            <a:avLst/>
          </a:prstGeom>
          <a:noFill/>
          <a:ln/>
        </p:spPr>
        <p:txBody>
          <a:bodyPr wrap="none" lIns="0" tIns="0" rIns="0" bIns="0" rtlCol="0" anchor="t"/>
          <a:lstStyle/>
          <a:p>
            <a:pPr algn="ctr"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左</a:t>
            </a:r>
            <a:endParaRPr lang="en-US" altLang="zh-CN" sz="2400" dirty="0"/>
          </a:p>
        </p:txBody>
      </p:sp>
      <p:sp>
        <p:nvSpPr>
          <p:cNvPr id="8" name="QB_6_AS.12_1#19e3312a6?vcp=1&amp;pid=1fb8ef5a0&amp;color=0,0,0&amp;vtp=1&amp;bbb=1&amp;hb=1"/>
          <p:cNvSpPr/>
          <p:nvPr/>
        </p:nvSpPr>
        <p:spPr>
          <a:xfrm>
            <a:off x="393192" y="5007037"/>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打出的纸带如图乙所示，从左到右点的间距逐渐变大</a:t>
            </a:r>
            <a:r>
              <a:rPr lang="en-US" altLang="zh-CN" sz="2400" b="1" i="0">
                <a:solidFill>
                  <a:srgbClr val="FF0000"/>
                </a:solidFill>
                <a:latin typeface="Times New Roman" pitchFamily="34" charset="0"/>
                <a:ea typeface="微软雅黑" pitchFamily="34" charset="-122"/>
                <a:cs typeface="Times New Roman" pitchFamily="34" charset="-120"/>
              </a:rPr>
              <a:t>，则可以判断实验时重物</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连接在纸带的左端</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
                                            <p:bg/>
                                          </p:spTgt>
                                        </p:tgtEl>
                                        <p:attrNameLst>
                                          <p:attrName>style.visibility</p:attrName>
                                        </p:attrNameLst>
                                      </p:cBhvr>
                                      <p:to>
                                        <p:strVal val="visible"/>
                                      </p:to>
                                    </p:set>
                                    <p:animEffect transition="in" filter="wipe(left)">
                                      <p:cBhvr>
                                        <p:cTn id="26" dur="500"/>
                                        <p:tgtEl>
                                          <p:spTgt spid="7">
                                            <p:bg/>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wipe(left)">
                                      <p:cBhvr>
                                        <p:cTn id="29" dur="500"/>
                                        <p:tgtEl>
                                          <p:spTgt spid="7">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
                                            <p:bg/>
                                          </p:spTgt>
                                        </p:tgtEl>
                                        <p:attrNameLst>
                                          <p:attrName>style.visibility</p:attrName>
                                        </p:attrNameLst>
                                      </p:cBhvr>
                                      <p:to>
                                        <p:strVal val="visible"/>
                                      </p:to>
                                    </p:set>
                                    <p:animEffect transition="in" filter="wipe(left)">
                                      <p:cBhvr>
                                        <p:cTn id="34" dur="500"/>
                                        <p:tgtEl>
                                          <p:spTgt spid="8">
                                            <p:bg/>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Effect transition="in" filter="wipe(left)">
                                      <p:cBhvr>
                                        <p:cTn id="37" dur="500"/>
                                        <p:tgtEl>
                                          <p:spTgt spid="8">
                                            <p:txEl>
                                              <p:pRg st="0" end="0"/>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8">
                                            <p:txEl>
                                              <p:pRg st="1" end="1"/>
                                            </p:txEl>
                                          </p:spTgt>
                                        </p:tgtEl>
                                        <p:attrNameLst>
                                          <p:attrName>style.visibility</p:attrName>
                                        </p:attrNameLst>
                                      </p:cBhvr>
                                      <p:to>
                                        <p:strVal val="visible"/>
                                      </p:to>
                                    </p:set>
                                    <p:animEffect transition="in" filter="wipe(left)">
                                      <p:cBhvr>
                                        <p:cTn id="40"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P spid="7" grpId="0" build="p" animBg="1"/>
      <p:bldP spid="8"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8&amp;si=18">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B_6_BD.13_1#cc5d78089?vcp=1&amp;pid=1fb8ef5a0&amp;color=0,0,0&amp;vtp=1&amp;bt=1&amp;bbb=1&amp;hb=1"/>
              <p:cNvSpPr/>
              <p:nvPr/>
            </p:nvSpPr>
            <p:spPr>
              <a:xfrm>
                <a:off x="393192" y="646462"/>
                <a:ext cx="11402568" cy="159639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（3）已知纸带上记录的点为电火花计时器连续打的点，电火花计时器在打</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𝐶</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点时重物</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的瞬时速度大小为</a:t>
                </a:r>
                <a:r>
                  <a:rPr lang="en-US" altLang="zh-CN" sz="2400" i="0">
                    <a:solidFill>
                      <a:srgbClr val="000000"/>
                    </a:solidFill>
                    <a:latin typeface="SimSun" pitchFamily="34" charset="0"/>
                    <a:ea typeface="SimSun" pitchFamily="34" charset="-122"/>
                    <a:cs typeface="SimSun" pitchFamily="34" charset="-120"/>
                  </a:rPr>
                  <a:t>_____</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a:solidFill>
                      <a:srgbClr val="000000"/>
                    </a:solidFill>
                    <a:latin typeface="Times New Roman" pitchFamily="34" charset="0"/>
                    <a:ea typeface="微软雅黑" pitchFamily="34" charset="-122"/>
                    <a:cs typeface="Times New Roman" pitchFamily="34" charset="-120"/>
                  </a:rPr>
                  <a:t>，所测得的重力加速度大小为</a:t>
                </a:r>
                <a:r>
                  <a:rPr lang="en-US" altLang="zh-CN" sz="2400" i="0">
                    <a:solidFill>
                      <a:srgbClr val="000000"/>
                    </a:solidFill>
                    <a:latin typeface="SimSun" pitchFamily="34" charset="0"/>
                    <a:ea typeface="SimSun" pitchFamily="34" charset="-122"/>
                    <a:cs typeface="SimSun" pitchFamily="34" charset="-120"/>
                  </a:rPr>
                  <a:t>_____</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.（结果均保留三</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位有效数字</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B_6_BD.13_1#cc5d78089?vcp=1&amp;pid=1fb8ef5a0&amp;color=0,0,0&amp;vtp=1&amp;bt=1&amp;bbb=1&amp;hb=1"/>
              <p:cNvSpPr>
                <a:spLocks noRot="1" noChangeAspect="1" noMove="1" noResize="1" noEditPoints="1" noAdjustHandles="1" noChangeArrowheads="1" noChangeShapeType="1" noTextEdit="1"/>
              </p:cNvSpPr>
              <p:nvPr/>
            </p:nvSpPr>
            <p:spPr>
              <a:xfrm>
                <a:off x="393192" y="646462"/>
                <a:ext cx="11402568" cy="1596390"/>
              </a:xfrm>
              <a:prstGeom prst="rect">
                <a:avLst/>
              </a:prstGeom>
              <a:blipFill>
                <a:blip r:embed="rId3"/>
                <a:stretch>
                  <a:fillRect l="-1658" r="-1283" b="-11450"/>
                </a:stretch>
              </a:blipFill>
              <a:ln/>
            </p:spPr>
            <p:txBody>
              <a:bodyPr/>
              <a:lstStyle/>
              <a:p>
                <a:r>
                  <a:rPr lang="zh-CN" altLang="en-US">
                    <a:noFill/>
                  </a:rPr>
                  <a:t> </a:t>
                </a:r>
              </a:p>
            </p:txBody>
          </p:sp>
        </mc:Fallback>
      </mc:AlternateContent>
      <p:sp>
        <p:nvSpPr>
          <p:cNvPr id="3" name="QB_6_AN.14_1#cc5d78089.blank?vcp=1&amp;pid=1fb8ef5a0&amp;color=0,0,0&amp;vpa=4&amp;vtp=1&amp;bbb=1"/>
          <p:cNvSpPr/>
          <p:nvPr/>
        </p:nvSpPr>
        <p:spPr>
          <a:xfrm>
            <a:off x="2810161" y="1177322"/>
            <a:ext cx="754063" cy="497650"/>
          </a:xfrm>
          <a:prstGeom prst="rect">
            <a:avLst/>
          </a:prstGeom>
          <a:noFill/>
          <a:ln/>
        </p:spPr>
        <p:txBody>
          <a:bodyPr wrap="none" lIns="0" tIns="0" rIns="0" bIns="0" rtlCol="0" anchor="t"/>
          <a:lstStyle/>
          <a:p>
            <a:pPr algn="ctr"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1.17</a:t>
            </a:r>
            <a:endParaRPr lang="en-US" altLang="zh-CN" sz="2400" dirty="0"/>
          </a:p>
        </p:txBody>
      </p:sp>
      <p:sp>
        <p:nvSpPr>
          <p:cNvPr id="4" name="QB_6_AN.15_1#cc5d78089.blank?vcp=1&amp;pid=1fb8ef5a0&amp;color=0,0,0&amp;vpa=5&amp;vtp=1&amp;bbb=1"/>
          <p:cNvSpPr/>
          <p:nvPr/>
        </p:nvSpPr>
        <p:spPr>
          <a:xfrm>
            <a:off x="8069548" y="1177322"/>
            <a:ext cx="754063" cy="497650"/>
          </a:xfrm>
          <a:prstGeom prst="rect">
            <a:avLst/>
          </a:prstGeom>
          <a:noFill/>
          <a:ln/>
        </p:spPr>
        <p:txBody>
          <a:bodyPr wrap="none" lIns="0" tIns="0" rIns="0" bIns="0" rtlCol="0" anchor="t"/>
          <a:lstStyle/>
          <a:p>
            <a:pPr algn="ctr"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9.75</a:t>
            </a:r>
            <a:endParaRPr lang="en-US" altLang="zh-CN" sz="2400" dirty="0"/>
          </a:p>
        </p:txBody>
      </p:sp>
      <mc:AlternateContent xmlns:mc="http://schemas.openxmlformats.org/markup-compatibility/2006">
        <mc:Choice xmlns:a14="http://schemas.microsoft.com/office/drawing/2010/main" Requires="a14">
          <p:sp>
            <p:nvSpPr>
              <p:cNvPr id="5" name="QB_6_AS.16_1#cc5d78089?vcp=1&amp;pid=1fb8ef5a0&amp;color=0,0,0&amp;vtp=1&amp;bbb=1&amp;hb=1"/>
              <p:cNvSpPr/>
              <p:nvPr/>
            </p:nvSpPr>
            <p:spPr>
              <a:xfrm>
                <a:off x="393192" y="2240058"/>
                <a:ext cx="11402568" cy="1828546"/>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电火花计时器在打</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𝑪</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点时重物的瞬时速度大小为</a:t>
                </a:r>
              </a:p>
              <a:p>
                <a:pPr latinLnBrk="1">
                  <a:lnSpc>
                    <a:spcPts val="51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𝑪</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𝑨𝑬</m:t>
                            </m:r>
                          </m:sub>
                        </m:sSub>
                      </m:num>
                      <m:den>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1">
                            <a:solidFill>
                              <a:srgbClr val="FF0000"/>
                            </a:solidFill>
                            <a:latin typeface="Cambria Math" pitchFamily="34" charset="0"/>
                            <a:ea typeface="Cambria Math" pitchFamily="34" charset="-122"/>
                            <a:cs typeface="Cambria Math" pitchFamily="34" charset="-120"/>
                          </a:rPr>
                          <m:t>𝑻</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𝟏𝟐</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𝟏𝟒</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up>
                        </m:sSup>
                      </m:num>
                      <m:den>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𝟎𝟐</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，所测得的重力加速度大小为</a:t>
                </a:r>
              </a:p>
              <a:p>
                <a:pPr latinLnBrk="1">
                  <a:lnSpc>
                    <a:spcPts val="50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𝑪</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1">
                                <a:solidFill>
                                  <a:srgbClr val="FF0000"/>
                                </a:solidFill>
                                <a:latin typeface="Cambria Math" pitchFamily="34" charset="0"/>
                                <a:ea typeface="Cambria Math" pitchFamily="34" charset="-122"/>
                                <a:cs typeface="Cambria Math" pitchFamily="34" charset="-120"/>
                              </a:rPr>
                              <m:t>𝑬</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𝑨𝑪</m:t>
                            </m:r>
                          </m:sub>
                        </m:sSub>
                      </m:num>
                      <m:den>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1">
                            <a:solidFill>
                              <a:srgbClr val="FF0000"/>
                            </a:solidFill>
                            <a:latin typeface="Cambria Math" pitchFamily="34" charset="0"/>
                            <a:ea typeface="Cambria Math" pitchFamily="34" charset="-122"/>
                            <a:cs typeface="Cambria Math" pitchFamily="34" charset="-120"/>
                          </a:rPr>
                          <m:t>𝑻</m:t>
                        </m:r>
                        <m:r>
                          <m:rPr>
                            <m:nor/>
                          </m:rPr>
                          <a:rPr lang="en-US" altLang="zh-CN" sz="2400" b="1" i="0">
                            <a:solidFill>
                              <a:srgbClr val="FF0000"/>
                            </a:solidFill>
                            <a:latin typeface="Cambria Math" pitchFamily="34" charset="0"/>
                            <a:ea typeface="Cambria Math" pitchFamily="34" charset="-122"/>
                            <a:cs typeface="Cambria Math" pitchFamily="34" charset="-120"/>
                          </a:rPr>
                          <m:t> </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𝟏𝟐</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𝟎𝟓</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𝟏𝟒</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up>
                        </m:sSup>
                      </m:num>
                      <m:den>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𝟎𝟐</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𝟗</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QB_6_AS.16_1#cc5d78089?vcp=1&amp;pid=1fb8ef5a0&amp;color=0,0,0&amp;vtp=1&amp;bbb=1&amp;hb=1"/>
              <p:cNvSpPr>
                <a:spLocks noRot="1" noChangeAspect="1" noMove="1" noResize="1" noEditPoints="1" noAdjustHandles="1" noChangeArrowheads="1" noChangeShapeType="1" noTextEdit="1"/>
              </p:cNvSpPr>
              <p:nvPr/>
            </p:nvSpPr>
            <p:spPr>
              <a:xfrm>
                <a:off x="393192" y="2240058"/>
                <a:ext cx="11402568" cy="1828546"/>
              </a:xfrm>
              <a:prstGeom prst="rect">
                <a:avLst/>
              </a:prstGeom>
              <a:blipFill>
                <a:blip r:embed="rId4"/>
                <a:stretch>
                  <a:fillRect l="-1658" b="-6000"/>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B_6_BD.17_1#a3a56f108?vcp=1&amp;pid=1fb8ef5a0&amp;color=0,0,0&amp;vtp=1&amp;bbb=1&amp;hb=1"/>
              <p:cNvSpPr/>
              <p:nvPr/>
            </p:nvSpPr>
            <p:spPr>
              <a:xfrm>
                <a:off x="393192" y="4068857"/>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（4）经查询，当地的重力加速度实际为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9.8</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，请写出测量值与当地重力加速度值</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存在差异的一个原因：</a:t>
                </a:r>
                <a:r>
                  <a:rPr lang="en-US" altLang="zh-CN" sz="2400" i="0">
                    <a:solidFill>
                      <a:srgbClr val="000000"/>
                    </a:solidFill>
                    <a:latin typeface="SimSun" pitchFamily="34" charset="0"/>
                    <a:ea typeface="SimSun" pitchFamily="34" charset="-122"/>
                    <a:cs typeface="SimSun" pitchFamily="34" charset="-120"/>
                  </a:rPr>
                  <a:t>________________________</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6" name="QB_6_BD.17_1#a3a56f108?vcp=1&amp;pid=1fb8ef5a0&amp;color=0,0,0&amp;vtp=1&amp;bbb=1&amp;hb=1"/>
              <p:cNvSpPr>
                <a:spLocks noRot="1" noChangeAspect="1" noMove="1" noResize="1" noEditPoints="1" noAdjustHandles="1" noChangeArrowheads="1" noChangeShapeType="1" noTextEdit="1"/>
              </p:cNvSpPr>
              <p:nvPr/>
            </p:nvSpPr>
            <p:spPr>
              <a:xfrm>
                <a:off x="393192" y="4068857"/>
                <a:ext cx="11402568" cy="1033399"/>
              </a:xfrm>
              <a:prstGeom prst="rect">
                <a:avLst/>
              </a:prstGeom>
              <a:blipFill>
                <a:blip r:embed="rId5"/>
                <a:stretch>
                  <a:fillRect l="-1658" r="-1283" b="-17647"/>
                </a:stretch>
              </a:blipFill>
              <a:ln/>
            </p:spPr>
            <p:txBody>
              <a:bodyPr/>
              <a:lstStyle/>
              <a:p>
                <a:r>
                  <a:rPr lang="zh-CN" altLang="en-US">
                    <a:noFill/>
                  </a:rPr>
                  <a:t> </a:t>
                </a:r>
              </a:p>
            </p:txBody>
          </p:sp>
        </mc:Fallback>
      </mc:AlternateContent>
      <p:sp>
        <p:nvSpPr>
          <p:cNvPr id="7" name="QB_6_AN.18_1#a3a56f108.blank?vcp=1&amp;pid=1fb8ef5a0&amp;color=0,0,0&amp;vpa=6&amp;vtp=1&amp;bbb=1"/>
          <p:cNvSpPr/>
          <p:nvPr/>
        </p:nvSpPr>
        <p:spPr>
          <a:xfrm>
            <a:off x="3419760" y="4578128"/>
            <a:ext cx="36496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纸带与接触物间存在摩擦.</a:t>
            </a:r>
            <a:endParaRPr lang="en-US" altLang="zh-CN" sz="2400" dirty="0"/>
          </a:p>
        </p:txBody>
      </p:sp>
      <p:sp>
        <p:nvSpPr>
          <p:cNvPr id="8" name="QB_6_AS.19_1#a3a56f108?vcp=1&amp;pid=1fb8ef5a0&amp;color=0,0,0&amp;vtp=1&amp;bbb=1&amp;hb=1"/>
          <p:cNvSpPr/>
          <p:nvPr/>
        </p:nvSpPr>
        <p:spPr>
          <a:xfrm>
            <a:off x="393192" y="5171598"/>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实验中的主要误差为各种摩擦带来的系统误差</a:t>
            </a:r>
            <a:r>
              <a:rPr lang="en-US" altLang="zh-CN" sz="2400" b="1" i="0">
                <a:solidFill>
                  <a:srgbClr val="FF0000"/>
                </a:solidFill>
                <a:latin typeface="Times New Roman" pitchFamily="34" charset="0"/>
                <a:ea typeface="微软雅黑" pitchFamily="34" charset="-122"/>
                <a:cs typeface="Times New Roman" pitchFamily="34" charset="-120"/>
              </a:rPr>
              <a:t>，次要误差则可能来源于长度测</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量</a:t>
            </a:r>
            <a:r>
              <a:rPr lang="en-US" altLang="zh-CN" sz="2400" b="1" i="0" dirty="0">
                <a:solidFill>
                  <a:srgbClr val="FF0000"/>
                </a:solidFill>
                <a:latin typeface="Times New Roman" pitchFamily="34" charset="0"/>
                <a:ea typeface="微软雅黑" pitchFamily="34" charset="-122"/>
                <a:cs typeface="Times New Roman" pitchFamily="34" charset="-120"/>
              </a:rPr>
              <a:t>、交流电频率波动、数据处理方法等.</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wipe(left)">
                                      <p:cBhvr>
                                        <p:cTn id="15" dur="500"/>
                                        <p:tgtEl>
                                          <p:spTgt spid="4">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
                                            <p:bg/>
                                          </p:spTgt>
                                        </p:tgtEl>
                                        <p:attrNameLst>
                                          <p:attrName>style.visibility</p:attrName>
                                        </p:attrNameLst>
                                      </p:cBhvr>
                                      <p:to>
                                        <p:strVal val="visible"/>
                                      </p:to>
                                    </p:set>
                                    <p:animEffect transition="in" filter="wipe(left)">
                                      <p:cBhvr>
                                        <p:cTn id="23" dur="500"/>
                                        <p:tgtEl>
                                          <p:spTgt spid="5">
                                            <p:bg/>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wipe(left)">
                                      <p:cBhvr>
                                        <p:cTn id="26" dur="500"/>
                                        <p:tgtEl>
                                          <p:spTgt spid="5">
                                            <p:txEl>
                                              <p:pRg st="0" end="0"/>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animEffect transition="in" filter="wipe(left)">
                                      <p:cBhvr>
                                        <p:cTn id="29" dur="500"/>
                                        <p:tgtEl>
                                          <p:spTgt spid="5">
                                            <p:txEl>
                                              <p:pRg st="1" end="1"/>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wipe(left)">
                                      <p:cBhvr>
                                        <p:cTn id="32" dur="500"/>
                                        <p:tgtEl>
                                          <p:spTgt spid="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bg/>
                                          </p:spTgt>
                                        </p:tgtEl>
                                        <p:attrNameLst>
                                          <p:attrName>style.visibility</p:attrName>
                                        </p:attrNameLst>
                                      </p:cBhvr>
                                      <p:to>
                                        <p:strVal val="visible"/>
                                      </p:to>
                                    </p:set>
                                    <p:animEffect transition="in" filter="wipe(left)">
                                      <p:cBhvr>
                                        <p:cTn id="37" dur="500"/>
                                        <p:tgtEl>
                                          <p:spTgt spid="7">
                                            <p:bg/>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7">
                                            <p:txEl>
                                              <p:pRg st="0" end="0"/>
                                            </p:txEl>
                                          </p:spTgt>
                                        </p:tgtEl>
                                        <p:attrNameLst>
                                          <p:attrName>style.visibility</p:attrName>
                                        </p:attrNameLst>
                                      </p:cBhvr>
                                      <p:to>
                                        <p:strVal val="visible"/>
                                      </p:to>
                                    </p:set>
                                    <p:animEffect transition="in" filter="wipe(left)">
                                      <p:cBhvr>
                                        <p:cTn id="40" dur="500"/>
                                        <p:tgtEl>
                                          <p:spTgt spid="7">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
                                            <p:bg/>
                                          </p:spTgt>
                                        </p:tgtEl>
                                        <p:attrNameLst>
                                          <p:attrName>style.visibility</p:attrName>
                                        </p:attrNameLst>
                                      </p:cBhvr>
                                      <p:to>
                                        <p:strVal val="visible"/>
                                      </p:to>
                                    </p:set>
                                    <p:animEffect transition="in" filter="wipe(left)">
                                      <p:cBhvr>
                                        <p:cTn id="45" dur="500"/>
                                        <p:tgtEl>
                                          <p:spTgt spid="8">
                                            <p:bg/>
                                          </p:spTgt>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8">
                                            <p:txEl>
                                              <p:pRg st="0" end="0"/>
                                            </p:txEl>
                                          </p:spTgt>
                                        </p:tgtEl>
                                        <p:attrNameLst>
                                          <p:attrName>style.visibility</p:attrName>
                                        </p:attrNameLst>
                                      </p:cBhvr>
                                      <p:to>
                                        <p:strVal val="visible"/>
                                      </p:to>
                                    </p:set>
                                    <p:animEffect transition="in" filter="wipe(left)">
                                      <p:cBhvr>
                                        <p:cTn id="48" dur="500"/>
                                        <p:tgtEl>
                                          <p:spTgt spid="8">
                                            <p:txEl>
                                              <p:pRg st="0" end="0"/>
                                            </p:txEl>
                                          </p:spTgt>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8">
                                            <p:txEl>
                                              <p:pRg st="1" end="1"/>
                                            </p:txEl>
                                          </p:spTgt>
                                        </p:tgtEl>
                                        <p:attrNameLst>
                                          <p:attrName>style.visibility</p:attrName>
                                        </p:attrNameLst>
                                      </p:cBhvr>
                                      <p:to>
                                        <p:strVal val="visible"/>
                                      </p:to>
                                    </p:set>
                                    <p:animEffect transition="in" filter="wipe(left)">
                                      <p:cBhvr>
                                        <p:cTn id="51"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P spid="5" grpId="0" build="p" animBg="1"/>
      <p:bldP spid="7" grpId="0" build="p" animBg="1"/>
      <p:bldP spid="8"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9&amp;si=19">
    <p:spTree>
      <p:nvGrpSpPr>
        <p:cNvPr id="1" name=""/>
        <p:cNvGrpSpPr/>
        <p:nvPr/>
      </p:nvGrpSpPr>
      <p:grpSpPr>
        <a:xfrm>
          <a:off x="0" y="0"/>
          <a:ext cx="0" cy="0"/>
          <a:chOff x="0" y="0"/>
          <a:chExt cx="0" cy="0"/>
        </a:xfrm>
      </p:grpSpPr>
      <p:pic>
        <p:nvPicPr>
          <p:cNvPr id="2" name="QO_5_BD.20_1#fd475c1ba?htil=3&amp;vcp=1&amp;pid=e982b2f02&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367928" y="1574832"/>
            <a:ext cx="2395728" cy="2478024"/>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QO_5_BD.20_2#fd475c1ba?htil=3&amp;vcp=1&amp;pid=e982b2f02&amp;color=0,0,0&amp;vtp=1&amp;bt=1&amp;bbb=1&amp;hb=1&amp;hs=1"/>
          <p:cNvSpPr/>
          <p:nvPr/>
        </p:nvSpPr>
        <p:spPr>
          <a:xfrm>
            <a:off x="393192" y="1529112"/>
            <a:ext cx="8869680" cy="1596200"/>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变式2-1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（经典·江苏高考）</a:t>
            </a:r>
            <a:r>
              <a:rPr lang="en-US" altLang="zh-CN" sz="2400" b="0" i="0" dirty="0">
                <a:solidFill>
                  <a:srgbClr val="000000"/>
                </a:solidFill>
                <a:latin typeface="Times New Roman" pitchFamily="34" charset="0"/>
                <a:ea typeface="微软雅黑" pitchFamily="34" charset="-122"/>
                <a:cs typeface="Times New Roman" pitchFamily="34" charset="-120"/>
              </a:rPr>
              <a:t>小明同学在家自主开展实验探究</a:t>
            </a:r>
            <a:r>
              <a:rPr lang="en-US" altLang="zh-CN" sz="2400" b="0" i="0">
                <a:solidFill>
                  <a:srgbClr val="000000"/>
                </a:solidFill>
                <a:latin typeface="Times New Roman" pitchFamily="34" charset="0"/>
                <a:ea typeface="微软雅黑" pitchFamily="34" charset="-122"/>
                <a:cs typeface="Times New Roman" pitchFamily="34" charset="-120"/>
              </a:rPr>
              <a:t>.用手</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机拍摄物体自由下落的视频</a:t>
            </a:r>
            <a:r>
              <a:rPr lang="en-US" altLang="zh-CN" sz="2400" b="0" i="0" dirty="0">
                <a:solidFill>
                  <a:srgbClr val="000000"/>
                </a:solidFill>
                <a:latin typeface="Times New Roman" pitchFamily="34" charset="0"/>
                <a:ea typeface="微软雅黑" pitchFamily="34" charset="-122"/>
                <a:cs typeface="Times New Roman" pitchFamily="34" charset="-120"/>
              </a:rPr>
              <a:t>，得到分帧图片</a:t>
            </a:r>
            <a:r>
              <a:rPr lang="en-US" altLang="zh-CN" sz="2400" b="0" i="0">
                <a:solidFill>
                  <a:srgbClr val="000000"/>
                </a:solidFill>
                <a:latin typeface="Times New Roman" pitchFamily="34" charset="0"/>
                <a:ea typeface="微软雅黑" pitchFamily="34" charset="-122"/>
                <a:cs typeface="Times New Roman" pitchFamily="34" charset="-120"/>
              </a:rPr>
              <a:t>，利用图片中小球的位</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置来测量当地的重力加速度</a:t>
            </a:r>
            <a:r>
              <a:rPr lang="en-US" altLang="zh-CN" sz="2400" b="0" i="0" dirty="0">
                <a:solidFill>
                  <a:srgbClr val="000000"/>
                </a:solidFill>
                <a:latin typeface="Times New Roman" pitchFamily="34" charset="0"/>
                <a:ea typeface="微软雅黑" pitchFamily="34" charset="-122"/>
                <a:cs typeface="Times New Roman" pitchFamily="34" charset="-120"/>
              </a:rPr>
              <a:t>，实验装置如图甲所示.</a:t>
            </a:r>
            <a:endParaRPr lang="en-US" altLang="zh-CN" sz="2400" dirty="0"/>
          </a:p>
        </p:txBody>
      </p:sp>
      <p:sp>
        <p:nvSpPr>
          <p:cNvPr id="4" name="QB_6_BD.21_1#d959cda00?htil=3&amp;vcp=1&amp;pid=fd475c1ba&amp;color=0,0,0&amp;vtp=1&amp;bbb=1&amp;hb=1&amp;hs=1"/>
          <p:cNvSpPr/>
          <p:nvPr/>
        </p:nvSpPr>
        <p:spPr>
          <a:xfrm>
            <a:off x="393192" y="3181318"/>
            <a:ext cx="8869680"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（1）家中有乒乓球、小塑料球和小钢球</a:t>
            </a:r>
            <a:r>
              <a:rPr lang="en-US" altLang="zh-CN" sz="2400" b="0" i="0">
                <a:solidFill>
                  <a:srgbClr val="000000"/>
                </a:solidFill>
                <a:latin typeface="Times New Roman" pitchFamily="34" charset="0"/>
                <a:ea typeface="微软雅黑" pitchFamily="34" charset="-122"/>
                <a:cs typeface="Times New Roman" pitchFamily="34" charset="-120"/>
              </a:rPr>
              <a:t>，其中最适合用作实验中</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下落物体的是</a:t>
            </a:r>
            <a:r>
              <a:rPr lang="en-US" altLang="zh-CN" sz="2400" i="0">
                <a:solidFill>
                  <a:srgbClr val="000000"/>
                </a:solidFill>
                <a:latin typeface="SimSun" pitchFamily="34" charset="0"/>
                <a:ea typeface="SimSun" pitchFamily="34" charset="-122"/>
                <a:cs typeface="SimSun" pitchFamily="34" charset="-120"/>
              </a:rPr>
              <a:t>________</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5" name="QB_6_AN.22_1#d959cda00.blank?vcp=1&amp;pid=fd475c1ba&amp;color=0,0,0&amp;vpa=7&amp;vtp=1&amp;bbb=1"/>
          <p:cNvSpPr/>
          <p:nvPr/>
        </p:nvSpPr>
        <p:spPr>
          <a:xfrm>
            <a:off x="2238661" y="3690588"/>
            <a:ext cx="1135063" cy="47879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小钢球</a:t>
            </a:r>
            <a:endParaRPr lang="en-US" altLang="zh-CN" sz="2400" dirty="0"/>
          </a:p>
        </p:txBody>
      </p:sp>
      <p:sp>
        <p:nvSpPr>
          <p:cNvPr id="6" name="QB_6_AS.23_1#d959cda00?vcp=1&amp;pid=fd475c1ba&amp;color=0,0,0&amp;vtp=1&amp;bbb=1&amp;hb=1&amp;hs=1"/>
          <p:cNvSpPr/>
          <p:nvPr/>
        </p:nvSpPr>
        <p:spPr>
          <a:xfrm>
            <a:off x="393192" y="4288948"/>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小球下落过程中有空气阻力作用，当小球的重力远大于空气阻力时</a:t>
            </a:r>
            <a:r>
              <a:rPr lang="en-US" altLang="zh-CN" sz="2400" b="1" i="0">
                <a:solidFill>
                  <a:srgbClr val="FF0000"/>
                </a:solidFill>
                <a:latin typeface="Times New Roman" pitchFamily="34" charset="0"/>
                <a:ea typeface="微软雅黑" pitchFamily="34" charset="-122"/>
                <a:cs typeface="Times New Roman" pitchFamily="34" charset="-120"/>
              </a:rPr>
              <a:t>，就可忽略</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掉空气阻力的影响</a:t>
            </a:r>
            <a:r>
              <a:rPr lang="en-US" altLang="zh-CN" sz="2400" b="1" i="0" dirty="0">
                <a:solidFill>
                  <a:srgbClr val="FF0000"/>
                </a:solidFill>
                <a:latin typeface="Times New Roman" pitchFamily="34" charset="0"/>
                <a:ea typeface="微软雅黑" pitchFamily="34" charset="-122"/>
                <a:cs typeface="Times New Roman" pitchFamily="34" charset="-120"/>
              </a:rPr>
              <a:t>，所以应该选择小钢球.</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6"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20&amp;si=20">
    <p:spTree>
      <p:nvGrpSpPr>
        <p:cNvPr id="1" name=""/>
        <p:cNvGrpSpPr/>
        <p:nvPr/>
      </p:nvGrpSpPr>
      <p:grpSpPr>
        <a:xfrm>
          <a:off x="0" y="0"/>
          <a:ext cx="0" cy="0"/>
          <a:chOff x="0" y="0"/>
          <a:chExt cx="0" cy="0"/>
        </a:xfrm>
      </p:grpSpPr>
      <p:sp>
        <p:nvSpPr>
          <p:cNvPr id="2" name="QB_6_BD.24_1#6f80ae692?vcp=1&amp;pid=fd475c1ba&amp;color=0,0,0&amp;vtp=1&amp;bt=1&amp;bbb=1"/>
          <p:cNvSpPr/>
          <p:nvPr/>
        </p:nvSpPr>
        <p:spPr>
          <a:xfrm>
            <a:off x="393192" y="1525365"/>
            <a:ext cx="11402568" cy="271399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0" i="0">
                <a:solidFill>
                  <a:srgbClr val="000000"/>
                </a:solidFill>
                <a:latin typeface="Times New Roman" pitchFamily="34" charset="0"/>
                <a:ea typeface="微软雅黑" pitchFamily="34" charset="-122"/>
                <a:cs typeface="Times New Roman" pitchFamily="34" charset="-120"/>
              </a:rPr>
              <a:t>）下列主要操作步骤的正确顺序是</a:t>
            </a:r>
            <a:r>
              <a:rPr lang="en-US" altLang="zh-CN" sz="2400" i="0">
                <a:solidFill>
                  <a:srgbClr val="000000"/>
                </a:solidFill>
                <a:latin typeface="SimSun" pitchFamily="34" charset="0"/>
                <a:ea typeface="SimSun" pitchFamily="34" charset="-122"/>
                <a:cs typeface="SimSun" pitchFamily="34" charset="-120"/>
              </a:rPr>
              <a:t>__________</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填写各步骤前的序号）.</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①</a:t>
            </a:r>
            <a:r>
              <a:rPr lang="en-US" altLang="zh-CN" sz="2400" b="0" i="0" dirty="0">
                <a:solidFill>
                  <a:srgbClr val="000000"/>
                </a:solidFill>
                <a:latin typeface="Times New Roman" pitchFamily="34" charset="0"/>
                <a:ea typeface="微软雅黑" pitchFamily="34" charset="-122"/>
                <a:cs typeface="Times New Roman" pitchFamily="34" charset="-120"/>
              </a:rPr>
              <a:t>把刻度尺竖直固定在墙上</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②</a:t>
            </a:r>
            <a:r>
              <a:rPr lang="en-US" altLang="zh-CN" sz="2400" b="0" i="0" dirty="0">
                <a:solidFill>
                  <a:srgbClr val="000000"/>
                </a:solidFill>
                <a:latin typeface="Times New Roman" pitchFamily="34" charset="0"/>
                <a:ea typeface="微软雅黑" pitchFamily="34" charset="-122"/>
                <a:cs typeface="Times New Roman" pitchFamily="34" charset="-120"/>
              </a:rPr>
              <a:t>捏住小球，从刻度尺旁静止释放</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③</a:t>
            </a:r>
            <a:r>
              <a:rPr lang="en-US" altLang="zh-CN" sz="2400" b="0" i="0" dirty="0">
                <a:solidFill>
                  <a:srgbClr val="000000"/>
                </a:solidFill>
                <a:latin typeface="Times New Roman" pitchFamily="34" charset="0"/>
                <a:ea typeface="微软雅黑" pitchFamily="34" charset="-122"/>
                <a:cs typeface="Times New Roman" pitchFamily="34" charset="-120"/>
              </a:rPr>
              <a:t>手机固定在三脚架上，调整好手机镜头的位置</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④</a:t>
            </a:r>
            <a:r>
              <a:rPr lang="en-US" altLang="zh-CN" sz="2400" b="0" i="0" dirty="0">
                <a:solidFill>
                  <a:srgbClr val="000000"/>
                </a:solidFill>
                <a:latin typeface="Times New Roman" pitchFamily="34" charset="0"/>
                <a:ea typeface="微软雅黑" pitchFamily="34" charset="-122"/>
                <a:cs typeface="Times New Roman" pitchFamily="34" charset="-120"/>
              </a:rPr>
              <a:t>打开手机摄像功能，开始摄像</a:t>
            </a:r>
            <a:endParaRPr lang="en-US" altLang="zh-CN" sz="2400" dirty="0"/>
          </a:p>
        </p:txBody>
      </p:sp>
      <p:sp>
        <p:nvSpPr>
          <p:cNvPr id="3" name="QB_6_AN.25_1#6f80ae692.blank?vcp=1&amp;pid=fd475c1ba&amp;color=0,0,0&amp;vpa=8&amp;vtp=1&amp;bbb=1"/>
          <p:cNvSpPr/>
          <p:nvPr/>
        </p:nvSpPr>
        <p:spPr>
          <a:xfrm>
            <a:off x="5439060" y="1497425"/>
            <a:ext cx="1439863" cy="497840"/>
          </a:xfrm>
          <a:prstGeom prst="rect">
            <a:avLst/>
          </a:prstGeom>
          <a:noFill/>
          <a:ln/>
        </p:spPr>
        <p:txBody>
          <a:bodyPr wrap="none" lIns="0" tIns="0" rIns="0" bIns="0" rtlCol="0" anchor="t"/>
          <a:lstStyle/>
          <a:p>
            <a:pPr algn="ctr"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①③④②</a:t>
            </a:r>
            <a:endParaRPr lang="en-US" altLang="zh-CN" sz="2400" dirty="0"/>
          </a:p>
        </p:txBody>
      </p:sp>
      <p:sp>
        <p:nvSpPr>
          <p:cNvPr id="4" name="QB_6_AS.26_1#6f80ae692?vcp=1&amp;pid=fd475c1ba&amp;color=0,0,0&amp;vtp=1&amp;bbb=1&amp;hb=1"/>
          <p:cNvSpPr/>
          <p:nvPr/>
        </p:nvSpPr>
        <p:spPr>
          <a:xfrm>
            <a:off x="393192" y="4281265"/>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实验中正确的操作步骤是先安装实验器材，然后进行实验操作</a:t>
            </a:r>
            <a:r>
              <a:rPr lang="en-US" altLang="zh-CN" sz="2400" b="1" i="0">
                <a:solidFill>
                  <a:srgbClr val="FF0000"/>
                </a:solidFill>
                <a:latin typeface="Times New Roman" pitchFamily="34" charset="0"/>
                <a:ea typeface="微软雅黑" pitchFamily="34" charset="-122"/>
                <a:cs typeface="Times New Roman" pitchFamily="34" charset="-120"/>
              </a:rPr>
              <a:t>.故正确的顺序</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为</a:t>
            </a:r>
            <a:r>
              <a:rPr lang="en-US" altLang="zh-CN" sz="2400" b="1" i="0" dirty="0">
                <a:solidFill>
                  <a:srgbClr val="FF0000"/>
                </a:solidFill>
                <a:latin typeface="Times New Roman" pitchFamily="34" charset="0"/>
                <a:ea typeface="微软雅黑" pitchFamily="34" charset="-122"/>
                <a:cs typeface="Times New Roman" pitchFamily="34" charset="-120"/>
              </a:rPr>
              <a:t>①③④②.</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wipe(left)">
                                      <p:cBhvr>
                                        <p:cTn id="15" dur="500"/>
                                        <p:tgtEl>
                                          <p:spTgt spid="4">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wipe(left)">
                                      <p:cBhvr>
                                        <p:cTn id="21"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1&amp;si=21">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B_6_BD.27_1#8d7b32114?vcp=1&amp;pid=fd475c1ba&amp;color=0,0,0&amp;vtp=1&amp;bt=1&amp;bbb=1&amp;hb=1"/>
              <p:cNvSpPr/>
              <p:nvPr/>
            </p:nvSpPr>
            <p:spPr>
              <a:xfrm>
                <a:off x="393192" y="585502"/>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（3）停止摄像，从视频中截取三帧图片，图片中的小球和刻度如图乙所示</a:t>
                </a:r>
                <a:r>
                  <a:rPr lang="en-US" altLang="zh-CN" sz="2400" b="0" i="0">
                    <a:solidFill>
                      <a:srgbClr val="000000"/>
                    </a:solidFill>
                    <a:latin typeface="Times New Roman" pitchFamily="34" charset="0"/>
                    <a:ea typeface="微软雅黑" pitchFamily="34" charset="-122"/>
                    <a:cs typeface="Times New Roman" pitchFamily="34" charset="-120"/>
                  </a:rPr>
                  <a:t>.已知所截</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取的图片相邻两帧之间的时间间隔为</a:t>
                </a:r>
                <a14:m>
                  <m:oMath xmlns:m="http://schemas.openxmlformats.org/officeDocument/2006/math">
                    <m:r>
                      <m:rPr>
                        <m:nor/>
                      </m:rPr>
                      <a:rPr lang="en-US" altLang="zh-CN" sz="2400" b="0" i="0" smtClean="0">
                        <a:solidFill>
                          <a:srgbClr val="000000"/>
                        </a:solidFill>
                        <a:latin typeface="Cambria Math" pitchFamily="34" charset="0"/>
                        <a:ea typeface="Cambria Math" pitchFamily="34" charset="-122"/>
                        <a:cs typeface="Cambria Math" pitchFamily="34" charset="-120"/>
                      </a:rPr>
                      <m:t> </m:t>
                    </m:r>
                    <m:f>
                      <m:f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num>
                      <m:den>
                        <m:r>
                          <a:rPr lang="en-US" altLang="zh-CN" sz="2400" b="0" i="0">
                            <a:solidFill>
                              <a:srgbClr val="000000"/>
                            </a:solidFill>
                            <a:latin typeface="Cambria Math" pitchFamily="34" charset="0"/>
                            <a:ea typeface="Cambria Math" pitchFamily="34" charset="-122"/>
                            <a:cs typeface="Cambria Math" pitchFamily="34" charset="-120"/>
                          </a:rPr>
                          <m:t>6</m:t>
                        </m:r>
                      </m:den>
                    </m:f>
                    <m:r>
                      <m:rPr>
                        <m:nor/>
                      </m:rPr>
                      <a:rPr lang="en-US" altLang="zh-CN" sz="2400" b="0" i="0" smtClean="0">
                        <a:solidFill>
                          <a:srgbClr val="000000"/>
                        </a:solidFill>
                        <a:latin typeface="Cambria Math" pitchFamily="34" charset="0"/>
                        <a:ea typeface="Cambria Math" pitchFamily="34" charset="-122"/>
                        <a:cs typeface="Cambria Math" pitchFamily="34" charset="-120"/>
                      </a:rPr>
                      <m:t> </m:t>
                    </m:r>
                    <m:r>
                      <m:rPr>
                        <m:sty m:val="p"/>
                      </m:rPr>
                      <a:rPr lang="en-US" altLang="zh-CN" sz="2400" b="0" i="0" smtClean="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，刻度尺的分度值是</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1</m:t>
                    </m:r>
                    <m:r>
                      <m:rPr>
                        <m:nor/>
                      </m:rPr>
                      <a:rPr lang="en-US" altLang="zh-CN" sz="2400" b="0" i="0" smtClean="0">
                        <a:solidFill>
                          <a:srgbClr val="000000"/>
                        </a:solidFill>
                        <a:latin typeface="Cambria Math" pitchFamily="34" charset="0"/>
                        <a:ea typeface="Cambria Math" pitchFamily="34" charset="-122"/>
                        <a:cs typeface="Cambria Math" pitchFamily="34" charset="-120"/>
                      </a:rPr>
                      <m:t> </m:t>
                    </m:r>
                    <m:r>
                      <m:rPr>
                        <m:sty m:val="p"/>
                      </m:rPr>
                      <a:rPr lang="en-US" altLang="zh-CN" sz="2400" b="0" i="0" smtClean="0">
                        <a:solidFill>
                          <a:srgbClr val="000000"/>
                        </a:solidFill>
                        <a:latin typeface="Cambria Math" pitchFamily="34" charset="0"/>
                        <a:ea typeface="Cambria Math" pitchFamily="34" charset="-122"/>
                        <a:cs typeface="Cambria Math" pitchFamily="34" charset="-120"/>
                      </a:rPr>
                      <m:t>mm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,由此测得重力加速</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度为</a:t>
                </a:r>
                <a:r>
                  <a:rPr lang="en-US" altLang="zh-CN" sz="2400" i="0">
                    <a:solidFill>
                      <a:srgbClr val="000000"/>
                    </a:solidFill>
                    <a:latin typeface="SimSun" pitchFamily="34" charset="0"/>
                    <a:ea typeface="SimSun" pitchFamily="34" charset="-122"/>
                    <a:cs typeface="SimSun" pitchFamily="34" charset="-120"/>
                  </a:rPr>
                  <a:t>_____________________</a:t>
                </a:r>
                <a14:m>
                  <m:oMath xmlns:m="http://schemas.openxmlformats.org/officeDocument/2006/math">
                    <m:r>
                      <m:rPr>
                        <m:sty m:val="p"/>
                      </m:rPr>
                      <a:rPr lang="en-US" altLang="zh-CN" sz="2400" b="0" i="0" smtClean="0">
                        <a:solidFill>
                          <a:srgbClr val="000000"/>
                        </a:solidFill>
                        <a:latin typeface="Cambria Math" pitchFamily="34" charset="0"/>
                        <a:ea typeface="Cambria Math" pitchFamily="34" charset="-122"/>
                        <a:cs typeface="Cambria Math" pitchFamily="34" charset="-120"/>
                      </a:rPr>
                      <m:t>m</m:t>
                    </m:r>
                    <m:r>
                      <a:rPr lang="en-US" altLang="zh-CN" sz="2400" b="0" i="0" smtClean="0">
                        <a:solidFill>
                          <a:srgbClr val="000000"/>
                        </a:solidFill>
                        <a:latin typeface="Cambria Math" pitchFamily="34" charset="0"/>
                        <a:ea typeface="Cambria Math" pitchFamily="34" charset="-122"/>
                        <a:cs typeface="Cambria Math" pitchFamily="34" charset="-120"/>
                      </a:rPr>
                      <m:t>/</m:t>
                    </m:r>
                    <m:sSup>
                      <m:sSup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solidFill>
                    <a:srgbClr val="000000"/>
                  </a:solidFill>
                </a:endParaRPr>
              </a:p>
            </p:txBody>
          </p:sp>
        </mc:Choice>
        <mc:Fallback>
          <p:sp>
            <p:nvSpPr>
              <p:cNvPr id="2" name="QB_6_BD.27_1#8d7b32114?vcp=1&amp;pid=fd475c1ba&amp;color=0,0,0&amp;vtp=1&amp;bt=1&amp;bbb=1&amp;hb=1"/>
              <p:cNvSpPr>
                <a:spLocks noRot="1" noChangeAspect="1" noMove="1" noResize="1" noEditPoints="1" noAdjustHandles="1" noChangeArrowheads="1" noChangeShapeType="1" noTextEdit="1"/>
              </p:cNvSpPr>
              <p:nvPr/>
            </p:nvSpPr>
            <p:spPr>
              <a:xfrm>
                <a:off x="393192" y="585502"/>
                <a:ext cx="11402568" cy="1592199"/>
              </a:xfrm>
              <a:prstGeom prst="rect">
                <a:avLst/>
              </a:prstGeom>
              <a:blipFill>
                <a:blip r:embed="rId3"/>
                <a:stretch>
                  <a:fillRect l="-1658" r="-1390" b="-11877"/>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QB_6_AN.28_1#8d7b32114.blank?vcp=1&amp;pid=fd475c1ba&amp;color=0,0,0&amp;vpa=9&amp;vtp=1&amp;bbb=1"/>
              <p:cNvSpPr/>
              <p:nvPr/>
            </p:nvSpPr>
            <p:spPr>
              <a:xfrm>
                <a:off x="1039304" y="1755743"/>
                <a:ext cx="3144266" cy="358267"/>
              </a:xfrm>
              <a:prstGeom prst="rect">
                <a:avLst/>
              </a:prstGeom>
              <a:noFill/>
              <a:ln/>
            </p:spPr>
            <p:txBody>
              <a:bodyPr wrap="none" lIns="0" tIns="0" rIns="0" bIns="0" rtlCol="0" anchor="t"/>
              <a:lstStyle/>
              <a:p>
                <a:pPr algn="ctr" latinLnBrk="1">
                  <a:lnSpc>
                    <a:spcPts val="3000"/>
                  </a:lnSpc>
                </a:pP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𝟗</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𝟔</m:t>
                    </m:r>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𝟗</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𝟓</m:t>
                    </m:r>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𝟗</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𝟕</m:t>
                    </m:r>
                  </m:oMath>
                </a14:m>
                <a:r>
                  <a:rPr lang="en-US" altLang="zh-CN" sz="2400" b="1" i="0" dirty="0">
                    <a:solidFill>
                      <a:srgbClr val="FF0000"/>
                    </a:solidFill>
                    <a:latin typeface="Times New Roman" pitchFamily="34" charset="0"/>
                    <a:ea typeface="微软雅黑" pitchFamily="34" charset="-122"/>
                    <a:cs typeface="Times New Roman" pitchFamily="34" charset="-120"/>
                  </a:rPr>
                  <a:t>都算对</a:t>
                </a:r>
                <a14:m>
                  <m:oMath xmlns:m="http://schemas.openxmlformats.org/officeDocument/2006/math">
                    <m:r>
                      <a:rPr lang="en-US" altLang="zh-CN" sz="2400" b="1" i="0" smtClean="0">
                        <a:solidFill>
                          <a:srgbClr val="FF0000"/>
                        </a:solidFill>
                        <a:latin typeface="Cambria Math" pitchFamily="34" charset="0"/>
                        <a:ea typeface="Cambria Math" pitchFamily="34" charset="-122"/>
                        <a:cs typeface="Cambria Math" pitchFamily="34" charset="-120"/>
                      </a:rPr>
                      <m:t>)</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endParaRPr lang="en-US" altLang="zh-CN" sz="100" dirty="0"/>
              </a:p>
            </p:txBody>
          </p:sp>
        </mc:Choice>
        <mc:Fallback>
          <p:sp>
            <p:nvSpPr>
              <p:cNvPr id="3" name="QB_6_AN.28_1#8d7b32114.blank?vcp=1&amp;pid=fd475c1ba&amp;color=0,0,0&amp;vpa=9&amp;vtp=1&amp;bbb=1"/>
              <p:cNvSpPr>
                <a:spLocks noRot="1" noChangeAspect="1" noMove="1" noResize="1" noEditPoints="1" noAdjustHandles="1" noChangeArrowheads="1" noChangeShapeType="1" noTextEdit="1"/>
              </p:cNvSpPr>
              <p:nvPr/>
            </p:nvSpPr>
            <p:spPr>
              <a:xfrm>
                <a:off x="1039304" y="1755743"/>
                <a:ext cx="3144266" cy="358267"/>
              </a:xfrm>
              <a:prstGeom prst="rect">
                <a:avLst/>
              </a:prstGeom>
              <a:blipFill>
                <a:blip r:embed="rId4"/>
                <a:stretch>
                  <a:fillRect l="-775" t="-27119" r="-2132" b="-52542"/>
                </a:stretch>
              </a:blipFill>
              <a:ln/>
            </p:spPr>
            <p:txBody>
              <a:bodyPr/>
              <a:lstStyle/>
              <a:p>
                <a:r>
                  <a:rPr lang="zh-CN" altLang="en-US">
                    <a:noFill/>
                  </a:rPr>
                  <a:t> </a:t>
                </a:r>
              </a:p>
            </p:txBody>
          </p:sp>
        </mc:Fallback>
      </mc:AlternateContent>
      <p:pic>
        <p:nvPicPr>
          <p:cNvPr id="4" name="QB_6_BD.27_2#8d7b32114?vcp=1&amp;pid=fd475c1ba&amp;color=0,0,0&amp;tib=255,255,255&amp;vt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3537803" y="2314036"/>
            <a:ext cx="5113349" cy="1698815"/>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B_6_AS.29_1#8d7b32114?vcp=1&amp;pid=fd475c1ba&amp;color=0,0,0&amp;vtp=1&amp;bbb=1&amp;hb=1"/>
              <p:cNvSpPr/>
              <p:nvPr/>
            </p:nvSpPr>
            <p:spPr>
              <a:xfrm>
                <a:off x="393192" y="4143406"/>
                <a:ext cx="11402568" cy="1930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由题图乙可知三张图片中小球对应的位置坐标分别为</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𝟐</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𝟓𝟎</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𝐜𝐦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400"/>
                  </a:lnSpc>
                </a:pP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𝟐𝟔</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𝟓𝟎</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𝐜𝐦</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𝟑</m:t>
                        </m:r>
                      </m:sub>
                    </m:sSub>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𝟕𝟕</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𝟏𝟓</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𝐜𝐦</m:t>
                    </m:r>
                  </m:oMath>
                </a14:m>
                <a:r>
                  <a:rPr lang="en-US" altLang="zh-CN" sz="2400" b="1" i="0" dirty="0">
                    <a:solidFill>
                      <a:srgbClr val="FF0000"/>
                    </a:solidFill>
                    <a:latin typeface="Times New Roman" pitchFamily="34" charset="0"/>
                    <a:ea typeface="微软雅黑" pitchFamily="34" charset="-122"/>
                    <a:cs typeface="Times New Roman" pitchFamily="34" charset="-120"/>
                  </a:rPr>
                  <a:t>,相邻两位置间的距离分别为</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𝒔</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𝟐𝟒</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𝟎𝟎</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𝐜𝐦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6400"/>
                  </a:lnSpc>
                </a:pP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𝒔</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𝟓𝟎</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𝟔𝟓</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𝐜𝐦</m:t>
                    </m:r>
                  </m:oMath>
                </a14:m>
                <a:r>
                  <a:rPr lang="en-US" altLang="zh-CN" sz="2400" b="1" i="0" dirty="0">
                    <a:solidFill>
                      <a:srgbClr val="FF0000"/>
                    </a:solidFill>
                    <a:latin typeface="Times New Roman" pitchFamily="34" charset="0"/>
                    <a:ea typeface="微软雅黑" pitchFamily="34" charset="-122"/>
                    <a:cs typeface="Times New Roman" pitchFamily="34" charset="-120"/>
                  </a:rPr>
                  <a:t>,由</a:t>
                </a:r>
                <a14:m>
                  <m:oMath xmlns:m="http://schemas.openxmlformats.org/officeDocument/2006/math">
                    <m:r>
                      <a:rPr lang="en-US" altLang="zh-CN" sz="2400" b="1" i="0" smtClean="0">
                        <a:solidFill>
                          <a:srgbClr val="FF0000"/>
                        </a:solidFill>
                        <a:latin typeface="Cambria Math" pitchFamily="34" charset="0"/>
                        <a:ea typeface="Cambria Math" pitchFamily="34" charset="-122"/>
                        <a:cs typeface="Cambria Math" pitchFamily="34" charset="-120"/>
                      </a:rPr>
                      <m:t>𝚫</m:t>
                    </m:r>
                    <m:r>
                      <a:rPr lang="en-US" altLang="zh-CN" sz="2400" b="1" i="1" smtClean="0">
                        <a:solidFill>
                          <a:srgbClr val="FF0000"/>
                        </a:solidFill>
                        <a:latin typeface="Cambria Math" pitchFamily="34" charset="0"/>
                        <a:ea typeface="Cambria Math" pitchFamily="34" charset="-122"/>
                        <a:cs typeface="Cambria Math" pitchFamily="34" charset="-120"/>
                      </a:rPr>
                      <m:t>𝒔</m:t>
                    </m:r>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𝒈</m:t>
                    </m:r>
                    <m:sSup>
                      <m:sSup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2400" b="1" i="0" dirty="0">
                    <a:solidFill>
                      <a:srgbClr val="FF0000"/>
                    </a:solidFill>
                    <a:latin typeface="Times New Roman" pitchFamily="34" charset="0"/>
                    <a:ea typeface="微软雅黑" pitchFamily="34" charset="-122"/>
                    <a:cs typeface="Times New Roman" pitchFamily="34" charset="-120"/>
                  </a:rPr>
                  <a:t>,解得</a:t>
                </a: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𝒈</m:t>
                    </m:r>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𝒔</m:t>
                        </m:r>
                      </m:num>
                      <m:den>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𝟔𝟓</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𝟐𝟒</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up>
                        </m:sSup>
                      </m:num>
                      <m:den>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𝟔</m:t>
                                </m:r>
                              </m:den>
                            </m:f>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𝐦</m:t>
                    </m:r>
                    <m:r>
                      <a:rPr lang="en-US" altLang="zh-CN" sz="2400" b="1" i="0" smtClean="0">
                        <a:solidFill>
                          <a:srgbClr val="FF0000"/>
                        </a:solidFill>
                        <a:latin typeface="Cambria Math" pitchFamily="34" charset="0"/>
                        <a:ea typeface="Cambria Math" pitchFamily="34" charset="-122"/>
                        <a:cs typeface="Cambria Math" pitchFamily="34" charset="-120"/>
                      </a:rPr>
                      <m:t>/</m:t>
                    </m:r>
                    <m:sSup>
                      <m:sSup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𝟗</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𝟔</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𝐦</m:t>
                    </m:r>
                    <m:r>
                      <a:rPr lang="en-US" altLang="zh-CN" sz="2400" b="1" i="0" smtClean="0">
                        <a:solidFill>
                          <a:srgbClr val="FF0000"/>
                        </a:solidFill>
                        <a:latin typeface="Cambria Math" pitchFamily="34" charset="0"/>
                        <a:ea typeface="Cambria Math" pitchFamily="34" charset="-122"/>
                        <a:cs typeface="Cambria Math" pitchFamily="34" charset="-120"/>
                      </a:rPr>
                      <m:t>/</m:t>
                    </m:r>
                    <m:sSup>
                      <m:sSup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solidFill>
                    <a:srgbClr val="FF0000"/>
                  </a:solidFill>
                </a:endParaRPr>
              </a:p>
            </p:txBody>
          </p:sp>
        </mc:Choice>
        <mc:Fallback>
          <p:sp>
            <p:nvSpPr>
              <p:cNvPr id="5" name="QB_6_AS.29_1#8d7b32114?vcp=1&amp;pid=fd475c1ba&amp;color=0,0,0&amp;vtp=1&amp;bbb=1&amp;hb=1"/>
              <p:cNvSpPr>
                <a:spLocks noRot="1" noChangeAspect="1" noMove="1" noResize="1" noEditPoints="1" noAdjustHandles="1" noChangeArrowheads="1" noChangeShapeType="1" noTextEdit="1"/>
              </p:cNvSpPr>
              <p:nvPr/>
            </p:nvSpPr>
            <p:spPr>
              <a:xfrm>
                <a:off x="393192" y="4143406"/>
                <a:ext cx="11402568" cy="1930400"/>
              </a:xfrm>
              <a:prstGeom prst="rect">
                <a:avLst/>
              </a:prstGeom>
              <a:blipFill>
                <a:blip r:embed="rId6"/>
                <a:stretch>
                  <a:fillRect l="-1658"/>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2&amp;si=22">
    <p:spTree>
      <p:nvGrpSpPr>
        <p:cNvPr id="1" name=""/>
        <p:cNvGrpSpPr/>
        <p:nvPr/>
      </p:nvGrpSpPr>
      <p:grpSpPr>
        <a:xfrm>
          <a:off x="0" y="0"/>
          <a:ext cx="0" cy="0"/>
          <a:chOff x="0" y="0"/>
          <a:chExt cx="0" cy="0"/>
        </a:xfrm>
      </p:grpSpPr>
      <p:sp>
        <p:nvSpPr>
          <p:cNvPr id="2" name="QB_6_BD.30_1#f33d00083?vcp=1&amp;pid=fd475c1ba&amp;color=0,0,0&amp;vtp=1&amp;bt=1&amp;bbb=1&amp;hb=1"/>
          <p:cNvSpPr/>
          <p:nvPr/>
        </p:nvSpPr>
        <p:spPr>
          <a:xfrm>
            <a:off x="393192" y="2112867"/>
            <a:ext cx="11402568" cy="15962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（4）在某次实验中，小明释放小球时手稍有晃动</a:t>
            </a:r>
            <a:r>
              <a:rPr lang="en-US" altLang="zh-CN" sz="2400" b="0" i="0">
                <a:solidFill>
                  <a:srgbClr val="000000"/>
                </a:solidFill>
                <a:latin typeface="Times New Roman" pitchFamily="34" charset="0"/>
                <a:ea typeface="微软雅黑" pitchFamily="34" charset="-122"/>
                <a:cs typeface="Times New Roman" pitchFamily="34" charset="-120"/>
              </a:rPr>
              <a:t>，视频显示小球下落时偏离了竖直</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方向</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从该视频中截取图片，</a:t>
            </a:r>
            <a:r>
              <a:rPr lang="en-US" altLang="zh-CN" sz="2400" i="0">
                <a:solidFill>
                  <a:srgbClr val="000000"/>
                </a:solidFill>
                <a:latin typeface="SimSun" pitchFamily="34" charset="0"/>
                <a:ea typeface="SimSun" pitchFamily="34" charset="-122"/>
                <a:cs typeface="SimSun" pitchFamily="34" charset="-120"/>
              </a:rPr>
              <a:t>______</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填“仍能”或“不能”）用第（3</a:t>
            </a:r>
            <a:r>
              <a:rPr lang="en-US" altLang="zh-CN" sz="2400" b="0" i="0">
                <a:solidFill>
                  <a:srgbClr val="000000"/>
                </a:solidFill>
                <a:latin typeface="Times New Roman" pitchFamily="34" charset="0"/>
                <a:ea typeface="微软雅黑" pitchFamily="34" charset="-122"/>
                <a:cs typeface="Times New Roman" pitchFamily="34" charset="-120"/>
              </a:rPr>
              <a:t>）问中的方法测出</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重力加速度</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B_6_AN.31_1#f33d00083.blank?vcp=1&amp;pid=fd475c1ba&amp;color=0,0,0&amp;vpa=10&amp;vtp=1&amp;bbb=1"/>
          <p:cNvSpPr/>
          <p:nvPr/>
        </p:nvSpPr>
        <p:spPr>
          <a:xfrm>
            <a:off x="4143660" y="2643727"/>
            <a:ext cx="830263" cy="497840"/>
          </a:xfrm>
          <a:prstGeom prst="rect">
            <a:avLst/>
          </a:prstGeom>
          <a:noFill/>
          <a:ln/>
        </p:spPr>
        <p:txBody>
          <a:bodyPr wrap="none" lIns="0" tIns="0" rIns="0" bIns="0" rtlCol="0" anchor="t"/>
          <a:lstStyle/>
          <a:p>
            <a:pPr algn="ctr"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仍能</a:t>
            </a:r>
            <a:endParaRPr lang="en-US" altLang="zh-CN" sz="2400" dirty="0"/>
          </a:p>
        </p:txBody>
      </p:sp>
      <mc:AlternateContent xmlns:mc="http://schemas.openxmlformats.org/markup-compatibility/2006">
        <mc:Choice xmlns:a14="http://schemas.microsoft.com/office/drawing/2010/main" Requires="a14">
          <p:sp>
            <p:nvSpPr>
              <p:cNvPr id="4" name="QB_6_AS.32_1#f33d00083?vcp=1&amp;pid=fd475c1ba&amp;color=0,0,0&amp;vtp=1&amp;bbb=1&amp;hb=1"/>
              <p:cNvSpPr/>
              <p:nvPr/>
            </p:nvSpPr>
            <p:spPr>
              <a:xfrm>
                <a:off x="393192" y="3706463"/>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小球偏离了竖直方向，但是在竖直方向的分运动仍然是加速度为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𝒈</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的匀加速直</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线运动</a:t>
                </a:r>
                <a:r>
                  <a:rPr lang="en-US" altLang="zh-CN" sz="2400" b="1" i="0" dirty="0">
                    <a:solidFill>
                      <a:srgbClr val="FF0000"/>
                    </a:solidFill>
                    <a:latin typeface="Times New Roman" pitchFamily="34" charset="0"/>
                    <a:ea typeface="微软雅黑" pitchFamily="34" charset="-122"/>
                    <a:cs typeface="Times New Roman" pitchFamily="34" charset="-120"/>
                  </a:rPr>
                  <a:t>，仍能用第（3）问中的方法测量重力加速度.</a:t>
                </a:r>
                <a:endParaRPr lang="en-US" altLang="zh-CN" sz="2400" dirty="0"/>
              </a:p>
            </p:txBody>
          </p:sp>
        </mc:Choice>
        <mc:Fallback>
          <p:sp>
            <p:nvSpPr>
              <p:cNvPr id="4" name="QB_6_AS.32_1#f33d00083?vcp=1&amp;pid=fd475c1ba&amp;color=0,0,0&amp;vtp=1&amp;bbb=1&amp;hb=1"/>
              <p:cNvSpPr>
                <a:spLocks noRot="1" noChangeAspect="1" noMove="1" noResize="1" noEditPoints="1" noAdjustHandles="1" noChangeArrowheads="1" noChangeShapeType="1" noTextEdit="1"/>
              </p:cNvSpPr>
              <p:nvPr/>
            </p:nvSpPr>
            <p:spPr>
              <a:xfrm>
                <a:off x="393192" y="3706463"/>
                <a:ext cx="11402568" cy="1037400"/>
              </a:xfrm>
              <a:prstGeom prst="rect">
                <a:avLst/>
              </a:prstGeom>
              <a:blipFill>
                <a:blip r:embed="rId3"/>
                <a:stretch>
                  <a:fillRect l="-1658" r="-160" b="-17647"/>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wipe(left)">
                                      <p:cBhvr>
                                        <p:cTn id="15" dur="500"/>
                                        <p:tgtEl>
                                          <p:spTgt spid="4">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wipe(left)">
                                      <p:cBhvr>
                                        <p:cTn id="21"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3&amp;si=23">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P_5_BD#21b9ac676?vcp=1&amp;pid=e982b2f02&amp;color=0,0,0&amp;vtp=1&amp;bt=1&amp;bbb=1&amp;hb=1"/>
              <p:cNvSpPr/>
              <p:nvPr/>
            </p:nvSpPr>
            <p:spPr>
              <a:xfrm>
                <a:off x="393192" y="672656"/>
                <a:ext cx="11402568" cy="5503799"/>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名师点拨</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实验基本原理</a:t>
                </a:r>
                <a:r>
                  <a:rPr lang="en-US" altLang="zh-CN" sz="2400" b="0" i="0" dirty="0">
                    <a:solidFill>
                      <a:srgbClr val="000000"/>
                    </a:solidFill>
                    <a:latin typeface="Times New Roman" pitchFamily="34" charset="0"/>
                    <a:ea typeface="微软雅黑" pitchFamily="34" charset="-122"/>
                    <a:cs typeface="Times New Roman" pitchFamily="34" charset="-120"/>
                  </a:rPr>
                  <a:t>：重物拖着纸带竖直下落时</a:t>
                </a:r>
                <a:r>
                  <a:rPr lang="en-US" altLang="zh-CN" sz="2400" b="0" i="0">
                    <a:solidFill>
                      <a:srgbClr val="000000"/>
                    </a:solidFill>
                    <a:latin typeface="Times New Roman" pitchFamily="34" charset="0"/>
                    <a:ea typeface="微软雅黑" pitchFamily="34" charset="-122"/>
                    <a:cs typeface="Times New Roman" pitchFamily="34" charset="-120"/>
                  </a:rPr>
                  <a:t>，如果打点计时器与纸带间阻力和空气</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阻力比重物的重力小得多</a:t>
                </a:r>
                <a:r>
                  <a:rPr lang="en-US" altLang="zh-CN" sz="2400" b="0" i="0" dirty="0">
                    <a:solidFill>
                      <a:srgbClr val="000000"/>
                    </a:solidFill>
                    <a:latin typeface="Times New Roman" pitchFamily="34" charset="0"/>
                    <a:ea typeface="微软雅黑" pitchFamily="34" charset="-122"/>
                    <a:cs typeface="Times New Roman" pitchFamily="34" charset="-120"/>
                  </a:rPr>
                  <a:t>，可近似认为重物仅在重力作用下运动</a:t>
                </a:r>
                <a:r>
                  <a:rPr lang="en-US" altLang="zh-CN" sz="2400" b="0" i="0">
                    <a:solidFill>
                      <a:srgbClr val="000000"/>
                    </a:solidFill>
                    <a:latin typeface="Times New Roman" pitchFamily="34" charset="0"/>
                    <a:ea typeface="微软雅黑" pitchFamily="34" charset="-122"/>
                    <a:cs typeface="Times New Roman" pitchFamily="34" charset="-120"/>
                  </a:rPr>
                  <a:t>，根据打出的纸带分</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析</a:t>
                </a:r>
                <a:r>
                  <a:rPr lang="en-US" altLang="zh-CN" sz="2400" b="0" i="0" dirty="0">
                    <a:solidFill>
                      <a:srgbClr val="000000"/>
                    </a:solidFill>
                    <a:latin typeface="Times New Roman" pitchFamily="34" charset="0"/>
                    <a:ea typeface="微软雅黑" pitchFamily="34" charset="-122"/>
                    <a:cs typeface="Times New Roman" pitchFamily="34" charset="-120"/>
                  </a:rPr>
                  <a:t>、研究重物的运动规律.</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实验注意事项</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.为尽量减小空气阻力的影响，重物应选体积小、密度大的，如铁锤.</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.打点计时器应竖直固定好.</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3</a:t>
                </a:r>
                <a:r>
                  <a:rPr lang="en-US" altLang="zh-CN" sz="2400" b="0" i="0" dirty="0">
                    <a:solidFill>
                      <a:srgbClr val="000000"/>
                    </a:solidFill>
                    <a:latin typeface="Times New Roman" pitchFamily="34" charset="0"/>
                    <a:ea typeface="微软雅黑" pitchFamily="34" charset="-122"/>
                    <a:cs typeface="Times New Roman" pitchFamily="34" charset="-120"/>
                  </a:rPr>
                  <a:t>.重物应靠近打点计时器释放，且要先接通打点计时器的电源再释放重物.</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4</a:t>
                </a:r>
                <a:r>
                  <a:rPr lang="en-US" altLang="zh-CN" sz="2400" b="0" i="0" dirty="0">
                    <a:solidFill>
                      <a:srgbClr val="000000"/>
                    </a:solidFill>
                    <a:latin typeface="Times New Roman" pitchFamily="34" charset="0"/>
                    <a:ea typeface="微软雅黑" pitchFamily="34" charset="-122"/>
                    <a:cs typeface="Times New Roman" pitchFamily="34" charset="-120"/>
                  </a:rPr>
                  <a:t>.改变重物的质量，重复打出几条纸带.</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5</a:t>
                </a:r>
                <a:r>
                  <a:rPr lang="en-US" altLang="zh-CN" sz="2400" b="0" i="0" dirty="0">
                    <a:solidFill>
                      <a:srgbClr val="000000"/>
                    </a:solidFill>
                    <a:latin typeface="Times New Roman" pitchFamily="34" charset="0"/>
                    <a:ea typeface="微软雅黑" pitchFamily="34" charset="-122"/>
                    <a:cs typeface="Times New Roman" pitchFamily="34" charset="-120"/>
                  </a:rPr>
                  <a:t>.选点迹清晰，且1、2两计时点间距离小于或接近</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的纸带分析探究.</a:t>
                </a:r>
                <a:endParaRPr lang="en-US" altLang="zh-CN" sz="2400" dirty="0"/>
              </a:p>
            </p:txBody>
          </p:sp>
        </mc:Choice>
        <mc:Fallback>
          <p:sp>
            <p:nvSpPr>
              <p:cNvPr id="2" name="P_5_BD#21b9ac676?vcp=1&amp;pid=e982b2f02&amp;color=0,0,0&amp;vtp=1&amp;bt=1&amp;bbb=1&amp;hb=1"/>
              <p:cNvSpPr>
                <a:spLocks noRot="1" noChangeAspect="1" noMove="1" noResize="1" noEditPoints="1" noAdjustHandles="1" noChangeArrowheads="1" noChangeShapeType="1" noTextEdit="1"/>
              </p:cNvSpPr>
              <p:nvPr/>
            </p:nvSpPr>
            <p:spPr>
              <a:xfrm>
                <a:off x="393192" y="672656"/>
                <a:ext cx="11402568" cy="5503799"/>
              </a:xfrm>
              <a:prstGeom prst="rect">
                <a:avLst/>
              </a:prstGeom>
              <a:blipFill>
                <a:blip r:embed="rId3"/>
                <a:stretch>
                  <a:fillRect l="-1658" r="-535" b="-3433"/>
                </a:stretch>
              </a:blipFill>
              <a:ln/>
            </p:spPr>
            <p:txBody>
              <a:bodyPr/>
              <a:lstStyle/>
              <a:p>
                <a:r>
                  <a:rPr lang="zh-CN" altLang="en-US">
                    <a:noFill/>
                  </a:rPr>
                  <a:t> </a:t>
                </a:r>
              </a:p>
            </p:txBody>
          </p:sp>
        </mc:Fallback>
      </mc:AlternateContent>
    </p:spTree>
  </p:cSld>
  <p:clrMapOvr>
    <a:masterClrMapping/>
  </p:clrMapOvr>
  <p:transition>
    <p:split dir="in"/>
  </p:transition>
</p:sld>
</file>

<file path=ppt/slides/slide23.xml><?xml version="1.0" encoding="utf-8"?>
<p:sld xmlns:a="http://schemas.openxmlformats.org/drawingml/2006/main" xmlns:r="http://schemas.openxmlformats.org/officeDocument/2006/relationships" xmlns:p="http://schemas.openxmlformats.org/presentationml/2006/main">
  <p:cSld name="Slide 24&amp;si=24">
    <p:spTree>
      <p:nvGrpSpPr>
        <p:cNvPr id="1" name=""/>
        <p:cNvGrpSpPr/>
        <p:nvPr/>
      </p:nvGrpSpPr>
      <p:grpSpPr>
        <a:xfrm>
          <a:off x="0" y="0"/>
          <a:ext cx="0" cy="0"/>
          <a:chOff x="0" y="0"/>
          <a:chExt cx="0" cy="0"/>
        </a:xfrm>
      </p:grpSpPr>
      <p:sp>
        <p:nvSpPr>
          <p:cNvPr id="2" name="P_5_BD#21b9ac676?vcp=1&amp;pid=e982b2f02&amp;color=0,0,0&amp;vtp=1&amp;bt=1&amp;bbb=1&amp;hb=1"/>
          <p:cNvSpPr/>
          <p:nvPr/>
        </p:nvSpPr>
        <p:spPr>
          <a:xfrm>
            <a:off x="393192" y="2074005"/>
            <a:ext cx="11402568" cy="27138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方法梳理</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逐差法</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spc="-100">
                <a:solidFill>
                  <a:srgbClr val="000000"/>
                </a:solidFill>
                <a:latin typeface="Times New Roman" pitchFamily="34" charset="0"/>
                <a:ea typeface="微软雅黑" pitchFamily="34" charset="-122"/>
                <a:cs typeface="Times New Roman" pitchFamily="34" charset="-120"/>
              </a:rPr>
              <a:t>逐差法是针对自变量等量变化</a:t>
            </a:r>
            <a:r>
              <a:rPr lang="en-US" altLang="zh-CN" sz="2400" b="0" i="0" spc="-100" dirty="0">
                <a:solidFill>
                  <a:srgbClr val="000000"/>
                </a:solidFill>
                <a:latin typeface="Times New Roman" pitchFamily="34" charset="0"/>
                <a:ea typeface="微软雅黑" pitchFamily="34" charset="-122"/>
                <a:cs typeface="Times New Roman" pitchFamily="34" charset="-120"/>
              </a:rPr>
              <a:t>、因变量也做等量变化时</a:t>
            </a:r>
            <a:r>
              <a:rPr lang="en-US" altLang="zh-CN" sz="2400" b="0" i="0" spc="-100">
                <a:solidFill>
                  <a:srgbClr val="000000"/>
                </a:solidFill>
                <a:latin typeface="Times New Roman" pitchFamily="34" charset="0"/>
                <a:ea typeface="微软雅黑" pitchFamily="34" charset="-122"/>
                <a:cs typeface="Times New Roman" pitchFamily="34" charset="-120"/>
              </a:rPr>
              <a:t>，所测得有序数据等间隔相减</a:t>
            </a:r>
          </a:p>
          <a:p>
            <a:pPr latinLnBrk="1">
              <a:lnSpc>
                <a:spcPts val="4400"/>
              </a:lnSpc>
            </a:pPr>
            <a:r>
              <a:rPr lang="en-US" altLang="zh-CN" sz="2400" b="0" i="0" spc="-100">
                <a:solidFill>
                  <a:srgbClr val="000000"/>
                </a:solidFill>
                <a:latin typeface="Times New Roman" pitchFamily="34" charset="0"/>
                <a:ea typeface="微软雅黑" pitchFamily="34" charset="-122"/>
                <a:cs typeface="Times New Roman" pitchFamily="34" charset="-120"/>
              </a:rPr>
              <a:t>后取其逐差平均值得到的结果</a:t>
            </a:r>
            <a:r>
              <a:rPr lang="en-US" altLang="zh-CN" sz="2400" b="0" i="0" spc="-100" dirty="0">
                <a:solidFill>
                  <a:srgbClr val="000000"/>
                </a:solidFill>
                <a:latin typeface="Times New Roman" pitchFamily="34" charset="0"/>
                <a:ea typeface="微软雅黑" pitchFamily="34" charset="-122"/>
                <a:cs typeface="Times New Roman" pitchFamily="34" charset="-120"/>
              </a:rPr>
              <a:t>.其优点是充分利用了测量数据</a:t>
            </a:r>
            <a:r>
              <a:rPr lang="en-US" altLang="zh-CN" sz="2400" b="0" i="0" spc="-100">
                <a:solidFill>
                  <a:srgbClr val="000000"/>
                </a:solidFill>
                <a:latin typeface="Times New Roman" pitchFamily="34" charset="0"/>
                <a:ea typeface="微软雅黑" pitchFamily="34" charset="-122"/>
                <a:cs typeface="Times New Roman" pitchFamily="34" charset="-120"/>
              </a:rPr>
              <a:t>，便于及时发现差错或数据</a:t>
            </a:r>
          </a:p>
          <a:p>
            <a:pPr latinLnBrk="1">
              <a:lnSpc>
                <a:spcPts val="4200"/>
              </a:lnSpc>
            </a:pPr>
            <a:r>
              <a:rPr lang="en-US" altLang="zh-CN" sz="2400" b="0" i="0" spc="-100">
                <a:solidFill>
                  <a:srgbClr val="000000"/>
                </a:solidFill>
                <a:latin typeface="Times New Roman" pitchFamily="34" charset="0"/>
                <a:ea typeface="微软雅黑" pitchFamily="34" charset="-122"/>
                <a:cs typeface="Times New Roman" pitchFamily="34" charset="-120"/>
              </a:rPr>
              <a:t>的分布规律</a:t>
            </a:r>
            <a:r>
              <a:rPr lang="en-US" altLang="zh-CN" sz="2400" b="0" i="0" spc="-100" dirty="0">
                <a:solidFill>
                  <a:srgbClr val="000000"/>
                </a:solidFill>
                <a:latin typeface="Times New Roman" pitchFamily="34" charset="0"/>
                <a:ea typeface="微软雅黑" pitchFamily="34" charset="-122"/>
                <a:cs typeface="Times New Roman" pitchFamily="34" charset="-120"/>
              </a:rPr>
              <a:t>，及时纠正或总结数据规律.它也是物理实验中处理数据常用的一种方法.</a:t>
            </a:r>
            <a:endParaRPr lang="en-US" altLang="zh-CN" sz="2400" spc="-100" dirty="0"/>
          </a:p>
        </p:txBody>
      </p:sp>
    </p:spTree>
  </p:cSld>
  <p:clrMapOvr>
    <a:masterClrMapping/>
  </p:clrMapOvr>
  <p:transition>
    <p:split dir="in"/>
  </p:transition>
</p:sld>
</file>

<file path=ppt/slides/slide24.xml><?xml version="1.0" encoding="utf-8"?>
<p:sld xmlns:a="http://schemas.openxmlformats.org/drawingml/2006/main" xmlns:r="http://schemas.openxmlformats.org/officeDocument/2006/relationships" xmlns:p="http://schemas.openxmlformats.org/presentationml/2006/main">
  <p:cSld name="Slide 25&amp;si=25">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P_5_BD#21b9ac676?vcp=1&amp;pid=e982b2f02&amp;color=0,0,0&amp;vtp=1&amp;bt=1&amp;bbb=1&amp;hb=1"/>
              <p:cNvSpPr/>
              <p:nvPr/>
            </p:nvSpPr>
            <p:spPr>
              <a:xfrm>
                <a:off x="393192" y="1397476"/>
                <a:ext cx="11402568" cy="38568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拓展延伸</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重力加速度测量的方案创新设计</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.频闪照相法测定重力加速度</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频闪照相机可以每间隔相等的时间拍摄一次，利用频闪照相机可追踪记录做自由</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落体运动的物体的位置</a:t>
                </a:r>
                <a:r>
                  <a:rPr lang="en-US" altLang="zh-CN" sz="2400" b="0" i="0" dirty="0">
                    <a:solidFill>
                      <a:srgbClr val="000000"/>
                    </a:solidFill>
                    <a:latin typeface="Times New Roman" pitchFamily="34" charset="0"/>
                    <a:ea typeface="微软雅黑" pitchFamily="34" charset="-122"/>
                    <a:cs typeface="Times New Roman" pitchFamily="34" charset="-120"/>
                  </a:rPr>
                  <a:t>，根据</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a:rPr lang="en-US" altLang="zh-CN" sz="2400" b="0" i="0">
                        <a:solidFill>
                          <a:srgbClr val="000000"/>
                        </a:solidFill>
                        <a:latin typeface="Cambria Math" pitchFamily="34" charset="0"/>
                        <a:ea typeface="Cambria Math" pitchFamily="34" charset="-122"/>
                        <a:cs typeface="Cambria Math" pitchFamily="34" charset="-120"/>
                      </a:rPr>
                      <m:t>𝑥</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是否为恒量</a:t>
                </a:r>
                <a:r>
                  <a:rPr lang="en-US" altLang="zh-CN" sz="2400" b="0" i="0">
                    <a:solidFill>
                      <a:srgbClr val="000000"/>
                    </a:solidFill>
                    <a:latin typeface="Times New Roman" pitchFamily="34" charset="0"/>
                    <a:ea typeface="微软雅黑" pitchFamily="34" charset="-122"/>
                    <a:cs typeface="Times New Roman" pitchFamily="34" charset="-120"/>
                  </a:rPr>
                  <a:t>，可判断自由落体运动是否为匀变速直线</a:t>
                </a:r>
              </a:p>
              <a:p>
                <a:pPr latinLnBrk="1">
                  <a:lnSpc>
                    <a:spcPts val="4600"/>
                  </a:lnSpc>
                </a:pPr>
                <a:r>
                  <a:rPr lang="en-US" altLang="zh-CN" sz="2400" b="0" i="0">
                    <a:solidFill>
                      <a:srgbClr val="000000"/>
                    </a:solidFill>
                    <a:latin typeface="Times New Roman" pitchFamily="34" charset="0"/>
                    <a:ea typeface="微软雅黑" pitchFamily="34" charset="-122"/>
                    <a:cs typeface="Times New Roman" pitchFamily="34" charset="-120"/>
                  </a:rPr>
                  <a:t>运动</a:t>
                </a:r>
                <a:r>
                  <a:rPr lang="en-US" altLang="zh-CN" sz="2400" b="0" i="0" dirty="0">
                    <a:solidFill>
                      <a:srgbClr val="000000"/>
                    </a:solidFill>
                    <a:latin typeface="Times New Roman" pitchFamily="34" charset="0"/>
                    <a:ea typeface="微软雅黑" pitchFamily="34" charset="-122"/>
                    <a:cs typeface="Times New Roman" pitchFamily="34" charset="-120"/>
                  </a:rPr>
                  <a:t>.根据匀变速直线运动的推论</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a:rPr lang="en-US" altLang="zh-CN" sz="2400" b="0" i="0">
                        <a:solidFill>
                          <a:srgbClr val="000000"/>
                        </a:solidFill>
                        <a:latin typeface="Cambria Math" pitchFamily="34" charset="0"/>
                        <a:ea typeface="Cambria Math" pitchFamily="34" charset="-122"/>
                        <a:cs typeface="Cambria Math" pitchFamily="34" charset="-120"/>
                      </a:rPr>
                      <m:t>h</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dirty="0">
                    <a:solidFill>
                      <a:srgbClr val="000000"/>
                    </a:solidFill>
                    <a:latin typeface="Times New Roman" pitchFamily="34" charset="0"/>
                    <a:ea typeface="微软雅黑" pitchFamily="34" charset="-122"/>
                    <a:cs typeface="Times New Roman" pitchFamily="34" charset="-120"/>
                  </a:rPr>
                  <a:t>可求出重力加速度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m:rPr>
                            <m:sty m:val="p"/>
                          </m:rPr>
                          <a:rPr lang="en-US" altLang="zh-CN" sz="2400" b="0" i="0">
                            <a:solidFill>
                              <a:srgbClr val="000000"/>
                            </a:solidFill>
                            <a:latin typeface="Cambria Math" pitchFamily="34" charset="0"/>
                            <a:ea typeface="Cambria Math" pitchFamily="34" charset="-122"/>
                            <a:cs typeface="Cambria Math" pitchFamily="34" charset="-120"/>
                          </a:rPr>
                          <m:t>Δ</m:t>
                        </m:r>
                        <m:r>
                          <a:rPr lang="en-US" altLang="zh-CN" sz="2400" b="0" i="0">
                            <a:solidFill>
                              <a:srgbClr val="000000"/>
                            </a:solidFill>
                            <a:latin typeface="Cambria Math" pitchFamily="34" charset="0"/>
                            <a:ea typeface="Cambria Math" pitchFamily="34" charset="-122"/>
                            <a:cs typeface="Cambria Math" pitchFamily="34" charset="-120"/>
                          </a:rPr>
                          <m:t>h</m:t>
                        </m:r>
                      </m:num>
                      <m:den>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den>
                    </m:f>
                  </m:oMath>
                </a14:m>
                <a:r>
                  <a:rPr lang="en-US" altLang="zh-CN" sz="2400" b="0" i="0" dirty="0">
                    <a:solidFill>
                      <a:srgbClr val="000000"/>
                    </a:solidFill>
                    <a:latin typeface="Times New Roman" pitchFamily="34" charset="0"/>
                    <a:ea typeface="微软雅黑" pitchFamily="34" charset="-122"/>
                    <a:cs typeface="Times New Roman" pitchFamily="34" charset="-120"/>
                  </a:rPr>
                  <a:t>;由</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𝑣</m:t>
                        </m:r>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num>
                      <m:den>
                        <m:r>
                          <a:rPr lang="en-US" altLang="zh-CN" sz="2400" b="0" i="0">
                            <a:solidFill>
                              <a:srgbClr val="000000"/>
                            </a:solidFill>
                            <a:latin typeface="Cambria Math" pitchFamily="34" charset="0"/>
                            <a:ea typeface="Cambria Math" pitchFamily="34" charset="-122"/>
                            <a:cs typeface="Cambria Math" pitchFamily="34" charset="-120"/>
                          </a:rPr>
                          <m:t>𝑡</m:t>
                        </m:r>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也可求</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出重力加速度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P_5_BD#21b9ac676?vcp=1&amp;pid=e982b2f02&amp;color=0,0,0&amp;vtp=1&amp;bt=1&amp;bbb=1&amp;hb=1"/>
              <p:cNvSpPr>
                <a:spLocks noRot="1" noChangeAspect="1" noMove="1" noResize="1" noEditPoints="1" noAdjustHandles="1" noChangeArrowheads="1" noChangeShapeType="1" noTextEdit="1"/>
              </p:cNvSpPr>
              <p:nvPr/>
            </p:nvSpPr>
            <p:spPr>
              <a:xfrm>
                <a:off x="393192" y="1397476"/>
                <a:ext cx="11402568" cy="3856800"/>
              </a:xfrm>
              <a:prstGeom prst="rect">
                <a:avLst/>
              </a:prstGeom>
              <a:blipFill>
                <a:blip r:embed="rId3"/>
                <a:stretch>
                  <a:fillRect l="-1658" r="-1123" b="-4739"/>
                </a:stretch>
              </a:blipFill>
              <a:ln/>
            </p:spPr>
            <p:txBody>
              <a:bodyPr/>
              <a:lstStyle/>
              <a:p>
                <a:r>
                  <a:rPr lang="zh-CN" altLang="en-US">
                    <a:noFill/>
                  </a:rPr>
                  <a:t> </a:t>
                </a:r>
              </a:p>
            </p:txBody>
          </p:sp>
        </mc:Fallback>
      </mc:AlternateContent>
    </p:spTree>
  </p:cSld>
  <p:clrMapOvr>
    <a:masterClrMapping/>
  </p:clrMapOvr>
  <p:transition>
    <p:split dir="in"/>
  </p:transition>
</p:sld>
</file>

<file path=ppt/slides/slide25.xml><?xml version="1.0" encoding="utf-8"?>
<p:sld xmlns:a="http://schemas.openxmlformats.org/drawingml/2006/main" xmlns:r="http://schemas.openxmlformats.org/officeDocument/2006/relationships" xmlns:p="http://schemas.openxmlformats.org/presentationml/2006/main">
  <p:cSld name="Slide 26&amp;si=26">
    <p:spTree>
      <p:nvGrpSpPr>
        <p:cNvPr id="1" name=""/>
        <p:cNvGrpSpPr/>
        <p:nvPr/>
      </p:nvGrpSpPr>
      <p:grpSpPr>
        <a:xfrm>
          <a:off x="0" y="0"/>
          <a:ext cx="0" cy="0"/>
          <a:chOff x="0" y="0"/>
          <a:chExt cx="0" cy="0"/>
        </a:xfrm>
      </p:grpSpPr>
      <p:pic>
        <p:nvPicPr>
          <p:cNvPr id="2" name="P_5_BD#21b9ac676?htil=4&amp;vcp=1&amp;pid=e982b2f02&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671426" y="731964"/>
            <a:ext cx="2066544" cy="1719072"/>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P_5_BD#21b9ac676?htil=4&amp;vcp=1&amp;pid=e982b2f02&amp;color=0,0,0&amp;vtp=1&amp;bt=1&amp;bbb=1&amp;hb=1&amp;hs=1"/>
          <p:cNvSpPr/>
          <p:nvPr/>
        </p:nvSpPr>
        <p:spPr>
          <a:xfrm>
            <a:off x="393192" y="686244"/>
            <a:ext cx="9198864"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2.滴水法</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1）如图所示，让水滴自水龙头滴下</a:t>
            </a:r>
            <a:r>
              <a:rPr lang="en-US" altLang="zh-CN" sz="2400" b="0" i="0">
                <a:solidFill>
                  <a:srgbClr val="000000"/>
                </a:solidFill>
                <a:latin typeface="Times New Roman" pitchFamily="34" charset="0"/>
                <a:ea typeface="微软雅黑" pitchFamily="34" charset="-122"/>
                <a:cs typeface="Times New Roman" pitchFamily="34" charset="-120"/>
              </a:rPr>
              <a:t>，在水龙头正下方放一个</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盘</a:t>
            </a:r>
            <a:r>
              <a:rPr lang="en-US" altLang="zh-CN" sz="2400" b="0" i="0" dirty="0">
                <a:solidFill>
                  <a:srgbClr val="000000"/>
                </a:solidFill>
                <a:latin typeface="Times New Roman" pitchFamily="34" charset="0"/>
                <a:ea typeface="微软雅黑" pitchFamily="34" charset="-122"/>
                <a:cs typeface="Times New Roman" pitchFamily="34" charset="-120"/>
              </a:rPr>
              <a:t>，调节水龙头，让水一滴一滴地滴下</a:t>
            </a:r>
            <a:r>
              <a:rPr lang="en-US" altLang="zh-CN" sz="2400" b="0" i="0">
                <a:solidFill>
                  <a:srgbClr val="000000"/>
                </a:solidFill>
                <a:latin typeface="Times New Roman" pitchFamily="34" charset="0"/>
                <a:ea typeface="微软雅黑" pitchFamily="34" charset="-122"/>
                <a:cs typeface="Times New Roman" pitchFamily="34" charset="-120"/>
              </a:rPr>
              <a:t>，并调节到使第一滴水碰到盘</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的瞬间</a:t>
            </a:r>
            <a:r>
              <a:rPr lang="en-US" altLang="zh-CN" sz="2400" b="0" i="0" dirty="0">
                <a:solidFill>
                  <a:srgbClr val="000000"/>
                </a:solidFill>
                <a:latin typeface="Times New Roman" pitchFamily="34" charset="0"/>
                <a:ea typeface="微软雅黑" pitchFamily="34" charset="-122"/>
                <a:cs typeface="Times New Roman" pitchFamily="34" charset="-120"/>
              </a:rPr>
              <a:t>，第二滴水正好从水龙头开始下落，并且能依次持续下去.</a:t>
            </a:r>
            <a:endParaRPr lang="en-US" altLang="zh-CN" sz="2400" dirty="0"/>
          </a:p>
        </p:txBody>
      </p:sp>
      <mc:AlternateContent xmlns:mc="http://schemas.openxmlformats.org/markup-compatibility/2006">
        <mc:Choice xmlns:a14="http://schemas.microsoft.com/office/drawing/2010/main" Requires="a14">
          <p:sp>
            <p:nvSpPr>
              <p:cNvPr id="4" name="P_5_BD#21b9ac676?vcp=1&amp;pid=e982b2f02&amp;color=0,0,0&amp;vtp=1&amp;bbb=1&amp;hb=1&amp;hs=1"/>
              <p:cNvSpPr/>
              <p:nvPr/>
            </p:nvSpPr>
            <p:spPr>
              <a:xfrm>
                <a:off x="393192" y="2834894"/>
                <a:ext cx="11402568" cy="3348228"/>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（2）用刻度尺测出水龙头距盘面的高度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h</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3）再测出每滴水下落的时间</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𝑇</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，其方法是：</a:t>
                </a:r>
                <a:r>
                  <a:rPr lang="en-US" altLang="zh-CN" sz="2400" b="0" i="0">
                    <a:solidFill>
                      <a:srgbClr val="000000"/>
                    </a:solidFill>
                    <a:latin typeface="Times New Roman" pitchFamily="34" charset="0"/>
                    <a:ea typeface="微软雅黑" pitchFamily="34" charset="-122"/>
                    <a:cs typeface="Times New Roman" pitchFamily="34" charset="-120"/>
                  </a:rPr>
                  <a:t>当听到某一滴水滴落在盘上的同时，</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开启停表开始计时</a:t>
                </a:r>
                <a:r>
                  <a:rPr lang="en-US" altLang="zh-CN" sz="2400" b="0" i="0" dirty="0">
                    <a:solidFill>
                      <a:srgbClr val="000000"/>
                    </a:solidFill>
                    <a:latin typeface="Times New Roman" pitchFamily="34" charset="0"/>
                    <a:ea typeface="微软雅黑" pitchFamily="34" charset="-122"/>
                    <a:cs typeface="Times New Roman" pitchFamily="34" charset="-120"/>
                  </a:rPr>
                  <a:t>，之后听到水滴下落声依次数1、2、3、4、</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，当数到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𝑛</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时按下停</a:t>
                </a:r>
              </a:p>
              <a:p>
                <a:pPr latinLnBrk="1">
                  <a:lnSpc>
                    <a:spcPts val="5000"/>
                  </a:lnSpc>
                </a:pPr>
                <a:r>
                  <a:rPr lang="en-US" altLang="zh-CN" sz="2400" b="0" i="0">
                    <a:solidFill>
                      <a:srgbClr val="000000"/>
                    </a:solidFill>
                    <a:latin typeface="Times New Roman" pitchFamily="34" charset="0"/>
                    <a:ea typeface="微软雅黑" pitchFamily="34" charset="-122"/>
                    <a:cs typeface="Times New Roman" pitchFamily="34" charset="-120"/>
                  </a:rPr>
                  <a:t>表停止计时</a:t>
                </a:r>
                <a:r>
                  <a:rPr lang="en-US" altLang="zh-CN" sz="2400" b="0" i="0" dirty="0">
                    <a:solidFill>
                      <a:srgbClr val="000000"/>
                    </a:solidFill>
                    <a:latin typeface="Times New Roman" pitchFamily="34" charset="0"/>
                    <a:ea typeface="微软雅黑" pitchFamily="34" charset="-122"/>
                    <a:cs typeface="Times New Roman" pitchFamily="34" charset="-120"/>
                  </a:rPr>
                  <a:t>，则每一滴水下落的时间为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𝑇</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𝑡</m:t>
                        </m:r>
                      </m:num>
                      <m:den>
                        <m:r>
                          <a:rPr lang="en-US" altLang="zh-CN" sz="2400" b="0" i="0">
                            <a:solidFill>
                              <a:srgbClr val="000000"/>
                            </a:solidFill>
                            <a:latin typeface="Cambria Math" pitchFamily="34" charset="0"/>
                            <a:ea typeface="Cambria Math" pitchFamily="34" charset="-122"/>
                            <a:cs typeface="Cambria Math" pitchFamily="34" charset="-120"/>
                          </a:rPr>
                          <m:t>𝑛</m:t>
                        </m:r>
                      </m:den>
                    </m:f>
                  </m:oMath>
                </a14:m>
                <a:r>
                  <a:rPr lang="en-US" altLang="zh-CN" sz="2400" b="0" i="0" dirty="0">
                    <a:solidFill>
                      <a:srgbClr val="000000"/>
                    </a:solidFill>
                    <a:latin typeface="Times New Roman" pitchFamily="34" charset="0"/>
                    <a:ea typeface="微软雅黑" pitchFamily="34" charset="-122"/>
                    <a:cs typeface="Times New Roman" pitchFamily="34" charset="-120"/>
                  </a:rPr>
                  <a:t>.再由</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h</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num>
                      <m:den>
                        <m:r>
                          <a:rPr lang="en-US" altLang="zh-CN" sz="2400" b="0" i="0">
                            <a:solidFill>
                              <a:srgbClr val="000000"/>
                            </a:solidFill>
                            <a:latin typeface="Cambria Math" pitchFamily="34" charset="0"/>
                            <a:ea typeface="Cambria Math" pitchFamily="34" charset="-122"/>
                            <a:cs typeface="Cambria Math" pitchFamily="34" charset="-120"/>
                          </a:rPr>
                          <m:t>2</m:t>
                        </m:r>
                      </m:den>
                    </m:f>
                    <m:r>
                      <a:rPr lang="en-US" altLang="zh-CN" sz="2400" b="0" i="0">
                        <a:solidFill>
                          <a:srgbClr val="000000"/>
                        </a:solidFill>
                        <a:latin typeface="Cambria Math" pitchFamily="34" charset="0"/>
                        <a:ea typeface="Cambria Math" pitchFamily="34" charset="-122"/>
                        <a:cs typeface="Cambria Math" pitchFamily="34" charset="-120"/>
                      </a:rPr>
                      <m:t>𝑔𝑇</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dirty="0">
                    <a:solidFill>
                      <a:srgbClr val="000000"/>
                    </a:solidFill>
                    <a:latin typeface="Times New Roman" pitchFamily="34" charset="0"/>
                    <a:ea typeface="微软雅黑" pitchFamily="34" charset="-122"/>
                    <a:cs typeface="Times New Roman" pitchFamily="34" charset="-120"/>
                  </a:rPr>
                  <a:t>得</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h</m:t>
                        </m:r>
                      </m:num>
                      <m:den>
                        <m:r>
                          <a:rPr lang="en-US" altLang="zh-CN" sz="2400" b="0" i="0">
                            <a:solidFill>
                              <a:srgbClr val="000000"/>
                            </a:solidFill>
                            <a:latin typeface="Cambria Math" pitchFamily="34" charset="0"/>
                            <a:ea typeface="Cambria Math" pitchFamily="34" charset="-122"/>
                            <a:cs typeface="Cambria Math" pitchFamily="34" charset="-120"/>
                          </a:rPr>
                          <m:t>𝑇</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m:t>
                            </m:r>
                          </m:e>
                          <m:sup>
                            <m:r>
                              <a:rPr lang="en-US" altLang="zh-CN" sz="2400" b="0" i="0">
                                <a:solidFill>
                                  <a:srgbClr val="000000"/>
                                </a:solidFill>
                                <a:latin typeface="Cambria Math" pitchFamily="34" charset="0"/>
                                <a:ea typeface="Cambria Math" pitchFamily="34" charset="-122"/>
                                <a:cs typeface="Cambria Math" pitchFamily="34" charset="-120"/>
                              </a:rPr>
                              <m:t>2</m:t>
                            </m:r>
                          </m:sup>
                        </m:sSup>
                      </m:den>
                    </m:f>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2</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𝑛</m:t>
                            </m:r>
                          </m:e>
                          <m:sup>
                            <m:r>
                              <a:rPr lang="en-US" altLang="zh-CN" sz="2400" b="0" i="0">
                                <a:solidFill>
                                  <a:srgbClr val="000000"/>
                                </a:solidFill>
                                <a:latin typeface="Cambria Math" pitchFamily="34" charset="0"/>
                                <a:ea typeface="Cambria Math" pitchFamily="34" charset="-122"/>
                                <a:cs typeface="Cambria Math" pitchFamily="34" charset="-120"/>
                              </a:rPr>
                              <m:t>2</m:t>
                            </m:r>
                          </m:sup>
                        </m:sSup>
                        <m:r>
                          <a:rPr lang="en-US" altLang="zh-CN" sz="2400" b="0" i="0">
                            <a:solidFill>
                              <a:srgbClr val="000000"/>
                            </a:solidFill>
                            <a:latin typeface="Cambria Math" pitchFamily="34" charset="0"/>
                            <a:ea typeface="Cambria Math" pitchFamily="34" charset="-122"/>
                            <a:cs typeface="Cambria Math" pitchFamily="34" charset="-120"/>
                          </a:rPr>
                          <m:t>h</m:t>
                        </m:r>
                      </m:num>
                      <m:den>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𝑡</m:t>
                            </m:r>
                          </m:e>
                          <m:sup>
                            <m:r>
                              <a:rPr lang="en-US" altLang="zh-CN" sz="2400" b="0" i="0">
                                <a:solidFill>
                                  <a:srgbClr val="000000"/>
                                </a:solidFill>
                                <a:latin typeface="Cambria Math" pitchFamily="34" charset="0"/>
                                <a:ea typeface="Cambria Math" pitchFamily="34" charset="-122"/>
                                <a:cs typeface="Cambria Math" pitchFamily="34" charset="-120"/>
                              </a:rPr>
                              <m:t>2</m:t>
                            </m:r>
                          </m:sup>
                        </m:sSup>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4）为了减小实验误差，可改变高度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h</m:t>
                    </m:r>
                  </m:oMath>
                </a14:m>
                <a:r>
                  <a:rPr lang="en-US" altLang="zh-CN" sz="2400" b="0" i="0" dirty="0">
                    <a:solidFill>
                      <a:srgbClr val="000000"/>
                    </a:solidFill>
                    <a:latin typeface="Times New Roman" pitchFamily="34" charset="0"/>
                    <a:ea typeface="微软雅黑" pitchFamily="34" charset="-122"/>
                    <a:cs typeface="Times New Roman" pitchFamily="34" charset="-120"/>
                  </a:rPr>
                  <a:t>，计算出多个重力加速度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的值</a:t>
                </a:r>
                <a:r>
                  <a:rPr lang="en-US" altLang="zh-CN" sz="2400" b="0" i="0">
                    <a:solidFill>
                      <a:srgbClr val="000000"/>
                    </a:solidFill>
                    <a:latin typeface="Times New Roman" pitchFamily="34" charset="0"/>
                    <a:ea typeface="微软雅黑" pitchFamily="34" charset="-122"/>
                    <a:cs typeface="Times New Roman" pitchFamily="34" charset="-120"/>
                  </a:rPr>
                  <a:t>，然后取</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平均值</a:t>
                </a:r>
                <a:r>
                  <a:rPr lang="en-US" altLang="zh-CN" sz="2400" b="0" i="0" dirty="0">
                    <a:solidFill>
                      <a:srgbClr val="000000"/>
                    </a:solidFill>
                    <a:latin typeface="Times New Roman" pitchFamily="34" charset="0"/>
                    <a:ea typeface="微软雅黑" pitchFamily="34" charset="-122"/>
                    <a:cs typeface="Times New Roman" pitchFamily="34" charset="-120"/>
                  </a:rPr>
                  <a:t>，或由</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h</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𝑡</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dirty="0">
                    <a:solidFill>
                      <a:srgbClr val="000000"/>
                    </a:solidFill>
                    <a:latin typeface="Times New Roman" pitchFamily="34" charset="0"/>
                    <a:ea typeface="微软雅黑" pitchFamily="34" charset="-122"/>
                    <a:cs typeface="Times New Roman" pitchFamily="34" charset="-120"/>
                  </a:rPr>
                  <a:t>图像求出重力加速度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的值.</a:t>
                </a:r>
                <a:endParaRPr lang="en-US" altLang="zh-CN" sz="2400" dirty="0"/>
              </a:p>
            </p:txBody>
          </p:sp>
        </mc:Choice>
        <mc:Fallback>
          <p:sp>
            <p:nvSpPr>
              <p:cNvPr id="4" name="P_5_BD#21b9ac676?vcp=1&amp;pid=e982b2f02&amp;color=0,0,0&amp;vtp=1&amp;bbb=1&amp;hb=1&amp;hs=1"/>
              <p:cNvSpPr>
                <a:spLocks noRot="1" noChangeAspect="1" noMove="1" noResize="1" noEditPoints="1" noAdjustHandles="1" noChangeArrowheads="1" noChangeShapeType="1" noTextEdit="1"/>
              </p:cNvSpPr>
              <p:nvPr/>
            </p:nvSpPr>
            <p:spPr>
              <a:xfrm>
                <a:off x="393192" y="2834894"/>
                <a:ext cx="11402568" cy="3348228"/>
              </a:xfrm>
              <a:prstGeom prst="rect">
                <a:avLst/>
              </a:prstGeom>
              <a:blipFill>
                <a:blip r:embed="rId4"/>
                <a:stretch>
                  <a:fillRect l="-1658" r="-3529" b="-5464"/>
                </a:stretch>
              </a:blipFill>
              <a:ln/>
            </p:spPr>
            <p:txBody>
              <a:bodyPr/>
              <a:lstStyle/>
              <a:p>
                <a:r>
                  <a:rPr lang="zh-CN" altLang="en-US">
                    <a:noFill/>
                  </a:rPr>
                  <a:t> </a:t>
                </a:r>
              </a:p>
            </p:txBody>
          </p:sp>
        </mc:Fallback>
      </mc:AlternateContent>
    </p:spTree>
  </p:cSld>
  <p:clrMapOvr>
    <a:masterClrMapping/>
  </p:clrMapOvr>
  <p:transition>
    <p:split dir="in"/>
  </p:transition>
</p:sld>
</file>

<file path=ppt/slides/slide26.xml><?xml version="1.0" encoding="utf-8"?>
<p:sld xmlns:a="http://schemas.openxmlformats.org/drawingml/2006/main" xmlns:r="http://schemas.openxmlformats.org/officeDocument/2006/relationships" xmlns:p="http://schemas.openxmlformats.org/presentationml/2006/main">
  <p:cSld name="Slide 27&amp;si=27">
    <p:spTree>
      <p:nvGrpSpPr>
        <p:cNvPr id="1" name=""/>
        <p:cNvGrpSpPr/>
        <p:nvPr/>
      </p:nvGrpSpPr>
      <p:grpSpPr>
        <a:xfrm>
          <a:off x="0" y="0"/>
          <a:ext cx="0" cy="0"/>
          <a:chOff x="0" y="0"/>
          <a:chExt cx="0" cy="0"/>
        </a:xfrm>
      </p:grpSpPr>
      <p:pic>
        <p:nvPicPr>
          <p:cNvPr id="2" name="C_4#ae1243e6d?vcp=1&amp;pid=f59f0646b&amp;color=0,0,0&amp;tib=255,255,255&amp;vtp=1&amp;bt=1" descr="preencoded.png"/>
          <p:cNvPicPr>
            <a:picLocks noChangeAspect="1"/>
          </p:cNvPicPr>
          <p:nvPr/>
        </p:nvPicPr>
        <p:blipFill>
          <a:blip r:embed="rId3"/>
          <a:stretch>
            <a:fillRect/>
          </a:stretch>
        </p:blipFill>
        <p:spPr>
          <a:xfrm>
            <a:off x="411480" y="502920"/>
            <a:ext cx="11320272" cy="457200"/>
          </a:xfrm>
          <a:prstGeom prst="rect">
            <a:avLst/>
          </a:prstGeom>
        </p:spPr>
      </p:pic>
      <p:sp>
        <p:nvSpPr>
          <p:cNvPr id="3" name="C_4_BD#ae1243e6d?vcp=1&amp;pid=f59f0646b&amp;color=255,255,255&amp;vtp=1"/>
          <p:cNvSpPr/>
          <p:nvPr/>
        </p:nvSpPr>
        <p:spPr>
          <a:xfrm>
            <a:off x="1225296"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3</a:t>
            </a:r>
            <a:endParaRPr lang="en-US" altLang="zh-CN" sz="2800" dirty="0"/>
          </a:p>
        </p:txBody>
      </p:sp>
      <p:sp>
        <p:nvSpPr>
          <p:cNvPr id="4" name="C_4_BD#ae1243e6d?vcp=1&amp;pid=f59f0646b&amp;color=0,0,0&amp;vtp=1&amp;bbb=1"/>
          <p:cNvSpPr/>
          <p:nvPr/>
        </p:nvSpPr>
        <p:spPr>
          <a:xfrm>
            <a:off x="1837944"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自由落体运动及重力加速度</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难点</a:t>
            </a:r>
            <a:endParaRPr lang="en-US" altLang="zh-CN" sz="2600" dirty="0"/>
          </a:p>
        </p:txBody>
      </p:sp>
      <mc:AlternateContent xmlns:mc="http://schemas.openxmlformats.org/markup-compatibility/2006">
        <mc:Choice xmlns:a14="http://schemas.microsoft.com/office/drawing/2010/main" Requires="a14">
          <p:sp>
            <p:nvSpPr>
              <p:cNvPr id="5" name="P_5_BD#5e40fe960?vcp=1&amp;pid=ae1243e6d&amp;color=0,0,0&amp;vtp=1&amp;bbb=1&amp;hb=1"/>
              <p:cNvSpPr/>
              <p:nvPr/>
            </p:nvSpPr>
            <p:spPr>
              <a:xfrm>
                <a:off x="393192" y="1092200"/>
                <a:ext cx="11402568" cy="5269103"/>
              </a:xfrm>
              <a:prstGeom prst="rect">
                <a:avLst/>
              </a:prstGeom>
              <a:noFill/>
              <a:ln/>
            </p:spPr>
            <p:txBody>
              <a:bodyPr wrap="none" lIns="0" tIns="0" rIns="0" bIns="0" rtlCol="0" anchor="t"/>
              <a:lstStyle/>
              <a:p>
                <a:pPr algn="ctr" latinLnBrk="1">
                  <a:lnSpc>
                    <a:spcPts val="42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.自由落体运动</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1）定义：物体只在重力作用下从静止开始下落的运动.</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2）运动性质:初速度为0的匀加速直线运动.</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.自由落体加速度</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1）定义：在同一地点，一切物体自由下落的加速度都相同</a:t>
                </a:r>
                <a:r>
                  <a:rPr lang="en-US" altLang="zh-CN" sz="2400" b="0" i="0">
                    <a:solidFill>
                      <a:srgbClr val="000000"/>
                    </a:solidFill>
                    <a:latin typeface="Times New Roman" pitchFamily="34" charset="0"/>
                    <a:ea typeface="微软雅黑" pitchFamily="34" charset="-122"/>
                    <a:cs typeface="Times New Roman" pitchFamily="34" charset="-120"/>
                  </a:rPr>
                  <a:t>，这个加速度叫作</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自由落体加速度</a:t>
                </a:r>
                <a:r>
                  <a:rPr lang="en-US" altLang="zh-CN" sz="2400" b="0" i="0" dirty="0">
                    <a:solidFill>
                      <a:srgbClr val="000000"/>
                    </a:solidFill>
                    <a:latin typeface="Times New Roman" pitchFamily="34" charset="0"/>
                    <a:ea typeface="微软雅黑" pitchFamily="34" charset="-122"/>
                    <a:cs typeface="Times New Roman" pitchFamily="34" charset="-120"/>
                  </a:rPr>
                  <a:t>，也叫作重力加速度，通常用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表示.</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2）方向：总是竖直向下.</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3）大小：在地球表面上不同的地方，</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2400" b="0" i="0" dirty="0">
                    <a:solidFill>
                      <a:srgbClr val="000000"/>
                    </a:solidFill>
                    <a:latin typeface="Times New Roman" pitchFamily="34" charset="0"/>
                    <a:ea typeface="微软雅黑" pitchFamily="34" charset="-122"/>
                    <a:cs typeface="Times New Roman" pitchFamily="34" charset="-120"/>
                  </a:rPr>
                  <a:t>的大小是不同的.一般的计算中，</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取</a:t>
                </a:r>
              </a:p>
              <a:p>
                <a:pPr latinLnBrk="1">
                  <a:lnSpc>
                    <a:spcPts val="4100"/>
                  </a:lnSpc>
                </a:pP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9.8</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dirty="0">
                    <a:solidFill>
                      <a:srgbClr val="000000"/>
                    </a:solidFill>
                    <a:latin typeface="Times New Roman" pitchFamily="34" charset="0"/>
                    <a:ea typeface="微软雅黑" pitchFamily="34" charset="-122"/>
                    <a:cs typeface="Times New Roman" pitchFamily="34" charset="-120"/>
                  </a:rPr>
                  <a:t>，近似计算时，</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2400" b="0" i="0" dirty="0">
                    <a:solidFill>
                      <a:srgbClr val="000000"/>
                    </a:solidFill>
                    <a:latin typeface="Times New Roman" pitchFamily="34" charset="0"/>
                    <a:ea typeface="微软雅黑" pitchFamily="34" charset="-122"/>
                    <a:cs typeface="Times New Roman" pitchFamily="34" charset="-120"/>
                  </a:rPr>
                  <a:t>取</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P_5_BD#5e40fe960?vcp=1&amp;pid=ae1243e6d&amp;color=0,0,0&amp;vtp=1&amp;bbb=1&amp;hb=1"/>
              <p:cNvSpPr>
                <a:spLocks noRot="1" noChangeAspect="1" noMove="1" noResize="1" noEditPoints="1" noAdjustHandles="1" noChangeArrowheads="1" noChangeShapeType="1" noTextEdit="1"/>
              </p:cNvSpPr>
              <p:nvPr/>
            </p:nvSpPr>
            <p:spPr>
              <a:xfrm>
                <a:off x="393192" y="1092200"/>
                <a:ext cx="11402568" cy="5269103"/>
              </a:xfrm>
              <a:prstGeom prst="rect">
                <a:avLst/>
              </a:prstGeom>
              <a:blipFill>
                <a:blip r:embed="rId4"/>
                <a:stretch>
                  <a:fillRect l="-1658" b="-3468"/>
                </a:stretch>
              </a:blipFill>
              <a:ln/>
            </p:spPr>
            <p:txBody>
              <a:bodyPr/>
              <a:lstStyle/>
              <a:p>
                <a:r>
                  <a:rPr lang="zh-CN" altLang="en-US">
                    <a:noFill/>
                  </a:rPr>
                  <a:t> </a:t>
                </a:r>
              </a:p>
            </p:txBody>
          </p:sp>
        </mc:Fallback>
      </mc:AlternateContent>
    </p:spTree>
  </p:cSld>
  <p:clrMapOvr>
    <a:masterClrMapping/>
  </p:clrMapOvr>
  <p:transition>
    <p:split dir="in"/>
  </p:transition>
</p:sld>
</file>

<file path=ppt/slides/slide27.xml><?xml version="1.0" encoding="utf-8"?>
<p:sld xmlns:a="http://schemas.openxmlformats.org/drawingml/2006/main" xmlns:r="http://schemas.openxmlformats.org/officeDocument/2006/relationships" xmlns:p="http://schemas.openxmlformats.org/presentationml/2006/main">
  <p:cSld name="Slide 28&amp;si=28">
    <p:spTree>
      <p:nvGrpSpPr>
        <p:cNvPr id="1" name=""/>
        <p:cNvGrpSpPr/>
        <p:nvPr/>
      </p:nvGrpSpPr>
      <p:grpSpPr>
        <a:xfrm>
          <a:off x="0" y="0"/>
          <a:ext cx="0" cy="0"/>
          <a:chOff x="0" y="0"/>
          <a:chExt cx="0" cy="0"/>
        </a:xfrm>
      </p:grpSpPr>
      <p:sp>
        <p:nvSpPr>
          <p:cNvPr id="2" name="QC_5_BD.33_1#0ff155feb?vcp=1&amp;pid=ae1243e6d&amp;color=0,0,0&amp;vtp=1&amp;bt=1&amp;bbb=1"/>
          <p:cNvSpPr/>
          <p:nvPr/>
        </p:nvSpPr>
        <p:spPr>
          <a:xfrm>
            <a:off x="393192" y="502920"/>
            <a:ext cx="11402568" cy="474599"/>
          </a:xfrm>
          <a:prstGeom prst="rect">
            <a:avLst/>
          </a:prstGeom>
          <a:noFill/>
          <a:ln/>
        </p:spPr>
        <p:txBody>
          <a:bodyPr wrap="none" lIns="0" tIns="0" rIns="0" bIns="0" rtlCol="0" anchor="t"/>
          <a:lstStyle/>
          <a:p>
            <a:pPr algn="l" latinLnBrk="1">
              <a:lnSpc>
                <a:spcPts val="4200"/>
              </a:lnSpc>
            </a:pPr>
            <a:r>
              <a:rPr lang="en-US" altLang="zh-CN" sz="2400" b="1" i="0" dirty="0">
                <a:solidFill>
                  <a:srgbClr val="0070C0"/>
                </a:solidFill>
                <a:latin typeface="Times New Roman" pitchFamily="34" charset="0"/>
                <a:ea typeface="微软雅黑" pitchFamily="34" charset="-122"/>
                <a:cs typeface="Times New Roman" pitchFamily="34" charset="-120"/>
              </a:rPr>
              <a:t>考题3</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（多选题）关于自由落体运动，</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AN.34_1#0ff155feb.bracket?vcp=1&amp;pid=ae1243e6d&amp;color=0,0,0&amp;vpa=11&amp;vtp=1&amp;bbb=1"/>
          <p:cNvSpPr/>
          <p:nvPr/>
        </p:nvSpPr>
        <p:spPr>
          <a:xfrm>
            <a:off x="8310848" y="499681"/>
            <a:ext cx="6445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BC</a:t>
            </a:r>
            <a:endParaRPr lang="en-US" altLang="zh-CN" sz="2400" dirty="0"/>
          </a:p>
        </p:txBody>
      </p:sp>
      <p:sp>
        <p:nvSpPr>
          <p:cNvPr id="4" name="QC_5_BD.33_2#0ff155feb.choices?vcp=1&amp;pid=ae1243e6d&amp;color=0,0,0&amp;vtp=1&amp;bbb=1"/>
          <p:cNvSpPr/>
          <p:nvPr/>
        </p:nvSpPr>
        <p:spPr>
          <a:xfrm>
            <a:off x="393192" y="1047178"/>
            <a:ext cx="11402568" cy="2107375"/>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A.一张纸片在地球表面自由下落，其运动可以看成自由落体运动</a:t>
            </a:r>
            <a:endParaRPr lang="en-US" altLang="zh-CN" sz="2400" dirty="0"/>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.一个钢球在地球表面自由下落，其运动可以看成自由落体运动</a:t>
            </a:r>
            <a:endParaRPr lang="en-US" altLang="zh-CN" sz="2400" dirty="0"/>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.在地球上同一地点，一切物体在自由落体运动中下落至同一高度时的加速度都相同</a:t>
            </a:r>
            <a:endParaRPr lang="en-US" altLang="zh-CN" sz="2400" dirty="0"/>
          </a:p>
          <a:p>
            <a:pPr latinLnBrk="1">
              <a:lnSpc>
                <a:spcPts val="41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.轻物和重物的重力加速度不同</a:t>
            </a:r>
            <a:endParaRPr lang="en-US" altLang="zh-CN" sz="2400" dirty="0"/>
          </a:p>
        </p:txBody>
      </p:sp>
      <mc:AlternateContent xmlns:mc="http://schemas.openxmlformats.org/markup-compatibility/2006">
        <mc:Choice xmlns:a14="http://schemas.microsoft.com/office/drawing/2010/main" Requires="a14">
          <p:sp>
            <p:nvSpPr>
              <p:cNvPr id="5" name="QC_5_AS.35_1#0ff155feb?vcp=1&amp;pid=ae1243e6d&amp;color=0,0,0&amp;vtp=1&amp;bbb=1&amp;hb=1"/>
              <p:cNvSpPr/>
              <p:nvPr/>
            </p:nvSpPr>
            <p:spPr>
              <a:xfrm>
                <a:off x="393192" y="3202178"/>
                <a:ext cx="11402568" cy="3199575"/>
              </a:xfrm>
              <a:prstGeom prst="rect">
                <a:avLst/>
              </a:prstGeom>
              <a:noFill/>
              <a:ln/>
            </p:spPr>
            <p:txBody>
              <a:bodyPr wrap="none" lIns="0" tIns="0" rIns="0" bIns="0" rtlCol="0" anchor="t"/>
              <a:lstStyle/>
              <a:p>
                <a:pPr algn="l"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地球表面有空气，纸片受到的空气阻力较大，不能忽略</a:t>
                </a:r>
                <a:r>
                  <a:rPr lang="en-US" altLang="zh-CN" sz="2400" b="1" i="0">
                    <a:solidFill>
                      <a:srgbClr val="FF0000"/>
                    </a:solidFill>
                    <a:latin typeface="Times New Roman" pitchFamily="34" charset="0"/>
                    <a:ea typeface="微软雅黑" pitchFamily="34" charset="-122"/>
                    <a:cs typeface="Times New Roman" pitchFamily="34" charset="-120"/>
                  </a:rPr>
                  <a:t>，钢球受到的空气阻力</a:t>
                </a:r>
              </a:p>
              <a:p>
                <a:pPr latinLnBrk="1">
                  <a:lnSpc>
                    <a:spcPts val="4300"/>
                  </a:lnSpc>
                </a:pPr>
                <a:r>
                  <a:rPr lang="en-US" altLang="zh-CN" sz="2400" b="1" i="0">
                    <a:solidFill>
                      <a:srgbClr val="FF0000"/>
                    </a:solidFill>
                    <a:latin typeface="Times New Roman" pitchFamily="34" charset="0"/>
                    <a:ea typeface="微软雅黑" pitchFamily="34" charset="-122"/>
                    <a:cs typeface="Times New Roman" pitchFamily="34" charset="-120"/>
                  </a:rPr>
                  <a:t>比重力小得多</a:t>
                </a:r>
                <a:r>
                  <a:rPr lang="en-US" altLang="zh-CN" sz="2400" b="1" i="0" dirty="0">
                    <a:solidFill>
                      <a:srgbClr val="FF0000"/>
                    </a:solidFill>
                    <a:latin typeface="Times New Roman" pitchFamily="34" charset="0"/>
                    <a:ea typeface="微软雅黑" pitchFamily="34" charset="-122"/>
                    <a:cs typeface="Times New Roman" pitchFamily="34" charset="-120"/>
                  </a:rPr>
                  <a:t>，可以忽略，因此钢球的自由下落可以看成自由落体运动</a:t>
                </a:r>
                <a:r>
                  <a:rPr lang="en-US" altLang="zh-CN" sz="2400" b="1" i="0">
                    <a:solidFill>
                      <a:srgbClr val="FF0000"/>
                    </a:solidFill>
                    <a:latin typeface="Times New Roman" pitchFamily="34" charset="0"/>
                    <a:ea typeface="微软雅黑" pitchFamily="34" charset="-122"/>
                    <a:cs typeface="Times New Roman" pitchFamily="34" charset="-120"/>
                  </a:rPr>
                  <a:t>，纸片的自由</a:t>
                </a:r>
              </a:p>
              <a:p>
                <a:pPr latinLnBrk="1">
                  <a:lnSpc>
                    <a:spcPts val="4300"/>
                  </a:lnSpc>
                </a:pPr>
                <a:r>
                  <a:rPr lang="en-US" altLang="zh-CN" sz="2400" b="1" i="0">
                    <a:solidFill>
                      <a:srgbClr val="FF0000"/>
                    </a:solidFill>
                    <a:latin typeface="Times New Roman" pitchFamily="34" charset="0"/>
                    <a:ea typeface="微软雅黑" pitchFamily="34" charset="-122"/>
                    <a:cs typeface="Times New Roman" pitchFamily="34" charset="-120"/>
                  </a:rPr>
                  <a:t>下落不能看成自由落体运动</a:t>
                </a:r>
                <a:r>
                  <a:rPr lang="en-US" altLang="zh-CN" sz="2400" b="1" i="0" dirty="0">
                    <a:solidFill>
                      <a:srgbClr val="FF0000"/>
                    </a:solidFill>
                    <a:latin typeface="Times New Roman" pitchFamily="34" charset="0"/>
                    <a:ea typeface="微软雅黑" pitchFamily="34" charset="-122"/>
                    <a:cs typeface="Times New Roman" pitchFamily="34" charset="-120"/>
                  </a:rPr>
                  <a:t>，A错误，B正确；重力加速度是矢量，方向竖直向下</a:t>
                </a:r>
                <a:r>
                  <a:rPr lang="en-US" altLang="zh-CN" sz="2400" b="1" i="0">
                    <a:solidFill>
                      <a:srgbClr val="FF0000"/>
                    </a:solidFill>
                    <a:latin typeface="Times New Roman" pitchFamily="34" charset="0"/>
                    <a:ea typeface="微软雅黑" pitchFamily="34" charset="-122"/>
                    <a:cs typeface="Times New Roman" pitchFamily="34" charset="-120"/>
                  </a:rPr>
                  <a:t>，在</a:t>
                </a:r>
              </a:p>
              <a:p>
                <a:pPr latinLnBrk="1">
                  <a:lnSpc>
                    <a:spcPts val="4300"/>
                  </a:lnSpc>
                </a:pPr>
                <a:r>
                  <a:rPr lang="en-US" altLang="zh-CN" sz="2400" b="1" i="0">
                    <a:solidFill>
                      <a:srgbClr val="FF0000"/>
                    </a:solidFill>
                    <a:latin typeface="Times New Roman" pitchFamily="34" charset="0"/>
                    <a:ea typeface="微软雅黑" pitchFamily="34" charset="-122"/>
                    <a:cs typeface="Times New Roman" pitchFamily="34" charset="-120"/>
                  </a:rPr>
                  <a:t>地球的表面</a:t>
                </a:r>
                <a:r>
                  <a:rPr lang="en-US" altLang="zh-CN" sz="2400" b="1" i="0" dirty="0">
                    <a:solidFill>
                      <a:srgbClr val="FF0000"/>
                    </a:solidFill>
                    <a:latin typeface="Times New Roman" pitchFamily="34" charset="0"/>
                    <a:ea typeface="微软雅黑" pitchFamily="34" charset="-122"/>
                    <a:cs typeface="Times New Roman" pitchFamily="34" charset="-120"/>
                  </a:rPr>
                  <a:t>，不同地点的重力加速度</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𝒈</m:t>
                    </m:r>
                  </m:oMath>
                </a14:m>
                <a:r>
                  <a:rPr lang="en-US" altLang="zh-CN" sz="2400" b="1" i="0" dirty="0">
                    <a:solidFill>
                      <a:srgbClr val="FF0000"/>
                    </a:solidFill>
                    <a:latin typeface="Times New Roman" pitchFamily="34" charset="0"/>
                    <a:ea typeface="微软雅黑" pitchFamily="34" charset="-122"/>
                    <a:cs typeface="Times New Roman" pitchFamily="34" charset="-120"/>
                  </a:rPr>
                  <a:t>的大小略有不同，在地球表面同一地点,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𝒈</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的值</a:t>
                </a:r>
              </a:p>
              <a:p>
                <a:pPr latinLnBrk="1">
                  <a:lnSpc>
                    <a:spcPts val="4300"/>
                  </a:lnSpc>
                </a:pPr>
                <a:r>
                  <a:rPr lang="en-US" altLang="zh-CN" sz="2400" b="1" i="0">
                    <a:solidFill>
                      <a:srgbClr val="FF0000"/>
                    </a:solidFill>
                    <a:latin typeface="Times New Roman" pitchFamily="34" charset="0"/>
                    <a:ea typeface="微软雅黑" pitchFamily="34" charset="-122"/>
                    <a:cs typeface="Times New Roman" pitchFamily="34" charset="-120"/>
                  </a:rPr>
                  <a:t>都相同</a:t>
                </a:r>
                <a:r>
                  <a:rPr lang="en-US" altLang="zh-CN" sz="2400" b="1" i="0" dirty="0">
                    <a:solidFill>
                      <a:srgbClr val="FF0000"/>
                    </a:solidFill>
                    <a:latin typeface="Times New Roman" pitchFamily="34" charset="0"/>
                    <a:ea typeface="微软雅黑" pitchFamily="34" charset="-122"/>
                    <a:cs typeface="Times New Roman" pitchFamily="34" charset="-120"/>
                  </a:rPr>
                  <a:t>，但随着高度的增大，</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𝒈</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的值逐渐减小，重力加速度与物体的质量无关，D</a:t>
                </a:r>
                <a:r>
                  <a:rPr lang="en-US" altLang="zh-CN" sz="2400" b="1" i="0">
                    <a:solidFill>
                      <a:srgbClr val="FF0000"/>
                    </a:solidFill>
                    <a:latin typeface="Times New Roman" pitchFamily="34" charset="0"/>
                    <a:ea typeface="微软雅黑" pitchFamily="34" charset="-122"/>
                    <a:cs typeface="Times New Roman" pitchFamily="34" charset="-120"/>
                  </a:rPr>
                  <a:t>错误，</a:t>
                </a:r>
              </a:p>
              <a:p>
                <a:pPr latinLnBrk="1">
                  <a:lnSpc>
                    <a:spcPts val="4100"/>
                  </a:lnSpc>
                </a:pPr>
                <a:r>
                  <a:rPr lang="en-US" altLang="zh-CN" sz="2400" b="1" i="0">
                    <a:solidFill>
                      <a:srgbClr val="FF0000"/>
                    </a:solidFill>
                    <a:latin typeface="Times New Roman" pitchFamily="34" charset="0"/>
                    <a:ea typeface="微软雅黑" pitchFamily="34" charset="-122"/>
                    <a:cs typeface="Times New Roman" pitchFamily="34" charset="-120"/>
                  </a:rPr>
                  <a:t>C</a:t>
                </a:r>
                <a:r>
                  <a:rPr lang="en-US" altLang="zh-CN" sz="2400" b="1" i="0" dirty="0">
                    <a:solidFill>
                      <a:srgbClr val="FF0000"/>
                    </a:solidFill>
                    <a:latin typeface="Times New Roman" pitchFamily="34" charset="0"/>
                    <a:ea typeface="微软雅黑" pitchFamily="34" charset="-122"/>
                    <a:cs typeface="Times New Roman" pitchFamily="34" charset="-120"/>
                  </a:rPr>
                  <a:t>正确.</a:t>
                </a:r>
                <a:endParaRPr lang="en-US" altLang="zh-CN" sz="2400" dirty="0"/>
              </a:p>
            </p:txBody>
          </p:sp>
        </mc:Choice>
        <mc:Fallback>
          <p:sp>
            <p:nvSpPr>
              <p:cNvPr id="5" name="QC_5_AS.35_1#0ff155feb?vcp=1&amp;pid=ae1243e6d&amp;color=0,0,0&amp;vtp=1&amp;bbb=1&amp;hb=1"/>
              <p:cNvSpPr>
                <a:spLocks noRot="1" noChangeAspect="1" noMove="1" noResize="1" noEditPoints="1" noAdjustHandles="1" noChangeArrowheads="1" noChangeShapeType="1" noTextEdit="1"/>
              </p:cNvSpPr>
              <p:nvPr/>
            </p:nvSpPr>
            <p:spPr>
              <a:xfrm>
                <a:off x="393192" y="3202178"/>
                <a:ext cx="11402568" cy="3199575"/>
              </a:xfrm>
              <a:prstGeom prst="rect">
                <a:avLst/>
              </a:prstGeom>
              <a:blipFill>
                <a:blip r:embed="rId3"/>
                <a:stretch>
                  <a:fillRect l="-1658" r="-4278" b="-571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left)">
                                      <p:cBhvr>
                                        <p:cTn id="27" dur="500"/>
                                        <p:tgtEl>
                                          <p:spTgt spid="5">
                                            <p:txEl>
                                              <p:pRg st="3" end="3"/>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wipe(left)">
                                      <p:cBhvr>
                                        <p:cTn id="30" dur="500"/>
                                        <p:tgtEl>
                                          <p:spTgt spid="5">
                                            <p:txEl>
                                              <p:pRg st="4" end="4"/>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animEffect transition="in" filter="wipe(left)">
                                      <p:cBhvr>
                                        <p:cTn id="33"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9&amp;si=29">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5_BD.36_1#c1e23b14f?vcp=1&amp;pid=ae1243e6d&amp;color=0,0,0&amp;vtp=1&amp;bt=1&amp;bbb=1"/>
              <p:cNvSpPr/>
              <p:nvPr/>
            </p:nvSpPr>
            <p:spPr>
              <a:xfrm>
                <a:off x="393192" y="1024985"/>
                <a:ext cx="11402568" cy="484124"/>
              </a:xfrm>
              <a:prstGeom prst="rect">
                <a:avLst/>
              </a:prstGeom>
              <a:noFill/>
              <a:ln/>
            </p:spPr>
            <p:txBody>
              <a:bodyPr wrap="none" lIns="0" tIns="0" rIns="0" bIns="0" rtlCol="0" anchor="t"/>
              <a:lstStyle/>
              <a:p>
                <a:pPr algn="l" latinLnBrk="1">
                  <a:lnSpc>
                    <a:spcPts val="4300"/>
                  </a:lnSpc>
                </a:pPr>
                <a:r>
                  <a:rPr lang="en-US" altLang="zh-CN" sz="2400" b="1" i="0" dirty="0">
                    <a:solidFill>
                      <a:srgbClr val="0070C0"/>
                    </a:solidFill>
                    <a:latin typeface="Times New Roman" pitchFamily="34" charset="0"/>
                    <a:ea typeface="微软雅黑" pitchFamily="34" charset="-122"/>
                    <a:cs typeface="Times New Roman" pitchFamily="34" charset="-120"/>
                  </a:rPr>
                  <a:t>变式3-1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关于自由落体运动的加速度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5_BD.36_1#c1e23b14f?vcp=1&amp;pid=ae1243e6d&amp;color=0,0,0&amp;vtp=1&amp;bt=1&amp;bbb=1"/>
              <p:cNvSpPr>
                <a:spLocks noRot="1" noChangeAspect="1" noMove="1" noResize="1" noEditPoints="1" noAdjustHandles="1" noChangeArrowheads="1" noChangeShapeType="1" noTextEdit="1"/>
              </p:cNvSpPr>
              <p:nvPr/>
            </p:nvSpPr>
            <p:spPr>
              <a:xfrm>
                <a:off x="393192" y="1024985"/>
                <a:ext cx="11402568" cy="484124"/>
              </a:xfrm>
              <a:prstGeom prst="rect">
                <a:avLst/>
              </a:prstGeom>
              <a:blipFill>
                <a:blip r:embed="rId3"/>
                <a:stretch>
                  <a:fillRect l="-1658" b="-37500"/>
                </a:stretch>
              </a:blipFill>
              <a:ln/>
            </p:spPr>
            <p:txBody>
              <a:bodyPr/>
              <a:lstStyle/>
              <a:p>
                <a:r>
                  <a:rPr lang="zh-CN" altLang="en-US">
                    <a:noFill/>
                  </a:rPr>
                  <a:t> </a:t>
                </a:r>
              </a:p>
            </p:txBody>
          </p:sp>
        </mc:Fallback>
      </mc:AlternateContent>
      <p:sp>
        <p:nvSpPr>
          <p:cNvPr id="3" name="QC_5_AN.37_1#c1e23b14f.bracket?vcp=1&amp;pid=ae1243e6d&amp;color=0,0,0&amp;vpa=12&amp;vtp=1"/>
          <p:cNvSpPr/>
          <p:nvPr/>
        </p:nvSpPr>
        <p:spPr>
          <a:xfrm>
            <a:off x="8158893" y="1023080"/>
            <a:ext cx="441325"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D</a:t>
            </a:r>
            <a:endParaRPr lang="en-US" altLang="zh-CN" sz="2400" dirty="0"/>
          </a:p>
        </p:txBody>
      </p:sp>
      <mc:AlternateContent xmlns:mc="http://schemas.openxmlformats.org/markup-compatibility/2006">
        <mc:Choice xmlns:a14="http://schemas.microsoft.com/office/drawing/2010/main" Requires="a14">
          <p:sp>
            <p:nvSpPr>
              <p:cNvPr id="4" name="QC_5_BD.36_2#c1e23b14f.choices?vcp=1&amp;pid=ae1243e6d&amp;color=0,0,0&amp;vtp=1&amp;bbb=1"/>
              <p:cNvSpPr/>
              <p:nvPr/>
            </p:nvSpPr>
            <p:spPr>
              <a:xfrm>
                <a:off x="393192" y="1510759"/>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值在地球上任何地方都一样大</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.同一地点，质量大的物体速度变化比质量小的物体快</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的方向一定指向地心</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.赤道处的</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2400" b="0" i="0" dirty="0">
                    <a:solidFill>
                      <a:srgbClr val="000000"/>
                    </a:solidFill>
                    <a:latin typeface="Times New Roman" pitchFamily="34" charset="0"/>
                    <a:ea typeface="微软雅黑" pitchFamily="34" charset="-122"/>
                    <a:cs typeface="Times New Roman" pitchFamily="34" charset="-120"/>
                  </a:rPr>
                  <a:t>值小于北极处的</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值</a:t>
                </a:r>
                <a:endParaRPr lang="en-US" altLang="zh-CN" sz="2400" dirty="0"/>
              </a:p>
            </p:txBody>
          </p:sp>
        </mc:Choice>
        <mc:Fallback>
          <p:sp>
            <p:nvSpPr>
              <p:cNvPr id="4" name="QC_5_BD.36_2#c1e23b14f.choices?vcp=1&amp;pid=ae1243e6d&amp;color=0,0,0&amp;vtp=1&amp;bbb=1"/>
              <p:cNvSpPr>
                <a:spLocks noRot="1" noChangeAspect="1" noMove="1" noResize="1" noEditPoints="1" noAdjustHandles="1" noChangeArrowheads="1" noChangeShapeType="1" noTextEdit="1"/>
              </p:cNvSpPr>
              <p:nvPr/>
            </p:nvSpPr>
            <p:spPr>
              <a:xfrm>
                <a:off x="393192" y="1510759"/>
                <a:ext cx="11402568" cy="2155000"/>
              </a:xfrm>
              <a:prstGeom prst="rect">
                <a:avLst/>
              </a:prstGeom>
              <a:blipFill>
                <a:blip r:embed="rId4"/>
                <a:stretch>
                  <a:fillRect l="-1658" b="-8499"/>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QC_5_AS.38_1#c1e23b14f?vcp=1&amp;pid=ae1243e6d&amp;color=0,0,0&amp;vtp=1&amp;bbb=1&amp;hb=1"/>
              <p:cNvSpPr/>
              <p:nvPr/>
            </p:nvSpPr>
            <p:spPr>
              <a:xfrm>
                <a:off x="393192" y="3657059"/>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海拔越高，重力加速度越小，纬度越高，重力加速度越大，则赤道处的</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𝒈</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值小</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于北极处的</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𝒈</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值，故A错误，D正确；地球上的同一地点，重力加速度相同</a:t>
                </a:r>
                <a:r>
                  <a:rPr lang="en-US" altLang="zh-CN" sz="2400" b="1" i="0">
                    <a:solidFill>
                      <a:srgbClr val="FF0000"/>
                    </a:solidFill>
                    <a:latin typeface="Times New Roman" pitchFamily="34" charset="0"/>
                    <a:ea typeface="微软雅黑" pitchFamily="34" charset="-122"/>
                    <a:cs typeface="Times New Roman" pitchFamily="34" charset="-120"/>
                  </a:rPr>
                  <a:t>，速度变化</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快慢相同</a:t>
                </a:r>
                <a:r>
                  <a:rPr lang="en-US" altLang="zh-CN" sz="2400" b="1" i="0" dirty="0">
                    <a:solidFill>
                      <a:srgbClr val="FF0000"/>
                    </a:solidFill>
                    <a:latin typeface="Times New Roman" pitchFamily="34" charset="0"/>
                    <a:ea typeface="微软雅黑" pitchFamily="34" charset="-122"/>
                    <a:cs typeface="Times New Roman" pitchFamily="34" charset="-120"/>
                  </a:rPr>
                  <a:t>，与物体的质量无关，故B错误；重力加速度的方向竖直向下</a:t>
                </a:r>
                <a:r>
                  <a:rPr lang="en-US" altLang="zh-CN" sz="2400" b="1" i="0">
                    <a:solidFill>
                      <a:srgbClr val="FF0000"/>
                    </a:solidFill>
                    <a:latin typeface="Times New Roman" pitchFamily="34" charset="0"/>
                    <a:ea typeface="微软雅黑" pitchFamily="34" charset="-122"/>
                    <a:cs typeface="Times New Roman" pitchFamily="34" charset="-120"/>
                  </a:rPr>
                  <a:t>，不是指向地</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心</a:t>
                </a:r>
                <a:r>
                  <a:rPr lang="en-US" altLang="zh-CN" sz="2400" b="1" i="0" dirty="0">
                    <a:solidFill>
                      <a:srgbClr val="FF0000"/>
                    </a:solidFill>
                    <a:latin typeface="Times New Roman" pitchFamily="34" charset="0"/>
                    <a:ea typeface="微软雅黑" pitchFamily="34" charset="-122"/>
                    <a:cs typeface="Times New Roman" pitchFamily="34" charset="-120"/>
                  </a:rPr>
                  <a:t>，故C错误.</a:t>
                </a:r>
                <a:endParaRPr lang="en-US" altLang="zh-CN" sz="2400" dirty="0"/>
              </a:p>
            </p:txBody>
          </p:sp>
        </mc:Choice>
        <mc:Fallback>
          <p:sp>
            <p:nvSpPr>
              <p:cNvPr id="5" name="QC_5_AS.38_1#c1e23b14f?vcp=1&amp;pid=ae1243e6d&amp;color=0,0,0&amp;vtp=1&amp;bbb=1&amp;hb=1"/>
              <p:cNvSpPr>
                <a:spLocks noRot="1" noChangeAspect="1" noMove="1" noResize="1" noEditPoints="1" noAdjustHandles="1" noChangeArrowheads="1" noChangeShapeType="1" noTextEdit="1"/>
              </p:cNvSpPr>
              <p:nvPr/>
            </p:nvSpPr>
            <p:spPr>
              <a:xfrm>
                <a:off x="393192" y="3657059"/>
                <a:ext cx="11402568" cy="2155000"/>
              </a:xfrm>
              <a:prstGeom prst="rect">
                <a:avLst/>
              </a:prstGeom>
              <a:blipFill>
                <a:blip r:embed="rId5"/>
                <a:stretch>
                  <a:fillRect l="-1658" r="-856" b="-849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left)">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30&amp;si=30">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P_5_BD#d931fbcb3?vcp=1&amp;pid=ae1243e6d&amp;color=0,0,0&amp;vtp=1&amp;bt=1&amp;bbb=1&amp;hb=1"/>
              <p:cNvSpPr/>
              <p:nvPr/>
            </p:nvSpPr>
            <p:spPr>
              <a:xfrm>
                <a:off x="393192" y="504000"/>
                <a:ext cx="11402568" cy="5803075"/>
              </a:xfrm>
              <a:prstGeom prst="rect">
                <a:avLst/>
              </a:prstGeom>
              <a:noFill/>
              <a:ln/>
            </p:spPr>
            <p:txBody>
              <a:bodyPr wrap="none" lIns="0" tIns="0" rIns="0" bIns="0" rtlCol="0" anchor="t"/>
              <a:lstStyle/>
              <a:p>
                <a:pPr algn="l" latinLnBrk="1">
                  <a:lnSpc>
                    <a:spcPts val="4200"/>
                  </a:lnSpc>
                </a:pPr>
                <a:r>
                  <a:rPr lang="en-US" altLang="zh-CN" sz="2400" b="1" i="0" dirty="0">
                    <a:solidFill>
                      <a:srgbClr val="000000"/>
                    </a:solidFill>
                    <a:latin typeface="Times New Roman" pitchFamily="34" charset="0"/>
                    <a:ea typeface="微软雅黑" pitchFamily="34" charset="-122"/>
                    <a:cs typeface="Times New Roman" pitchFamily="34" charset="-120"/>
                  </a:rPr>
                  <a:t>难点突破</a:t>
                </a:r>
                <a:endParaRPr lang="en-US" altLang="zh-CN" sz="2400" dirty="0"/>
              </a:p>
              <a:p>
                <a:pPr algn="ctr" latinLnBrk="1">
                  <a:lnSpc>
                    <a:spcPts val="4200"/>
                  </a:lnSpc>
                </a:pPr>
                <a:r>
                  <a:rPr lang="en-US" altLang="zh-CN" sz="2400" b="1" i="0">
                    <a:solidFill>
                      <a:srgbClr val="000000"/>
                    </a:solidFill>
                    <a:latin typeface="Times New Roman" pitchFamily="34" charset="0"/>
                    <a:ea typeface="微软雅黑" pitchFamily="34" charset="-122"/>
                    <a:cs typeface="Times New Roman" pitchFamily="34" charset="-120"/>
                  </a:rPr>
                  <a:t>自由落体运动是理想模型</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自由落体运动忽略了次要因素</a:t>
                </a:r>
                <a:r>
                  <a:rPr lang="en-US" altLang="zh-CN" sz="2400" b="0" i="0" dirty="0">
                    <a:solidFill>
                      <a:srgbClr val="000000"/>
                    </a:solidFill>
                    <a:latin typeface="Times New Roman" pitchFamily="34" charset="0"/>
                    <a:ea typeface="微软雅黑" pitchFamily="34" charset="-122"/>
                    <a:cs typeface="Times New Roman" pitchFamily="34" charset="-120"/>
                  </a:rPr>
                  <a:t>——空气阻力，突出了主要因素——重力.</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当阻力远小于重力时</a:t>
                </a:r>
                <a:r>
                  <a:rPr lang="en-US" altLang="zh-CN" sz="2400" b="0" i="0" dirty="0">
                    <a:solidFill>
                      <a:srgbClr val="000000"/>
                    </a:solidFill>
                    <a:latin typeface="Times New Roman" pitchFamily="34" charset="0"/>
                    <a:ea typeface="微软雅黑" pitchFamily="34" charset="-122"/>
                    <a:cs typeface="Times New Roman" pitchFamily="34" charset="-120"/>
                  </a:rPr>
                  <a:t>，物体的下落可看成自由落体运动，例如</a:t>
                </a:r>
                <a:r>
                  <a:rPr lang="en-US" altLang="zh-CN" sz="2400" b="0" i="0">
                    <a:solidFill>
                      <a:srgbClr val="000000"/>
                    </a:solidFill>
                    <a:latin typeface="Times New Roman" pitchFamily="34" charset="0"/>
                    <a:ea typeface="微软雅黑" pitchFamily="34" charset="-122"/>
                    <a:cs typeface="Times New Roman" pitchFamily="34" charset="-120"/>
                  </a:rPr>
                  <a:t>，在空气中小铁球</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由静止释放后的下落</a:t>
                </a:r>
                <a:r>
                  <a:rPr lang="en-US" altLang="zh-CN" sz="2400" b="0" i="0" dirty="0">
                    <a:solidFill>
                      <a:srgbClr val="000000"/>
                    </a:solidFill>
                    <a:latin typeface="Times New Roman" pitchFamily="34" charset="0"/>
                    <a:ea typeface="微软雅黑" pitchFamily="34" charset="-122"/>
                    <a:cs typeface="Times New Roman" pitchFamily="34" charset="-120"/>
                  </a:rPr>
                  <a:t>；当阻力相对于重力不可忽略时</a:t>
                </a:r>
                <a:r>
                  <a:rPr lang="en-US" altLang="zh-CN" sz="2400" b="0" i="0">
                    <a:solidFill>
                      <a:srgbClr val="000000"/>
                    </a:solidFill>
                    <a:latin typeface="Times New Roman" pitchFamily="34" charset="0"/>
                    <a:ea typeface="微软雅黑" pitchFamily="34" charset="-122"/>
                    <a:cs typeface="Times New Roman" pitchFamily="34" charset="-120"/>
                  </a:rPr>
                  <a:t>，物体的下落不可看成自由落体</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运动</a:t>
                </a:r>
                <a:r>
                  <a:rPr lang="en-US" altLang="zh-CN" sz="2400" b="0" i="0" dirty="0">
                    <a:solidFill>
                      <a:srgbClr val="000000"/>
                    </a:solidFill>
                    <a:latin typeface="Times New Roman" pitchFamily="34" charset="0"/>
                    <a:ea typeface="微软雅黑" pitchFamily="34" charset="-122"/>
                    <a:cs typeface="Times New Roman" pitchFamily="34" charset="-120"/>
                  </a:rPr>
                  <a:t>，例如，</a:t>
                </a:r>
                <a:r>
                  <a:rPr lang="en-US" altLang="zh-CN" sz="2400" b="0" i="0">
                    <a:solidFill>
                      <a:srgbClr val="000000"/>
                    </a:solidFill>
                    <a:latin typeface="Times New Roman" pitchFamily="34" charset="0"/>
                    <a:ea typeface="微软雅黑" pitchFamily="34" charset="-122"/>
                    <a:cs typeface="Times New Roman" pitchFamily="34" charset="-120"/>
                  </a:rPr>
                  <a:t>在空气中羽毛由静止释放后的下落.</a:t>
                </a:r>
              </a:p>
              <a:p>
                <a:pPr marL="0" marR="0" lvl="0" indent="0" algn="ctr" defTabSz="914400" rtl="0" eaLnBrk="1" fontAlgn="auto" latinLnBrk="1" hangingPunct="1">
                  <a:lnSpc>
                    <a:spcPts val="42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Times New Roman" pitchFamily="34" charset="0"/>
                    <a:ea typeface="微软雅黑" pitchFamily="34" charset="-122"/>
                    <a:cs typeface="Times New Roman" pitchFamily="34" charset="-120"/>
                  </a:rPr>
                  <a:t>自由落体运动的实质</a:t>
                </a:r>
                <a:endParaRPr kumimoji="0" lang="en-US" altLang="zh-CN" sz="24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0" i="0" strike="noStrike" kern="1200" cap="none" spc="0" normalizeH="0" baseline="0" noProof="0">
                    <a:ln>
                      <a:noFill/>
                    </a:ln>
                    <a:solidFill>
                      <a:srgbClr val="000000"/>
                    </a:solidFill>
                    <a:effectLst/>
                    <a:uLnTx/>
                    <a:uFillTx/>
                    <a:latin typeface="SimSun" panose="02010600030101010101" pitchFamily="2" charset="-122"/>
                    <a:ea typeface="微软雅黑" pitchFamily="34" charset="-122"/>
                    <a:cs typeface="Times New Roman" pitchFamily="34" charset="-120"/>
                  </a:rPr>
                  <a:t>    </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自由落体运动是初速度</a:t>
                </a:r>
                <a14:m>
                  <m:oMath xmlns:m="http://schemas.openxmlformats.org/officeDocument/2006/math">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ea typeface="微软雅黑" pitchFamily="34" charset="-122"/>
                            <a:cs typeface="Times New Roman" pitchFamily="34" charset="-120"/>
                          </a:rPr>
                        </m:ctrlPr>
                      </m:sSubPr>
                      <m:e>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𝑣</m:t>
                        </m:r>
                      </m:e>
                      <m:sub>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0</m:t>
                        </m:r>
                      </m:sub>
                    </m:sSub>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=0</m:t>
                    </m:r>
                  </m:oMath>
                </a14:m>
                <a:r>
                  <a:rPr kumimoji="0" lang="en-US" altLang="zh-CN" sz="2400" b="0" i="0" u="none" strike="noStrike" kern="1200" cap="none" spc="0" normalizeH="0" baseline="0" noProof="0" dirty="0">
                    <a:ln>
                      <a:noFill/>
                    </a:ln>
                    <a:solidFill>
                      <a:srgbClr val="000000"/>
                    </a:solidFill>
                    <a:effectLst/>
                    <a:uLnTx/>
                    <a:uFillTx/>
                    <a:latin typeface="Times New Roman" pitchFamily="34" charset="0"/>
                    <a:ea typeface="微软雅黑" pitchFamily="34" charset="-122"/>
                    <a:cs typeface="Times New Roman" pitchFamily="34" charset="-120"/>
                  </a:rPr>
                  <a:t>、加速度</a:t>
                </a:r>
                <a14:m>
                  <m:oMath xmlns:m="http://schemas.openxmlformats.org/officeDocument/2006/math">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𝑎</m:t>
                    </m:r>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m:t>
                    </m:r>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𝑔</m:t>
                    </m:r>
                  </m:oMath>
                </a14:m>
                <a:r>
                  <a:rPr kumimoji="0" lang="en-US" altLang="zh-CN" sz="100" b="0" i="0" u="none" strike="noStrike" kern="0" cap="none" spc="-99900" normalizeH="0" baseline="0" noProof="0" dirty="0">
                    <a:ln>
                      <a:noFill/>
                    </a:ln>
                    <a:solidFill>
                      <a:srgbClr val="FFFFFF"/>
                    </a:solidFill>
                    <a:effectLst/>
                    <a:uLnTx/>
                    <a:uFillTx/>
                    <a:latin typeface="Times New Roman" pitchFamily="34" charset="0"/>
                    <a:ea typeface="微软雅黑" pitchFamily="34" charset="-122"/>
                    <a:cs typeface="Times New Roman" pitchFamily="34" charset="-120"/>
                  </a:rPr>
                  <a:t> </a:t>
                </a:r>
                <a:r>
                  <a:rPr kumimoji="0" lang="en-US" altLang="zh-CN" sz="2400" b="0" i="0" u="none" strike="noStrike" kern="1200" cap="none" spc="0" normalizeH="0" baseline="0" noProof="0" dirty="0">
                    <a:ln>
                      <a:noFill/>
                    </a:ln>
                    <a:solidFill>
                      <a:srgbClr val="000000"/>
                    </a:solidFill>
                    <a:effectLst/>
                    <a:uLnTx/>
                    <a:uFillTx/>
                    <a:latin typeface="Times New Roman" pitchFamily="34" charset="0"/>
                    <a:ea typeface="微软雅黑" pitchFamily="34" charset="-122"/>
                    <a:cs typeface="Times New Roman" pitchFamily="34" charset="-120"/>
                  </a:rPr>
                  <a:t>的匀加速直线运动</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，它只是匀变速直</a:t>
                </a: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线运动的特例</a:t>
                </a:r>
                <a:r>
                  <a:rPr kumimoji="0" lang="en-US" altLang="zh-CN" sz="2400" b="0" i="0" u="none" strike="noStrike" kern="1200" cap="none" spc="0" normalizeH="0" baseline="0" noProof="0" dirty="0">
                    <a:ln>
                      <a:noFill/>
                    </a:ln>
                    <a:solidFill>
                      <a:srgbClr val="000000"/>
                    </a:solidFill>
                    <a:effectLst/>
                    <a:uLnTx/>
                    <a:uFillTx/>
                    <a:latin typeface="Times New Roman" pitchFamily="34" charset="0"/>
                    <a:ea typeface="微软雅黑" pitchFamily="34" charset="-122"/>
                    <a:cs typeface="Times New Roman" pitchFamily="34" charset="-120"/>
                  </a:rPr>
                  <a:t>.</a:t>
                </a:r>
                <a:endParaRPr kumimoji="0" lang="en-US" altLang="zh-CN" sz="24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0" i="0" strike="noStrike" kern="1200" cap="none" spc="0" normalizeH="0" baseline="0" noProof="0">
                    <a:ln>
                      <a:noFill/>
                    </a:ln>
                    <a:solidFill>
                      <a:srgbClr val="000000"/>
                    </a:solidFill>
                    <a:effectLst/>
                    <a:uLnTx/>
                    <a:uFillTx/>
                    <a:latin typeface="SimSun" panose="02010600030101010101" pitchFamily="2" charset="-122"/>
                    <a:ea typeface="微软雅黑" pitchFamily="34" charset="-122"/>
                    <a:cs typeface="Times New Roman" pitchFamily="34" charset="-120"/>
                  </a:rPr>
                  <a:t>    </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物体在其他星球上也可以做自由落体运动，但同一物体在不同的星球上所受重力</a:t>
                </a:r>
              </a:p>
              <a:p>
                <a:pPr marL="0" marR="0" lvl="0" indent="0" defTabSz="914400" rtl="0" eaLnBrk="1" fontAlgn="auto" latinLnBrk="1" hangingPunct="1">
                  <a:lnSpc>
                    <a:spcPts val="41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一般不同</a:t>
                </a:r>
                <a:r>
                  <a:rPr kumimoji="0" lang="en-US" altLang="zh-CN" sz="2400" b="0" i="0" u="none" strike="noStrike" kern="1200" cap="none" spc="0" normalizeH="0" baseline="0" noProof="0" dirty="0">
                    <a:ln>
                      <a:noFill/>
                    </a:ln>
                    <a:solidFill>
                      <a:srgbClr val="000000"/>
                    </a:solidFill>
                    <a:effectLst/>
                    <a:uLnTx/>
                    <a:uFillTx/>
                    <a:latin typeface="Times New Roman" pitchFamily="34" charset="0"/>
                    <a:ea typeface="微软雅黑" pitchFamily="34" charset="-122"/>
                    <a:cs typeface="Times New Roman" pitchFamily="34" charset="-120"/>
                  </a:rPr>
                  <a:t>，</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所以下落时的加速度一般不同.</a:t>
                </a:r>
                <a:endParaRPr lang="en-US" altLang="zh-CN" sz="2400" dirty="0"/>
              </a:p>
            </p:txBody>
          </p:sp>
        </mc:Choice>
        <mc:Fallback>
          <p:sp>
            <p:nvSpPr>
              <p:cNvPr id="2" name="P_5_BD#d931fbcb3?vcp=1&amp;pid=ae1243e6d&amp;color=0,0,0&amp;vtp=1&amp;bt=1&amp;bbb=1&amp;hb=1"/>
              <p:cNvSpPr>
                <a:spLocks noRot="1" noChangeAspect="1" noMove="1" noResize="1" noEditPoints="1" noAdjustHandles="1" noChangeArrowheads="1" noChangeShapeType="1" noTextEdit="1"/>
              </p:cNvSpPr>
              <p:nvPr/>
            </p:nvSpPr>
            <p:spPr>
              <a:xfrm>
                <a:off x="393192" y="504000"/>
                <a:ext cx="11402568" cy="5803075"/>
              </a:xfrm>
              <a:prstGeom prst="rect">
                <a:avLst/>
              </a:prstGeom>
              <a:blipFill>
                <a:blip r:embed="rId3"/>
                <a:stretch>
                  <a:fillRect l="-1658" r="-1444" b="-3046"/>
                </a:stretch>
              </a:blipFill>
              <a:ln/>
            </p:spPr>
            <p:txBody>
              <a:bodyPr/>
              <a:lstStyle/>
              <a:p>
                <a:r>
                  <a:rPr lang="zh-CN" altLang="en-US">
                    <a:noFill/>
                  </a:rPr>
                  <a:t> </a:t>
                </a:r>
              </a:p>
            </p:txBody>
          </p:sp>
        </mc:Fallback>
      </mc:AlternateContent>
    </p:spTree>
  </p:cSld>
  <p:clrMapOvr>
    <a:masterClrMapping/>
  </p:clrMapOvr>
  <p:transition>
    <p:split dir="in"/>
  </p:transition>
</p:sld>
</file>

<file path=ppt/slides/slide30.xml><?xml version="1.0" encoding="utf-8"?>
<p:sld xmlns:a="http://schemas.openxmlformats.org/drawingml/2006/main" xmlns:r="http://schemas.openxmlformats.org/officeDocument/2006/relationships" xmlns:p="http://schemas.openxmlformats.org/presentationml/2006/main">
  <p:cSld name="Slide 31&amp;si=31">
    <p:spTree>
      <p:nvGrpSpPr>
        <p:cNvPr id="1" name=""/>
        <p:cNvGrpSpPr/>
        <p:nvPr/>
      </p:nvGrpSpPr>
      <p:grpSpPr>
        <a:xfrm>
          <a:off x="0" y="0"/>
          <a:ext cx="0" cy="0"/>
          <a:chOff x="0" y="0"/>
          <a:chExt cx="0" cy="0"/>
        </a:xfrm>
      </p:grpSpPr>
      <p:sp>
        <p:nvSpPr>
          <p:cNvPr id="2" name="P_5_BD#d931fbcb3?vcp=1&amp;pid=ae1243e6d&amp;color=0,0,0&amp;vtp=1&amp;bt=1&amp;bbb=1&amp;hb=1"/>
          <p:cNvSpPr/>
          <p:nvPr/>
        </p:nvSpPr>
        <p:spPr>
          <a:xfrm>
            <a:off x="393192" y="1806035"/>
            <a:ext cx="11402568" cy="32726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拓展延伸</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在地球上</a:t>
            </a:r>
            <a:r>
              <a:rPr lang="en-US" altLang="zh-CN" sz="2400" b="0" i="0" dirty="0">
                <a:solidFill>
                  <a:srgbClr val="000000"/>
                </a:solidFill>
                <a:latin typeface="Times New Roman" pitchFamily="34" charset="0"/>
                <a:ea typeface="微软雅黑" pitchFamily="34" charset="-122"/>
                <a:cs typeface="Times New Roman" pitchFamily="34" charset="-120"/>
              </a:rPr>
              <a:t>，自由落体加速度与纬度和高度有关：</a:t>
            </a:r>
            <a:r>
              <a:rPr lang="en-US" altLang="zh-CN" sz="2400" b="0" i="0">
                <a:solidFill>
                  <a:srgbClr val="000000"/>
                </a:solidFill>
                <a:latin typeface="Times New Roman" pitchFamily="34" charset="0"/>
                <a:ea typeface="微软雅黑" pitchFamily="34" charset="-122"/>
                <a:cs typeface="Times New Roman" pitchFamily="34" charset="-120"/>
              </a:rPr>
              <a:t>重力加速度随纬度增大而增大，</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两极处重力加速度最大</a:t>
            </a:r>
            <a:r>
              <a:rPr lang="en-US" altLang="zh-CN" sz="2400" b="0" i="0" dirty="0">
                <a:solidFill>
                  <a:srgbClr val="000000"/>
                </a:solidFill>
                <a:latin typeface="Times New Roman" pitchFamily="34" charset="0"/>
                <a:ea typeface="微软雅黑" pitchFamily="34" charset="-122"/>
                <a:cs typeface="Times New Roman" pitchFamily="34" charset="-120"/>
              </a:rPr>
              <a:t>，赤道处重力加速度最小；在地面之上</a:t>
            </a:r>
            <a:r>
              <a:rPr lang="en-US" altLang="zh-CN" sz="2400" b="0" i="0">
                <a:solidFill>
                  <a:srgbClr val="000000"/>
                </a:solidFill>
                <a:latin typeface="Times New Roman" pitchFamily="34" charset="0"/>
                <a:ea typeface="微软雅黑" pitchFamily="34" charset="-122"/>
                <a:cs typeface="Times New Roman" pitchFamily="34" charset="-120"/>
              </a:rPr>
              <a:t>，重力加速度随高度增</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加而减小</a:t>
            </a:r>
            <a:r>
              <a:rPr lang="en-US" altLang="zh-CN" sz="2400" b="0" i="0" dirty="0">
                <a:solidFill>
                  <a:srgbClr val="000000"/>
                </a:solidFill>
                <a:latin typeface="Times New Roman" pitchFamily="34" charset="0"/>
                <a:ea typeface="微软雅黑" pitchFamily="34" charset="-122"/>
                <a:cs typeface="Times New Roman" pitchFamily="34" charset="-120"/>
              </a:rPr>
              <a:t>，但地面之下重力加速度也会减小</a:t>
            </a:r>
            <a:r>
              <a:rPr lang="en-US" altLang="zh-CN" sz="2400" b="0" i="0">
                <a:solidFill>
                  <a:srgbClr val="000000"/>
                </a:solidFill>
                <a:latin typeface="Times New Roman" pitchFamily="34" charset="0"/>
                <a:ea typeface="微软雅黑" pitchFamily="34" charset="-122"/>
                <a:cs typeface="Times New Roman" pitchFamily="34" charset="-120"/>
              </a:rPr>
              <a:t>.纬度和地面附近的高度给重力加速度带来</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的变化均较小</a:t>
            </a:r>
            <a:r>
              <a:rPr lang="en-US" altLang="zh-CN" sz="2400" b="0" i="0" dirty="0">
                <a:solidFill>
                  <a:srgbClr val="000000"/>
                </a:solidFill>
                <a:latin typeface="Times New Roman" pitchFamily="34" charset="0"/>
                <a:ea typeface="微软雅黑" pitchFamily="34" charset="-122"/>
                <a:cs typeface="Times New Roman" pitchFamily="34" charset="-120"/>
              </a:rPr>
              <a:t>，如无特殊说明，一般可以忽略不计</a:t>
            </a:r>
            <a:r>
              <a:rPr lang="en-US" altLang="zh-CN" sz="2400" b="0" i="0">
                <a:solidFill>
                  <a:srgbClr val="000000"/>
                </a:solidFill>
                <a:latin typeface="Times New Roman" pitchFamily="34" charset="0"/>
                <a:ea typeface="微软雅黑" pitchFamily="34" charset="-122"/>
                <a:cs typeface="Times New Roman" pitchFamily="34" charset="-120"/>
              </a:rPr>
              <a:t>，重力加速度发生变化的原因将在</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必修第二册进行详细阐述</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spTree>
  </p:cSld>
  <p:clrMapOvr>
    <a:masterClrMapping/>
  </p:clrMapOvr>
  <p:transition>
    <p:split dir="in"/>
  </p:transition>
</p:sld>
</file>

<file path=ppt/slides/slide31.xml><?xml version="1.0" encoding="utf-8"?>
<p:sld xmlns:a="http://schemas.openxmlformats.org/drawingml/2006/main" xmlns:r="http://schemas.openxmlformats.org/officeDocument/2006/relationships" xmlns:p="http://schemas.openxmlformats.org/presentationml/2006/main">
  <p:cSld name="Slide 32&amp;si=32">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1431</Words>
  <Application>Microsoft Office PowerPoint</Application>
  <PresentationFormat>宽屏</PresentationFormat>
  <Paragraphs>256</Paragraphs>
  <Slides>31</Slides>
  <Notes>31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31</vt:i4>
      </vt:variant>
    </vt:vector>
  </HeadingPairs>
  <TitlesOfParts>
    <vt:vector size="40" baseType="lpstr">
      <vt:lpstr>SimHei</vt:lpstr>
      <vt:lpstr>KaiTi</vt:lpstr>
      <vt:lpstr>SimSun</vt:lpstr>
      <vt:lpstr>微软雅黑</vt:lpstr>
      <vt:lpstr>Arial</vt:lpstr>
      <vt:lpstr>Calibri</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2</cp:revision>
  <dcterms:created xsi:type="dcterms:W3CDTF">2026-05-25T08:17:34Z</dcterms:created>
  <dcterms:modified xsi:type="dcterms:W3CDTF">2026-05-25T08:18:53Z</dcterms:modified>
  <cp:category/>
  <cp:contentStatus/>
</cp:coreProperties>
</file>