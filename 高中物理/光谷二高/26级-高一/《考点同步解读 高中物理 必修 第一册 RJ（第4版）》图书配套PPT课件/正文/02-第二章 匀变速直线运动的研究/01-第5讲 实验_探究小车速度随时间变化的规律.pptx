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62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2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cab9930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第5讲 实验：探究小车速度随时间变化的规律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cab993039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cab993039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实验：探究小车速度随时间变化的规律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cab993039?lid=f733358d6&amp;cid=f733358d6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cab993039?lid=a4f64e07b&amp;cid=a4f64e07b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f733358d6?vcp=1&amp;pid=cab99303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08488a8e3?colgroup=10,8,17&amp;vcp=1&amp;pid=f733358d6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19113"/>
              </p:ext>
            </p:extLst>
          </p:nvPr>
        </p:nvGraphicFramePr>
        <p:xfrm>
          <a:off x="393192" y="1181100"/>
          <a:ext cx="11356848" cy="3452686"/>
        </p:xfrm>
        <a:graphic>
          <a:graphicData uri="http://schemas.openxmlformats.org/drawingml/2006/table">
            <a:tbl>
              <a:tblPr/>
              <a:tblGrid>
                <a:gridCol w="3236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332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实验思路与步骤.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ts val="227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数据记录与数据分析.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.利用纸带数据计算加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速度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08488a8e3.table_image?tii=1&amp;vcp=1&amp;pid=f733358d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3720" y="1885855"/>
            <a:ext cx="4160520" cy="254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a4f64e07b?vcp=1&amp;pid=cab99303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261efa131?vcp=1&amp;pid=a4f64e07b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261efa131?vcp=1&amp;pid=a4f64e07b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261efa131?vcp=1&amp;pid=a4f64e07b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实验原理与实验步骤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1c90f6076?vcp=1&amp;pid=261efa131&amp;color=0,0,0&amp;vtp=1&amp;bbb=1&amp;hb=1"/>
              <p:cNvSpPr/>
              <p:nvPr/>
            </p:nvSpPr>
            <p:spPr>
              <a:xfrm>
                <a:off x="393192" y="1778000"/>
                <a:ext cx="11402568" cy="3488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.实验原理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1）利用纸带计算瞬时速度：以纸带上某点为中间时刻取一小段位移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，用这段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位移的平均速度表示该点的瞬时速度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图像表示小车的运动情况：以速度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为纵轴、时间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为横轴建立平面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直角坐标系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，用描点法画出小车的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图像，图线的倾斜程度表示加速度的大小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图像是一条倾斜的直线，说明小车的速度随时间均匀变化.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1c90f6076?vcp=1&amp;pid=261efa13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3488500"/>
              </a:xfrm>
              <a:prstGeom prst="rect">
                <a:avLst/>
              </a:prstGeom>
              <a:blipFill>
                <a:blip r:embed="rId5"/>
                <a:stretch>
                  <a:fillRect l="-1658" t="-175" r="-1016" b="-50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1c90f6076?vcp=1&amp;pid=261efa131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5344" y="5397500"/>
            <a:ext cx="4407408" cy="96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c90f6076?vcp=1&amp;pid=261efa131&amp;color=0,0,0&amp;vtp=1&amp;bt=1&amp;bbb=1&amp;hb=1"/>
          <p:cNvSpPr/>
          <p:nvPr/>
        </p:nvSpPr>
        <p:spPr>
          <a:xfrm>
            <a:off x="393192" y="1240345"/>
            <a:ext cx="11402568" cy="4386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2.实验步骤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1）把一端带有滑轮的长木板平放在实验桌上，并使滑轮伸出桌面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，将打点计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时器固定在长木板没有滑轮的一端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2）把一条细绳拴在小车上，使细绳跨过滑轮，下面挂上适当的槽码，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放手后，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看小车能否在木板上平稳地加速滑行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.然后将纸带穿过打点计时器，固定在小车上.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3）把小车停在靠近打点计时器的位置，接通电源后释放小车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，让小车拖着纸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带运动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，打点计时器就在纸带上打下一行小点，随后立即关闭电源.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spc="-1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4）增减所挂槽码（或在小车上放置重物），更换纸带，接以上步骤再做两次实验.</a:t>
            </a:r>
            <a:endParaRPr lang="en-US" altLang="zh-CN" sz="2400" spc="-100" dirty="0"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1_1#440970a8f?vcp=1&amp;pid=261efa131&amp;color=0,0,0&amp;vtp=1&amp;bt=1&amp;bbb=1"/>
          <p:cNvSpPr/>
          <p:nvPr/>
        </p:nvSpPr>
        <p:spPr>
          <a:xfrm>
            <a:off x="393192" y="91144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在“探究小车速度随时间变化的规律”的实验中：</a:t>
            </a:r>
            <a:endParaRPr lang="en-US" altLang="zh-CN" sz="2400" dirty="0"/>
          </a:p>
        </p:txBody>
      </p:sp>
      <p:pic>
        <p:nvPicPr>
          <p:cNvPr id="3" name="QO_5_BD.1_2#440970a8f?vcp=1&amp;pid=261efa131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1840" y="1525238"/>
            <a:ext cx="5605272" cy="165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BD.2_1#afaca6f05?vcp=1&amp;pid=440970a8f&amp;color=0,0,0&amp;vtp=1&amp;bbb=1&amp;hb=1"/>
              <p:cNvSpPr/>
              <p:nvPr/>
            </p:nvSpPr>
            <p:spPr>
              <a:xfrm>
                <a:off x="393192" y="331593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）图中打点计时器乙的工作电压为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填“交流”或“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直流”）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V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.若提供的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实验器材中同时有甲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、乙两个打点计时器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，则优先选用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填“甲”或“乙”）.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BD.2_1#afaca6f05?vcp=1&amp;pid=440970a8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5938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B_6_AN.3_1#afaca6f05.blank?vcp=1&amp;pid=440970a8f&amp;color=0,0,0&amp;vpa=1&amp;vtp=1&amp;bbb=1"/>
          <p:cNvSpPr/>
          <p:nvPr/>
        </p:nvSpPr>
        <p:spPr>
          <a:xfrm>
            <a:off x="5439060" y="3287998"/>
            <a:ext cx="8302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交流</a:t>
            </a:r>
            <a:endParaRPr lang="en-US" altLang="zh-CN" sz="2400" dirty="0"/>
          </a:p>
        </p:txBody>
      </p:sp>
      <p:sp>
        <p:nvSpPr>
          <p:cNvPr id="6" name="QB_6_AN.4_1#afaca6f05.blank?vcp=1&amp;pid=440970a8f&amp;color=0,0,0&amp;vpa=2&amp;vtp=1&amp;bbb=1"/>
          <p:cNvSpPr/>
          <p:nvPr/>
        </p:nvSpPr>
        <p:spPr>
          <a:xfrm>
            <a:off x="9331611" y="3287998"/>
            <a:ext cx="6778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220</a:t>
            </a:r>
            <a:endParaRPr lang="en-US" altLang="zh-CN" sz="2400" dirty="0"/>
          </a:p>
        </p:txBody>
      </p:sp>
      <p:sp>
        <p:nvSpPr>
          <p:cNvPr id="7" name="QB_6_AN.5_1#afaca6f05.blank?vcp=1&amp;pid=440970a8f&amp;color=0,0,0&amp;vpa=3&amp;vtp=1"/>
          <p:cNvSpPr/>
          <p:nvPr/>
        </p:nvSpPr>
        <p:spPr>
          <a:xfrm>
            <a:off x="7725061" y="3825208"/>
            <a:ext cx="5254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6_AS.6_1#afaca6f05?vcp=1&amp;pid=440970a8f&amp;color=0,0,0&amp;vtp=1&amp;bbb=1&amp;hb=1"/>
              <p:cNvSpPr/>
              <p:nvPr/>
            </p:nvSpPr>
            <p:spPr>
              <a:xfrm>
                <a:off x="393192" y="4356068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题图中乙是电火花计时器，工作电压为交流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.甲是电磁打点计时器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点的过程中振针和纸带间的摩擦力较大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，误差较大，乙是电火花计时器，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没有振针，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利用火花放电产生点迹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，摩擦力较小，误差较小，故优先使用乙.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B_6_AS.6_1#afaca6f05?vcp=1&amp;pid=440970a8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56068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80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  <p:bldP spid="7" grpId="0" build="p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7_1#536bba12e?vcp=1&amp;pid=440970a8f&amp;color=0,0,0&amp;vtp=1&amp;bt=1&amp;bbb=1"/>
          <p:cNvSpPr/>
          <p:nvPr/>
        </p:nvSpPr>
        <p:spPr>
          <a:xfrm>
            <a:off x="393192" y="125730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（2）（多选题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）下列操作中正确的有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8_1#536bba12e.blank?vcp=1&amp;pid=440970a8f&amp;color=0,0,0&amp;vpa=4&amp;vtp=1&amp;bbb=1"/>
          <p:cNvSpPr/>
          <p:nvPr/>
        </p:nvSpPr>
        <p:spPr>
          <a:xfrm>
            <a:off x="5439060" y="1217295"/>
            <a:ext cx="6619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sp>
        <p:nvSpPr>
          <p:cNvPr id="4" name="QC_6_BD.7_2#536bba12e.choices?vcp=1&amp;pid=440970a8f&amp;color=0,0,0&amp;vtp=1&amp;bbb=1"/>
          <p:cNvSpPr/>
          <p:nvPr/>
        </p:nvSpPr>
        <p:spPr>
          <a:xfrm>
            <a:off x="393192" y="180568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A.在释放小车前，小车要靠近打点计时器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.打点计时器应放在长木板有滑轮的一端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.应先接通电源，后释放小车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.跨过滑轮所吊重物越重越好，可以减小阻力的影响</a:t>
            </a:r>
            <a:endParaRPr lang="en-US" altLang="zh-CN" sz="2400" dirty="0"/>
          </a:p>
        </p:txBody>
      </p:sp>
      <p:sp>
        <p:nvSpPr>
          <p:cNvPr id="5" name="QC_6_AS.9_1#536bba12e?vcp=1&amp;pid=440970a8f&amp;color=0,0,0&amp;vtp=1&amp;bbb=1&amp;hb=1"/>
          <p:cNvSpPr/>
          <p:nvPr/>
        </p:nvSpPr>
        <p:spPr>
          <a:xfrm>
            <a:off x="393192" y="401148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spc="-5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为了能在纸带上打更多的点，在释放小车前，小车要靠近打点计时器</a:t>
            </a: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，并且打点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计时器应放在长木板没有滑轮的一端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，故B错误，A正确；应先接通电源</a:t>
            </a: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，待打点稳定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 spc="-5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后释放小车</a:t>
            </a:r>
            <a:r>
              <a:rPr lang="en-US" altLang="zh-CN" sz="2400" b="1" i="0" spc="-5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，故C正确；探究小车速度随时间变化的规律，不需要减小阻力，故D错误.</a:t>
            </a:r>
            <a:endParaRPr lang="en-US" altLang="zh-CN" sz="2400" spc="-5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0_1#76e470b9f?vcp=1&amp;pid=261efa131&amp;color=0,0,0&amp;vtp=1&amp;bt=1&amp;bbb=1&amp;hb=1"/>
              <p:cNvSpPr/>
              <p:nvPr/>
            </p:nvSpPr>
            <p:spPr>
              <a:xfrm>
                <a:off x="393192" y="235661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运动中的物体拉动穿过所接电源频率为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的打点计时器的纸带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，纸带上打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下一系列小点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打点计时器打下的点直接记录了(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0_1#76e470b9f?vcp=1&amp;pid=261efa13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6613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337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1_1#76e470b9f.bracket?vcp=1&amp;pid=261efa131&amp;color=0,0,0&amp;vpa=5&amp;vtp=1"/>
          <p:cNvSpPr/>
          <p:nvPr/>
        </p:nvSpPr>
        <p:spPr>
          <a:xfrm>
            <a:off x="7026561" y="290398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10_2#76e470b9f.choices?vcp=1&amp;pid=261efa131&amp;color=0,0,0&amp;vtp=1&amp;bbb=1"/>
          <p:cNvSpPr/>
          <p:nvPr/>
        </p:nvSpPr>
        <p:spPr>
          <a:xfrm>
            <a:off x="393192" y="3452749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.物体运动的时间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.物体在不同时刻的速度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C.物体在相邻相同时间间隔内的速度变化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.物体在不同时间内的位移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ce89c04c8?vcp=1&amp;pid=261efa131&amp;color=0,0,0&amp;vtp=1&amp;bt=1&amp;bbb=1&amp;hb=1"/>
          <p:cNvSpPr/>
          <p:nvPr/>
        </p:nvSpPr>
        <p:spPr>
          <a:xfrm>
            <a:off x="393192" y="563817"/>
            <a:ext cx="11402568" cy="187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38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实验注意事项</a:t>
            </a:r>
            <a:endParaRPr lang="en-US" altLang="zh-CN" sz="2400" dirty="0"/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.选择在木板上受到阻力小、各车轮受力均衡的小车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，保证小车沿直线运动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木板纵轴方向）.</a:t>
            </a:r>
            <a:endParaRPr lang="en-US" altLang="zh-CN" sz="2400" dirty="0"/>
          </a:p>
        </p:txBody>
      </p:sp>
      <p:pic>
        <p:nvPicPr>
          <p:cNvPr id="3" name="P_5_BD#ce89c04c8?htil=1&amp;vcp=1&amp;pid=261efa131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5248" y="2095690"/>
            <a:ext cx="1792224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5_BD#ce89c04c8?htil=1&amp;vcp=1&amp;pid=261efa131&amp;color=0,0,0&amp;vtp=1&amp;bbb=1&amp;hs=1"/>
          <p:cNvSpPr/>
          <p:nvPr/>
        </p:nvSpPr>
        <p:spPr>
          <a:xfrm>
            <a:off x="393192" y="2492756"/>
            <a:ext cx="9473184" cy="426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2.在小车后面安装纸带的方法如图所示.</a:t>
            </a:r>
            <a:endParaRPr lang="en-US" altLang="zh-CN" sz="2400" dirty="0"/>
          </a:p>
        </p:txBody>
      </p:sp>
      <p:sp>
        <p:nvSpPr>
          <p:cNvPr id="5" name="P_5_BD#ce89c04c8?htil=1&amp;vcp=1&amp;pid=261efa131&amp;color=0,0,0&amp;vtp=1&amp;bbb=1&amp;hb=1&amp;hs=1"/>
          <p:cNvSpPr/>
          <p:nvPr/>
        </p:nvSpPr>
        <p:spPr>
          <a:xfrm>
            <a:off x="393192" y="2974022"/>
            <a:ext cx="9473184" cy="138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小车运动时要保持纸带与打点计时器在同一平面上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，纸带与长木板</a:t>
            </a:r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平行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.滑轮与小车间的细绳要与长木板平行.</a:t>
            </a:r>
            <a:endParaRPr lang="en-US" altLang="zh-CN" sz="2400" dirty="0"/>
          </a:p>
          <a:p>
            <a:pPr latinLnBrk="1">
              <a:lnSpc>
                <a:spcPts val="36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.为了防止槽码落地受到损伤，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可在地面铺泡沫塑料垫.</a:t>
            </a:r>
            <a:endParaRPr lang="en-US" altLang="zh-CN" sz="2400" dirty="0"/>
          </a:p>
        </p:txBody>
      </p:sp>
      <p:sp>
        <p:nvSpPr>
          <p:cNvPr id="6" name="P_5_BD#ce89c04c8?htil=1&amp;vcp=1&amp;pid=261efa131&amp;color=0,0,0&amp;vtp=1&amp;bbb=1&amp;hb=1&amp;hs=1">
            <a:extLst>
              <a:ext uri="{FF2B5EF4-FFF2-40B4-BE49-F238E27FC236}">
                <a16:creationId xmlns:a16="http://schemas.microsoft.com/office/drawing/2014/main" id="{09F6F69C-6FFB-73EA-2063-456F00B89578}"/>
              </a:ext>
            </a:extLst>
          </p:cNvPr>
          <p:cNvSpPr/>
          <p:nvPr/>
        </p:nvSpPr>
        <p:spPr>
          <a:xfrm>
            <a:off x="393192" y="4356163"/>
            <a:ext cx="11400008" cy="18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.小车释放前应靠近打点计时器.先接通电源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，待打点计时器稳定工作后再释放小</a:t>
            </a:r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.打完点后及时断电.</a:t>
            </a:r>
            <a:endParaRPr lang="en-US" altLang="zh-CN" sz="2400" dirty="0"/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.长木板不一定光滑；槽码质量不能太大，也不宜太小.</a:t>
            </a:r>
            <a:endParaRPr lang="en-US" altLang="zh-CN" sz="2400" dirty="0"/>
          </a:p>
          <a:p>
            <a:pPr latinLnBrk="1">
              <a:lnSpc>
                <a:spcPts val="36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6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.实验中小车的加速度不要太小，以免相对误差较大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，影响实验效果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f8dfde079?vcp=1&amp;pid=a4f64e07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f8dfde079?vcp=1&amp;pid=a4f64e07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f8dfde079?vcp=1&amp;pid=a4f64e07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数据记录与数据分析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pic>
        <p:nvPicPr>
          <p:cNvPr id="5" name="P_5_BD#cca2aac53?htil=2&amp;vcp=1&amp;pid=f8dfde079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04370" y="1137920"/>
            <a:ext cx="2048256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P_5_BD#cca2aac53?htil=2&amp;vcp=1&amp;pid=f8dfde079&amp;color=0,0,0&amp;vtp=1&amp;bbb=1&amp;hb=1&amp;hs=1"/>
          <p:cNvSpPr/>
          <p:nvPr/>
        </p:nvSpPr>
        <p:spPr>
          <a:xfrm>
            <a:off x="393192" y="1092200"/>
            <a:ext cx="9217152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.测量并记录数据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1）为了便于测量，舍掉开头一些过于密集的点迹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，找一个适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当的点当成计时起点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（0点），每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5个点取一个计数点进行测量</a:t>
            </a:r>
            <a:endParaRPr lang="en-US" altLang="zh-CN" sz="2400" dirty="0"/>
          </a:p>
        </p:txBody>
      </p:sp>
      <p:pic>
        <p:nvPicPr>
          <p:cNvPr id="7" name="P_5_BD#cca2aac53?htil=2&amp;vcp=1&amp;pid=f8dfde079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7712" y="4953000"/>
            <a:ext cx="5468112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P_5_BD#cca2aac53?htil=2&amp;vcp=1&amp;pid=f8dfde079&amp;color=0,0,0&amp;vtp=1&amp;bbb=1&amp;hb=1&amp;hs=1">
                <a:extLst>
                  <a:ext uri="{FF2B5EF4-FFF2-40B4-BE49-F238E27FC236}">
                    <a16:creationId xmlns:a16="http://schemas.microsoft.com/office/drawing/2014/main" id="{A8863183-0DCF-F80C-3BAC-D92970BF48F4}"/>
                  </a:ext>
                </a:extLst>
              </p:cNvPr>
              <p:cNvSpPr/>
              <p:nvPr/>
            </p:nvSpPr>
            <p:spPr>
              <a:xfrm>
                <a:off x="393192" y="3238500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这时相邻两个计数点间的时间间隔为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（图中相邻两点间还有4个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点未画出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）.用数字0、1、2、3、4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标出所取的计数点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，测量各计数点到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0点的距离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，记录下来.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P_5_BD#cca2aac53?htil=2&amp;vcp=1&amp;pid=f8dfde079&amp;color=0,0,0&amp;vtp=1&amp;bbb=1&amp;hb=1&amp;hs=1">
                <a:extLst>
                  <a:ext uri="{FF2B5EF4-FFF2-40B4-BE49-F238E27FC236}">
                    <a16:creationId xmlns:a16="http://schemas.microsoft.com/office/drawing/2014/main" id="{A8863183-0DCF-F80C-3BAC-D92970BF4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38500"/>
                <a:ext cx="11400008" cy="1596200"/>
              </a:xfrm>
              <a:prstGeom prst="rect">
                <a:avLst/>
              </a:prstGeom>
              <a:blipFill>
                <a:blip r:embed="rId6"/>
                <a:stretch>
                  <a:fillRect l="-1658" r="-1230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cca2aac53?vcp=1&amp;pid=f8dfde079&amp;color=0,0,0&amp;mp=1&amp;vtp=1&amp;bt=1&amp;bbb=1&amp;hb=1"/>
              <p:cNvSpPr/>
              <p:nvPr/>
            </p:nvSpPr>
            <p:spPr>
              <a:xfrm>
                <a:off x="393192" y="504000"/>
                <a:ext cx="11402568" cy="558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𝑛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分别计算出相邻的两计数点之间的距离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…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（3）利用一段时间内的平均速度等于这段时间中间时刻的瞬时速度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𝑛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𝑛</m:t>
                            </m:r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den>
                    </m:f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，求得各计数点的瞬时速度.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.作出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图像并分析运动规律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1）在坐标纸上建立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坐标系,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并根据表格中的数据在坐标系中描点.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（2）画一条直线,让这条直线通过尽可能多的点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,不在线上的点均匀分布在直线的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两侧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，偏差比较大的点忽略不计,如图所示.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3）观察所得到的直线,分析物体的速度随时间变化的规律.根据画出的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求出小车运动的加速度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latin typeface="SimSun" panose="02010600030101010101" pitchFamily="2" charset="-122"/>
                </a:endParaRPr>
              </a:p>
            </p:txBody>
          </p:sp>
        </mc:Choice>
        <mc:Fallback>
          <p:sp>
            <p:nvSpPr>
              <p:cNvPr id="2" name="P_5_BD#cca2aac53?vcp=1&amp;pid=f8dfde079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588000"/>
              </a:xfrm>
              <a:prstGeom prst="rect">
                <a:avLst/>
              </a:prstGeom>
              <a:blipFill>
                <a:blip r:embed="rId3"/>
                <a:stretch>
                  <a:fillRect l="-1658" r="-1604" b="-18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12_1#0f2fb7328?vcp=1&amp;pid=f8dfde079&amp;color=0,0,0&amp;vtp=1&amp;bt=1&amp;bbb=1&amp;hb=1"/>
          <p:cNvSpPr/>
          <p:nvPr/>
        </p:nvSpPr>
        <p:spPr>
          <a:xfrm>
            <a:off x="393192" y="1052640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考题2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在利用打点计时器研究小车做匀变速直线运动特点的实验中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，某同学得到一条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点迹清晰的纸带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，选取便于测量的部分进行研究，把计时起点标为0，往后再每隔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4个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点标定一个计数点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，分别标以1、2、3、4、5、6、7，如图甲所示.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pic>
        <p:nvPicPr>
          <p:cNvPr id="3" name="QO_5_BD.12_2#0f2fb7328?iti=1&amp;vcp=1&amp;pid=f8dfde079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64992" y="2773236"/>
            <a:ext cx="5449824" cy="66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O_5_BD.12_3#0f2fb7328?iti=1&amp;vcp=1&amp;pid=f8dfde079&amp;color=0,0,0&amp;vtp=1"/>
          <p:cNvSpPr/>
          <p:nvPr/>
        </p:nvSpPr>
        <p:spPr>
          <a:xfrm>
            <a:off x="5903373" y="3567747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BD.13_1#0929939ee?vcp=1&amp;pid=0f2fb7328&amp;color=0,0,0&amp;vtp=1&amp;bbb=1&amp;hb=1"/>
              <p:cNvSpPr/>
              <p:nvPr/>
            </p:nvSpPr>
            <p:spPr>
              <a:xfrm>
                <a:off x="393192" y="406863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（1）已知相邻两计数点之间的时间间隔为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，1、2两点之间的距离为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2、3两点之间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，则打下计数点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2时小车的瞬时速度为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QB_6_BD.13_1#0929939ee?vcp=1&amp;pid=0f2fb732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68635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r="-1497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6_AN.14_1#0929939ee.blank?vcp=1&amp;pid=0f2fb7328&amp;color=0,0,0&amp;vpa=6&amp;vtp=1&amp;bbb=1&amp;rh=39.81504"/>
              <p:cNvSpPr/>
              <p:nvPr/>
            </p:nvSpPr>
            <p:spPr>
              <a:xfrm>
                <a:off x="7003669" y="4538091"/>
                <a:ext cx="812165" cy="50565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6_AN.14_1#0929939ee.blank?vcp=1&amp;pid=0f2fb7328&amp;color=0,0,0&amp;vpa=6&amp;vtp=1&amp;bbb=1&amp;rh=39.81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69" y="4538091"/>
                <a:ext cx="812165" cy="505651"/>
              </a:xfrm>
              <a:prstGeom prst="rect">
                <a:avLst/>
              </a:prstGeom>
              <a:blipFill>
                <a:blip r:embed="rId5"/>
                <a:stretch>
                  <a:fillRect b="-12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6_AS.15_1#0929939ee?vcp=1&amp;pid=0f2fb7328&amp;color=0,0,0&amp;vtp=1&amp;bbb=1"/>
              <p:cNvSpPr/>
              <p:nvPr/>
            </p:nvSpPr>
            <p:spPr>
              <a:xfrm>
                <a:off x="393192" y="5108765"/>
                <a:ext cx="11402568" cy="68840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根据某点相邻前后两点间的平均速度代替该点的瞬时速度知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QB_6_AS.15_1#0929939ee?vcp=1&amp;pid=0f2fb732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08765"/>
                <a:ext cx="11402568" cy="688404"/>
              </a:xfrm>
              <a:prstGeom prst="rect">
                <a:avLst/>
              </a:prstGeom>
              <a:blipFill>
                <a:blip r:embed="rId6"/>
                <a:stretch>
                  <a:fillRect l="-1658" b="-159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B_6_BD.16_1#d834121e0?iti=2&amp;htil=3&amp;vcp=1&amp;pid=0f2fb7328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3920" y="795338"/>
            <a:ext cx="2951472" cy="21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B_6_BD.16_2#d834121e0?iti=2&amp;htil=3&amp;vcp=1&amp;pid=0f2fb7328&amp;color=0,0,0&amp;vtp=1"/>
          <p:cNvSpPr/>
          <p:nvPr/>
        </p:nvSpPr>
        <p:spPr>
          <a:xfrm>
            <a:off x="9793125" y="3032888"/>
            <a:ext cx="373062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50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BD.16_3#d834121e0?htil=3&amp;vcp=1&amp;pid=0f2fb7328&amp;color=0,0,0&amp;vtp=1&amp;bt=1&amp;bbb=1&amp;hb=1&amp;hs=1"/>
              <p:cNvSpPr/>
              <p:nvPr/>
            </p:nvSpPr>
            <p:spPr>
              <a:xfrm>
                <a:off x="393192" y="808038"/>
                <a:ext cx="799185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（2）该同学根据测量数据计算出小车的速度并记入表中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.请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在图乙中的坐标纸上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，根据表中数据作出小车运动的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；由图像可求得小车加速度的大小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结果保留两位有效数字）.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BD.16_3#d834121e0?htil=3&amp;vcp=1&amp;pid=0f2fb7328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8038"/>
                <a:ext cx="7991856" cy="2155000"/>
              </a:xfrm>
              <a:prstGeom prst="rect">
                <a:avLst/>
              </a:prstGeom>
              <a:blipFill>
                <a:blip r:embed="rId4"/>
                <a:stretch>
                  <a:fillRect l="-2365" r="-53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B_6_AN.17_1#d834121e0.blank?vcp=1&amp;pid=0f2fb7328&amp;color=0,0,0&amp;vpa=7&amp;vtp=1&amp;bbb=1"/>
          <p:cNvSpPr/>
          <p:nvPr/>
        </p:nvSpPr>
        <p:spPr>
          <a:xfrm>
            <a:off x="6042310" y="1897698"/>
            <a:ext cx="6016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2.0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QB_6_BD.16_4#d834121e0?colgroup=8,1,3,3,3,3,3,3&amp;vcp=1&amp;pid=0f2fb7328&amp;color=0,0,0&amp;vtp=1&amp;bbb=1&amp;hs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5441988"/>
                  </p:ext>
                </p:extLst>
              </p:nvPr>
            </p:nvGraphicFramePr>
            <p:xfrm>
              <a:off x="393192" y="3951034"/>
              <a:ext cx="11329416" cy="1495998"/>
            </p:xfrm>
            <a:graphic>
              <a:graphicData uri="http://schemas.openxmlformats.org/drawingml/2006/table">
                <a:tbl>
                  <a:tblPr/>
                  <a:tblGrid>
                    <a:gridCol w="26883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63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计数点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0.81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1.20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1.39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1.60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1.80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QB_6_BD.16_4#d834121e0?colgroup=8,1,3,3,3,3,3,3&amp;vcp=1&amp;pid=0f2fb7328&amp;color=0,0,0&amp;vtp=1&amp;bbb=1&amp;hs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5441988"/>
                  </p:ext>
                </p:extLst>
              </p:nvPr>
            </p:nvGraphicFramePr>
            <p:xfrm>
              <a:off x="393192" y="3951034"/>
              <a:ext cx="11329416" cy="1495998"/>
            </p:xfrm>
            <a:graphic>
              <a:graphicData uri="http://schemas.openxmlformats.org/drawingml/2006/table">
                <a:tbl>
                  <a:tblPr/>
                  <a:tblGrid>
                    <a:gridCol w="26883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63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624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计数点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" t="-101220" r="-321995" b="-1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" t="-201220" r="-321995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0.81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1.20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1.39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1.60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1.80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QB_6_AN.18_1#d834121e0?vcp=1&amp;pid=0f2fb7328&amp;color=0,0,0&amp;vtp=1&amp;bbb=1"/>
          <p:cNvSpPr/>
          <p:nvPr/>
        </p:nvSpPr>
        <p:spPr>
          <a:xfrm>
            <a:off x="393192" y="557663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见解析图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6_AS.19_1#d834121e0?vcp=1&amp;pid=0f2fb7328&amp;color=0,0,0&amp;vtp=1&amp;bt=1&amp;bbb=1"/>
          <p:cNvSpPr/>
          <p:nvPr/>
        </p:nvSpPr>
        <p:spPr>
          <a:xfrm>
            <a:off x="393192" y="137998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描点作图，让直线尽量过更多的点，图像如图所示.</a:t>
            </a:r>
            <a:endParaRPr lang="en-US" altLang="zh-CN" sz="2400" dirty="0"/>
          </a:p>
        </p:txBody>
      </p:sp>
      <p:pic>
        <p:nvPicPr>
          <p:cNvPr id="3" name="QB_6_AS.19_2#d834121e0?vcp=1&amp;pid=0f2fb7328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0792" y="1993773"/>
            <a:ext cx="4096512" cy="26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S.19_3#d834121e0?vcp=1&amp;pid=0f2fb7328&amp;color=0,0,0&amp;vtp=1&amp;bbb=1"/>
              <p:cNvSpPr/>
              <p:nvPr/>
            </p:nvSpPr>
            <p:spPr>
              <a:xfrm>
                <a:off x="393192" y="4749673"/>
                <a:ext cx="11402568" cy="7226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由图像的斜率表示加速度知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AS.19_3#d834121e0?vcp=1&amp;pid=0f2fb732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49673"/>
                <a:ext cx="11402568" cy="722630"/>
              </a:xfrm>
              <a:prstGeom prst="rect">
                <a:avLst/>
              </a:prstGeom>
              <a:blipFill>
                <a:blip r:embed="rId4"/>
                <a:stretch>
                  <a:fillRect l="-1658" b="-1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20_1#c47e1826d?vcp=1&amp;pid=f8dfde079&amp;color=0,0,0&amp;vtp=1&amp;bt=1&amp;bbb=1&amp;hb=1"/>
              <p:cNvSpPr/>
              <p:nvPr/>
            </p:nvSpPr>
            <p:spPr>
              <a:xfrm>
                <a:off x="393192" y="293071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在考题2的实验中，将图线延长与纵轴相交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，交点的纵坐标是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速度的物理意义是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20_1#c47e1826d?vcp=1&amp;pid=f8dfde07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3071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21_1#c47e1826d.blank?vcp=1&amp;pid=f8dfde079&amp;color=0,0,0&amp;vpa=8&amp;vtp=1&amp;bbb=1"/>
          <p:cNvSpPr/>
          <p:nvPr/>
        </p:nvSpPr>
        <p:spPr>
          <a:xfrm>
            <a:off x="9618948" y="2902775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0.60</a:t>
            </a:r>
            <a:endParaRPr lang="en-US" altLang="zh-CN" sz="2400" dirty="0"/>
          </a:p>
        </p:txBody>
      </p:sp>
      <p:sp>
        <p:nvSpPr>
          <p:cNvPr id="4" name="QB_5_AN.22_1#c47e1826d.blank?vcp=1&amp;pid=f8dfde079&amp;color=0,0,0&amp;vpa=9&amp;vtp=1&amp;bbb=1"/>
          <p:cNvSpPr/>
          <p:nvPr/>
        </p:nvSpPr>
        <p:spPr>
          <a:xfrm>
            <a:off x="2848261" y="3439985"/>
            <a:ext cx="34210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计时起点0时小车的速度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ac662ac89?vcp=1&amp;pid=f8dfde079&amp;color=0,0,0&amp;vtp=1&amp;bt=1&amp;bbb=1&amp;hb=1"/>
              <p:cNvSpPr/>
              <p:nvPr/>
            </p:nvSpPr>
            <p:spPr>
              <a:xfrm>
                <a:off x="393192" y="683355"/>
                <a:ext cx="11402568" cy="5507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.数据分析要点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1）适当选取计数点，弄清楚所选计数点间的时间间隔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2）在测量长度时，用刻度尺测量各计数点到0点的距离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，可以减小测量时带来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的误差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3）在坐标纸上画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图像时，注意坐标轴单位长度的选取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（纵轴与横轴的单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位长度可不一致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），应使图像尽量分布在坐标平面中央.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图像时，将各个点按折线全部连接起来的做法是错误的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,应该先判断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图像的大体走势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，然后再画一条直线,让这条直线通过尽可能多的点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,不在线上的点均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匀分布在直线的两侧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，偏差比较大的点忽略不计.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ac662ac89?vcp=1&amp;pid=f8dfde07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3355"/>
                <a:ext cx="11402568" cy="5507800"/>
              </a:xfrm>
              <a:prstGeom prst="rect">
                <a:avLst/>
              </a:prstGeom>
              <a:blipFill>
                <a:blip r:embed="rId3"/>
                <a:stretch>
                  <a:fillRect l="-1658" r="-909" b="-33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ac662ac89?vcp=1&amp;pid=f8dfde079&amp;color=0,0,0&amp;vtp=1&amp;bt=1&amp;bbb=1&amp;hb=1"/>
              <p:cNvSpPr/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2.减小实验误差的方法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1）应选择点迹小而清晰的纸带，用分度值为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的刻度尺测量并估读到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2）读数时眼睛要正对点和刻度尺，以尽量减小误差.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3）小车的速度应适当大些，这样可以减小测量长度带来的误差.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4）适当选几个（如五个）计时点的时间间隔作为时间单位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，可减小测量时间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间隔带来的误差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.在测量两计数点间的距离时，要一次完成测量，不要分段测量.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ac662ac89?vcp=1&amp;pid=f8dfde07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ac662ac89?htil=4&amp;vcp=1&amp;pid=f8dfde079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44263" y="1309052"/>
            <a:ext cx="3474720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ac662ac89?htil=4&amp;vcp=1&amp;pid=f8dfde079&amp;color=0,0,0&amp;vtp=1&amp;bt=1&amp;bbb=1&amp;hb=1&amp;hs=1"/>
              <p:cNvSpPr/>
              <p:nvPr/>
            </p:nvSpPr>
            <p:spPr>
              <a:xfrm>
                <a:off x="393192" y="1263332"/>
                <a:ext cx="779068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不能用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图像的加速度的原因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若两坐标轴的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“单位长度”相等，作出的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，此时倾角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；若时间轴的“单位长度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”只有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“单位长度”的一半，作出的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5_BD#ac662ac89?htil=4&amp;vcp=1&amp;pid=f8dfde079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63332"/>
                <a:ext cx="7790688" cy="2713800"/>
              </a:xfrm>
              <a:prstGeom prst="rect">
                <a:avLst/>
              </a:prstGeom>
              <a:blipFill>
                <a:blip r:embed="rId4"/>
                <a:stretch>
                  <a:fillRect l="-2426" r="-1174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ac662ac89?htil=4&amp;vcp=1&amp;pid=f8dfde079&amp;color=0,0,0&amp;vtp=1&amp;bt=1&amp;bbb=1&amp;hb=1&amp;hs=1">
                <a:extLst>
                  <a:ext uri="{FF2B5EF4-FFF2-40B4-BE49-F238E27FC236}">
                    <a16:creationId xmlns:a16="http://schemas.microsoft.com/office/drawing/2014/main" id="{D6D38D51-8303-2338-82C1-E8150DA8A972}"/>
                  </a:ext>
                </a:extLst>
              </p:cNvPr>
              <p:cNvSpPr/>
              <p:nvPr/>
            </p:nvSpPr>
            <p:spPr>
              <a:xfrm>
                <a:off x="395996" y="3973322"/>
                <a:ext cx="1140000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此时倾角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.因此，两种情况下由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求出的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加速度值是不同的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求得的加速度值却是相同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ac662ac89?htil=4&amp;vcp=1&amp;pid=f8dfde079&amp;color=0,0,0&amp;vtp=1&amp;bt=1&amp;bbb=1&amp;hb=1&amp;hs=1">
                <a:extLst>
                  <a:ext uri="{FF2B5EF4-FFF2-40B4-BE49-F238E27FC236}">
                    <a16:creationId xmlns:a16="http://schemas.microsoft.com/office/drawing/2014/main" id="{D6D38D51-8303-2338-82C1-E8150DA8A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973322"/>
                <a:ext cx="11400008" cy="1621600"/>
              </a:xfrm>
              <a:prstGeom prst="rect">
                <a:avLst/>
              </a:prstGeom>
              <a:blipFill>
                <a:blip r:embed="rId5"/>
                <a:stretch>
                  <a:fillRect l="-1658" b="-109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927f22b4d?vcp=1&amp;pid=a4f64e07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927f22b4d?vcp=1&amp;pid=a4f64e07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927f22b4d?vcp=1&amp;pid=a4f64e07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实验方案创新设计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_BD#60ce88575?vcp=1&amp;pid=927f22b4d&amp;color=0,0,0&amp;vtp=1&amp;bbb=1"/>
          <p:cNvSpPr/>
          <p:nvPr/>
        </p:nvSpPr>
        <p:spPr>
          <a:xfrm>
            <a:off x="393192" y="1092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p:pic>
        <p:nvPicPr>
          <p:cNvPr id="6" name="P_5_BD#60ce88575?vcp=1&amp;pid=927f22b4d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93392" y="1712595"/>
            <a:ext cx="8211312" cy="39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3_1#a47cd9193?vcp=1&amp;pid=927f22b4d&amp;color=0,0,0&amp;vtp=1&amp;bt=1&amp;bbb=1"/>
          <p:cNvSpPr/>
          <p:nvPr/>
        </p:nvSpPr>
        <p:spPr>
          <a:xfrm>
            <a:off x="393192" y="92481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考题3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［经典高考题改编］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BD.24_1#2cfdcfd65?vcp=1&amp;pid=a47cd9193&amp;color=0,0,0&amp;vtp=1&amp;bbb=1&amp;hb=1"/>
              <p:cNvSpPr/>
              <p:nvPr/>
            </p:nvSpPr>
            <p:spPr>
              <a:xfrm>
                <a:off x="393192" y="1474216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（1）用气垫导轨和数字计时器能更精确地测量物体的瞬时速度.如图所示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，滑块在牵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引力作用下先后通过两个光电门，配套的数字毫秒计记录了遮光板通过第一个光电门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，通过第二个光电门的时间为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，通过两个光电门的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，已知遮光板的宽度为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，则滑块加速度大小为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结果保留两位有效数字）.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B_6_BD.24_1#2cfdcfd65?vcp=1&amp;pid=a47cd919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74216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535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6_AN.25_1#2cfdcfd65.blank?vcp=1&amp;pid=a47cd9193&amp;color=0,0,0&amp;vpa=10&amp;vtp=1&amp;bbb=1"/>
          <p:cNvSpPr/>
          <p:nvPr/>
        </p:nvSpPr>
        <p:spPr>
          <a:xfrm>
            <a:off x="9442736" y="3122676"/>
            <a:ext cx="754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0.14</a:t>
            </a:r>
            <a:endParaRPr lang="en-US" altLang="zh-CN" sz="2400" dirty="0"/>
          </a:p>
        </p:txBody>
      </p:sp>
      <p:pic>
        <p:nvPicPr>
          <p:cNvPr id="5" name="QB_6_BD.24_2#2cfdcfd65?vcp=1&amp;pid=a47cd919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29584" y="4294505"/>
            <a:ext cx="5129784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AS.26_1#2cfdcfd65?vcp=1&amp;pid=a47cd9193&amp;color=0,0,0&amp;vtp=1&amp;bt=1&amp;bbb=1&amp;hb=1"/>
              <p:cNvSpPr/>
              <p:nvPr/>
            </p:nvSpPr>
            <p:spPr>
              <a:xfrm>
                <a:off x="393192" y="1869249"/>
                <a:ext cx="11402568" cy="2971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在极短时间或位移内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，质点的平均速度可以看作它在此段时间内某时刻或此段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位移内某位置的瞬时速度，则滑块经过第一个光电门的速度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滑块经过第二个光电门的速度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6_AS.26_1#2cfdcfd65?vcp=1&amp;pid=a47cd91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69249"/>
                <a:ext cx="11402568" cy="2971800"/>
              </a:xfrm>
              <a:prstGeom prst="rect">
                <a:avLst/>
              </a:prstGeom>
              <a:blipFill>
                <a:blip r:embed="rId3"/>
                <a:stretch>
                  <a:fillRect l="-1658" r="-1016" b="-34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6_BD.27_1#0b12fbe72?vcp=1&amp;pid=a47cd9193&amp;color=0,0,0&amp;vtp=1&amp;bt=1&amp;bbb=1"/>
          <p:cNvSpPr/>
          <p:nvPr/>
        </p:nvSpPr>
        <p:spPr>
          <a:xfrm>
            <a:off x="393192" y="148082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（2）为使测量值更接近瞬时速度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，正确的措施是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sp>
        <p:nvSpPr>
          <p:cNvPr id="3" name="QC_6_AN.28_1#0b12fbe72.blank?vcp=1&amp;pid=a47cd9193&amp;color=0,0,0&amp;vpa=11&amp;vtp=1"/>
          <p:cNvSpPr/>
          <p:nvPr/>
        </p:nvSpPr>
        <p:spPr>
          <a:xfrm>
            <a:off x="6937661" y="1440816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4" name="QC_6_BD.27_2#0b12fbe72.choices?vcp=1&amp;pid=a47cd9193&amp;color=0,0,0&amp;vtp=1&amp;bbb=1"/>
          <p:cNvSpPr/>
          <p:nvPr/>
        </p:nvSpPr>
        <p:spPr>
          <a:xfrm>
            <a:off x="393192" y="2029206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A.换用宽度更宽的遮光板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.换用宽度更窄的遮光板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.使滑块的释放点更靠近光电门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6_AS.29_1#0b12fbe72?vcp=1&amp;pid=a47cd9193&amp;color=0,0,0&amp;vtp=1&amp;bbb=1&amp;hb=1"/>
              <p:cNvSpPr/>
              <p:nvPr/>
            </p:nvSpPr>
            <p:spPr>
              <a:xfrm>
                <a:off x="393192" y="361759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根据平均速度公式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，可知遮光板越窄或遮光时间越短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，平均速度越接近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瞬时速度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，即应换用宽度更窄的遮光板，故B正确，A错误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；滑块的释放点靠近光电门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，遮光板经过光电门的速度变小，遮光时间变长，误差较大，故C错误.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6_AS.29_1#0b12fbe72?vcp=1&amp;pid=a47cd919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1759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604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30_1#8b2b6d975?vcp=1&amp;pid=927f22b4d&amp;color=0,0,0&amp;vtp=1&amp;bt=1&amp;bbb=1&amp;hb=1"/>
              <p:cNvSpPr/>
              <p:nvPr/>
            </p:nvSpPr>
            <p:spPr>
              <a:xfrm>
                <a:off x="393192" y="1303528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为研究实验小车沿斜面向下运动的规律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，某同学把打点计时器纸带的一端固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定在小车上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，小车拖动纸带运动时，纸带上打出一系列点.该同学把纸带每隔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剪断，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得到五段短纸条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（分别记作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𝑒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）.再把这些纸条由短到长紧靠但不重叠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地粘在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𝑥𝑂𝑦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坐标系中，如图所示，由此可以得到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30_1#8b2b6d975?vcp=1&amp;pid=927f22b4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03528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379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30_2#8b2b6d975?vcp=1&amp;pid=927f22b4d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0" y="3570224"/>
            <a:ext cx="2414016" cy="19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31_1#8277c8716?vcp=1&amp;pid=8b2b6d975&amp;color=0,0,0&amp;vtp=1&amp;bt=1&amp;bbb=1&amp;hb=1"/>
              <p:cNvSpPr/>
              <p:nvPr/>
            </p:nvSpPr>
            <p:spPr>
              <a:xfrm>
                <a:off x="393192" y="969010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（1）请在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𝑥𝑂𝑦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坐标系中用最简洁的方法作出能表示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关系的图线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，并指出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轴相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当于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6_BD.31_1#8277c8716?vcp=1&amp;pid=8b2b6d9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9010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96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6_AN.32_1#8277c8716.blank?vcp=1&amp;pid=8b2b6d975&amp;color=0,0,0&amp;vpa=12&amp;vtp=1&amp;bbb=1"/>
              <p:cNvSpPr/>
              <p:nvPr/>
            </p:nvSpPr>
            <p:spPr>
              <a:xfrm>
                <a:off x="10712451" y="1045781"/>
                <a:ext cx="338138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6_AN.32_1#8277c8716.blank?vcp=1&amp;pid=8b2b6d975&amp;color=0,0,0&amp;vpa=12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451" y="1045781"/>
                <a:ext cx="338138" cy="353441"/>
              </a:xfrm>
              <a:prstGeom prst="rect">
                <a:avLst/>
              </a:prstGeom>
              <a:blipFill>
                <a:blip r:embed="rId4"/>
                <a:stretch>
                  <a:fillRect l="-10714" r="-8929" b="-3103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6_AN.33_1#8277c8716?vcp=1&amp;pid=8b2b6d975&amp;color=0,0,0&amp;vtp=1&amp;bbb=1"/>
          <p:cNvSpPr/>
          <p:nvPr/>
        </p:nvSpPr>
        <p:spPr>
          <a:xfrm>
            <a:off x="393192" y="201422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见解析图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6_AS.34_1#8277c8716?vcp=1&amp;pid=8b2b6d975&amp;color=0,0,0&amp;vtp=1&amp;bbb=1&amp;hb=1"/>
              <p:cNvSpPr/>
              <p:nvPr/>
            </p:nvSpPr>
            <p:spPr>
              <a:xfrm>
                <a:off x="393192" y="2570226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在很短时间内，中间时刻的瞬时速度可以用平均速度代替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.由于时间间隔均为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,可以用纸带的宽度表示时间间隔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可知,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相等时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，位移与速度成正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，因此可以用纸带的长度等效于速度的大小，故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轴相当于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轴，如图所示.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QB_6_AS.34_1#8277c8716?vcp=1&amp;pid=8b2b6d9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70226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55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B_6_AS.34_2#8277c8716?vcp=1&amp;pid=8b2b6d975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0" y="4285615"/>
            <a:ext cx="1947672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6_BD.35_1#d8275b8d8?vcp=1&amp;pid=8b2b6d975&amp;color=0,0,0&amp;vtp=1&amp;bt=1&amp;bbb=1&amp;hb=1"/>
              <p:cNvSpPr/>
              <p:nvPr/>
            </p:nvSpPr>
            <p:spPr>
              <a:xfrm>
                <a:off x="393192" y="1231265"/>
                <a:ext cx="11402568" cy="1036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（2）若测得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段纸带的长度为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𝑒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段纸带的长度为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6_BD.35_1#d8275b8d8?vcp=1&amp;pid=8b2b6d97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1265"/>
                <a:ext cx="11402568" cy="1036828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6_AN.36_1#d8275b8d8.blank?vcp=1&amp;pid=8b2b6d975&amp;color=0,0,0&amp;vpa=13&amp;vtp=1"/>
          <p:cNvSpPr/>
          <p:nvPr/>
        </p:nvSpPr>
        <p:spPr>
          <a:xfrm>
            <a:off x="10698258" y="1203325"/>
            <a:ext cx="373063" cy="49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6_AS.37_1#d8275b8d8?vcp=1&amp;pid=8b2b6d975&amp;color=0,0,0&amp;vtp=1&amp;bbb=1&amp;hb=1"/>
              <p:cNvSpPr/>
              <p:nvPr/>
            </p:nvSpPr>
            <p:spPr>
              <a:xfrm>
                <a:off x="393192" y="2276475"/>
                <a:ext cx="11402568" cy="31610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由（1）的分析可以理解为小车的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图线是一条倾斜的直线，根据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算加速度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𝒆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𝒆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6_AS.37_1#d8275b8d8?vcp=1&amp;pid=8b2b6d97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76475"/>
                <a:ext cx="11402568" cy="3161030"/>
              </a:xfrm>
              <a:prstGeom prst="rect">
                <a:avLst/>
              </a:prstGeom>
              <a:blipFill>
                <a:blip r:embed="rId4"/>
                <a:stretch>
                  <a:fillRect l="-1658" r="-374" b="-32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7790abeb?vcp=1&amp;pid=927f22b4d&amp;color=0,0,0&amp;vtp=1&amp;bt=1&amp;bbb=1"/>
          <p:cNvSpPr/>
          <p:nvPr/>
        </p:nvSpPr>
        <p:spPr>
          <a:xfrm>
            <a:off x="393192" y="1001617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等效替代法</a:t>
            </a:r>
            <a:endParaRPr lang="en-US" altLang="zh-CN" sz="2400" dirty="0"/>
          </a:p>
        </p:txBody>
      </p:sp>
      <p:pic>
        <p:nvPicPr>
          <p:cNvPr id="3" name="P_5_BD#e7790abeb?htil=5&amp;vcp=1&amp;pid=927f22b4d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4040" y="2151983"/>
            <a:ext cx="2313432" cy="250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e7790abeb?htil=5&amp;vcp=1&amp;pid=927f22b4d&amp;color=0,0,0&amp;vtp=1&amp;bbb=1&amp;hb=1&amp;hs=1"/>
              <p:cNvSpPr/>
              <p:nvPr/>
            </p:nvSpPr>
            <p:spPr>
              <a:xfrm>
                <a:off x="393192" y="2106263"/>
                <a:ext cx="8951976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鉴于纸带的宽度相同，可以选择一条清晰的纸带，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标上计数点，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然后将纸带从相邻的计数点剪下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，连续剪下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4∼6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，然后底边对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齐并列贴在有格子的纸上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，如图所示.纸带的排列呈阶梯状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，这种排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列也反映了物体运动的规律，因为每段的长度对应物体在相等时间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，所以纸带的长度与运动的速度成正比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，而纸带的宽度等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e7790abeb?htil=5&amp;vcp=1&amp;pid=927f22b4d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06263"/>
                <a:ext cx="8951976" cy="2713990"/>
              </a:xfrm>
              <a:prstGeom prst="rect">
                <a:avLst/>
              </a:prstGeom>
              <a:blipFill>
                <a:blip r:embed="rId4"/>
                <a:stretch>
                  <a:fillRect l="-2112" r="-4223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e7790abeb?htil=5&amp;vcp=1&amp;pid=927f22b4d&amp;color=0,0,0&amp;vtp=1&amp;bbb=1&amp;hb=1&amp;hs=1">
                <a:extLst>
                  <a:ext uri="{FF2B5EF4-FFF2-40B4-BE49-F238E27FC236}">
                    <a16:creationId xmlns:a16="http://schemas.microsoft.com/office/drawing/2014/main" id="{F4DEDA78-6B97-8AAB-501F-3B8F812F5AAC}"/>
                  </a:ext>
                </a:extLst>
              </p:cNvPr>
              <p:cNvSpPr/>
              <p:nvPr/>
            </p:nvSpPr>
            <p:spPr>
              <a:xfrm>
                <a:off x="395996" y="4803743"/>
                <a:ext cx="1140000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效为时间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，纸带的长度均匀增加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，因此这个图像可以等效为物体运动的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图中可看出物体的运动速度均匀增加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e7790abeb?htil=5&amp;vcp=1&amp;pid=927f22b4d&amp;color=0,0,0&amp;vtp=1&amp;bbb=1&amp;hb=1&amp;hs=1">
                <a:extLst>
                  <a:ext uri="{FF2B5EF4-FFF2-40B4-BE49-F238E27FC236}">
                    <a16:creationId xmlns:a16="http://schemas.microsoft.com/office/drawing/2014/main" id="{F4DEDA78-6B97-8AAB-501F-3B8F812F5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803743"/>
                <a:ext cx="11400008" cy="1037400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7790abeb?vcp=1&amp;pid=927f22b4d&amp;color=0,0,0&amp;vtp=1&amp;bt=1&amp;bbb=1"/>
          <p:cNvSpPr/>
          <p:nvPr/>
        </p:nvSpPr>
        <p:spPr>
          <a:xfrm>
            <a:off x="393192" y="1878774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不同纸带的数据处理方法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P_5_BD#e7790abeb?colgroup=10,26&amp;vcp=1&amp;pid=927f22b4d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074929"/>
                  </p:ext>
                </p:extLst>
              </p:nvPr>
            </p:nvGraphicFramePr>
            <p:xfrm>
              <a:off x="393192" y="2505266"/>
              <a:ext cx="11375136" cy="2472055"/>
            </p:xfrm>
            <a:graphic>
              <a:graphicData uri="http://schemas.openxmlformats.org/drawingml/2006/table">
                <a:tbl>
                  <a:tblPr/>
                  <a:tblGrid>
                    <a:gridCol w="3236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38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纸带类型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处理方法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945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数据完整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段数是偶数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3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以段数为6段的纸带为例：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)−(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9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​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数据完整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段数是奇数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舍弃纸带的第一段或最后一段或中间段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再利用逐差法计算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111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数据不完整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5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𝑇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​</m:t>
                                      </m:r>
                                    </m:e>
                                    <m:sup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P_5_BD#e7790abeb?colgroup=10,26&amp;vcp=1&amp;pid=927f22b4d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9074929"/>
                  </p:ext>
                </p:extLst>
              </p:nvPr>
            </p:nvGraphicFramePr>
            <p:xfrm>
              <a:off x="393192" y="2505266"/>
              <a:ext cx="11375136" cy="2472055"/>
            </p:xfrm>
            <a:graphic>
              <a:graphicData uri="http://schemas.openxmlformats.org/drawingml/2006/table">
                <a:tbl>
                  <a:tblPr/>
                  <a:tblGrid>
                    <a:gridCol w="3236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38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纸带类型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处理方法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945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数据完整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段数是偶数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0" t="-68908" r="-150" b="-1756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数据完整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段数是奇数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舍弃纸带的第一段或最后一段或中间段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再利用逐差法计算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111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数据不完整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0" t="-226400" r="-150" b="-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1255</Words>
  <Application>Microsoft Office PowerPoint</Application>
  <PresentationFormat>宽屏</PresentationFormat>
  <Paragraphs>246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SimHei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2026-05-25T08:15:36Z</dcterms:created>
  <dcterms:modified xsi:type="dcterms:W3CDTF">2026-05-25T08:17:11Z</dcterms:modified>
  <cp:category/>
  <cp:contentStatus/>
</cp:coreProperties>
</file>