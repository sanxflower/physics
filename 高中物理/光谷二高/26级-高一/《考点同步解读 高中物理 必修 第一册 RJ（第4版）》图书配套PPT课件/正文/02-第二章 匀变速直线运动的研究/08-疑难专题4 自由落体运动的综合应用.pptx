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7704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9b2d2ba91f04ee84#tid=6a13c06328bacd03a259d375#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df=797fd896b">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疑难专题4 自由落体运动的综合应用</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797fd896b.fixed?vcp=1&amp;pid=efd683a83&amp;color=0,112,192&amp;vtp=1&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第二章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匀变速直线运动的研究</a:t>
            </a:r>
            <a:endParaRPr lang="en-US" altLang="zh-CN" sz="4800" dirty="0"/>
          </a:p>
        </p:txBody>
      </p:sp>
      <p:sp>
        <p:nvSpPr>
          <p:cNvPr id="3" name="C_2_BD#797fd896b.fixed?vcp=1&amp;pid=efd683a83&amp;color=0,0,0&amp;vtp=1&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疑难专题4</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自由落体运动的综合应用</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pic>
        <p:nvPicPr>
          <p:cNvPr id="2" name="C_3#7dbd1456e?vcp=1&amp;pid=797fd896b&amp;color=0,0,0&amp;tib=255,255,255&amp;vtp=1" descr="preencoded.png"/>
          <p:cNvPicPr>
            <a:picLocks noChangeAspect="1"/>
          </p:cNvPicPr>
          <p:nvPr/>
        </p:nvPicPr>
        <p:blipFill>
          <a:blip r:embed="rId3"/>
          <a:stretch>
            <a:fillRect/>
          </a:stretch>
        </p:blipFill>
        <p:spPr>
          <a:xfrm>
            <a:off x="411480" y="502920"/>
            <a:ext cx="11320272" cy="466344"/>
          </a:xfrm>
          <a:prstGeom prst="rect">
            <a:avLst/>
          </a:prstGeom>
        </p:spPr>
      </p:pic>
      <p:sp>
        <p:nvSpPr>
          <p:cNvPr id="3" name="C_3_BD#7dbd1456e?vcp=1&amp;pid=797fd896b&amp;color=255,255,255&amp;vtp=1&amp;bt=1&amp;bbb=1"/>
          <p:cNvSpPr/>
          <p:nvPr/>
        </p:nvSpPr>
        <p:spPr>
          <a:xfrm>
            <a:off x="393192" y="502920"/>
            <a:ext cx="896112" cy="457200"/>
          </a:xfrm>
          <a:prstGeom prst="rect">
            <a:avLst/>
          </a:prstGeom>
          <a:noFill/>
          <a:ln/>
        </p:spPr>
        <p:txBody>
          <a:bodyPr wrap="none" lIns="0" tIns="0" rIns="0" bIns="0" rtlCol="0" anchor="ctr"/>
          <a:lstStyle/>
          <a:p>
            <a:pPr algn="ctr" latinLnBrk="1">
              <a:lnSpc>
                <a:spcPts val="3200"/>
              </a:lnSpc>
            </a:pPr>
            <a:r>
              <a:rPr lang="en-US" altLang="zh-CN" sz="2600" b="1" i="0" dirty="0">
                <a:solidFill>
                  <a:srgbClr val="FFFFFF"/>
                </a:solidFill>
                <a:latin typeface="SimHei" pitchFamily="34" charset="0"/>
                <a:ea typeface="SimHei" pitchFamily="34" charset="-122"/>
                <a:cs typeface="SimHei" pitchFamily="34" charset="-120"/>
              </a:rPr>
              <a:t>考点</a:t>
            </a:r>
            <a:endParaRPr lang="en-US" altLang="zh-CN" sz="2600" dirty="0"/>
          </a:p>
        </p:txBody>
      </p:sp>
      <p:sp>
        <p:nvSpPr>
          <p:cNvPr id="4" name="C_3_BD#7dbd1456e?vcp=1&amp;pid=797fd896b&amp;color=255,255,255&amp;vtp=1"/>
          <p:cNvSpPr/>
          <p:nvPr/>
        </p:nvSpPr>
        <p:spPr>
          <a:xfrm>
            <a:off x="1298448"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1</a:t>
            </a:r>
            <a:endParaRPr lang="en-US" altLang="zh-CN" sz="2800" dirty="0"/>
          </a:p>
        </p:txBody>
      </p:sp>
      <p:sp>
        <p:nvSpPr>
          <p:cNvPr id="5" name="C_3_BD#7dbd1456e?vcp=1&amp;pid=797fd896b&amp;color=0,0,0&amp;vtp=1&amp;bbb=1"/>
          <p:cNvSpPr/>
          <p:nvPr/>
        </p:nvSpPr>
        <p:spPr>
          <a:xfrm>
            <a:off x="1911096"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自由落体运动的性质与规律</a:t>
            </a:r>
            <a:endParaRPr lang="en-US" altLang="zh-CN" sz="2600" dirty="0"/>
          </a:p>
        </p:txBody>
      </p:sp>
      <p:sp>
        <p:nvSpPr>
          <p:cNvPr id="6" name="P_4_BD#dff833698?vcp=1&amp;pid=7dbd1456e&amp;color=0,0,0&amp;vtp=1&amp;bbb=1"/>
          <p:cNvSpPr/>
          <p:nvPr/>
        </p:nvSpPr>
        <p:spPr>
          <a:xfrm>
            <a:off x="393192" y="965200"/>
            <a:ext cx="11402568" cy="102743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1.运动性质：自由落体运动是初速度为0</a:t>
            </a:r>
            <a:r>
              <a:rPr lang="en-US" altLang="zh-CN" sz="2400" b="0" i="0">
                <a:solidFill>
                  <a:srgbClr val="000000"/>
                </a:solidFill>
                <a:latin typeface="Times New Roman" pitchFamily="34" charset="0"/>
                <a:ea typeface="微软雅黑" pitchFamily="34" charset="-122"/>
                <a:cs typeface="Times New Roman" pitchFamily="34" charset="-120"/>
              </a:rPr>
              <a:t>的匀加速直线运动.</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.自由落体运动的基本公式</a:t>
            </a:r>
            <a:r>
              <a:rPr lang="en-US" altLang="zh-CN" sz="100" b="0" i="0" kern="0" spc="-99900" dirty="0">
                <a:solidFill>
                  <a:srgbClr val="FFFFFF"/>
                </a:solidFill>
                <a:latin typeface="Times New Roman" pitchFamily="34" charset="0"/>
                <a:ea typeface="微软雅黑" pitchFamily="34" charset="-122"/>
                <a:cs typeface="Times New Roman" pitchFamily="34" charset="-120"/>
              </a:rPr>
              <a:t>#2</a:t>
            </a:r>
            <a:endParaRPr lang="en-US" altLang="zh-CN" sz="2400" dirty="0"/>
          </a:p>
        </p:txBody>
      </p:sp>
      <mc:AlternateContent xmlns:mc="http://schemas.openxmlformats.org/markup-compatibility/2006">
        <mc:Choice xmlns:a14="http://schemas.microsoft.com/office/drawing/2010/main" Requires="a14">
          <p:graphicFrame>
            <p:nvGraphicFramePr>
              <p:cNvPr id="7" name="P_4_BD#dff833698?colgroup=9,26&amp;vcp=1&amp;pid=7dbd1456e&amp;color=0,0,0&amp;vtp=1&amp;bbb=1&amp;hb=1"/>
              <p:cNvGraphicFramePr>
                <a:graphicFrameLocks noGrp="1"/>
              </p:cNvGraphicFramePr>
              <p:nvPr>
                <p:extLst>
                  <p:ext uri="{D42A27DB-BD31-4B8C-83A1-F6EECF244321}">
                    <p14:modId xmlns:p14="http://schemas.microsoft.com/office/powerpoint/2010/main" val="136841869"/>
                  </p:ext>
                </p:extLst>
              </p:nvPr>
            </p:nvGraphicFramePr>
            <p:xfrm>
              <a:off x="393192" y="2119630"/>
              <a:ext cx="11365992" cy="2655634"/>
            </p:xfrm>
            <a:graphic>
              <a:graphicData uri="http://schemas.openxmlformats.org/drawingml/2006/table">
                <a:tbl>
                  <a:tblPr/>
                  <a:tblGrid>
                    <a:gridCol w="3054096">
                      <a:extLst>
                        <a:ext uri="{9D8B030D-6E8A-4147-A177-3AD203B41FA5}">
                          <a16:colId xmlns:a16="http://schemas.microsoft.com/office/drawing/2014/main" val="20000"/>
                        </a:ext>
                      </a:extLst>
                    </a:gridCol>
                    <a:gridCol w="8311896">
                      <a:extLst>
                        <a:ext uri="{9D8B030D-6E8A-4147-A177-3AD203B41FA5}">
                          <a16:colId xmlns:a16="http://schemas.microsoft.com/office/drawing/2014/main" val="20001"/>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速度公式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5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𝑣</m:t>
                              </m:r>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𝑔𝑡</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96214">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位移公式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51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h</m:t>
                              </m:r>
                              <m:r>
                                <a:rPr lang="en-US" altLang="zh-CN" sz="2400" b="0" i="0" spc="-100">
                                  <a:solidFill>
                                    <a:srgbClr val="000000"/>
                                  </a:solidFill>
                                  <a:latin typeface="Cambria Math" pitchFamily="34" charset="0"/>
                                  <a:ea typeface="Cambria Math" pitchFamily="34" charset="-122"/>
                                  <a:cs typeface="Cambria Math" pitchFamily="34" charset="-120"/>
                                </a:rPr>
                                <m:t>=</m:t>
                              </m:r>
                              <m:f>
                                <m:f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spc="-100">
                                      <a:solidFill>
                                        <a:srgbClr val="000000"/>
                                      </a:solidFill>
                                      <a:latin typeface="Cambria Math" pitchFamily="34" charset="0"/>
                                      <a:ea typeface="Cambria Math" pitchFamily="34" charset="-122"/>
                                      <a:cs typeface="Cambria Math" pitchFamily="34" charset="-120"/>
                                    </a:rPr>
                                    <m:t>1</m:t>
                                  </m:r>
                                </m:num>
                                <m:den>
                                  <m:r>
                                    <a:rPr lang="en-US" altLang="zh-CN" sz="2400" b="0" i="0" spc="-100">
                                      <a:solidFill>
                                        <a:srgbClr val="000000"/>
                                      </a:solidFill>
                                      <a:latin typeface="Cambria Math" pitchFamily="34" charset="0"/>
                                      <a:ea typeface="Cambria Math" pitchFamily="34" charset="-122"/>
                                      <a:cs typeface="Cambria Math" pitchFamily="34" charset="-120"/>
                                    </a:rPr>
                                    <m:t>2</m:t>
                                  </m:r>
                                </m:den>
                              </m:f>
                              <m:r>
                                <a:rPr lang="en-US" altLang="zh-CN" sz="2400" b="0" i="0" spc="-100">
                                  <a:solidFill>
                                    <a:srgbClr val="000000"/>
                                  </a:solidFill>
                                  <a:latin typeface="Cambria Math" pitchFamily="34" charset="0"/>
                                  <a:ea typeface="Cambria Math" pitchFamily="34" charset="-122"/>
                                  <a:cs typeface="Cambria Math" pitchFamily="34" charset="-120"/>
                                </a:rPr>
                                <m:t>𝑔</m:t>
                              </m:r>
                              <m:sSup>
                                <m:sSup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spc="-100">
                                      <a:solidFill>
                                        <a:srgbClr val="000000"/>
                                      </a:solidFill>
                                      <a:latin typeface="Cambria Math" pitchFamily="34" charset="0"/>
                                      <a:ea typeface="Cambria Math" pitchFamily="34" charset="-122"/>
                                      <a:cs typeface="Cambria Math" pitchFamily="34" charset="-120"/>
                                    </a:rPr>
                                    <m:t>𝑡</m:t>
                                  </m:r>
                                </m:e>
                                <m:sup>
                                  <m:r>
                                    <a:rPr lang="en-US" altLang="zh-CN" sz="2400" b="0" i="0" spc="-10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244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速度—位移公式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14:m>
                            <m:oMath xmlns:m="http://schemas.openxmlformats.org/officeDocument/2006/math">
                              <m:sSup>
                                <m:sSup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spc="-100">
                                      <a:solidFill>
                                        <a:srgbClr val="000000"/>
                                      </a:solidFill>
                                      <a:latin typeface="Cambria Math" pitchFamily="34" charset="0"/>
                                      <a:ea typeface="Cambria Math" pitchFamily="34" charset="-122"/>
                                      <a:cs typeface="Cambria Math" pitchFamily="34" charset="-120"/>
                                    </a:rPr>
                                    <m:t>𝑣</m:t>
                                  </m:r>
                                </m:e>
                                <m:sup>
                                  <m:r>
                                    <a:rPr lang="en-US" altLang="zh-CN" sz="2400" b="0" i="0" spc="-100">
                                      <a:solidFill>
                                        <a:srgbClr val="000000"/>
                                      </a:solidFill>
                                      <a:latin typeface="Cambria Math" pitchFamily="34" charset="0"/>
                                      <a:ea typeface="Cambria Math" pitchFamily="34" charset="-122"/>
                                      <a:cs typeface="Cambria Math" pitchFamily="34" charset="-120"/>
                                    </a:rPr>
                                    <m:t>2</m:t>
                                  </m:r>
                                </m:sup>
                              </m:sSup>
                              <m:r>
                                <a:rPr lang="en-US" altLang="zh-CN" sz="2400" b="0" i="0" spc="-100">
                                  <a:solidFill>
                                    <a:srgbClr val="000000"/>
                                  </a:solidFill>
                                  <a:latin typeface="Cambria Math" pitchFamily="34" charset="0"/>
                                  <a:ea typeface="Cambria Math" pitchFamily="34" charset="-122"/>
                                  <a:cs typeface="Cambria Math" pitchFamily="34" charset="-120"/>
                                </a:rPr>
                                <m:t>=2</m:t>
                              </m:r>
                              <m:r>
                                <a:rPr lang="en-US" altLang="zh-CN" sz="2400" b="0" i="0" spc="-100">
                                  <a:solidFill>
                                    <a:srgbClr val="000000"/>
                                  </a:solidFill>
                                  <a:latin typeface="Cambria Math" pitchFamily="34" charset="0"/>
                                  <a:ea typeface="Cambria Math" pitchFamily="34" charset="-122"/>
                                  <a:cs typeface="Cambria Math" pitchFamily="34" charset="-120"/>
                                </a:rPr>
                                <m:t>𝑔h</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74344">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特别提示</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自由落体运动是初速度为0的匀加速直线运动</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所以匀变速直</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线运动的基本公式及其推论都适用于自由落体运动</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7" name="P_4_BD#dff833698?colgroup=9,26&amp;vcp=1&amp;pid=7dbd1456e&amp;color=0,0,0&amp;vtp=1&amp;bbb=1&amp;hb=1"/>
              <p:cNvGraphicFramePr>
                <a:graphicFrameLocks noGrp="1"/>
              </p:cNvGraphicFramePr>
              <p:nvPr>
                <p:extLst>
                  <p:ext uri="{D42A27DB-BD31-4B8C-83A1-F6EECF244321}">
                    <p14:modId xmlns:p14="http://schemas.microsoft.com/office/powerpoint/2010/main" val="136841869"/>
                  </p:ext>
                </p:extLst>
              </p:nvPr>
            </p:nvGraphicFramePr>
            <p:xfrm>
              <a:off x="393192" y="2119630"/>
              <a:ext cx="11365992" cy="2655634"/>
            </p:xfrm>
            <a:graphic>
              <a:graphicData uri="http://schemas.openxmlformats.org/drawingml/2006/table">
                <a:tbl>
                  <a:tblPr/>
                  <a:tblGrid>
                    <a:gridCol w="3054096">
                      <a:extLst>
                        <a:ext uri="{9D8B030D-6E8A-4147-A177-3AD203B41FA5}">
                          <a16:colId xmlns:a16="http://schemas.microsoft.com/office/drawing/2014/main" val="20000"/>
                        </a:ext>
                      </a:extLst>
                    </a:gridCol>
                    <a:gridCol w="8311896">
                      <a:extLst>
                        <a:ext uri="{9D8B030D-6E8A-4147-A177-3AD203B41FA5}">
                          <a16:colId xmlns:a16="http://schemas.microsoft.com/office/drawing/2014/main" val="20001"/>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速度公式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36804" t="-1235" r="-147" b="-469136"/>
                          </a:stretch>
                        </a:blipFill>
                      </a:tcPr>
                    </a:tc>
                    <a:extLst>
                      <a:ext uri="{0D108BD9-81ED-4DB2-BD59-A6C34878D82A}">
                        <a16:rowId xmlns:a16="http://schemas.microsoft.com/office/drawing/2014/main" val="10000"/>
                      </a:ext>
                    </a:extLst>
                  </a:tr>
                  <a:tr h="696214">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位移公式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36804" t="-71304" r="-147" b="-230435"/>
                          </a:stretch>
                        </a:blipFill>
                      </a:tcPr>
                    </a:tc>
                    <a:extLst>
                      <a:ext uri="{0D108BD9-81ED-4DB2-BD59-A6C34878D82A}">
                        <a16:rowId xmlns:a16="http://schemas.microsoft.com/office/drawing/2014/main" val="10001"/>
                      </a:ext>
                    </a:extLst>
                  </a:tr>
                  <a:tr h="49244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速度—位移公式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36804" t="-243210" r="-147" b="-227160"/>
                          </a:stretch>
                        </a:blipFill>
                      </a:tcPr>
                    </a:tc>
                    <a:extLst>
                      <a:ext uri="{0D108BD9-81ED-4DB2-BD59-A6C34878D82A}">
                        <a16:rowId xmlns:a16="http://schemas.microsoft.com/office/drawing/2014/main" val="10002"/>
                      </a:ext>
                    </a:extLst>
                  </a:tr>
                  <a:tr h="974344">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特别提示</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自由落体运动是初速度为0的匀加速直线运动</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所以匀变速直</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线运动的基本公式及其推论都适用于自由落体运动</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8" name="P_4_BD#dff833698?vcp=1&amp;pid=7dbd1456e&amp;color=0,0,0&amp;vtp=1&amp;bbb=1"/>
          <p:cNvSpPr/>
          <p:nvPr/>
        </p:nvSpPr>
        <p:spPr>
          <a:xfrm>
            <a:off x="393192" y="4913630"/>
            <a:ext cx="11402568" cy="478155"/>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3.自由落体运动的图像</a:t>
            </a:r>
            <a:r>
              <a:rPr lang="en-US" altLang="zh-CN" sz="100" b="0" i="0" kern="0" spc="-99900" dirty="0">
                <a:solidFill>
                  <a:srgbClr val="FFFFFF"/>
                </a:solidFill>
                <a:latin typeface="Times New Roman" pitchFamily="34" charset="0"/>
                <a:ea typeface="微软雅黑" pitchFamily="34" charset="-122"/>
                <a:cs typeface="Times New Roman" pitchFamily="34" charset="-120"/>
              </a:rPr>
              <a:t>#3</a:t>
            </a:r>
            <a:endParaRPr lang="en-US" altLang="zh-CN" sz="2400" dirty="0"/>
          </a:p>
        </p:txBody>
      </p:sp>
    </p:spTree>
  </p:cSld>
  <p:clrMapOvr>
    <a:masterClrMapping/>
  </p:clrMapOvr>
  <p:transition>
    <p:split dir="in"/>
  </p:transition>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5" name="P_4_BD#dff833698?colgroup=11,24&amp;vcp=1&amp;pid=7dbd1456e&amp;color=0,0,0&amp;vtp=1&amp;bt=1&amp;bbb=1&amp;hb=1"/>
              <p:cNvGraphicFramePr>
                <a:graphicFrameLocks noGrp="1"/>
              </p:cNvGraphicFramePr>
              <p:nvPr>
                <p:extLst>
                  <p:ext uri="{D42A27DB-BD31-4B8C-83A1-F6EECF244321}">
                    <p14:modId xmlns:p14="http://schemas.microsoft.com/office/powerpoint/2010/main" val="756030976"/>
                  </p:ext>
                </p:extLst>
              </p:nvPr>
            </p:nvGraphicFramePr>
            <p:xfrm>
              <a:off x="393192" y="502920"/>
              <a:ext cx="11365992" cy="5870830"/>
            </p:xfrm>
            <a:graphic>
              <a:graphicData uri="http://schemas.openxmlformats.org/drawingml/2006/table">
                <a:tbl>
                  <a:tblPr/>
                  <a:tblGrid>
                    <a:gridCol w="1472184">
                      <a:extLst>
                        <a:ext uri="{9D8B030D-6E8A-4147-A177-3AD203B41FA5}">
                          <a16:colId xmlns:a16="http://schemas.microsoft.com/office/drawing/2014/main" val="20000"/>
                        </a:ext>
                      </a:extLst>
                    </a:gridCol>
                    <a:gridCol w="2185416">
                      <a:extLst>
                        <a:ext uri="{9D8B030D-6E8A-4147-A177-3AD203B41FA5}">
                          <a16:colId xmlns:a16="http://schemas.microsoft.com/office/drawing/2014/main" val="20001"/>
                        </a:ext>
                      </a:extLst>
                    </a:gridCol>
                    <a:gridCol w="7708392">
                      <a:extLst>
                        <a:ext uri="{9D8B030D-6E8A-4147-A177-3AD203B41FA5}">
                          <a16:colId xmlns:a16="http://schemas.microsoft.com/office/drawing/2014/main" val="20002"/>
                        </a:ext>
                      </a:extLst>
                    </a:gridCol>
                  </a:tblGrid>
                  <a:tr h="547497">
                    <a:tc gridSpan="2">
                      <a:txBody>
                        <a:bodyPr/>
                        <a:lstStyle/>
                        <a:p>
                          <a:pPr algn="ctr" latinLnBrk="1" hangingPunct="0">
                            <a:lnSpc>
                              <a:spcPts val="4300"/>
                            </a:lnSpc>
                          </a:pPr>
                          <a:r>
                            <a:rPr lang="en-US" altLang="zh-CN" sz="2400" b="1" i="0">
                              <a:solidFill>
                                <a:srgbClr val="000000"/>
                              </a:solidFill>
                              <a:latin typeface="Times New Roman" pitchFamily="34" charset="0"/>
                              <a:ea typeface="微软雅黑" pitchFamily="34" charset="-122"/>
                              <a:cs typeface="Times New Roman" pitchFamily="34" charset="-120"/>
                            </a:rPr>
                            <a:t>图像类型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tc>
                      <a:txBody>
                        <a:bodyPr/>
                        <a:lstStyle/>
                        <a:p>
                          <a:pPr algn="ctr" latinLnBrk="1" hangingPunct="0">
                            <a:lnSpc>
                              <a:spcPts val="4300"/>
                            </a:lnSpc>
                          </a:pPr>
                          <a:r>
                            <a:rPr lang="en-US" altLang="zh-CN" sz="2400" b="1" i="0">
                              <a:solidFill>
                                <a:srgbClr val="000000"/>
                              </a:solidFill>
                              <a:latin typeface="Times New Roman" pitchFamily="34" charset="0"/>
                              <a:ea typeface="微软雅黑" pitchFamily="34" charset="-122"/>
                              <a:cs typeface="Times New Roman" pitchFamily="34" charset="-120"/>
                            </a:rPr>
                            <a:t>说明</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14716">
                    <a:tc>
                      <a:txBody>
                        <a:bodyPr/>
                        <a:lstStyle/>
                        <a:p>
                          <a:pPr algn="ctr" latinLnBrk="1" hangingPunct="0">
                            <a:lnSpc>
                              <a:spcPts val="42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𝑣</m:t>
                              </m:r>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𝑡</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图像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150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一条通过原点的直线</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它的斜率是</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,图线与横轴包围的</a:t>
                          </a:r>
                        </a:p>
                        <a:p>
                          <a:pPr marL="0" lvl="0" indent="0" algn="l" latinLnBrk="1" hangingPunct="0">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三角形的面积</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𝑆</m:t>
                              </m:r>
                            </m:oMath>
                          </a14:m>
                          <a:r>
                            <a:rPr lang="en-US" altLang="zh-CN" sz="2400" b="0" i="0" dirty="0">
                              <a:solidFill>
                                <a:srgbClr val="000000"/>
                              </a:solidFill>
                              <a:latin typeface="Times New Roman" pitchFamily="34" charset="0"/>
                              <a:ea typeface="微软雅黑" pitchFamily="34" charset="-122"/>
                              <a:cs typeface="Times New Roman" pitchFamily="34" charset="-120"/>
                            </a:rPr>
                            <a:t>”为物体下落的高度</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h</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34198">
                    <a:tc>
                      <a:txBody>
                        <a:bodyPr/>
                        <a:lstStyle/>
                        <a:p>
                          <a:pPr algn="ctr" latinLnBrk="1" hangingPunct="0">
                            <a:lnSpc>
                              <a:spcPts val="42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𝑥</m:t>
                              </m:r>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𝑡</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图像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144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一条过原点的抛物线</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其斜率等于下落的瞬间速度</a:t>
                          </a:r>
                        </a:p>
                        <a:p>
                          <a:pPr marL="0" lvl="0" indent="0" algn="l" latinLnBrk="1" hangingPunct="0">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以出发点为位移起点</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向下为正方向）</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74419">
                    <a:tc>
                      <a:txBody>
                        <a:bodyPr/>
                        <a:lstStyle/>
                        <a:p>
                          <a:pPr algn="ctr" latinLnBrk="1" hangingPunct="0">
                            <a:lnSpc>
                              <a:spcPts val="42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𝑎</m:t>
                              </m:r>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𝑡</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图像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ct val="150000"/>
                            </a:lnSpc>
                          </a:pPr>
                          <a:endParaRPr lang="en-US" altLang="zh-CN" sz="900" spc="0" dirty="0">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latinLnBrk="1" hangingPunct="0">
                            <a:lnSpc>
                              <a:spcPts val="4200"/>
                            </a:lnSpc>
                          </a:pPr>
                          <a:r>
                            <a:rPr lang="en-US" altLang="zh-CN" sz="2400" b="0" i="0" dirty="0">
                              <a:solidFill>
                                <a:srgbClr val="000000"/>
                              </a:solidFill>
                              <a:latin typeface="Times New Roman" pitchFamily="34" charset="0"/>
                              <a:ea typeface="微软雅黑" pitchFamily="34" charset="-122"/>
                              <a:cs typeface="Times New Roman" pitchFamily="34" charset="-120"/>
                            </a:rPr>
                            <a:t>一条平行于时间轴的直线</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表明其加速度不随时间变化</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5" name="P_4_BD#dff833698?colgroup=11,24&amp;vcp=1&amp;pid=7dbd1456e&amp;color=0,0,0&amp;vtp=1&amp;bt=1&amp;bbb=1&amp;hb=1"/>
              <p:cNvGraphicFramePr>
                <a:graphicFrameLocks noGrp="1"/>
              </p:cNvGraphicFramePr>
              <p:nvPr>
                <p:extLst>
                  <p:ext uri="{D42A27DB-BD31-4B8C-83A1-F6EECF244321}">
                    <p14:modId xmlns:p14="http://schemas.microsoft.com/office/powerpoint/2010/main" val="756030976"/>
                  </p:ext>
                </p:extLst>
              </p:nvPr>
            </p:nvGraphicFramePr>
            <p:xfrm>
              <a:off x="393192" y="502920"/>
              <a:ext cx="11365992" cy="5870830"/>
            </p:xfrm>
            <a:graphic>
              <a:graphicData uri="http://schemas.openxmlformats.org/drawingml/2006/table">
                <a:tbl>
                  <a:tblPr/>
                  <a:tblGrid>
                    <a:gridCol w="1472184">
                      <a:extLst>
                        <a:ext uri="{9D8B030D-6E8A-4147-A177-3AD203B41FA5}">
                          <a16:colId xmlns:a16="http://schemas.microsoft.com/office/drawing/2014/main" val="20000"/>
                        </a:ext>
                      </a:extLst>
                    </a:gridCol>
                    <a:gridCol w="2185416">
                      <a:extLst>
                        <a:ext uri="{9D8B030D-6E8A-4147-A177-3AD203B41FA5}">
                          <a16:colId xmlns:a16="http://schemas.microsoft.com/office/drawing/2014/main" val="20001"/>
                        </a:ext>
                      </a:extLst>
                    </a:gridCol>
                    <a:gridCol w="7708392">
                      <a:extLst>
                        <a:ext uri="{9D8B030D-6E8A-4147-A177-3AD203B41FA5}">
                          <a16:colId xmlns:a16="http://schemas.microsoft.com/office/drawing/2014/main" val="20002"/>
                        </a:ext>
                      </a:extLst>
                    </a:gridCol>
                  </a:tblGrid>
                  <a:tr h="547497">
                    <a:tc gridSpan="2">
                      <a:txBody>
                        <a:bodyPr/>
                        <a:lstStyle/>
                        <a:p>
                          <a:pPr algn="ctr" latinLnBrk="1" hangingPunct="0">
                            <a:lnSpc>
                              <a:spcPts val="4300"/>
                            </a:lnSpc>
                          </a:pPr>
                          <a:r>
                            <a:rPr lang="en-US" altLang="zh-CN" sz="2400" b="1" i="0">
                              <a:solidFill>
                                <a:srgbClr val="000000"/>
                              </a:solidFill>
                              <a:latin typeface="Times New Roman" pitchFamily="34" charset="0"/>
                              <a:ea typeface="微软雅黑" pitchFamily="34" charset="-122"/>
                              <a:cs typeface="Times New Roman" pitchFamily="34" charset="-120"/>
                            </a:rPr>
                            <a:t>图像类型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tc>
                      <a:txBody>
                        <a:bodyPr/>
                        <a:lstStyle/>
                        <a:p>
                          <a:pPr algn="ctr" latinLnBrk="1" hangingPunct="0">
                            <a:lnSpc>
                              <a:spcPts val="4300"/>
                            </a:lnSpc>
                          </a:pPr>
                          <a:r>
                            <a:rPr lang="en-US" altLang="zh-CN" sz="2400" b="1" i="0">
                              <a:solidFill>
                                <a:srgbClr val="000000"/>
                              </a:solidFill>
                              <a:latin typeface="Times New Roman" pitchFamily="34" charset="0"/>
                              <a:ea typeface="微软雅黑" pitchFamily="34" charset="-122"/>
                              <a:cs typeface="Times New Roman" pitchFamily="34" charset="-120"/>
                            </a:rPr>
                            <a:t>说明</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14716">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413" t="-28981" r="-671488" b="-178981"/>
                          </a:stretch>
                        </a:blipFill>
                      </a:tcPr>
                    </a:tc>
                    <a:tc>
                      <a:txBody>
                        <a:bodyPr/>
                        <a:lstStyle/>
                        <a:p>
                          <a:pPr algn="ctr" latinLnBrk="1" hangingPunct="0">
                            <a:lnSpc>
                              <a:spcPts val="150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47510" t="-28981" r="-158" b="-178981"/>
                          </a:stretch>
                        </a:blipFill>
                      </a:tcPr>
                    </a:tc>
                    <a:extLst>
                      <a:ext uri="{0D108BD9-81ED-4DB2-BD59-A6C34878D82A}">
                        <a16:rowId xmlns:a16="http://schemas.microsoft.com/office/drawing/2014/main" val="10001"/>
                      </a:ext>
                    </a:extLst>
                  </a:tr>
                  <a:tr h="1834198">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413" t="-134551" r="-671488" b="-86711"/>
                          </a:stretch>
                        </a:blipFill>
                      </a:tcPr>
                    </a:tc>
                    <a:tc>
                      <a:txBody>
                        <a:bodyPr/>
                        <a:lstStyle/>
                        <a:p>
                          <a:pPr algn="ctr" latinLnBrk="1" hangingPunct="0">
                            <a:lnSpc>
                              <a:spcPts val="144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一条过原点的抛物线</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其斜率等于下落的瞬间速度</a:t>
                          </a:r>
                        </a:p>
                        <a:p>
                          <a:pPr marL="0" lvl="0" indent="0" algn="l" latinLnBrk="1" hangingPunct="0">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以出发点为位移起点</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向下为正方向）</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74419">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413" t="-272587" r="-671488" b="-772"/>
                          </a:stretch>
                        </a:blipFill>
                      </a:tcPr>
                    </a:tc>
                    <a:tc>
                      <a:txBody>
                        <a:bodyPr/>
                        <a:lstStyle/>
                        <a:p>
                          <a:pPr algn="ctr" latinLnBrk="1" hangingPunct="0">
                            <a:lnSpc>
                              <a:spcPct val="150000"/>
                            </a:lnSpc>
                          </a:pPr>
                          <a:endParaRPr lang="en-US" altLang="zh-CN" sz="900" spc="0" dirty="0">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latinLnBrk="1" hangingPunct="0">
                            <a:lnSpc>
                              <a:spcPts val="4200"/>
                            </a:lnSpc>
                          </a:pPr>
                          <a:r>
                            <a:rPr lang="en-US" altLang="zh-CN" sz="2400" b="0" i="0" dirty="0">
                              <a:solidFill>
                                <a:srgbClr val="000000"/>
                              </a:solidFill>
                              <a:latin typeface="Times New Roman" pitchFamily="34" charset="0"/>
                              <a:ea typeface="微软雅黑" pitchFamily="34" charset="-122"/>
                              <a:cs typeface="Times New Roman" pitchFamily="34" charset="-120"/>
                            </a:rPr>
                            <a:t>一条平行于时间轴的直线</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表明其加速度不随时间变化</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pic>
        <p:nvPicPr>
          <p:cNvPr id="3" name="P_4_BD#dff833698.table_image?tii=1&amp;vcp=1&amp;pid=7dbd1456e&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2034540" y="1084231"/>
            <a:ext cx="1847088" cy="1847088"/>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4" name="P_4_BD#dff833698.table_image?tii=2&amp;vcp=1&amp;pid=7dbd1456e&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2135124" y="2995264"/>
            <a:ext cx="1645920" cy="1773936"/>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2" name="P_4_BD#dff833698.table_image?tii=3&amp;vcp=1&amp;pid=7dbd1456e&amp;color=0,0,0&amp;tib=255,255,255&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1984248" y="4919028"/>
            <a:ext cx="1947672" cy="1335024"/>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1_1#8bb2caafe?vcp=1&amp;pid=7dbd1456e&amp;color=0,0,0&amp;vtp=1&amp;bt=1&amp;bbb=1&amp;hb=1"/>
              <p:cNvSpPr/>
              <p:nvPr/>
            </p:nvSpPr>
            <p:spPr>
              <a:xfrm>
                <a:off x="393192" y="936244"/>
                <a:ext cx="11402568" cy="21509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例1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（2026·湖北黄冈中学检测）</a:t>
                </a:r>
                <a:r>
                  <a:rPr lang="en-US" altLang="zh-CN" sz="2400" b="0" i="0" dirty="0">
                    <a:solidFill>
                      <a:srgbClr val="000000"/>
                    </a:solidFill>
                    <a:latin typeface="Times New Roman" pitchFamily="34" charset="0"/>
                    <a:ea typeface="微软雅黑" pitchFamily="34" charset="-122"/>
                    <a:cs typeface="Times New Roman" pitchFamily="34" charset="-120"/>
                  </a:rPr>
                  <a:t>（多选题）一颗苹果从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点由静止开始下落</a:t>
                </a:r>
                <a:r>
                  <a:rPr lang="en-US" altLang="zh-CN" sz="2400" b="0" i="0">
                    <a:solidFill>
                      <a:srgbClr val="000000"/>
                    </a:solidFill>
                    <a:latin typeface="Times New Roman" pitchFamily="34" charset="0"/>
                    <a:ea typeface="微软雅黑" pitchFamily="34" charset="-122"/>
                    <a:cs typeface="Times New Roman" pitchFamily="34" charset="-120"/>
                  </a:rPr>
                  <a:t>，通过</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频闪照相得到一张苹果自由下落过程中的局部照片</a:t>
                </a:r>
                <a:r>
                  <a:rPr lang="en-US" altLang="zh-CN" sz="2400" b="0" i="0" dirty="0">
                    <a:solidFill>
                      <a:srgbClr val="000000"/>
                    </a:solidFill>
                    <a:latin typeface="Times New Roman" pitchFamily="34" charset="0"/>
                    <a:ea typeface="微软雅黑" pitchFamily="34" charset="-122"/>
                    <a:cs typeface="Times New Roman" pitchFamily="34" charset="-120"/>
                  </a:rPr>
                  <a:t>，如图所示（照片中没拍到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点）.</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已知频闪仪每隔时间</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𝑇</m:t>
                    </m:r>
                  </m:oMath>
                </a14:m>
                <a:r>
                  <a:rPr lang="en-US" altLang="zh-CN" sz="2400" b="0" i="0" dirty="0">
                    <a:solidFill>
                      <a:srgbClr val="000000"/>
                    </a:solidFill>
                    <a:latin typeface="Times New Roman" pitchFamily="34" charset="0"/>
                    <a:ea typeface="微软雅黑" pitchFamily="34" charset="-122"/>
                    <a:cs typeface="Times New Roman" pitchFamily="34" charset="-120"/>
                  </a:rPr>
                  <a:t>闪光一次，</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𝑏</m:t>
                    </m:r>
                  </m:oMath>
                </a14:m>
                <a:r>
                  <a:rPr lang="en-US" altLang="zh-CN" sz="2400" b="0" i="0" dirty="0">
                    <a:solidFill>
                      <a:srgbClr val="000000"/>
                    </a:solidFill>
                    <a:latin typeface="Times New Roman" pitchFamily="34" charset="0"/>
                    <a:ea typeface="微软雅黑" pitchFamily="34" charset="-122"/>
                    <a:cs typeface="Times New Roman" pitchFamily="34" charset="-120"/>
                  </a:rPr>
                  <a:t>间的实际距离为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𝑙</m:t>
                    </m:r>
                  </m:oMath>
                </a14:m>
                <a:r>
                  <a:rPr lang="en-US" altLang="zh-CN" sz="2400" b="0" i="0" dirty="0">
                    <a:solidFill>
                      <a:srgbClr val="000000"/>
                    </a:solidFill>
                    <a:latin typeface="Times New Roman" pitchFamily="34" charset="0"/>
                    <a:ea typeface="微软雅黑" pitchFamily="34" charset="-122"/>
                    <a:cs typeface="Times New Roman" pitchFamily="34" charset="-120"/>
                  </a:rPr>
                  <a:t>,重力加速度为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忽略空气阻力，</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可将苹果视为质点</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1_1#8bb2caafe?vcp=1&amp;pid=7dbd1456e&amp;color=0,0,0&amp;vtp=1&amp;bt=1&amp;bbb=1&amp;hb=1"/>
              <p:cNvSpPr>
                <a:spLocks noRot="1" noChangeAspect="1" noMove="1" noResize="1" noEditPoints="1" noAdjustHandles="1" noChangeArrowheads="1" noChangeShapeType="1" noTextEdit="1"/>
              </p:cNvSpPr>
              <p:nvPr/>
            </p:nvSpPr>
            <p:spPr>
              <a:xfrm>
                <a:off x="393192" y="936244"/>
                <a:ext cx="11402568" cy="2150999"/>
              </a:xfrm>
              <a:prstGeom prst="rect">
                <a:avLst/>
              </a:prstGeom>
              <a:blipFill>
                <a:blip r:embed="rId3"/>
                <a:stretch>
                  <a:fillRect l="-1658" r="-3850" b="-8807"/>
                </a:stretch>
              </a:blipFill>
              <a:ln/>
            </p:spPr>
            <p:txBody>
              <a:bodyPr/>
              <a:lstStyle/>
              <a:p>
                <a:r>
                  <a:rPr lang="zh-CN" altLang="en-US">
                    <a:noFill/>
                  </a:rPr>
                  <a:t> </a:t>
                </a:r>
              </a:p>
            </p:txBody>
          </p:sp>
        </mc:Fallback>
      </mc:AlternateContent>
      <p:sp>
        <p:nvSpPr>
          <p:cNvPr id="3" name="QC_4_AN.2_1#8bb2caafe.bracket?vcp=1&amp;pid=7dbd1456e&amp;color=0,0,0&amp;vpa=1&amp;vtp=1&amp;bbb=1"/>
          <p:cNvSpPr/>
          <p:nvPr/>
        </p:nvSpPr>
        <p:spPr>
          <a:xfrm>
            <a:off x="5642260" y="2601214"/>
            <a:ext cx="6445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BC</a:t>
            </a:r>
            <a:endParaRPr lang="en-US" altLang="zh-CN" sz="2400" dirty="0"/>
          </a:p>
        </p:txBody>
      </p:sp>
      <p:pic>
        <p:nvPicPr>
          <p:cNvPr id="4" name="QC_4_BD.1_2#8bb2caafe?htil=1&amp;vcp=1&amp;pid=7dbd1456e&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471402" y="3213099"/>
            <a:ext cx="978408" cy="2487168"/>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1_3#8bb2caafe.choices?htil=1&amp;vcp=1&amp;pid=7dbd1456e&amp;color=0,0,0&amp;vtp=1&amp;bbb=1"/>
              <p:cNvSpPr/>
              <p:nvPr/>
            </p:nvSpPr>
            <p:spPr>
              <a:xfrm>
                <a:off x="393192" y="3075939"/>
                <a:ext cx="10296144" cy="2582355"/>
              </a:xfrm>
              <a:prstGeom prst="rect">
                <a:avLst/>
              </a:prstGeom>
              <a:noFill/>
              <a:ln/>
            </p:spPr>
            <p:txBody>
              <a:bodyPr wrap="none" lIns="0" tIns="0" rIns="0" bIns="0" rtlCol="0" anchor="t"/>
              <a:lstStyle/>
              <a:p>
                <a:pPr algn="l" latinLnBrk="1">
                  <a:lnSpc>
                    <a:spcPts val="5400"/>
                  </a:lnSpc>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2400" b="0" i="0" dirty="0">
                    <a:solidFill>
                      <a:srgbClr val="000000"/>
                    </a:solidFill>
                    <a:latin typeface="Times New Roman" pitchFamily="34" charset="0"/>
                    <a:ea typeface="微软雅黑" pitchFamily="34" charset="-122"/>
                    <a:cs typeface="Times New Roman" pitchFamily="34" charset="-120"/>
                  </a:rPr>
                  <a:t>点到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𝑏</m:t>
                    </m:r>
                  </m:oMath>
                </a14:m>
                <a:r>
                  <a:rPr lang="en-US" altLang="zh-CN" sz="2400" b="0" i="0" dirty="0">
                    <a:solidFill>
                      <a:srgbClr val="000000"/>
                    </a:solidFill>
                    <a:latin typeface="Times New Roman" pitchFamily="34" charset="0"/>
                    <a:ea typeface="微软雅黑" pitchFamily="34" charset="-122"/>
                    <a:cs typeface="Times New Roman" pitchFamily="34" charset="-120"/>
                  </a:rPr>
                  <a:t>点的高度为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𝑙</m:t>
                            </m:r>
                          </m:e>
                          <m:sup>
                            <m:r>
                              <a:rPr lang="en-US" altLang="zh-CN" sz="2400" b="0" i="0">
                                <a:solidFill>
                                  <a:srgbClr val="000000"/>
                                </a:solidFill>
                                <a:latin typeface="Cambria Math" pitchFamily="34" charset="0"/>
                                <a:ea typeface="Cambria Math" pitchFamily="34" charset="-122"/>
                                <a:cs typeface="Cambria Math" pitchFamily="34" charset="-120"/>
                              </a:rPr>
                              <m:t>2</m:t>
                            </m:r>
                          </m:sup>
                        </m:sSup>
                      </m:num>
                      <m:den>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𝑔</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den>
                    </m:f>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𝑙</m:t>
                        </m:r>
                      </m:num>
                      <m:den>
                        <m:r>
                          <a:rPr lang="en-US" altLang="zh-CN" sz="2400" b="0" i="0">
                            <a:solidFill>
                              <a:srgbClr val="000000"/>
                            </a:solidFill>
                            <a:latin typeface="Cambria Math" pitchFamily="34" charset="0"/>
                            <a:ea typeface="Cambria Math" pitchFamily="34" charset="-122"/>
                            <a:cs typeface="Cambria Math" pitchFamily="34" charset="-120"/>
                          </a:rPr>
                          <m:t>2</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50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.苹果从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2400" b="0" i="0" dirty="0">
                    <a:solidFill>
                      <a:srgbClr val="000000"/>
                    </a:solidFill>
                    <a:latin typeface="Times New Roman" pitchFamily="34" charset="0"/>
                    <a:ea typeface="微软雅黑" pitchFamily="34" charset="-122"/>
                    <a:cs typeface="Times New Roman" pitchFamily="34" charset="-120"/>
                  </a:rPr>
                  <a:t>点运动到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𝑏</m:t>
                    </m:r>
                  </m:oMath>
                </a14:m>
                <a:r>
                  <a:rPr lang="en-US" altLang="zh-CN" sz="2400" b="0" i="0" dirty="0">
                    <a:solidFill>
                      <a:srgbClr val="000000"/>
                    </a:solidFill>
                    <a:latin typeface="Times New Roman" pitchFamily="34" charset="0"/>
                    <a:ea typeface="微软雅黑" pitchFamily="34" charset="-122"/>
                    <a:cs typeface="Times New Roman" pitchFamily="34" charset="-120"/>
                  </a:rPr>
                  <a:t>点所用的时间为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𝑙</m:t>
                        </m:r>
                      </m:num>
                      <m:den>
                        <m:r>
                          <a:rPr lang="en-US" altLang="zh-CN" sz="2400" b="0" i="0">
                            <a:solidFill>
                              <a:srgbClr val="000000"/>
                            </a:solidFill>
                            <a:latin typeface="Cambria Math" pitchFamily="34" charset="0"/>
                            <a:ea typeface="Cambria Math" pitchFamily="34" charset="-122"/>
                            <a:cs typeface="Cambria Math" pitchFamily="34" charset="-120"/>
                          </a:rPr>
                          <m:t>𝑔𝑇</m:t>
                        </m:r>
                      </m:den>
                    </m:f>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𝑇</m:t>
                        </m:r>
                      </m:num>
                      <m:den>
                        <m:r>
                          <a:rPr lang="en-US" altLang="zh-CN" sz="2400" b="0" i="0">
                            <a:solidFill>
                              <a:srgbClr val="000000"/>
                            </a:solidFill>
                            <a:latin typeface="Cambria Math" pitchFamily="34" charset="0"/>
                            <a:ea typeface="Cambria Math" pitchFamily="34" charset="-122"/>
                            <a:cs typeface="Cambria Math" pitchFamily="34" charset="-120"/>
                          </a:rPr>
                          <m:t>2</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50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.苹果运动到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2400" b="0" i="0" dirty="0">
                    <a:solidFill>
                      <a:srgbClr val="000000"/>
                    </a:solidFill>
                    <a:latin typeface="Times New Roman" pitchFamily="34" charset="0"/>
                    <a:ea typeface="微软雅黑" pitchFamily="34" charset="-122"/>
                    <a:cs typeface="Times New Roman" pitchFamily="34" charset="-120"/>
                  </a:rPr>
                  <a:t>点时的速度大小为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𝑙</m:t>
                        </m:r>
                      </m:num>
                      <m:den>
                        <m:r>
                          <a:rPr lang="en-US" altLang="zh-CN" sz="2400" b="0" i="0">
                            <a:solidFill>
                              <a:srgbClr val="000000"/>
                            </a:solidFill>
                            <a:latin typeface="Cambria Math" pitchFamily="34" charset="0"/>
                            <a:ea typeface="Cambria Math" pitchFamily="34" charset="-122"/>
                            <a:cs typeface="Cambria Math" pitchFamily="34" charset="-120"/>
                          </a:rPr>
                          <m:t>𝑇</m:t>
                        </m:r>
                      </m:den>
                    </m:f>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𝑔𝑇</m:t>
                        </m:r>
                      </m:num>
                      <m:den>
                        <m:r>
                          <a:rPr lang="en-US" altLang="zh-CN" sz="2400" b="0" i="0">
                            <a:solidFill>
                              <a:srgbClr val="000000"/>
                            </a:solidFill>
                            <a:latin typeface="Cambria Math" pitchFamily="34" charset="0"/>
                            <a:ea typeface="Cambria Math" pitchFamily="34" charset="-122"/>
                            <a:cs typeface="Cambria Math" pitchFamily="34" charset="-120"/>
                          </a:rPr>
                          <m:t>2</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5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.苹果在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𝑏</m:t>
                    </m:r>
                  </m:oMath>
                </a14:m>
                <a:r>
                  <a:rPr lang="en-US" altLang="zh-CN" sz="2400" b="0" i="0" dirty="0">
                    <a:solidFill>
                      <a:srgbClr val="000000"/>
                    </a:solidFill>
                    <a:latin typeface="Times New Roman" pitchFamily="34" charset="0"/>
                    <a:ea typeface="微软雅黑" pitchFamily="34" charset="-122"/>
                    <a:cs typeface="Times New Roman" pitchFamily="34" charset="-120"/>
                  </a:rPr>
                  <a:t>间的平均速度大小为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𝑙</m:t>
                        </m:r>
                      </m:num>
                      <m:den>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𝑇</m:t>
                        </m:r>
                      </m:den>
                    </m:f>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𝑔𝑇</m:t>
                        </m:r>
                      </m:num>
                      <m:den>
                        <m:r>
                          <a:rPr lang="en-US" altLang="zh-CN" sz="2400" b="0" i="0">
                            <a:solidFill>
                              <a:srgbClr val="000000"/>
                            </a:solidFill>
                            <a:latin typeface="Cambria Math" pitchFamily="34" charset="0"/>
                            <a:ea typeface="Cambria Math" pitchFamily="34" charset="-122"/>
                            <a:cs typeface="Cambria Math" pitchFamily="34" charset="-120"/>
                          </a:rPr>
                          <m:t>2</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1_3#8bb2caafe.choices?htil=1&amp;vcp=1&amp;pid=7dbd1456e&amp;color=0,0,0&amp;vtp=1&amp;bbb=1"/>
              <p:cNvSpPr>
                <a:spLocks noRot="1" noChangeAspect="1" noMove="1" noResize="1" noEditPoints="1" noAdjustHandles="1" noChangeArrowheads="1" noChangeShapeType="1" noTextEdit="1"/>
              </p:cNvSpPr>
              <p:nvPr/>
            </p:nvSpPr>
            <p:spPr>
              <a:xfrm>
                <a:off x="393192" y="3075939"/>
                <a:ext cx="10296144" cy="2582355"/>
              </a:xfrm>
              <a:prstGeom prst="rect">
                <a:avLst/>
              </a:prstGeom>
              <a:blipFill>
                <a:blip r:embed="rId5"/>
                <a:stretch>
                  <a:fillRect l="-1835" b="-401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3_1#8bb2caafe?vcp=1&amp;pid=7dbd1456e&amp;color=0,0,0&amp;vtp=1&amp;bt=1&amp;bbb=1&amp;hb=1"/>
              <p:cNvSpPr/>
              <p:nvPr/>
            </p:nvSpPr>
            <p:spPr>
              <a:xfrm>
                <a:off x="393192" y="1293844"/>
                <a:ext cx="11402568" cy="4314000"/>
              </a:xfrm>
              <a:prstGeom prst="rect">
                <a:avLst/>
              </a:prstGeom>
              <a:noFill/>
              <a:ln/>
            </p:spPr>
            <p:txBody>
              <a:bodyPr wrap="none" lIns="0" tIns="0" rIns="0" bIns="0" rtlCol="0" anchor="t"/>
              <a:lstStyle/>
              <a:p>
                <a:pPr algn="l" latinLnBrk="1">
                  <a:lnSpc>
                    <a:spcPts val="47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苹果在</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𝒃</m:t>
                    </m:r>
                  </m:oMath>
                </a14:m>
                <a:r>
                  <a:rPr lang="en-US" altLang="zh-CN" sz="2400" b="1" i="0" dirty="0">
                    <a:solidFill>
                      <a:srgbClr val="FF0000"/>
                    </a:solidFill>
                    <a:latin typeface="Times New Roman" pitchFamily="34" charset="0"/>
                    <a:ea typeface="微软雅黑" pitchFamily="34" charset="-122"/>
                    <a:cs typeface="Times New Roman" pitchFamily="34" charset="-120"/>
                  </a:rPr>
                  <a:t>两点中间时刻的速度</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r>
                          <a:rPr lang="en-US" altLang="zh-CN" sz="2400" b="1" i="1">
                            <a:solidFill>
                              <a:srgbClr val="FF0000"/>
                            </a:solidFill>
                            <a:latin typeface="Cambria Math" pitchFamily="34" charset="0"/>
                            <a:ea typeface="Cambria Math" pitchFamily="34" charset="-122"/>
                            <a:cs typeface="Cambria Math" pitchFamily="34" charset="-120"/>
                          </a:rPr>
                          <m:t>𝑻</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,苹果从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点到该时刻对应的位置时下落</a:t>
                </a:r>
              </a:p>
              <a:p>
                <a:pPr latinLnBrk="1">
                  <a:lnSpc>
                    <a:spcPts val="5500"/>
                  </a:lnSpc>
                </a:pPr>
                <a:r>
                  <a:rPr lang="en-US" altLang="zh-CN" sz="2400" b="1" i="0">
                    <a:solidFill>
                      <a:srgbClr val="FF0000"/>
                    </a:solidFill>
                    <a:latin typeface="Times New Roman" pitchFamily="34" charset="0"/>
                    <a:ea typeface="微软雅黑" pitchFamily="34" charset="-122"/>
                    <a:cs typeface="Times New Roman" pitchFamily="34" charset="-120"/>
                  </a:rPr>
                  <a:t>的高度为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𝒉</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𝒗</m:t>
                            </m:r>
                          </m:e>
                          <m:sup>
                            <m:r>
                              <a:rPr lang="en-US" altLang="zh-CN" sz="2400" b="1" i="1">
                                <a:solidFill>
                                  <a:srgbClr val="FF0000"/>
                                </a:solidFill>
                                <a:latin typeface="Cambria Math" pitchFamily="34" charset="0"/>
                                <a:ea typeface="Cambria Math" pitchFamily="34" charset="-122"/>
                                <a:cs typeface="Cambria Math" pitchFamily="34" charset="-120"/>
                              </a:rPr>
                              <m:t>𝟐</m:t>
                            </m:r>
                          </m:sup>
                        </m:sSup>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𝒈</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𝒍</m:t>
                            </m:r>
                          </m:e>
                          <m:sup>
                            <m:r>
                              <a:rPr lang="en-US" altLang="zh-CN" sz="2400" b="1" i="1">
                                <a:solidFill>
                                  <a:srgbClr val="FF0000"/>
                                </a:solidFill>
                                <a:latin typeface="Cambria Math" pitchFamily="34" charset="0"/>
                                <a:ea typeface="Cambria Math" pitchFamily="34" charset="-122"/>
                                <a:cs typeface="Cambria Math" pitchFamily="34" charset="-120"/>
                              </a:rPr>
                              <m:t>𝟐</m:t>
                            </m:r>
                          </m:sup>
                        </m:sSup>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𝒈</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oMath>
                </a14:m>
                <a:r>
                  <a:rPr lang="en-US" altLang="zh-CN" sz="2400" b="1" i="0" dirty="0">
                    <a:solidFill>
                      <a:srgbClr val="FF0000"/>
                    </a:solidFill>
                    <a:latin typeface="Times New Roman" pitchFamily="34" charset="0"/>
                    <a:ea typeface="微软雅黑" pitchFamily="34" charset="-122"/>
                    <a:cs typeface="Times New Roman" pitchFamily="34" charset="-120"/>
                  </a:rPr>
                  <a:t>,因该时刻对应的位置到</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𝒃</m:t>
                    </m:r>
                  </m:oMath>
                </a14:m>
                <a:r>
                  <a:rPr lang="en-US" altLang="zh-CN" sz="2400" b="1" i="0" dirty="0">
                    <a:solidFill>
                      <a:srgbClr val="FF0000"/>
                    </a:solidFill>
                    <a:latin typeface="Times New Roman" pitchFamily="34" charset="0"/>
                    <a:ea typeface="微软雅黑" pitchFamily="34" charset="-122"/>
                    <a:cs typeface="Times New Roman" pitchFamily="34" charset="-120"/>
                  </a:rPr>
                  <a:t>点的距离大于</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r>
                          <a:rPr lang="en-US" altLang="zh-CN" sz="2400" b="1" i="1">
                            <a:solidFill>
                              <a:srgbClr val="FF0000"/>
                            </a:solidFill>
                            <a:latin typeface="Cambria Math" pitchFamily="34" charset="0"/>
                            <a:ea typeface="Cambria Math" pitchFamily="34" charset="-122"/>
                            <a:cs typeface="Cambria Math" pitchFamily="34" charset="-120"/>
                          </a:rPr>
                          <m:t>𝟐</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,故</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m:t>
                    </m:r>
                  </m:oMath>
                </a14:m>
                <a:r>
                  <a:rPr lang="en-US" altLang="zh-CN" sz="2400" b="1" i="0" dirty="0">
                    <a:solidFill>
                      <a:srgbClr val="FF0000"/>
                    </a:solidFill>
                    <a:latin typeface="Times New Roman" pitchFamily="34" charset="0"/>
                    <a:ea typeface="微软雅黑" pitchFamily="34" charset="-122"/>
                    <a:cs typeface="Times New Roman" pitchFamily="34" charset="-120"/>
                  </a:rPr>
                  <a:t>点到</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𝒃</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点的高度大</a:t>
                </a:r>
              </a:p>
              <a:p>
                <a:pPr latinLnBrk="1">
                  <a:lnSpc>
                    <a:spcPts val="5500"/>
                  </a:lnSpc>
                </a:pPr>
                <a:r>
                  <a:rPr lang="en-US" altLang="zh-CN" sz="2400" b="1" i="0">
                    <a:solidFill>
                      <a:srgbClr val="FF0000"/>
                    </a:solidFill>
                    <a:latin typeface="Times New Roman" pitchFamily="34" charset="0"/>
                    <a:ea typeface="微软雅黑" pitchFamily="34" charset="-122"/>
                    <a:cs typeface="Times New Roman" pitchFamily="34" charset="-120"/>
                  </a:rPr>
                  <a:t>于</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𝒍</m:t>
                            </m:r>
                          </m:e>
                          <m:sup>
                            <m:r>
                              <a:rPr lang="en-US" altLang="zh-CN" sz="2400" b="1" i="1">
                                <a:solidFill>
                                  <a:srgbClr val="FF0000"/>
                                </a:solidFill>
                                <a:latin typeface="Cambria Math" pitchFamily="34" charset="0"/>
                                <a:ea typeface="Cambria Math" pitchFamily="34" charset="-122"/>
                                <a:cs typeface="Cambria Math" pitchFamily="34" charset="-120"/>
                              </a:rPr>
                              <m:t>𝟐</m:t>
                            </m:r>
                          </m:sup>
                        </m:sSup>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𝒈</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r>
                          <a:rPr lang="en-US" altLang="zh-CN" sz="2400" b="1" i="1">
                            <a:solidFill>
                              <a:srgbClr val="FF0000"/>
                            </a:solidFill>
                            <a:latin typeface="Cambria Math" pitchFamily="34" charset="0"/>
                            <a:ea typeface="Cambria Math" pitchFamily="34" charset="-122"/>
                            <a:cs typeface="Cambria Math" pitchFamily="34" charset="-120"/>
                          </a:rPr>
                          <m:t>𝟐</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,A错误；苹果从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m:t>
                    </m:r>
                  </m:oMath>
                </a14:m>
                <a:r>
                  <a:rPr lang="en-US" altLang="zh-CN" sz="2400" b="1" i="0" dirty="0">
                    <a:solidFill>
                      <a:srgbClr val="FF0000"/>
                    </a:solidFill>
                    <a:latin typeface="Times New Roman" pitchFamily="34" charset="0"/>
                    <a:ea typeface="微软雅黑" pitchFamily="34" charset="-122"/>
                    <a:cs typeface="Times New Roman" pitchFamily="34" charset="-120"/>
                  </a:rPr>
                  <a:t>点运动到</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𝒃</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中间时刻对应的位置所用的时间为</a:t>
                </a:r>
              </a:p>
              <a:p>
                <a:pPr latinLnBrk="1">
                  <a:lnSpc>
                    <a:spcPts val="51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𝒗</m:t>
                        </m:r>
                      </m:num>
                      <m:den>
                        <m:r>
                          <a:rPr lang="en-US" altLang="zh-CN" sz="2400" b="1" i="1">
                            <a:solidFill>
                              <a:srgbClr val="FF0000"/>
                            </a:solidFill>
                            <a:latin typeface="Cambria Math" pitchFamily="34" charset="0"/>
                            <a:ea typeface="Cambria Math" pitchFamily="34" charset="-122"/>
                            <a:cs typeface="Cambria Math" pitchFamily="34" charset="-120"/>
                          </a:rPr>
                          <m:t>𝒈</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r>
                          <a:rPr lang="en-US" altLang="zh-CN" sz="2400" b="1" i="1">
                            <a:solidFill>
                              <a:srgbClr val="FF0000"/>
                            </a:solidFill>
                            <a:latin typeface="Cambria Math" pitchFamily="34" charset="0"/>
                            <a:ea typeface="Cambria Math" pitchFamily="34" charset="-122"/>
                            <a:cs typeface="Cambria Math" pitchFamily="34" charset="-120"/>
                          </a:rPr>
                          <m:t>𝒈𝑻</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,则从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m:t>
                    </m:r>
                  </m:oMath>
                </a14:m>
                <a:r>
                  <a:rPr lang="en-US" altLang="zh-CN" sz="2400" b="1" i="0" dirty="0">
                    <a:solidFill>
                      <a:srgbClr val="FF0000"/>
                    </a:solidFill>
                    <a:latin typeface="Times New Roman" pitchFamily="34" charset="0"/>
                    <a:ea typeface="微软雅黑" pitchFamily="34" charset="-122"/>
                    <a:cs typeface="Times New Roman" pitchFamily="34" charset="-120"/>
                  </a:rPr>
                  <a:t>点下落到</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𝒃</m:t>
                    </m:r>
                  </m:oMath>
                </a14:m>
                <a:r>
                  <a:rPr lang="en-US" altLang="zh-CN" sz="2400" b="1" i="0" dirty="0">
                    <a:solidFill>
                      <a:srgbClr val="FF0000"/>
                    </a:solidFill>
                    <a:latin typeface="Times New Roman" pitchFamily="34" charset="0"/>
                    <a:ea typeface="微软雅黑" pitchFamily="34" charset="-122"/>
                    <a:cs typeface="Times New Roman" pitchFamily="34" charset="-120"/>
                  </a:rPr>
                  <a:t>点用的时间为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𝒃</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r>
                          <a:rPr lang="en-US" altLang="zh-CN" sz="2400" b="1" i="1">
                            <a:solidFill>
                              <a:srgbClr val="FF0000"/>
                            </a:solidFill>
                            <a:latin typeface="Cambria Math" pitchFamily="34" charset="0"/>
                            <a:ea typeface="Cambria Math" pitchFamily="34" charset="-122"/>
                            <a:cs typeface="Cambria Math" pitchFamily="34" charset="-120"/>
                          </a:rPr>
                          <m:t>𝒈𝑻</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𝑻</m:t>
                        </m:r>
                      </m:num>
                      <m:den>
                        <m:r>
                          <a:rPr lang="en-US" altLang="zh-CN" sz="2400" b="1" i="1">
                            <a:solidFill>
                              <a:srgbClr val="FF0000"/>
                            </a:solidFill>
                            <a:latin typeface="Cambria Math" pitchFamily="34" charset="0"/>
                            <a:ea typeface="Cambria Math" pitchFamily="34" charset="-122"/>
                            <a:cs typeface="Cambria Math" pitchFamily="34" charset="-120"/>
                          </a:rPr>
                          <m:t>𝟐</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,B正确；苹果运动到</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点时的速度</a:t>
                </a:r>
              </a:p>
              <a:p>
                <a:pPr latinLnBrk="1">
                  <a:lnSpc>
                    <a:spcPts val="4700"/>
                  </a:lnSpc>
                </a:pPr>
                <a:r>
                  <a:rPr lang="en-US" altLang="zh-CN" sz="2400" b="1" i="0">
                    <a:solidFill>
                      <a:srgbClr val="FF0000"/>
                    </a:solidFill>
                    <a:latin typeface="Times New Roman" pitchFamily="34" charset="0"/>
                    <a:ea typeface="微软雅黑" pitchFamily="34" charset="-122"/>
                    <a:cs typeface="Times New Roman" pitchFamily="34" charset="-120"/>
                  </a:rPr>
                  <a:t>大小为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𝒂</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𝑻</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r>
                          <a:rPr lang="en-US" altLang="zh-CN" sz="2400" b="1" i="1">
                            <a:solidFill>
                              <a:srgbClr val="FF0000"/>
                            </a:solidFill>
                            <a:latin typeface="Cambria Math" pitchFamily="34" charset="0"/>
                            <a:ea typeface="Cambria Math" pitchFamily="34" charset="-122"/>
                            <a:cs typeface="Cambria Math" pitchFamily="34" charset="-120"/>
                          </a:rPr>
                          <m:t>𝑻</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𝒈𝑻</m:t>
                        </m:r>
                      </m:num>
                      <m:den>
                        <m:r>
                          <a:rPr lang="en-US" altLang="zh-CN" sz="2400" b="1" i="1">
                            <a:solidFill>
                              <a:srgbClr val="FF0000"/>
                            </a:solidFill>
                            <a:latin typeface="Cambria Math" pitchFamily="34" charset="0"/>
                            <a:ea typeface="Cambria Math" pitchFamily="34" charset="-122"/>
                            <a:cs typeface="Cambria Math" pitchFamily="34" charset="-120"/>
                          </a:rPr>
                          <m:t>𝟐</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，C正确；苹果运动到</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𝒃</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点时的速度大小为</a:t>
                </a:r>
              </a:p>
              <a:p>
                <a:pPr latinLnBrk="1">
                  <a:lnSpc>
                    <a:spcPts val="47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𝒃</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𝑻</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r>
                          <a:rPr lang="en-US" altLang="zh-CN" sz="2400" b="1" i="1">
                            <a:solidFill>
                              <a:srgbClr val="FF0000"/>
                            </a:solidFill>
                            <a:latin typeface="Cambria Math" pitchFamily="34" charset="0"/>
                            <a:ea typeface="Cambria Math" pitchFamily="34" charset="-122"/>
                            <a:cs typeface="Cambria Math" pitchFamily="34" charset="-120"/>
                          </a:rPr>
                          <m:t>𝑻</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𝒈𝑻</m:t>
                        </m:r>
                      </m:num>
                      <m:den>
                        <m:r>
                          <a:rPr lang="en-US" altLang="zh-CN" sz="2400" b="1" i="1">
                            <a:solidFill>
                              <a:srgbClr val="FF0000"/>
                            </a:solidFill>
                            <a:latin typeface="Cambria Math" pitchFamily="34" charset="0"/>
                            <a:ea typeface="Cambria Math" pitchFamily="34" charset="-122"/>
                            <a:cs typeface="Cambria Math" pitchFamily="34" charset="-120"/>
                          </a:rPr>
                          <m:t>𝟐</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，苹果在</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𝒃</m:t>
                    </m:r>
                  </m:oMath>
                </a14:m>
                <a:r>
                  <a:rPr lang="en-US" altLang="zh-CN" sz="2400" b="1" i="0" dirty="0">
                    <a:solidFill>
                      <a:srgbClr val="FF0000"/>
                    </a:solidFill>
                    <a:latin typeface="Times New Roman" pitchFamily="34" charset="0"/>
                    <a:ea typeface="微软雅黑" pitchFamily="34" charset="-122"/>
                    <a:cs typeface="Times New Roman" pitchFamily="34" charset="-120"/>
                  </a:rPr>
                  <a:t>间的平均速度大小为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bar>
                          <m:barPr>
                            <m:pos m:val="top"/>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barPr>
                          <m:e>
                            <m:r>
                              <a:rPr lang="en-US" altLang="zh-CN" sz="2400">
                                <a:solidFill>
                                  <a:srgbClr val="FF0000"/>
                                </a:solidFill>
                                <a:latin typeface="Cambria Math" panose="02040503050406030204" pitchFamily="18" charset="0"/>
                              </a:rPr>
                              <m:t>𝒗</m:t>
                            </m:r>
                          </m:e>
                        </m:bar>
                      </m:e>
                      <m:sub>
                        <m:r>
                          <a:rPr lang="en-US" altLang="zh-CN" sz="2400" b="1" i="1">
                            <a:solidFill>
                              <a:srgbClr val="FF0000"/>
                            </a:solidFill>
                            <a:latin typeface="Cambria Math" pitchFamily="34" charset="0"/>
                            <a:ea typeface="Cambria Math" pitchFamily="34" charset="-122"/>
                            <a:cs typeface="Cambria Math" pitchFamily="34" charset="-120"/>
                          </a:rPr>
                          <m:t>𝑶</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𝒃</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𝒃</m:t>
                            </m:r>
                          </m:sub>
                        </m:sSub>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𝑻</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𝒈𝑻</m:t>
                        </m:r>
                      </m:num>
                      <m:den>
                        <m:r>
                          <a:rPr lang="en-US" altLang="zh-CN" sz="2400" b="1" i="1">
                            <a:solidFill>
                              <a:srgbClr val="FF0000"/>
                            </a:solidFill>
                            <a:latin typeface="Cambria Math" pitchFamily="34" charset="0"/>
                            <a:ea typeface="Cambria Math" pitchFamily="34" charset="-122"/>
                            <a:cs typeface="Cambria Math" pitchFamily="34" charset="-120"/>
                          </a:rPr>
                          <m:t>𝟒</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，D</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错误</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AS.3_1#8bb2caafe?vcp=1&amp;pid=7dbd1456e&amp;color=0,0,0&amp;vtp=1&amp;bt=1&amp;bbb=1&amp;hb=1"/>
              <p:cNvSpPr>
                <a:spLocks noRot="1" noChangeAspect="1" noMove="1" noResize="1" noEditPoints="1" noAdjustHandles="1" noChangeArrowheads="1" noChangeShapeType="1" noTextEdit="1"/>
              </p:cNvSpPr>
              <p:nvPr/>
            </p:nvSpPr>
            <p:spPr>
              <a:xfrm>
                <a:off x="393192" y="1293844"/>
                <a:ext cx="11402568" cy="4314000"/>
              </a:xfrm>
              <a:prstGeom prst="rect">
                <a:avLst/>
              </a:prstGeom>
              <a:blipFill>
                <a:blip r:embed="rId3"/>
                <a:stretch>
                  <a:fillRect l="-1658" r="-1658" b="-423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left)">
                                      <p:cBhvr>
                                        <p:cTn id="2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p:sp>
        <p:nvSpPr>
          <p:cNvPr id="2" name="QC_4_BD.4_1#93d9d420f?vcp=1&amp;pid=7dbd1456e&amp;color=0,0,0&amp;vtp=1&amp;bt=1&amp;bbb=1"/>
          <p:cNvSpPr/>
          <p:nvPr/>
        </p:nvSpPr>
        <p:spPr>
          <a:xfrm>
            <a:off x="393192" y="1165225"/>
            <a:ext cx="11402568" cy="484124"/>
          </a:xfrm>
          <a:prstGeom prst="rect">
            <a:avLst/>
          </a:prstGeom>
          <a:noFill/>
          <a:ln/>
        </p:spPr>
        <p:txBody>
          <a:bodyPr wrap="none" lIns="0" tIns="0" rIns="0" bIns="0" rtlCol="0" anchor="t"/>
          <a:lstStyle/>
          <a:p>
            <a:pPr algn="l" latinLnBrk="1">
              <a:lnSpc>
                <a:spcPts val="4300"/>
              </a:lnSpc>
            </a:pPr>
            <a:r>
              <a:rPr lang="en-US" altLang="zh-CN" sz="2400" b="1" i="0" dirty="0">
                <a:solidFill>
                  <a:srgbClr val="0070C0"/>
                </a:solidFill>
                <a:latin typeface="Times New Roman" pitchFamily="34" charset="0"/>
                <a:ea typeface="微软雅黑" pitchFamily="34" charset="-122"/>
                <a:cs typeface="Times New Roman" pitchFamily="34" charset="-120"/>
              </a:rPr>
              <a:t>变式1-1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（多选题）关于自由落体运动，</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4_AN.5_1#93d9d420f.bracket?vcp=1&amp;pid=7dbd1456e&amp;color=0,0,0&amp;vpa=2&amp;vtp=1&amp;bbb=1"/>
          <p:cNvSpPr/>
          <p:nvPr/>
        </p:nvSpPr>
        <p:spPr>
          <a:xfrm>
            <a:off x="8526748" y="1163320"/>
            <a:ext cx="865188"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ABC</a:t>
            </a:r>
            <a:endParaRPr lang="en-US" altLang="zh-CN" sz="2400" dirty="0"/>
          </a:p>
        </p:txBody>
      </p:sp>
      <mc:AlternateContent xmlns:mc="http://schemas.openxmlformats.org/markup-compatibility/2006">
        <mc:Choice xmlns:a14="http://schemas.microsoft.com/office/drawing/2010/main" Requires="a14">
          <p:sp>
            <p:nvSpPr>
              <p:cNvPr id="4" name="QC_4_BD.4_2#93d9d420f.choices?vcp=1&amp;pid=7dbd1456e&amp;color=0,0,0&amp;vtp=1&amp;bbb=1"/>
              <p:cNvSpPr/>
              <p:nvPr/>
            </p:nvSpPr>
            <p:spPr>
              <a:xfrm>
                <a:off x="393192" y="1651000"/>
                <a:ext cx="11402568" cy="2158302"/>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A.自由落体运动是</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r>
                      <a:rPr lang="en-US" altLang="zh-CN" sz="2400" b="0" i="0">
                        <a:solidFill>
                          <a:srgbClr val="000000"/>
                        </a:solidFill>
                        <a:latin typeface="Cambria Math" pitchFamily="34" charset="0"/>
                        <a:ea typeface="Cambria Math" pitchFamily="34" charset="-122"/>
                        <a:cs typeface="Cambria Math" pitchFamily="34" charset="-120"/>
                      </a:rPr>
                      <m:t>=0</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、方向竖直向下的匀加速直线运动</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.在开始连续的三个</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内通过的位移之比是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1:3:5</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.在开始连续的三个</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末的速度之比是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1:2:3</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.从开始运动到下落</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4.9</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9.8</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14.7</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所经历的时间之比为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1:2:3</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4" name="QC_4_BD.4_2#93d9d420f.choices?vcp=1&amp;pid=7dbd1456e&amp;color=0,0,0&amp;vtp=1&amp;bbb=1"/>
              <p:cNvSpPr>
                <a:spLocks noRot="1" noChangeAspect="1" noMove="1" noResize="1" noEditPoints="1" noAdjustHandles="1" noChangeArrowheads="1" noChangeShapeType="1" noTextEdit="1"/>
              </p:cNvSpPr>
              <p:nvPr/>
            </p:nvSpPr>
            <p:spPr>
              <a:xfrm>
                <a:off x="393192" y="1651000"/>
                <a:ext cx="11402568" cy="2158302"/>
              </a:xfrm>
              <a:prstGeom prst="rect">
                <a:avLst/>
              </a:prstGeom>
              <a:blipFill>
                <a:blip r:embed="rId3"/>
                <a:stretch>
                  <a:fillRect l="-1658" b="-8475"/>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QC_4_AS.6_1#93d9d420f?vcp=1&amp;pid=7dbd1456e&amp;color=0,0,0&amp;vtp=1&amp;bbb=1&amp;hb=1"/>
              <p:cNvSpPr/>
              <p:nvPr/>
            </p:nvSpPr>
            <p:spPr>
              <a:xfrm>
                <a:off x="393192" y="3784600"/>
                <a:ext cx="11402568" cy="1659128"/>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自由落体运动是初速度为0的匀加速直线运动，由自由落体运动的性质可知</a:t>
                </a:r>
                <a:r>
                  <a:rPr lang="en-US" altLang="zh-CN" sz="2400" b="1" i="0">
                    <a:solidFill>
                      <a:srgbClr val="FF0000"/>
                    </a:solidFill>
                    <a:latin typeface="Times New Roman" pitchFamily="34" charset="0"/>
                    <a:ea typeface="微软雅黑" pitchFamily="34" charset="-122"/>
                    <a:cs typeface="Times New Roman" pitchFamily="34" charset="-120"/>
                  </a:rPr>
                  <a:t>A正</a:t>
                </a:r>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确</a:t>
                </a:r>
                <a:r>
                  <a:rPr lang="en-US" altLang="zh-CN" sz="2400" b="1" i="0" dirty="0">
                    <a:solidFill>
                      <a:srgbClr val="FF0000"/>
                    </a:solidFill>
                    <a:latin typeface="Times New Roman" pitchFamily="34" charset="0"/>
                    <a:ea typeface="微软雅黑" pitchFamily="34" charset="-122"/>
                    <a:cs typeface="Times New Roman" pitchFamily="34" charset="-120"/>
                  </a:rPr>
                  <a:t>；由自由落体运动（匀加速直线运动）的比例关系式知B、C正确；由</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𝒉</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知，</a:t>
                </a:r>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从开始运动到下落</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𝟗</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𝟗</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𝟖</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𝟏𝟒</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所经历的时间之比为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a:solidFill>
                          <a:srgbClr val="FF0000"/>
                        </a:solidFill>
                        <a:latin typeface="Cambria Math" pitchFamily="34" charset="0"/>
                        <a:ea typeface="Cambria Math" pitchFamily="34" charset="-122"/>
                        <a:cs typeface="Cambria Math" pitchFamily="34" charset="-120"/>
                      </a:rPr>
                      <m:t>:</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𝟐</m:t>
                        </m:r>
                      </m:e>
                    </m:rad>
                    <m:r>
                      <a:rPr lang="en-US" altLang="zh-CN" sz="2400" b="1" i="0">
                        <a:solidFill>
                          <a:srgbClr val="FF0000"/>
                        </a:solidFill>
                        <a:latin typeface="Cambria Math" pitchFamily="34" charset="0"/>
                        <a:ea typeface="Cambria Math" pitchFamily="34" charset="-122"/>
                        <a:cs typeface="Cambria Math" pitchFamily="34" charset="-120"/>
                      </a:rPr>
                      <m:t>:</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𝟑</m:t>
                        </m:r>
                      </m:e>
                    </m:rad>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，D错误.</a:t>
                </a:r>
                <a:endParaRPr lang="en-US" altLang="zh-CN" sz="2400" dirty="0"/>
              </a:p>
            </p:txBody>
          </p:sp>
        </mc:Choice>
        <mc:Fallback>
          <p:sp>
            <p:nvSpPr>
              <p:cNvPr id="5" name="QC_4_AS.6_1#93d9d420f?vcp=1&amp;pid=7dbd1456e&amp;color=0,0,0&amp;vtp=1&amp;bbb=1&amp;hb=1"/>
              <p:cNvSpPr>
                <a:spLocks noRot="1" noChangeAspect="1" noMove="1" noResize="1" noEditPoints="1" noAdjustHandles="1" noChangeArrowheads="1" noChangeShapeType="1" noTextEdit="1"/>
              </p:cNvSpPr>
              <p:nvPr/>
            </p:nvSpPr>
            <p:spPr>
              <a:xfrm>
                <a:off x="393192" y="3784600"/>
                <a:ext cx="11402568" cy="1659128"/>
              </a:xfrm>
              <a:prstGeom prst="rect">
                <a:avLst/>
              </a:prstGeom>
              <a:blipFill>
                <a:blip r:embed="rId4"/>
                <a:stretch>
                  <a:fillRect l="-1658" r="-1925" b="-10662"/>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p:pic>
        <p:nvPicPr>
          <p:cNvPr id="2" name="C_3#81a80b1b3?vcp=1&amp;pid=797fd896b&amp;color=0,0,0&amp;tib=255,255,255&amp;vtp=1" descr="preencoded.png"/>
          <p:cNvPicPr>
            <a:picLocks noChangeAspect="1"/>
          </p:cNvPicPr>
          <p:nvPr/>
        </p:nvPicPr>
        <p:blipFill>
          <a:blip r:embed="rId3"/>
          <a:stretch>
            <a:fillRect/>
          </a:stretch>
        </p:blipFill>
        <p:spPr>
          <a:xfrm>
            <a:off x="411480" y="502920"/>
            <a:ext cx="11320272" cy="466344"/>
          </a:xfrm>
          <a:prstGeom prst="rect">
            <a:avLst/>
          </a:prstGeom>
        </p:spPr>
      </p:pic>
      <p:sp>
        <p:nvSpPr>
          <p:cNvPr id="3" name="C_3_BD#81a80b1b3?vcp=1&amp;pid=797fd896b&amp;color=255,255,255&amp;vtp=1&amp;bt=1&amp;bbb=1"/>
          <p:cNvSpPr/>
          <p:nvPr/>
        </p:nvSpPr>
        <p:spPr>
          <a:xfrm>
            <a:off x="393192" y="502920"/>
            <a:ext cx="896112" cy="457200"/>
          </a:xfrm>
          <a:prstGeom prst="rect">
            <a:avLst/>
          </a:prstGeom>
          <a:noFill/>
          <a:ln/>
        </p:spPr>
        <p:txBody>
          <a:bodyPr wrap="none" lIns="0" tIns="0" rIns="0" bIns="0" rtlCol="0" anchor="ctr"/>
          <a:lstStyle/>
          <a:p>
            <a:pPr algn="ctr" latinLnBrk="1">
              <a:lnSpc>
                <a:spcPts val="3200"/>
              </a:lnSpc>
            </a:pPr>
            <a:r>
              <a:rPr lang="en-US" altLang="zh-CN" sz="2600" b="1" i="0" dirty="0">
                <a:solidFill>
                  <a:srgbClr val="FFFFFF"/>
                </a:solidFill>
                <a:latin typeface="SimHei" pitchFamily="34" charset="0"/>
                <a:ea typeface="SimHei" pitchFamily="34" charset="-122"/>
                <a:cs typeface="SimHei" pitchFamily="34" charset="-120"/>
              </a:rPr>
              <a:t>考点</a:t>
            </a:r>
            <a:endParaRPr lang="en-US" altLang="zh-CN" sz="2600" dirty="0"/>
          </a:p>
        </p:txBody>
      </p:sp>
      <p:sp>
        <p:nvSpPr>
          <p:cNvPr id="4" name="C_3_BD#81a80b1b3?vcp=1&amp;pid=797fd896b&amp;color=255,255,255&amp;vtp=1"/>
          <p:cNvSpPr/>
          <p:nvPr/>
        </p:nvSpPr>
        <p:spPr>
          <a:xfrm>
            <a:off x="1298448"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2</a:t>
            </a:r>
            <a:endParaRPr lang="en-US" altLang="zh-CN" sz="2800" dirty="0"/>
          </a:p>
        </p:txBody>
      </p:sp>
      <p:sp>
        <p:nvSpPr>
          <p:cNvPr id="5" name="C_3_BD#81a80b1b3?vcp=1&amp;pid=797fd896b&amp;color=0,0,0&amp;vtp=1&amp;bbb=1"/>
          <p:cNvSpPr/>
          <p:nvPr/>
        </p:nvSpPr>
        <p:spPr>
          <a:xfrm>
            <a:off x="1911096"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滴水或多物体落体运动问题</a:t>
            </a:r>
            <a:endParaRPr lang="en-US" altLang="zh-CN" sz="2600" dirty="0"/>
          </a:p>
        </p:txBody>
      </p:sp>
      <mc:AlternateContent xmlns:mc="http://schemas.openxmlformats.org/markup-compatibility/2006">
        <mc:Choice xmlns:a14="http://schemas.microsoft.com/office/drawing/2010/main" Requires="a14">
          <p:sp>
            <p:nvSpPr>
              <p:cNvPr id="6" name="P_4_BD#f5157e671?vcp=1&amp;pid=81a80b1b3&amp;color=0,0,0&amp;vtp=1&amp;bbb=1&amp;hb=1"/>
              <p:cNvSpPr/>
              <p:nvPr/>
            </p:nvSpPr>
            <p:spPr>
              <a:xfrm>
                <a:off x="393192" y="965200"/>
                <a:ext cx="11402568" cy="27138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像水滴（可看成质点）下落这样从同一位置开始，间隔相等时间</a:t>
                </a:r>
                <a:r>
                  <a:rPr lang="en-US" altLang="zh-CN" sz="2400" b="0" i="0">
                    <a:solidFill>
                      <a:srgbClr val="000000"/>
                    </a:solidFill>
                    <a:latin typeface="Times New Roman" pitchFamily="34" charset="0"/>
                    <a:ea typeface="微软雅黑" pitchFamily="34" charset="-122"/>
                    <a:cs typeface="Times New Roman" pitchFamily="34" charset="-120"/>
                  </a:rPr>
                  <a:t>，依次做自由落</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体运动的物体在空间形成不同间距的问题</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可将若干个物体在某一时刻的排列情形，</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等效成一个物体在不同时刻的位置，这就类似于研究匀变速直线运动时打点计时器打</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下的纸带上的点</a:t>
                </a:r>
                <a:r>
                  <a:rPr lang="en-US" altLang="zh-CN" sz="2400" b="0" i="0" dirty="0">
                    <a:solidFill>
                      <a:srgbClr val="000000"/>
                    </a:solidFill>
                    <a:latin typeface="Times New Roman" pitchFamily="34" charset="0"/>
                    <a:ea typeface="微软雅黑" pitchFamily="34" charset="-122"/>
                    <a:cs typeface="Times New Roman" pitchFamily="34" charset="-120"/>
                  </a:rPr>
                  <a:t>，由此可以用</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、初速度为</a:t>
                </a:r>
                <a:r>
                  <a:rPr lang="en-US" altLang="zh-CN" sz="2400" b="0" i="0">
                    <a:solidFill>
                      <a:srgbClr val="000000"/>
                    </a:solidFill>
                    <a:latin typeface="Times New Roman" pitchFamily="34" charset="0"/>
                    <a:ea typeface="微软雅黑" pitchFamily="34" charset="-122"/>
                    <a:cs typeface="Times New Roman" pitchFamily="34" charset="-120"/>
                  </a:rPr>
                  <a:t>0的匀变速直线运动的比例关系或</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者平均速度法进行求解</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6" name="P_4_BD#f5157e671?vcp=1&amp;pid=81a80b1b3&amp;color=0,0,0&amp;vtp=1&amp;bbb=1&amp;hb=1"/>
              <p:cNvSpPr>
                <a:spLocks noRot="1" noChangeAspect="1" noMove="1" noResize="1" noEditPoints="1" noAdjustHandles="1" noChangeArrowheads="1" noChangeShapeType="1" noTextEdit="1"/>
              </p:cNvSpPr>
              <p:nvPr/>
            </p:nvSpPr>
            <p:spPr>
              <a:xfrm>
                <a:off x="393192" y="965200"/>
                <a:ext cx="11402568" cy="2713800"/>
              </a:xfrm>
              <a:prstGeom prst="rect">
                <a:avLst/>
              </a:prstGeom>
              <a:blipFill>
                <a:blip r:embed="rId4"/>
                <a:stretch>
                  <a:fillRect l="-1658" r="-535" b="-6502"/>
                </a:stretch>
              </a:blipFill>
              <a:ln/>
            </p:spPr>
            <p:txBody>
              <a:bodyPr/>
              <a:lstStyle/>
              <a:p>
                <a:r>
                  <a:rPr lang="zh-CN" altLang="en-US">
                    <a:noFill/>
                  </a:rPr>
                  <a:t> </a:t>
                </a:r>
              </a:p>
            </p:txBody>
          </p:sp>
        </mc:Fallback>
      </mc:AlternateContent>
    </p:spTree>
  </p:cSld>
  <p:clrMapOvr>
    <a:masterClrMapping/>
  </p:clrMapOvr>
  <p:transition>
    <p:split dir="in"/>
  </p:transition>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p:pic>
        <p:nvPicPr>
          <p:cNvPr id="2" name="QO_4_BD.7_1#c455a2b81?htil=2&amp;vcp=1&amp;pid=81a80b1b3&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850369" y="1336897"/>
            <a:ext cx="1892808" cy="200253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O_4_BD.7_2#c455a2b81?htil=2&amp;vcp=1&amp;pid=81a80b1b3&amp;color=0,0,0&amp;vtp=1&amp;bt=1&amp;bbb=1&amp;hb=1&amp;hs=1"/>
              <p:cNvSpPr/>
              <p:nvPr/>
            </p:nvSpPr>
            <p:spPr>
              <a:xfrm>
                <a:off x="393192" y="1291177"/>
                <a:ext cx="9381744" cy="215773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例2</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屋檐上每隔相同的时间滴下一滴水，当第5滴正欲滴下时，第</a:t>
                </a:r>
                <a:r>
                  <a:rPr lang="en-US" altLang="zh-CN" sz="2400" b="0" i="0">
                    <a:solidFill>
                      <a:srgbClr val="000000"/>
                    </a:solidFill>
                    <a:latin typeface="Times New Roman" pitchFamily="34" charset="0"/>
                    <a:ea typeface="微软雅黑" pitchFamily="34" charset="-122"/>
                    <a:cs typeface="Times New Roman" pitchFamily="34" charset="-120"/>
                  </a:rPr>
                  <a:t>1滴</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刚好到达地面</a:t>
                </a:r>
                <a:r>
                  <a:rPr lang="en-US" altLang="zh-CN" sz="2400" b="0" i="0" dirty="0">
                    <a:solidFill>
                      <a:srgbClr val="000000"/>
                    </a:solidFill>
                    <a:latin typeface="Times New Roman" pitchFamily="34" charset="0"/>
                    <a:ea typeface="微软雅黑" pitchFamily="34" charset="-122"/>
                    <a:cs typeface="Times New Roman" pitchFamily="34" charset="-120"/>
                  </a:rPr>
                  <a:t>，而第3滴与第2滴分别位于高为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的窗户的上、</a:t>
                </a:r>
                <a:r>
                  <a:rPr lang="en-US" altLang="zh-CN" sz="2400" b="0" i="0">
                    <a:solidFill>
                      <a:srgbClr val="000000"/>
                    </a:solidFill>
                    <a:latin typeface="Times New Roman" pitchFamily="34" charset="0"/>
                    <a:ea typeface="微软雅黑" pitchFamily="34" charset="-122"/>
                    <a:cs typeface="Times New Roman" pitchFamily="34" charset="-120"/>
                  </a:rPr>
                  <a:t>下檐，</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如图所示</a:t>
                </a:r>
                <a:r>
                  <a:rPr lang="en-US" altLang="zh-CN" sz="2400" b="0" i="0" dirty="0">
                    <a:solidFill>
                      <a:srgbClr val="000000"/>
                    </a:solidFill>
                    <a:latin typeface="Times New Roman" pitchFamily="34" charset="0"/>
                    <a:ea typeface="微软雅黑" pitchFamily="34" charset="-122"/>
                    <a:cs typeface="Times New Roman" pitchFamily="34" charset="-120"/>
                  </a:rPr>
                  <a:t>，不计空气阻力，</a:t>
                </a:r>
                <a:r>
                  <a:rPr lang="en-US" altLang="zh-CN" sz="2400" b="0" i="0">
                    <a:solidFill>
                      <a:srgbClr val="000000"/>
                    </a:solidFill>
                    <a:latin typeface="Times New Roman" pitchFamily="34" charset="0"/>
                    <a:ea typeface="微软雅黑" pitchFamily="34" charset="-122"/>
                    <a:cs typeface="Times New Roman" pitchFamily="34" charset="-120"/>
                  </a:rPr>
                  <a:t>求此屋檐离地面的高度及滴水的时间间隔.</a:t>
                </a:r>
              </a:p>
              <a:p>
                <a:pPr latinLnBrk="1">
                  <a:lnSpc>
                    <a:spcPts val="43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2400" b="0" i="0" dirty="0">
                    <a:solidFill>
                      <a:srgbClr val="000000"/>
                    </a:solidFill>
                    <a:latin typeface="Times New Roman" pitchFamily="34" charset="0"/>
                    <a:ea typeface="微软雅黑" pitchFamily="34" charset="-122"/>
                    <a:cs typeface="Times New Roman" pitchFamily="34" charset="-120"/>
                  </a:rPr>
                  <a:t>取</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3" name="QO_4_BD.7_2#c455a2b81?htil=2&amp;vcp=1&amp;pid=81a80b1b3&amp;color=0,0,0&amp;vtp=1&amp;bt=1&amp;bbb=1&amp;hb=1&amp;hs=1"/>
              <p:cNvSpPr>
                <a:spLocks noRot="1" noChangeAspect="1" noMove="1" noResize="1" noEditPoints="1" noAdjustHandles="1" noChangeArrowheads="1" noChangeShapeType="1" noTextEdit="1"/>
              </p:cNvSpPr>
              <p:nvPr/>
            </p:nvSpPr>
            <p:spPr>
              <a:xfrm>
                <a:off x="393192" y="1291177"/>
                <a:ext cx="9381744" cy="2157730"/>
              </a:xfrm>
              <a:prstGeom prst="rect">
                <a:avLst/>
              </a:prstGeom>
              <a:blipFill>
                <a:blip r:embed="rId4"/>
                <a:stretch>
                  <a:fillRect l="-2014" r="-1365" b="-8475"/>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QO_4_AS.8_1#c455a2b81?vcp=1&amp;pid=81a80b1b3&amp;color=0,0,0&amp;vtp=1&amp;bbb=1&amp;hb=1&amp;hs=1"/>
              <p:cNvSpPr/>
              <p:nvPr/>
            </p:nvSpPr>
            <p:spPr>
              <a:xfrm>
                <a:off x="393192" y="3430873"/>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a:solidFill>
                      <a:srgbClr val="FF0000"/>
                    </a:solidFill>
                    <a:latin typeface="Times New Roman" pitchFamily="34" charset="0"/>
                    <a:ea typeface="微软雅黑" pitchFamily="34" charset="-122"/>
                    <a:cs typeface="Times New Roman" pitchFamily="34" charset="-120"/>
                  </a:rPr>
                  <a:t>]</a:t>
                </a:r>
                <a:r>
                  <a:rPr lang="en-US" altLang="zh-CN" sz="2400" b="1" i="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将题图所示五滴水的位置等效地看作一滴水做自由落体运动时在不同时刻的位</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置</a:t>
                </a:r>
                <a:r>
                  <a:rPr lang="en-US" altLang="zh-CN" sz="2400" b="1" i="0" dirty="0">
                    <a:solidFill>
                      <a:srgbClr val="FF0000"/>
                    </a:solidFill>
                    <a:latin typeface="Times New Roman" pitchFamily="34" charset="0"/>
                    <a:ea typeface="微软雅黑" pitchFamily="34" charset="-122"/>
                    <a:cs typeface="Times New Roman" pitchFamily="34" charset="-120"/>
                  </a:rPr>
                  <a:t>，设滴水的时间间隔为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oMath>
                </a14:m>
                <a:r>
                  <a:rPr lang="en-US" altLang="zh-CN" sz="2400" b="1" i="0" dirty="0">
                    <a:solidFill>
                      <a:srgbClr val="FF0000"/>
                    </a:solidFill>
                    <a:latin typeface="Times New Roman" pitchFamily="34" charset="0"/>
                    <a:ea typeface="微软雅黑" pitchFamily="34" charset="-122"/>
                    <a:cs typeface="Times New Roman" pitchFamily="34" charset="-120"/>
                  </a:rPr>
                  <a:t>,则这一滴水在0时刻、</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oMath>
                </a14:m>
                <a:r>
                  <a:rPr lang="en-US" altLang="zh-CN" sz="2400" b="1" i="0" dirty="0">
                    <a:solidFill>
                      <a:srgbClr val="FF0000"/>
                    </a:solidFill>
                    <a:latin typeface="Times New Roman" pitchFamily="34" charset="0"/>
                    <a:ea typeface="微软雅黑" pitchFamily="34" charset="-122"/>
                    <a:cs typeface="Times New Roman" pitchFamily="34" charset="-120"/>
                  </a:rPr>
                  <a:t>末、</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𝑻</m:t>
                    </m:r>
                  </m:oMath>
                </a14:m>
                <a:r>
                  <a:rPr lang="en-US" altLang="zh-CN" sz="2400" b="1" i="0" dirty="0">
                    <a:solidFill>
                      <a:srgbClr val="FF0000"/>
                    </a:solidFill>
                    <a:latin typeface="Times New Roman" pitchFamily="34" charset="0"/>
                    <a:ea typeface="微软雅黑" pitchFamily="34" charset="-122"/>
                    <a:cs typeface="Times New Roman" pitchFamily="34" charset="-120"/>
                  </a:rPr>
                  <a:t>末、</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𝑻</m:t>
                    </m:r>
                  </m:oMath>
                </a14:m>
                <a:r>
                  <a:rPr lang="en-US" altLang="zh-CN" sz="2400" b="1" i="0" dirty="0">
                    <a:solidFill>
                      <a:srgbClr val="FF0000"/>
                    </a:solidFill>
                    <a:latin typeface="Times New Roman" pitchFamily="34" charset="0"/>
                    <a:ea typeface="微软雅黑" pitchFamily="34" charset="-122"/>
                    <a:cs typeface="Times New Roman" pitchFamily="34" charset="-120"/>
                  </a:rPr>
                  <a:t>末、</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1">
                        <a:solidFill>
                          <a:srgbClr val="FF0000"/>
                        </a:solidFill>
                        <a:latin typeface="Cambria Math" pitchFamily="34" charset="0"/>
                        <a:ea typeface="Cambria Math" pitchFamily="34" charset="-122"/>
                        <a:cs typeface="Cambria Math" pitchFamily="34" charset="-120"/>
                      </a:rPr>
                      <m:t>𝑻</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末所处的位</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置</a:t>
                </a:r>
                <a:r>
                  <a:rPr lang="en-US" altLang="zh-CN" sz="2400" b="1" i="0" dirty="0">
                    <a:solidFill>
                      <a:srgbClr val="FF0000"/>
                    </a:solidFill>
                    <a:latin typeface="Times New Roman" pitchFamily="34" charset="0"/>
                    <a:ea typeface="微软雅黑" pitchFamily="34" charset="-122"/>
                    <a:cs typeface="Times New Roman" pitchFamily="34" charset="-120"/>
                  </a:rPr>
                  <a:t>，分别对应题图中第5滴水、第4滴水、第3滴水、第2滴水、第1</a:t>
                </a:r>
                <a:r>
                  <a:rPr lang="en-US" altLang="zh-CN" sz="2400" b="1" i="0">
                    <a:solidFill>
                      <a:srgbClr val="FF0000"/>
                    </a:solidFill>
                    <a:latin typeface="Times New Roman" pitchFamily="34" charset="0"/>
                    <a:ea typeface="微软雅黑" pitchFamily="34" charset="-122"/>
                    <a:cs typeface="Times New Roman" pitchFamily="34" charset="-120"/>
                  </a:rPr>
                  <a:t>滴水所处的位置，</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据此可作出解答</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QO_4_AS.8_1#c455a2b81?vcp=1&amp;pid=81a80b1b3&amp;color=0,0,0&amp;vtp=1&amp;bbb=1&amp;hb=1&amp;hs=1"/>
              <p:cNvSpPr>
                <a:spLocks noRot="1" noChangeAspect="1" noMove="1" noResize="1" noEditPoints="1" noAdjustHandles="1" noChangeArrowheads="1" noChangeShapeType="1" noTextEdit="1"/>
              </p:cNvSpPr>
              <p:nvPr/>
            </p:nvSpPr>
            <p:spPr>
              <a:xfrm>
                <a:off x="393192" y="3430873"/>
                <a:ext cx="11402568" cy="2155000"/>
              </a:xfrm>
              <a:prstGeom prst="rect">
                <a:avLst/>
              </a:prstGeom>
              <a:blipFill>
                <a:blip r:embed="rId5"/>
                <a:stretch>
                  <a:fillRect l="-1658" r="-1016" b="-84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wipe(left)">
                                      <p:cBhvr>
                                        <p:cTn id="13" dur="500"/>
                                        <p:tgtEl>
                                          <p:spTgt spid="4">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wipe(left)">
                                      <p:cBhvr>
                                        <p:cTn id="16" dur="500"/>
                                        <p:tgtEl>
                                          <p:spTgt spid="4">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wipe(left)">
                                      <p:cBhvr>
                                        <p:cTn id="1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O_4_AS.8_2#c455a2b81?vcp=1&amp;pid=81a80b1b3&amp;color=0,0,0&amp;mp=1&amp;vtp=1&amp;bt=1&amp;bbb=1&amp;hb=1"/>
              <p:cNvSpPr/>
              <p:nvPr/>
            </p:nvSpPr>
            <p:spPr>
              <a:xfrm>
                <a:off x="393192" y="1428623"/>
                <a:ext cx="11402568" cy="3567049"/>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方法一</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利用自由落体运动的基本规律求解</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设屋檐离地面的高度为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oMath>
                </a14:m>
                <a:r>
                  <a:rPr lang="en-US" altLang="zh-CN" sz="2400" b="1" i="0" dirty="0">
                    <a:solidFill>
                      <a:srgbClr val="FF0000"/>
                    </a:solidFill>
                    <a:latin typeface="Times New Roman" pitchFamily="34" charset="0"/>
                    <a:ea typeface="微软雅黑" pitchFamily="34" charset="-122"/>
                    <a:cs typeface="Times New Roman" pitchFamily="34" charset="-120"/>
                  </a:rPr>
                  <a:t>,滴水的时间间隔为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由</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𝒉</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得第2滴水的位移</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𝑻</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第</a:t>
                </a:r>
                <a:r>
                  <a:rPr lang="en-US" altLang="zh-CN" sz="2400" b="1" i="0" dirty="0">
                    <a:solidFill>
                      <a:srgbClr val="FF0000"/>
                    </a:solidFill>
                    <a:latin typeface="Times New Roman" pitchFamily="34" charset="0"/>
                    <a:ea typeface="微软雅黑" pitchFamily="34" charset="-122"/>
                    <a:cs typeface="Times New Roman" pitchFamily="34" charset="-120"/>
                  </a:rPr>
                  <a:t>3滴水的位移</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𝑻</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,又</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联立以上三式解得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.则屋檐离地面的高度</a:t>
                </a:r>
              </a:p>
              <a:p>
                <a:pPr latinLnBrk="1">
                  <a:lnSpc>
                    <a:spcPts val="62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1">
                        <a:solidFill>
                          <a:srgbClr val="FF0000"/>
                        </a:solidFill>
                        <a:latin typeface="Cambria Math" pitchFamily="34" charset="0"/>
                        <a:ea typeface="Cambria Math" pitchFamily="34" charset="-122"/>
                        <a:cs typeface="Cambria Math" pitchFamily="34" charset="-120"/>
                      </a:rPr>
                      <m:t>𝑻</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O_4_AS.8_2#c455a2b81?vcp=1&amp;pid=81a80b1b3&amp;color=0,0,0&amp;mp=1&amp;vtp=1&amp;bt=1&amp;bbb=1&amp;hb=1"/>
              <p:cNvSpPr>
                <a:spLocks noRot="1" noChangeAspect="1" noMove="1" noResize="1" noEditPoints="1" noAdjustHandles="1" noChangeArrowheads="1" noChangeShapeType="1" noTextEdit="1"/>
              </p:cNvSpPr>
              <p:nvPr/>
            </p:nvSpPr>
            <p:spPr>
              <a:xfrm>
                <a:off x="393192" y="1428623"/>
                <a:ext cx="11402568" cy="3567049"/>
              </a:xfrm>
              <a:prstGeom prst="rect">
                <a:avLst/>
              </a:prstGeom>
              <a:blipFill>
                <a:blip r:embed="rId3"/>
                <a:stretch>
                  <a:fillRect l="-1658" b="-2901"/>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O_4_AS.8_3#c455a2b81?vcp=1&amp;pid=81a80b1b3&amp;color=0,0,0&amp;mp=1&amp;vtp=1&amp;bt=1&amp;bbb=1&amp;hb=1"/>
              <p:cNvSpPr/>
              <p:nvPr/>
            </p:nvSpPr>
            <p:spPr>
              <a:xfrm>
                <a:off x="393192" y="1622489"/>
                <a:ext cx="11402568" cy="36449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方法二</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利用比值求解</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由于初速度为</a:t>
                </a:r>
                <a:r>
                  <a:rPr lang="en-US" altLang="zh-CN" sz="2400" b="1" i="0" dirty="0">
                    <a:solidFill>
                      <a:srgbClr val="FF0000"/>
                    </a:solidFill>
                    <a:latin typeface="Times New Roman" pitchFamily="34" charset="0"/>
                    <a:ea typeface="微软雅黑" pitchFamily="34" charset="-122"/>
                    <a:cs typeface="Times New Roman" pitchFamily="34" charset="-120"/>
                  </a:rPr>
                  <a:t>0的匀加速直线运动从开始运动起</a:t>
                </a:r>
                <a:r>
                  <a:rPr lang="en-US" altLang="zh-CN" sz="2400" b="1" i="0">
                    <a:solidFill>
                      <a:srgbClr val="FF0000"/>
                    </a:solidFill>
                    <a:latin typeface="Times New Roman" pitchFamily="34" charset="0"/>
                    <a:ea typeface="微软雅黑" pitchFamily="34" charset="-122"/>
                    <a:cs typeface="Times New Roman" pitchFamily="34" charset="-120"/>
                  </a:rPr>
                  <a:t>，在连续相等时间内的位移比为</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𝒏</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smtClean="0">
                        <a:solidFill>
                          <a:srgbClr val="FF0000"/>
                        </a:solidFill>
                        <a:latin typeface="Cambria Math" pitchFamily="34" charset="0"/>
                        <a:ea typeface="Cambria Math" pitchFamily="34" charset="-122"/>
                        <a:cs typeface="Cambria Math" pitchFamily="34" charset="-120"/>
                      </a:rPr>
                      <m:t>)</m:t>
                    </m:r>
                  </m:oMath>
                </a14:m>
                <a:r>
                  <a:rPr lang="en-US" altLang="zh-CN" sz="2400" b="1" i="0" dirty="0">
                    <a:solidFill>
                      <a:srgbClr val="FF0000"/>
                    </a:solidFill>
                    <a:latin typeface="Times New Roman" pitchFamily="34" charset="0"/>
                    <a:ea typeface="微软雅黑" pitchFamily="34" charset="-122"/>
                    <a:cs typeface="Times New Roman" pitchFamily="34" charset="-120"/>
                  </a:rPr>
                  <a:t>,令相邻两滴水之间的间距从上到下依次是</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𝟑</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𝟓</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𝟕</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 </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显然窗户高度为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𝟓</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,即</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𝟓</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.屋檐离地面的高度</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𝟏𝟔</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6700"/>
                  </a:lnSpc>
                </a:pPr>
                <a:r>
                  <a:rPr lang="en-US" altLang="zh-CN" sz="2400" b="1" i="0">
                    <a:solidFill>
                      <a:srgbClr val="FF0000"/>
                    </a:solidFill>
                    <a:latin typeface="Times New Roman" pitchFamily="34" charset="0"/>
                    <a:ea typeface="微软雅黑" pitchFamily="34" charset="-122"/>
                    <a:cs typeface="Times New Roman" pitchFamily="34" charset="-120"/>
                  </a:rPr>
                  <a:t>由</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知，滴水时间间隔</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sub>
                            </m:sSub>
                          </m:num>
                          <m:den>
                            <m:r>
                              <a:rPr lang="en-US" altLang="zh-CN" sz="2400" b="1" i="1">
                                <a:solidFill>
                                  <a:srgbClr val="FF0000"/>
                                </a:solidFill>
                                <a:latin typeface="Cambria Math" pitchFamily="34" charset="0"/>
                                <a:ea typeface="Cambria Math" pitchFamily="34" charset="-122"/>
                                <a:cs typeface="Cambria Math" pitchFamily="34" charset="-120"/>
                              </a:rPr>
                              <m:t>𝒈</m:t>
                            </m:r>
                          </m:den>
                        </m:f>
                      </m:e>
                    </m:rad>
                    <m:r>
                      <a:rPr lang="en-US" altLang="zh-CN" sz="2400" b="1" i="0">
                        <a:solidFill>
                          <a:srgbClr val="FF0000"/>
                        </a:solidFill>
                        <a:latin typeface="Cambria Math" pitchFamily="34" charset="0"/>
                        <a:ea typeface="Cambria Math" pitchFamily="34" charset="-122"/>
                        <a:cs typeface="Cambria Math" pitchFamily="34" charset="-120"/>
                      </a:rPr>
                      <m:t>=</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num>
                          <m:den>
                            <m:r>
                              <a:rPr lang="en-US" altLang="zh-CN" sz="2400" b="1" i="1">
                                <a:solidFill>
                                  <a:srgbClr val="FF0000"/>
                                </a:solidFill>
                                <a:latin typeface="Cambria Math" pitchFamily="34" charset="0"/>
                                <a:ea typeface="Cambria Math" pitchFamily="34" charset="-122"/>
                                <a:cs typeface="Cambria Math" pitchFamily="34" charset="-120"/>
                              </a:rPr>
                              <m:t>𝟏𝟎</m:t>
                            </m:r>
                          </m:den>
                        </m:f>
                      </m:e>
                    </m:rad>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O_4_AS.8_3#c455a2b81?vcp=1&amp;pid=81a80b1b3&amp;color=0,0,0&amp;mp=1&amp;vtp=1&amp;bt=1&amp;bbb=1&amp;hb=1"/>
              <p:cNvSpPr>
                <a:spLocks noRot="1" noChangeAspect="1" noMove="1" noResize="1" noEditPoints="1" noAdjustHandles="1" noChangeArrowheads="1" noChangeShapeType="1" noTextEdit="1"/>
              </p:cNvSpPr>
              <p:nvPr/>
            </p:nvSpPr>
            <p:spPr>
              <a:xfrm>
                <a:off x="393192" y="1622489"/>
                <a:ext cx="11402568" cy="3644900"/>
              </a:xfrm>
              <a:prstGeom prst="rect">
                <a:avLst/>
              </a:prstGeom>
              <a:blipFill>
                <a:blip r:embed="rId3"/>
                <a:stretch>
                  <a:fillRect l="-1658" r="-535" b="-33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O_4_AS.8_4#c455a2b81?vcp=1&amp;pid=81a80b1b3&amp;color=0,0,0&amp;mp=1&amp;vtp=1&amp;bt=1&amp;bbb=1&amp;hb=1"/>
              <p:cNvSpPr/>
              <p:nvPr/>
            </p:nvSpPr>
            <p:spPr>
              <a:xfrm>
                <a:off x="393192" y="1709293"/>
                <a:ext cx="11402568" cy="3008249"/>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方法三</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利用平均速度求解</a:t>
                </a:r>
                <a:endParaRPr lang="en-US" altLang="zh-CN" sz="2400" dirty="0"/>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设滴水的时间间隔为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oMath>
                </a14:m>
                <a:r>
                  <a:rPr lang="en-US" altLang="zh-CN" sz="2400" b="1" i="0" dirty="0">
                    <a:solidFill>
                      <a:srgbClr val="FF0000"/>
                    </a:solidFill>
                    <a:latin typeface="Times New Roman" pitchFamily="34" charset="0"/>
                    <a:ea typeface="微软雅黑" pitchFamily="34" charset="-122"/>
                    <a:cs typeface="Times New Roman" pitchFamily="34" charset="-120"/>
                  </a:rPr>
                  <a:t>，则水滴经过窗户的平均速度</a:t>
                </a:r>
                <a14:m>
                  <m:oMath xmlns:m="http://schemas.openxmlformats.org/officeDocument/2006/math">
                    <m:bar>
                      <m:barPr>
                        <m:pos m:val="top"/>
                        <m:ctrlPr>
                          <a:rPr lang="en-US" altLang="zh-CN" sz="2400">
                            <a:solidFill>
                              <a:srgbClr val="FF0000"/>
                            </a:solidFill>
                            <a:latin typeface="Cambria Math" panose="02040503050406030204" pitchFamily="18" charset="0"/>
                          </a:rPr>
                        </m:ctrlPr>
                      </m:barPr>
                      <m:e>
                        <m:r>
                          <a:rPr lang="en-US" altLang="zh-CN" sz="2400">
                            <a:solidFill>
                              <a:srgbClr val="FF0000"/>
                            </a:solidFill>
                            <a:latin typeface="Cambria Math" panose="02040503050406030204" pitchFamily="18" charset="0"/>
                          </a:rPr>
                          <m:t>𝒗</m:t>
                        </m:r>
                      </m:e>
                    </m:ba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num>
                      <m:den>
                        <m:r>
                          <a:rPr lang="en-US" altLang="zh-CN" sz="2400" b="1" i="1">
                            <a:solidFill>
                              <a:srgbClr val="FF0000"/>
                            </a:solidFill>
                            <a:latin typeface="Cambria Math" pitchFamily="34" charset="0"/>
                            <a:ea typeface="Cambria Math" pitchFamily="34" charset="-122"/>
                            <a:cs typeface="Cambria Math" pitchFamily="34" charset="-120"/>
                          </a:rPr>
                          <m:t>𝑻</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num>
                      <m:den>
                        <m:r>
                          <a:rPr lang="en-US" altLang="zh-CN" sz="2400" b="1" i="1">
                            <a:solidFill>
                              <a:srgbClr val="FF0000"/>
                            </a:solidFill>
                            <a:latin typeface="Cambria Math" pitchFamily="34" charset="0"/>
                            <a:ea typeface="Cambria Math" pitchFamily="34" charset="-122"/>
                            <a:cs typeface="Cambria Math" pitchFamily="34" charset="-120"/>
                          </a:rPr>
                          <m:t>𝑻</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.由</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𝒈𝒕</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知</a:t>
                </a:r>
                <a:r>
                  <a:rPr lang="en-US" altLang="zh-CN" sz="2400" b="1" i="0">
                    <a:solidFill>
                      <a:srgbClr val="FF0000"/>
                    </a:solidFill>
                    <a:latin typeface="Times New Roman" pitchFamily="34" charset="0"/>
                    <a:ea typeface="微软雅黑" pitchFamily="34" charset="-122"/>
                    <a:cs typeface="Times New Roman" pitchFamily="34" charset="-120"/>
                  </a:rPr>
                  <a:t>，水滴下</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落</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𝑻</m:t>
                    </m:r>
                  </m:oMath>
                </a14:m>
                <a:r>
                  <a:rPr lang="en-US" altLang="zh-CN" sz="2400" b="1" i="0" dirty="0">
                    <a:solidFill>
                      <a:srgbClr val="FF0000"/>
                    </a:solidFill>
                    <a:latin typeface="Times New Roman" pitchFamily="34" charset="0"/>
                    <a:ea typeface="微软雅黑" pitchFamily="34" charset="-122"/>
                    <a:cs typeface="Times New Roman" pitchFamily="34" charset="-120"/>
                  </a:rPr>
                  <a:t>时的速度</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𝒈𝑻</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由于</a:t>
                </a:r>
                <a14:m>
                  <m:oMath xmlns:m="http://schemas.openxmlformats.org/officeDocument/2006/math">
                    <m:bar>
                      <m:barPr>
                        <m:pos m:val="top"/>
                        <m:ctrlPr>
                          <a:rPr lang="en-US" altLang="zh-CN" sz="2400">
                            <a:solidFill>
                              <a:srgbClr val="FF0000"/>
                            </a:solidFill>
                            <a:latin typeface="Cambria Math" panose="02040503050406030204" pitchFamily="18" charset="0"/>
                          </a:rPr>
                        </m:ctrlPr>
                      </m:barPr>
                      <m:e>
                        <m:r>
                          <a:rPr lang="en-US" altLang="zh-CN" sz="2400">
                            <a:solidFill>
                              <a:srgbClr val="FF0000"/>
                            </a:solidFill>
                            <a:latin typeface="Cambria Math" panose="02040503050406030204" pitchFamily="18" charset="0"/>
                          </a:rPr>
                          <m:t>𝒗</m:t>
                        </m:r>
                      </m:e>
                    </m:ba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2400" b="1" i="0" dirty="0">
                    <a:solidFill>
                      <a:srgbClr val="FF0000"/>
                    </a:solidFill>
                    <a:latin typeface="Times New Roman" pitchFamily="34" charset="0"/>
                    <a:ea typeface="微软雅黑" pitchFamily="34" charset="-122"/>
                    <a:cs typeface="Times New Roman" pitchFamily="34" charset="-120"/>
                  </a:rPr>
                  <a:t>,故有</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num>
                      <m:den>
                        <m:r>
                          <a:rPr lang="en-US" altLang="zh-CN" sz="2400" b="1" i="1">
                            <a:solidFill>
                              <a:srgbClr val="FF0000"/>
                            </a:solidFill>
                            <a:latin typeface="Cambria Math" pitchFamily="34" charset="0"/>
                            <a:ea typeface="Cambria Math" pitchFamily="34" charset="-122"/>
                            <a:cs typeface="Cambria Math" pitchFamily="34" charset="-120"/>
                          </a:rPr>
                          <m:t>𝑻</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𝒈𝑻</m:t>
                    </m:r>
                  </m:oMath>
                </a14:m>
                <a:r>
                  <a:rPr lang="en-US" altLang="zh-CN" sz="2400" b="1" i="0" dirty="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6200"/>
                  </a:lnSpc>
                </a:pPr>
                <a:r>
                  <a:rPr lang="en-US" altLang="zh-CN" sz="2400" b="1" i="0">
                    <a:solidFill>
                      <a:srgbClr val="FF0000"/>
                    </a:solidFill>
                    <a:latin typeface="Times New Roman" pitchFamily="34" charset="0"/>
                    <a:ea typeface="微软雅黑" pitchFamily="34" charset="-122"/>
                    <a:cs typeface="Times New Roman" pitchFamily="34" charset="-120"/>
                  </a:rPr>
                  <a:t>屋檐离地面的高度</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1">
                        <a:solidFill>
                          <a:srgbClr val="FF0000"/>
                        </a:solidFill>
                        <a:latin typeface="Cambria Math" pitchFamily="34" charset="0"/>
                        <a:ea typeface="Cambria Math" pitchFamily="34" charset="-122"/>
                        <a:cs typeface="Cambria Math" pitchFamily="34" charset="-120"/>
                      </a:rPr>
                      <m:t>𝑻</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O_4_AS.8_4#c455a2b81?vcp=1&amp;pid=81a80b1b3&amp;color=0,0,0&amp;mp=1&amp;vtp=1&amp;bt=1&amp;bbb=1&amp;hb=1"/>
              <p:cNvSpPr>
                <a:spLocks noRot="1" noChangeAspect="1" noMove="1" noResize="1" noEditPoints="1" noAdjustHandles="1" noChangeArrowheads="1" noChangeShapeType="1" noTextEdit="1"/>
              </p:cNvSpPr>
              <p:nvPr/>
            </p:nvSpPr>
            <p:spPr>
              <a:xfrm>
                <a:off x="393192" y="1709293"/>
                <a:ext cx="11402568" cy="3008249"/>
              </a:xfrm>
              <a:prstGeom prst="rect">
                <a:avLst/>
              </a:prstGeom>
              <a:blipFill>
                <a:blip r:embed="rId3"/>
                <a:stretch>
                  <a:fillRect l="-1658" r="-749" b="-3441"/>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p:sp>
        <p:nvSpPr>
          <p:cNvPr id="2" name="QC_4_BD.9_1#f276c2f1d?vcp=1&amp;pid=81a80b1b3&amp;color=0,0,0&amp;vtp=1&amp;bt=1&amp;bbb=1&amp;hb=1"/>
          <p:cNvSpPr/>
          <p:nvPr/>
        </p:nvSpPr>
        <p:spPr>
          <a:xfrm>
            <a:off x="393192" y="1169575"/>
            <a:ext cx="11402568"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变式2-1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四个小球在离地面不同高度处同时由静止释放，不计空气阻力</a:t>
            </a:r>
            <a:r>
              <a:rPr lang="en-US" altLang="zh-CN" sz="2400" b="0" i="0">
                <a:solidFill>
                  <a:srgbClr val="000000"/>
                </a:solidFill>
                <a:latin typeface="Times New Roman" pitchFamily="34" charset="0"/>
                <a:ea typeface="微软雅黑" pitchFamily="34" charset="-122"/>
                <a:cs typeface="Times New Roman" pitchFamily="34" charset="-120"/>
              </a:rPr>
              <a:t>，从开始运动</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时刻起每隔相等的时间间隔</a:t>
            </a:r>
            <a:r>
              <a:rPr lang="en-US" altLang="zh-CN" sz="2400" b="0" i="0" dirty="0">
                <a:solidFill>
                  <a:srgbClr val="000000"/>
                </a:solidFill>
                <a:latin typeface="Times New Roman" pitchFamily="34" charset="0"/>
                <a:ea typeface="微软雅黑" pitchFamily="34" charset="-122"/>
                <a:cs typeface="Times New Roman" pitchFamily="34" charset="-120"/>
              </a:rPr>
              <a:t>，小球依次碰到地面</a:t>
            </a:r>
            <a:r>
              <a:rPr lang="en-US" altLang="zh-CN" sz="2400" b="0" i="0">
                <a:solidFill>
                  <a:srgbClr val="000000"/>
                </a:solidFill>
                <a:latin typeface="Times New Roman" pitchFamily="34" charset="0"/>
                <a:ea typeface="微软雅黑" pitchFamily="34" charset="-122"/>
                <a:cs typeface="Times New Roman" pitchFamily="34" charset="-120"/>
              </a:rPr>
              <a:t>.下列图示中能反映刚开始运动时各小</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球相对地面的位置的是(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4_AN.10_1#f276c2f1d.bracket?vcp=1&amp;pid=81a80b1b3&amp;color=0,0,0&amp;vpa=3&amp;vtp=1"/>
          <p:cNvSpPr/>
          <p:nvPr/>
        </p:nvSpPr>
        <p:spPr>
          <a:xfrm>
            <a:off x="3673760" y="227574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sp>
        <p:nvSpPr>
          <p:cNvPr id="4" name="QC_4_BD.9_2#f276c2f1d.choices?vcp=1&amp;pid=81a80b1b3&amp;color=0,0,0&amp;vtp=1&amp;bbb=1"/>
          <p:cNvSpPr/>
          <p:nvPr/>
        </p:nvSpPr>
        <p:spPr>
          <a:xfrm>
            <a:off x="393192" y="2890170"/>
            <a:ext cx="11402568" cy="1509141"/>
          </a:xfrm>
          <a:prstGeom prst="rect">
            <a:avLst/>
          </a:prstGeom>
          <a:noFill/>
          <a:ln/>
        </p:spPr>
        <p:txBody>
          <a:bodyPr wrap="none" lIns="0" tIns="0" rIns="0" bIns="0" rtlCol="0" anchor="t"/>
          <a:lstStyle/>
          <a:p>
            <a:pPr latinLnBrk="1">
              <a:lnSpc>
                <a:spcPts val="13500"/>
              </a:lnSpc>
              <a:tabLst>
                <a:tab pos="2970652" algn="l"/>
                <a:tab pos="5750804" algn="l"/>
                <a:tab pos="8696056" algn="l"/>
              </a:tabLst>
            </a:pPr>
            <a:r>
              <a:rPr lang="en-US" altLang="zh-CN" sz="2400" b="0" i="0">
                <a:solidFill>
                  <a:srgbClr val="000000"/>
                </a:solidFill>
                <a:latin typeface="Times New Roman" pitchFamily="34" charset="0"/>
                <a:ea typeface="微软雅黑" pitchFamily="34" charset="-122"/>
                <a:cs typeface="Times New Roman" pitchFamily="34" charset="-120"/>
              </a:rPr>
              <a:t>A.</a:t>
            </a:r>
            <a:r>
              <a:rPr lang="en-US" altLang="zh-CN" sz="75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75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75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75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endParaRPr lang="en-US" altLang="zh-CN" sz="900" dirty="0">
              <a:latin typeface="SimSun" panose="02010600030101010101" pitchFamily="2" charset="-122"/>
            </a:endParaRPr>
          </a:p>
        </p:txBody>
      </p:sp>
      <p:pic>
        <p:nvPicPr>
          <p:cNvPr id="5" name="QC_4_BD.9_2#f276c2f1d.choice_image?vcp=1&amp;pid=81a80b1b3&amp;color=0,0,0&amp;tib=255,255,255&amp;iip=1&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709517" y="2890551"/>
            <a:ext cx="1847088" cy="1508760"/>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6" name="QC_4_BD.9_2#f276c2f1d.choice_image?vcp=1&amp;pid=81a80b1b3&amp;color=0,0,0&amp;tib=255,255,255&amp;iip=2&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3668300" y="3000279"/>
            <a:ext cx="1664208" cy="1399032"/>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7" name="QC_4_BD.9_2#f276c2f1d.choice_image?vcp=1&amp;pid=81a80b1b3&amp;color=0,0,0&amp;tib=255,255,255&amp;iip=3&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6442615" y="3018567"/>
            <a:ext cx="1847088" cy="1380744"/>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8" name="QC_4_BD.9_2#f276c2f1d.choice_image?vcp=1&amp;pid=81a80b1b3&amp;color=0,0,0&amp;tib=255,255,255&amp;iip=4&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9404700" y="3009423"/>
            <a:ext cx="1792224" cy="1389888"/>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9" name="QC_4_AS.11_1#f276c2f1d?vcp=1&amp;pid=81a80b1b3&amp;color=0,0,0&amp;vtp=1&amp;bbb=1&amp;hb=1"/>
              <p:cNvSpPr/>
              <p:nvPr/>
            </p:nvSpPr>
            <p:spPr>
              <a:xfrm>
                <a:off x="393192" y="4401470"/>
                <a:ext cx="11402568" cy="1079500"/>
              </a:xfrm>
              <a:prstGeom prst="rect">
                <a:avLst/>
              </a:prstGeom>
              <a:noFill/>
              <a:ln/>
            </p:spPr>
            <p:txBody>
              <a:bodyPr wrap="none" lIns="0" tIns="0" rIns="0" bIns="0" rtlCol="0" anchor="t"/>
              <a:lstStyle/>
              <a:p>
                <a:pPr algn="l" latinLnBrk="1">
                  <a:lnSpc>
                    <a:spcPts val="46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因为各个球是间隔相等时间落地的，且都做自由落体运动，又因为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𝒉</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所以各球初始离地高度之比</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𝒉</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𝒉</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𝒉</m:t>
                        </m:r>
                      </m:e>
                      <m:sub>
                        <m:r>
                          <a:rPr lang="en-US" altLang="zh-CN" sz="2400" b="1" i="1">
                            <a:solidFill>
                              <a:srgbClr val="FF0000"/>
                            </a:solidFill>
                            <a:latin typeface="Cambria Math" pitchFamily="34" charset="0"/>
                            <a:ea typeface="Cambria Math" pitchFamily="34" charset="-122"/>
                            <a:cs typeface="Cambria Math" pitchFamily="34" charset="-120"/>
                          </a:rPr>
                          <m:t>𝟑</m:t>
                        </m:r>
                      </m:sub>
                    </m:sSub>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𝟐</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，故C正确.</a:t>
                </a:r>
                <a:endParaRPr lang="en-US" altLang="zh-CN" sz="2400" dirty="0"/>
              </a:p>
            </p:txBody>
          </p:sp>
        </mc:Choice>
        <mc:Fallback>
          <p:sp>
            <p:nvSpPr>
              <p:cNvPr id="9" name="QC_4_AS.11_1#f276c2f1d?vcp=1&amp;pid=81a80b1b3&amp;color=0,0,0&amp;vtp=1&amp;bbb=1&amp;hb=1"/>
              <p:cNvSpPr>
                <a:spLocks noRot="1" noChangeAspect="1" noMove="1" noResize="1" noEditPoints="1" noAdjustHandles="1" noChangeArrowheads="1" noChangeShapeType="1" noTextEdit="1"/>
              </p:cNvSpPr>
              <p:nvPr/>
            </p:nvSpPr>
            <p:spPr>
              <a:xfrm>
                <a:off x="393192" y="4401470"/>
                <a:ext cx="11402568" cy="1079500"/>
              </a:xfrm>
              <a:prstGeom prst="rect">
                <a:avLst/>
              </a:prstGeom>
              <a:blipFill>
                <a:blip r:embed="rId7"/>
                <a:stretch>
                  <a:fillRect l="-1658" r="-1337" b="-1751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bg/>
                                          </p:spTgt>
                                        </p:tgtEl>
                                        <p:attrNameLst>
                                          <p:attrName>style.visibility</p:attrName>
                                        </p:attrNameLst>
                                      </p:cBhvr>
                                      <p:to>
                                        <p:strVal val="visible"/>
                                      </p:to>
                                    </p:set>
                                    <p:animEffect transition="in" filter="wipe(left)">
                                      <p:cBhvr>
                                        <p:cTn id="15" dur="500"/>
                                        <p:tgtEl>
                                          <p:spTgt spid="9">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wipe(left)">
                                      <p:cBhvr>
                                        <p:cTn id="18" dur="500"/>
                                        <p:tgtEl>
                                          <p:spTgt spid="9">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wipe(left)">
                                      <p:cBhvr>
                                        <p:cTn id="21"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9"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p:pic>
        <p:nvPicPr>
          <p:cNvPr id="2" name="C_3#a1ffe6a5a?vcp=1&amp;pid=797fd896b&amp;color=0,0,0&amp;tib=255,255,255&amp;vtp=1" descr="preencoded.png"/>
          <p:cNvPicPr>
            <a:picLocks noChangeAspect="1"/>
          </p:cNvPicPr>
          <p:nvPr/>
        </p:nvPicPr>
        <p:blipFill>
          <a:blip r:embed="rId3"/>
          <a:stretch>
            <a:fillRect/>
          </a:stretch>
        </p:blipFill>
        <p:spPr>
          <a:xfrm>
            <a:off x="411480" y="502920"/>
            <a:ext cx="11320272" cy="466344"/>
          </a:xfrm>
          <a:prstGeom prst="rect">
            <a:avLst/>
          </a:prstGeom>
        </p:spPr>
      </p:pic>
      <p:sp>
        <p:nvSpPr>
          <p:cNvPr id="3" name="C_3_BD#a1ffe6a5a?vcp=1&amp;pid=797fd896b&amp;color=255,255,255&amp;vtp=1&amp;bt=1&amp;bbb=1"/>
          <p:cNvSpPr/>
          <p:nvPr/>
        </p:nvSpPr>
        <p:spPr>
          <a:xfrm>
            <a:off x="393192" y="502920"/>
            <a:ext cx="896112" cy="457200"/>
          </a:xfrm>
          <a:prstGeom prst="rect">
            <a:avLst/>
          </a:prstGeom>
          <a:noFill/>
          <a:ln/>
        </p:spPr>
        <p:txBody>
          <a:bodyPr wrap="none" lIns="0" tIns="0" rIns="0" bIns="0" rtlCol="0" anchor="ctr"/>
          <a:lstStyle/>
          <a:p>
            <a:pPr algn="ctr" latinLnBrk="1">
              <a:lnSpc>
                <a:spcPts val="3200"/>
              </a:lnSpc>
            </a:pPr>
            <a:r>
              <a:rPr lang="en-US" altLang="zh-CN" sz="2600" b="1" i="0" dirty="0">
                <a:solidFill>
                  <a:srgbClr val="FFFFFF"/>
                </a:solidFill>
                <a:latin typeface="SimHei" pitchFamily="34" charset="0"/>
                <a:ea typeface="SimHei" pitchFamily="34" charset="-122"/>
                <a:cs typeface="SimHei" pitchFamily="34" charset="-120"/>
              </a:rPr>
              <a:t>考点</a:t>
            </a:r>
            <a:endParaRPr lang="en-US" altLang="zh-CN" sz="2600" dirty="0"/>
          </a:p>
        </p:txBody>
      </p:sp>
      <p:sp>
        <p:nvSpPr>
          <p:cNvPr id="4" name="C_3_BD#a1ffe6a5a?vcp=1&amp;pid=797fd896b&amp;color=255,255,255&amp;vtp=1"/>
          <p:cNvSpPr/>
          <p:nvPr/>
        </p:nvSpPr>
        <p:spPr>
          <a:xfrm>
            <a:off x="1298448"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3</a:t>
            </a:r>
            <a:endParaRPr lang="en-US" altLang="zh-CN" sz="2800" dirty="0"/>
          </a:p>
        </p:txBody>
      </p:sp>
      <p:sp>
        <p:nvSpPr>
          <p:cNvPr id="5" name="C_3_BD#a1ffe6a5a?vcp=1&amp;pid=797fd896b&amp;color=0,0,0&amp;vtp=1&amp;bbb=1"/>
          <p:cNvSpPr/>
          <p:nvPr/>
        </p:nvSpPr>
        <p:spPr>
          <a:xfrm>
            <a:off x="1911096"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竖直上抛运动的特点及求解方法</a:t>
            </a:r>
            <a:endParaRPr lang="en-US" altLang="zh-CN" sz="2600" dirty="0"/>
          </a:p>
        </p:txBody>
      </p:sp>
      <p:pic>
        <p:nvPicPr>
          <p:cNvPr id="6" name="P_4_BD#63c6d651f?htil=3&amp;vcp=1&amp;pid=a1ffe6a5a&amp;color=0,0,0&amp;tib=255,255,255&amp;vtp=1&amp;hs=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6675433" y="1111504"/>
            <a:ext cx="5001768" cy="200253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7" name="P_4_BD#63c6d651f?htil=3&amp;vcp=1&amp;pid=a1ffe6a5a&amp;color=0,0,0&amp;vtp=1&amp;bbb=1&amp;hb=1&amp;hs=1"/>
              <p:cNvSpPr/>
              <p:nvPr/>
            </p:nvSpPr>
            <p:spPr>
              <a:xfrm>
                <a:off x="393192" y="965200"/>
                <a:ext cx="6263640" cy="21551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1.竖直上抛运动的两个特点</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1）对称性:如图所示，物体以初速度</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00" b="0" i="0" kern="0" spc="-99900">
                  <a:solidFill>
                    <a:srgbClr val="FFFFFF"/>
                  </a:solidFill>
                  <a:latin typeface="Times New Roman" pitchFamily="34" charset="0"/>
                  <a:ea typeface="微软雅黑" pitchFamily="34" charset="-122"/>
                  <a:cs typeface="Times New Roman" pitchFamily="34" charset="-120"/>
                </a:endParaRP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竖直上抛</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为途中的任意两点，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𝐶</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为最高</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点</a:t>
                </a:r>
                <a:r>
                  <a:rPr lang="en-US" altLang="zh-CN" sz="2400" b="0" i="0" dirty="0">
                    <a:solidFill>
                      <a:srgbClr val="000000"/>
                    </a:solidFill>
                    <a:latin typeface="Times New Roman" pitchFamily="34" charset="0"/>
                    <a:ea typeface="微软雅黑" pitchFamily="34" charset="-122"/>
                    <a:cs typeface="Times New Roman" pitchFamily="34" charset="-120"/>
                  </a:rPr>
                  <a:t>，则：</a:t>
                </a:r>
                <a:endParaRPr lang="en-US" altLang="zh-CN" sz="2400" dirty="0"/>
              </a:p>
            </p:txBody>
          </p:sp>
        </mc:Choice>
        <mc:Fallback>
          <p:sp>
            <p:nvSpPr>
              <p:cNvPr id="7" name="P_4_BD#63c6d651f?htil=3&amp;vcp=1&amp;pid=a1ffe6a5a&amp;color=0,0,0&amp;vtp=1&amp;bbb=1&amp;hb=1&amp;hs=1"/>
              <p:cNvSpPr>
                <a:spLocks noRot="1" noChangeAspect="1" noMove="1" noResize="1" noEditPoints="1" noAdjustHandles="1" noChangeArrowheads="1" noChangeShapeType="1" noTextEdit="1"/>
              </p:cNvSpPr>
              <p:nvPr/>
            </p:nvSpPr>
            <p:spPr>
              <a:xfrm>
                <a:off x="393192" y="965200"/>
                <a:ext cx="6263640" cy="2155190"/>
              </a:xfrm>
              <a:prstGeom prst="rect">
                <a:avLst/>
              </a:prstGeom>
              <a:blipFill>
                <a:blip r:embed="rId5"/>
                <a:stretch>
                  <a:fillRect l="-3019" r="-97" b="-8475"/>
                </a:stretch>
              </a:blipFill>
              <a:ln/>
            </p:spPr>
            <p:txBody>
              <a:bodyPr/>
              <a:lstStyle/>
              <a:p>
                <a:r>
                  <a:rPr lang="zh-CN" altLang="en-US">
                    <a:noFill/>
                  </a:rPr>
                  <a:t> </a:t>
                </a:r>
              </a:p>
            </p:txBody>
          </p:sp>
        </mc:Fallback>
      </mc:AlternateContent>
      <p:sp>
        <p:nvSpPr>
          <p:cNvPr id="8" name="P_4_BD#63c6d651f?vcp=1&amp;pid=a1ffe6a5a&amp;color=0,0,0&amp;vtp=1&amp;bbb=1&amp;hb=1&amp;hs=1"/>
          <p:cNvSpPr/>
          <p:nvPr/>
        </p:nvSpPr>
        <p:spPr>
          <a:xfrm>
            <a:off x="393192" y="3169920"/>
            <a:ext cx="11402568" cy="10374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（2）多解性：当物体经过抛出点上方某个位置时，可能处于上升阶段</a:t>
            </a:r>
            <a:r>
              <a:rPr lang="en-US" altLang="zh-CN" sz="2400" b="0" i="0">
                <a:solidFill>
                  <a:srgbClr val="000000"/>
                </a:solidFill>
                <a:latin typeface="Times New Roman" pitchFamily="34" charset="0"/>
                <a:ea typeface="微软雅黑" pitchFamily="34" charset="-122"/>
                <a:cs typeface="Times New Roman" pitchFamily="34" charset="-120"/>
              </a:rPr>
              <a:t>，也可能</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处于下降阶段</a:t>
            </a:r>
            <a:r>
              <a:rPr lang="en-US" altLang="zh-CN" sz="2400" b="0" i="0" dirty="0">
                <a:solidFill>
                  <a:srgbClr val="000000"/>
                </a:solidFill>
                <a:latin typeface="Times New Roman" pitchFamily="34" charset="0"/>
                <a:ea typeface="微软雅黑" pitchFamily="34" charset="-122"/>
                <a:cs typeface="Times New Roman" pitchFamily="34" charset="-120"/>
              </a:rPr>
              <a:t>，形成多解，在解决此类问题时要注意竖直上抛运动这个特性.</a:t>
            </a:r>
            <a:endParaRPr lang="en-US" altLang="zh-CN" sz="2400" dirty="0"/>
          </a:p>
        </p:txBody>
      </p:sp>
    </p:spTree>
  </p:cSld>
  <p:clrMapOvr>
    <a:masterClrMapping/>
  </p:clrMapOvr>
  <p:transition>
    <p:split dir="in"/>
  </p:transition>
</p:sld>
</file>

<file path=ppt/slides/slide15.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P_4_BD#63c6d651f?vcp=1&amp;pid=a1ffe6a5a&amp;color=0,0,0&amp;vtp=1&amp;bt=1&amp;bbb=1&amp;hb=1"/>
              <p:cNvSpPr/>
              <p:nvPr/>
            </p:nvSpPr>
            <p:spPr>
              <a:xfrm>
                <a:off x="393192" y="833913"/>
                <a:ext cx="11402568" cy="49449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2.竖直上抛运动的求解方法</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1）分段法：将运动全程分为两个阶段.</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①</a:t>
                </a:r>
                <a:r>
                  <a:rPr lang="en-US" altLang="zh-CN" sz="2400" b="0" i="0" dirty="0">
                    <a:solidFill>
                      <a:srgbClr val="000000"/>
                    </a:solidFill>
                    <a:latin typeface="Times New Roman" pitchFamily="34" charset="0"/>
                    <a:ea typeface="微软雅黑" pitchFamily="34" charset="-122"/>
                    <a:cs typeface="Times New Roman" pitchFamily="34" charset="-120"/>
                  </a:rPr>
                  <a:t>上升过程：匀减速直线运动过程.</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②</a:t>
                </a:r>
                <a:r>
                  <a:rPr lang="en-US" altLang="zh-CN" sz="2400" b="0" i="0" dirty="0">
                    <a:solidFill>
                      <a:srgbClr val="000000"/>
                    </a:solidFill>
                    <a:latin typeface="Times New Roman" pitchFamily="34" charset="0"/>
                    <a:ea typeface="微软雅黑" pitchFamily="34" charset="-122"/>
                    <a:cs typeface="Times New Roman" pitchFamily="34" charset="-120"/>
                  </a:rPr>
                  <a:t>下降过程：自由落体运动过程.</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2）全程法：取</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的方向为正方向，将全过程视为初速度为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、加速度为</a:t>
                </a:r>
              </a:p>
              <a:p>
                <a:pPr latinLnBrk="1">
                  <a:lnSpc>
                    <a:spcPts val="44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2400" b="0" i="0" dirty="0">
                    <a:solidFill>
                      <a:srgbClr val="000000"/>
                    </a:solidFill>
                    <a:latin typeface="Times New Roman" pitchFamily="34" charset="0"/>
                    <a:ea typeface="微软雅黑" pitchFamily="34" charset="-122"/>
                    <a:cs typeface="Times New Roman" pitchFamily="34" charset="-120"/>
                  </a:rPr>
                  <a:t>的匀变速直线运动，则有</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𝑔𝑡</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h</m:t>
                    </m:r>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r>
                      <a:rPr lang="en-US" altLang="zh-CN" sz="2400" b="0" i="0">
                        <a:solidFill>
                          <a:srgbClr val="000000"/>
                        </a:solidFill>
                        <a:latin typeface="Cambria Math" pitchFamily="34" charset="0"/>
                        <a:ea typeface="Cambria Math" pitchFamily="34" charset="-122"/>
                        <a:cs typeface="Cambria Math" pitchFamily="34" charset="-120"/>
                      </a:rPr>
                      <m:t>𝑡</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2</m:t>
                        </m:r>
                      </m:den>
                    </m:f>
                    <m:r>
                      <a:rPr lang="en-US" altLang="zh-CN" sz="2400" b="0" i="0">
                        <a:solidFill>
                          <a:srgbClr val="000000"/>
                        </a:solidFill>
                        <a:latin typeface="Cambria Math" pitchFamily="34" charset="0"/>
                        <a:ea typeface="Cambria Math" pitchFamily="34" charset="-122"/>
                        <a:cs typeface="Cambria Math" pitchFamily="34" charset="-120"/>
                      </a:rPr>
                      <m:t>𝑔</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𝑡</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此时要注意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h</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的矢量性及其意义：</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①</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r>
                      <a:rPr lang="en-US" altLang="zh-CN" sz="2400" b="0" i="0">
                        <a:solidFill>
                          <a:srgbClr val="000000"/>
                        </a:solidFill>
                        <a:latin typeface="Cambria Math" pitchFamily="34" charset="0"/>
                        <a:ea typeface="Cambria Math" pitchFamily="34" charset="-122"/>
                        <a:cs typeface="Cambria Math" pitchFamily="34" charset="-120"/>
                      </a:rPr>
                      <m:t>&gt;0</m:t>
                    </m:r>
                  </m:oMath>
                </a14:m>
                <a:r>
                  <a:rPr lang="en-US" altLang="zh-CN" sz="2400" b="0" i="0" dirty="0">
                    <a:solidFill>
                      <a:srgbClr val="000000"/>
                    </a:solidFill>
                    <a:latin typeface="Times New Roman" pitchFamily="34" charset="0"/>
                    <a:ea typeface="微软雅黑" pitchFamily="34" charset="-122"/>
                    <a:cs typeface="Times New Roman" pitchFamily="34" charset="-120"/>
                  </a:rPr>
                  <a:t>时，物体正在上升；</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r>
                      <a:rPr lang="en-US" altLang="zh-CN" sz="2400" b="0" i="0">
                        <a:solidFill>
                          <a:srgbClr val="000000"/>
                        </a:solidFill>
                        <a:latin typeface="Cambria Math" pitchFamily="34" charset="0"/>
                        <a:ea typeface="Cambria Math" pitchFamily="34" charset="-122"/>
                        <a:cs typeface="Cambria Math" pitchFamily="34" charset="-120"/>
                      </a:rPr>
                      <m:t>&lt;0</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时，物体正在下降.</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②</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h</m:t>
                    </m:r>
                    <m:r>
                      <a:rPr lang="en-US" altLang="zh-CN" sz="2400" b="0" i="0">
                        <a:solidFill>
                          <a:srgbClr val="000000"/>
                        </a:solidFill>
                        <a:latin typeface="Cambria Math" pitchFamily="34" charset="0"/>
                        <a:ea typeface="Cambria Math" pitchFamily="34" charset="-122"/>
                        <a:cs typeface="Cambria Math" pitchFamily="34" charset="-120"/>
                      </a:rPr>
                      <m:t>&gt;0</m:t>
                    </m:r>
                  </m:oMath>
                </a14:m>
                <a:r>
                  <a:rPr lang="en-US" altLang="zh-CN" sz="2400" b="0" i="0" dirty="0">
                    <a:solidFill>
                      <a:srgbClr val="000000"/>
                    </a:solidFill>
                    <a:latin typeface="Times New Roman" pitchFamily="34" charset="0"/>
                    <a:ea typeface="微软雅黑" pitchFamily="34" charset="-122"/>
                    <a:cs typeface="Times New Roman" pitchFamily="34" charset="-120"/>
                  </a:rPr>
                  <a:t>时，物体在抛出点上方；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h</m:t>
                    </m:r>
                    <m:r>
                      <a:rPr lang="en-US" altLang="zh-CN" sz="2400" b="0" i="0">
                        <a:solidFill>
                          <a:srgbClr val="000000"/>
                        </a:solidFill>
                        <a:latin typeface="Cambria Math" pitchFamily="34" charset="0"/>
                        <a:ea typeface="Cambria Math" pitchFamily="34" charset="-122"/>
                        <a:cs typeface="Cambria Math" pitchFamily="34" charset="-120"/>
                      </a:rPr>
                      <m:t>&lt;0</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时，物体在抛出点下方.</a:t>
                </a:r>
                <a:endParaRPr lang="en-US" altLang="zh-CN" sz="2400" dirty="0"/>
              </a:p>
            </p:txBody>
          </p:sp>
        </mc:Choice>
        <mc:Fallback>
          <p:sp>
            <p:nvSpPr>
              <p:cNvPr id="2" name="P_4_BD#63c6d651f?vcp=1&amp;pid=a1ffe6a5a&amp;color=0,0,0&amp;vtp=1&amp;bt=1&amp;bbb=1&amp;hb=1"/>
              <p:cNvSpPr>
                <a:spLocks noRot="1" noChangeAspect="1" noMove="1" noResize="1" noEditPoints="1" noAdjustHandles="1" noChangeArrowheads="1" noChangeShapeType="1" noTextEdit="1"/>
              </p:cNvSpPr>
              <p:nvPr/>
            </p:nvSpPr>
            <p:spPr>
              <a:xfrm>
                <a:off x="393192" y="833913"/>
                <a:ext cx="11402568" cy="4944999"/>
              </a:xfrm>
              <a:prstGeom prst="rect">
                <a:avLst/>
              </a:prstGeom>
              <a:blipFill>
                <a:blip r:embed="rId3"/>
                <a:stretch>
                  <a:fillRect b="-3699"/>
                </a:stretch>
              </a:blipFill>
              <a:ln/>
            </p:spPr>
            <p:txBody>
              <a:bodyPr/>
              <a:lstStyle/>
              <a:p>
                <a:r>
                  <a:rPr lang="zh-CN" altLang="en-US">
                    <a:noFill/>
                  </a:rPr>
                  <a:t> </a:t>
                </a:r>
              </a:p>
            </p:txBody>
          </p:sp>
        </mc:Fallback>
      </mc:AlternateContent>
    </p:spTree>
  </p:cSld>
  <p:clrMapOvr>
    <a:masterClrMapping/>
  </p:clrMapOvr>
  <p:transition>
    <p:split dir="in"/>
  </p:transition>
</p:sld>
</file>

<file path=ppt/slides/slide16.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O_4_BD.12_1#cae9839df?vcp=1&amp;pid=a1ffe6a5a&amp;color=0,0,0&amp;mp=1&amp;vtp=1&amp;bt=1&amp;bbb=1&amp;hb=1"/>
              <p:cNvSpPr/>
              <p:nvPr/>
            </p:nvSpPr>
            <p:spPr>
              <a:xfrm>
                <a:off x="393192" y="1046734"/>
                <a:ext cx="11402568" cy="1595628"/>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例3</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一个气球以</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的速度匀速竖直上升，气球下面系着一个重物</a:t>
                </a:r>
                <a:r>
                  <a:rPr lang="en-US" altLang="zh-CN" sz="2400" b="0" i="0">
                    <a:solidFill>
                      <a:srgbClr val="000000"/>
                    </a:solidFill>
                    <a:latin typeface="Times New Roman" pitchFamily="34" charset="0"/>
                    <a:ea typeface="微软雅黑" pitchFamily="34" charset="-122"/>
                    <a:cs typeface="Times New Roman" pitchFamily="34" charset="-120"/>
                  </a:rPr>
                  <a:t>，当气球上升到</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下面的重物离地面</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217</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时，系重物的绳断了.问</a:t>
                </a:r>
                <a:r>
                  <a:rPr lang="en-US" altLang="zh-CN" sz="2400" b="0" i="0">
                    <a:solidFill>
                      <a:srgbClr val="000000"/>
                    </a:solidFill>
                    <a:latin typeface="Times New Roman" pitchFamily="34" charset="0"/>
                    <a:ea typeface="微软雅黑" pitchFamily="34" charset="-122"/>
                    <a:cs typeface="Times New Roman" pitchFamily="34" charset="-120"/>
                  </a:rPr>
                  <a:t>：从这时起重物经过多长时间落到地</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面</a:t>
                </a:r>
                <a:r>
                  <a:rPr lang="en-US" altLang="zh-CN" sz="2400" b="0" i="0" dirty="0">
                    <a:solidFill>
                      <a:srgbClr val="000000"/>
                    </a:solidFill>
                    <a:latin typeface="Times New Roman" pitchFamily="34" charset="0"/>
                    <a:ea typeface="微软雅黑" pitchFamily="34" charset="-122"/>
                    <a:cs typeface="Times New Roman" pitchFamily="34" charset="-120"/>
                  </a:rPr>
                  <a:t>？重物着地时速度多大</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2400" b="0" i="0" dirty="0">
                    <a:solidFill>
                      <a:srgbClr val="000000"/>
                    </a:solidFill>
                    <a:latin typeface="Times New Roman" pitchFamily="34" charset="0"/>
                    <a:ea typeface="微软雅黑" pitchFamily="34" charset="-122"/>
                    <a:cs typeface="Times New Roman" pitchFamily="34" charset="-120"/>
                  </a:rPr>
                  <a:t>取</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O_4_BD.12_1#cae9839df?vcp=1&amp;pid=a1ffe6a5a&amp;color=0,0,0&amp;mp=1&amp;vtp=1&amp;bt=1&amp;bbb=1&amp;hb=1"/>
              <p:cNvSpPr>
                <a:spLocks noRot="1" noChangeAspect="1" noMove="1" noResize="1" noEditPoints="1" noAdjustHandles="1" noChangeArrowheads="1" noChangeShapeType="1" noTextEdit="1"/>
              </p:cNvSpPr>
              <p:nvPr/>
            </p:nvSpPr>
            <p:spPr>
              <a:xfrm>
                <a:off x="393192" y="1046734"/>
                <a:ext cx="11402568" cy="1595628"/>
              </a:xfrm>
              <a:prstGeom prst="rect">
                <a:avLst/>
              </a:prstGeom>
              <a:blipFill>
                <a:blip r:embed="rId3"/>
                <a:stretch>
                  <a:fillRect l="-1658" r="-428" b="-11494"/>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QO_4_AS.13_1#cae9839df?vcp=1&amp;pid=a1ffe6a5a&amp;color=0,0,0&amp;vtp=1&amp;bbb=1&amp;hb=1"/>
              <p:cNvSpPr/>
              <p:nvPr/>
            </p:nvSpPr>
            <p:spPr>
              <a:xfrm>
                <a:off x="393192" y="2640330"/>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绳未断时，重物随气球以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的速度匀速竖直上升.绳断后，由于惯性</a:t>
                </a:r>
                <a:r>
                  <a:rPr lang="en-US" altLang="zh-CN" sz="2400" b="1" i="0">
                    <a:solidFill>
                      <a:srgbClr val="FF0000"/>
                    </a:solidFill>
                    <a:latin typeface="Times New Roman" pitchFamily="34" charset="0"/>
                    <a:ea typeface="微软雅黑" pitchFamily="34" charset="-122"/>
                    <a:cs typeface="Times New Roman" pitchFamily="34" charset="-120"/>
                  </a:rPr>
                  <a:t>，物体</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将在离地面</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𝟐𝟏𝟕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处以初速度</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做竖直上抛运动，示意图如图所示.</a:t>
                </a:r>
                <a:endParaRPr lang="en-US" altLang="zh-CN" sz="2400" dirty="0"/>
              </a:p>
            </p:txBody>
          </p:sp>
        </mc:Choice>
        <mc:Fallback>
          <p:sp>
            <p:nvSpPr>
              <p:cNvPr id="3" name="QO_4_AS.13_1#cae9839df?vcp=1&amp;pid=a1ffe6a5a&amp;color=0,0,0&amp;vtp=1&amp;bbb=1&amp;hb=1"/>
              <p:cNvSpPr>
                <a:spLocks noRot="1" noChangeAspect="1" noMove="1" noResize="1" noEditPoints="1" noAdjustHandles="1" noChangeArrowheads="1" noChangeShapeType="1" noTextEdit="1"/>
              </p:cNvSpPr>
              <p:nvPr/>
            </p:nvSpPr>
            <p:spPr>
              <a:xfrm>
                <a:off x="393192" y="2640330"/>
                <a:ext cx="11402568" cy="1037400"/>
              </a:xfrm>
              <a:prstGeom prst="rect">
                <a:avLst/>
              </a:prstGeom>
              <a:blipFill>
                <a:blip r:embed="rId4"/>
                <a:stretch>
                  <a:fillRect l="-1658" r="-856" b="-17647"/>
                </a:stretch>
              </a:blipFill>
              <a:ln/>
            </p:spPr>
            <p:txBody>
              <a:bodyPr/>
              <a:lstStyle/>
              <a:p>
                <a:r>
                  <a:rPr lang="zh-CN" altLang="en-US">
                    <a:noFill/>
                  </a:rPr>
                  <a:t> </a:t>
                </a:r>
              </a:p>
            </p:txBody>
          </p:sp>
        </mc:Fallback>
      </mc:AlternateContent>
      <p:pic>
        <p:nvPicPr>
          <p:cNvPr id="4" name="QO_4_AS.13_2#cae9839df?vcp=1&amp;pid=a1ffe6a5a&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5504688" y="3807460"/>
            <a:ext cx="1179576" cy="2002536"/>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left)">
                                      <p:cBhvr>
                                        <p:cTn id="13" dur="500"/>
                                        <p:tgtEl>
                                          <p:spTgt spid="3">
                                            <p:txEl>
                                              <p:pRg st="1" end="1"/>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O_4_AS.13_3#cae9839df?vcp=1&amp;pid=a1ffe6a5a&amp;color=0,0,0&amp;vtp=1&amp;bt=1&amp;bbb=1"/>
              <p:cNvSpPr/>
              <p:nvPr/>
            </p:nvSpPr>
            <p:spPr>
              <a:xfrm>
                <a:off x="393192" y="1144492"/>
                <a:ext cx="11402568" cy="4314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方法一</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分段法</a:t>
                </a:r>
                <a:endParaRPr lang="en-US" altLang="zh-CN" sz="2400" dirty="0"/>
              </a:p>
              <a:p>
                <a:pPr latinLnBrk="1">
                  <a:lnSpc>
                    <a:spcPts val="5600"/>
                  </a:lnSpc>
                </a:pPr>
                <a:r>
                  <a:rPr lang="en-US" altLang="zh-CN" sz="2400" b="1" i="0">
                    <a:solidFill>
                      <a:srgbClr val="FF0000"/>
                    </a:solidFill>
                    <a:latin typeface="Times New Roman" pitchFamily="34" charset="0"/>
                    <a:ea typeface="微软雅黑" pitchFamily="34" charset="-122"/>
                    <a:cs typeface="Times New Roman" pitchFamily="34" charset="-120"/>
                  </a:rPr>
                  <a:t>上升阶段物体做匀减速运动</a:t>
                </a:r>
                <a:r>
                  <a:rPr lang="en-US" altLang="zh-CN" sz="2400" b="1" i="0" dirty="0">
                    <a:solidFill>
                      <a:srgbClr val="FF0000"/>
                    </a:solidFill>
                    <a:latin typeface="Times New Roman" pitchFamily="34" charset="0"/>
                    <a:ea typeface="微软雅黑" pitchFamily="34" charset="-122"/>
                    <a:cs typeface="Times New Roman" pitchFamily="34" charset="-120"/>
                  </a:rPr>
                  <a:t>，上升的最大高度</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𝒉</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Sup>
                          <m:sSub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Sup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up>
                            <m:r>
                              <a:rPr lang="en-US" altLang="zh-CN" sz="2400" b="1" i="1">
                                <a:solidFill>
                                  <a:srgbClr val="FF0000"/>
                                </a:solidFill>
                                <a:latin typeface="Cambria Math" pitchFamily="34" charset="0"/>
                                <a:ea typeface="Cambria Math" pitchFamily="34" charset="-122"/>
                                <a:cs typeface="Cambria Math" pitchFamily="34" charset="-120"/>
                              </a:rPr>
                              <m:t>𝟐</m:t>
                            </m:r>
                          </m:sup>
                        </m:sSubSup>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𝒈</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𝟖</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700"/>
                  </a:lnSpc>
                </a:pPr>
                <a:r>
                  <a:rPr lang="en-US" altLang="zh-CN" sz="2400" b="1" i="0">
                    <a:solidFill>
                      <a:srgbClr val="FF0000"/>
                    </a:solidFill>
                    <a:latin typeface="Times New Roman" pitchFamily="34" charset="0"/>
                    <a:ea typeface="微软雅黑" pitchFamily="34" charset="-122"/>
                    <a:cs typeface="Times New Roman" pitchFamily="34" charset="-120"/>
                  </a:rPr>
                  <a:t>上升到最高点所需的时间</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num>
                      <m:den>
                        <m:r>
                          <a:rPr lang="en-US" altLang="zh-CN" sz="2400" b="1" i="1">
                            <a:solidFill>
                              <a:srgbClr val="FF0000"/>
                            </a:solidFill>
                            <a:latin typeface="Cambria Math" pitchFamily="34" charset="0"/>
                            <a:ea typeface="Cambria Math" pitchFamily="34" charset="-122"/>
                            <a:cs typeface="Cambria Math" pitchFamily="34" charset="-120"/>
                          </a:rPr>
                          <m:t>𝒈</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下降阶段物体做自由落体运动</a:t>
                </a:r>
                <a:r>
                  <a:rPr lang="en-US" altLang="zh-CN" sz="2400" b="1" i="0" dirty="0">
                    <a:solidFill>
                      <a:srgbClr val="FF0000"/>
                    </a:solidFill>
                    <a:latin typeface="Times New Roman" pitchFamily="34" charset="0"/>
                    <a:ea typeface="微软雅黑" pitchFamily="34" charset="-122"/>
                    <a:cs typeface="Times New Roman" pitchFamily="34" charset="-120"/>
                  </a:rPr>
                  <a:t>，有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𝒉</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𝒉</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sSubSup>
                      <m:sSubSupPr>
                        <m:ctrlPr>
                          <a:rPr lang="en-US" altLang="zh-CN" sz="2400" b="1" i="1">
                            <a:solidFill>
                              <a:srgbClr val="FF0000"/>
                            </a:solidFill>
                            <a:latin typeface="Cambria Math" panose="02040503050406030204" pitchFamily="18" charset="0"/>
                            <a:ea typeface="Cambria Math" pitchFamily="34" charset="-122"/>
                            <a:cs typeface="Cambria Math" pitchFamily="34" charset="-120"/>
                          </a:rPr>
                        </m:ctrlPr>
                      </m:sSubSup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up>
                        <m:r>
                          <a:rPr lang="en-US" altLang="zh-CN" sz="2400" b="1" i="1">
                            <a:solidFill>
                              <a:srgbClr val="FF0000"/>
                            </a:solidFill>
                            <a:latin typeface="Cambria Math" pitchFamily="34" charset="0"/>
                            <a:ea typeface="Cambria Math" pitchFamily="34" charset="-122"/>
                            <a:cs typeface="Cambria Math" pitchFamily="34" charset="-120"/>
                          </a:rPr>
                          <m:t>𝟐</m:t>
                        </m:r>
                      </m:sup>
                    </m:sSub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6500"/>
                  </a:lnSpc>
                </a:pPr>
                <a:r>
                  <a:rPr lang="en-US" altLang="zh-CN" sz="2400" b="1" i="0">
                    <a:solidFill>
                      <a:srgbClr val="FF0000"/>
                    </a:solidFill>
                    <a:latin typeface="Times New Roman" pitchFamily="34" charset="0"/>
                    <a:ea typeface="微软雅黑" pitchFamily="34" charset="-122"/>
                    <a:cs typeface="Times New Roman" pitchFamily="34" charset="-120"/>
                  </a:rPr>
                  <a:t>则</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𝒉</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𝒉</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num>
                          <m:den>
                            <m:r>
                              <a:rPr lang="en-US" altLang="zh-CN" sz="2400" b="1" i="1">
                                <a:solidFill>
                                  <a:srgbClr val="FF0000"/>
                                </a:solidFill>
                                <a:latin typeface="Cambria Math" pitchFamily="34" charset="0"/>
                                <a:ea typeface="Cambria Math" pitchFamily="34" charset="-122"/>
                                <a:cs typeface="Cambria Math" pitchFamily="34" charset="-120"/>
                              </a:rPr>
                              <m:t>𝒈</m:t>
                            </m:r>
                          </m:den>
                        </m:f>
                      </m:e>
                    </m:rad>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故从绳断开始到重物着地所需的时间</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重物着地时的速度</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𝟔𝟔</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O_4_AS.13_3#cae9839df?vcp=1&amp;pid=a1ffe6a5a&amp;color=0,0,0&amp;vtp=1&amp;bt=1&amp;bbb=1"/>
              <p:cNvSpPr>
                <a:spLocks noRot="1" noChangeAspect="1" noMove="1" noResize="1" noEditPoints="1" noAdjustHandles="1" noChangeArrowheads="1" noChangeShapeType="1" noTextEdit="1"/>
              </p:cNvSpPr>
              <p:nvPr/>
            </p:nvSpPr>
            <p:spPr>
              <a:xfrm>
                <a:off x="393192" y="1144492"/>
                <a:ext cx="11402568" cy="4314000"/>
              </a:xfrm>
              <a:prstGeom prst="rect">
                <a:avLst/>
              </a:prstGeom>
              <a:blipFill>
                <a:blip r:embed="rId3"/>
                <a:stretch>
                  <a:fillRect l="-1658" b="-4243"/>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left)">
                                      <p:cBhvr>
                                        <p:cTn id="2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O_4_AS.13_4#cae9839df?vcp=1&amp;pid=a1ffe6a5a&amp;color=0,0,0&amp;mp=1&amp;vtp=1&amp;bt=1&amp;bbb=1"/>
              <p:cNvSpPr/>
              <p:nvPr/>
            </p:nvSpPr>
            <p:spPr>
              <a:xfrm>
                <a:off x="393192" y="1940655"/>
                <a:ext cx="11402568" cy="2739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方法二</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整体法</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以抛出点为坐标原点</a:t>
                </a:r>
                <a:r>
                  <a:rPr lang="en-US" altLang="zh-CN" sz="2400" b="1" i="0" dirty="0">
                    <a:solidFill>
                      <a:srgbClr val="FF0000"/>
                    </a:solidFill>
                    <a:latin typeface="Times New Roman" pitchFamily="34" charset="0"/>
                    <a:ea typeface="微软雅黑" pitchFamily="34" charset="-122"/>
                    <a:cs typeface="Times New Roman" pitchFamily="34" charset="-120"/>
                  </a:rPr>
                  <a:t>，取竖直向上为正方向，</a:t>
                </a:r>
                <a:endParaRPr lang="en-US" altLang="zh-CN" sz="2400" dirty="0"/>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由</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𝒉</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𝒉</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𝟐𝟏𝟕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得</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（不合题意，舍去）.</a:t>
                </a:r>
                <a:endParaRPr lang="en-US" altLang="zh-CN" sz="2400" dirty="0"/>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故</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𝟔𝟔</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，“-”表示着地时速度方向竖直向下.</a:t>
                </a:r>
                <a:endParaRPr lang="en-US" altLang="zh-CN" sz="2400" dirty="0"/>
              </a:p>
            </p:txBody>
          </p:sp>
        </mc:Choice>
        <mc:Fallback>
          <p:sp>
            <p:nvSpPr>
              <p:cNvPr id="2" name="QO_4_AS.13_4#cae9839df?vcp=1&amp;pid=a1ffe6a5a&amp;color=0,0,0&amp;mp=1&amp;vtp=1&amp;bt=1&amp;bbb=1"/>
              <p:cNvSpPr>
                <a:spLocks noRot="1" noChangeAspect="1" noMove="1" noResize="1" noEditPoints="1" noAdjustHandles="1" noChangeArrowheads="1" noChangeShapeType="1" noTextEdit="1"/>
              </p:cNvSpPr>
              <p:nvPr/>
            </p:nvSpPr>
            <p:spPr>
              <a:xfrm>
                <a:off x="393192" y="1940655"/>
                <a:ext cx="11402568" cy="2739200"/>
              </a:xfrm>
              <a:prstGeom prst="rect">
                <a:avLst/>
              </a:prstGeom>
              <a:blipFill>
                <a:blip r:embed="rId3"/>
                <a:stretch>
                  <a:fillRect l="-1658" b="-644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14_1#55e2f704a?vcp=1&amp;pid=a1ffe6a5a&amp;color=0,0,0&amp;vtp=1&amp;bt=1&amp;bbb=1&amp;hb=1"/>
              <p:cNvSpPr/>
              <p:nvPr/>
            </p:nvSpPr>
            <p:spPr>
              <a:xfrm>
                <a:off x="393192" y="1824577"/>
                <a:ext cx="11402568" cy="10333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变式3-1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（多选题）将一个小球以</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30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的初速度竖直向上抛出，空气阻力不计</a:t>
                </a:r>
                <a:r>
                  <a:rPr lang="en-US" altLang="zh-CN" sz="2400" b="0" i="0">
                    <a:solidFill>
                      <a:srgbClr val="000000"/>
                    </a:solidFill>
                    <a:latin typeface="Times New Roman" pitchFamily="34" charset="0"/>
                    <a:ea typeface="微软雅黑" pitchFamily="34" charset="-122"/>
                    <a:cs typeface="Times New Roman" pitchFamily="34" charset="-120"/>
                  </a:rPr>
                  <a:t>.重力</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加速度大小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,从小球抛出开始计时，取竖直向上为正方向，</a:t>
                </a:r>
                <a:r>
                  <a:rPr lang="en-US" altLang="zh-CN" sz="2400" b="0" i="0">
                    <a:solidFill>
                      <a:srgbClr val="000000"/>
                    </a:solidFill>
                    <a:latin typeface="Times New Roman" pitchFamily="34" charset="0"/>
                    <a:ea typeface="微软雅黑" pitchFamily="34" charset="-122"/>
                    <a:cs typeface="Times New Roman" pitchFamily="34" charset="-120"/>
                  </a:rPr>
                  <a:t>则(</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14_1#55e2f704a?vcp=1&amp;pid=a1ffe6a5a&amp;color=0,0,0&amp;vtp=1&amp;bt=1&amp;bbb=1&amp;hb=1"/>
              <p:cNvSpPr>
                <a:spLocks noRot="1" noChangeAspect="1" noMove="1" noResize="1" noEditPoints="1" noAdjustHandles="1" noChangeArrowheads="1" noChangeShapeType="1" noTextEdit="1"/>
              </p:cNvSpPr>
              <p:nvPr/>
            </p:nvSpPr>
            <p:spPr>
              <a:xfrm>
                <a:off x="393192" y="1824577"/>
                <a:ext cx="11402568" cy="1033399"/>
              </a:xfrm>
              <a:prstGeom prst="rect">
                <a:avLst/>
              </a:prstGeom>
              <a:blipFill>
                <a:blip r:embed="rId3"/>
                <a:stretch>
                  <a:fillRect l="-1658" r="-1016" b="-17647"/>
                </a:stretch>
              </a:blipFill>
              <a:ln/>
            </p:spPr>
            <p:txBody>
              <a:bodyPr/>
              <a:lstStyle/>
              <a:p>
                <a:r>
                  <a:rPr lang="zh-CN" altLang="en-US">
                    <a:noFill/>
                  </a:rPr>
                  <a:t> </a:t>
                </a:r>
              </a:p>
            </p:txBody>
          </p:sp>
        </mc:Fallback>
      </mc:AlternateContent>
      <p:sp>
        <p:nvSpPr>
          <p:cNvPr id="3" name="QC_4_AN.15_1#55e2f704a.bracket?vcp=1&amp;pid=a1ffe6a5a&amp;color=0,0,0&amp;vpa=4&amp;vtp=1&amp;bbb=1"/>
          <p:cNvSpPr/>
          <p:nvPr/>
        </p:nvSpPr>
        <p:spPr>
          <a:xfrm>
            <a:off x="10353897" y="2371947"/>
            <a:ext cx="661988"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AC</a:t>
            </a:r>
            <a:endParaRPr lang="en-US" altLang="zh-CN" sz="2400" dirty="0"/>
          </a:p>
        </p:txBody>
      </p:sp>
      <mc:AlternateContent xmlns:mc="http://schemas.openxmlformats.org/markup-compatibility/2006">
        <mc:Choice xmlns:a14="http://schemas.microsoft.com/office/drawing/2010/main" Requires="a14">
          <p:sp>
            <p:nvSpPr>
              <p:cNvPr id="4" name="QC_4_BD.14_2#55e2f704a.choices?vcp=1&amp;pid=a1ffe6a5a&amp;color=0,0,0&amp;vtp=1&amp;bbb=1"/>
              <p:cNvSpPr/>
              <p:nvPr/>
            </p:nvSpPr>
            <p:spPr>
              <a:xfrm>
                <a:off x="393192" y="2858103"/>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A.任意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内的速度变化量大小都是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.上升过程中相邻</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内的位移大小之差都是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3</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.位移大小为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时，经历的时间可能为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.小球在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0∼6</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时，速度方向和加速度方向相</a:t>
                </a:r>
                <a:endParaRPr lang="en-US" altLang="zh-CN" sz="2400" dirty="0"/>
              </a:p>
            </p:txBody>
          </p:sp>
        </mc:Choice>
        <mc:Fallback>
          <p:sp>
            <p:nvSpPr>
              <p:cNvPr id="4" name="QC_4_BD.14_2#55e2f704a.choices?vcp=1&amp;pid=a1ffe6a5a&amp;color=0,0,0&amp;vtp=1&amp;bbb=1"/>
              <p:cNvSpPr>
                <a:spLocks noRot="1" noChangeAspect="1" noMove="1" noResize="1" noEditPoints="1" noAdjustHandles="1" noChangeArrowheads="1" noChangeShapeType="1" noTextEdit="1"/>
              </p:cNvSpPr>
              <p:nvPr/>
            </p:nvSpPr>
            <p:spPr>
              <a:xfrm>
                <a:off x="393192" y="2858103"/>
                <a:ext cx="11402568" cy="2155000"/>
              </a:xfrm>
              <a:prstGeom prst="rect">
                <a:avLst/>
              </a:prstGeom>
              <a:blipFill>
                <a:blip r:embed="rId4"/>
                <a:stretch>
                  <a:fillRect l="-1658" b="-84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amp;si=20">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16_1#55e2f704a?vcp=1&amp;pid=a1ffe6a5a&amp;color=0,0,0&amp;vtp=1&amp;bt=1&amp;bbb=1&amp;hb=1"/>
              <p:cNvSpPr/>
              <p:nvPr/>
            </p:nvSpPr>
            <p:spPr>
              <a:xfrm>
                <a:off x="393192" y="1094899"/>
                <a:ext cx="11402568" cy="44918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小球做竖直上抛运动，加速度恒定为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𝒈</m:t>
                    </m:r>
                  </m:oMath>
                </a14:m>
                <a:r>
                  <a:rPr lang="en-US" altLang="zh-CN" sz="2400" b="1" i="0" dirty="0">
                    <a:solidFill>
                      <a:srgbClr val="FF0000"/>
                    </a:solidFill>
                    <a:latin typeface="Times New Roman" pitchFamily="34" charset="0"/>
                    <a:ea typeface="微软雅黑" pitchFamily="34" charset="-122"/>
                    <a:cs typeface="Times New Roman" pitchFamily="34" charset="-120"/>
                  </a:rPr>
                  <a:t>，根据</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𝒕</m:t>
                    </m:r>
                  </m:oMath>
                </a14:m>
                <a:r>
                  <a:rPr lang="en-US" altLang="zh-CN" sz="2400" b="1" i="0" dirty="0">
                    <a:solidFill>
                      <a:srgbClr val="FF0000"/>
                    </a:solidFill>
                    <a:latin typeface="Times New Roman" pitchFamily="34" charset="0"/>
                    <a:ea typeface="微软雅黑" pitchFamily="34" charset="-122"/>
                    <a:cs typeface="Times New Roman" pitchFamily="34" charset="-120"/>
                  </a:rPr>
                  <a:t>可知，任意</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内的速</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度变化量大小都是</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，故A正确；上升过程中相邻</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内的位移大小之差都是</a:t>
                </a:r>
              </a:p>
              <a:p>
                <a:pPr latinLnBrk="1">
                  <a:lnSpc>
                    <a:spcPts val="4400"/>
                  </a:lnSpc>
                </a:pP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𝚫</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m:t>
                        </m:r>
                      </m:e>
                      <m:sup>
                        <m:r>
                          <a:rPr lang="en-US" altLang="zh-CN" sz="2400" b="1" i="1">
                            <a:solidFill>
                              <a:srgbClr val="FF0000"/>
                            </a:solidFill>
                            <a:latin typeface="Cambria Math" pitchFamily="34" charset="0"/>
                            <a:ea typeface="Cambria Math" pitchFamily="34" charset="-122"/>
                            <a:cs typeface="Cambria Math" pitchFamily="34" charset="-120"/>
                          </a:rPr>
                          <m:t>𝟐</m:t>
                        </m:r>
                      </m:sup>
                    </m:sSup>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，故B错误；取竖直向上为正方向</a:t>
                </a:r>
                <a:r>
                  <a:rPr lang="en-US" altLang="zh-CN" sz="2400" b="1" i="0">
                    <a:solidFill>
                      <a:srgbClr val="FF0000"/>
                    </a:solidFill>
                    <a:latin typeface="Times New Roman" pitchFamily="34" charset="0"/>
                    <a:ea typeface="微软雅黑" pitchFamily="34" charset="-122"/>
                    <a:cs typeface="Times New Roman" pitchFamily="34" charset="-120"/>
                  </a:rPr>
                  <a:t>，当位移大小为</a:t>
                </a:r>
              </a:p>
              <a:p>
                <a:pPr latinLnBrk="1">
                  <a:lnSpc>
                    <a:spcPts val="46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时，根据</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，有</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𝟑𝟎</m:t>
                    </m:r>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或者</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，即经历的时间可能为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，故C正确</a:t>
                </a:r>
                <a:r>
                  <a:rPr lang="en-US" altLang="zh-CN" sz="2400" b="1" i="0">
                    <a:solidFill>
                      <a:srgbClr val="FF0000"/>
                    </a:solidFill>
                    <a:latin typeface="Times New Roman" pitchFamily="34" charset="0"/>
                    <a:ea typeface="微软雅黑" pitchFamily="34" charset="-122"/>
                    <a:cs typeface="Times New Roman" pitchFamily="34" charset="-120"/>
                  </a:rPr>
                  <a:t>；小球上升到最高点的时间为</a:t>
                </a:r>
              </a:p>
              <a:p>
                <a:pPr latinLnBrk="1">
                  <a:lnSpc>
                    <a:spcPts val="50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num>
                      <m:den>
                        <m:r>
                          <a:rPr lang="en-US" altLang="zh-CN" sz="2400" b="1" i="1">
                            <a:solidFill>
                              <a:srgbClr val="FF0000"/>
                            </a:solidFill>
                            <a:latin typeface="Cambria Math" pitchFamily="34" charset="0"/>
                            <a:ea typeface="Cambria Math" pitchFamily="34" charset="-122"/>
                            <a:cs typeface="Cambria Math" pitchFamily="34" charset="-120"/>
                          </a:rPr>
                          <m:t>𝒈</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𝟑𝟎</m:t>
                        </m:r>
                      </m:num>
                      <m:den>
                        <m:r>
                          <a:rPr lang="en-US" altLang="zh-CN" sz="2400" b="1" i="1">
                            <a:solidFill>
                              <a:srgbClr val="FF0000"/>
                            </a:solidFill>
                            <a:latin typeface="Cambria Math" pitchFamily="34" charset="0"/>
                            <a:ea typeface="Cambria Math" pitchFamily="34" charset="-122"/>
                            <a:cs typeface="Cambria Math" pitchFamily="34" charset="-120"/>
                          </a:rPr>
                          <m:t>𝟏𝟎</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，则小球在</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内，速度向上，加速度向下</a:t>
                </a:r>
                <a:r>
                  <a:rPr lang="en-US" altLang="zh-CN" sz="2400" b="1" i="0">
                    <a:solidFill>
                      <a:srgbClr val="FF0000"/>
                    </a:solidFill>
                    <a:latin typeface="Times New Roman" pitchFamily="34" charset="0"/>
                    <a:ea typeface="微软雅黑" pitchFamily="34" charset="-122"/>
                    <a:cs typeface="Times New Roman" pitchFamily="34" charset="-120"/>
                  </a:rPr>
                  <a:t>，速度方向和加速</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度方向相反</a:t>
                </a:r>
                <a:r>
                  <a:rPr lang="en-US" altLang="zh-CN" sz="2400" b="1" i="0" dirty="0">
                    <a:solidFill>
                      <a:srgbClr val="FF0000"/>
                    </a:solidFill>
                    <a:latin typeface="Times New Roman" pitchFamily="34" charset="0"/>
                    <a:ea typeface="微软雅黑" pitchFamily="34" charset="-122"/>
                    <a:cs typeface="Times New Roman" pitchFamily="34" charset="-120"/>
                  </a:rPr>
                  <a:t>，小球在</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内，速度向下，加速度向下，</a:t>
                </a:r>
                <a:r>
                  <a:rPr lang="en-US" altLang="zh-CN" sz="2400" b="1" i="0">
                    <a:solidFill>
                      <a:srgbClr val="FF0000"/>
                    </a:solidFill>
                    <a:latin typeface="Times New Roman" pitchFamily="34" charset="0"/>
                    <a:ea typeface="微软雅黑" pitchFamily="34" charset="-122"/>
                    <a:cs typeface="Times New Roman" pitchFamily="34" charset="-120"/>
                  </a:rPr>
                  <a:t>速度方向和加速度方向相同，</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故</a:t>
                </a:r>
                <a:r>
                  <a:rPr lang="en-US" altLang="zh-CN" sz="2400" b="1" i="0" dirty="0">
                    <a:solidFill>
                      <a:srgbClr val="FF0000"/>
                    </a:solidFill>
                    <a:latin typeface="Times New Roman" pitchFamily="34" charset="0"/>
                    <a:ea typeface="微软雅黑" pitchFamily="34" charset="-122"/>
                    <a:cs typeface="Times New Roman" pitchFamily="34" charset="-120"/>
                  </a:rPr>
                  <a:t>D错误.</a:t>
                </a:r>
                <a:endParaRPr lang="en-US" altLang="zh-CN" sz="2400" dirty="0"/>
              </a:p>
            </p:txBody>
          </p:sp>
        </mc:Choice>
        <mc:Fallback>
          <p:sp>
            <p:nvSpPr>
              <p:cNvPr id="2" name="QC_4_AS.16_1#55e2f704a?vcp=1&amp;pid=a1ffe6a5a&amp;color=0,0,0&amp;vtp=1&amp;bt=1&amp;bbb=1&amp;hb=1"/>
              <p:cNvSpPr>
                <a:spLocks noRot="1" noChangeAspect="1" noMove="1" noResize="1" noEditPoints="1" noAdjustHandles="1" noChangeArrowheads="1" noChangeShapeType="1" noTextEdit="1"/>
              </p:cNvSpPr>
              <p:nvPr/>
            </p:nvSpPr>
            <p:spPr>
              <a:xfrm>
                <a:off x="393192" y="1094899"/>
                <a:ext cx="11402568" cy="4491800"/>
              </a:xfrm>
              <a:prstGeom prst="rect">
                <a:avLst/>
              </a:prstGeom>
              <a:blipFill>
                <a:blip r:embed="rId3"/>
                <a:stretch>
                  <a:fillRect l="-1658" r="-3636" b="-4076"/>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left)">
                                      <p:cBhvr>
                                        <p:cTn id="28" dur="500"/>
                                        <p:tgtEl>
                                          <p:spTgt spid="2">
                                            <p:txEl>
                                              <p:pRg st="6" end="6"/>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Effect transition="in" filter="wipe(left)">
                                      <p:cBhvr>
                                        <p:cTn id="31"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amp;si=21">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1286</Words>
  <Application>Microsoft Office PowerPoint</Application>
  <PresentationFormat>宽屏</PresentationFormat>
  <Paragraphs>163</Paragraphs>
  <Slides>21</Slides>
  <Notes>21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SimHei</vt:lpstr>
      <vt:lpstr>KaiTi</vt:lpstr>
      <vt:lpstr>SimSun</vt:lpstr>
      <vt:lpstr>微软雅黑</vt:lpstr>
      <vt:lpstr>Arial</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2</cp:revision>
  <dcterms:created xsi:type="dcterms:W3CDTF">2026-05-25T08:07:39Z</dcterms:created>
  <dcterms:modified xsi:type="dcterms:W3CDTF">2026-05-25T08:09:00Z</dcterms:modified>
  <cp:category/>
  <cp:contentStatus/>
</cp:coreProperties>
</file>