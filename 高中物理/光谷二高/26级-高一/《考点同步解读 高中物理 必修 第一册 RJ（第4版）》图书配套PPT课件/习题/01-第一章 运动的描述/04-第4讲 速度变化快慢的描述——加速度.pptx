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4" r:id="rId18"/>
    <p:sldId id="275" r:id="rId19"/>
    <p:sldId id="27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6292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1.xml"/><Relationship Id="rId4" Type="http://schemas.openxmlformats.org/officeDocument/2006/relationships/slide" Target="../slides/slide9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5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1.xml"/><Relationship Id="rId4" Type="http://schemas.openxmlformats.org/officeDocument/2006/relationships/slide" Target="../slides/slide9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5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4c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12a88c36a,9f8439220,8d091ef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0a3b664da&amp;amp;cid=0a3b664da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ffae7ef3d&amp;amp;cid=ffae7ef3d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a40bae005&amp;amp;cid=a40bae005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f819cdeb7&amp;amp;cid=f819cdeb7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0?lid=231336eee&amp;amp;cid=231336eee&amp;amp;vtp=1">
            <a:hlinkClick r:id="rId6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3df1ffd8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6?lid=050ed2324&amp;amp;cid=050ed2324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6?lid=d6b833b88&amp;amp;cid=d6b833b88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6?lid=7c74c05c4&amp;amp;cid=7c74c05c4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77abfeaab,4bcc0bf73,e907104f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10?lid=e581053da&amp;amp;cid=e581053da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10?lid=896dc108e&amp;amp;cid=896dc108e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e2f39540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13?lid=2f4c21d9d&amp;amp;cid=2f4c21d9d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9f84392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第4讲 速度变化快慢的描述——加速度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12a88c36a,9f8439220,8d091ef99#df=9f84392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第4讲 速度变化快慢的描述——加速度</a:t>
            </a:r>
            <a:endParaRPr lang="en-US" sz="1800" dirty="0"/>
          </a:p>
        </p:txBody>
      </p:sp>
      <p:sp>
        <p:nvSpPr>
          <p:cNvPr id="5" name="C_0#auto_editor_catalog_0?lid=0a3b664da&amp;amp;cid=0a3b664da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ffae7ef3d&amp;amp;cid=ffae7ef3d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a40bae005&amp;amp;cid=a40bae005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f819cdeb7&amp;amp;cid=f819cdeb7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0?lid=231336eee&amp;amp;cid=231336eee&amp;amp;vtp=1">
            <a:hlinkClick r:id="rId6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3df1ffd8a#df=9f84392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第4讲 速度变化快慢的描述——加速度</a:t>
            </a:r>
            <a:endParaRPr lang="en-US" sz="1800" dirty="0"/>
          </a:p>
        </p:txBody>
      </p:sp>
      <p:sp>
        <p:nvSpPr>
          <p:cNvPr id="5" name="C_0#auto_editor_catalog_6?lid=050ed2324&amp;amp;cid=050ed2324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6?lid=d6b833b88&amp;amp;cid=d6b833b88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6?lid=7c74c05c4&amp;amp;cid=7c74c05c4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77abfeaab,4bcc0bf73,e907104fb#df=9f84392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第4讲 速度变化快慢的描述——加速度</a:t>
            </a:r>
            <a:endParaRPr lang="en-US" sz="1800" dirty="0"/>
          </a:p>
        </p:txBody>
      </p:sp>
      <p:sp>
        <p:nvSpPr>
          <p:cNvPr id="5" name="C_0#auto_editor_catalog_10?lid=e581053da&amp;amp;cid=e581053da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10?lid=896dc108e&amp;amp;cid=896dc108e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e2f39540a#df=9f84392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第4讲 速度变化快慢的描述——加速度</a:t>
            </a:r>
            <a:endParaRPr lang="en-US" sz="1800" dirty="0"/>
          </a:p>
        </p:txBody>
      </p:sp>
      <p:sp>
        <p:nvSpPr>
          <p:cNvPr id="5" name="C_0#auto_editor_catalog_13?lid=2f4c21d9d&amp;amp;cid=2f4c21d9d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9f8439220.fixed?vcp=1&amp;pid=12a88c36a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运动的描述</a:t>
            </a:r>
            <a:endParaRPr lang="en-US" altLang="zh-CN" sz="4800" dirty="0"/>
          </a:p>
        </p:txBody>
      </p:sp>
      <p:sp>
        <p:nvSpPr>
          <p:cNvPr id="3" name="C_2_BD#9f8439220.fixed?vcp=1&amp;pid=12a88c36a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速度变化快慢的描述——加速度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8d091ef99?vcp=1&amp;pid=9f8439220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4a28cc8da?vcp=1&amp;pid=8d091ef99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_1#0a3b664da?vcp=1&amp;pid=8d091ef99&amp;color=0,0,0&amp;vtp=1&amp;bbb=1&amp;hb=1"/>
              <p:cNvSpPr/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（2026·河南信阳高中检测）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小张同学现场观看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F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赛车比赛时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，看到赛车一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闪而过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，感叹“真快啊”；一段时间后赛车需要进入维修站，快速刹车停住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，小张又感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“真快啊”.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_1#0a3b664da?vcp=1&amp;pid=8d091ef9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444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_1#0a3b664da.bracket?vcp=1&amp;pid=8d091ef99&amp;color=0,0,0&amp;vpa=1&amp;vtp=1"/>
          <p:cNvSpPr/>
          <p:nvPr/>
        </p:nvSpPr>
        <p:spPr>
          <a:xfrm>
            <a:off x="4629435" y="26968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6" name="QC_4_BD.1_2#0a3b664da.choices?vcp=1&amp;pid=8d091ef99&amp;color=0,0,0&amp;vtp=1&amp;bbb=1"/>
          <p:cNvSpPr/>
          <p:nvPr/>
        </p:nvSpPr>
        <p:spPr>
          <a:xfrm>
            <a:off x="393192" y="3240786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A.第一个“真快”是描述速度变化大；第二个“真快”是描述速度大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.第一个“真快”是描述速度大；第二个“真快”是描述速度变化大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.第一个“真快”是描述速度大；第二个“真快”是描述速度变化快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.第一个“真快”是描述速度变化快；第二个“真快”是描述速度大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3_1#ffae7ef3d?vcp=1&amp;pid=8d091ef99&amp;color=0,0,0&amp;vtp=1&amp;bt=1&amp;bbb=1&amp;hb=1"/>
              <p:cNvSpPr/>
              <p:nvPr/>
            </p:nvSpPr>
            <p:spPr>
              <a:xfrm>
                <a:off x="393192" y="1414336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汽车的初速度是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，经过一段时间后速度变为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时间内速度的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变化量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.为了在图中表示加速度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，我们以初速度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的箭头端为起点，以速度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的箭头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端为终点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，作出一个新的箭头，表示速度的变化量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.下列图示中能正确表示汽车做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减速运动的是(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3_1#ffae7ef3d?vcp=1&amp;pid=8d091ef9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14336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658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4_1#ffae7ef3d.bracket?vcp=1&amp;pid=8d091ef99&amp;color=0,0,0&amp;vpa=2&amp;vtp=1"/>
          <p:cNvSpPr/>
          <p:nvPr/>
        </p:nvSpPr>
        <p:spPr>
          <a:xfrm>
            <a:off x="2454561" y="3079306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sp>
        <p:nvSpPr>
          <p:cNvPr id="4" name="QC_4_BD.3_2#ffae7ef3d.choices?vcp=1&amp;pid=8d091ef99&amp;color=0,0,0&amp;vtp=1&amp;bbb=1"/>
          <p:cNvSpPr/>
          <p:nvPr/>
        </p:nvSpPr>
        <p:spPr>
          <a:xfrm>
            <a:off x="393192" y="3681031"/>
            <a:ext cx="11402568" cy="174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6600"/>
              </a:lnSpc>
              <a:tabLst>
                <a:tab pos="5807954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</a:t>
            </a:r>
            <a:r>
              <a:rPr lang="en-US" altLang="zh-CN" sz="36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</a:t>
            </a:r>
            <a:r>
              <a:rPr lang="en-US" altLang="zh-CN" sz="36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         </a:t>
            </a:r>
            <a:endParaRPr lang="en-US" altLang="zh-CN" sz="900" dirty="0">
              <a:latin typeface="SimSun" panose="02010600030101010101" pitchFamily="2" charset="-122"/>
            </a:endParaRPr>
          </a:p>
          <a:p>
            <a:pPr latinLnBrk="1">
              <a:lnSpc>
                <a:spcPts val="8100"/>
              </a:lnSpc>
              <a:tabLst>
                <a:tab pos="5807954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</a:t>
            </a:r>
            <a:r>
              <a:rPr lang="en-US" altLang="zh-CN" sz="45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D.</a:t>
            </a:r>
            <a:r>
              <a:rPr lang="en-US" altLang="zh-CN" sz="45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         </a:t>
            </a:r>
            <a:endParaRPr lang="en-US" altLang="zh-CN" sz="900" dirty="0">
              <a:latin typeface="SimSun" panose="02010600030101010101" pitchFamily="2" charset="-122"/>
            </a:endParaRPr>
          </a:p>
        </p:txBody>
      </p:sp>
      <p:pic>
        <p:nvPicPr>
          <p:cNvPr id="5" name="QC_4_BD.3_2#ffae7ef3d.choice_image?vcp=1&amp;pid=8d091ef99&amp;color=0,0,0&amp;tib=255,255,255&amp;iip=1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2659" y="3682174"/>
            <a:ext cx="2432304" cy="832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6" name="QC_4_BD.3_2#ffae7ef3d.choice_image?vcp=1&amp;pid=8d091ef99&amp;color=0,0,0&amp;tib=255,255,255&amp;iip=2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83763" y="3686746"/>
            <a:ext cx="2450592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7" name="QC_4_BD.3_2#ffae7ef3d.choice_image?vcp=1&amp;pid=8d091ef99&amp;color=0,0,0&amp;tib=255,255,255&amp;iip=3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5197" y="4528692"/>
            <a:ext cx="2432304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QC_4_BD.3_2#ffae7ef3d.choice_image?vcp=1&amp;pid=8d091ef99&amp;color=0,0,0&amp;tib=255,255,255&amp;iip=4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01226" y="4528692"/>
            <a:ext cx="245059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BD.5_1#a40bae005?vcp=1&amp;pid=8d091ef99&amp;color=0,0,0&amp;vtp=1&amp;bt=1&amp;bbb=1"/>
          <p:cNvSpPr/>
          <p:nvPr/>
        </p:nvSpPr>
        <p:spPr>
          <a:xfrm>
            <a:off x="393192" y="502921"/>
            <a:ext cx="11402568" cy="474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考点1、2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（多选题）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下列说法中正确的是(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4_AN.6_1#a40bae005.bracket?vcp=1&amp;pid=8d091ef99&amp;color=0,0,0&amp;vpa=3&amp;vtp=1&amp;bbb=1"/>
          <p:cNvSpPr/>
          <p:nvPr/>
        </p:nvSpPr>
        <p:spPr>
          <a:xfrm>
            <a:off x="6672550" y="494221"/>
            <a:ext cx="8651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ABD</a:t>
            </a:r>
            <a:endParaRPr lang="en-US" altLang="zh-CN" sz="2400" dirty="0"/>
          </a:p>
        </p:txBody>
      </p:sp>
      <p:sp>
        <p:nvSpPr>
          <p:cNvPr id="4" name="QC_4_BD.5_2#a40bae005.choices?vcp=1&amp;pid=8d091ef99&amp;color=0,0,0&amp;vtp=1&amp;bbb=1"/>
          <p:cNvSpPr/>
          <p:nvPr/>
        </p:nvSpPr>
        <p:spPr>
          <a:xfrm>
            <a:off x="393192" y="1043558"/>
            <a:ext cx="11402568" cy="2116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A.加速度越大，单位时间内质点速度的变化量越大</a:t>
            </a:r>
            <a:endParaRPr lang="en-US" altLang="zh-CN" sz="2400" dirty="0"/>
          </a:p>
          <a:p>
            <a:pPr latinLnBrk="1">
              <a:lnSpc>
                <a:spcPts val="43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.某一时刻的速度为0，有可能加速度不为0</a:t>
            </a:r>
            <a:endParaRPr lang="en-US" altLang="zh-CN" sz="2400" dirty="0"/>
          </a:p>
          <a:p>
            <a:pPr latinLnBrk="1">
              <a:lnSpc>
                <a:spcPts val="43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.速度变化越来越快，加速度有可能越来越小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.速度的变化量相同，加速度越大，则所用的时间越短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7_1#f819cdeb7?vcp=1&amp;pid=8d091ef99&amp;color=0,0,0&amp;vtp=1&amp;bbb=1&amp;hb=1"/>
              <p:cNvSpPr/>
              <p:nvPr/>
            </p:nvSpPr>
            <p:spPr>
              <a:xfrm>
                <a:off x="393192" y="3161030"/>
                <a:ext cx="11402568" cy="10206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（多选题）根据给出的初速度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的正负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，对下列物体做直线运动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的描述判断正确的是(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7_1#f819cdeb7?vcp=1&amp;pid=8d091ef9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61030"/>
                <a:ext cx="11402568" cy="1020699"/>
              </a:xfrm>
              <a:prstGeom prst="rect">
                <a:avLst/>
              </a:prstGeom>
              <a:blipFill>
                <a:blip r:embed="rId3"/>
                <a:stretch>
                  <a:fillRect l="-1658" r="-107" b="-1796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C_4_AN.8_1#f819cdeb7.bracket?vcp=1&amp;pid=8d091ef99&amp;color=0,0,0&amp;vpa=4&amp;vtp=1&amp;bbb=1"/>
          <p:cNvSpPr/>
          <p:nvPr/>
        </p:nvSpPr>
        <p:spPr>
          <a:xfrm>
            <a:off x="3394360" y="3698430"/>
            <a:ext cx="8651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7_2#f819cdeb7.choices?vcp=1&amp;pid=8d091ef99&amp;color=0,0,0&amp;vtp=1&amp;bbb=1"/>
              <p:cNvSpPr/>
              <p:nvPr/>
            </p:nvSpPr>
            <p:spPr>
              <a:xfrm>
                <a:off x="393192" y="4182173"/>
                <a:ext cx="11402568" cy="2116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，物体先做加速运动，后反向做减速运动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,物体做加速运动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,物体先做减速运动，后反向做加速运动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,物体做匀速直线运动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7_2#f819cdeb7.choices?vcp=1&amp;pid=8d091ef99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82173"/>
                <a:ext cx="11402568" cy="2116900"/>
              </a:xfrm>
              <a:prstGeom prst="rect">
                <a:avLst/>
              </a:prstGeom>
              <a:blipFill>
                <a:blip r:embed="rId4"/>
                <a:stretch>
                  <a:fillRect l="-1658" b="-864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BD.9_1#231336eee?vcp=1&amp;pid=8d091ef99&amp;color=0,0,0&amp;vtp=1&amp;bt=1&amp;bbb=1&amp;hb=1"/>
          <p:cNvSpPr/>
          <p:nvPr/>
        </p:nvSpPr>
        <p:spPr>
          <a:xfrm>
            <a:off x="393192" y="504000"/>
            <a:ext cx="11402568" cy="94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0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5.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考点2、3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（2026·安徽合肥一中检测</a:t>
            </a:r>
            <a:r>
              <a:rPr lang="en-US" altLang="zh-CN" sz="2400" b="0" i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下表所示为一些生活中运动物体的加速度</a:t>
            </a:r>
          </a:p>
          <a:p>
            <a:pPr latinLnBrk="1">
              <a:lnSpc>
                <a:spcPts val="38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近似值）.关于这些运动物体的加速度、速度、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速度变化量的说法正确的是(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QC_4_BD.9_2#231336eee?colgroup=8,11,6,8&amp;vcp=1&amp;pid=8d091ef99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2929165"/>
                  </p:ext>
                </p:extLst>
              </p:nvPr>
            </p:nvGraphicFramePr>
            <p:xfrm>
              <a:off x="393192" y="1576198"/>
              <a:ext cx="11338560" cy="2077085"/>
            </p:xfrm>
            <a:graphic>
              <a:graphicData uri="http://schemas.openxmlformats.org/drawingml/2006/table">
                <a:tbl>
                  <a:tblPr/>
                  <a:tblGrid>
                    <a:gridCol w="28254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295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488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8346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1460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运动物体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9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/(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m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s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−2</m:t>
                                  </m:r>
                                </m:sup>
                              </m:sSup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运动物体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9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/(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m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s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−2</m:t>
                                  </m:r>
                                </m:sup>
                              </m:sSup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0827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子弹在枪筒中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5×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赛车起步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4.5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0827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伞兵着陆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−25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汽车起步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0827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汽车急刹车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−5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高铁起步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0.35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QC_4_BD.9_2#231336eee?colgroup=8,11,6,8&amp;vcp=1&amp;pid=8d091ef99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2929165"/>
                  </p:ext>
                </p:extLst>
              </p:nvPr>
            </p:nvGraphicFramePr>
            <p:xfrm>
              <a:off x="393192" y="1576198"/>
              <a:ext cx="11338560" cy="2077085"/>
            </p:xfrm>
            <a:graphic>
              <a:graphicData uri="http://schemas.openxmlformats.org/drawingml/2006/table">
                <a:tbl>
                  <a:tblPr/>
                  <a:tblGrid>
                    <a:gridCol w="28254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295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488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8346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1460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运动物体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311" t="-1176" r="-141623" b="-3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运动物体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430" t="-1176" r="-430" b="-3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0827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子弹在枪筒中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311" t="-101176" r="-141623" b="-2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赛车起步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4.5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0827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伞兵着陆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311" t="-198837" r="-141623" b="-126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汽车起步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0827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汽车急刹车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311" t="-298837" r="-141623" b="-26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高铁起步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0.35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QC_4_AN.10_1#231336eee.bracket?vcp=1&amp;pid=8d091ef99&amp;color=0,0,0&amp;vpa=5&amp;vtp=1"/>
          <p:cNvSpPr/>
          <p:nvPr/>
        </p:nvSpPr>
        <p:spPr>
          <a:xfrm>
            <a:off x="10760361" y="995363"/>
            <a:ext cx="441325" cy="44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8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9_3#231336eee.choices?vcp=1&amp;pid=8d091ef99&amp;color=0,0,0&amp;vtp=1&amp;bbb=1&amp;hb=1"/>
              <p:cNvSpPr/>
              <p:nvPr/>
            </p:nvSpPr>
            <p:spPr>
              <a:xfrm>
                <a:off x="393192" y="3785998"/>
                <a:ext cx="11402568" cy="248221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0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A.子弹的加速度最大，所以子弹在任何时刻的速度均大于表中其他物体的速度</a:t>
                </a:r>
                <a:endParaRPr lang="en-US" altLang="zh-CN" sz="2400" dirty="0"/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.伞兵着陆过程的加速度为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−25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,是表中加速度最小的</a:t>
                </a:r>
                <a:endParaRPr lang="en-US" altLang="zh-CN" sz="2400" dirty="0"/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.高铁起步的加速度为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0.35</m:t>
                    </m:r>
                    <m:r>
                      <m:rPr>
                        <m:nor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spc="-5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,表示此过程中每经过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高铁的速度增加量为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0.35</m:t>
                    </m:r>
                    <m:r>
                      <m:rPr>
                        <m:nor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.汽车急刹车的加速度为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,故任何运动物体只要做减速运动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，其加速度一定为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负值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9_3#231336eee.choices?vcp=1&amp;pid=8d091ef9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85998"/>
                <a:ext cx="11402568" cy="2482215"/>
              </a:xfrm>
              <a:prstGeom prst="rect">
                <a:avLst/>
              </a:prstGeom>
              <a:blipFill>
                <a:blip r:embed="rId4"/>
                <a:stretch>
                  <a:fillRect l="-1658" r="-535" b="-737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3df1ffd8a?vcp=1&amp;pid=9f8439220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f0d0a6b67?vcp=1&amp;pid=3df1ffd8a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限时15分钟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1_1#050ed2324?vcp=1&amp;pid=3df1ffd8a&amp;color=0,0,0&amp;vtp=1&amp;bbb=1&amp;hb=1"/>
              <p:cNvSpPr/>
              <p:nvPr/>
            </p:nvSpPr>
            <p:spPr>
              <a:xfrm>
                <a:off x="393192" y="164928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［经典高考题改编］（多选题）一物体做加速度不变的直线运动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，某时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刻速度的大小为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后速度的大小为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内该物体的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）.(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1_1#050ed2324?vcp=1&amp;pid=3df1ffd8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12_1#050ed2324.bracket?vcp=1&amp;pid=3df1ffd8a&amp;color=0,0,0&amp;vpa=6&amp;vtp=1&amp;bbb=1"/>
          <p:cNvSpPr/>
          <p:nvPr/>
        </p:nvSpPr>
        <p:spPr>
          <a:xfrm>
            <a:off x="10341261" y="2196655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11_2#050ed2324.choices?vcp=1&amp;pid=3df1ffd8a&amp;color=0,0,0&amp;vtp=1&amp;bbb=1"/>
              <p:cNvSpPr/>
              <p:nvPr/>
            </p:nvSpPr>
            <p:spPr>
              <a:xfrm>
                <a:off x="393192" y="2694305"/>
                <a:ext cx="11402568" cy="10274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A.速度变化量的大小可能大于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.速度变化量的大小可能小于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.加速度的大小可能大于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.加速度的大小可能小于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11_2#050ed2324.choices?vcp=1&amp;pid=3df1ffd8a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94305"/>
                <a:ext cx="11402568" cy="1027430"/>
              </a:xfrm>
              <a:prstGeom prst="rect">
                <a:avLst/>
              </a:prstGeom>
              <a:blipFill>
                <a:blip r:embed="rId4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3_1#050ed2324?vcp=1&amp;pid=3df1ffd8a&amp;color=0,0,0&amp;vtp=1&amp;bt=1&amp;bbb=1&amp;hb=1"/>
              <p:cNvSpPr/>
              <p:nvPr/>
            </p:nvSpPr>
            <p:spPr>
              <a:xfrm>
                <a:off x="393192" y="1545495"/>
                <a:ext cx="11402568" cy="3374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题中只给出了初、末速度的大小，这就隐含了初、末速度的方向可能相同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，也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可能相反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.若初、末速度方向相同，则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末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初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；若初、末速度方向相反，取初速度方向为正方向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末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zh-CN" altLang="en-US" sz="2400" b="1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速度变化量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末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初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，负号说明加速度的方向与初速度方向相反.所以选项A、C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3_1#050ed2324?vcp=1&amp;pid=3df1ffd8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45495"/>
                <a:ext cx="11402568" cy="3374200"/>
              </a:xfrm>
              <a:prstGeom prst="rect">
                <a:avLst/>
              </a:prstGeom>
              <a:blipFill>
                <a:blip r:embed="rId3"/>
                <a:stretch>
                  <a:fillRect l="-1658" r="-1070" b="-542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4_1#d6b833b88?vcp=1&amp;pid=3df1ffd8a&amp;color=0,0,0&amp;vtp=1&amp;bt=1&amp;bbb=1&amp;hb=1"/>
              <p:cNvSpPr/>
              <p:nvPr/>
            </p:nvSpPr>
            <p:spPr>
              <a:xfrm>
                <a:off x="393192" y="1513872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歼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−20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是我国自行研制的一款具备高隐身性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、高机动性的隐形第五代制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空战斗机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.在执行某次飞行任务时，歼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−20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战斗机由静止开始做加速直线运动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，当加速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度逐渐减小至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0时，战斗机刚好起飞.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则此过程中该战斗机的(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4_1#d6b833b88?vcp=1&amp;pid=3df1ffd8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13872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802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5_1#d6b833b88.bracket?vcp=1&amp;pid=3df1ffd8a&amp;color=0,0,0&amp;vpa=7&amp;vtp=1"/>
          <p:cNvSpPr/>
          <p:nvPr/>
        </p:nvSpPr>
        <p:spPr>
          <a:xfrm>
            <a:off x="8487061" y="2620042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sp>
        <p:nvSpPr>
          <p:cNvPr id="4" name="QC_4_BD.14_2#d6b833b88.choices?vcp=1&amp;pid=3df1ffd8a&amp;color=0,0,0&amp;vtp=1&amp;bbb=1"/>
          <p:cNvSpPr/>
          <p:nvPr/>
        </p:nvSpPr>
        <p:spPr>
          <a:xfrm>
            <a:off x="393192" y="3170078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A.速度增大，位移减小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.速度增大，当加速度减小至0时，速度达到最大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.位移逐渐增大，当加速度减小至0时，位移将不再增大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.加速度方向与速度方向相反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6_1#d6b833b88?vcp=1&amp;pid=3df1ffd8a&amp;color=0,0,0&amp;vtp=1&amp;bt=1&amp;bbb=1&amp;hb=1"/>
              <p:cNvSpPr/>
              <p:nvPr/>
            </p:nvSpPr>
            <p:spPr>
              <a:xfrm>
                <a:off x="393192" y="1504696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歼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战斗机由静止开始做加速直线运动，加速度方向与速度方向相同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，虽然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加速度逐渐减小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，但战斗机的速度始终在增加（如图），当加速度减小为0时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达到最大值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.由于战斗机的速度方向未改变，所以位移逐渐增大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，此后只要战斗机的速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度方向不变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，其位移将始终增大.故A、C、D错误，B正确.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6_1#d6b833b88?vcp=1&amp;pid=3df1ffd8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04696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r="-1230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16_2#d6b833b88?vcp=1&amp;pid=3df1ffd8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66944" y="3771392"/>
            <a:ext cx="1645920" cy="158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7_1#7c74c05c4?vcp=1&amp;pid=3df1ffd8a&amp;color=0,0,0&amp;vtp=1&amp;bt=1&amp;bbb=1&amp;hb=1"/>
              <p:cNvSpPr/>
              <p:nvPr/>
            </p:nvSpPr>
            <p:spPr>
              <a:xfrm>
                <a:off x="393192" y="1272127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考点4、5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（2026·湖南长沙雅礼中学检测）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）高层建筑室外玻璃清洗风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险较大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，工人身上都绑有安全带，安全带上有救生缓降器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.工人从高处通过缓降器返回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地面全过程的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图像如图所示，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时刻工人的速度达到最大值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,下列说法正确的是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7_1#7c74c05c4?vcp=1&amp;pid=3df1ffd8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2127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230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8_1#7c74c05c4.bracket?vcp=1&amp;pid=3df1ffd8a&amp;color=0,0,0&amp;vpa=8&amp;vtp=1&amp;bbb=1"/>
          <p:cNvSpPr/>
          <p:nvPr/>
        </p:nvSpPr>
        <p:spPr>
          <a:xfrm>
            <a:off x="676560" y="2937097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</a:t>
            </a:r>
            <a:endParaRPr lang="en-US" altLang="zh-CN" sz="2400" dirty="0"/>
          </a:p>
        </p:txBody>
      </p:sp>
      <p:pic>
        <p:nvPicPr>
          <p:cNvPr id="4" name="QC_4_BD.17_2#7c74c05c4?htil=1&amp;vcp=1&amp;pid=3df1ffd8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87095" y="3457542"/>
            <a:ext cx="2734056" cy="180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7_3#7c74c05c4.choices?htil=1&amp;vcp=1&amp;pid=3df1ffd8a&amp;color=0,0,0&amp;vtp=1&amp;bbb=1"/>
              <p:cNvSpPr/>
              <p:nvPr/>
            </p:nvSpPr>
            <p:spPr>
              <a:xfrm>
                <a:off x="393192" y="3411822"/>
                <a:ext cx="8531352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时间内工人做加速度减小的加速运动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时间内工人做加速度增大的减速运动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时刻工人的加速度为0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时间内工人做加速度减小的减速运动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7_3#7c74c05c4.choices?htil=1&amp;vcp=1&amp;pid=3df1ffd8a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1822"/>
                <a:ext cx="8531352" cy="2155000"/>
              </a:xfrm>
              <a:prstGeom prst="rect">
                <a:avLst/>
              </a:prstGeom>
              <a:blipFill>
                <a:blip r:embed="rId5"/>
                <a:stretch>
                  <a:fillRect l="-2216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9_1#7c74c05c4?vcp=1&amp;pid=3df1ffd8a&amp;color=0,0,0&amp;vtp=1&amp;bt=1&amp;bbb=1&amp;hb=1"/>
              <p:cNvSpPr/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图线切线的斜率表示加速度，由题图可知，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时间内速度逐渐增大，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图线斜率减小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时间内工人做加速度减小的加速运动，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时刻工人的加速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度减小到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0，速度达到最大，A、C正确；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时间内速度逐渐减小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，图线斜率先增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大后减小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时间内工人先做加速度增大的减速运动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，后做加速度减小的减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，B、D错误.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9_1#7c74c05c4?vcp=1&amp;pid=3df1ffd8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1497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77abfeaab?vcp=1&amp;pid=9f8439220&amp;color=0,0,0&amp;vtp=1&amp;bt=1&amp;bbb=1"/>
          <p:cNvSpPr/>
          <p:nvPr/>
        </p:nvSpPr>
        <p:spPr>
          <a:xfrm>
            <a:off x="393192" y="502920"/>
            <a:ext cx="11402568" cy="51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5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易错考点针对练</a:t>
            </a:r>
            <a:endParaRPr lang="en-US" altLang="zh-CN" sz="2600" dirty="0"/>
          </a:p>
        </p:txBody>
      </p:sp>
      <p:sp>
        <p:nvSpPr>
          <p:cNvPr id="3" name="P_4_BD#a924e3567?vcp=1&amp;pid=77abfeaab&amp;color=0,0,0&amp;vtp=1&amp;bbb=1"/>
          <p:cNvSpPr/>
          <p:nvPr/>
        </p:nvSpPr>
        <p:spPr>
          <a:xfrm>
            <a:off x="393192" y="1083518"/>
            <a:ext cx="1140256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sp>
        <p:nvSpPr>
          <p:cNvPr id="4" name="C_4_BD#4bcc0bf73?vcp=1&amp;pid=77abfeaab&amp;color=0,0,0&amp;vtp=1&amp;bbb=1"/>
          <p:cNvSpPr/>
          <p:nvPr/>
        </p:nvSpPr>
        <p:spPr>
          <a:xfrm>
            <a:off x="393192" y="1604518"/>
            <a:ext cx="11402568" cy="51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5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易错点1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忽视速度变化、加速度的矢量性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20_1#e581053da?vcp=1&amp;pid=4bcc0bf73&amp;color=0,0,0&amp;vtp=1&amp;bbb=1&amp;hb=1"/>
              <p:cNvSpPr/>
              <p:nvPr/>
            </p:nvSpPr>
            <p:spPr>
              <a:xfrm>
                <a:off x="393192" y="2178495"/>
                <a:ext cx="11402568" cy="21033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（2026·湖北黄冈中学检测）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）拍球是小孩子喜欢玩的一项游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.如图所示，小孩在离地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的位置向下拍球，球落地时的速度大小为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,接触地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面后弹起时的速度大小为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,反弹后上升的最大高度为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0.45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.假设球与地面的接触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,取竖直向下为正方向，不计空气阻力，球可视为质点，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20_1#e581053da?vcp=1&amp;pid=4bcc0bf7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78495"/>
                <a:ext cx="11402568" cy="2103374"/>
              </a:xfrm>
              <a:prstGeom prst="rect">
                <a:avLst/>
              </a:prstGeom>
              <a:blipFill>
                <a:blip r:embed="rId3"/>
                <a:stretch>
                  <a:fillRect l="-1658" r="-1604" b="-898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C_5_AN.21_1#e581053da.bracket?vcp=1&amp;pid=4bcc0bf73&amp;color=0,0,0&amp;vpa=9&amp;vtp=1&amp;bbb=1"/>
          <p:cNvSpPr/>
          <p:nvPr/>
        </p:nvSpPr>
        <p:spPr>
          <a:xfrm>
            <a:off x="9896761" y="3806762"/>
            <a:ext cx="644525" cy="4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</a:t>
            </a:r>
            <a:endParaRPr lang="en-US" altLang="zh-CN" sz="2400" dirty="0"/>
          </a:p>
        </p:txBody>
      </p:sp>
      <p:pic>
        <p:nvPicPr>
          <p:cNvPr id="7" name="QC_5_BD.20_2#e581053da?htil=2&amp;vcp=1&amp;pid=4bcc0bf7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03978" y="4301874"/>
            <a:ext cx="1042416" cy="184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QC_5_BD.20_3#e581053da.choices?htil=2&amp;vcp=1&amp;pid=4bcc0bf73&amp;color=0,0,0&amp;vtp=1&amp;bbb=1"/>
              <p:cNvSpPr/>
              <p:nvPr/>
            </p:nvSpPr>
            <p:spPr>
              <a:xfrm>
                <a:off x="393192" y="4256152"/>
                <a:ext cx="10232136" cy="210115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A.与地面接触的这段时间内球的速度变化量为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.与地面接触这段时间内平均加速度为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−70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.从开始拍球到球弹到最高点的位移为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0.15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.从开始拍球到球弹到最高点的路程为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0.15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C_5_BD.20_3#e581053da.choices?htil=2&amp;vcp=1&amp;pid=4bcc0bf7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256152"/>
                <a:ext cx="10232136" cy="2101152"/>
              </a:xfrm>
              <a:prstGeom prst="rect">
                <a:avLst/>
              </a:prstGeom>
              <a:blipFill>
                <a:blip r:embed="rId5"/>
                <a:stretch>
                  <a:fillRect l="-1847" b="-898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22_1#e581053da?vcp=1&amp;pid=4bcc0bf73&amp;color=0,0,0&amp;vtp=1&amp;bt=1&amp;bbb=1&amp;hb=1"/>
              <p:cNvSpPr/>
              <p:nvPr/>
            </p:nvSpPr>
            <p:spPr>
              <a:xfrm>
                <a:off x="393192" y="889318"/>
                <a:ext cx="11402568" cy="3856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取竖直向下为正方向，则球接触地面过程的初、末速度分别为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，则与地面接触这段时间内球的速度变化量为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；球与地面接触这段时间内平均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加速度为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；位移为从初位置指向末位置的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有向线段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，则从开始拍球到球弹到最高点的位移为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C正确；路程为运动轨迹的长度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，从开始拍球到球弹到最高点的路程为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22_1#e581053da?vcp=1&amp;pid=4bcc0bf7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89318"/>
                <a:ext cx="11402568" cy="3856800"/>
              </a:xfrm>
              <a:prstGeom prst="rect">
                <a:avLst/>
              </a:prstGeom>
              <a:blipFill>
                <a:blip r:embed="rId3"/>
                <a:stretch>
                  <a:fillRect l="-1658" b="-458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EX.23_1#e581053da?vcp=1&amp;pid=4bcc0bf73&amp;color=0,0,0&amp;vtp=1&amp;bt=1&amp;bbb=1">
                <a:extLst>
                  <a:ext uri="{FF2B5EF4-FFF2-40B4-BE49-F238E27FC236}">
                    <a16:creationId xmlns:a16="http://schemas.microsoft.com/office/drawing/2014/main" id="{08AC13D2-AC8A-BB23-D1DA-3791D253FEDD}"/>
                  </a:ext>
                </a:extLst>
              </p:cNvPr>
              <p:cNvSpPr/>
              <p:nvPr/>
            </p:nvSpPr>
            <p:spPr>
              <a:xfrm>
                <a:off x="393192" y="4753547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易错分析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 kern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均为矢量，在分析计算时务必注意其方向性.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EX.23_1#e581053da?vcp=1&amp;pid=4bcc0bf73&amp;color=0,0,0&amp;vtp=1&amp;bt=1&amp;bbb=1">
                <a:extLst>
                  <a:ext uri="{FF2B5EF4-FFF2-40B4-BE49-F238E27FC236}">
                    <a16:creationId xmlns:a16="http://schemas.microsoft.com/office/drawing/2014/main" id="{08AC13D2-AC8A-BB23-D1DA-3791D253FE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753547"/>
                <a:ext cx="11402568" cy="1033399"/>
              </a:xfrm>
              <a:prstGeom prst="rect">
                <a:avLst/>
              </a:prstGeom>
              <a:blipFill>
                <a:blip r:embed="rId4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4_BD#e907104fb?vcp=1&amp;pid=77abfeaab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易错点2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不理解加减速运动的原因</a:t>
            </a:r>
            <a:endParaRPr lang="en-US" altLang="zh-CN" sz="2600" dirty="0"/>
          </a:p>
        </p:txBody>
      </p:sp>
      <p:pic>
        <p:nvPicPr>
          <p:cNvPr id="3" name="QC_5_BD.24_1#896dc108e?htil=3&amp;vcp=1&amp;pid=e907104fb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52141" y="1135442"/>
            <a:ext cx="1709928" cy="1911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C_5_BD.24_2#896dc108e?htil=3&amp;vcp=1&amp;pid=e907104fb&amp;color=0,0,0&amp;vtp=1&amp;bbb=1&amp;hb=1&amp;hs=1"/>
          <p:cNvSpPr/>
          <p:nvPr/>
        </p:nvSpPr>
        <p:spPr>
          <a:xfrm>
            <a:off x="393192" y="1089723"/>
            <a:ext cx="9555480" cy="270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考点1、4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（2026·浙江杭州学军中学检测）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（多选题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）运动学中有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人认为引入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“加速度的变化率”没有必要，然而现在有人指出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“加速度的变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化率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”能引起人的心理效应，车辆的平稳加速（即加速度基本不变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）使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人感到舒服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，否则会让人感到不舒服.关于“加速度的变化率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”，下列说法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中正确的是(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5" name="QC_5_AN.25_1#896dc108e.bracket?vcp=1&amp;pid=e907104fb&amp;color=0,0,0&amp;vpa=10&amp;vtp=1&amp;bbb=1"/>
          <p:cNvSpPr/>
          <p:nvPr/>
        </p:nvSpPr>
        <p:spPr>
          <a:xfrm>
            <a:off x="2200561" y="3313493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BD.24_3#896dc108e.choices?vcp=1&amp;pid=e907104fb&amp;color=0,0,0&amp;vtp=1&amp;bbb=1&amp;hs=1"/>
              <p:cNvSpPr/>
              <p:nvPr/>
            </p:nvSpPr>
            <p:spPr>
              <a:xfrm>
                <a:off x="393192" y="3770312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A.从运动学角度的定义，“加速度的变化率”的单位应是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.加速度的变化率为0的运动是匀速直线运动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.若加速度与速度同方向，如图所示的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图像表示的是物体的速度在减小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.若加速度与速度同方向，如图所示的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图像表示的是物体的速度在增大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BD.24_3#896dc108e.choices?vcp=1&amp;pid=e907104fb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70312"/>
                <a:ext cx="11402568" cy="2155000"/>
              </a:xfrm>
              <a:prstGeom prst="rect">
                <a:avLst/>
              </a:prstGeom>
              <a:blipFill>
                <a:blip r:embed="rId4"/>
                <a:stretch>
                  <a:fillRect l="-1658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26_1#896dc108e?vcp=1&amp;pid=e907104fb&amp;color=0,0,0&amp;vtp=1&amp;bt=1&amp;bbb=1&amp;hb=1"/>
              <p:cNvSpPr/>
              <p:nvPr/>
            </p:nvSpPr>
            <p:spPr>
              <a:xfrm>
                <a:off x="393192" y="1400270"/>
                <a:ext cx="11402568" cy="2739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加速度的变化率是指加速度的变化与所用时间的比值，即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,根据单位制知其单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,故A正确；加速度的变化率为0是指加速度保持不变，如果加速度为0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体做匀速直线运动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，如果加速度不为0，则物体做匀变速运动，故B错误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；若加速度与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速度同方向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，则物体做加速运动，如题图所示的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图像表示加速度减小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，则物体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速度增加变慢了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，但仍是加速运动，故C错误，D正确.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26_1#896dc108e?vcp=1&amp;pid=e907104f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00270"/>
                <a:ext cx="11402568" cy="2739200"/>
              </a:xfrm>
              <a:prstGeom prst="rect">
                <a:avLst/>
              </a:prstGeom>
              <a:blipFill>
                <a:blip r:embed="rId3"/>
                <a:stretch>
                  <a:fillRect l="-1658" r="-1497" b="-64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EX.27_1#896dc108e?vcp=1&amp;pid=e907104fb&amp;color=0,0,0&amp;vtp=1&amp;bt=1&amp;bbb=1">
                <a:extLst>
                  <a:ext uri="{FF2B5EF4-FFF2-40B4-BE49-F238E27FC236}">
                    <a16:creationId xmlns:a16="http://schemas.microsoft.com/office/drawing/2014/main" id="{D2F20D0B-4CEC-B025-1CC9-9B36BA08F5A8}"/>
                  </a:ext>
                </a:extLst>
              </p:cNvPr>
              <p:cNvSpPr/>
              <p:nvPr/>
            </p:nvSpPr>
            <p:spPr>
              <a:xfrm>
                <a:off x="393192" y="4209892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易错分析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 kern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减小，不意味着速度减小，需分析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是同向还是反向.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EX.27_1#896dc108e?vcp=1&amp;pid=e907104fb&amp;color=0,0,0&amp;vtp=1&amp;bt=1&amp;bbb=1">
                <a:extLst>
                  <a:ext uri="{FF2B5EF4-FFF2-40B4-BE49-F238E27FC236}">
                    <a16:creationId xmlns:a16="http://schemas.microsoft.com/office/drawing/2014/main" id="{D2F20D0B-4CEC-B025-1CC9-9B36BA08F5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209892"/>
                <a:ext cx="11402568" cy="1033399"/>
              </a:xfrm>
              <a:prstGeom prst="rect">
                <a:avLst/>
              </a:prstGeom>
              <a:blipFill>
                <a:blip r:embed="rId4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3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e2f39540a?vcp=1&amp;pid=9f8439220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/>
          </a:p>
        </p:txBody>
      </p:sp>
      <p:sp>
        <p:nvSpPr>
          <p:cNvPr id="3" name="P_4_BD#590045db8?vcp=1&amp;pid=e2f39540a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4_BD.28_1#2f4c21d9d?vcp=1&amp;pid=e2f39540a&amp;color=0,0,0&amp;vtp=1&amp;bbb=1&amp;hb=1"/>
              <p:cNvSpPr/>
              <p:nvPr/>
            </p:nvSpPr>
            <p:spPr>
              <a:xfrm>
                <a:off x="393192" y="1649285"/>
                <a:ext cx="11402568" cy="1117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（南开大学自主招生）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一质点沿直线运动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，其速度随时间变化的关系图像恰好是与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坐标轴相切的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圆弧，如图所示.则质点在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为多大？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4_BD.28_1#2f4c21d9d?vcp=1&amp;pid=e2f39540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11402568" cy="1117600"/>
              </a:xfrm>
              <a:prstGeom prst="rect">
                <a:avLst/>
              </a:prstGeom>
              <a:blipFill>
                <a:blip r:embed="rId3"/>
                <a:stretch>
                  <a:fillRect l="-1658" b="-929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QO_4_BD.28_2#2f4c21d9d?vcp=1&amp;pid=e2f39540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28616" y="2897187"/>
            <a:ext cx="2331720" cy="2258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AN.29_1#2f4c21d9d?vcp=1&amp;pid=e2f39540a&amp;color=0,0,0&amp;vtp=1&amp;bt=1&amp;bbb=1&amp;hb=1"/>
              <p:cNvSpPr/>
              <p:nvPr/>
            </p:nvSpPr>
            <p:spPr>
              <a:xfrm>
                <a:off x="393192" y="663670"/>
                <a:ext cx="11402568" cy="184969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如图所示，分别作出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轴的垂线，交于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时的加速度等于该时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刻图线切线的斜率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，作圆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时对应点的切线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𝑷𝑸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:endParaRPr lang="en-US" altLang="zh-CN" sz="2400" dirty="0"/>
              </a:p>
              <a:p>
                <a:pPr latinLnBrk="1">
                  <a:lnSpc>
                    <a:spcPts val="59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𝑹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𝑹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𝑶𝑷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𝑶𝑸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AN.29_1#2f4c21d9d?vcp=1&amp;pid=e2f39540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63670"/>
                <a:ext cx="11402568" cy="1849692"/>
              </a:xfrm>
              <a:prstGeom prst="rect">
                <a:avLst/>
              </a:prstGeom>
              <a:blipFill>
                <a:blip r:embed="rId3"/>
                <a:stretch>
                  <a:fillRect l="-1658" r="-802" b="-396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4_AN.29_2#2f4c21d9d?vcp=1&amp;pid=e2f39540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28616" y="2625566"/>
            <a:ext cx="2340864" cy="224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4_AN.29_3#2f4c21d9d?vcp=1&amp;pid=e2f39540a&amp;color=0,0,0&amp;vtp=1&amp;bbb=1&amp;hb=1"/>
              <p:cNvSpPr/>
              <p:nvPr/>
            </p:nvSpPr>
            <p:spPr>
              <a:xfrm>
                <a:off x="393192" y="5000466"/>
                <a:ext cx="11402568" cy="118218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结合图形意义可知，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为速度，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𝑶𝑸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为时间，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时的加速度大小为</a:t>
                </a:r>
              </a:p>
              <a:p>
                <a:pPr latinLnBrk="1">
                  <a:lnSpc>
                    <a:spcPts val="5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4_AN.29_3#2f4c21d9d?vcp=1&amp;pid=e2f39540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00466"/>
                <a:ext cx="11402568" cy="1182180"/>
              </a:xfrm>
              <a:prstGeom prst="rect">
                <a:avLst/>
              </a:prstGeom>
              <a:blipFill>
                <a:blip r:embed="rId5"/>
                <a:stretch>
                  <a:fillRect l="-1658" b="-927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4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1197</Words>
  <Application>Microsoft Office PowerPoint</Application>
  <PresentationFormat>宽屏</PresentationFormat>
  <Paragraphs>162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2026-05-25T07:54:07Z</dcterms:created>
  <dcterms:modified xsi:type="dcterms:W3CDTF">2026-05-25T08:03:50Z</dcterms:modified>
  <cp:category/>
  <cp:contentStatus/>
</cp:coreProperties>
</file>