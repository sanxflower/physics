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2.xml"/><Relationship Id="rId4" Type="http://schemas.openxmlformats.org/officeDocument/2006/relationships/slide" Target="../slides/slide1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49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6a54f7e91,b2284646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5e336fd7c&amp;amp;cid=5e336fd7c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05c2f8f17&amp;amp;cid=05c2f8f17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813b8cb40&amp;amp;cid=813b8cb4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29bf7eeb9&amp;amp;cid=29bf7eeb9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ab4fcf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39e280891&amp;amp;cid=39e280891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a412f06d&amp;amp;cid=6a412f06d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efcbc7c5f&amp;amp;cid=efcbc7c5f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564d4ecb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88d1fa977&amp;amp;cid=88d1fa977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4be45d0df&amp;amp;cid=4be45d0df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a6c4bf1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2?lid=2a086fbcc&amp;amp;cid=2a086fbcc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6a54f7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第1讲 质点 参考系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6a54f7e91,b2284646d#df=6a54f7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第1讲 质点 参考系</a:t>
            </a:r>
            <a:endParaRPr lang="en-US" sz="1800" dirty="0"/>
          </a:p>
        </p:txBody>
      </p:sp>
      <p:sp>
        <p:nvSpPr>
          <p:cNvPr id="5" name="C_0#auto_editor_catalog_0?lid=5e336fd7c&amp;amp;cid=5e336fd7c&amp;amp;vtp=1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05c2f8f17&amp;amp;cid=05c2f8f17&amp;amp;vtp=1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813b8cb40&amp;amp;cid=813b8cb40&amp;amp;vtp=1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29bf7eeb9&amp;amp;cid=29bf7eeb9&amp;amp;vtp=1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ab4fcf181#df=6a54f7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第1讲 质点 参考系</a:t>
            </a:r>
            <a:endParaRPr lang="en-US" sz="1800" dirty="0"/>
          </a:p>
        </p:txBody>
      </p:sp>
      <p:sp>
        <p:nvSpPr>
          <p:cNvPr id="5" name="C_0#auto_editor_catalog_5?lid=39e280891&amp;amp;cid=39e280891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6a412f06d&amp;amp;cid=6a412f06d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efcbc7c5f&amp;amp;cid=efcbc7c5f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564d4ecb6#df=6a54f7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第1讲 质点 参考系</a:t>
            </a:r>
            <a:endParaRPr lang="en-US" sz="1800" dirty="0"/>
          </a:p>
        </p:txBody>
      </p:sp>
      <p:sp>
        <p:nvSpPr>
          <p:cNvPr id="5" name="C_0#auto_editor_catalog_9?lid=88d1fa977&amp;amp;cid=88d1fa977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4be45d0df&amp;amp;cid=4be45d0df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a6c4bf1d2#df=6a54f7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第1讲 质点 参考系</a:t>
            </a:r>
            <a:endParaRPr lang="en-US" sz="1800" dirty="0"/>
          </a:p>
        </p:txBody>
      </p:sp>
      <p:sp>
        <p:nvSpPr>
          <p:cNvPr id="5" name="C_0#auto_editor_catalog_12?lid=2a086fbcc&amp;amp;cid=2a086fbcc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6a54f7e91.fixed?vcp=1&amp;pid=12a88c36a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6a54f7e91.fixed?vcp=1&amp;pid=12a88c36a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质点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2284646d?vcp=1&amp;pid=6a54f7e91&amp;color=0,0,0&amp;vtp=1&amp;bt=1&amp;bbb=1"/>
          <p:cNvSpPr/>
          <p:nvPr/>
        </p:nvSpPr>
        <p:spPr>
          <a:xfrm>
            <a:off x="393192" y="502920"/>
            <a:ext cx="11402568" cy="511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5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8cfc78969?vcp=1&amp;pid=b2284646d&amp;color=0,0,0&amp;vtp=1&amp;bbb=1"/>
          <p:cNvSpPr/>
          <p:nvPr/>
        </p:nvSpPr>
        <p:spPr>
          <a:xfrm>
            <a:off x="393192" y="1073804"/>
            <a:ext cx="11402568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1_1#5e336fd7c?vcp=1&amp;pid=b2284646d&amp;color=0,0,0&amp;vtp=1&amp;bbb=1"/>
          <p:cNvSpPr/>
          <p:nvPr/>
        </p:nvSpPr>
        <p:spPr>
          <a:xfrm>
            <a:off x="393192" y="1608518"/>
            <a:ext cx="11402568" cy="46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下列关于质点的说法中正确的是(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_1#5e336fd7c.bracket?vcp=1&amp;pid=b2284646d&amp;color=0,0,0&amp;vpa=1&amp;vtp=1"/>
          <p:cNvSpPr/>
          <p:nvPr/>
        </p:nvSpPr>
        <p:spPr>
          <a:xfrm>
            <a:off x="6189949" y="1601279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6" name="QC_4_BD.1_2#5e336fd7c.choices?vcp=1&amp;pid=b2284646d&amp;color=0,0,0&amp;vtp=1&amp;bbb=1"/>
          <p:cNvSpPr/>
          <p:nvPr/>
        </p:nvSpPr>
        <p:spPr>
          <a:xfrm>
            <a:off x="393192" y="2136775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A.凡轻小的物体皆可看作质点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.只有体积很小的物体才能看作质点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.研究地球绕太阳公转的速度时可以将地球看作质点</a:t>
            </a:r>
            <a:endParaRPr lang="en-US" altLang="zh-CN" sz="2400" dirty="0"/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.研究某学生骑车姿势的变化时可以把学生和车看作质点</a:t>
            </a:r>
            <a:endParaRPr lang="en-US" altLang="zh-CN" sz="2400" dirty="0"/>
          </a:p>
        </p:txBody>
      </p:sp>
      <p:sp>
        <p:nvSpPr>
          <p:cNvPr id="7" name="QC_4_AS.3_1#5e336fd7c?vcp=1&amp;pid=b2284646d&amp;color=0,0,0&amp;vtp=1&amp;bbb=1&amp;hb=1"/>
          <p:cNvSpPr/>
          <p:nvPr/>
        </p:nvSpPr>
        <p:spPr>
          <a:xfrm>
            <a:off x="393192" y="4266374"/>
            <a:ext cx="11402568" cy="206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当物体的形状和大小对所研究的问题没有影响或者影响较小时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，物体可视为质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，与物体本身的质量和体积无关，故A、B错误；研究地球绕太阳公转时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，地球的形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状和大小可以忽略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，则此时地球可看作质点，故C正确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；研究某学生骑车姿势的变化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，学生的形状不能忽略，所以此时学生和车不能看作质点，故D错误.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4_1#05c2f8f17?vcp=1&amp;pid=b2284646d&amp;color=0,0,0&amp;vtp=1&amp;bt=1&amp;bbb=1&amp;hb=1"/>
          <p:cNvSpPr/>
          <p:nvPr/>
        </p:nvSpPr>
        <p:spPr>
          <a:xfrm>
            <a:off x="393192" y="1262412"/>
            <a:ext cx="11402568" cy="270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（2026·湖北黄冈中学检测）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国产历史动画电影《长安三万里》爆火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，影片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结尾李白的一句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“轻舟已过万重山”，戳中无数人的泪点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，让观众在欣赏这部动漫时能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够找到自己的情感共鸣和文化认同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.古诗词是我国五千年灿烂文化的精髓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，诗词中既蕴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含着深刻的哲理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，又蕴涵着丰富的物理知识.“轻舟已过万重山”这句古诗中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，诗人李白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描述舟的运动时选取的参考系为(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5_1#05c2f8f17.bracket?vcp=1&amp;pid=b2284646d&amp;color=0,0,0&amp;vpa=2&amp;vtp=1"/>
          <p:cNvSpPr/>
          <p:nvPr/>
        </p:nvSpPr>
        <p:spPr>
          <a:xfrm>
            <a:off x="4905660" y="3486182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4" name="QC_4_BD.4_2#05c2f8f17.choices?vcp=1&amp;pid=b2284646d&amp;color=0,0,0&amp;vtp=1&amp;bbb=1"/>
          <p:cNvSpPr/>
          <p:nvPr/>
        </p:nvSpPr>
        <p:spPr>
          <a:xfrm>
            <a:off x="393192" y="400415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535677" algn="l"/>
                <a:tab pos="5655554" algn="l"/>
                <a:tab pos="81658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.自己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B.岸边的山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C.船夫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.船上的物体</a:t>
            </a:r>
            <a:endParaRPr lang="en-US" altLang="zh-CN" sz="2400" dirty="0"/>
          </a:p>
        </p:txBody>
      </p:sp>
      <p:sp>
        <p:nvSpPr>
          <p:cNvPr id="5" name="QC_4_AS.6_1#05c2f8f17?vcp=1&amp;pid=b2284646d&amp;color=0,0,0&amp;vtp=1&amp;bbb=1&amp;hb=1"/>
          <p:cNvSpPr/>
          <p:nvPr/>
        </p:nvSpPr>
        <p:spPr>
          <a:xfrm>
            <a:off x="393192" y="4555013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轻舟相对于岸边的山有位置变化，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描述舟的运动时选取的参考系为岸边的山，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故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B正确，A、C、D错误.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7_1#813b8cb40?vcp=1&amp;pid=b2284646d&amp;color=0,0,0&amp;vtp=1&amp;bt=1&amp;bbb=1"/>
          <p:cNvSpPr/>
          <p:nvPr/>
        </p:nvSpPr>
        <p:spPr>
          <a:xfrm>
            <a:off x="393192" y="69088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考点2、3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下列有关运动的描述中，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参考系的选取符合描述的是(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8_1#813b8cb40.bracket?vcp=1&amp;pid=b2284646d&amp;color=0,0,0&amp;vpa=3&amp;vtp=1"/>
          <p:cNvSpPr/>
          <p:nvPr/>
        </p:nvSpPr>
        <p:spPr>
          <a:xfrm>
            <a:off x="9403048" y="688976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4" name="QC_4_BD.7_2#813b8cb40.choices?vcp=1&amp;pid=b2284646d&amp;color=0,0,0&amp;vtp=1&amp;bbb=1&amp;hb=1"/>
          <p:cNvSpPr/>
          <p:nvPr/>
        </p:nvSpPr>
        <p:spPr>
          <a:xfrm>
            <a:off x="393192" y="1239266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A.诗句“飞流直下三千尺”是以“飞流”作为参考系的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.诗句“空手把锄头，步行骑水牛；人在桥上走，桥流水不流”中“桥流水不流”的“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桥流”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是以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“水”为参考系的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.诗句“坐地日行八万里，巡天遥看一千河”中的“八万里”是以“人”为参考系的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.“钱塘观潮时，观众只觉得潮水扑面而来”，是以“潮水”为参考系的</a:t>
            </a:r>
            <a:endParaRPr lang="en-US" altLang="zh-CN" sz="2400" dirty="0"/>
          </a:p>
        </p:txBody>
      </p:sp>
      <p:sp>
        <p:nvSpPr>
          <p:cNvPr id="5" name="QC_4_AS.9_1#813b8cb40?vcp=1&amp;pid=b2284646d&amp;color=0,0,0&amp;vtp=1&amp;bbb=1&amp;hb=1"/>
          <p:cNvSpPr/>
          <p:nvPr/>
        </p:nvSpPr>
        <p:spPr>
          <a:xfrm>
            <a:off x="393192" y="3991164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“飞流直下三千尺”是说飞流相对于山在动，参考系为“山”，故A错误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；“桥流水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不流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”中是以“水”为参考系，桥的位置发生了变化，则桥是运动的，故B正确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；“坐地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日行八万里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，巡天遥看一千河”中的“八万里”是以“地心”为参考系，故C错误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；“钱塘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观潮时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，观众只觉得潮水扑面而来”是以“观众”为参考系，故D错误.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10_1#29bf7eeb9?vcp=1&amp;pid=b2284646d&amp;color=0,0,0&amp;vtp=1&amp;bt=1&amp;bbb=1&amp;hb=1"/>
          <p:cNvSpPr/>
          <p:nvPr/>
        </p:nvSpPr>
        <p:spPr>
          <a:xfrm>
            <a:off x="393192" y="662527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考点1、2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我国发射的“嫦娥四号”探测器首次着陆月球表面，“玉兔二号”顺利从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“嫦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娥四号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”上登陆到月球表面进行探月工作（如图所示）.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下列有关说法正确的是(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11_1#29bf7eeb9.bracket?vcp=1&amp;pid=b2284646d&amp;color=0,0,0&amp;vpa=4&amp;vtp=1"/>
          <p:cNvSpPr/>
          <p:nvPr/>
        </p:nvSpPr>
        <p:spPr>
          <a:xfrm>
            <a:off x="10907998" y="1209897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10_2#29bf7eeb9?vcp=1&amp;pid=b2284646d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71416" y="1823053"/>
            <a:ext cx="324612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0_3#29bf7eeb9.choices?vcp=1&amp;pid=b2284646d&amp;color=0,0,0&amp;vtp=1&amp;bbb=1"/>
          <p:cNvSpPr/>
          <p:nvPr/>
        </p:nvSpPr>
        <p:spPr>
          <a:xfrm>
            <a:off x="393192" y="4020153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A.研究“嫦娥四号”探测器着陆姿势时，可以把探测器看成质点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.研究“玉兔二号”在月球的运动轨迹时，可以把“玉兔二号”看作质点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.研究“玉兔二号”在月球的运动轨迹时选择的参考系是地球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.研究“嫦娥四号”探测器着陆过程的运动轨迹时不可以将探测器看作质点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12_1#29bf7eeb9?vcp=1&amp;pid=b2284646d&amp;color=0,0,0&amp;vtp=1&amp;bt=1&amp;bbb=1&amp;hb=1"/>
          <p:cNvSpPr/>
          <p:nvPr/>
        </p:nvSpPr>
        <p:spPr>
          <a:xfrm>
            <a:off x="393192" y="181238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研究“嫦娥四号”探测器着陆姿势时，不能忽略“嫦娥四号”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探测器的大小和形状，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不可以把探测器看作质点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，故A错误；研究“玉兔二号”在月球的运动轨迹时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，可以忽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略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“玉兔二号”的大小和形状，把“玉兔二号”看作质点，故B正确；研究“玉兔二号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月球的运动轨迹时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，选择的参考系是月球表面，故C错误；研究“嫦娥四号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”探测器着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陆过程的运动轨迹时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，可以忽略“嫦娥四号”探测器的大小和形状，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把探测器看作质点，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故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ab4fcf181?vcp=1&amp;pid=6a54f7e91&amp;color=0,0,0&amp;vtp=1&amp;bt=1&amp;bbb=1"/>
          <p:cNvSpPr/>
          <p:nvPr/>
        </p:nvSpPr>
        <p:spPr>
          <a:xfrm>
            <a:off x="393192" y="502920"/>
            <a:ext cx="11402568" cy="52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4b8f077a6?vcp=1&amp;pid=ab4fcf181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13_1#39e280891?htil=1&amp;vcp=1&amp;pid=ab4fcf181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22202" y="1704148"/>
            <a:ext cx="2679192" cy="131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3_2#39e280891?htil=1&amp;vcp=1&amp;pid=ab4fcf181&amp;color=0,0,0&amp;vtp=1&amp;bbb=1&amp;hb=1&amp;hs=1"/>
          <p:cNvSpPr/>
          <p:nvPr/>
        </p:nvSpPr>
        <p:spPr>
          <a:xfrm>
            <a:off x="393192" y="1649285"/>
            <a:ext cx="8586216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（多选题）为了提高枪械射击时的准确率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,制造枪械时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会在枪膛上刻上螺旋形的槽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.这样,当子弹在枪管中运动时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,会按照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旋转的方式前进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.离开枪管后,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子弹的高速旋转会降低空气密度、</a:t>
            </a:r>
            <a:endParaRPr lang="en-US" altLang="zh-CN" sz="2400" dirty="0"/>
          </a:p>
        </p:txBody>
      </p:sp>
      <p:sp>
        <p:nvSpPr>
          <p:cNvPr id="6" name="QC_4_AN.14_1#39e280891.bracket?vcp=1&amp;pid=ab4fcf181&amp;color=0,0,0&amp;vpa=5&amp;vtp=1&amp;bbb=1"/>
          <p:cNvSpPr/>
          <p:nvPr/>
        </p:nvSpPr>
        <p:spPr>
          <a:xfrm>
            <a:off x="4044864" y="384765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sp>
        <p:nvSpPr>
          <p:cNvPr id="8" name="QC_4_BD.13_2#39e280891?htil=1&amp;vcp=1&amp;pid=ab4fcf181&amp;color=0,0,0&amp;vtp=1&amp;bbb=1&amp;hb=1&amp;hs=1">
            <a:extLst>
              <a:ext uri="{FF2B5EF4-FFF2-40B4-BE49-F238E27FC236}">
                <a16:creationId xmlns:a16="http://schemas.microsoft.com/office/drawing/2014/main" id="{2E402E98-469A-F637-DB23-B7D57BC2A65C}"/>
              </a:ext>
            </a:extLst>
          </p:cNvPr>
          <p:cNvSpPr/>
          <p:nvPr/>
        </p:nvSpPr>
        <p:spPr>
          <a:xfrm>
            <a:off x="395996" y="3300285"/>
            <a:ext cx="1140000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侧风等外部环境对子弹的影响,从而提高子弹飞行的稳定性（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）.下列关于子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弹运动的说法中正确的是(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9" name="QC_4_BD.13_3#39e280891.choices?vcp=1&amp;pid=ab4fcf181&amp;color=0,0,0&amp;vtp=1&amp;bbb=1">
            <a:extLst>
              <a:ext uri="{FF2B5EF4-FFF2-40B4-BE49-F238E27FC236}">
                <a16:creationId xmlns:a16="http://schemas.microsoft.com/office/drawing/2014/main" id="{9C2C3B0D-5C24-634D-70D9-BC703885337A}"/>
              </a:ext>
            </a:extLst>
          </p:cNvPr>
          <p:cNvSpPr/>
          <p:nvPr/>
        </p:nvSpPr>
        <p:spPr>
          <a:xfrm>
            <a:off x="393192" y="44079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A.当研究子弹的旋转对子弹飞行的影响时，可以把子弹看作质点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.当研究子弹射击百米外的靶子所用的时间时，可以把子弹看作质点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.无论研究什么问题都可以把子弹看作质点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.能否将子弹看作质点,取决于我们所研究的问题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15_1#39e280891?vcp=1&amp;pid=ab4fcf181&amp;color=0,0,0&amp;vtp=1&amp;bt=1&amp;bbb=1&amp;hb=1"/>
          <p:cNvSpPr/>
          <p:nvPr/>
        </p:nvSpPr>
        <p:spPr>
          <a:xfrm>
            <a:off x="393192" y="208670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在研究子弹的旋转对飞行的影响时不能忽略子弹的大小和形状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，因此不可以把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子弹看作质点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，选项A错误；在研究子弹射击百米外的靶子所用的时间时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，其大小和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形状可以忽略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，故可以把子弹看作质点，选项B正确；能否将子弹看成质点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，取决于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所研究的问题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，只要其大小与形状对所研究问题的影响可以忽略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，就可以将其看成质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，选项C错误，D正确.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16_1#6a412f06d?vcp=1&amp;pid=ab4fcf181&amp;color=0,0,0&amp;vtp=1&amp;bt=1&amp;bbb=1&amp;hb=1"/>
          <p:cNvSpPr/>
          <p:nvPr/>
        </p:nvSpPr>
        <p:spPr>
          <a:xfrm>
            <a:off x="393192" y="1513872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考点2、3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（上海高考题改编）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太阳从东边升起、西边落下，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是地球上的自然现象.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但在某些条件下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，在纬度较高地区上空飞行的飞机上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，旅客可以看到太阳从西边升起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的奇妙现象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要看到这一现象需满足的条件是(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17_1#6a412f06d.bracket?vcp=1&amp;pid=ab4fcf181&amp;color=0,0,0&amp;vpa=6&amp;vtp=1"/>
          <p:cNvSpPr/>
          <p:nvPr/>
        </p:nvSpPr>
        <p:spPr>
          <a:xfrm>
            <a:off x="6493161" y="262004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4_BD.16_2#6a412f06d.choices?vcp=1&amp;pid=ab4fcf181&amp;color=0,0,0&amp;vtp=1&amp;bbb=1"/>
          <p:cNvSpPr/>
          <p:nvPr/>
        </p:nvSpPr>
        <p:spPr>
          <a:xfrm>
            <a:off x="393192" y="317007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A.时间必须是在清晨，飞机正在由东向西飞行，飞机的速度必须较大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.时间必须是在清晨，飞机正在由西向东飞行，飞机的速度必须较大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.时间必须是在傍晚，飞机正在由东向西飞行，飞机的速度必须较大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.时间必须是在傍晚，飞机正在由西向东飞行，飞机的速度不能太大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18_1#6a412f06d?vcp=1&amp;pid=ab4fcf181&amp;color=0,0,0&amp;vtp=1&amp;bt=1&amp;bbb=1&amp;hb=1"/>
          <p:cNvSpPr/>
          <p:nvPr/>
        </p:nvSpPr>
        <p:spPr>
          <a:xfrm>
            <a:off x="393192" y="1538065"/>
            <a:ext cx="11402568" cy="3831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由于我们习惯以地球为参考系，因地球自西向东转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，我们通常看到的自然现象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是太阳从东边升起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、西边落下.旅客要看到太阳从西边升起的奇妙现象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，太阳此时应在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西方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，才可能从西方升起，所以时间一定是在傍晚，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在清晨无论向西还是向东飞行，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均不能看到太阳从西边升起的奇妙现象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，故排除选项A、B.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傍晚时太阳正在西边落下，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要产生太阳升起的感觉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，只有飞机“落下”的速度大于太阳落下的速度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，才能产生这种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效果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.也就是飞机往西运动的速度要大于太阳向西落下的速度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，此飞机上的旅客就可以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看到太阳从西边升起的奇妙现象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，故选C.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19_1#efcbc7c5f?vcp=1&amp;pid=ab4fcf181&amp;color=0,0,0&amp;vtp=1&amp;bt=1&amp;bbb=1&amp;hb=1"/>
              <p:cNvSpPr/>
              <p:nvPr/>
            </p:nvSpPr>
            <p:spPr>
              <a:xfrm>
                <a:off x="393192" y="17996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一只小船逆水匀速行驶，经过一座桥下时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船上落下一木板到水中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，船员半小时后才发现，立即调头追赶，在桥下游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处追上.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设小船相对于水的划行速度始终不变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，木板到水中速度立即与水速相同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.若水速大小不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1）小船调头后追上木板所用的时间.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2）水流速度.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19_1#efcbc7c5f?vcp=1&amp;pid=ab4fcf18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96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604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AN.20_1#efcbc7c5f?htil=2&amp;vcp=1&amp;pid=ab4fcf181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24121" y="1608677"/>
            <a:ext cx="3538728" cy="76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AN.20_2#efcbc7c5f?htil=2&amp;vcp=1&amp;pid=ab4fcf181&amp;color=0,0,0&amp;vtp=1&amp;bt=1&amp;bbb=1&amp;hb=1&amp;hs=1"/>
              <p:cNvSpPr/>
              <p:nvPr/>
            </p:nvSpPr>
            <p:spPr>
              <a:xfrm>
                <a:off x="393192" y="1562957"/>
                <a:ext cx="7726680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选河岸为参考系，选桥下为坐标原点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流方向为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轴的正方向，小船的运动如图中虚线所示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AN.20_2#efcbc7c5f?htil=2&amp;vcp=1&amp;pid=ab4fcf181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62957"/>
                <a:ext cx="7726680" cy="1037590"/>
              </a:xfrm>
              <a:prstGeom prst="rect">
                <a:avLst/>
              </a:prstGeom>
              <a:blipFill>
                <a:blip r:embed="rId4"/>
                <a:stretch>
                  <a:fillRect l="-2447" b="-169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N.20_2#efcbc7c5f?htil=2&amp;vcp=1&amp;pid=ab4fcf181&amp;color=0,0,0&amp;vtp=1&amp;bt=1&amp;bbb=1&amp;hb=1&amp;hs=1">
                <a:extLst>
                  <a:ext uri="{FF2B5EF4-FFF2-40B4-BE49-F238E27FC236}">
                    <a16:creationId xmlns:a16="http://schemas.microsoft.com/office/drawing/2014/main" id="{39FF67E3-87BE-650C-40AF-8D7E51A7751D}"/>
                  </a:ext>
                </a:extLst>
              </p:cNvPr>
              <p:cNvSpPr/>
              <p:nvPr/>
            </p:nvSpPr>
            <p:spPr>
              <a:xfrm>
                <a:off x="393192" y="2609183"/>
                <a:ext cx="1140000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线表示木板的运动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.设船相对于水的划行速度为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,水流速度为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,则木板从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点开始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,船的位置坐标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,设船调头后经过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追上木板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，则木板的位置坐标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,船的位置坐标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AN.20_2#efcbc7c5f?htil=2&amp;vcp=1&amp;pid=ab4fcf181&amp;color=0,0,0&amp;vtp=1&amp;bt=1&amp;bbb=1&amp;hb=1&amp;hs=1">
                <a:extLst>
                  <a:ext uri="{FF2B5EF4-FFF2-40B4-BE49-F238E27FC236}">
                    <a16:creationId xmlns:a16="http://schemas.microsoft.com/office/drawing/2014/main" id="{39FF67E3-87BE-650C-40AF-8D7E51A77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09183"/>
                <a:ext cx="11400008" cy="2713800"/>
              </a:xfrm>
              <a:prstGeom prst="rect">
                <a:avLst/>
              </a:prstGeom>
              <a:blipFill>
                <a:blip r:embed="rId5"/>
                <a:stretch>
                  <a:fillRect l="-1658" r="-123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20_3#efcbc7c5f?vcp=1&amp;pid=ab4fcf181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选择水为参考系，木板落入水中与水流一起运动，相对于水是静止的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.船相对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于水的划行速度大小不变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，即相对于水和木板，船逆行和顺行的速度大小都是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逆行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,再顺行追上木板也一定用时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,即调头后追上木板所用的时间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，所以船运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动的总时间为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,在这段时间内木板运动了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所以水流速度就等于木板漂流速度,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20_3#efcbc7c5f?vcp=1&amp;pid=ab4fcf18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390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564d4ecb6?vcp=1&amp;pid=6a54f7e9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f38c5e1b6?vcp=1&amp;pid=564d4ecb6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21_1#88d1fa977?vcp=1&amp;pid=564d4ecb6&amp;color=0,0,0&amp;vtp=1&amp;bbb=1&amp;hb=1"/>
          <p:cNvSpPr/>
          <p:nvPr/>
        </p:nvSpPr>
        <p:spPr>
          <a:xfrm>
            <a:off x="393192" y="1649285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（体育竞技）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（2026·河南郑州外国语学校质检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如图描绘了一名运动员在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跳远过程中助跑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、起跳、飞行、落坑几个瞬间的动作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.关于运动员可以看成质点的说法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中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2_1#88d1fa977.bracket?vcp=1&amp;pid=564d4ecb6&amp;color=0,0,0&amp;vpa=7&amp;vtp=1"/>
          <p:cNvSpPr/>
          <p:nvPr/>
        </p:nvSpPr>
        <p:spPr>
          <a:xfrm>
            <a:off x="2454561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21_2#88d1fa977?vcp=1&amp;pid=564d4ecb6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58768" y="3368675"/>
            <a:ext cx="4471416" cy="9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BD.21_3#88d1fa977.choices?vcp=1&amp;pid=564d4ecb6&amp;color=0,0,0&amp;vtp=1&amp;bbb=1"/>
          <p:cNvSpPr/>
          <p:nvPr/>
        </p:nvSpPr>
        <p:spPr>
          <a:xfrm>
            <a:off x="393192" y="443547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.研究运动员的跳远成绩时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.研究运动员的助跑动作时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C.研究运动员的起跳动作时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.研究运动员的飞行动作时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23_1#88d1fa977?vcp=1&amp;pid=564d4ecb6&amp;color=0,0,0&amp;vtp=1&amp;bt=1&amp;bbb=1&amp;hb=1"/>
          <p:cNvSpPr/>
          <p:nvPr/>
        </p:nvSpPr>
        <p:spPr>
          <a:xfrm>
            <a:off x="393192" y="1255522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研究运动员的跳远成绩时，运动员的大小和身形可以忽略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，运动员可以看作质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；研究运动员的助跑动作、起跳动作、飞行动作时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，如果把运动员看成质点就无法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研究其动作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，因此在研究这些动作的过程中不能把运动员看成质点，故A正确，B、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C、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错误.</a:t>
            </a:r>
            <a:endParaRPr lang="en-US" altLang="zh-CN" sz="2400" dirty="0"/>
          </a:p>
        </p:txBody>
      </p:sp>
      <p:sp>
        <p:nvSpPr>
          <p:cNvPr id="3" name="QC_4_EX.24_1#88d1fa977?vcp=1&amp;pid=564d4ecb6&amp;color=0,0,0&amp;vtp=1&amp;bt=1&amp;bbb=1&amp;hb=1">
            <a:extLst>
              <a:ext uri="{FF2B5EF4-FFF2-40B4-BE49-F238E27FC236}">
                <a16:creationId xmlns:a16="http://schemas.microsoft.com/office/drawing/2014/main" id="{B746EF92-ECC8-9B41-A5F1-7E2B0F2962EA}"/>
              </a:ext>
            </a:extLst>
          </p:cNvPr>
          <p:cNvSpPr/>
          <p:nvPr/>
        </p:nvSpPr>
        <p:spPr>
          <a:xfrm>
            <a:off x="393192" y="345382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易错分析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同一个物体有的时候可以看成质点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，有的时候不可以看成质点，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能不能看成质点，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要看研究对象的形状和大小对所研究问题的影响是否可以忽略不计，把各个阶段研究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的问题分析清楚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，问题也就迎刃而解了.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25_1#4be45d0df?vcp=1&amp;pid=564d4ecb6&amp;color=0,0,0&amp;vtp=1&amp;bt=1&amp;bbb=1&amp;hb=1"/>
          <p:cNvSpPr/>
          <p:nvPr/>
        </p:nvSpPr>
        <p:spPr>
          <a:xfrm>
            <a:off x="393192" y="775240"/>
            <a:ext cx="11402568" cy="1417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9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（生活情境）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（多选题）如图所示，有甲、乙、丙三架观光电梯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，甲中乘客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看到高楼在向下运动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，乙中乘客看到甲在向下运动，丙中乘客看到甲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、乙都在向上运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.甲、乙、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丙相对于地面的运动情况可能是(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26_1#4be45d0df.bracket?vcp=1&amp;pid=564d4ecb6&amp;color=0,0,0&amp;vpa=8&amp;vtp=1&amp;bbb=1"/>
          <p:cNvSpPr/>
          <p:nvPr/>
        </p:nvSpPr>
        <p:spPr>
          <a:xfrm>
            <a:off x="6518561" y="1756123"/>
            <a:ext cx="865188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4_BD.25_2#4be45d0df?htil=3&amp;vcp=1&amp;pid=564d4ecb6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28170" y="2211736"/>
            <a:ext cx="3020981" cy="190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25_3#4be45d0df.choices?htil=3&amp;vcp=1&amp;pid=564d4ecb6&amp;color=0,0,0&amp;vtp=1&amp;bbb=1&amp;hs=1"/>
          <p:cNvSpPr/>
          <p:nvPr/>
        </p:nvSpPr>
        <p:spPr>
          <a:xfrm>
            <a:off x="393192" y="2224436"/>
            <a:ext cx="8238744" cy="191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9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A.甲向上运动，乙向下运动，丙不动</a:t>
            </a:r>
            <a:endParaRPr lang="en-US" altLang="zh-CN" sz="24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.甲向上运动，乙向上运动，丙不动</a:t>
            </a:r>
            <a:endParaRPr lang="en-US" altLang="zh-CN" sz="2400" dirty="0"/>
          </a:p>
          <a:p>
            <a:pPr latinLnBrk="1">
              <a:lnSpc>
                <a:spcPts val="39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.甲向上运动，乙向上运动，丙向下运动</a:t>
            </a:r>
            <a:endParaRPr lang="en-US" altLang="zh-CN" sz="2400" dirty="0"/>
          </a:p>
          <a:p>
            <a:pPr latinLnBrk="1">
              <a:lnSpc>
                <a:spcPts val="37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.甲、乙、丙都向上运动，且丙比甲、乙都慢</a:t>
            </a:r>
            <a:endParaRPr lang="en-US" altLang="zh-CN" sz="2400" dirty="0"/>
          </a:p>
        </p:txBody>
      </p:sp>
      <p:sp>
        <p:nvSpPr>
          <p:cNvPr id="6" name="QC_4_AS.27_1#4be45d0df?vcp=1&amp;pid=564d4ecb6&amp;color=0,0,0&amp;vtp=1&amp;bbb=1&amp;hb=1&amp;hs=1"/>
          <p:cNvSpPr/>
          <p:nvPr/>
        </p:nvSpPr>
        <p:spPr>
          <a:xfrm>
            <a:off x="393192" y="4155599"/>
            <a:ext cx="11402568" cy="191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9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甲中乘客看到高楼在向下运动，所以甲向上运动.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乙中乘客看到甲在向下运动，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说明乙向上运动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，且乙比甲快.丙中乘客看到甲、乙都在向上运动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，则丙对地运动有三</a:t>
            </a:r>
          </a:p>
          <a:p>
            <a:pPr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种可能性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：丙静止；丙向下运动；丙向上运动，且丙比甲、乙都慢.所以选项B、C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、D</a:t>
            </a:r>
          </a:p>
          <a:p>
            <a:pPr latinLnBrk="1">
              <a:lnSpc>
                <a:spcPts val="37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都正确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EX.28_1#4be45d0df?vcp=1&amp;pid=564d4ecb6&amp;color=0,0,0&amp;vtp=1&amp;bt=1&amp;bbb=1&amp;hb=1"/>
          <p:cNvSpPr/>
          <p:nvPr/>
        </p:nvSpPr>
        <p:spPr>
          <a:xfrm>
            <a:off x="393192" y="2628995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易错分析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部分考生容易因审题不全，找不准参考系而作出错误判断或因考虑不全面而漏选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部分正确选项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a6c4bf1d2?vcp=1&amp;pid=6a54f7e9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46c8db57a?vcp=1&amp;pid=a6c4bf1d2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限时5分钟</a:t>
            </a:r>
            <a:endParaRPr lang="en-US" altLang="zh-CN" sz="2400" dirty="0"/>
          </a:p>
        </p:txBody>
      </p:sp>
      <p:sp>
        <p:nvSpPr>
          <p:cNvPr id="4" name="QC_4_BD.29_1#2a086fbcc?vcp=1&amp;pid=a6c4bf1d2&amp;color=0,0,0&amp;vtp=1&amp;bbb=1&amp;hb=1"/>
          <p:cNvSpPr/>
          <p:nvPr/>
        </p:nvSpPr>
        <p:spPr>
          <a:xfrm>
            <a:off x="393192" y="164928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（复旦大学自主招生）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在马路旁观察会感觉马路上行驶的汽车白天快、夜晚慢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，这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是因为(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30_1#2a086fbcc.bracket?vcp=1&amp;pid=a6c4bf1d2&amp;color=0,0,0&amp;vpa=9&amp;vtp=1"/>
          <p:cNvSpPr/>
          <p:nvPr/>
        </p:nvSpPr>
        <p:spPr>
          <a:xfrm>
            <a:off x="1540161" y="21966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6" name="QC_4_BD.29_2#2a086fbcc.choices?vcp=1&amp;pid=a6c4bf1d2&amp;color=0,0,0&amp;vtp=1&amp;bbb=1"/>
          <p:cNvSpPr/>
          <p:nvPr/>
        </p:nvSpPr>
        <p:spPr>
          <a:xfrm>
            <a:off x="393192" y="27569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A.夜晚看不清马路两旁的参照物（房屋、行道树等）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.夜晚看不清车身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.白天车速的确较快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.夜晚司机比较小心，会降低车速</a:t>
            </a:r>
            <a:endParaRPr lang="en-US" altLang="zh-CN" sz="2400" dirty="0"/>
          </a:p>
        </p:txBody>
      </p:sp>
      <p:sp>
        <p:nvSpPr>
          <p:cNvPr id="7" name="QC_4_AS.31_1#2a086fbcc?vcp=1&amp;pid=a6c4bf1d2&amp;color=0,0,0&amp;vtp=1&amp;bbb=1&amp;hb=1"/>
          <p:cNvSpPr/>
          <p:nvPr/>
        </p:nvSpPr>
        <p:spPr>
          <a:xfrm>
            <a:off x="393192" y="4962715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在夜晚，观察者主要感觉的是车灯，看不清马路两旁的参照物（房屋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、行道树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等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），所以，感觉马路上行驶的汽车相对慢点，故A正确.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Microsoft Office PowerPoint</Application>
  <PresentationFormat>宽屏</PresentationFormat>
  <Paragraphs>159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2026-05-25T07:52:10Z</dcterms:created>
  <dcterms:modified xsi:type="dcterms:W3CDTF">2026-05-25T08:02:23Z</dcterms:modified>
  <cp:category/>
  <cp:contentStatus/>
</cp:coreProperties>
</file>