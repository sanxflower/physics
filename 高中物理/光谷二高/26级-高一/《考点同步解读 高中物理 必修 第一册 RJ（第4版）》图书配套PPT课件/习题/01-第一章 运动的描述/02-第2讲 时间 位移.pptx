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7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7215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slide" Target="../slides/slide5.xml"/><Relationship Id="rId4" Type="http://schemas.openxmlformats.org/officeDocument/2006/relationships/slide" Target="../slides/slide4.xml"/></Relationships>
</file>

<file path=ppt/slideLayouts/_rels/slideLayout9.xml.rels><?xml version="1.0" encoding="UTF-8" standalone="yes"?>
<Relationships xmlns="http://schemas.openxmlformats.org/package/2006/relationships"><Relationship Id="rId3" Type="http://schemas.openxmlformats.org/officeDocument/2006/relationships/slide" Target="../slides/slide6.xml"/><Relationship Id="rId7" Type="http://schemas.openxmlformats.org/officeDocument/2006/relationships/slide" Target="../slides/slide10.xm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slide" Target="../slides/slide9.xml"/><Relationship Id="rId5" Type="http://schemas.openxmlformats.org/officeDocument/2006/relationships/slide" Target="../slides/slide8.xml"/><Relationship Id="rId4" Type="http://schemas.openxmlformats.org/officeDocument/2006/relationships/slide" Target="../slides/slide7.xml"/></Relationships>
</file>

<file path=ppt/slideLayouts/_rels/slideLayout10.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slide" Target="../slides/slide13.xml"/></Relationships>
</file>

<file path=ppt/slideLayouts/_rels/slideLayout11.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slide" Target="../slides/slide5.xml"/><Relationship Id="rId4" Type="http://schemas.openxmlformats.org/officeDocument/2006/relationships/slide" Target="../slides/slide4.xml"/></Relationships>
</file>

<file path=ppt/slideLayouts/_rels/slideLayout14.xml.rels><?xml version="1.0" encoding="UTF-8" standalone="yes"?>
<Relationships xmlns="http://schemas.openxmlformats.org/package/2006/relationships"><Relationship Id="rId3" Type="http://schemas.openxmlformats.org/officeDocument/2006/relationships/slide" Target="../slides/slide6.xml"/><Relationship Id="rId7" Type="http://schemas.openxmlformats.org/officeDocument/2006/relationships/slide" Target="../slides/slide10.xm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slide" Target="../slides/slide9.xml"/><Relationship Id="rId5" Type="http://schemas.openxmlformats.org/officeDocument/2006/relationships/slide" Target="../slides/slide8.xml"/><Relationship Id="rId4" Type="http://schemas.openxmlformats.org/officeDocument/2006/relationships/slide" Target="../slides/slide7.xml"/></Relationships>
</file>

<file path=ppt/slideLayouts/_rels/slideLayout15.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slide" Target="../slides/slide13.xml"/></Relationships>
</file>

<file path=ppt/slideLayouts/_rels/slideLayout16.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3a58ca644f0d6f43#tid=6a13f52f736a60ac3496b24a#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mc=目录配置1#12a88c36a,12a88c36a,48ae0c14e,0085cf913">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0?lid=6eab78c08&amp;amp;cid=6eab78c08&amp;amp;vtp=1">
            <a:hlinkClick r:id="rId3" action="ppaction://hlinksldjump"/>
          </p:cNvPr>
          <p:cNvSpPr/>
          <p:nvPr/>
        </p:nvSpPr>
        <p:spPr>
          <a:xfrm>
            <a:off x="505663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0?lid=a1295aeb0&amp;amp;cid=a1295aeb0&amp;amp;vtp=1">
            <a:hlinkClick r:id="rId4"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
        <p:nvSpPr>
          <p:cNvPr id="7" name="C_0#auto_editor_catalog_0?lid=20bd730ac&amp;amp;cid=20bd730ac&amp;amp;vtp=1">
            <a:hlinkClick r:id="rId4"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3</a:t>
            </a:r>
            <a:endParaRPr lang="en-US" sz="1600" dirty="0"/>
          </a:p>
        </p:txBody>
      </p:sp>
      <p:sp>
        <p:nvSpPr>
          <p:cNvPr id="8" name="C_0#auto_editor_catalog_0?lid=1179da7e1&amp;amp;cid=1179da7e1&amp;amp;vtp=1">
            <a:hlinkClick r:id="rId5" action="ppaction://hlinksldjump"/>
          </p:cNvPr>
          <p:cNvSpPr/>
          <p:nvPr/>
        </p:nvSpPr>
        <p:spPr>
          <a:xfrm>
            <a:off x="6675120"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4</a:t>
            </a:r>
            <a:endParaRPr lang="en-US" sz="16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内容#mc=目录配置1#12a88c36a,deead102e">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5?lid=b56f6dd4e&amp;amp;cid=b56f6dd4e&amp;amp;vtp=1">
            <a:hlinkClick r:id="rId3" action="ppaction://hlinksldjump"/>
          </p:cNvPr>
          <p:cNvSpPr/>
          <p:nvPr/>
        </p:nvSpPr>
        <p:spPr>
          <a:xfrm>
            <a:off x="478231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5?lid=5beb93baa&amp;amp;cid=5beb93baa&amp;amp;vtp=1">
            <a:hlinkClick r:id="rId4" action="ppaction://hlinksldjump"/>
          </p:cNvPr>
          <p:cNvSpPr/>
          <p:nvPr/>
        </p:nvSpPr>
        <p:spPr>
          <a:xfrm>
            <a:off x="532180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
        <p:nvSpPr>
          <p:cNvPr id="7" name="C_0#auto_editor_catalog_5?lid=67e661af3&amp;amp;cid=67e661af3&amp;amp;vtp=1">
            <a:hlinkClick r:id="rId5" action="ppaction://hlinksldjump"/>
          </p:cNvPr>
          <p:cNvSpPr/>
          <p:nvPr/>
        </p:nvSpPr>
        <p:spPr>
          <a:xfrm>
            <a:off x="586130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3</a:t>
            </a:r>
            <a:endParaRPr lang="en-US" sz="1600" dirty="0"/>
          </a:p>
        </p:txBody>
      </p:sp>
      <p:sp>
        <p:nvSpPr>
          <p:cNvPr id="8" name="C_0#auto_editor_catalog_5?lid=c02cf5f1d&amp;amp;cid=c02cf5f1d&amp;amp;vtp=1">
            <a:hlinkClick r:id="rId6" action="ppaction://hlinksldjump"/>
          </p:cNvPr>
          <p:cNvSpPr/>
          <p:nvPr/>
        </p:nvSpPr>
        <p:spPr>
          <a:xfrm>
            <a:off x="6400800"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4</a:t>
            </a:r>
            <a:endParaRPr lang="en-US" sz="1600" dirty="0"/>
          </a:p>
        </p:txBody>
      </p:sp>
      <p:sp>
        <p:nvSpPr>
          <p:cNvPr id="9" name="C_0#auto_editor_catalog_5?lid=0d2a50978&amp;amp;cid=0d2a50978&amp;amp;vtp=1">
            <a:hlinkClick r:id="rId7" action="ppaction://hlinksldjump"/>
          </p:cNvPr>
          <p:cNvSpPr/>
          <p:nvPr/>
        </p:nvSpPr>
        <p:spPr>
          <a:xfrm>
            <a:off x="6940296"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5</a:t>
            </a:r>
            <a:endParaRPr lang="en-US" sz="16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mc=目录配置1#12a88c36a,23f09d8d3">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11?lid=837cb4b51&amp;amp;cid=837cb4b51&amp;amp;vtp=1">
            <a:hlinkClick r:id="rId3"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11?lid=f502c5c83&amp;amp;cid=f502c5c83&amp;amp;vtp=1">
            <a:hlinkClick r:id="rId4"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内容#mc=目录配置1#12a88c36a,7385e3c61">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14?lid=cc69a5a1c&amp;amp;cid=cc69a5a1c&amp;amp;vtp=1">
            <a:hlinkClick r:id="rId3" action="ppaction://hlinksldjump"/>
          </p:cNvPr>
          <p:cNvSpPr/>
          <p:nvPr/>
        </p:nvSpPr>
        <p:spPr>
          <a:xfrm>
            <a:off x="586130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内容#df=48ae0c14e">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第2讲 时间 位移</a:t>
            </a:r>
            <a:endParaRPr lang="en-US" sz="18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内容#mc=目录配置1#12a88c36a,12a88c36a,48ae0c14e,0085cf913#df=48ae0c14e">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第2讲 时间 位移</a:t>
            </a:r>
            <a:endParaRPr lang="en-US" sz="1800" dirty="0"/>
          </a:p>
        </p:txBody>
      </p:sp>
      <p:sp>
        <p:nvSpPr>
          <p:cNvPr id="5" name="C_0#auto_editor_catalog_0?lid=6eab78c08&amp;amp;cid=6eab78c08&amp;amp;vtp=1">
            <a:hlinkClick r:id="rId3" action="ppaction://hlinksldjump"/>
          </p:cNvPr>
          <p:cNvSpPr/>
          <p:nvPr/>
        </p:nvSpPr>
        <p:spPr>
          <a:xfrm>
            <a:off x="505663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0?lid=a1295aeb0&amp;amp;cid=a1295aeb0&amp;amp;vtp=1">
            <a:hlinkClick r:id="rId4"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
        <p:nvSpPr>
          <p:cNvPr id="7" name="C_0#auto_editor_catalog_0?lid=20bd730ac&amp;amp;cid=20bd730ac&amp;amp;vtp=1">
            <a:hlinkClick r:id="rId4"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3</a:t>
            </a:r>
            <a:endParaRPr lang="en-US" sz="1600" dirty="0"/>
          </a:p>
        </p:txBody>
      </p:sp>
      <p:sp>
        <p:nvSpPr>
          <p:cNvPr id="8" name="C_0#auto_editor_catalog_0?lid=1179da7e1&amp;amp;cid=1179da7e1&amp;amp;vtp=1">
            <a:hlinkClick r:id="rId5" action="ppaction://hlinksldjump"/>
          </p:cNvPr>
          <p:cNvSpPr/>
          <p:nvPr/>
        </p:nvSpPr>
        <p:spPr>
          <a:xfrm>
            <a:off x="6675120"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4</a:t>
            </a:r>
            <a:endParaRPr lang="en-US" sz="16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内容#mc=目录配置1#12a88c36a,deead102e#df=48ae0c14e">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第2讲 时间 位移</a:t>
            </a:r>
            <a:endParaRPr lang="en-US" sz="1800" dirty="0"/>
          </a:p>
        </p:txBody>
      </p:sp>
      <p:sp>
        <p:nvSpPr>
          <p:cNvPr id="5" name="C_0#auto_editor_catalog_5?lid=b56f6dd4e&amp;amp;cid=b56f6dd4e&amp;amp;vtp=1">
            <a:hlinkClick r:id="rId3" action="ppaction://hlinksldjump"/>
          </p:cNvPr>
          <p:cNvSpPr/>
          <p:nvPr/>
        </p:nvSpPr>
        <p:spPr>
          <a:xfrm>
            <a:off x="478231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5?lid=5beb93baa&amp;amp;cid=5beb93baa&amp;amp;vtp=1">
            <a:hlinkClick r:id="rId4" action="ppaction://hlinksldjump"/>
          </p:cNvPr>
          <p:cNvSpPr/>
          <p:nvPr/>
        </p:nvSpPr>
        <p:spPr>
          <a:xfrm>
            <a:off x="532180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
        <p:nvSpPr>
          <p:cNvPr id="7" name="C_0#auto_editor_catalog_5?lid=67e661af3&amp;amp;cid=67e661af3&amp;amp;vtp=1">
            <a:hlinkClick r:id="rId5" action="ppaction://hlinksldjump"/>
          </p:cNvPr>
          <p:cNvSpPr/>
          <p:nvPr/>
        </p:nvSpPr>
        <p:spPr>
          <a:xfrm>
            <a:off x="586130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3</a:t>
            </a:r>
            <a:endParaRPr lang="en-US" sz="1600" dirty="0"/>
          </a:p>
        </p:txBody>
      </p:sp>
      <p:sp>
        <p:nvSpPr>
          <p:cNvPr id="8" name="C_0#auto_editor_catalog_5?lid=c02cf5f1d&amp;amp;cid=c02cf5f1d&amp;amp;vtp=1">
            <a:hlinkClick r:id="rId6" action="ppaction://hlinksldjump"/>
          </p:cNvPr>
          <p:cNvSpPr/>
          <p:nvPr/>
        </p:nvSpPr>
        <p:spPr>
          <a:xfrm>
            <a:off x="6400800"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4</a:t>
            </a:r>
            <a:endParaRPr lang="en-US" sz="1600" dirty="0"/>
          </a:p>
        </p:txBody>
      </p:sp>
      <p:sp>
        <p:nvSpPr>
          <p:cNvPr id="9" name="C_0#auto_editor_catalog_5?lid=0d2a50978&amp;amp;cid=0d2a50978&amp;amp;vtp=1">
            <a:hlinkClick r:id="rId7" action="ppaction://hlinksldjump"/>
          </p:cNvPr>
          <p:cNvSpPr/>
          <p:nvPr/>
        </p:nvSpPr>
        <p:spPr>
          <a:xfrm>
            <a:off x="6940296"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5</a:t>
            </a:r>
            <a:endParaRPr lang="en-US" sz="160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内容#mc=目录配置1#12a88c36a,23f09d8d3#df=48ae0c14e">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第2讲 时间 位移</a:t>
            </a:r>
            <a:endParaRPr lang="en-US" sz="1800" dirty="0"/>
          </a:p>
        </p:txBody>
      </p:sp>
      <p:sp>
        <p:nvSpPr>
          <p:cNvPr id="5" name="C_0#auto_editor_catalog_11?lid=837cb4b51&amp;amp;cid=837cb4b51&amp;amp;vtp=1">
            <a:hlinkClick r:id="rId3"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11?lid=f502c5c83&amp;amp;cid=f502c5c83&amp;amp;vtp=1">
            <a:hlinkClick r:id="rId4"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内容#mc=目录配置1#12a88c36a,7385e3c61#df=48ae0c14e">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第2讲 时间 位移</a:t>
            </a:r>
            <a:endParaRPr lang="en-US" sz="1800" dirty="0"/>
          </a:p>
        </p:txBody>
      </p:sp>
      <p:sp>
        <p:nvSpPr>
          <p:cNvPr id="5" name="C_0#auto_editor_catalog_14?lid=cc69a5a1c&amp;amp;cid=cc69a5a1c&amp;amp;vtp=1">
            <a:hlinkClick r:id="rId3" action="ppaction://hlinksldjump"/>
          </p:cNvPr>
          <p:cNvSpPr/>
          <p:nvPr/>
        </p:nvSpPr>
        <p:spPr>
          <a:xfrm>
            <a:off x="586130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4.xml"/><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2#48ae0c14e.fixed?vcp=1&amp;pid=12a88c36a&amp;color=0,112,192&amp;vtp=1&amp;bbb=1"/>
          <p:cNvSpPr/>
          <p:nvPr/>
        </p:nvSpPr>
        <p:spPr>
          <a:xfrm>
            <a:off x="0" y="2157984"/>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第一章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运动的描述</a:t>
            </a:r>
            <a:endParaRPr lang="en-US" altLang="zh-CN" sz="4800" dirty="0"/>
          </a:p>
        </p:txBody>
      </p:sp>
      <p:sp>
        <p:nvSpPr>
          <p:cNvPr id="3" name="C_2_BD#48ae0c14e.fixed?vcp=1&amp;pid=12a88c36a&amp;color=0,0,0&amp;vtp=1&amp;bbb=1"/>
          <p:cNvSpPr/>
          <p:nvPr/>
        </p:nvSpPr>
        <p:spPr>
          <a:xfrm>
            <a:off x="265176" y="3602736"/>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第2讲</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时间</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位移</a:t>
            </a:r>
            <a:endParaRPr lang="en-US" altLang="zh-CN" sz="44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sp>
        <p:nvSpPr>
          <p:cNvPr id="2" name="C_3_BD#0085cf913?vcp=1&amp;pid=48ae0c14e&amp;color=0,0,0&amp;vtp=1&amp;bt=1&amp;bbb=1"/>
          <p:cNvSpPr/>
          <p:nvPr/>
        </p:nvSpPr>
        <p:spPr>
          <a:xfrm>
            <a:off x="393192" y="502920"/>
            <a:ext cx="11402568" cy="949960"/>
          </a:xfrm>
          <a:prstGeom prst="rect">
            <a:avLst/>
          </a:prstGeom>
          <a:noFill/>
          <a:ln/>
        </p:spPr>
        <p:txBody>
          <a:bodyPr wrap="none" lIns="0" tIns="0" rIns="0" bIns="0" rtlCol="0" anchor="t"/>
          <a:lstStyle/>
          <a:p>
            <a:pPr algn="l" latinLnBrk="1">
              <a:lnSpc>
                <a:spcPts val="4600"/>
              </a:lnSpc>
            </a:pPr>
            <a:r>
              <a:rPr lang="en-US" altLang="zh-CN" sz="2600" b="1" i="0" dirty="0">
                <a:solidFill>
                  <a:srgbClr val="000000"/>
                </a:solidFill>
                <a:latin typeface="Times New Roman" pitchFamily="34" charset="0"/>
                <a:ea typeface="SimHei" pitchFamily="34" charset="-122"/>
                <a:cs typeface="Times New Roman" pitchFamily="34" charset="-120"/>
              </a:rPr>
              <a:t>基础考点过关练</a:t>
            </a:r>
            <a:endParaRPr lang="en-US" altLang="zh-CN" sz="2600" dirty="0"/>
          </a:p>
        </p:txBody>
      </p:sp>
      <p:sp>
        <p:nvSpPr>
          <p:cNvPr id="3" name="P_4_BD#5efb89510?vcp=1&amp;pid=0085cf913&amp;color=0,0,0&amp;vtp=1&amp;bbb=1"/>
          <p:cNvSpPr/>
          <p:nvPr/>
        </p:nvSpPr>
        <p:spPr>
          <a:xfrm>
            <a:off x="393192" y="1093884"/>
            <a:ext cx="11402568" cy="488125"/>
          </a:xfrm>
          <a:prstGeom prst="rect">
            <a:avLst/>
          </a:prstGeom>
          <a:noFill/>
          <a:ln/>
        </p:spPr>
        <p:txBody>
          <a:bodyPr wrap="none" lIns="0" tIns="0" rIns="0" bIns="0" rtlCol="0" anchor="t"/>
          <a:lstStyle/>
          <a:p>
            <a:pPr algn="ctr"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限时10分钟</a:t>
            </a:r>
            <a:endParaRPr lang="en-US" altLang="zh-CN" sz="2400" dirty="0"/>
          </a:p>
        </p:txBody>
      </p:sp>
      <p:sp>
        <p:nvSpPr>
          <p:cNvPr id="4" name="QC_4_BD.1_1#6eab78c08?vcp=1&amp;pid=0085cf913&amp;color=0,0,0&amp;vtp=1&amp;bbb=1&amp;hb=1"/>
          <p:cNvSpPr/>
          <p:nvPr/>
        </p:nvSpPr>
        <p:spPr>
          <a:xfrm>
            <a:off x="393192" y="1649285"/>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1" i="0" dirty="0">
                <a:solidFill>
                  <a:srgbClr val="000000"/>
                </a:solidFill>
                <a:latin typeface="Times New Roman" pitchFamily="34" charset="0"/>
                <a:ea typeface="微软雅黑" pitchFamily="34" charset="-122"/>
                <a:cs typeface="Times New Roman" pitchFamily="34" charset="-120"/>
              </a:rPr>
              <a:t>考点1</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（2026·湖北黄冈中学检测）</a:t>
            </a:r>
            <a:r>
              <a:rPr lang="en-US" altLang="zh-CN" sz="2400" b="0" i="0" dirty="0">
                <a:solidFill>
                  <a:srgbClr val="000000"/>
                </a:solidFill>
                <a:latin typeface="Times New Roman" pitchFamily="34" charset="0"/>
                <a:ea typeface="微软雅黑" pitchFamily="34" charset="-122"/>
                <a:cs typeface="Times New Roman" pitchFamily="34" charset="-120"/>
              </a:rPr>
              <a:t>2025年4月24日</a:t>
            </a:r>
            <a:r>
              <a:rPr lang="en-US" altLang="zh-CN" sz="2400" b="0" i="0">
                <a:solidFill>
                  <a:srgbClr val="000000"/>
                </a:solidFill>
                <a:latin typeface="Times New Roman" pitchFamily="34" charset="0"/>
                <a:ea typeface="微软雅黑" pitchFamily="34" charset="-122"/>
                <a:cs typeface="Times New Roman" pitchFamily="34" charset="-120"/>
              </a:rPr>
              <a:t>，神舟二十号载人飞船发射成</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功</a:t>
            </a:r>
            <a:r>
              <a:rPr lang="en-US" altLang="zh-CN" sz="2400" b="0" i="0" dirty="0">
                <a:solidFill>
                  <a:srgbClr val="000000"/>
                </a:solidFill>
                <a:latin typeface="Times New Roman" pitchFamily="34" charset="0"/>
                <a:ea typeface="微软雅黑" pitchFamily="34" charset="-122"/>
                <a:cs typeface="Times New Roman" pitchFamily="34" charset="-120"/>
              </a:rPr>
              <a:t>.飞行乘组由陈冬、陈中瑞、王杰3名航天员组成</a:t>
            </a:r>
            <a:r>
              <a:rPr lang="en-US" altLang="zh-CN" sz="2400" b="0" i="0">
                <a:solidFill>
                  <a:srgbClr val="000000"/>
                </a:solidFill>
                <a:latin typeface="Times New Roman" pitchFamily="34" charset="0"/>
                <a:ea typeface="微软雅黑" pitchFamily="34" charset="-122"/>
                <a:cs typeface="Times New Roman" pitchFamily="34" charset="-120"/>
              </a:rPr>
              <a:t>.下列表述用到了时间间隔的是</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5" name="QC_4_AN.2_1#6eab78c08.bracket?vcp=1&amp;pid=0085cf913&amp;color=0,0,0&amp;vpa=1&amp;vtp=1"/>
          <p:cNvSpPr/>
          <p:nvPr/>
        </p:nvSpPr>
        <p:spPr>
          <a:xfrm>
            <a:off x="625760" y="2755455"/>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p:sp>
        <p:nvSpPr>
          <p:cNvPr id="6" name="QC_4_BD.1_2#6eab78c08.choices?vcp=1&amp;pid=0085cf913&amp;color=0,0,0&amp;vtp=1&amp;bbb=1"/>
          <p:cNvSpPr/>
          <p:nvPr/>
        </p:nvSpPr>
        <p:spPr>
          <a:xfrm>
            <a:off x="393192" y="3304286"/>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A.14时25分，航天员乘组出征仪式在酒泉卫星发射中心问天阁圆梦园广场正式开始</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.17时17分，搭载飞船的运载火箭点火发射</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.火箭点火发射约10分钟后，飞船与火箭分离并进入预定轨道，发射取得圆满成功</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.23时49分，飞船与空间站天和核心舱成功完成对接</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p:sp>
        <p:nvSpPr>
          <p:cNvPr id="2" name="QC_4_BD.3_1#a1295aeb0?vcp=1&amp;pid=0085cf913&amp;color=0,0,0&amp;vtp=1&amp;bt=1&amp;bbb=1"/>
          <p:cNvSpPr/>
          <p:nvPr/>
        </p:nvSpPr>
        <p:spPr>
          <a:xfrm>
            <a:off x="393192" y="961263"/>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1" i="0" dirty="0">
                <a:solidFill>
                  <a:srgbClr val="000000"/>
                </a:solidFill>
                <a:latin typeface="Times New Roman" pitchFamily="34" charset="0"/>
                <a:ea typeface="微软雅黑" pitchFamily="34" charset="-122"/>
                <a:cs typeface="Times New Roman" pitchFamily="34" charset="-120"/>
              </a:rPr>
              <a:t>考点1</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（2025·湖南长沙一中检测）</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如图所示</a:t>
            </a:r>
            <a:r>
              <a:rPr lang="en-US" altLang="zh-CN" sz="2400" b="0" i="0" dirty="0">
                <a:solidFill>
                  <a:srgbClr val="000000"/>
                </a:solidFill>
                <a:latin typeface="Times New Roman" pitchFamily="34" charset="0"/>
                <a:ea typeface="微软雅黑" pitchFamily="34" charset="-122"/>
                <a:cs typeface="Times New Roman" pitchFamily="34" charset="-120"/>
              </a:rPr>
              <a:t>，一同学画了一条表示时间的数轴，</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pic>
        <p:nvPicPr>
          <p:cNvPr id="3" name="QC_4_BD.3_2#a1295aeb0?vcp=1&amp;pid=0085cf913&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4160520" y="2121788"/>
            <a:ext cx="3867912" cy="457200"/>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4" name="QC_4_AN.4_1#a1295aeb0.bracket?vcp=1&amp;pid=0085cf913&amp;color=0,0,0&amp;vpa=2&amp;vtp=1"/>
          <p:cNvSpPr/>
          <p:nvPr/>
        </p:nvSpPr>
        <p:spPr>
          <a:xfrm>
            <a:off x="9160161" y="1508633"/>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D</a:t>
            </a:r>
            <a:endParaRPr lang="en-US" altLang="zh-CN" sz="2400" dirty="0"/>
          </a:p>
        </p:txBody>
      </p:sp>
      <mc:AlternateContent xmlns:mc="http://schemas.openxmlformats.org/markup-compatibility/2006">
        <mc:Choice xmlns:a14="http://schemas.microsoft.com/office/drawing/2010/main" Requires="a14">
          <p:sp>
            <p:nvSpPr>
              <p:cNvPr id="5" name="QC_4_BD.3_3#a1295aeb0.choices?vcp=1&amp;pid=0085cf913&amp;color=0,0,0&amp;vtp=1&amp;bbb=1"/>
              <p:cNvSpPr/>
              <p:nvPr/>
            </p:nvSpPr>
            <p:spPr>
              <a:xfrm>
                <a:off x="393192" y="2705988"/>
                <a:ext cx="11402568" cy="1033399"/>
              </a:xfrm>
              <a:prstGeom prst="rect">
                <a:avLst/>
              </a:prstGeom>
              <a:noFill/>
              <a:ln/>
            </p:spPr>
            <p:txBody>
              <a:bodyPr wrap="none" lIns="0" tIns="0" rIns="0" bIns="0" rtlCol="0" anchor="t"/>
              <a:lstStyle/>
              <a:p>
                <a:pPr latinLnBrk="1">
                  <a:lnSpc>
                    <a:spcPts val="4400"/>
                  </a:lnSpc>
                  <a:tabLst>
                    <a:tab pos="5807954"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2400" b="0" i="0" dirty="0">
                    <a:solidFill>
                      <a:srgbClr val="000000"/>
                    </a:solidFill>
                    <a:latin typeface="Times New Roman" pitchFamily="34" charset="0"/>
                    <a:ea typeface="微软雅黑" pitchFamily="34" charset="-122"/>
                    <a:cs typeface="Times New Roman" pitchFamily="34" charset="-120"/>
                  </a:rPr>
                  <a:t>点表示第</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a:solidFill>
                      <a:srgbClr val="000000"/>
                    </a:solidFill>
                    <a:latin typeface="Times New Roman" pitchFamily="34" charset="0"/>
                    <a:ea typeface="微软雅黑" pitchFamily="34" charset="-122"/>
                    <a:cs typeface="Times New Roman" pitchFamily="34" charset="-120"/>
                  </a:rPr>
                  <a:t>初这一时刻</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𝑏</m:t>
                    </m:r>
                  </m:oMath>
                </a14:m>
                <a:r>
                  <a:rPr lang="en-US" altLang="zh-CN" sz="2400" b="0" i="0" dirty="0">
                    <a:solidFill>
                      <a:srgbClr val="000000"/>
                    </a:solidFill>
                    <a:latin typeface="Times New Roman" pitchFamily="34" charset="0"/>
                    <a:ea typeface="微软雅黑" pitchFamily="34" charset="-122"/>
                    <a:cs typeface="Times New Roman" pitchFamily="34" charset="-120"/>
                  </a:rPr>
                  <a:t>点表示第</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内这一段时间</a:t>
                </a:r>
                <a:endParaRPr lang="en-US" altLang="zh-CN" sz="2400" dirty="0"/>
              </a:p>
              <a:p>
                <a:pPr latinLnBrk="1">
                  <a:lnSpc>
                    <a:spcPts val="4200"/>
                  </a:lnSpc>
                  <a:tabLst>
                    <a:tab pos="5807954" algn="l"/>
                  </a:tabLst>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2400" b="0" i="0" dirty="0">
                    <a:solidFill>
                      <a:srgbClr val="000000"/>
                    </a:solidFill>
                    <a:latin typeface="Times New Roman" pitchFamily="34" charset="0"/>
                    <a:ea typeface="微软雅黑" pitchFamily="34" charset="-122"/>
                    <a:cs typeface="Times New Roman" pitchFamily="34" charset="-120"/>
                  </a:rPr>
                  <a:t>点到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𝑐</m:t>
                    </m:r>
                  </m:oMath>
                </a14:m>
                <a:r>
                  <a:rPr lang="en-US" altLang="zh-CN" sz="2400" b="0" i="0" dirty="0">
                    <a:solidFill>
                      <a:srgbClr val="000000"/>
                    </a:solidFill>
                    <a:latin typeface="Times New Roman" pitchFamily="34" charset="0"/>
                    <a:ea typeface="微软雅黑" pitchFamily="34" charset="-122"/>
                    <a:cs typeface="Times New Roman" pitchFamily="34" charset="-120"/>
                  </a:rPr>
                  <a:t>点表示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𝑛</m:t>
                    </m:r>
                    <m:r>
                      <a:rPr lang="en-US" altLang="zh-CN" sz="2400" b="0" i="0">
                        <a:solidFill>
                          <a:srgbClr val="000000"/>
                        </a:solidFill>
                        <a:latin typeface="Cambria Math" pitchFamily="34" charset="0"/>
                        <a:ea typeface="Cambria Math" pitchFamily="34" charset="-122"/>
                        <a:cs typeface="Cambria Math" pitchFamily="34" charset="-120"/>
                      </a:rPr>
                      <m:t>−1)</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a:solidFill>
                      <a:srgbClr val="000000"/>
                    </a:solidFill>
                    <a:latin typeface="Times New Roman" pitchFamily="34" charset="0"/>
                    <a:ea typeface="微软雅黑" pitchFamily="34" charset="-122"/>
                    <a:cs typeface="Times New Roman" pitchFamily="34" charset="-120"/>
                  </a:rPr>
                  <a:t>的时间间隔</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𝑐</m:t>
                    </m:r>
                  </m:oMath>
                </a14:m>
                <a:r>
                  <a:rPr lang="en-US" altLang="zh-CN" sz="2400" b="0" i="0" dirty="0">
                    <a:solidFill>
                      <a:srgbClr val="000000"/>
                    </a:solidFill>
                    <a:latin typeface="Times New Roman" pitchFamily="34" charset="0"/>
                    <a:ea typeface="微软雅黑" pitchFamily="34" charset="-122"/>
                    <a:cs typeface="Times New Roman" pitchFamily="34" charset="-120"/>
                  </a:rPr>
                  <a:t>点到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𝑑</m:t>
                    </m:r>
                  </m:oMath>
                </a14:m>
                <a:r>
                  <a:rPr lang="en-US" altLang="zh-CN" sz="2400" b="0" i="0" dirty="0">
                    <a:solidFill>
                      <a:srgbClr val="000000"/>
                    </a:solidFill>
                    <a:latin typeface="Times New Roman" pitchFamily="34" charset="0"/>
                    <a:ea typeface="微软雅黑" pitchFamily="34" charset="-122"/>
                    <a:cs typeface="Times New Roman" pitchFamily="34" charset="-120"/>
                  </a:rPr>
                  <a:t>点表示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的时间间隔</a:t>
                </a:r>
                <a:endParaRPr lang="en-US" altLang="zh-CN" sz="2400" dirty="0"/>
              </a:p>
            </p:txBody>
          </p:sp>
        </mc:Choice>
        <mc:Fallback>
          <p:sp>
            <p:nvSpPr>
              <p:cNvPr id="5" name="QC_4_BD.3_3#a1295aeb0.choices?vcp=1&amp;pid=0085cf913&amp;color=0,0,0&amp;vtp=1&amp;bbb=1"/>
              <p:cNvSpPr>
                <a:spLocks noRot="1" noChangeAspect="1" noMove="1" noResize="1" noEditPoints="1" noAdjustHandles="1" noChangeArrowheads="1" noChangeShapeType="1" noTextEdit="1"/>
              </p:cNvSpPr>
              <p:nvPr/>
            </p:nvSpPr>
            <p:spPr>
              <a:xfrm>
                <a:off x="393192" y="2705988"/>
                <a:ext cx="11402568" cy="1033399"/>
              </a:xfrm>
              <a:prstGeom prst="rect">
                <a:avLst/>
              </a:prstGeom>
              <a:blipFill>
                <a:blip r:embed="rId4"/>
                <a:stretch>
                  <a:fillRect l="-1658" b="-17751"/>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C_4_BD.5_1#20bd730ac?vcp=1&amp;pid=0085cf913&amp;color=0,0,0&amp;vtp=1&amp;bbb=1&amp;hb=1"/>
              <p:cNvSpPr/>
              <p:nvPr/>
            </p:nvSpPr>
            <p:spPr>
              <a:xfrm>
                <a:off x="393192" y="3746118"/>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3.</a:t>
                </a:r>
                <a:r>
                  <a:rPr lang="en-US" altLang="zh-CN" sz="2400" b="1" i="0" dirty="0">
                    <a:solidFill>
                      <a:srgbClr val="000000"/>
                    </a:solidFill>
                    <a:latin typeface="Times New Roman" pitchFamily="34" charset="0"/>
                    <a:ea typeface="微软雅黑" pitchFamily="34" charset="-122"/>
                    <a:cs typeface="Times New Roman" pitchFamily="34" charset="-120"/>
                  </a:rPr>
                  <a:t>考点2</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从一深为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dirty="0">
                    <a:solidFill>
                      <a:srgbClr val="000000"/>
                    </a:solidFill>
                    <a:latin typeface="Times New Roman" pitchFamily="34" charset="0"/>
                    <a:ea typeface="微软雅黑" pitchFamily="34" charset="-122"/>
                    <a:cs typeface="Times New Roman" pitchFamily="34" charset="-120"/>
                  </a:rPr>
                  <a:t>的井中用水桶提水，出井后又将水桶提升了</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,选井口处为坐</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标原点</a:t>
                </a:r>
                <a:r>
                  <a:rPr lang="en-US" altLang="zh-CN" sz="2400" b="0" i="0" dirty="0">
                    <a:solidFill>
                      <a:srgbClr val="000000"/>
                    </a:solidFill>
                    <a:latin typeface="Times New Roman" pitchFamily="34" charset="0"/>
                    <a:ea typeface="微软雅黑" pitchFamily="34" charset="-122"/>
                    <a:cs typeface="Times New Roman" pitchFamily="34" charset="-120"/>
                  </a:rPr>
                  <a:t>，水桶竖直向上提升的路线为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轴，以向上为正方向</a:t>
                </a:r>
                <a:r>
                  <a:rPr lang="en-US" altLang="zh-CN" sz="2400" b="0" i="0">
                    <a:solidFill>
                      <a:srgbClr val="000000"/>
                    </a:solidFill>
                    <a:latin typeface="Times New Roman" pitchFamily="34" charset="0"/>
                    <a:ea typeface="微软雅黑" pitchFamily="34" charset="-122"/>
                    <a:cs typeface="Times New Roman" pitchFamily="34" charset="-120"/>
                  </a:rPr>
                  <a:t>，则水桶在水面时的位置</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坐标和最后的位置坐标分别是(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6" name="QC_4_BD.5_1#20bd730ac?vcp=1&amp;pid=0085cf913&amp;color=0,0,0&amp;vtp=1&amp;bbb=1&amp;hb=1"/>
              <p:cNvSpPr>
                <a:spLocks noRot="1" noChangeAspect="1" noMove="1" noResize="1" noEditPoints="1" noAdjustHandles="1" noChangeArrowheads="1" noChangeShapeType="1" noTextEdit="1"/>
              </p:cNvSpPr>
              <p:nvPr/>
            </p:nvSpPr>
            <p:spPr>
              <a:xfrm>
                <a:off x="393192" y="3746118"/>
                <a:ext cx="11402568" cy="1592199"/>
              </a:xfrm>
              <a:prstGeom prst="rect">
                <a:avLst/>
              </a:prstGeom>
              <a:blipFill>
                <a:blip r:embed="rId5"/>
                <a:stretch>
                  <a:fillRect l="-1658" b="-11494"/>
                </a:stretch>
              </a:blipFill>
              <a:ln/>
            </p:spPr>
            <p:txBody>
              <a:bodyPr/>
              <a:lstStyle/>
              <a:p>
                <a:r>
                  <a:rPr lang="zh-CN" altLang="en-US">
                    <a:noFill/>
                  </a:rPr>
                  <a:t> </a:t>
                </a:r>
              </a:p>
            </p:txBody>
          </p:sp>
        </mc:Fallback>
      </mc:AlternateContent>
      <p:sp>
        <p:nvSpPr>
          <p:cNvPr id="7" name="QC_4_AN.6_1#20bd730ac.bracket?vcp=1&amp;pid=0085cf913&amp;color=0,0,0&amp;vpa=3&amp;vtp=1"/>
          <p:cNvSpPr/>
          <p:nvPr/>
        </p:nvSpPr>
        <p:spPr>
          <a:xfrm>
            <a:off x="4600860" y="4852288"/>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mc:AlternateContent xmlns:mc="http://schemas.openxmlformats.org/markup-compatibility/2006">
        <mc:Choice xmlns:a14="http://schemas.microsoft.com/office/drawing/2010/main" Requires="a14">
          <p:sp>
            <p:nvSpPr>
              <p:cNvPr id="8" name="QC_4_BD.5_2#20bd730ac.choices?vcp=1&amp;pid=0085cf913&amp;color=0,0,0&amp;vtp=1&amp;bbb=1"/>
              <p:cNvSpPr/>
              <p:nvPr/>
            </p:nvSpPr>
            <p:spPr>
              <a:xfrm>
                <a:off x="393192" y="5389561"/>
                <a:ext cx="11402568" cy="477330"/>
              </a:xfrm>
              <a:prstGeom prst="rect">
                <a:avLst/>
              </a:prstGeom>
              <a:noFill/>
              <a:ln/>
            </p:spPr>
            <p:txBody>
              <a:bodyPr wrap="none" lIns="0" tIns="0" rIns="0" bIns="0" rtlCol="0" anchor="t"/>
              <a:lstStyle/>
              <a:p>
                <a:pPr latinLnBrk="1">
                  <a:lnSpc>
                    <a:spcPts val="4300"/>
                  </a:lnSpc>
                  <a:tabLst>
                    <a:tab pos="2891277" algn="l"/>
                    <a:tab pos="5973054" algn="l"/>
                    <a:tab pos="8496031"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a:solidFill>
                      <a:srgbClr val="000000"/>
                    </a:solidFill>
                    <a:latin typeface="Times New Roman" pitchFamily="34" charset="0"/>
                    <a:ea typeface="微软雅黑" pitchFamily="34" charset="-122"/>
                    <a:cs typeface="Times New Roman" pitchFamily="34" charset="-120"/>
                  </a:rPr>
                  <a:t>,0</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8" name="QC_4_BD.5_2#20bd730ac.choices?vcp=1&amp;pid=0085cf913&amp;color=0,0,0&amp;vtp=1&amp;bbb=1"/>
              <p:cNvSpPr>
                <a:spLocks noRot="1" noChangeAspect="1" noMove="1" noResize="1" noEditPoints="1" noAdjustHandles="1" noChangeArrowheads="1" noChangeShapeType="1" noTextEdit="1"/>
              </p:cNvSpPr>
              <p:nvPr/>
            </p:nvSpPr>
            <p:spPr>
              <a:xfrm>
                <a:off x="393192" y="5389561"/>
                <a:ext cx="11402568" cy="477330"/>
              </a:xfrm>
              <a:prstGeom prst="rect">
                <a:avLst/>
              </a:prstGeom>
              <a:blipFill>
                <a:blip r:embed="rId6"/>
                <a:stretch>
                  <a:fillRect l="-1658" b="-41026"/>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bg/>
                                          </p:spTgt>
                                        </p:tgtEl>
                                        <p:attrNameLst>
                                          <p:attrName>style.visibility</p:attrName>
                                        </p:attrNameLst>
                                      </p:cBhvr>
                                      <p:to>
                                        <p:strVal val="visible"/>
                                      </p:to>
                                    </p:set>
                                    <p:animEffect transition="in" filter="wipe(left)">
                                      <p:cBhvr>
                                        <p:cTn id="15" dur="500"/>
                                        <p:tgtEl>
                                          <p:spTgt spid="7">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wipe(left)">
                                      <p:cBhvr>
                                        <p:cTn id="1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7"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p:sp>
        <p:nvSpPr>
          <p:cNvPr id="2" name="QC_4_BD.7_1#1179da7e1?vcp=1&amp;pid=0085cf913&amp;color=0,0,0&amp;vtp=1&amp;bt=1&amp;bbb=1&amp;hb=1"/>
          <p:cNvSpPr/>
          <p:nvPr/>
        </p:nvSpPr>
        <p:spPr>
          <a:xfrm>
            <a:off x="393192" y="1008539"/>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4.</a:t>
            </a:r>
            <a:r>
              <a:rPr lang="en-US" altLang="zh-CN" sz="2400" b="1" i="0" dirty="0">
                <a:solidFill>
                  <a:srgbClr val="000000"/>
                </a:solidFill>
                <a:latin typeface="Times New Roman" pitchFamily="34" charset="0"/>
                <a:ea typeface="微软雅黑" pitchFamily="34" charset="-122"/>
                <a:cs typeface="Times New Roman" pitchFamily="34" charset="-120"/>
              </a:rPr>
              <a:t>考点5</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（2025·湖北武汉一中检测</a:t>
            </a:r>
            <a:r>
              <a:rPr lang="en-US" altLang="zh-CN" sz="2400" b="0" i="0">
                <a:solidFill>
                  <a:srgbClr val="1E5A99"/>
                </a:solidFill>
                <a:latin typeface="KaiTi" pitchFamily="34" charset="0"/>
                <a:ea typeface="KaiTi" pitchFamily="34" charset="-122"/>
                <a:cs typeface="KaiTi"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如图所示是某同学在使用打点计时器时得到的</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一条纸带</a:t>
            </a:r>
            <a:r>
              <a:rPr lang="en-US" altLang="zh-CN" sz="2400" b="0" i="0" dirty="0">
                <a:solidFill>
                  <a:srgbClr val="000000"/>
                </a:solidFill>
                <a:latin typeface="Times New Roman" pitchFamily="34" charset="0"/>
                <a:ea typeface="微软雅黑" pitchFamily="34" charset="-122"/>
                <a:cs typeface="Times New Roman" pitchFamily="34" charset="-120"/>
              </a:rPr>
              <a:t>，图上的点是时间间隔相同的计数点.对于这条纸带</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pic>
        <p:nvPicPr>
          <p:cNvPr id="3" name="QC_4_BD.7_2#1179da7e1?vcp=1&amp;pid=0085cf913&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3986784" y="2729135"/>
            <a:ext cx="4215384" cy="822960"/>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4" name="QC_4_AN.8_1#1179da7e1.bracket?vcp=1&amp;pid=0085cf913&amp;color=0,0,0&amp;vpa=4&amp;vtp=1"/>
          <p:cNvSpPr/>
          <p:nvPr/>
        </p:nvSpPr>
        <p:spPr>
          <a:xfrm>
            <a:off x="638460" y="2114709"/>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mc:AlternateContent xmlns:mc="http://schemas.openxmlformats.org/markup-compatibility/2006">
        <mc:Choice xmlns:a14="http://schemas.microsoft.com/office/drawing/2010/main" Requires="a14">
          <p:sp>
            <p:nvSpPr>
              <p:cNvPr id="5" name="QC_4_BD.7_3#1179da7e1.choices?vcp=1&amp;pid=0085cf913&amp;color=0,0,0&amp;vtp=1&amp;bbb=1"/>
              <p:cNvSpPr/>
              <p:nvPr/>
            </p:nvSpPr>
            <p:spPr>
              <a:xfrm>
                <a:off x="393192" y="3681635"/>
                <a:ext cx="11402568" cy="2158302"/>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A.纸带一定运动得越来越快</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.纸带可能运动得越来越慢</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.计数点D、</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𝐸</m:t>
                    </m:r>
                  </m:oMath>
                </a14:m>
                <a:r>
                  <a:rPr lang="en-US" altLang="zh-CN" sz="2400" b="0" i="0" dirty="0">
                    <a:solidFill>
                      <a:srgbClr val="000000"/>
                    </a:solidFill>
                    <a:latin typeface="Times New Roman" pitchFamily="34" charset="0"/>
                    <a:ea typeface="微软雅黑" pitchFamily="34" charset="-122"/>
                    <a:cs typeface="Times New Roman" pitchFamily="34" charset="-120"/>
                  </a:rPr>
                  <a:t>之间的时间间隔大于计数点A、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之间的时间间隔</a:t>
                </a:r>
                <a:endParaRPr lang="en-US" altLang="zh-CN" sz="2400" dirty="0"/>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.计数点</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𝐸</m:t>
                    </m:r>
                  </m:oMath>
                </a14:m>
                <a:r>
                  <a:rPr lang="en-US" altLang="zh-CN" sz="2400" b="0" i="0" dirty="0">
                    <a:solidFill>
                      <a:srgbClr val="000000"/>
                    </a:solidFill>
                    <a:latin typeface="Times New Roman" pitchFamily="34" charset="0"/>
                    <a:ea typeface="微软雅黑" pitchFamily="34" charset="-122"/>
                    <a:cs typeface="Times New Roman" pitchFamily="34" charset="-120"/>
                  </a:rPr>
                  <a:t>之间的时间间隔一定是</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0.1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7_3#1179da7e1.choices?vcp=1&amp;pid=0085cf913&amp;color=0,0,0&amp;vtp=1&amp;bbb=1"/>
              <p:cNvSpPr>
                <a:spLocks noRot="1" noChangeAspect="1" noMove="1" noResize="1" noEditPoints="1" noAdjustHandles="1" noChangeArrowheads="1" noChangeShapeType="1" noTextEdit="1"/>
              </p:cNvSpPr>
              <p:nvPr/>
            </p:nvSpPr>
            <p:spPr>
              <a:xfrm>
                <a:off x="393192" y="3681635"/>
                <a:ext cx="11402568" cy="2158302"/>
              </a:xfrm>
              <a:prstGeom prst="rect">
                <a:avLst/>
              </a:prstGeom>
              <a:blipFill>
                <a:blip r:embed="rId4"/>
                <a:stretch>
                  <a:fillRect l="-1658" b="-8475"/>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amp;si=6">
    <p:spTree>
      <p:nvGrpSpPr>
        <p:cNvPr id="1" name=""/>
        <p:cNvGrpSpPr/>
        <p:nvPr/>
      </p:nvGrpSpPr>
      <p:grpSpPr>
        <a:xfrm>
          <a:off x="0" y="0"/>
          <a:ext cx="0" cy="0"/>
          <a:chOff x="0" y="0"/>
          <a:chExt cx="0" cy="0"/>
        </a:xfrm>
      </p:grpSpPr>
      <p:sp>
        <p:nvSpPr>
          <p:cNvPr id="2" name="C_3_BD#deead102e?vcp=1&amp;pid=48ae0c14e&amp;color=0,0,0&amp;vtp=1&amp;bt=1&amp;bbb=1"/>
          <p:cNvSpPr/>
          <p:nvPr/>
        </p:nvSpPr>
        <p:spPr>
          <a:xfrm>
            <a:off x="393192" y="502920"/>
            <a:ext cx="11402568" cy="949960"/>
          </a:xfrm>
          <a:prstGeom prst="rect">
            <a:avLst/>
          </a:prstGeom>
          <a:noFill/>
          <a:ln/>
        </p:spPr>
        <p:txBody>
          <a:bodyPr wrap="none" lIns="0" tIns="0" rIns="0" bIns="0" rtlCol="0" anchor="t"/>
          <a:lstStyle/>
          <a:p>
            <a:pPr algn="l" latinLnBrk="1">
              <a:lnSpc>
                <a:spcPts val="4600"/>
              </a:lnSpc>
            </a:pPr>
            <a:r>
              <a:rPr lang="en-US" altLang="zh-CN" sz="2600" b="1" i="0" dirty="0">
                <a:solidFill>
                  <a:srgbClr val="000000"/>
                </a:solidFill>
                <a:latin typeface="Times New Roman" pitchFamily="34" charset="0"/>
                <a:ea typeface="SimHei" pitchFamily="34" charset="-122"/>
                <a:cs typeface="Times New Roman" pitchFamily="34" charset="-120"/>
              </a:rPr>
              <a:t>能力考点提升练</a:t>
            </a:r>
            <a:endParaRPr lang="en-US" altLang="zh-CN" sz="2600" dirty="0"/>
          </a:p>
        </p:txBody>
      </p:sp>
      <p:sp>
        <p:nvSpPr>
          <p:cNvPr id="3" name="P_4_BD#b9ab36a2d?vcp=1&amp;pid=deead102e&amp;color=0,0,0&amp;vtp=1&amp;bbb=1"/>
          <p:cNvSpPr/>
          <p:nvPr/>
        </p:nvSpPr>
        <p:spPr>
          <a:xfrm>
            <a:off x="393192" y="1093884"/>
            <a:ext cx="11402568" cy="488125"/>
          </a:xfrm>
          <a:prstGeom prst="rect">
            <a:avLst/>
          </a:prstGeom>
          <a:noFill/>
          <a:ln/>
        </p:spPr>
        <p:txBody>
          <a:bodyPr wrap="none" lIns="0" tIns="0" rIns="0" bIns="0" rtlCol="0" anchor="t"/>
          <a:lstStyle/>
          <a:p>
            <a:pPr algn="ctr"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限时20分钟</a:t>
            </a:r>
            <a:endParaRPr lang="en-US" altLang="zh-CN" sz="2400" dirty="0"/>
          </a:p>
        </p:txBody>
      </p:sp>
      <p:pic>
        <p:nvPicPr>
          <p:cNvPr id="4" name="QC_4_BD.9_1#b56f6dd4e?htil=1&amp;vcp=1&amp;pid=deead102e&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10665261" y="1636586"/>
            <a:ext cx="1071062" cy="1557909"/>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9_2#b56f6dd4e?htil=1&amp;vcp=1&amp;pid=deead102e&amp;color=0,0,0&amp;vtp=1&amp;bbb=1&amp;hb=1&amp;hs=1"/>
              <p:cNvSpPr/>
              <p:nvPr/>
            </p:nvSpPr>
            <p:spPr>
              <a:xfrm>
                <a:off x="393192" y="1649285"/>
                <a:ext cx="10158984"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1" i="0" dirty="0">
                    <a:solidFill>
                      <a:srgbClr val="000000"/>
                    </a:solidFill>
                    <a:latin typeface="Times New Roman" pitchFamily="34" charset="0"/>
                    <a:ea typeface="微软雅黑" pitchFamily="34" charset="-122"/>
                    <a:cs typeface="Times New Roman" pitchFamily="34" charset="-120"/>
                  </a:rPr>
                  <a:t>考点2</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（2026·湖北鄂南高中检测）</a:t>
                </a:r>
                <a:r>
                  <a:rPr lang="en-US" altLang="zh-CN" sz="2400" b="0" i="0" dirty="0">
                    <a:solidFill>
                      <a:srgbClr val="000000"/>
                    </a:solidFill>
                    <a:latin typeface="Times New Roman" pitchFamily="34" charset="0"/>
                    <a:ea typeface="微软雅黑" pitchFamily="34" charset="-122"/>
                    <a:cs typeface="Times New Roman" pitchFamily="34" charset="-120"/>
                  </a:rPr>
                  <a:t>如图所示</a:t>
                </a:r>
                <a:r>
                  <a:rPr lang="en-US" altLang="zh-CN" sz="2400" b="0" i="0">
                    <a:solidFill>
                      <a:srgbClr val="000000"/>
                    </a:solidFill>
                    <a:latin typeface="Times New Roman" pitchFamily="34" charset="0"/>
                    <a:ea typeface="微软雅黑" pitchFamily="34" charset="-122"/>
                    <a:cs typeface="Times New Roman" pitchFamily="34" charset="-120"/>
                  </a:rPr>
                  <a:t>，一实心圆柱体的轴截面为</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矩形</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𝐴𝐵𝐶𝐷</m:t>
                    </m:r>
                  </m:oMath>
                </a14:m>
                <a:r>
                  <a:rPr lang="en-US" altLang="zh-CN" sz="2400" b="0" i="0" dirty="0">
                    <a:solidFill>
                      <a:srgbClr val="000000"/>
                    </a:solidFill>
                    <a:latin typeface="Times New Roman" pitchFamily="34" charset="0"/>
                    <a:ea typeface="微软雅黑" pitchFamily="34" charset="-122"/>
                    <a:cs typeface="Times New Roman" pitchFamily="34" charset="-120"/>
                  </a:rPr>
                  <a:t>，底面直径</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𝐴𝐵</m:t>
                    </m:r>
                    <m:r>
                      <a:rPr lang="en-US" altLang="zh-CN" sz="2400" b="0" i="0">
                        <a:solidFill>
                          <a:srgbClr val="000000"/>
                        </a:solidFill>
                        <a:latin typeface="Cambria Math" pitchFamily="34" charset="0"/>
                        <a:ea typeface="Cambria Math" pitchFamily="34" charset="-122"/>
                        <a:cs typeface="Cambria Math" pitchFamily="34" charset="-120"/>
                      </a:rPr>
                      <m:t>=3</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2400" b="0" i="0" dirty="0">
                    <a:solidFill>
                      <a:srgbClr val="000000"/>
                    </a:solidFill>
                    <a:latin typeface="Times New Roman" pitchFamily="34" charset="0"/>
                    <a:ea typeface="微软雅黑" pitchFamily="34" charset="-122"/>
                    <a:cs typeface="Times New Roman" pitchFamily="34" charset="-120"/>
                  </a:rPr>
                  <a:t>，高</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𝐵𝐶</m:t>
                    </m:r>
                    <m:r>
                      <a:rPr lang="en-US" altLang="zh-CN" sz="2400" b="0" i="0">
                        <a:solidFill>
                          <a:srgbClr val="000000"/>
                        </a:solidFill>
                        <a:latin typeface="Cambria Math" pitchFamily="34" charset="0"/>
                        <a:ea typeface="Cambria Math" pitchFamily="34" charset="-122"/>
                        <a:cs typeface="Cambria Math" pitchFamily="34" charset="-120"/>
                      </a:rPr>
                      <m:t>=4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,若有一蚂蚁沿圆柱体表面从</a:t>
                </a:r>
              </a:p>
              <a:p>
                <a:pPr latinLnBrk="1">
                  <a:lnSpc>
                    <a:spcPts val="4200"/>
                  </a:lnSpc>
                </a:pP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点爬到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𝐶</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点觅食，要想全程沿最短路径爬行，</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QC_4_BD.9_2#b56f6dd4e?htil=1&amp;vcp=1&amp;pid=deead102e&amp;color=0,0,0&amp;vtp=1&amp;bbb=1&amp;hb=1&amp;hs=1"/>
              <p:cNvSpPr>
                <a:spLocks noRot="1" noChangeAspect="1" noMove="1" noResize="1" noEditPoints="1" noAdjustHandles="1" noChangeArrowheads="1" noChangeShapeType="1" noTextEdit="1"/>
              </p:cNvSpPr>
              <p:nvPr/>
            </p:nvSpPr>
            <p:spPr>
              <a:xfrm>
                <a:off x="393192" y="1649285"/>
                <a:ext cx="10158984" cy="1592199"/>
              </a:xfrm>
              <a:prstGeom prst="rect">
                <a:avLst/>
              </a:prstGeom>
              <a:blipFill>
                <a:blip r:embed="rId4"/>
                <a:stretch>
                  <a:fillRect l="-1861" r="-1621" b="-11494"/>
                </a:stretch>
              </a:blipFill>
              <a:ln/>
            </p:spPr>
            <p:txBody>
              <a:bodyPr/>
              <a:lstStyle/>
              <a:p>
                <a:r>
                  <a:rPr lang="zh-CN" altLang="en-US">
                    <a:noFill/>
                  </a:rPr>
                  <a:t> </a:t>
                </a:r>
              </a:p>
            </p:txBody>
          </p:sp>
        </mc:Fallback>
      </mc:AlternateContent>
      <p:sp>
        <p:nvSpPr>
          <p:cNvPr id="6" name="QC_4_AN.10_1#b56f6dd4e.bracket?vcp=1&amp;pid=deead102e&amp;color=0,0,0&amp;vpa=5&amp;vtp=1"/>
          <p:cNvSpPr/>
          <p:nvPr/>
        </p:nvSpPr>
        <p:spPr>
          <a:xfrm>
            <a:off x="9260682" y="2755455"/>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mc:AlternateContent xmlns:mc="http://schemas.openxmlformats.org/markup-compatibility/2006">
        <mc:Choice xmlns:a14="http://schemas.microsoft.com/office/drawing/2010/main" Requires="a14">
          <p:sp>
            <p:nvSpPr>
              <p:cNvPr id="7" name="QC_4_BD.9_3#b56f6dd4e.choices?vcp=1&amp;pid=deead102e&amp;color=0,0,0&amp;vtp=1&amp;bbb=1&amp;hs=1"/>
              <p:cNvSpPr/>
              <p:nvPr/>
            </p:nvSpPr>
            <p:spPr>
              <a:xfrm>
                <a:off x="393192" y="3288537"/>
                <a:ext cx="11402568" cy="478155"/>
              </a:xfrm>
              <a:prstGeom prst="rect">
                <a:avLst/>
              </a:prstGeom>
              <a:noFill/>
              <a:ln/>
            </p:spPr>
            <p:txBody>
              <a:bodyPr wrap="none" lIns="0" tIns="0" rIns="0" bIns="0" rtlCol="0" anchor="t"/>
              <a:lstStyle/>
              <a:p>
                <a:pPr latinLnBrk="1">
                  <a:lnSpc>
                    <a:spcPts val="4300"/>
                  </a:lnSpc>
                  <a:tabLst>
                    <a:tab pos="3221477" algn="l"/>
                    <a:tab pos="6417554" algn="l"/>
                    <a:tab pos="9004031" algn="l"/>
                  </a:tabLst>
                </a:pPr>
                <a:r>
                  <a:rPr lang="en-US" altLang="zh-CN" sz="2400" b="0" i="0" dirty="0">
                    <a:solidFill>
                      <a:srgbClr val="000000"/>
                    </a:solidFill>
                    <a:latin typeface="Times New Roman" pitchFamily="34" charset="0"/>
                    <a:ea typeface="微软雅黑" pitchFamily="34" charset="-122"/>
                    <a:cs typeface="Times New Roman" pitchFamily="34" charset="-120"/>
                  </a:rPr>
                  <a:t>A.位移大小为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7</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.位移大小为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.路程为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7</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.路程为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7" name="QC_4_BD.9_3#b56f6dd4e.choices?vcp=1&amp;pid=deead102e&amp;color=0,0,0&amp;vtp=1&amp;bbb=1&amp;hs=1"/>
              <p:cNvSpPr>
                <a:spLocks noRot="1" noChangeAspect="1" noMove="1" noResize="1" noEditPoints="1" noAdjustHandles="1" noChangeArrowheads="1" noChangeShapeType="1" noTextEdit="1"/>
              </p:cNvSpPr>
              <p:nvPr/>
            </p:nvSpPr>
            <p:spPr>
              <a:xfrm>
                <a:off x="393192" y="3288537"/>
                <a:ext cx="11402568" cy="478155"/>
              </a:xfrm>
              <a:prstGeom prst="rect">
                <a:avLst/>
              </a:prstGeom>
              <a:blipFill>
                <a:blip r:embed="rId5"/>
                <a:stretch>
                  <a:fillRect l="-1658" b="-39241"/>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QC_4_AS.11_1#b56f6dd4e?vcp=1&amp;pid=deead102e&amp;color=0,0,0&amp;vtp=1&amp;bbb=1&amp;hb=1"/>
              <p:cNvSpPr/>
              <p:nvPr/>
            </p:nvSpPr>
            <p:spPr>
              <a:xfrm>
                <a:off x="393192" y="3769232"/>
                <a:ext cx="11402568" cy="1662621"/>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将圆柱体的侧面展开放平，此时矩形</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𝑨𝑩𝑪𝑫</m:t>
                    </m:r>
                  </m:oMath>
                </a14:m>
                <a:r>
                  <a:rPr lang="en-US" altLang="zh-CN" sz="2400" b="1" i="0" dirty="0">
                    <a:solidFill>
                      <a:srgbClr val="FF0000"/>
                    </a:solidFill>
                    <a:latin typeface="Times New Roman" pitchFamily="34" charset="0"/>
                    <a:ea typeface="微软雅黑" pitchFamily="34" charset="-122"/>
                    <a:cs typeface="Times New Roman" pitchFamily="34" charset="-120"/>
                  </a:rPr>
                  <a:t>的边长</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𝒍</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0">
                        <a:solidFill>
                          <a:srgbClr val="FF0000"/>
                        </a:solidFill>
                        <a:latin typeface="Cambria Math" pitchFamily="34" charset="0"/>
                        <a:ea typeface="Cambria Math" pitchFamily="34" charset="-122"/>
                        <a:cs typeface="Cambria Math" pitchFamily="34" charset="-120"/>
                      </a:rPr>
                      <m:t>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𝑩𝑪</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根据勾股定理可知</a:t>
                </a:r>
                <a:r>
                  <a:rPr lang="en-US" altLang="zh-CN" sz="2400" b="1" i="0" dirty="0">
                    <a:solidFill>
                      <a:srgbClr val="FF0000"/>
                    </a:solidFill>
                    <a:latin typeface="Times New Roman" pitchFamily="34" charset="0"/>
                    <a:ea typeface="微软雅黑" pitchFamily="34" charset="-122"/>
                    <a:cs typeface="Times New Roman" pitchFamily="34" charset="-120"/>
                  </a:rPr>
                  <a:t>，最短路程为</a:t>
                </a:r>
                <a14:m>
                  <m:oMath xmlns:m="http://schemas.openxmlformats.org/officeDocument/2006/math">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0">
                            <a:solidFill>
                              <a:srgbClr val="FF0000"/>
                            </a:solidFill>
                            <a:latin typeface="Cambria Math" pitchFamily="34" charset="0"/>
                            <a:ea typeface="Cambria Math" pitchFamily="34" charset="-122"/>
                            <a:cs typeface="Cambria Math" pitchFamily="34" charset="-120"/>
                          </a:rPr>
                          <m:t>𝛑</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𝟒</m:t>
                            </m:r>
                          </m:e>
                          <m:sup>
                            <m:r>
                              <a:rPr lang="en-US" altLang="zh-CN" sz="2400" b="1" i="1">
                                <a:solidFill>
                                  <a:srgbClr val="FF0000"/>
                                </a:solidFill>
                                <a:latin typeface="Cambria Math" pitchFamily="34" charset="0"/>
                                <a:ea typeface="Cambria Math" pitchFamily="34" charset="-122"/>
                                <a:cs typeface="Cambria Math" pitchFamily="34" charset="-120"/>
                              </a:rPr>
                              <m:t>𝟐</m:t>
                            </m:r>
                          </m:sup>
                        </m:sSup>
                      </m:e>
                    </m:rad>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，故C、D错误</a:t>
                </a:r>
                <a:r>
                  <a:rPr lang="en-US" altLang="zh-CN" sz="2400" b="1" i="0">
                    <a:solidFill>
                      <a:srgbClr val="FF0000"/>
                    </a:solidFill>
                    <a:latin typeface="Times New Roman" pitchFamily="34" charset="0"/>
                    <a:ea typeface="微软雅黑" pitchFamily="34" charset="-122"/>
                    <a:cs typeface="Times New Roman" pitchFamily="34" charset="-120"/>
                  </a:rPr>
                  <a:t>.位移大小</a:t>
                </a:r>
              </a:p>
              <a:p>
                <a:pPr latinLnBrk="1">
                  <a:lnSpc>
                    <a:spcPts val="4900"/>
                  </a:lnSpc>
                </a:pPr>
                <a:r>
                  <a:rPr lang="en-US" altLang="zh-CN" sz="2400" b="1" i="0">
                    <a:solidFill>
                      <a:srgbClr val="FF0000"/>
                    </a:solidFill>
                    <a:latin typeface="Times New Roman" pitchFamily="34" charset="0"/>
                    <a:ea typeface="微软雅黑" pitchFamily="34" charset="-122"/>
                    <a:cs typeface="Times New Roman" pitchFamily="34" charset="-120"/>
                  </a:rPr>
                  <a:t>为</a:t>
                </a:r>
                <a14:m>
                  <m:oMath xmlns:m="http://schemas.openxmlformats.org/officeDocument/2006/math">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r>
                          <a:rPr lang="en-US" altLang="zh-CN" sz="2400" b="1" i="1">
                            <a:solidFill>
                              <a:srgbClr val="FF0000"/>
                            </a:solidFill>
                            <a:latin typeface="Cambria Math" pitchFamily="34" charset="0"/>
                            <a:ea typeface="Cambria Math" pitchFamily="34" charset="-122"/>
                            <a:cs typeface="Cambria Math" pitchFamily="34" charset="-120"/>
                          </a:rPr>
                          <m:t>𝑨</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𝑩</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𝑩</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𝑪</m:t>
                            </m:r>
                          </m:e>
                          <m:sup>
                            <m:r>
                              <a:rPr lang="en-US" altLang="zh-CN" sz="2400" b="1" i="1">
                                <a:solidFill>
                                  <a:srgbClr val="FF0000"/>
                                </a:solidFill>
                                <a:latin typeface="Cambria Math" pitchFamily="34" charset="0"/>
                                <a:ea typeface="Cambria Math" pitchFamily="34" charset="-122"/>
                                <a:cs typeface="Cambria Math" pitchFamily="34" charset="-120"/>
                              </a:rPr>
                              <m:t>𝟐</m:t>
                            </m:r>
                          </m:sup>
                        </m:sSup>
                      </m:e>
                    </m:rad>
                    <m:r>
                      <a:rPr lang="en-US" altLang="zh-CN" sz="2400" b="1" i="0">
                        <a:solidFill>
                          <a:srgbClr val="FF0000"/>
                        </a:solidFill>
                        <a:latin typeface="Cambria Math" pitchFamily="34" charset="0"/>
                        <a:ea typeface="Cambria Math" pitchFamily="34" charset="-122"/>
                        <a:cs typeface="Cambria Math" pitchFamily="34" charset="-120"/>
                      </a:rPr>
                      <m:t>=</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𝟑</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𝟒</m:t>
                            </m:r>
                          </m:e>
                          <m:sup>
                            <m:r>
                              <a:rPr lang="en-US" altLang="zh-CN" sz="2400" b="1" i="1">
                                <a:solidFill>
                                  <a:srgbClr val="FF0000"/>
                                </a:solidFill>
                                <a:latin typeface="Cambria Math" pitchFamily="34" charset="0"/>
                                <a:ea typeface="Cambria Math" pitchFamily="34" charset="-122"/>
                                <a:cs typeface="Cambria Math" pitchFamily="34" charset="-120"/>
                              </a:rPr>
                              <m:t>𝟐</m:t>
                            </m:r>
                          </m:sup>
                        </m:sSup>
                      </m:e>
                    </m:rad>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，故A错误，B正确.</a:t>
                </a:r>
                <a:endParaRPr lang="en-US" altLang="zh-CN" sz="2400" dirty="0"/>
              </a:p>
            </p:txBody>
          </p:sp>
        </mc:Choice>
        <mc:Fallback>
          <p:sp>
            <p:nvSpPr>
              <p:cNvPr id="8" name="QC_4_AS.11_1#b56f6dd4e?vcp=1&amp;pid=deead102e&amp;color=0,0,0&amp;vtp=1&amp;bbb=1&amp;hb=1"/>
              <p:cNvSpPr>
                <a:spLocks noRot="1" noChangeAspect="1" noMove="1" noResize="1" noEditPoints="1" noAdjustHandles="1" noChangeArrowheads="1" noChangeShapeType="1" noTextEdit="1"/>
              </p:cNvSpPr>
              <p:nvPr/>
            </p:nvSpPr>
            <p:spPr>
              <a:xfrm>
                <a:off x="393192" y="3769232"/>
                <a:ext cx="11402568" cy="1662621"/>
              </a:xfrm>
              <a:prstGeom prst="rect">
                <a:avLst/>
              </a:prstGeom>
              <a:blipFill>
                <a:blip r:embed="rId6"/>
                <a:stretch>
                  <a:fillRect l="-1658" r="-1390" b="-1098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left)">
                                      <p:cBhvr>
                                        <p:cTn id="7" dur="500"/>
                                        <p:tgtEl>
                                          <p:spTgt spid="6">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left)">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
                                            <p:bg/>
                                          </p:spTgt>
                                        </p:tgtEl>
                                        <p:attrNameLst>
                                          <p:attrName>style.visibility</p:attrName>
                                        </p:attrNameLst>
                                      </p:cBhvr>
                                      <p:to>
                                        <p:strVal val="visible"/>
                                      </p:to>
                                    </p:set>
                                    <p:animEffect transition="in" filter="wipe(left)">
                                      <p:cBhvr>
                                        <p:cTn id="15" dur="500"/>
                                        <p:tgtEl>
                                          <p:spTgt spid="8">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wipe(left)">
                                      <p:cBhvr>
                                        <p:cTn id="18" dur="500"/>
                                        <p:tgtEl>
                                          <p:spTgt spid="8">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wipe(left)">
                                      <p:cBhvr>
                                        <p:cTn id="21" dur="500"/>
                                        <p:tgtEl>
                                          <p:spTgt spid="8">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8">
                                            <p:txEl>
                                              <p:pRg st="2" end="2"/>
                                            </p:txEl>
                                          </p:spTgt>
                                        </p:tgtEl>
                                        <p:attrNameLst>
                                          <p:attrName>style.visibility</p:attrName>
                                        </p:attrNameLst>
                                      </p:cBhvr>
                                      <p:to>
                                        <p:strVal val="visible"/>
                                      </p:to>
                                    </p:set>
                                    <p:animEffect transition="in" filter="wipe(left)">
                                      <p:cBhvr>
                                        <p:cTn id="24"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8"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amp;si=7">
    <p:spTree>
      <p:nvGrpSpPr>
        <p:cNvPr id="1" name=""/>
        <p:cNvGrpSpPr/>
        <p:nvPr/>
      </p:nvGrpSpPr>
      <p:grpSpPr>
        <a:xfrm>
          <a:off x="0" y="0"/>
          <a:ext cx="0" cy="0"/>
          <a:chOff x="0" y="0"/>
          <a:chExt cx="0" cy="0"/>
        </a:xfrm>
      </p:grpSpPr>
      <p:pic>
        <p:nvPicPr>
          <p:cNvPr id="2" name="QC_4_BD.12_1#5beb93baa?htil=2&amp;vcp=1&amp;pid=deead102e&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10727590" y="788670"/>
            <a:ext cx="960120" cy="941832"/>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C_4_BD.12_2#5beb93baa?htil=2&amp;vcp=1&amp;pid=deead102e&amp;color=0,0,0&amp;vtp=1&amp;bt=1&amp;bbb=1&amp;hb=1&amp;hs=1"/>
              <p:cNvSpPr/>
              <p:nvPr/>
            </p:nvSpPr>
            <p:spPr>
              <a:xfrm>
                <a:off x="393192" y="742951"/>
                <a:ext cx="10305288" cy="10374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1" i="0" dirty="0">
                    <a:solidFill>
                      <a:srgbClr val="000000"/>
                    </a:solidFill>
                    <a:latin typeface="Times New Roman" pitchFamily="34" charset="0"/>
                    <a:ea typeface="微软雅黑" pitchFamily="34" charset="-122"/>
                    <a:cs typeface="Times New Roman" pitchFamily="34" charset="-120"/>
                  </a:rPr>
                  <a:t>考点2</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如图所示是半径为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𝑅</m:t>
                    </m:r>
                  </m:oMath>
                </a14:m>
                <a:r>
                  <a:rPr lang="en-US" altLang="zh-CN" sz="2400" b="0" i="0" dirty="0">
                    <a:solidFill>
                      <a:srgbClr val="000000"/>
                    </a:solidFill>
                    <a:latin typeface="Times New Roman" pitchFamily="34" charset="0"/>
                    <a:ea typeface="微软雅黑" pitchFamily="34" charset="-122"/>
                    <a:cs typeface="Times New Roman" pitchFamily="34" charset="-120"/>
                  </a:rPr>
                  <a:t>的阴阳鱼太极图，中央“</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”形部分是两个直径都</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𝑅</m:t>
                    </m:r>
                  </m:oMath>
                </a14:m>
                <a:r>
                  <a:rPr lang="en-US" altLang="zh-CN" sz="2400" b="0" i="0" dirty="0">
                    <a:solidFill>
                      <a:srgbClr val="000000"/>
                    </a:solidFill>
                    <a:latin typeface="Times New Roman" pitchFamily="34" charset="0"/>
                    <a:ea typeface="微软雅黑" pitchFamily="34" charset="-122"/>
                    <a:cs typeface="Times New Roman" pitchFamily="34" charset="-120"/>
                  </a:rPr>
                  <a:t>的半圆.若将太极图放置于竖直平面，两鱼眼（恰好位于“</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”形部分两半圆</a:t>
                </a:r>
                <a:endParaRPr lang="en-US" altLang="zh-CN" sz="2400" dirty="0"/>
              </a:p>
            </p:txBody>
          </p:sp>
        </mc:Choice>
        <mc:Fallback>
          <p:sp>
            <p:nvSpPr>
              <p:cNvPr id="3" name="QC_4_BD.12_2#5beb93baa?htil=2&amp;vcp=1&amp;pid=deead102e&amp;color=0,0,0&amp;vtp=1&amp;bt=1&amp;bbb=1&amp;hb=1&amp;hs=1"/>
              <p:cNvSpPr>
                <a:spLocks noRot="1" noChangeAspect="1" noMove="1" noResize="1" noEditPoints="1" noAdjustHandles="1" noChangeArrowheads="1" noChangeShapeType="1" noTextEdit="1"/>
              </p:cNvSpPr>
              <p:nvPr/>
            </p:nvSpPr>
            <p:spPr>
              <a:xfrm>
                <a:off x="393192" y="742951"/>
                <a:ext cx="10305288" cy="1037400"/>
              </a:xfrm>
              <a:prstGeom prst="rect">
                <a:avLst/>
              </a:prstGeom>
              <a:blipFill>
                <a:blip r:embed="rId4"/>
                <a:stretch>
                  <a:fillRect l="-1834" r="-296" b="-17059"/>
                </a:stretch>
              </a:blipFill>
              <a:ln/>
            </p:spPr>
            <p:txBody>
              <a:bodyPr/>
              <a:lstStyle/>
              <a:p>
                <a:r>
                  <a:rPr lang="zh-CN" altLang="en-US">
                    <a:noFill/>
                  </a:rPr>
                  <a:t> </a:t>
                </a:r>
              </a:p>
            </p:txBody>
          </p:sp>
        </mc:Fallback>
      </mc:AlternateContent>
      <p:sp>
        <p:nvSpPr>
          <p:cNvPr id="4" name="QC_4_AN.13_1#5beb93baa.bracket?vcp=1&amp;pid=deead102e&amp;color=0,0,0&amp;vpa=6&amp;vtp=1"/>
          <p:cNvSpPr/>
          <p:nvPr/>
        </p:nvSpPr>
        <p:spPr>
          <a:xfrm>
            <a:off x="3368960" y="2895345"/>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mc:AlternateContent xmlns:mc="http://schemas.openxmlformats.org/markup-compatibility/2006">
        <mc:Choice xmlns:a14="http://schemas.microsoft.com/office/drawing/2010/main" Requires="a14">
          <p:sp>
            <p:nvSpPr>
              <p:cNvPr id="5" name="QC_4_BD.12_3#5beb93baa.choices?vcp=1&amp;pid=deead102e&amp;color=0,0,0&amp;vtp=1&amp;bbb=1"/>
              <p:cNvSpPr/>
              <p:nvPr/>
            </p:nvSpPr>
            <p:spPr>
              <a:xfrm>
                <a:off x="393192" y="3376676"/>
                <a:ext cx="11402568" cy="528003"/>
              </a:xfrm>
              <a:prstGeom prst="rect">
                <a:avLst/>
              </a:prstGeom>
              <a:noFill/>
              <a:ln/>
            </p:spPr>
            <p:txBody>
              <a:bodyPr wrap="none" lIns="0" tIns="0" rIns="0" bIns="0" rtlCol="0" anchor="t"/>
              <a:lstStyle/>
              <a:p>
                <a:pPr latinLnBrk="1">
                  <a:lnSpc>
                    <a:spcPts val="4800"/>
                  </a:lnSpc>
                  <a:tabLst>
                    <a:tab pos="2437252" algn="l"/>
                    <a:tab pos="5014204" algn="l"/>
                    <a:tab pos="8302356"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π</m:t>
                    </m:r>
                    <m:r>
                      <a:rPr lang="en-US" altLang="zh-CN" sz="2400" b="0" i="0">
                        <a:solidFill>
                          <a:srgbClr val="000000"/>
                        </a:solidFill>
                        <a:latin typeface="Cambria Math" pitchFamily="34" charset="0"/>
                        <a:ea typeface="Cambria Math" pitchFamily="34" charset="-122"/>
                        <a:cs typeface="Cambria Math" pitchFamily="34" charset="-120"/>
                      </a:rPr>
                      <m:t>𝑅</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m:rPr>
                        <m:sty m:val="p"/>
                      </m:rPr>
                      <a:rPr lang="en-US" altLang="zh-CN" sz="2400" b="0" i="0">
                        <a:solidFill>
                          <a:srgbClr val="000000"/>
                        </a:solidFill>
                        <a:latin typeface="Cambria Math" pitchFamily="34" charset="0"/>
                        <a:ea typeface="Cambria Math" pitchFamily="34" charset="-122"/>
                        <a:cs typeface="Cambria Math" pitchFamily="34" charset="-120"/>
                      </a:rPr>
                      <m:t>π</m:t>
                    </m:r>
                    <m:r>
                      <a:rPr lang="en-US" altLang="zh-CN" sz="2400" b="0" i="0">
                        <a:solidFill>
                          <a:srgbClr val="000000"/>
                        </a:solidFill>
                        <a:latin typeface="Cambria Math" pitchFamily="34" charset="0"/>
                        <a:ea typeface="Cambria Math" pitchFamily="34" charset="-122"/>
                        <a:cs typeface="Cambria Math" pitchFamily="34" charset="-120"/>
                      </a:rPr>
                      <m:t>𝑅</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ad>
                      <m:radPr>
                        <m:degHide m:val="on"/>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radPr>
                      <m:deg/>
                      <m:e>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π</m:t>
                            </m:r>
                          </m:e>
                          <m:sup>
                            <m:r>
                              <a:rPr lang="en-US" altLang="zh-CN" sz="2400" b="0" i="0">
                                <a:solidFill>
                                  <a:srgbClr val="000000"/>
                                </a:solidFill>
                                <a:latin typeface="Cambria Math" pitchFamily="34" charset="0"/>
                                <a:ea typeface="Cambria Math" pitchFamily="34" charset="-122"/>
                                <a:cs typeface="Cambria Math" pitchFamily="34" charset="-120"/>
                              </a:rPr>
                              <m:t>2</m:t>
                            </m:r>
                          </m:sup>
                        </m:sSup>
                        <m:r>
                          <a:rPr lang="en-US" altLang="zh-CN" sz="2400" b="0" i="0">
                            <a:solidFill>
                              <a:srgbClr val="000000"/>
                            </a:solidFill>
                            <a:latin typeface="Cambria Math" pitchFamily="34" charset="0"/>
                            <a:ea typeface="Cambria Math" pitchFamily="34" charset="-122"/>
                            <a:cs typeface="Cambria Math" pitchFamily="34" charset="-120"/>
                          </a:rPr>
                          <m:t>+1</m:t>
                        </m:r>
                      </m:e>
                    </m:rad>
                    <m:r>
                      <a:rPr lang="en-US" altLang="zh-CN" sz="2400" b="0" i="0">
                        <a:solidFill>
                          <a:srgbClr val="000000"/>
                        </a:solidFill>
                        <a:latin typeface="Cambria Math" pitchFamily="34" charset="0"/>
                        <a:ea typeface="Cambria Math" pitchFamily="34" charset="-122"/>
                        <a:cs typeface="Cambria Math" pitchFamily="34" charset="-120"/>
                      </a:rPr>
                      <m:t>𝑅</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ad>
                      <m:radPr>
                        <m:degHide m:val="on"/>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radPr>
                      <m:deg/>
                      <m:e>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π</m:t>
                            </m:r>
                          </m:e>
                          <m:sup>
                            <m:r>
                              <a:rPr lang="en-US" altLang="zh-CN" sz="2400" b="0" i="0">
                                <a:solidFill>
                                  <a:srgbClr val="000000"/>
                                </a:solidFill>
                                <a:latin typeface="Cambria Math" pitchFamily="34" charset="0"/>
                                <a:ea typeface="Cambria Math" pitchFamily="34" charset="-122"/>
                                <a:cs typeface="Cambria Math" pitchFamily="34" charset="-120"/>
                              </a:rPr>
                              <m:t>2</m:t>
                            </m:r>
                          </m:sup>
                        </m:sSup>
                        <m:r>
                          <a:rPr lang="en-US" altLang="zh-CN" sz="2400" b="0" i="0">
                            <a:solidFill>
                              <a:srgbClr val="000000"/>
                            </a:solidFill>
                            <a:latin typeface="Cambria Math" pitchFamily="34" charset="0"/>
                            <a:ea typeface="Cambria Math" pitchFamily="34" charset="-122"/>
                            <a:cs typeface="Cambria Math" pitchFamily="34" charset="-120"/>
                          </a:rPr>
                          <m:t>+4</m:t>
                        </m:r>
                      </m:e>
                    </m:rad>
                    <m:r>
                      <a:rPr lang="en-US" altLang="zh-CN" sz="2400" b="0" i="0">
                        <a:solidFill>
                          <a:srgbClr val="000000"/>
                        </a:solidFill>
                        <a:latin typeface="Cambria Math" pitchFamily="34" charset="0"/>
                        <a:ea typeface="Cambria Math" pitchFamily="34" charset="-122"/>
                        <a:cs typeface="Cambria Math" pitchFamily="34" charset="-120"/>
                      </a:rPr>
                      <m:t>𝑅</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12_3#5beb93baa.choices?vcp=1&amp;pid=deead102e&amp;color=0,0,0&amp;vtp=1&amp;bbb=1"/>
              <p:cNvSpPr>
                <a:spLocks noRot="1" noChangeAspect="1" noMove="1" noResize="1" noEditPoints="1" noAdjustHandles="1" noChangeArrowheads="1" noChangeShapeType="1" noTextEdit="1"/>
              </p:cNvSpPr>
              <p:nvPr/>
            </p:nvSpPr>
            <p:spPr>
              <a:xfrm>
                <a:off x="393192" y="3376676"/>
                <a:ext cx="11402568" cy="528003"/>
              </a:xfrm>
              <a:prstGeom prst="rect">
                <a:avLst/>
              </a:prstGeom>
              <a:blipFill>
                <a:blip r:embed="rId5"/>
                <a:stretch>
                  <a:fillRect l="-1658" b="-34483"/>
                </a:stretch>
              </a:blipFill>
              <a:ln/>
            </p:spPr>
            <p:txBody>
              <a:bodyPr/>
              <a:lstStyle/>
              <a:p>
                <a:r>
                  <a:rPr lang="zh-CN" altLang="en-US">
                    <a:noFill/>
                  </a:rPr>
                  <a:t> </a:t>
                </a:r>
              </a:p>
            </p:txBody>
          </p:sp>
        </mc:Fallback>
      </mc:AlternateContent>
      <p:pic>
        <p:nvPicPr>
          <p:cNvPr id="6" name="QC_4_AS.14_1#5beb93baa?htil=3&amp;vcp=1&amp;pid=deead102e&amp;color=0,0,0&amp;tib=255,255,255&amp;vtp=1&amp;hs=1&amp;hs=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9637776" y="3951223"/>
            <a:ext cx="2139696" cy="914400"/>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7" name="QC_4_AS.14_2#5beb93baa?htil=3&amp;vcp=1&amp;pid=deead102e&amp;color=0,0,0&amp;vtp=1&amp;bbb=1&amp;hb=1&amp;hs=1"/>
          <p:cNvSpPr/>
          <p:nvPr/>
        </p:nvSpPr>
        <p:spPr>
          <a:xfrm>
            <a:off x="393192" y="3905504"/>
            <a:ext cx="9125712" cy="103759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由于太极图沿水平地面无滑动滚动（点拨</a:t>
            </a:r>
            <a:r>
              <a:rPr lang="en-US" altLang="zh-CN" sz="2400" b="1" i="0">
                <a:solidFill>
                  <a:srgbClr val="FF0000"/>
                </a:solidFill>
                <a:latin typeface="Times New Roman" pitchFamily="34" charset="0"/>
                <a:ea typeface="微软雅黑" pitchFamily="34" charset="-122"/>
                <a:cs typeface="Times New Roman" pitchFamily="34" charset="-120"/>
              </a:rPr>
              <a:t>：太极图前进的距</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离等于相应圆弧的长度），当阴鱼鱼眼第一次运动到阳鱼鱼眼正下</a:t>
            </a:r>
            <a:endParaRPr lang="en-US" altLang="zh-CN" sz="2400" dirty="0"/>
          </a:p>
        </p:txBody>
      </p:sp>
      <p:sp>
        <p:nvSpPr>
          <p:cNvPr id="8" name="QC_4_BD.12_2#5beb93baa?htil=2&amp;vcp=1&amp;pid=deead102e&amp;color=0,0,0&amp;vtp=1&amp;bt=1&amp;bbb=1&amp;hb=1&amp;hs=1">
            <a:extLst>
              <a:ext uri="{FF2B5EF4-FFF2-40B4-BE49-F238E27FC236}">
                <a16:creationId xmlns:a16="http://schemas.microsoft.com/office/drawing/2014/main" id="{04C8A6F4-A04E-7BE1-9439-5197CD02CE45}"/>
              </a:ext>
            </a:extLst>
          </p:cNvPr>
          <p:cNvSpPr/>
          <p:nvPr/>
        </p:nvSpPr>
        <p:spPr>
          <a:xfrm>
            <a:off x="393192" y="1789176"/>
            <a:ext cx="11400008" cy="1592199"/>
          </a:xfrm>
          <a:prstGeom prst="rect">
            <a:avLst/>
          </a:prstGeom>
          <a:noFill/>
          <a:ln/>
        </p:spPr>
        <p:txBody>
          <a:bodyPr wrap="none" lIns="0" tIns="0" rIns="0" bIns="0" rtlCol="0" anchor="t"/>
          <a:lstStyle/>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的圆心</a:t>
            </a:r>
            <a:r>
              <a:rPr lang="en-US" altLang="zh-CN" sz="2400" b="0" i="0" dirty="0">
                <a:solidFill>
                  <a:srgbClr val="000000"/>
                </a:solidFill>
                <a:latin typeface="Times New Roman" pitchFamily="34" charset="0"/>
                <a:ea typeface="微软雅黑" pitchFamily="34" charset="-122"/>
                <a:cs typeface="Times New Roman" pitchFamily="34" charset="-120"/>
              </a:rPr>
              <a:t>，可以近似看作质点）位于同一竖直线上，阴鱼的鱼眼在上</a:t>
            </a:r>
            <a:r>
              <a:rPr lang="en-US" altLang="zh-CN" sz="2400" b="0" i="0">
                <a:solidFill>
                  <a:srgbClr val="000000"/>
                </a:solidFill>
                <a:latin typeface="Times New Roman" pitchFamily="34" charset="0"/>
                <a:ea typeface="微软雅黑" pitchFamily="34" charset="-122"/>
                <a:cs typeface="Times New Roman" pitchFamily="34" charset="-120"/>
              </a:rPr>
              <a:t>，阳鱼的鱼眼在下，</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现将太极图沿水平地面无滑动滚动，当阴鱼鱼眼第一次运动到阳鱼鱼眼正下方时，阴</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鱼鱼眼的位移大小为(</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AlternateContent xmlns:mc="http://schemas.openxmlformats.org/markup-compatibility/2006">
        <mc:Choice xmlns:a14="http://schemas.microsoft.com/office/drawing/2010/main" Requires="a14">
          <p:sp>
            <p:nvSpPr>
              <p:cNvPr id="9" name="QC_4_AS.14_2#5beb93baa?htil=3&amp;vcp=1&amp;pid=deead102e&amp;color=0,0,0&amp;vtp=1&amp;bbb=1&amp;hb=1&amp;hs=1">
                <a:extLst>
                  <a:ext uri="{FF2B5EF4-FFF2-40B4-BE49-F238E27FC236}">
                    <a16:creationId xmlns:a16="http://schemas.microsoft.com/office/drawing/2014/main" id="{4A95A79B-641A-CAC1-8F6F-FDE35ACF490F}"/>
                  </a:ext>
                </a:extLst>
              </p:cNvPr>
              <p:cNvSpPr/>
              <p:nvPr/>
            </p:nvSpPr>
            <p:spPr>
              <a:xfrm>
                <a:off x="393192" y="4945633"/>
                <a:ext cx="11400008" cy="1107821"/>
              </a:xfrm>
              <a:prstGeom prst="rect">
                <a:avLst/>
              </a:prstGeom>
              <a:noFill/>
              <a:ln/>
            </p:spPr>
            <p:txBody>
              <a:bodyPr wrap="none" lIns="0" tIns="0" rIns="0" bIns="0" rtlCol="0" anchor="t"/>
              <a:lstStyle/>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方时</a:t>
                </a:r>
                <a:r>
                  <a:rPr lang="en-US" altLang="zh-CN" sz="2400" b="1" i="0" dirty="0">
                    <a:solidFill>
                      <a:srgbClr val="FF0000"/>
                    </a:solidFill>
                    <a:latin typeface="Times New Roman" pitchFamily="34" charset="0"/>
                    <a:ea typeface="微软雅黑" pitchFamily="34" charset="-122"/>
                    <a:cs typeface="Times New Roman" pitchFamily="34" charset="-120"/>
                  </a:rPr>
                  <a:t>，如图所示</a:t>
                </a:r>
                <a:r>
                  <a:rPr lang="en-US" altLang="zh-CN" sz="2400" b="1" i="0">
                    <a:solidFill>
                      <a:srgbClr val="FF0000"/>
                    </a:solidFill>
                    <a:latin typeface="Times New Roman" pitchFamily="34" charset="0"/>
                    <a:ea typeface="微软雅黑" pitchFamily="34" charset="-122"/>
                    <a:cs typeface="Times New Roman" pitchFamily="34" charset="-120"/>
                  </a:rPr>
                  <a:t>，太极图在地面上滚动的距离恰好等于大圆周长的一半</a:t>
                </a:r>
                <a:r>
                  <a:rPr lang="en-US" altLang="zh-CN" sz="2400" b="1" i="0" dirty="0">
                    <a:solidFill>
                      <a:srgbClr val="FF0000"/>
                    </a:solidFill>
                    <a:latin typeface="Times New Roman" pitchFamily="34" charset="0"/>
                    <a:ea typeface="微软雅黑" pitchFamily="34" charset="-122"/>
                    <a:cs typeface="Times New Roman" pitchFamily="34" charset="-120"/>
                  </a:rPr>
                  <a:t>，即</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𝛑</m:t>
                    </m:r>
                    <m:r>
                      <a:rPr lang="en-US" altLang="zh-CN" sz="2400" b="1" i="1">
                        <a:solidFill>
                          <a:srgbClr val="FF0000"/>
                        </a:solidFill>
                        <a:latin typeface="Cambria Math" pitchFamily="34" charset="0"/>
                        <a:ea typeface="Cambria Math" pitchFamily="34" charset="-122"/>
                        <a:cs typeface="Cambria Math" pitchFamily="34" charset="-120"/>
                      </a:rPr>
                      <m:t>𝑹</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；两鱼</a:t>
                </a:r>
              </a:p>
              <a:p>
                <a:pPr latinLnBrk="1">
                  <a:lnSpc>
                    <a:spcPts val="4900"/>
                  </a:lnSpc>
                </a:pPr>
                <a:r>
                  <a:rPr lang="en-US" altLang="zh-CN" sz="2400" b="1" i="0">
                    <a:solidFill>
                      <a:srgbClr val="FF0000"/>
                    </a:solidFill>
                    <a:latin typeface="Times New Roman" pitchFamily="34" charset="0"/>
                    <a:ea typeface="微软雅黑" pitchFamily="34" charset="-122"/>
                    <a:cs typeface="Times New Roman" pitchFamily="34" charset="-120"/>
                  </a:rPr>
                  <a:t>眼间距为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𝑹</m:t>
                    </m:r>
                  </m:oMath>
                </a14:m>
                <a:r>
                  <a:rPr lang="en-US" altLang="zh-CN" sz="2400" b="1" i="0">
                    <a:solidFill>
                      <a:srgbClr val="FF0000"/>
                    </a:solidFill>
                    <a:latin typeface="Times New Roman" pitchFamily="34" charset="0"/>
                    <a:ea typeface="微软雅黑" pitchFamily="34" charset="-122"/>
                    <a:cs typeface="Times New Roman" pitchFamily="34" charset="-120"/>
                  </a:rPr>
                  <a:t>，则阴鱼鱼眼的位移大小为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𝑹</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𝛑</m:t>
                        </m:r>
                        <m:r>
                          <a:rPr lang="en-US" altLang="zh-CN" sz="2400" b="1" i="1">
                            <a:solidFill>
                              <a:srgbClr val="FF0000"/>
                            </a:solidFill>
                            <a:latin typeface="Cambria Math" pitchFamily="34" charset="0"/>
                            <a:ea typeface="Cambria Math" pitchFamily="34" charset="-122"/>
                            <a:cs typeface="Cambria Math" pitchFamily="34" charset="-120"/>
                          </a:rPr>
                          <m:t>𝑹</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e>
                    </m:rad>
                    <m:r>
                      <a:rPr lang="en-US" altLang="zh-CN" sz="2400" b="1" i="0">
                        <a:solidFill>
                          <a:srgbClr val="FF0000"/>
                        </a:solidFill>
                        <a:latin typeface="Cambria Math" pitchFamily="34" charset="0"/>
                        <a:ea typeface="Cambria Math" pitchFamily="34" charset="-122"/>
                        <a:cs typeface="Cambria Math" pitchFamily="34" charset="-120"/>
                      </a:rPr>
                      <m:t>=</m:t>
                    </m:r>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𝛑</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e>
                    </m:rad>
                    <m:r>
                      <a:rPr lang="en-US" altLang="zh-CN" sz="2400" b="1" i="1">
                        <a:solidFill>
                          <a:srgbClr val="FF0000"/>
                        </a:solidFill>
                        <a:latin typeface="Cambria Math" pitchFamily="34" charset="0"/>
                        <a:ea typeface="Cambria Math" pitchFamily="34" charset="-122"/>
                        <a:cs typeface="Cambria Math" pitchFamily="34" charset="-120"/>
                      </a:rPr>
                      <m:t>𝑹</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.故选C.</a:t>
                </a:r>
                <a:endParaRPr lang="en-US" altLang="zh-CN" sz="2400" dirty="0"/>
              </a:p>
            </p:txBody>
          </p:sp>
        </mc:Choice>
        <mc:Fallback>
          <p:sp>
            <p:nvSpPr>
              <p:cNvPr id="9" name="QC_4_AS.14_2#5beb93baa?htil=3&amp;vcp=1&amp;pid=deead102e&amp;color=0,0,0&amp;vtp=1&amp;bbb=1&amp;hb=1&amp;hs=1">
                <a:extLst>
                  <a:ext uri="{FF2B5EF4-FFF2-40B4-BE49-F238E27FC236}">
                    <a16:creationId xmlns:a16="http://schemas.microsoft.com/office/drawing/2014/main" id="{4A95A79B-641A-CAC1-8F6F-FDE35ACF490F}"/>
                  </a:ext>
                </a:extLst>
              </p:cNvPr>
              <p:cNvSpPr>
                <a:spLocks noRot="1" noChangeAspect="1" noMove="1" noResize="1" noEditPoints="1" noAdjustHandles="1" noChangeArrowheads="1" noChangeShapeType="1" noTextEdit="1"/>
              </p:cNvSpPr>
              <p:nvPr/>
            </p:nvSpPr>
            <p:spPr>
              <a:xfrm>
                <a:off x="393192" y="4945633"/>
                <a:ext cx="11400008" cy="1107821"/>
              </a:xfrm>
              <a:prstGeom prst="rect">
                <a:avLst/>
              </a:prstGeom>
              <a:blipFill>
                <a:blip r:embed="rId7"/>
                <a:stretch>
                  <a:fillRect l="-1658" r="-1497" b="-1593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bg/>
                                          </p:spTgt>
                                        </p:tgtEl>
                                        <p:attrNameLst>
                                          <p:attrName>style.visibility</p:attrName>
                                        </p:attrNameLst>
                                      </p:cBhvr>
                                      <p:to>
                                        <p:strVal val="visible"/>
                                      </p:to>
                                    </p:set>
                                    <p:animEffect transition="in" filter="wipe(left)">
                                      <p:cBhvr>
                                        <p:cTn id="18" dur="500"/>
                                        <p:tgtEl>
                                          <p:spTgt spid="7">
                                            <p:bg/>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wipe(left)">
                                      <p:cBhvr>
                                        <p:cTn id="21" dur="500"/>
                                        <p:tgtEl>
                                          <p:spTgt spid="7">
                                            <p:txEl>
                                              <p:pRg st="0" end="0"/>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wipe(left)">
                                      <p:cBhvr>
                                        <p:cTn id="24" dur="500"/>
                                        <p:tgtEl>
                                          <p:spTgt spid="7">
                                            <p:txEl>
                                              <p:pRg st="1" end="1"/>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
                                            <p:bg/>
                                          </p:spTgt>
                                        </p:tgtEl>
                                        <p:attrNameLst>
                                          <p:attrName>style.visibility</p:attrName>
                                        </p:attrNameLst>
                                      </p:cBhvr>
                                      <p:to>
                                        <p:strVal val="visible"/>
                                      </p:to>
                                    </p:set>
                                    <p:animEffect transition="in" filter="wipe(left)">
                                      <p:cBhvr>
                                        <p:cTn id="27" dur="500"/>
                                        <p:tgtEl>
                                          <p:spTgt spid="9">
                                            <p:bg/>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9">
                                            <p:txEl>
                                              <p:pRg st="0" end="0"/>
                                            </p:txEl>
                                          </p:spTgt>
                                        </p:tgtEl>
                                        <p:attrNameLst>
                                          <p:attrName>style.visibility</p:attrName>
                                        </p:attrNameLst>
                                      </p:cBhvr>
                                      <p:to>
                                        <p:strVal val="visible"/>
                                      </p:to>
                                    </p:set>
                                    <p:animEffect transition="in" filter="wipe(left)">
                                      <p:cBhvr>
                                        <p:cTn id="30" dur="500"/>
                                        <p:tgtEl>
                                          <p:spTgt spid="9">
                                            <p:txEl>
                                              <p:pRg st="0" end="0"/>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9">
                                            <p:txEl>
                                              <p:pRg st="1" end="1"/>
                                            </p:txEl>
                                          </p:spTgt>
                                        </p:tgtEl>
                                        <p:attrNameLst>
                                          <p:attrName>style.visibility</p:attrName>
                                        </p:attrNameLst>
                                      </p:cBhvr>
                                      <p:to>
                                        <p:strVal val="visible"/>
                                      </p:to>
                                    </p:set>
                                    <p:animEffect transition="in" filter="wipe(left)">
                                      <p:cBhvr>
                                        <p:cTn id="33"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7" grpId="0" build="p" animBg="1"/>
      <p:bldP spid="9"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p:pic>
        <p:nvPicPr>
          <p:cNvPr id="2" name="QC_4_BD.15_1#67e661af3?htil=4&amp;vcp=1&amp;pid=deead102e&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131137" y="1071466"/>
            <a:ext cx="2496312" cy="219456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C_4_BD.15_2#67e661af3?htil=4&amp;vcp=1&amp;pid=deead102e&amp;color=0,0,0&amp;vtp=1&amp;bt=1&amp;bbb=1&amp;hb=1&amp;hs=1"/>
              <p:cNvSpPr/>
              <p:nvPr/>
            </p:nvSpPr>
            <p:spPr>
              <a:xfrm>
                <a:off x="393192" y="1025747"/>
                <a:ext cx="8778240"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3.</a:t>
                </a:r>
                <a:r>
                  <a:rPr lang="en-US" altLang="zh-CN" sz="2400" b="1" i="0" dirty="0">
                    <a:solidFill>
                      <a:srgbClr val="000000"/>
                    </a:solidFill>
                    <a:latin typeface="Times New Roman" pitchFamily="34" charset="0"/>
                    <a:ea typeface="微软雅黑" pitchFamily="34" charset="-122"/>
                    <a:cs typeface="Times New Roman" pitchFamily="34" charset="-120"/>
                  </a:rPr>
                  <a:t>考点4</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一物体做直线运动，其</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𝑡</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图像如图所示</a:t>
                </a:r>
                <a:r>
                  <a:rPr lang="en-US" altLang="zh-CN" sz="2400" b="0" i="0">
                    <a:solidFill>
                      <a:srgbClr val="000000"/>
                    </a:solidFill>
                    <a:latin typeface="Times New Roman" pitchFamily="34" charset="0"/>
                    <a:ea typeface="微软雅黑" pitchFamily="34" charset="-122"/>
                    <a:cs typeface="Times New Roman" pitchFamily="34" charset="-120"/>
                  </a:rPr>
                  <a:t>.设向右为正</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方向</a:t>
                </a:r>
                <a:r>
                  <a:rPr lang="en-US" altLang="zh-CN" sz="2400" b="0" i="0" dirty="0">
                    <a:solidFill>
                      <a:srgbClr val="000000"/>
                    </a:solidFill>
                    <a:latin typeface="Times New Roman" pitchFamily="34" charset="0"/>
                    <a:ea typeface="微软雅黑" pitchFamily="34" charset="-122"/>
                    <a:cs typeface="Times New Roman" pitchFamily="34" charset="-120"/>
                  </a:rPr>
                  <a:t>，则在前</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6</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内(</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3" name="QC_4_BD.15_2#67e661af3?htil=4&amp;vcp=1&amp;pid=deead102e&amp;color=0,0,0&amp;vtp=1&amp;bt=1&amp;bbb=1&amp;hb=1&amp;hs=1"/>
              <p:cNvSpPr>
                <a:spLocks noRot="1" noChangeAspect="1" noMove="1" noResize="1" noEditPoints="1" noAdjustHandles="1" noChangeArrowheads="1" noChangeShapeType="1" noTextEdit="1"/>
              </p:cNvSpPr>
              <p:nvPr/>
            </p:nvSpPr>
            <p:spPr>
              <a:xfrm>
                <a:off x="393192" y="1025747"/>
                <a:ext cx="8778240" cy="1033399"/>
              </a:xfrm>
              <a:prstGeom prst="rect">
                <a:avLst/>
              </a:prstGeom>
              <a:blipFill>
                <a:blip r:embed="rId4"/>
                <a:stretch>
                  <a:fillRect l="-2153" b="-17647"/>
                </a:stretch>
              </a:blipFill>
              <a:ln/>
            </p:spPr>
            <p:txBody>
              <a:bodyPr/>
              <a:lstStyle/>
              <a:p>
                <a:r>
                  <a:rPr lang="zh-CN" altLang="en-US">
                    <a:noFill/>
                  </a:rPr>
                  <a:t> </a:t>
                </a:r>
              </a:p>
            </p:txBody>
          </p:sp>
        </mc:Fallback>
      </mc:AlternateContent>
      <p:sp>
        <p:nvSpPr>
          <p:cNvPr id="4" name="QC_4_AN.16_1#67e661af3.bracket?vcp=1&amp;pid=deead102e&amp;color=0,0,0&amp;vpa=7&amp;vtp=1"/>
          <p:cNvSpPr/>
          <p:nvPr/>
        </p:nvSpPr>
        <p:spPr>
          <a:xfrm>
            <a:off x="3126074" y="1573117"/>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D</a:t>
            </a:r>
            <a:endParaRPr lang="en-US" altLang="zh-CN" sz="2400" dirty="0"/>
          </a:p>
        </p:txBody>
      </p:sp>
      <mc:AlternateContent xmlns:mc="http://schemas.openxmlformats.org/markup-compatibility/2006">
        <mc:Choice xmlns:a14="http://schemas.microsoft.com/office/drawing/2010/main" Requires="a14">
          <p:sp>
            <p:nvSpPr>
              <p:cNvPr id="5" name="QC_4_BD.15_3#67e661af3.choices?htil=4&amp;vcp=1&amp;pid=deead102e&amp;color=0,0,0&amp;vtp=1&amp;bbb=1&amp;hs=1"/>
              <p:cNvSpPr/>
              <p:nvPr/>
            </p:nvSpPr>
            <p:spPr>
              <a:xfrm>
                <a:off x="393192" y="2059272"/>
                <a:ext cx="8778240"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A.物体先向左运动，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后开始向右运动</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𝑡</m:t>
                    </m:r>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时物体距出发点最远</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.前</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内物体位于出发点的左方,后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内位于出发点的右方</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𝑡</m:t>
                    </m:r>
                    <m:r>
                      <a:rPr lang="en-US" altLang="zh-CN" sz="2400" b="0" i="0">
                        <a:solidFill>
                          <a:srgbClr val="000000"/>
                        </a:solidFill>
                        <a:latin typeface="Cambria Math" pitchFamily="34" charset="0"/>
                        <a:ea typeface="Cambria Math" pitchFamily="34" charset="-122"/>
                        <a:cs typeface="Cambria Math" pitchFamily="34" charset="-120"/>
                      </a:rPr>
                      <m:t>=4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时物体距出发点最远</a:t>
                </a:r>
                <a:endParaRPr lang="en-US" altLang="zh-CN" sz="2400" dirty="0"/>
              </a:p>
            </p:txBody>
          </p:sp>
        </mc:Choice>
        <mc:Fallback>
          <p:sp>
            <p:nvSpPr>
              <p:cNvPr id="5" name="QC_4_BD.15_3#67e661af3.choices?htil=4&amp;vcp=1&amp;pid=deead102e&amp;color=0,0,0&amp;vtp=1&amp;bbb=1&amp;hs=1"/>
              <p:cNvSpPr>
                <a:spLocks noRot="1" noChangeAspect="1" noMove="1" noResize="1" noEditPoints="1" noAdjustHandles="1" noChangeArrowheads="1" noChangeShapeType="1" noTextEdit="1"/>
              </p:cNvSpPr>
              <p:nvPr/>
            </p:nvSpPr>
            <p:spPr>
              <a:xfrm>
                <a:off x="393192" y="2059272"/>
                <a:ext cx="8778240" cy="2155000"/>
              </a:xfrm>
              <a:prstGeom prst="rect">
                <a:avLst/>
              </a:prstGeom>
              <a:blipFill>
                <a:blip r:embed="rId5"/>
                <a:stretch>
                  <a:fillRect l="-2153" b="-8499"/>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C_4_AS.17_1#67e661af3?vcp=1&amp;pid=deead102e&amp;color=0,0,0&amp;vtp=1&amp;bbb=1&amp;hb=1&amp;hs=1"/>
              <p:cNvSpPr/>
              <p:nvPr/>
            </p:nvSpPr>
            <p:spPr>
              <a:xfrm>
                <a:off x="393192" y="4205572"/>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由题图可知，物体从</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2400" b="1" i="0" dirty="0">
                    <a:solidFill>
                      <a:srgbClr val="FF0000"/>
                    </a:solidFill>
                    <a:latin typeface="Times New Roman" pitchFamily="34" charset="0"/>
                    <a:ea typeface="微软雅黑" pitchFamily="34" charset="-122"/>
                    <a:cs typeface="Times New Roman" pitchFamily="34" charset="-120"/>
                  </a:rPr>
                  <a:t>处向右运动至</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2400" b="1" i="0" dirty="0">
                    <a:solidFill>
                      <a:srgbClr val="FF0000"/>
                    </a:solidFill>
                    <a:latin typeface="Times New Roman" pitchFamily="34" charset="0"/>
                    <a:ea typeface="微软雅黑" pitchFamily="34" charset="-122"/>
                    <a:cs typeface="Times New Roman" pitchFamily="34" charset="-120"/>
                  </a:rPr>
                  <a:t>处，然后返回至</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𝟒</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处</a:t>
                </a:r>
                <a:r>
                  <a:rPr lang="en-US" altLang="zh-CN" sz="2400" b="1" i="0">
                    <a:solidFill>
                      <a:srgbClr val="FF0000"/>
                    </a:solidFill>
                    <a:latin typeface="Times New Roman" pitchFamily="34" charset="0"/>
                    <a:ea typeface="微软雅黑" pitchFamily="34" charset="-122"/>
                    <a:cs typeface="Times New Roman" pitchFamily="34" charset="-120"/>
                  </a:rPr>
                  <a:t>.物体在前</a:t>
                </a:r>
              </a:p>
              <a:p>
                <a:pPr latinLnBrk="1">
                  <a:lnSpc>
                    <a:spcPts val="44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𝟒</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内向右运动，后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内向左运动，故A、C错误；在</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时物体距出发点最远</a:t>
                </a:r>
                <a:r>
                  <a:rPr lang="en-US" altLang="zh-CN" sz="2400" b="1" i="0">
                    <a:solidFill>
                      <a:srgbClr val="FF0000"/>
                    </a:solidFill>
                    <a:latin typeface="Times New Roman" pitchFamily="34" charset="0"/>
                    <a:ea typeface="微软雅黑" pitchFamily="34" charset="-122"/>
                    <a:cs typeface="Times New Roman" pitchFamily="34" charset="-120"/>
                  </a:rPr>
                  <a:t>，故</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B</a:t>
                </a:r>
                <a:r>
                  <a:rPr lang="en-US" altLang="zh-CN" sz="2400" b="1" i="0" dirty="0">
                    <a:solidFill>
                      <a:srgbClr val="FF0000"/>
                    </a:solidFill>
                    <a:latin typeface="Times New Roman" pitchFamily="34" charset="0"/>
                    <a:ea typeface="微软雅黑" pitchFamily="34" charset="-122"/>
                    <a:cs typeface="Times New Roman" pitchFamily="34" charset="-120"/>
                  </a:rPr>
                  <a:t>错误，D正确.</a:t>
                </a:r>
                <a:endParaRPr lang="en-US" altLang="zh-CN" sz="2400" dirty="0"/>
              </a:p>
            </p:txBody>
          </p:sp>
        </mc:Choice>
        <mc:Fallback>
          <p:sp>
            <p:nvSpPr>
              <p:cNvPr id="6" name="QC_4_AS.17_1#67e661af3?vcp=1&amp;pid=deead102e&amp;color=0,0,0&amp;vtp=1&amp;bbb=1&amp;hb=1&amp;hs=1"/>
              <p:cNvSpPr>
                <a:spLocks noRot="1" noChangeAspect="1" noMove="1" noResize="1" noEditPoints="1" noAdjustHandles="1" noChangeArrowheads="1" noChangeShapeType="1" noTextEdit="1"/>
              </p:cNvSpPr>
              <p:nvPr/>
            </p:nvSpPr>
            <p:spPr>
              <a:xfrm>
                <a:off x="393192" y="4205572"/>
                <a:ext cx="11402568" cy="1596200"/>
              </a:xfrm>
              <a:prstGeom prst="rect">
                <a:avLst/>
              </a:prstGeom>
              <a:blipFill>
                <a:blip r:embed="rId6"/>
                <a:stretch>
                  <a:fillRect l="-1658" r="-695" b="-1106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p:pic>
        <p:nvPicPr>
          <p:cNvPr id="2" name="QC_4_BD.18_1#c02cf5f1d?htil=5&amp;vcp=1&amp;pid=deead102e&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8041253" y="1436877"/>
            <a:ext cx="3675888" cy="145389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C_4_BD.18_2#c02cf5f1d?htil=5&amp;vcp=1&amp;pid=deead102e&amp;color=0,0,0&amp;vtp=1&amp;bt=1&amp;bbb=1&amp;hb=1&amp;hs=1"/>
              <p:cNvSpPr/>
              <p:nvPr/>
            </p:nvSpPr>
            <p:spPr>
              <a:xfrm>
                <a:off x="393192" y="1391158"/>
                <a:ext cx="7589520" cy="21509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4.</a:t>
                </a:r>
                <a:r>
                  <a:rPr lang="en-US" altLang="zh-CN" sz="2400" b="1" i="0" dirty="0">
                    <a:solidFill>
                      <a:srgbClr val="000000"/>
                    </a:solidFill>
                    <a:latin typeface="Times New Roman" pitchFamily="34" charset="0"/>
                    <a:ea typeface="微软雅黑" pitchFamily="34" charset="-122"/>
                    <a:cs typeface="Times New Roman" pitchFamily="34" charset="-120"/>
                  </a:rPr>
                  <a:t>考点3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如图所示，桥式起重机主要由可移动“桥架</a:t>
                </a:r>
                <a:r>
                  <a:rPr lang="en-US" altLang="zh-CN" sz="2400" b="0" i="0">
                    <a:solidFill>
                      <a:srgbClr val="000000"/>
                    </a:solidFill>
                    <a:latin typeface="Times New Roman" pitchFamily="34" charset="0"/>
                    <a:ea typeface="微软雅黑" pitchFamily="34" charset="-122"/>
                    <a:cs typeface="Times New Roman" pitchFamily="34" charset="-120"/>
                  </a:rPr>
                  <a:t>”“小</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车</a:t>
                </a:r>
                <a:r>
                  <a:rPr lang="en-US" altLang="zh-CN" sz="2400" b="0" i="0" dirty="0">
                    <a:solidFill>
                      <a:srgbClr val="000000"/>
                    </a:solidFill>
                    <a:latin typeface="Times New Roman" pitchFamily="34" charset="0"/>
                    <a:ea typeface="微软雅黑" pitchFamily="34" charset="-122"/>
                    <a:cs typeface="Times New Roman" pitchFamily="34" charset="-120"/>
                  </a:rPr>
                  <a:t>”和固定“轨道”三部分组成.在某次作业中</a:t>
                </a:r>
                <a:r>
                  <a:rPr lang="en-US" altLang="zh-CN" sz="2400" b="0" i="0">
                    <a:solidFill>
                      <a:srgbClr val="000000"/>
                    </a:solidFill>
                    <a:latin typeface="Times New Roman" pitchFamily="34" charset="0"/>
                    <a:ea typeface="微软雅黑" pitchFamily="34" charset="-122"/>
                    <a:cs typeface="Times New Roman" pitchFamily="34" charset="-120"/>
                  </a:rPr>
                  <a:t>，桥架沿轨道</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单向移动了</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8</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dirty="0">
                    <a:solidFill>
                      <a:srgbClr val="000000"/>
                    </a:solidFill>
                    <a:latin typeface="Times New Roman" pitchFamily="34" charset="0"/>
                    <a:ea typeface="微软雅黑" pitchFamily="34" charset="-122"/>
                    <a:cs typeface="Times New Roman" pitchFamily="34" charset="-120"/>
                  </a:rPr>
                  <a:t>，小车在桥架上单向移动了</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6</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，该次作</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业中小车相对地面的位移大小为(</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3" name="QC_4_BD.18_2#c02cf5f1d?htil=5&amp;vcp=1&amp;pid=deead102e&amp;color=0,0,0&amp;vtp=1&amp;bt=1&amp;bbb=1&amp;hb=1&amp;hs=1"/>
              <p:cNvSpPr>
                <a:spLocks noRot="1" noChangeAspect="1" noMove="1" noResize="1" noEditPoints="1" noAdjustHandles="1" noChangeArrowheads="1" noChangeShapeType="1" noTextEdit="1"/>
              </p:cNvSpPr>
              <p:nvPr/>
            </p:nvSpPr>
            <p:spPr>
              <a:xfrm>
                <a:off x="393192" y="1391158"/>
                <a:ext cx="7589520" cy="2150999"/>
              </a:xfrm>
              <a:prstGeom prst="rect">
                <a:avLst/>
              </a:prstGeom>
              <a:blipFill>
                <a:blip r:embed="rId4"/>
                <a:stretch>
                  <a:fillRect l="-2490" r="-1044" b="-8782"/>
                </a:stretch>
              </a:blipFill>
              <a:ln/>
            </p:spPr>
            <p:txBody>
              <a:bodyPr/>
              <a:lstStyle/>
              <a:p>
                <a:r>
                  <a:rPr lang="zh-CN" altLang="en-US">
                    <a:noFill/>
                  </a:rPr>
                  <a:t> </a:t>
                </a:r>
              </a:p>
            </p:txBody>
          </p:sp>
        </mc:Fallback>
      </mc:AlternateContent>
      <p:sp>
        <p:nvSpPr>
          <p:cNvPr id="4" name="QC_4_AN.19_1#c02cf5f1d.bracket?vcp=1&amp;pid=deead102e&amp;color=0,0,0&amp;vpa=8&amp;vtp=1"/>
          <p:cNvSpPr/>
          <p:nvPr/>
        </p:nvSpPr>
        <p:spPr>
          <a:xfrm>
            <a:off x="4892960" y="3056128"/>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mc:AlternateContent xmlns:mc="http://schemas.openxmlformats.org/markup-compatibility/2006">
        <mc:Choice xmlns:a14="http://schemas.microsoft.com/office/drawing/2010/main" Requires="a14">
          <p:sp>
            <p:nvSpPr>
              <p:cNvPr id="5" name="QC_4_BD.18_3#c02cf5f1d.choices?vcp=1&amp;pid=deead102e&amp;color=0,0,0&amp;vtp=1&amp;bbb=1&amp;hs=1"/>
              <p:cNvSpPr/>
              <p:nvPr/>
            </p:nvSpPr>
            <p:spPr>
              <a:xfrm>
                <a:off x="393192" y="3586797"/>
                <a:ext cx="11402568" cy="477330"/>
              </a:xfrm>
              <a:prstGeom prst="rect">
                <a:avLst/>
              </a:prstGeom>
              <a:noFill/>
              <a:ln/>
            </p:spPr>
            <p:txBody>
              <a:bodyPr wrap="none" lIns="0" tIns="0" rIns="0" bIns="0" rtlCol="0" anchor="t"/>
              <a:lstStyle/>
              <a:p>
                <a:pPr latinLnBrk="1">
                  <a:lnSpc>
                    <a:spcPts val="4300"/>
                  </a:lnSpc>
                  <a:tabLst>
                    <a:tab pos="2830952" algn="l"/>
                    <a:tab pos="5636504" algn="l"/>
                    <a:tab pos="8607156"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6</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8</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18_3#c02cf5f1d.choices?vcp=1&amp;pid=deead102e&amp;color=0,0,0&amp;vtp=1&amp;bbb=1&amp;hs=1"/>
              <p:cNvSpPr>
                <a:spLocks noRot="1" noChangeAspect="1" noMove="1" noResize="1" noEditPoints="1" noAdjustHandles="1" noChangeArrowheads="1" noChangeShapeType="1" noTextEdit="1"/>
              </p:cNvSpPr>
              <p:nvPr/>
            </p:nvSpPr>
            <p:spPr>
              <a:xfrm>
                <a:off x="393192" y="3586797"/>
                <a:ext cx="11402568" cy="477330"/>
              </a:xfrm>
              <a:prstGeom prst="rect">
                <a:avLst/>
              </a:prstGeom>
              <a:blipFill>
                <a:blip r:embed="rId5"/>
                <a:stretch>
                  <a:fillRect l="-1658" b="-39241"/>
                </a:stretch>
              </a:blipFill>
              <a:ln/>
            </p:spPr>
            <p:txBody>
              <a:bodyPr/>
              <a:lstStyle/>
              <a:p>
                <a:r>
                  <a:rPr lang="zh-CN" altLang="en-US">
                    <a:noFill/>
                  </a:rPr>
                  <a:t> </a:t>
                </a:r>
              </a:p>
            </p:txBody>
          </p:sp>
        </mc:Fallback>
      </mc:AlternateContent>
      <p:pic>
        <p:nvPicPr>
          <p:cNvPr id="6" name="QC_4_AS.20_1#c02cf5f1d?htil=6&amp;vcp=1&amp;pid=deead102e&amp;color=0,0,0&amp;tib=255,255,255&amp;vtp=1"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10195560" y="4129913"/>
            <a:ext cx="1581912" cy="1335024"/>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7" name="QC_4_AS.20_2#c02cf5f1d?htil=6&amp;vcp=1&amp;pid=deead102e&amp;color=0,0,0&amp;vtp=1&amp;bbb=1&amp;hb=1"/>
              <p:cNvSpPr/>
              <p:nvPr/>
            </p:nvSpPr>
            <p:spPr>
              <a:xfrm>
                <a:off x="393192" y="4075048"/>
                <a:ext cx="9692640" cy="1103821"/>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如图所示,以地面为参考系</a:t>
                </a:r>
                <a:r>
                  <a:rPr lang="en-US" altLang="zh-CN" sz="2400" b="1" i="0">
                    <a:solidFill>
                      <a:srgbClr val="FF0000"/>
                    </a:solidFill>
                    <a:latin typeface="Times New Roman" pitchFamily="34" charset="0"/>
                    <a:ea typeface="微软雅黑" pitchFamily="34" charset="-122"/>
                    <a:cs typeface="Times New Roman" pitchFamily="34" charset="-120"/>
                  </a:rPr>
                  <a:t>,则在该次作业中小车相对地面的位移大</a:t>
                </a:r>
              </a:p>
              <a:p>
                <a:pPr latinLnBrk="1">
                  <a:lnSpc>
                    <a:spcPts val="4900"/>
                  </a:lnSpc>
                </a:pPr>
                <a:r>
                  <a:rPr lang="en-US" altLang="zh-CN" sz="2400" b="1" i="0">
                    <a:solidFill>
                      <a:srgbClr val="FF0000"/>
                    </a:solidFill>
                    <a:latin typeface="Times New Roman" pitchFamily="34" charset="0"/>
                    <a:ea typeface="微软雅黑" pitchFamily="34" charset="-122"/>
                    <a:cs typeface="Times New Roman" pitchFamily="34" charset="-120"/>
                  </a:rPr>
                  <a:t>小为</a:t>
                </a:r>
                <a14:m>
                  <m:oMath xmlns:m="http://schemas.openxmlformats.org/officeDocument/2006/math">
                    <m:rad>
                      <m:radPr>
                        <m:degHide m:val="on"/>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radPr>
                      <m:deg/>
                      <m:e>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𝟔</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𝟖</m:t>
                            </m:r>
                          </m:e>
                          <m:sup>
                            <m:r>
                              <a:rPr lang="en-US" altLang="zh-CN" sz="2400" b="1" i="1">
                                <a:solidFill>
                                  <a:srgbClr val="FF0000"/>
                                </a:solidFill>
                                <a:latin typeface="Cambria Math" pitchFamily="34" charset="0"/>
                                <a:ea typeface="Cambria Math" pitchFamily="34" charset="-122"/>
                                <a:cs typeface="Cambria Math" pitchFamily="34" charset="-120"/>
                              </a:rPr>
                              <m:t>𝟐</m:t>
                            </m:r>
                          </m:sup>
                        </m:sSup>
                      </m:e>
                    </m:rad>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,C正确.</a:t>
                </a:r>
                <a:endParaRPr lang="en-US" altLang="zh-CN" sz="2400" dirty="0"/>
              </a:p>
            </p:txBody>
          </p:sp>
        </mc:Choice>
        <mc:Fallback>
          <p:sp>
            <p:nvSpPr>
              <p:cNvPr id="7" name="QC_4_AS.20_2#c02cf5f1d?htil=6&amp;vcp=1&amp;pid=deead102e&amp;color=0,0,0&amp;vtp=1&amp;bbb=1&amp;hb=1"/>
              <p:cNvSpPr>
                <a:spLocks noRot="1" noChangeAspect="1" noMove="1" noResize="1" noEditPoints="1" noAdjustHandles="1" noChangeArrowheads="1" noChangeShapeType="1" noTextEdit="1"/>
              </p:cNvSpPr>
              <p:nvPr/>
            </p:nvSpPr>
            <p:spPr>
              <a:xfrm>
                <a:off x="393192" y="4075048"/>
                <a:ext cx="9692640" cy="1103821"/>
              </a:xfrm>
              <a:prstGeom prst="rect">
                <a:avLst/>
              </a:prstGeom>
              <a:blipFill>
                <a:blip r:embed="rId7"/>
                <a:stretch>
                  <a:fillRect l="-1950" r="-1572" b="-1593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bg/>
                                          </p:spTgt>
                                        </p:tgtEl>
                                        <p:attrNameLst>
                                          <p:attrName>style.visibility</p:attrName>
                                        </p:attrNameLst>
                                      </p:cBhvr>
                                      <p:to>
                                        <p:strVal val="visible"/>
                                      </p:to>
                                    </p:set>
                                    <p:animEffect transition="in" filter="wipe(left)">
                                      <p:cBhvr>
                                        <p:cTn id="18" dur="500"/>
                                        <p:tgtEl>
                                          <p:spTgt spid="7">
                                            <p:bg/>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wipe(left)">
                                      <p:cBhvr>
                                        <p:cTn id="21" dur="500"/>
                                        <p:tgtEl>
                                          <p:spTgt spid="7">
                                            <p:txEl>
                                              <p:pRg st="0" end="0"/>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wipe(left)">
                                      <p:cBhvr>
                                        <p:cTn id="24"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7"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21_1#0d2a50978?vcp=1&amp;pid=deead102e&amp;color=0,0,0&amp;vtp=1&amp;bt=1&amp;bbb=1&amp;hb=1"/>
              <p:cNvSpPr/>
              <p:nvPr/>
            </p:nvSpPr>
            <p:spPr>
              <a:xfrm>
                <a:off x="393192" y="790797"/>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5.</a:t>
                </a:r>
                <a:r>
                  <a:rPr lang="en-US" altLang="zh-CN" sz="2400" b="1" i="0" dirty="0">
                    <a:solidFill>
                      <a:srgbClr val="000000"/>
                    </a:solidFill>
                    <a:latin typeface="Times New Roman" pitchFamily="34" charset="0"/>
                    <a:ea typeface="微软雅黑" pitchFamily="34" charset="-122"/>
                    <a:cs typeface="Times New Roman" pitchFamily="34" charset="-120"/>
                  </a:rPr>
                  <a:t>考点4</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甲、乙、丙三个物体同时同地出发，</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6</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末同时到达同一目的地</a:t>
                </a:r>
                <a:r>
                  <a:rPr lang="en-US" altLang="zh-CN" sz="2400" b="0" i="0">
                    <a:solidFill>
                      <a:srgbClr val="000000"/>
                    </a:solidFill>
                    <a:latin typeface="Times New Roman" pitchFamily="34" charset="0"/>
                    <a:ea typeface="微软雅黑" pitchFamily="34" charset="-122"/>
                    <a:cs typeface="Times New Roman" pitchFamily="34" charset="-120"/>
                  </a:rPr>
                  <a:t>，它们运动</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的位移</a:t>
                </a:r>
                <a:r>
                  <a:rPr lang="en-US" altLang="zh-CN" sz="2400" b="0" i="0" dirty="0">
                    <a:solidFill>
                      <a:srgbClr val="000000"/>
                    </a:solidFill>
                    <a:latin typeface="Times New Roman" pitchFamily="34" charset="0"/>
                    <a:ea typeface="微软雅黑" pitchFamily="34" charset="-122"/>
                    <a:cs typeface="Times New Roman" pitchFamily="34" charset="-120"/>
                  </a:rPr>
                  <a:t>—时间图像如图所示.下列关于三者的路程</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𝑠</m:t>
                    </m:r>
                  </m:oMath>
                </a14:m>
                <a:r>
                  <a:rPr lang="en-US" altLang="zh-CN" sz="2400" b="0" i="0" dirty="0">
                    <a:solidFill>
                      <a:srgbClr val="000000"/>
                    </a:solidFill>
                    <a:latin typeface="Times New Roman" pitchFamily="34" charset="0"/>
                    <a:ea typeface="微软雅黑" pitchFamily="34" charset="-122"/>
                    <a:cs typeface="Times New Roman" pitchFamily="34" charset="-120"/>
                  </a:rPr>
                  <a:t>和位移</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大小关系正确的是(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21_1#0d2a50978?vcp=1&amp;pid=deead102e&amp;color=0,0,0&amp;vtp=1&amp;bt=1&amp;bbb=1&amp;hb=1"/>
              <p:cNvSpPr>
                <a:spLocks noRot="1" noChangeAspect="1" noMove="1" noResize="1" noEditPoints="1" noAdjustHandles="1" noChangeArrowheads="1" noChangeShapeType="1" noTextEdit="1"/>
              </p:cNvSpPr>
              <p:nvPr/>
            </p:nvSpPr>
            <p:spPr>
              <a:xfrm>
                <a:off x="393192" y="790797"/>
                <a:ext cx="11402568" cy="1033399"/>
              </a:xfrm>
              <a:prstGeom prst="rect">
                <a:avLst/>
              </a:prstGeom>
              <a:blipFill>
                <a:blip r:embed="rId3"/>
                <a:stretch>
                  <a:fillRect l="-1658" b="-17751"/>
                </a:stretch>
              </a:blipFill>
              <a:ln/>
            </p:spPr>
            <p:txBody>
              <a:bodyPr/>
              <a:lstStyle/>
              <a:p>
                <a:r>
                  <a:rPr lang="zh-CN" altLang="en-US">
                    <a:noFill/>
                  </a:rPr>
                  <a:t> </a:t>
                </a:r>
              </a:p>
            </p:txBody>
          </p:sp>
        </mc:Fallback>
      </mc:AlternateContent>
      <p:sp>
        <p:nvSpPr>
          <p:cNvPr id="3" name="QC_4_AN.22_1#0d2a50978.bracket?vcp=1&amp;pid=deead102e&amp;color=0,0,0&amp;vpa=9&amp;vtp=1"/>
          <p:cNvSpPr/>
          <p:nvPr/>
        </p:nvSpPr>
        <p:spPr>
          <a:xfrm>
            <a:off x="10774203" y="1338167"/>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p:pic>
        <p:nvPicPr>
          <p:cNvPr id="4" name="QC_4_BD.21_2#0d2a50978?vcp=1&amp;pid=deead102e&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4956048" y="1951323"/>
            <a:ext cx="2286000" cy="1883664"/>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21_3#0d2a50978.choices?vcp=1&amp;pid=deead102e&amp;color=0,0,0&amp;vtp=1&amp;bbb=1"/>
              <p:cNvSpPr/>
              <p:nvPr/>
            </p:nvSpPr>
            <p:spPr>
              <a:xfrm>
                <a:off x="393192" y="3970623"/>
                <a:ext cx="11402568" cy="501333"/>
              </a:xfrm>
              <a:prstGeom prst="rect">
                <a:avLst/>
              </a:prstGeom>
              <a:noFill/>
              <a:ln/>
            </p:spPr>
            <p:txBody>
              <a:bodyPr wrap="none" lIns="0" tIns="0" rIns="0" bIns="0" rtlCol="0" anchor="t"/>
              <a:lstStyle/>
              <a:p>
                <a:pPr latinLnBrk="1">
                  <a:lnSpc>
                    <a:spcPts val="4400"/>
                  </a:lnSpc>
                  <a:tabLst>
                    <a:tab pos="2878577" algn="l"/>
                    <a:tab pos="5731754" algn="l"/>
                    <a:tab pos="8661131"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𝑠</m:t>
                        </m:r>
                      </m:e>
                      <m:sub>
                        <m:r>
                          <a:rPr lang="en-US" altLang="zh-CN" sz="2400" baseline="-10000">
                            <a:solidFill>
                              <a:srgbClr val="000000"/>
                            </a:solidFill>
                            <a:latin typeface="Cambria Math" panose="02040503050406030204" pitchFamily="18" charset="0"/>
                          </a:rPr>
                          <m:t>甲</m:t>
                        </m:r>
                      </m:sub>
                    </m:sSub>
                    <m:r>
                      <a:rPr lang="en-US" altLang="zh-CN" sz="2400" b="0" i="0">
                        <a:solidFill>
                          <a:srgbClr val="000000"/>
                        </a:solidFill>
                        <a:latin typeface="Cambria Math" pitchFamily="34" charset="0"/>
                        <a:ea typeface="Cambria Math" pitchFamily="34" charset="-122"/>
                        <a:cs typeface="Cambria Math" pitchFamily="34" charset="-120"/>
                      </a:rPr>
                      <m:t>&gt;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𝑠</m:t>
                        </m:r>
                      </m:e>
                      <m:sub>
                        <m:r>
                          <a:rPr lang="en-US" altLang="zh-CN" sz="2400" baseline="-10000">
                            <a:solidFill>
                              <a:srgbClr val="000000"/>
                            </a:solidFill>
                            <a:latin typeface="Cambria Math" panose="02040503050406030204" pitchFamily="18" charset="0"/>
                          </a:rPr>
                          <m:t>丙</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𝑠</m:t>
                        </m:r>
                      </m:e>
                      <m:sub>
                        <m:r>
                          <a:rPr lang="en-US" altLang="zh-CN" sz="2400" baseline="-10000">
                            <a:solidFill>
                              <a:srgbClr val="000000"/>
                            </a:solidFill>
                            <a:latin typeface="Cambria Math" panose="02040503050406030204" pitchFamily="18" charset="0"/>
                          </a:rPr>
                          <m:t>乙</m:t>
                        </m:r>
                      </m:sub>
                    </m:sSub>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𝑠</m:t>
                        </m:r>
                      </m:e>
                      <m:sub>
                        <m:r>
                          <a:rPr lang="en-US" altLang="zh-CN" sz="2400" baseline="-10000">
                            <a:solidFill>
                              <a:srgbClr val="000000"/>
                            </a:solidFill>
                            <a:latin typeface="Cambria Math" panose="02040503050406030204" pitchFamily="18" charset="0"/>
                          </a:rPr>
                          <m:t>甲</m:t>
                        </m:r>
                      </m:sub>
                    </m:sSub>
                    <m:r>
                      <a:rPr lang="en-US" altLang="zh-CN" sz="2400" b="0" i="0">
                        <a:solidFill>
                          <a:srgbClr val="000000"/>
                        </a:solidFill>
                        <a:latin typeface="Cambria Math" pitchFamily="34" charset="0"/>
                        <a:ea typeface="Cambria Math" pitchFamily="34" charset="-122"/>
                        <a:cs typeface="Cambria Math" pitchFamily="34" charset="-120"/>
                      </a:rPr>
                      <m:t>&gt;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𝑠</m:t>
                        </m:r>
                      </m:e>
                      <m:sub>
                        <m:r>
                          <a:rPr lang="en-US" altLang="zh-CN" sz="2400" baseline="-10000">
                            <a:solidFill>
                              <a:srgbClr val="000000"/>
                            </a:solidFill>
                            <a:latin typeface="Cambria Math" panose="02040503050406030204" pitchFamily="18" charset="0"/>
                          </a:rPr>
                          <m:t>丙</m:t>
                        </m:r>
                      </m:sub>
                    </m:sSub>
                    <m:r>
                      <a:rPr lang="en-US" altLang="zh-CN" sz="2400" b="0" i="0">
                        <a:solidFill>
                          <a:srgbClr val="000000"/>
                        </a:solidFill>
                        <a:latin typeface="Cambria Math" pitchFamily="34" charset="0"/>
                        <a:ea typeface="Cambria Math" pitchFamily="34" charset="-122"/>
                        <a:cs typeface="Cambria Math" pitchFamily="34" charset="-120"/>
                      </a:rPr>
                      <m:t>&gt;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𝑠</m:t>
                        </m:r>
                      </m:e>
                      <m:sub>
                        <m:r>
                          <a:rPr lang="en-US" altLang="zh-CN" sz="2400" baseline="-10000">
                            <a:solidFill>
                              <a:srgbClr val="000000"/>
                            </a:solidFill>
                            <a:latin typeface="Cambria Math" panose="02040503050406030204" pitchFamily="18" charset="0"/>
                          </a:rPr>
                          <m:t>乙</m:t>
                        </m:r>
                      </m:sub>
                    </m:sSub>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aseline="-10000">
                            <a:solidFill>
                              <a:srgbClr val="000000"/>
                            </a:solidFill>
                            <a:latin typeface="Cambria Math" panose="02040503050406030204" pitchFamily="18" charset="0"/>
                          </a:rPr>
                          <m:t>甲</m:t>
                        </m:r>
                      </m:sub>
                    </m:sSub>
                    <m:r>
                      <a:rPr lang="en-US" altLang="zh-CN" sz="2400" b="0" i="0">
                        <a:solidFill>
                          <a:srgbClr val="000000"/>
                        </a:solidFill>
                        <a:latin typeface="Cambria Math" pitchFamily="34" charset="0"/>
                        <a:ea typeface="Cambria Math" pitchFamily="34" charset="-122"/>
                        <a:cs typeface="Cambria Math" pitchFamily="34" charset="-120"/>
                      </a:rPr>
                      <m:t>&gt;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aseline="-10000">
                            <a:solidFill>
                              <a:srgbClr val="000000"/>
                            </a:solidFill>
                            <a:latin typeface="Cambria Math" panose="02040503050406030204" pitchFamily="18" charset="0"/>
                          </a:rPr>
                          <m:t>丙</m:t>
                        </m:r>
                      </m:sub>
                    </m:sSub>
                    <m:r>
                      <a:rPr lang="en-US" altLang="zh-CN" sz="2400" b="0" i="0">
                        <a:solidFill>
                          <a:srgbClr val="000000"/>
                        </a:solidFill>
                        <a:latin typeface="Cambria Math" pitchFamily="34" charset="0"/>
                        <a:ea typeface="Cambria Math" pitchFamily="34" charset="-122"/>
                        <a:cs typeface="Cambria Math" pitchFamily="34" charset="-120"/>
                      </a:rPr>
                      <m:t>&gt;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aseline="-10000">
                            <a:solidFill>
                              <a:srgbClr val="000000"/>
                            </a:solidFill>
                            <a:latin typeface="Cambria Math" panose="02040503050406030204" pitchFamily="18" charset="0"/>
                          </a:rPr>
                          <m:t>乙</m:t>
                        </m:r>
                      </m:sub>
                    </m:sSub>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aseline="-10000">
                            <a:solidFill>
                              <a:srgbClr val="000000"/>
                            </a:solidFill>
                            <a:latin typeface="Cambria Math" panose="02040503050406030204" pitchFamily="18" charset="0"/>
                          </a:rPr>
                          <m:t>甲</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aseline="-10000">
                            <a:solidFill>
                              <a:srgbClr val="000000"/>
                            </a:solidFill>
                            <a:latin typeface="Cambria Math" panose="02040503050406030204" pitchFamily="18" charset="0"/>
                          </a:rPr>
                          <m:t>丙</m:t>
                        </m:r>
                      </m:sub>
                    </m:sSub>
                    <m:r>
                      <a:rPr lang="en-US" altLang="zh-CN" sz="2400" b="0" i="0">
                        <a:solidFill>
                          <a:srgbClr val="000000"/>
                        </a:solidFill>
                        <a:latin typeface="Cambria Math" pitchFamily="34" charset="0"/>
                        <a:ea typeface="Cambria Math" pitchFamily="34" charset="-122"/>
                        <a:cs typeface="Cambria Math" pitchFamily="34" charset="-120"/>
                      </a:rPr>
                      <m:t>&gt;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aseline="-10000">
                            <a:solidFill>
                              <a:srgbClr val="000000"/>
                            </a:solidFill>
                            <a:latin typeface="Cambria Math" panose="02040503050406030204" pitchFamily="18" charset="0"/>
                          </a:rPr>
                          <m:t>乙</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21_3#0d2a50978.choices?vcp=1&amp;pid=deead102e&amp;color=0,0,0&amp;vtp=1&amp;bbb=1"/>
              <p:cNvSpPr>
                <a:spLocks noRot="1" noChangeAspect="1" noMove="1" noResize="1" noEditPoints="1" noAdjustHandles="1" noChangeArrowheads="1" noChangeShapeType="1" noTextEdit="1"/>
              </p:cNvSpPr>
              <p:nvPr/>
            </p:nvSpPr>
            <p:spPr>
              <a:xfrm>
                <a:off x="393192" y="3970623"/>
                <a:ext cx="11402568" cy="501333"/>
              </a:xfrm>
              <a:prstGeom prst="rect">
                <a:avLst/>
              </a:prstGeom>
              <a:blipFill>
                <a:blip r:embed="rId5"/>
                <a:stretch>
                  <a:fillRect l="-1658" b="-34940"/>
                </a:stretch>
              </a:blipFill>
              <a:ln/>
            </p:spPr>
            <p:txBody>
              <a:bodyPr/>
              <a:lstStyle/>
              <a:p>
                <a:r>
                  <a:rPr lang="zh-CN" altLang="en-US">
                    <a:noFill/>
                  </a:rPr>
                  <a:t> </a:t>
                </a:r>
              </a:p>
            </p:txBody>
          </p:sp>
        </mc:Fallback>
      </mc:AlternateContent>
      <p:sp>
        <p:nvSpPr>
          <p:cNvPr id="6" name="QC_4_AS.23_1#0d2a50978?vcp=1&amp;pid=deead102e&amp;color=0,0,0&amp;vtp=1&amp;bbb=1&amp;hb=1"/>
          <p:cNvSpPr/>
          <p:nvPr/>
        </p:nvSpPr>
        <p:spPr>
          <a:xfrm>
            <a:off x="393192" y="4473289"/>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三者都做直线运动,由于甲、乙、丙物体的初位置和末位置相同，</a:t>
            </a:r>
            <a:r>
              <a:rPr lang="en-US" altLang="zh-CN" sz="2400" b="1" i="0">
                <a:solidFill>
                  <a:srgbClr val="FF0000"/>
                </a:solidFill>
                <a:latin typeface="Times New Roman" pitchFamily="34" charset="0"/>
                <a:ea typeface="微软雅黑" pitchFamily="34" charset="-122"/>
                <a:cs typeface="Times New Roman" pitchFamily="34" charset="-120"/>
              </a:rPr>
              <a:t>故位移相同，</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甲物体有反向运动过程</a:t>
            </a:r>
            <a:r>
              <a:rPr lang="en-US" altLang="zh-CN" sz="2400" b="1" i="0" dirty="0">
                <a:solidFill>
                  <a:srgbClr val="FF0000"/>
                </a:solidFill>
                <a:latin typeface="Times New Roman" pitchFamily="34" charset="0"/>
                <a:ea typeface="微软雅黑" pitchFamily="34" charset="-122"/>
                <a:cs typeface="Times New Roman" pitchFamily="34" charset="-120"/>
              </a:rPr>
              <a:t>，乙、丙物体均只有正向运动过程，即乙</a:t>
            </a:r>
            <a:r>
              <a:rPr lang="en-US" altLang="zh-CN" sz="2400" b="1" i="0">
                <a:solidFill>
                  <a:srgbClr val="FF0000"/>
                </a:solidFill>
                <a:latin typeface="Times New Roman" pitchFamily="34" charset="0"/>
                <a:ea typeface="微软雅黑" pitchFamily="34" charset="-122"/>
                <a:cs typeface="Times New Roman" pitchFamily="34" charset="-120"/>
              </a:rPr>
              <a:t>、丙物体的路程等于</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位移大小</a:t>
            </a:r>
            <a:r>
              <a:rPr lang="en-US" altLang="zh-CN" sz="2400" b="1" i="0" dirty="0">
                <a:solidFill>
                  <a:srgbClr val="FF0000"/>
                </a:solidFill>
                <a:latin typeface="Times New Roman" pitchFamily="34" charset="0"/>
                <a:ea typeface="微软雅黑" pitchFamily="34" charset="-122"/>
                <a:cs typeface="Times New Roman" pitchFamily="34" charset="-120"/>
              </a:rPr>
              <a:t>，故甲物体的路程最大，故选项A正确.</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6"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amp;si=11">
    <p:spTree>
      <p:nvGrpSpPr>
        <p:cNvPr id="1" name=""/>
        <p:cNvGrpSpPr/>
        <p:nvPr/>
      </p:nvGrpSpPr>
      <p:grpSpPr>
        <a:xfrm>
          <a:off x="0" y="0"/>
          <a:ext cx="0" cy="0"/>
          <a:chOff x="0" y="0"/>
          <a:chExt cx="0" cy="0"/>
        </a:xfrm>
      </p:grpSpPr>
      <p:sp>
        <p:nvSpPr>
          <p:cNvPr id="2" name="C_3_BD#23f09d8d3?vcp=1&amp;pid=48ae0c14e&amp;color=0,0,0&amp;vtp=1&amp;bt=1&amp;bbb=1"/>
          <p:cNvSpPr/>
          <p:nvPr/>
        </p:nvSpPr>
        <p:spPr>
          <a:xfrm>
            <a:off x="393192" y="502921"/>
            <a:ext cx="11402568" cy="505714"/>
          </a:xfrm>
          <a:prstGeom prst="rect">
            <a:avLst/>
          </a:prstGeom>
          <a:noFill/>
          <a:ln/>
        </p:spPr>
        <p:txBody>
          <a:bodyPr wrap="none" lIns="0" tIns="0" rIns="0" bIns="0" rtlCol="0" anchor="t"/>
          <a:lstStyle/>
          <a:p>
            <a:pPr algn="l" latinLnBrk="1">
              <a:lnSpc>
                <a:spcPts val="4400"/>
              </a:lnSpc>
            </a:pPr>
            <a:r>
              <a:rPr lang="en-US" altLang="zh-CN" sz="2600" b="1" i="0" dirty="0">
                <a:solidFill>
                  <a:srgbClr val="000000"/>
                </a:solidFill>
                <a:latin typeface="Times New Roman" pitchFamily="34" charset="0"/>
                <a:ea typeface="SimHei" pitchFamily="34" charset="-122"/>
                <a:cs typeface="Times New Roman" pitchFamily="34" charset="-120"/>
              </a:rPr>
              <a:t>易错考点针对练</a:t>
            </a:r>
            <a:endParaRPr lang="en-US" altLang="zh-CN" sz="2600" dirty="0"/>
          </a:p>
        </p:txBody>
      </p:sp>
      <p:sp>
        <p:nvSpPr>
          <p:cNvPr id="3" name="P_4_BD#6a7eac323?vcp=1&amp;pid=23f09d8d3&amp;color=0,0,0&amp;vtp=1&amp;bbb=1"/>
          <p:cNvSpPr/>
          <p:nvPr/>
        </p:nvSpPr>
        <p:spPr>
          <a:xfrm>
            <a:off x="393192" y="1070180"/>
            <a:ext cx="11402568" cy="469075"/>
          </a:xfrm>
          <a:prstGeom prst="rect">
            <a:avLst/>
          </a:prstGeom>
          <a:noFill/>
          <a:ln/>
        </p:spPr>
        <p:txBody>
          <a:bodyPr wrap="none" lIns="0" tIns="0" rIns="0" bIns="0" rtlCol="0" anchor="t"/>
          <a:lstStyle/>
          <a:p>
            <a:pPr algn="ctr" latinLnBrk="1">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限时10分钟</a:t>
            </a:r>
            <a:endParaRPr lang="en-US" altLang="zh-CN" sz="2400" dirty="0"/>
          </a:p>
        </p:txBody>
      </p:sp>
      <mc:AlternateContent xmlns:mc="http://schemas.openxmlformats.org/markup-compatibility/2006">
        <mc:Choice xmlns:a14="http://schemas.microsoft.com/office/drawing/2010/main" Requires="a14">
          <p:sp>
            <p:nvSpPr>
              <p:cNvPr id="4" name="QC_4_BD.24_1#837cb4b51?vcp=1&amp;pid=23f09d8d3&amp;color=0,0,0&amp;vtp=1&amp;bbb=1&amp;hb=1"/>
              <p:cNvSpPr/>
              <p:nvPr/>
            </p:nvSpPr>
            <p:spPr>
              <a:xfrm>
                <a:off x="393192" y="1541717"/>
                <a:ext cx="11402568" cy="988949"/>
              </a:xfrm>
              <a:prstGeom prst="rect">
                <a:avLst/>
              </a:prstGeom>
              <a:noFill/>
              <a:ln/>
            </p:spPr>
            <p:txBody>
              <a:bodyPr wrap="none" lIns="0" tIns="0" rIns="0" bIns="0" rtlCol="0" anchor="t"/>
              <a:lstStyle/>
              <a:p>
                <a:pPr algn="l" latinLnBrk="1">
                  <a:lnSpc>
                    <a:spcPts val="42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1" i="0" dirty="0">
                    <a:solidFill>
                      <a:srgbClr val="000000"/>
                    </a:solidFill>
                    <a:latin typeface="Times New Roman" pitchFamily="34" charset="0"/>
                    <a:ea typeface="微软雅黑" pitchFamily="34" charset="-122"/>
                    <a:cs typeface="Times New Roman" pitchFamily="34" charset="-120"/>
                  </a:rPr>
                  <a:t>考点1、2、3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（2026·湖北省武昌实验中学检测）</a:t>
                </a:r>
                <a:r>
                  <a:rPr lang="en-US" altLang="zh-CN" sz="2400" b="0" i="0" dirty="0">
                    <a:solidFill>
                      <a:srgbClr val="000000"/>
                    </a:solidFill>
                    <a:latin typeface="Times New Roman" pitchFamily="34" charset="0"/>
                    <a:ea typeface="微软雅黑" pitchFamily="34" charset="-122"/>
                    <a:cs typeface="Times New Roman" pitchFamily="34" charset="-120"/>
                  </a:rPr>
                  <a:t>一质点在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轴上运动</a:t>
                </a:r>
                <a:r>
                  <a:rPr lang="en-US" altLang="zh-CN" sz="2400" b="0" i="0">
                    <a:solidFill>
                      <a:srgbClr val="000000"/>
                    </a:solidFill>
                    <a:latin typeface="Times New Roman" pitchFamily="34" charset="0"/>
                    <a:ea typeface="微软雅黑" pitchFamily="34" charset="-122"/>
                    <a:cs typeface="Times New Roman" pitchFamily="34" charset="-120"/>
                  </a:rPr>
                  <a:t>，将它在连</a:t>
                </a:r>
              </a:p>
              <a:p>
                <a:pPr latinLnBrk="1">
                  <a:lnSpc>
                    <a:spcPts val="4000"/>
                  </a:lnSpc>
                </a:pPr>
                <a:r>
                  <a:rPr lang="en-US" altLang="zh-CN" sz="2400" b="0" i="0">
                    <a:solidFill>
                      <a:srgbClr val="000000"/>
                    </a:solidFill>
                    <a:latin typeface="Times New Roman" pitchFamily="34" charset="0"/>
                    <a:ea typeface="微软雅黑" pitchFamily="34" charset="-122"/>
                    <a:cs typeface="Times New Roman" pitchFamily="34" charset="-120"/>
                  </a:rPr>
                  <a:t>续第</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𝑛</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末所对应的坐标记录在如下表格中，</a:t>
                </a:r>
                <a:r>
                  <a:rPr lang="en-US" altLang="zh-CN" sz="2400" b="0" i="0">
                    <a:solidFill>
                      <a:srgbClr val="000000"/>
                    </a:solidFill>
                    <a:latin typeface="Times New Roman" pitchFamily="34" charset="0"/>
                    <a:ea typeface="微软雅黑" pitchFamily="34" charset="-122"/>
                    <a:cs typeface="Times New Roman" pitchFamily="34" charset="-120"/>
                  </a:rPr>
                  <a:t>则(</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4" name="QC_4_BD.24_1#837cb4b51?vcp=1&amp;pid=23f09d8d3&amp;color=0,0,0&amp;vtp=1&amp;bbb=1&amp;hb=1"/>
              <p:cNvSpPr>
                <a:spLocks noRot="1" noChangeAspect="1" noMove="1" noResize="1" noEditPoints="1" noAdjustHandles="1" noChangeArrowheads="1" noChangeShapeType="1" noTextEdit="1"/>
              </p:cNvSpPr>
              <p:nvPr/>
            </p:nvSpPr>
            <p:spPr>
              <a:xfrm>
                <a:off x="393192" y="1541717"/>
                <a:ext cx="11402568" cy="988949"/>
              </a:xfrm>
              <a:prstGeom prst="rect">
                <a:avLst/>
              </a:prstGeom>
              <a:blipFill>
                <a:blip r:embed="rId3"/>
                <a:stretch>
                  <a:fillRect l="-1658" t="-1235" r="-53" b="-18519"/>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graphicFrame>
            <p:nvGraphicFramePr>
              <p:cNvPr id="12" name="QC_4_BD.24_2#837cb4b51?colgroup=8,2,2,5,5,5,5&amp;vcp=1&amp;pid=23f09d8d3&amp;color=0,0,0&amp;vtp=1&amp;bbb=1"/>
              <p:cNvGraphicFramePr>
                <a:graphicFrameLocks noGrp="1"/>
              </p:cNvGraphicFramePr>
              <p:nvPr>
                <p:extLst>
                  <p:ext uri="{D42A27DB-BD31-4B8C-83A1-F6EECF244321}">
                    <p14:modId xmlns:p14="http://schemas.microsoft.com/office/powerpoint/2010/main" val="1703215256"/>
                  </p:ext>
                </p:extLst>
              </p:nvPr>
            </p:nvGraphicFramePr>
            <p:xfrm>
              <a:off x="393192" y="2658364"/>
              <a:ext cx="11311128" cy="1068706"/>
            </p:xfrm>
            <a:graphic>
              <a:graphicData uri="http://schemas.openxmlformats.org/drawingml/2006/table">
                <a:tbl>
                  <a:tblPr/>
                  <a:tblGrid>
                    <a:gridCol w="2734056">
                      <a:extLst>
                        <a:ext uri="{9D8B030D-6E8A-4147-A177-3AD203B41FA5}">
                          <a16:colId xmlns:a16="http://schemas.microsoft.com/office/drawing/2014/main" val="20000"/>
                        </a:ext>
                      </a:extLst>
                    </a:gridCol>
                    <a:gridCol w="905256">
                      <a:extLst>
                        <a:ext uri="{9D8B030D-6E8A-4147-A177-3AD203B41FA5}">
                          <a16:colId xmlns:a16="http://schemas.microsoft.com/office/drawing/2014/main" val="20001"/>
                        </a:ext>
                      </a:extLst>
                    </a:gridCol>
                    <a:gridCol w="905256">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gridCol w="1691640">
                      <a:extLst>
                        <a:ext uri="{9D8B030D-6E8A-4147-A177-3AD203B41FA5}">
                          <a16:colId xmlns:a16="http://schemas.microsoft.com/office/drawing/2014/main" val="20005"/>
                        </a:ext>
                      </a:extLst>
                    </a:gridCol>
                    <a:gridCol w="1691640">
                      <a:extLst>
                        <a:ext uri="{9D8B030D-6E8A-4147-A177-3AD203B41FA5}">
                          <a16:colId xmlns:a16="http://schemas.microsoft.com/office/drawing/2014/main" val="20006"/>
                        </a:ext>
                      </a:extLst>
                    </a:gridCol>
                  </a:tblGrid>
                  <a:tr h="534353">
                    <a:tc>
                      <a:txBody>
                        <a:bodyPr/>
                        <a:lstStyle/>
                        <a:p>
                          <a:pPr algn="ctr" latinLnBrk="1" hangingPunct="0">
                            <a:lnSpc>
                              <a:spcPts val="39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𝑡</m:t>
                              </m:r>
                              <m:r>
                                <a:rPr lang="en-US" altLang="zh-CN" sz="2400" b="0" i="0" spc="-100">
                                  <a:solidFill>
                                    <a:srgbClr val="000000"/>
                                  </a:solidFill>
                                  <a:latin typeface="Cambria Math" pitchFamily="34" charset="0"/>
                                  <a:ea typeface="Cambria Math" pitchFamily="34" charset="-122"/>
                                  <a:cs typeface="Cambria Math" pitchFamily="34" charset="-120"/>
                                </a:rPr>
                                <m:t>/</m:t>
                              </m:r>
                              <m:r>
                                <m:rPr>
                                  <m:sty m:val="p"/>
                                </m:rPr>
                                <a:rPr lang="en-US" altLang="zh-CN" sz="2400" b="0" i="0" spc="-10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0</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1</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2</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3</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4</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5</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34353">
                    <a:tc>
                      <a:txBody>
                        <a:bodyPr/>
                        <a:lstStyle/>
                        <a:p>
                          <a:pPr algn="ctr" latinLnBrk="1" hangingPunct="0">
                            <a:lnSpc>
                              <a:spcPts val="39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𝑥</m:t>
                              </m:r>
                              <m:r>
                                <a:rPr lang="en-US" altLang="zh-CN" sz="2400" b="0" i="0" spc="-100">
                                  <a:solidFill>
                                    <a:srgbClr val="000000"/>
                                  </a:solidFill>
                                  <a:latin typeface="Cambria Math" pitchFamily="34" charset="0"/>
                                  <a:ea typeface="Cambria Math" pitchFamily="34" charset="-122"/>
                                  <a:cs typeface="Cambria Math" pitchFamily="34" charset="-120"/>
                                </a:rPr>
                                <m:t>/</m:t>
                              </m:r>
                              <m:r>
                                <m:rPr>
                                  <m:sty m:val="p"/>
                                </m:rPr>
                                <a:rPr lang="en-US" altLang="zh-CN" sz="2400" b="0" i="0" spc="-100">
                                  <a:solidFill>
                                    <a:srgbClr val="000000"/>
                                  </a:solidFill>
                                  <a:latin typeface="Cambria Math" pitchFamily="34" charset="0"/>
                                  <a:ea typeface="Cambria Math" pitchFamily="34" charset="-122"/>
                                  <a:cs typeface="Cambria Math" pitchFamily="34" charset="-120"/>
                                </a:rPr>
                                <m:t>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0</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5</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9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−4</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9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−3</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9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−8</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900"/>
                            </a:lnSpc>
                          </a:pPr>
                          <a14:m>
                            <m:oMath xmlns:m="http://schemas.openxmlformats.org/officeDocument/2006/math">
                              <m:r>
                                <a:rPr lang="en-US" altLang="zh-CN" sz="2400" b="0" i="0" spc="-100">
                                  <a:solidFill>
                                    <a:srgbClr val="000000"/>
                                  </a:solidFill>
                                  <a:latin typeface="Cambria Math" pitchFamily="34" charset="0"/>
                                  <a:ea typeface="Cambria Math" pitchFamily="34" charset="-122"/>
                                  <a:cs typeface="Cambria Math" pitchFamily="34" charset="-120"/>
                                </a:rPr>
                                <m:t>−2</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p:graphicFrame>
            <p:nvGraphicFramePr>
              <p:cNvPr id="12" name="QC_4_BD.24_2#837cb4b51?colgroup=8,2,2,5,5,5,5&amp;vcp=1&amp;pid=23f09d8d3&amp;color=0,0,0&amp;vtp=1&amp;bbb=1"/>
              <p:cNvGraphicFramePr>
                <a:graphicFrameLocks noGrp="1"/>
              </p:cNvGraphicFramePr>
              <p:nvPr>
                <p:extLst>
                  <p:ext uri="{D42A27DB-BD31-4B8C-83A1-F6EECF244321}">
                    <p14:modId xmlns:p14="http://schemas.microsoft.com/office/powerpoint/2010/main" val="1703215256"/>
                  </p:ext>
                </p:extLst>
              </p:nvPr>
            </p:nvGraphicFramePr>
            <p:xfrm>
              <a:off x="393192" y="2658364"/>
              <a:ext cx="11311128" cy="1068706"/>
            </p:xfrm>
            <a:graphic>
              <a:graphicData uri="http://schemas.openxmlformats.org/drawingml/2006/table">
                <a:tbl>
                  <a:tblPr/>
                  <a:tblGrid>
                    <a:gridCol w="2734056">
                      <a:extLst>
                        <a:ext uri="{9D8B030D-6E8A-4147-A177-3AD203B41FA5}">
                          <a16:colId xmlns:a16="http://schemas.microsoft.com/office/drawing/2014/main" val="20000"/>
                        </a:ext>
                      </a:extLst>
                    </a:gridCol>
                    <a:gridCol w="905256">
                      <a:extLst>
                        <a:ext uri="{9D8B030D-6E8A-4147-A177-3AD203B41FA5}">
                          <a16:colId xmlns:a16="http://schemas.microsoft.com/office/drawing/2014/main" val="20001"/>
                        </a:ext>
                      </a:extLst>
                    </a:gridCol>
                    <a:gridCol w="905256">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gridCol w="1691640">
                      <a:extLst>
                        <a:ext uri="{9D8B030D-6E8A-4147-A177-3AD203B41FA5}">
                          <a16:colId xmlns:a16="http://schemas.microsoft.com/office/drawing/2014/main" val="20005"/>
                        </a:ext>
                      </a:extLst>
                    </a:gridCol>
                    <a:gridCol w="1691640">
                      <a:extLst>
                        <a:ext uri="{9D8B030D-6E8A-4147-A177-3AD203B41FA5}">
                          <a16:colId xmlns:a16="http://schemas.microsoft.com/office/drawing/2014/main" val="20006"/>
                        </a:ext>
                      </a:extLst>
                    </a:gridCol>
                  </a:tblGrid>
                  <a:tr h="534353">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223" t="-1136" r="-313808" b="-127273"/>
                          </a:stretch>
                        </a:blipFill>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0</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1</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2</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3</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4</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5</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34353">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223" t="-101136" r="-313808" b="-27273"/>
                          </a:stretch>
                        </a:blipFill>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0</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4100"/>
                            </a:lnSpc>
                          </a:pPr>
                          <a:r>
                            <a:rPr lang="en-US" altLang="zh-CN" sz="2400" b="0" i="0" dirty="0">
                              <a:solidFill>
                                <a:srgbClr val="000000"/>
                              </a:solidFill>
                              <a:latin typeface="Times New Roman" pitchFamily="34" charset="0"/>
                              <a:ea typeface="微软雅黑" pitchFamily="34" charset="-122"/>
                              <a:cs typeface="Times New Roman" pitchFamily="34" charset="-120"/>
                            </a:rPr>
                            <a:t>5</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269675" t="-101136" r="-301444" b="-27273"/>
                          </a:stretch>
                        </a:blipFill>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368345" t="-101136" r="-200360" b="-27273"/>
                          </a:stretch>
                        </a:blipFill>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470036" t="-101136" r="-101083" b="-27273"/>
                          </a:stretch>
                        </a:blipFill>
                      </a:tcPr>
                    </a:tc>
                    <a:tc>
                      <a:txBody>
                        <a:bodyPr/>
                        <a:lstStyle/>
                        <a:p>
                          <a:endParaRPr lang="zh-CN"/>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blipFill>
                          <a:blip r:embed="rId4"/>
                          <a:stretch>
                            <a:fillRect l="-567986" t="-101136" r="-719" b="-27273"/>
                          </a:stretch>
                        </a:blipFill>
                      </a:tcPr>
                    </a:tc>
                    <a:extLst>
                      <a:ext uri="{0D108BD9-81ED-4DB2-BD59-A6C34878D82A}">
                        <a16:rowId xmlns:a16="http://schemas.microsoft.com/office/drawing/2014/main" val="10001"/>
                      </a:ext>
                    </a:extLst>
                  </a:tr>
                </a:tbl>
              </a:graphicData>
            </a:graphic>
          </p:graphicFrame>
        </mc:Fallback>
      </mc:AlternateContent>
      <p:sp>
        <p:nvSpPr>
          <p:cNvPr id="6" name="QC_4_AN.25_1#837cb4b51.bracket?vcp=1&amp;pid=23f09d8d3&amp;color=0,0,0&amp;vpa=10&amp;vtp=1"/>
          <p:cNvSpPr/>
          <p:nvPr/>
        </p:nvSpPr>
        <p:spPr>
          <a:xfrm>
            <a:off x="6802723" y="2063814"/>
            <a:ext cx="423863" cy="459550"/>
          </a:xfrm>
          <a:prstGeom prst="rect">
            <a:avLst/>
          </a:prstGeom>
          <a:noFill/>
          <a:ln/>
        </p:spPr>
        <p:txBody>
          <a:bodyPr wrap="none" lIns="0" tIns="0" rIns="0" bIns="0" rtlCol="0" anchor="t"/>
          <a:lstStyle/>
          <a:p>
            <a:pPr algn="ctr" latinLnBrk="1">
              <a:lnSpc>
                <a:spcPts val="40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mc:AlternateContent xmlns:mc="http://schemas.openxmlformats.org/markup-compatibility/2006">
        <mc:Choice xmlns:a14="http://schemas.microsoft.com/office/drawing/2010/main" Requires="a14">
          <p:sp>
            <p:nvSpPr>
              <p:cNvPr id="7" name="QC_4_BD.24_3#837cb4b51.choices?vcp=1&amp;pid=23f09d8d3&amp;color=0,0,0&amp;vtp=1&amp;bbb=1"/>
              <p:cNvSpPr/>
              <p:nvPr/>
            </p:nvSpPr>
            <p:spPr>
              <a:xfrm>
                <a:off x="393192" y="3864864"/>
                <a:ext cx="11402568" cy="982980"/>
              </a:xfrm>
              <a:prstGeom prst="rect">
                <a:avLst/>
              </a:prstGeom>
              <a:noFill/>
              <a:ln/>
            </p:spPr>
            <p:txBody>
              <a:bodyPr wrap="none" lIns="0" tIns="0" rIns="0" bIns="0" rtlCol="0" anchor="t"/>
              <a:lstStyle/>
              <a:p>
                <a:pPr latinLnBrk="1">
                  <a:lnSpc>
                    <a:spcPts val="4200"/>
                  </a:lnSpc>
                  <a:tabLst>
                    <a:tab pos="5807954"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内的位移大小为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.第</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内的位移大小为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9</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000"/>
                  </a:lnSpc>
                  <a:tabLst>
                    <a:tab pos="5807954" algn="l"/>
                  </a:tabLst>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.前</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3</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的路程为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15</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内的位移为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7" name="QC_4_BD.24_3#837cb4b51.choices?vcp=1&amp;pid=23f09d8d3&amp;color=0,0,0&amp;vtp=1&amp;bbb=1"/>
              <p:cNvSpPr>
                <a:spLocks noRot="1" noChangeAspect="1" noMove="1" noResize="1" noEditPoints="1" noAdjustHandles="1" noChangeArrowheads="1" noChangeShapeType="1" noTextEdit="1"/>
              </p:cNvSpPr>
              <p:nvPr/>
            </p:nvSpPr>
            <p:spPr>
              <a:xfrm>
                <a:off x="393192" y="3864864"/>
                <a:ext cx="11402568" cy="982980"/>
              </a:xfrm>
              <a:prstGeom prst="rect">
                <a:avLst/>
              </a:prstGeom>
              <a:blipFill>
                <a:blip r:embed="rId5"/>
                <a:stretch>
                  <a:fillRect l="-1658" b="-19255"/>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QC_4_AS.26_1#837cb4b51?vcp=1&amp;pid=23f09d8d3&amp;color=0,0,0&amp;vtp=1&amp;bbb=1&amp;hb=1"/>
              <p:cNvSpPr/>
              <p:nvPr/>
            </p:nvSpPr>
            <p:spPr>
              <a:xfrm>
                <a:off x="393192" y="4854511"/>
                <a:ext cx="11402568" cy="1535875"/>
              </a:xfrm>
              <a:prstGeom prst="rect">
                <a:avLst/>
              </a:prstGeom>
              <a:noFill/>
              <a:ln/>
            </p:spPr>
            <p:txBody>
              <a:bodyPr wrap="none" lIns="0" tIns="0" rIns="0" bIns="0" rtlCol="0" anchor="t"/>
              <a:lstStyle/>
              <a:p>
                <a:pPr algn="l"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t>
                </a:r>
                <a:r>
                  <a:rPr lang="en-US" altLang="zh-CN" sz="2400" b="1" i="0" spc="-50" dirty="0">
                    <a:solidFill>
                      <a:srgbClr val="FF0000"/>
                    </a:solidFill>
                    <a:latin typeface="Times New Roman" pitchFamily="34" charset="0"/>
                    <a:ea typeface="微软雅黑" pitchFamily="34" charset="-122"/>
                    <a:cs typeface="Times New Roman" pitchFamily="34" charset="-120"/>
                  </a:rPr>
                  <a:t>解析]</a:t>
                </a:r>
                <a:r>
                  <a:rPr lang="en-US" altLang="zh-CN" sz="2400" b="1" i="0" spc="-50" dirty="0">
                    <a:solidFill>
                      <a:srgbClr val="FF0000"/>
                    </a:solidFill>
                    <a:latin typeface="SimSun" pitchFamily="34" charset="0"/>
                    <a:ea typeface="SimSun" pitchFamily="34" charset="-122"/>
                    <a:cs typeface="SimSun" pitchFamily="34" charset="-120"/>
                  </a:rPr>
                  <a:t> </a:t>
                </a:r>
                <a:r>
                  <a:rPr lang="en-US" altLang="zh-CN" sz="2400" b="1" i="0" spc="-50" dirty="0">
                    <a:solidFill>
                      <a:srgbClr val="FF0000"/>
                    </a:solidFill>
                    <a:latin typeface="Times New Roman" pitchFamily="34" charset="0"/>
                    <a:ea typeface="微软雅黑" pitchFamily="34" charset="-122"/>
                    <a:cs typeface="Times New Roman" pitchFamily="34" charset="-120"/>
                  </a:rPr>
                  <a:t>根据位移的定义可知，</a:t>
                </a:r>
                <a14:m>
                  <m:oMath xmlns:m="http://schemas.openxmlformats.org/officeDocument/2006/math">
                    <m:r>
                      <a:rPr lang="en-US" altLang="zh-CN" sz="2400" b="1" i="1" spc="-50">
                        <a:solidFill>
                          <a:srgbClr val="FF0000"/>
                        </a:solidFill>
                        <a:latin typeface="Cambria Math" pitchFamily="34" charset="0"/>
                        <a:ea typeface="Cambria Math" pitchFamily="34" charset="-122"/>
                        <a:cs typeface="Cambria Math" pitchFamily="34" charset="-120"/>
                      </a:rPr>
                      <m:t>𝟒</m:t>
                    </m:r>
                    <m:r>
                      <m:rPr>
                        <m:nor/>
                      </m:rPr>
                      <a:rPr lang="en-US" altLang="zh-CN" sz="2400" b="1" i="0" spc="-50">
                        <a:solidFill>
                          <a:srgbClr val="FF0000"/>
                        </a:solidFill>
                        <a:latin typeface="Cambria Math" pitchFamily="34" charset="0"/>
                        <a:ea typeface="Cambria Math" pitchFamily="34" charset="-122"/>
                        <a:cs typeface="Cambria Math" pitchFamily="34" charset="-120"/>
                      </a:rPr>
                      <m:t> </m:t>
                    </m:r>
                    <m:r>
                      <a:rPr lang="en-US" altLang="zh-CN" sz="2400" b="1" i="0" spc="-50">
                        <a:solidFill>
                          <a:srgbClr val="FF0000"/>
                        </a:solidFill>
                        <a:latin typeface="Cambria Math" pitchFamily="34" charset="0"/>
                        <a:ea typeface="Cambria Math" pitchFamily="34" charset="-122"/>
                        <a:cs typeface="Cambria Math" pitchFamily="34" charset="-120"/>
                      </a:rPr>
                      <m:t>𝐬</m:t>
                    </m:r>
                  </m:oMath>
                </a14:m>
                <a:r>
                  <a:rPr lang="en-US" altLang="zh-CN" sz="2400" b="1" i="0" spc="-50" dirty="0">
                    <a:solidFill>
                      <a:srgbClr val="FF0000"/>
                    </a:solidFill>
                    <a:latin typeface="Times New Roman" pitchFamily="34" charset="0"/>
                    <a:ea typeface="微软雅黑" pitchFamily="34" charset="-122"/>
                    <a:cs typeface="Times New Roman" pitchFamily="34" charset="-120"/>
                  </a:rPr>
                  <a:t>内质点的位移大小为</a:t>
                </a:r>
                <a14:m>
                  <m:oMath xmlns:m="http://schemas.openxmlformats.org/officeDocument/2006/math">
                    <m:r>
                      <a:rPr lang="en-US" altLang="zh-CN" sz="2400" b="1" i="0" spc="-50">
                        <a:solidFill>
                          <a:srgbClr val="FF0000"/>
                        </a:solidFill>
                        <a:latin typeface="Cambria Math" pitchFamily="34" charset="0"/>
                        <a:ea typeface="Cambria Math" pitchFamily="34" charset="-122"/>
                        <a:cs typeface="Cambria Math" pitchFamily="34" charset="-120"/>
                      </a:rPr>
                      <m:t>|−</m:t>
                    </m:r>
                    <m:r>
                      <a:rPr lang="en-US" altLang="zh-CN" sz="2400" b="1" i="1" spc="-50">
                        <a:solidFill>
                          <a:srgbClr val="FF0000"/>
                        </a:solidFill>
                        <a:latin typeface="Cambria Math" pitchFamily="34" charset="0"/>
                        <a:ea typeface="Cambria Math" pitchFamily="34" charset="-122"/>
                        <a:cs typeface="Cambria Math" pitchFamily="34" charset="-120"/>
                      </a:rPr>
                      <m:t>𝟖</m:t>
                    </m:r>
                    <m:r>
                      <m:rPr>
                        <m:nor/>
                      </m:rPr>
                      <a:rPr lang="en-US" altLang="zh-CN" sz="2400" b="1" i="0" spc="-50">
                        <a:solidFill>
                          <a:srgbClr val="FF0000"/>
                        </a:solidFill>
                        <a:latin typeface="Cambria Math" pitchFamily="34" charset="0"/>
                        <a:ea typeface="Cambria Math" pitchFamily="34" charset="-122"/>
                        <a:cs typeface="Cambria Math" pitchFamily="34" charset="-120"/>
                      </a:rPr>
                      <m:t> </m:t>
                    </m:r>
                    <m:r>
                      <a:rPr lang="en-US" altLang="zh-CN" sz="2400" b="1" i="0" spc="-50">
                        <a:solidFill>
                          <a:srgbClr val="FF0000"/>
                        </a:solidFill>
                        <a:latin typeface="Cambria Math" pitchFamily="34" charset="0"/>
                        <a:ea typeface="Cambria Math" pitchFamily="34" charset="-122"/>
                        <a:cs typeface="Cambria Math" pitchFamily="34" charset="-120"/>
                      </a:rPr>
                      <m:t>𝐦</m:t>
                    </m:r>
                    <m:r>
                      <a:rPr lang="en-US" altLang="zh-CN" sz="2400" b="1" i="0" spc="-50">
                        <a:solidFill>
                          <a:srgbClr val="FF0000"/>
                        </a:solidFill>
                        <a:latin typeface="Cambria Math" pitchFamily="34" charset="0"/>
                        <a:ea typeface="Cambria Math" pitchFamily="34" charset="-122"/>
                        <a:cs typeface="Cambria Math" pitchFamily="34" charset="-120"/>
                      </a:rPr>
                      <m:t>−</m:t>
                    </m:r>
                    <m:r>
                      <a:rPr lang="en-US" altLang="zh-CN" sz="2400" b="1" i="1" spc="-50">
                        <a:solidFill>
                          <a:srgbClr val="FF0000"/>
                        </a:solidFill>
                        <a:latin typeface="Cambria Math" pitchFamily="34" charset="0"/>
                        <a:ea typeface="Cambria Math" pitchFamily="34" charset="-122"/>
                        <a:cs typeface="Cambria Math" pitchFamily="34" charset="-120"/>
                      </a:rPr>
                      <m:t>𝟎</m:t>
                    </m:r>
                    <m:r>
                      <a:rPr lang="en-US" altLang="zh-CN" sz="2400" b="1" i="0" spc="-50">
                        <a:solidFill>
                          <a:srgbClr val="FF0000"/>
                        </a:solidFill>
                        <a:latin typeface="Cambria Math" pitchFamily="34" charset="0"/>
                        <a:ea typeface="Cambria Math" pitchFamily="34" charset="-122"/>
                        <a:cs typeface="Cambria Math" pitchFamily="34" charset="-120"/>
                      </a:rPr>
                      <m:t>|=</m:t>
                    </m:r>
                    <m:r>
                      <a:rPr lang="en-US" altLang="zh-CN" sz="2400" b="1" i="1" spc="-50">
                        <a:solidFill>
                          <a:srgbClr val="FF0000"/>
                        </a:solidFill>
                        <a:latin typeface="Cambria Math" pitchFamily="34" charset="0"/>
                        <a:ea typeface="Cambria Math" pitchFamily="34" charset="-122"/>
                        <a:cs typeface="Cambria Math" pitchFamily="34" charset="-120"/>
                      </a:rPr>
                      <m:t>𝟖</m:t>
                    </m:r>
                    <m:r>
                      <m:rPr>
                        <m:nor/>
                      </m:rPr>
                      <a:rPr lang="en-US" altLang="zh-CN" sz="2400" b="1" i="0" spc="-50">
                        <a:solidFill>
                          <a:srgbClr val="FF0000"/>
                        </a:solidFill>
                        <a:latin typeface="Cambria Math" pitchFamily="34" charset="0"/>
                        <a:ea typeface="Cambria Math" pitchFamily="34" charset="-122"/>
                        <a:cs typeface="Cambria Math" pitchFamily="34" charset="-120"/>
                      </a:rPr>
                      <m:t> </m:t>
                    </m:r>
                    <m:r>
                      <a:rPr lang="en-US" altLang="zh-CN" sz="2400" b="1" i="0" spc="-5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spc="-50" dirty="0">
                    <a:solidFill>
                      <a:srgbClr val="FF0000"/>
                    </a:solidFill>
                    <a:latin typeface="Times New Roman" pitchFamily="34" charset="0"/>
                    <a:ea typeface="微软雅黑" pitchFamily="34" charset="-122"/>
                    <a:cs typeface="Times New Roman" pitchFamily="34" charset="-120"/>
                  </a:rPr>
                  <a:t>，A错误</a:t>
                </a:r>
                <a:r>
                  <a:rPr lang="en-US" altLang="zh-CN" sz="2400" b="1" i="0" spc="-50">
                    <a:solidFill>
                      <a:srgbClr val="FF0000"/>
                    </a:solidFill>
                    <a:latin typeface="Times New Roman" pitchFamily="34" charset="0"/>
                    <a:ea typeface="微软雅黑" pitchFamily="34" charset="-122"/>
                    <a:cs typeface="Times New Roman" pitchFamily="34" charset="-120"/>
                  </a:rPr>
                  <a:t>；第</a:t>
                </a:r>
              </a:p>
              <a:p>
                <a:pPr latinLnBrk="1">
                  <a:lnSpc>
                    <a:spcPts val="4200"/>
                  </a:lnSpc>
                </a:pPr>
                <a14:m>
                  <m:oMath xmlns:m="http://schemas.openxmlformats.org/officeDocument/2006/math">
                    <m:r>
                      <a:rPr lang="en-US" altLang="zh-CN" sz="2400" b="1" i="1" spc="-50">
                        <a:solidFill>
                          <a:srgbClr val="FF0000"/>
                        </a:solidFill>
                        <a:latin typeface="Cambria Math" pitchFamily="34" charset="0"/>
                        <a:ea typeface="Cambria Math" pitchFamily="34" charset="-122"/>
                        <a:cs typeface="Cambria Math" pitchFamily="34" charset="-120"/>
                      </a:rPr>
                      <m:t>𝟐</m:t>
                    </m:r>
                    <m:r>
                      <m:rPr>
                        <m:nor/>
                      </m:rPr>
                      <a:rPr lang="en-US" altLang="zh-CN" sz="2400" b="1" i="0" spc="-50">
                        <a:solidFill>
                          <a:srgbClr val="FF0000"/>
                        </a:solidFill>
                        <a:latin typeface="Cambria Math" pitchFamily="34" charset="0"/>
                        <a:ea typeface="Cambria Math" pitchFamily="34" charset="-122"/>
                        <a:cs typeface="Cambria Math" pitchFamily="34" charset="-120"/>
                      </a:rPr>
                      <m:t> </m:t>
                    </m:r>
                    <m:r>
                      <a:rPr lang="en-US" altLang="zh-CN" sz="2400" b="1" i="0" spc="-50">
                        <a:solidFill>
                          <a:srgbClr val="FF0000"/>
                        </a:solidFill>
                        <a:latin typeface="Cambria Math" pitchFamily="34" charset="0"/>
                        <a:ea typeface="Cambria Math" pitchFamily="34" charset="-122"/>
                        <a:cs typeface="Cambria Math" pitchFamily="34" charset="-120"/>
                      </a:rPr>
                      <m:t>𝐬</m:t>
                    </m:r>
                  </m:oMath>
                </a14:m>
                <a:r>
                  <a:rPr lang="en-US" altLang="zh-CN" sz="2400" b="1" i="0" spc="-50" dirty="0">
                    <a:solidFill>
                      <a:srgbClr val="FF0000"/>
                    </a:solidFill>
                    <a:latin typeface="Times New Roman" pitchFamily="34" charset="0"/>
                    <a:ea typeface="微软雅黑" pitchFamily="34" charset="-122"/>
                    <a:cs typeface="Times New Roman" pitchFamily="34" charset="-120"/>
                  </a:rPr>
                  <a:t>内的位移大小为</a:t>
                </a:r>
                <a14:m>
                  <m:oMath xmlns:m="http://schemas.openxmlformats.org/officeDocument/2006/math">
                    <m:r>
                      <a:rPr lang="en-US" altLang="zh-CN" sz="2400" b="1" i="0" spc="-50">
                        <a:solidFill>
                          <a:srgbClr val="FF0000"/>
                        </a:solidFill>
                        <a:latin typeface="Cambria Math" pitchFamily="34" charset="0"/>
                        <a:ea typeface="Cambria Math" pitchFamily="34" charset="-122"/>
                        <a:cs typeface="Cambria Math" pitchFamily="34" charset="-120"/>
                      </a:rPr>
                      <m:t>|−</m:t>
                    </m:r>
                    <m:r>
                      <a:rPr lang="en-US" altLang="zh-CN" sz="2400" b="1" i="1" spc="-50">
                        <a:solidFill>
                          <a:srgbClr val="FF0000"/>
                        </a:solidFill>
                        <a:latin typeface="Cambria Math" pitchFamily="34" charset="0"/>
                        <a:ea typeface="Cambria Math" pitchFamily="34" charset="-122"/>
                        <a:cs typeface="Cambria Math" pitchFamily="34" charset="-120"/>
                      </a:rPr>
                      <m:t>𝟒</m:t>
                    </m:r>
                    <m:r>
                      <m:rPr>
                        <m:nor/>
                      </m:rPr>
                      <a:rPr lang="en-US" altLang="zh-CN" sz="2400" b="1" i="0" spc="-50">
                        <a:solidFill>
                          <a:srgbClr val="FF0000"/>
                        </a:solidFill>
                        <a:latin typeface="Cambria Math" pitchFamily="34" charset="0"/>
                        <a:ea typeface="Cambria Math" pitchFamily="34" charset="-122"/>
                        <a:cs typeface="Cambria Math" pitchFamily="34" charset="-120"/>
                      </a:rPr>
                      <m:t> </m:t>
                    </m:r>
                    <m:r>
                      <a:rPr lang="en-US" altLang="zh-CN" sz="2400" b="1" i="0" spc="-50">
                        <a:solidFill>
                          <a:srgbClr val="FF0000"/>
                        </a:solidFill>
                        <a:latin typeface="Cambria Math" pitchFamily="34" charset="0"/>
                        <a:ea typeface="Cambria Math" pitchFamily="34" charset="-122"/>
                        <a:cs typeface="Cambria Math" pitchFamily="34" charset="-120"/>
                      </a:rPr>
                      <m:t>𝐦</m:t>
                    </m:r>
                    <m:r>
                      <a:rPr lang="en-US" altLang="zh-CN" sz="2400" b="1" i="0" spc="-50">
                        <a:solidFill>
                          <a:srgbClr val="FF0000"/>
                        </a:solidFill>
                        <a:latin typeface="Cambria Math" pitchFamily="34" charset="0"/>
                        <a:ea typeface="Cambria Math" pitchFamily="34" charset="-122"/>
                        <a:cs typeface="Cambria Math" pitchFamily="34" charset="-120"/>
                      </a:rPr>
                      <m:t>−</m:t>
                    </m:r>
                    <m:r>
                      <a:rPr lang="en-US" altLang="zh-CN" sz="2400" b="1" i="1" spc="-50">
                        <a:solidFill>
                          <a:srgbClr val="FF0000"/>
                        </a:solidFill>
                        <a:latin typeface="Cambria Math" pitchFamily="34" charset="0"/>
                        <a:ea typeface="Cambria Math" pitchFamily="34" charset="-122"/>
                        <a:cs typeface="Cambria Math" pitchFamily="34" charset="-120"/>
                      </a:rPr>
                      <m:t>𝟓</m:t>
                    </m:r>
                    <m:r>
                      <m:rPr>
                        <m:nor/>
                      </m:rPr>
                      <a:rPr lang="en-US" altLang="zh-CN" sz="2400" b="1" i="0" spc="-50">
                        <a:solidFill>
                          <a:srgbClr val="FF0000"/>
                        </a:solidFill>
                        <a:latin typeface="Cambria Math" pitchFamily="34" charset="0"/>
                        <a:ea typeface="Cambria Math" pitchFamily="34" charset="-122"/>
                        <a:cs typeface="Cambria Math" pitchFamily="34" charset="-120"/>
                      </a:rPr>
                      <m:t> </m:t>
                    </m:r>
                    <m:r>
                      <a:rPr lang="en-US" altLang="zh-CN" sz="2400" b="1" i="0" spc="-50">
                        <a:solidFill>
                          <a:srgbClr val="FF0000"/>
                        </a:solidFill>
                        <a:latin typeface="Cambria Math" pitchFamily="34" charset="0"/>
                        <a:ea typeface="Cambria Math" pitchFamily="34" charset="-122"/>
                        <a:cs typeface="Cambria Math" pitchFamily="34" charset="-120"/>
                      </a:rPr>
                      <m:t>𝐦</m:t>
                    </m:r>
                    <m:r>
                      <a:rPr lang="en-US" altLang="zh-CN" sz="2400" b="1" i="0" spc="-50">
                        <a:solidFill>
                          <a:srgbClr val="FF0000"/>
                        </a:solidFill>
                        <a:latin typeface="Cambria Math" pitchFamily="34" charset="0"/>
                        <a:ea typeface="Cambria Math" pitchFamily="34" charset="-122"/>
                        <a:cs typeface="Cambria Math" pitchFamily="34" charset="-120"/>
                      </a:rPr>
                      <m:t>|=</m:t>
                    </m:r>
                    <m:r>
                      <a:rPr lang="en-US" altLang="zh-CN" sz="2400" b="1" i="1" spc="-50">
                        <a:solidFill>
                          <a:srgbClr val="FF0000"/>
                        </a:solidFill>
                        <a:latin typeface="Cambria Math" pitchFamily="34" charset="0"/>
                        <a:ea typeface="Cambria Math" pitchFamily="34" charset="-122"/>
                        <a:cs typeface="Cambria Math" pitchFamily="34" charset="-120"/>
                      </a:rPr>
                      <m:t>𝟗</m:t>
                    </m:r>
                    <m:r>
                      <m:rPr>
                        <m:nor/>
                      </m:rPr>
                      <a:rPr lang="en-US" altLang="zh-CN" sz="2400" b="1" i="0" spc="-50">
                        <a:solidFill>
                          <a:srgbClr val="FF0000"/>
                        </a:solidFill>
                        <a:latin typeface="Cambria Math" pitchFamily="34" charset="0"/>
                        <a:ea typeface="Cambria Math" pitchFamily="34" charset="-122"/>
                        <a:cs typeface="Cambria Math" pitchFamily="34" charset="-120"/>
                      </a:rPr>
                      <m:t> </m:t>
                    </m:r>
                    <m:r>
                      <a:rPr lang="en-US" altLang="zh-CN" sz="2400" b="1" i="0" spc="-5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spc="-50" dirty="0">
                    <a:solidFill>
                      <a:srgbClr val="FF0000"/>
                    </a:solidFill>
                    <a:latin typeface="Times New Roman" pitchFamily="34" charset="0"/>
                    <a:ea typeface="微软雅黑" pitchFamily="34" charset="-122"/>
                    <a:cs typeface="Times New Roman" pitchFamily="34" charset="-120"/>
                  </a:rPr>
                  <a:t>，B正确</a:t>
                </a:r>
                <a:r>
                  <a:rPr lang="en-US" altLang="zh-CN" sz="2400" b="1" i="0" spc="-50">
                    <a:solidFill>
                      <a:srgbClr val="FF0000"/>
                    </a:solidFill>
                    <a:latin typeface="Times New Roman" pitchFamily="34" charset="0"/>
                    <a:ea typeface="微软雅黑" pitchFamily="34" charset="-122"/>
                    <a:cs typeface="Times New Roman" pitchFamily="34" charset="-120"/>
                  </a:rPr>
                  <a:t>；由于只知道质点在某些具体时刻的</a:t>
                </a:r>
              </a:p>
              <a:p>
                <a:pPr latinLnBrk="1">
                  <a:lnSpc>
                    <a:spcPts val="4100"/>
                  </a:lnSpc>
                </a:pPr>
                <a:r>
                  <a:rPr lang="en-US" altLang="zh-CN" sz="2400" b="1" i="0" spc="-50">
                    <a:solidFill>
                      <a:srgbClr val="FF0000"/>
                    </a:solidFill>
                    <a:latin typeface="Times New Roman" pitchFamily="34" charset="0"/>
                    <a:ea typeface="微软雅黑" pitchFamily="34" charset="-122"/>
                    <a:cs typeface="Times New Roman" pitchFamily="34" charset="-120"/>
                  </a:rPr>
                  <a:t>具体位置</a:t>
                </a:r>
                <a:r>
                  <a:rPr lang="en-US" altLang="zh-CN" sz="2400" b="1" i="0" spc="-50" dirty="0">
                    <a:solidFill>
                      <a:srgbClr val="FF0000"/>
                    </a:solidFill>
                    <a:latin typeface="Times New Roman" pitchFamily="34" charset="0"/>
                    <a:ea typeface="微软雅黑" pitchFamily="34" charset="-122"/>
                    <a:cs typeface="Times New Roman" pitchFamily="34" charset="-120"/>
                  </a:rPr>
                  <a:t>，因此无法求解路程，C错误；</a:t>
                </a:r>
                <a14:m>
                  <m:oMath xmlns:m="http://schemas.openxmlformats.org/officeDocument/2006/math">
                    <m:r>
                      <a:rPr lang="en-US" altLang="zh-CN" sz="2400" b="1" i="1" spc="-50">
                        <a:solidFill>
                          <a:srgbClr val="FF0000"/>
                        </a:solidFill>
                        <a:latin typeface="Cambria Math" pitchFamily="34" charset="0"/>
                        <a:ea typeface="Cambria Math" pitchFamily="34" charset="-122"/>
                        <a:cs typeface="Cambria Math" pitchFamily="34" charset="-120"/>
                      </a:rPr>
                      <m:t>𝟓</m:t>
                    </m:r>
                    <m:r>
                      <m:rPr>
                        <m:nor/>
                      </m:rPr>
                      <a:rPr lang="en-US" altLang="zh-CN" sz="2400" b="1" i="0" spc="-50">
                        <a:solidFill>
                          <a:srgbClr val="FF0000"/>
                        </a:solidFill>
                        <a:latin typeface="Cambria Math" pitchFamily="34" charset="0"/>
                        <a:ea typeface="Cambria Math" pitchFamily="34" charset="-122"/>
                        <a:cs typeface="Cambria Math" pitchFamily="34" charset="-120"/>
                      </a:rPr>
                      <m:t> </m:t>
                    </m:r>
                    <m:r>
                      <a:rPr lang="en-US" altLang="zh-CN" sz="2400" b="1" i="0" spc="-50">
                        <a:solidFill>
                          <a:srgbClr val="FF0000"/>
                        </a:solidFill>
                        <a:latin typeface="Cambria Math" pitchFamily="34" charset="0"/>
                        <a:ea typeface="Cambria Math" pitchFamily="34" charset="-122"/>
                        <a:cs typeface="Cambria Math" pitchFamily="34" charset="-120"/>
                      </a:rPr>
                      <m:t>𝐬</m:t>
                    </m:r>
                  </m:oMath>
                </a14:m>
                <a:r>
                  <a:rPr lang="en-US" altLang="zh-CN" sz="2400" b="1" i="0" spc="-50" dirty="0">
                    <a:solidFill>
                      <a:srgbClr val="FF0000"/>
                    </a:solidFill>
                    <a:latin typeface="Times New Roman" pitchFamily="34" charset="0"/>
                    <a:ea typeface="微软雅黑" pitchFamily="34" charset="-122"/>
                    <a:cs typeface="Times New Roman" pitchFamily="34" charset="-120"/>
                  </a:rPr>
                  <a:t>内的位移为</a:t>
                </a:r>
                <a14:m>
                  <m:oMath xmlns:m="http://schemas.openxmlformats.org/officeDocument/2006/math">
                    <m:r>
                      <a:rPr lang="en-US" altLang="zh-CN" sz="2400" b="1" i="0" spc="-50">
                        <a:solidFill>
                          <a:srgbClr val="FF0000"/>
                        </a:solidFill>
                        <a:latin typeface="Cambria Math" pitchFamily="34" charset="0"/>
                        <a:ea typeface="Cambria Math" pitchFamily="34" charset="-122"/>
                        <a:cs typeface="Cambria Math" pitchFamily="34" charset="-120"/>
                      </a:rPr>
                      <m:t>−</m:t>
                    </m:r>
                    <m:r>
                      <a:rPr lang="en-US" altLang="zh-CN" sz="2400" b="1" i="1" spc="-50">
                        <a:solidFill>
                          <a:srgbClr val="FF0000"/>
                        </a:solidFill>
                        <a:latin typeface="Cambria Math" pitchFamily="34" charset="0"/>
                        <a:ea typeface="Cambria Math" pitchFamily="34" charset="-122"/>
                        <a:cs typeface="Cambria Math" pitchFamily="34" charset="-120"/>
                      </a:rPr>
                      <m:t>𝟐</m:t>
                    </m:r>
                    <m:r>
                      <m:rPr>
                        <m:nor/>
                      </m:rPr>
                      <a:rPr lang="en-US" altLang="zh-CN" sz="2400" b="1" i="0" spc="-50">
                        <a:solidFill>
                          <a:srgbClr val="FF0000"/>
                        </a:solidFill>
                        <a:latin typeface="Cambria Math" pitchFamily="34" charset="0"/>
                        <a:ea typeface="Cambria Math" pitchFamily="34" charset="-122"/>
                        <a:cs typeface="Cambria Math" pitchFamily="34" charset="-120"/>
                      </a:rPr>
                      <m:t> </m:t>
                    </m:r>
                    <m:r>
                      <a:rPr lang="en-US" altLang="zh-CN" sz="2400" b="1" i="0" spc="-50">
                        <a:solidFill>
                          <a:srgbClr val="FF0000"/>
                        </a:solidFill>
                        <a:latin typeface="Cambria Math" pitchFamily="34" charset="0"/>
                        <a:ea typeface="Cambria Math" pitchFamily="34" charset="-122"/>
                        <a:cs typeface="Cambria Math" pitchFamily="34" charset="-120"/>
                      </a:rPr>
                      <m:t>𝐦</m:t>
                    </m:r>
                    <m:r>
                      <a:rPr lang="en-US" altLang="zh-CN" sz="2400" b="1" i="0" spc="-50">
                        <a:solidFill>
                          <a:srgbClr val="FF0000"/>
                        </a:solidFill>
                        <a:latin typeface="Cambria Math" pitchFamily="34" charset="0"/>
                        <a:ea typeface="Cambria Math" pitchFamily="34" charset="-122"/>
                        <a:cs typeface="Cambria Math" pitchFamily="34" charset="-120"/>
                      </a:rPr>
                      <m:t>−</m:t>
                    </m:r>
                    <m:r>
                      <a:rPr lang="en-US" altLang="zh-CN" sz="2400" b="1" i="1" spc="-50">
                        <a:solidFill>
                          <a:srgbClr val="FF0000"/>
                        </a:solidFill>
                        <a:latin typeface="Cambria Math" pitchFamily="34" charset="0"/>
                        <a:ea typeface="Cambria Math" pitchFamily="34" charset="-122"/>
                        <a:cs typeface="Cambria Math" pitchFamily="34" charset="-120"/>
                      </a:rPr>
                      <m:t>𝟎</m:t>
                    </m:r>
                    <m:r>
                      <a:rPr lang="en-US" altLang="zh-CN" sz="2400" b="1" i="0" spc="-50">
                        <a:solidFill>
                          <a:srgbClr val="FF0000"/>
                        </a:solidFill>
                        <a:latin typeface="Cambria Math" pitchFamily="34" charset="0"/>
                        <a:ea typeface="Cambria Math" pitchFamily="34" charset="-122"/>
                        <a:cs typeface="Cambria Math" pitchFamily="34" charset="-120"/>
                      </a:rPr>
                      <m:t>=−</m:t>
                    </m:r>
                    <m:r>
                      <a:rPr lang="en-US" altLang="zh-CN" sz="2400" b="1" i="1" spc="-50">
                        <a:solidFill>
                          <a:srgbClr val="FF0000"/>
                        </a:solidFill>
                        <a:latin typeface="Cambria Math" pitchFamily="34" charset="0"/>
                        <a:ea typeface="Cambria Math" pitchFamily="34" charset="-122"/>
                        <a:cs typeface="Cambria Math" pitchFamily="34" charset="-120"/>
                      </a:rPr>
                      <m:t>𝟐</m:t>
                    </m:r>
                    <m:r>
                      <m:rPr>
                        <m:nor/>
                      </m:rPr>
                      <a:rPr lang="en-US" altLang="zh-CN" sz="2400" b="1" i="0" spc="-50">
                        <a:solidFill>
                          <a:srgbClr val="FF0000"/>
                        </a:solidFill>
                        <a:latin typeface="Cambria Math" pitchFamily="34" charset="0"/>
                        <a:ea typeface="Cambria Math" pitchFamily="34" charset="-122"/>
                        <a:cs typeface="Cambria Math" pitchFamily="34" charset="-120"/>
                      </a:rPr>
                      <m:t> </m:t>
                    </m:r>
                    <m:r>
                      <a:rPr lang="en-US" altLang="zh-CN" sz="2400" b="1" i="0" spc="-50">
                        <a:solidFill>
                          <a:srgbClr val="FF0000"/>
                        </a:solidFill>
                        <a:latin typeface="Cambria Math" pitchFamily="34" charset="0"/>
                        <a:ea typeface="Cambria Math" pitchFamily="34" charset="-122"/>
                        <a:cs typeface="Cambria Math" pitchFamily="34" charset="-120"/>
                      </a:rPr>
                      <m:t>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spc="-50" dirty="0">
                    <a:solidFill>
                      <a:srgbClr val="FF0000"/>
                    </a:solidFill>
                    <a:latin typeface="Times New Roman" pitchFamily="34" charset="0"/>
                    <a:ea typeface="微软雅黑" pitchFamily="34" charset="-122"/>
                    <a:cs typeface="Times New Roman" pitchFamily="34" charset="-120"/>
                  </a:rPr>
                  <a:t>，D错误.</a:t>
                </a:r>
                <a:endParaRPr lang="en-US" altLang="zh-CN" sz="2400" spc="-50" dirty="0"/>
              </a:p>
            </p:txBody>
          </p:sp>
        </mc:Choice>
        <mc:Fallback>
          <p:sp>
            <p:nvSpPr>
              <p:cNvPr id="8" name="QC_4_AS.26_1#837cb4b51?vcp=1&amp;pid=23f09d8d3&amp;color=0,0,0&amp;vtp=1&amp;bbb=1&amp;hb=1"/>
              <p:cNvSpPr>
                <a:spLocks noRot="1" noChangeAspect="1" noMove="1" noResize="1" noEditPoints="1" noAdjustHandles="1" noChangeArrowheads="1" noChangeShapeType="1" noTextEdit="1"/>
              </p:cNvSpPr>
              <p:nvPr/>
            </p:nvSpPr>
            <p:spPr>
              <a:xfrm>
                <a:off x="393192" y="4854511"/>
                <a:ext cx="11402568" cy="1535875"/>
              </a:xfrm>
              <a:prstGeom prst="rect">
                <a:avLst/>
              </a:prstGeom>
              <a:blipFill>
                <a:blip r:embed="rId6"/>
                <a:stretch>
                  <a:fillRect l="-1658" b="-11905"/>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left)">
                                      <p:cBhvr>
                                        <p:cTn id="7" dur="500"/>
                                        <p:tgtEl>
                                          <p:spTgt spid="6">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left)">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
                                            <p:bg/>
                                          </p:spTgt>
                                        </p:tgtEl>
                                        <p:attrNameLst>
                                          <p:attrName>style.visibility</p:attrName>
                                        </p:attrNameLst>
                                      </p:cBhvr>
                                      <p:to>
                                        <p:strVal val="visible"/>
                                      </p:to>
                                    </p:set>
                                    <p:animEffect transition="in" filter="wipe(left)">
                                      <p:cBhvr>
                                        <p:cTn id="15" dur="500"/>
                                        <p:tgtEl>
                                          <p:spTgt spid="8">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wipe(left)">
                                      <p:cBhvr>
                                        <p:cTn id="18" dur="500"/>
                                        <p:tgtEl>
                                          <p:spTgt spid="8">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wipe(left)">
                                      <p:cBhvr>
                                        <p:cTn id="21" dur="500"/>
                                        <p:tgtEl>
                                          <p:spTgt spid="8">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8">
                                            <p:txEl>
                                              <p:pRg st="2" end="2"/>
                                            </p:txEl>
                                          </p:spTgt>
                                        </p:tgtEl>
                                        <p:attrNameLst>
                                          <p:attrName>style.visibility</p:attrName>
                                        </p:attrNameLst>
                                      </p:cBhvr>
                                      <p:to>
                                        <p:strVal val="visible"/>
                                      </p:to>
                                    </p:set>
                                    <p:animEffect transition="in" filter="wipe(left)">
                                      <p:cBhvr>
                                        <p:cTn id="24"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8"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p:sp>
        <p:nvSpPr>
          <p:cNvPr id="2" name="QC_4_EX.27_1#837cb4b51?vcp=1&amp;pid=23f09d8d3&amp;color=0,0,0&amp;vtp=1&amp;bt=1&amp;bbb=1&amp;hb=1"/>
          <p:cNvSpPr/>
          <p:nvPr/>
        </p:nvSpPr>
        <p:spPr>
          <a:xfrm>
            <a:off x="393192" y="2628995"/>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易错分析</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位移为矢量</a:t>
            </a:r>
            <a:r>
              <a:rPr lang="en-US" altLang="zh-CN" sz="2400" b="0" i="0" dirty="0">
                <a:solidFill>
                  <a:srgbClr val="000000"/>
                </a:solidFill>
                <a:latin typeface="Times New Roman" pitchFamily="34" charset="0"/>
                <a:ea typeface="微软雅黑" pitchFamily="34" charset="-122"/>
                <a:cs typeface="Times New Roman" pitchFamily="34" charset="-120"/>
              </a:rPr>
              <a:t>，位移方向由物体初位置指向末位置，只有位移大小相等，</a:t>
            </a:r>
            <a:r>
              <a:rPr lang="en-US" altLang="zh-CN" sz="2400" b="0" i="0">
                <a:solidFill>
                  <a:srgbClr val="000000"/>
                </a:solidFill>
                <a:latin typeface="Times New Roman" pitchFamily="34" charset="0"/>
                <a:ea typeface="微软雅黑" pitchFamily="34" charset="-122"/>
                <a:cs typeface="Times New Roman" pitchFamily="34" charset="-120"/>
              </a:rPr>
              <a:t>方向相同，</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才可以说物体的位移相同</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p:pic>
        <p:nvPicPr>
          <p:cNvPr id="2" name="QC_4_BD.28_1#f502c5c83?htil=7&amp;vcp=1&amp;pid=23f09d8d3&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8430769" y="1035971"/>
            <a:ext cx="2359489" cy="1557909"/>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C_4_BD.28_2#f502c5c83?htil=7&amp;vcp=1&amp;pid=23f09d8d3&amp;color=0,0,0&amp;vtp=1&amp;bt=1&amp;bbb=1&amp;hb=1&amp;hs=1"/>
              <p:cNvSpPr/>
              <p:nvPr/>
            </p:nvSpPr>
            <p:spPr>
              <a:xfrm>
                <a:off x="393192" y="1048670"/>
                <a:ext cx="792784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1" i="0" dirty="0">
                    <a:solidFill>
                      <a:srgbClr val="000000"/>
                    </a:solidFill>
                    <a:latin typeface="Times New Roman" pitchFamily="34" charset="0"/>
                    <a:ea typeface="微软雅黑" pitchFamily="34" charset="-122"/>
                    <a:cs typeface="Times New Roman" pitchFamily="34" charset="-120"/>
                  </a:rPr>
                  <a:t>考点4</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（2026·湖南师大附中检测）</a:t>
                </a:r>
                <a:r>
                  <a:rPr lang="en-US" altLang="zh-CN" sz="2400" b="0" i="0" dirty="0">
                    <a:solidFill>
                      <a:srgbClr val="000000"/>
                    </a:solidFill>
                    <a:latin typeface="Times New Roman" pitchFamily="34" charset="0"/>
                    <a:ea typeface="微软雅黑" pitchFamily="34" charset="-122"/>
                    <a:cs typeface="Times New Roman" pitchFamily="34" charset="-120"/>
                  </a:rPr>
                  <a:t>（多选题</a:t>
                </a:r>
                <a:r>
                  <a:rPr lang="en-US" altLang="zh-CN" sz="2400" b="0" i="0">
                    <a:solidFill>
                      <a:srgbClr val="000000"/>
                    </a:solidFill>
                    <a:latin typeface="Times New Roman" pitchFamily="34" charset="0"/>
                    <a:ea typeface="微软雅黑" pitchFamily="34" charset="-122"/>
                    <a:cs typeface="Times New Roman" pitchFamily="34" charset="-120"/>
                  </a:rPr>
                  <a:t>）小李讲</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述龟兔沿直线赛道赛跑的故事，故事中兔子和乌龟运动的</a:t>
                </a:r>
              </a:p>
              <a:p>
                <a:pPr latinLnBrk="1">
                  <a:lnSpc>
                    <a:spcPts val="4200"/>
                  </a:lnSpc>
                </a:pP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𝑡</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图像如图，</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3" name="QC_4_BD.28_2#f502c5c83?htil=7&amp;vcp=1&amp;pid=23f09d8d3&amp;color=0,0,0&amp;vtp=1&amp;bt=1&amp;bbb=1&amp;hb=1&amp;hs=1"/>
              <p:cNvSpPr>
                <a:spLocks noRot="1" noChangeAspect="1" noMove="1" noResize="1" noEditPoints="1" noAdjustHandles="1" noChangeArrowheads="1" noChangeShapeType="1" noTextEdit="1"/>
              </p:cNvSpPr>
              <p:nvPr/>
            </p:nvSpPr>
            <p:spPr>
              <a:xfrm>
                <a:off x="393192" y="1048670"/>
                <a:ext cx="7927848" cy="1592199"/>
              </a:xfrm>
              <a:prstGeom prst="rect">
                <a:avLst/>
              </a:prstGeom>
              <a:blipFill>
                <a:blip r:embed="rId4"/>
                <a:stretch>
                  <a:fillRect l="-2385" b="-11877"/>
                </a:stretch>
              </a:blipFill>
              <a:ln/>
            </p:spPr>
            <p:txBody>
              <a:bodyPr/>
              <a:lstStyle/>
              <a:p>
                <a:r>
                  <a:rPr lang="zh-CN" altLang="en-US">
                    <a:noFill/>
                  </a:rPr>
                  <a:t> </a:t>
                </a:r>
              </a:p>
            </p:txBody>
          </p:sp>
        </mc:Fallback>
      </mc:AlternateContent>
      <p:sp>
        <p:nvSpPr>
          <p:cNvPr id="4" name="QC_4_AN.29_1#f502c5c83.bracket?vcp=1&amp;pid=23f09d8d3&amp;color=0,0,0&amp;vpa=11&amp;vtp=1&amp;bbb=1"/>
          <p:cNvSpPr/>
          <p:nvPr/>
        </p:nvSpPr>
        <p:spPr>
          <a:xfrm>
            <a:off x="5313394" y="2154840"/>
            <a:ext cx="6445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BC</a:t>
            </a:r>
            <a:endParaRPr lang="en-US" altLang="zh-CN" sz="2400" dirty="0"/>
          </a:p>
        </p:txBody>
      </p:sp>
      <mc:AlternateContent xmlns:mc="http://schemas.openxmlformats.org/markup-compatibility/2006">
        <mc:Choice xmlns:a14="http://schemas.microsoft.com/office/drawing/2010/main" Requires="a14">
          <p:sp>
            <p:nvSpPr>
              <p:cNvPr id="5" name="QC_4_BD.28_3#f502c5c83.choices?vcp=1&amp;pid=23f09d8d3&amp;color=0,0,0&amp;vtp=1&amp;bbb=1&amp;hs=1"/>
              <p:cNvSpPr/>
              <p:nvPr/>
            </p:nvSpPr>
            <p:spPr>
              <a:xfrm>
                <a:off x="393192" y="2631979"/>
                <a:ext cx="11402568" cy="1033399"/>
              </a:xfrm>
              <a:prstGeom prst="rect">
                <a:avLst/>
              </a:prstGeom>
              <a:noFill/>
              <a:ln/>
            </p:spPr>
            <p:txBody>
              <a:bodyPr wrap="none" lIns="0" tIns="0" rIns="0" bIns="0" rtlCol="0" anchor="t"/>
              <a:lstStyle/>
              <a:p>
                <a:pPr latinLnBrk="1">
                  <a:lnSpc>
                    <a:spcPts val="4400"/>
                  </a:lnSpc>
                  <a:tabLst>
                    <a:tab pos="5807954"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r>
                  <a:rPr lang="en-US" altLang="zh-CN" sz="2400" b="0" i="0">
                    <a:solidFill>
                      <a:srgbClr val="000000"/>
                    </a:solidFill>
                    <a:latin typeface="Times New Roman" pitchFamily="34" charset="0"/>
                    <a:ea typeface="微软雅黑" pitchFamily="34" charset="-122"/>
                    <a:cs typeface="Times New Roman" pitchFamily="34" charset="-120"/>
                  </a:rPr>
                  <a:t>.故事中的兔子和乌龟同时同地出发</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.兔子和乌龟在比赛途中会相遇2次</a:t>
                </a:r>
                <a:endParaRPr lang="en-US" altLang="zh-CN" sz="2400" dirty="0"/>
              </a:p>
              <a:p>
                <a:pPr latinLnBrk="1">
                  <a:lnSpc>
                    <a:spcPts val="4200"/>
                  </a:lnSpc>
                  <a:tabLst>
                    <a:tab pos="5807954" algn="l"/>
                  </a:tabLst>
                </a:pPr>
                <a:r>
                  <a:rPr lang="en-US" altLang="zh-CN" sz="2400" b="0" i="0">
                    <a:solidFill>
                      <a:srgbClr val="000000"/>
                    </a:solidFill>
                    <a:latin typeface="Times New Roman" pitchFamily="34" charset="0"/>
                    <a:ea typeface="微软雅黑" pitchFamily="34" charset="-122"/>
                    <a:cs typeface="Times New Roman" pitchFamily="34" charset="-120"/>
                  </a:rPr>
                  <a:t>C.比赛结果是乌龟赢</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.在</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𝑡</m:t>
                        </m:r>
                      </m:e>
                      <m:sub>
                        <m:r>
                          <a:rPr lang="en-US" altLang="zh-CN" sz="2400" b="0" i="0">
                            <a:solidFill>
                              <a:srgbClr val="000000"/>
                            </a:solidFill>
                            <a:latin typeface="Cambria Math" pitchFamily="34" charset="0"/>
                            <a:ea typeface="Cambria Math" pitchFamily="34" charset="-122"/>
                            <a:cs typeface="Cambria Math" pitchFamily="34" charset="-120"/>
                          </a:rPr>
                          <m:t>4</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时刻，兔子和乌龟都在运动</a:t>
                </a:r>
                <a:endParaRPr lang="en-US" altLang="zh-CN" sz="2400" dirty="0"/>
              </a:p>
            </p:txBody>
          </p:sp>
        </mc:Choice>
        <mc:Fallback>
          <p:sp>
            <p:nvSpPr>
              <p:cNvPr id="5" name="QC_4_BD.28_3#f502c5c83.choices?vcp=1&amp;pid=23f09d8d3&amp;color=0,0,0&amp;vtp=1&amp;bbb=1&amp;hs=1"/>
              <p:cNvSpPr>
                <a:spLocks noRot="1" noChangeAspect="1" noMove="1" noResize="1" noEditPoints="1" noAdjustHandles="1" noChangeArrowheads="1" noChangeShapeType="1" noTextEdit="1"/>
              </p:cNvSpPr>
              <p:nvPr/>
            </p:nvSpPr>
            <p:spPr>
              <a:xfrm>
                <a:off x="393192" y="2631979"/>
                <a:ext cx="11402568" cy="1033399"/>
              </a:xfrm>
              <a:prstGeom prst="rect">
                <a:avLst/>
              </a:prstGeom>
              <a:blipFill>
                <a:blip r:embed="rId5"/>
                <a:stretch>
                  <a:fillRect l="-1658" b="-17751"/>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C_4_AS.30_1#f502c5c83?vcp=1&amp;pid=23f09d8d3&amp;color=0,0,0&amp;vtp=1&amp;bbb=1&amp;hb=1"/>
              <p:cNvSpPr/>
              <p:nvPr/>
            </p:nvSpPr>
            <p:spPr>
              <a:xfrm>
                <a:off x="393192" y="3672108"/>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兔子和乌龟均从起点出发，但兔子比乌龟晚出发</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时间，A错误；</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𝒕</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图像中</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交点代表相遇</a:t>
                </a:r>
                <a:r>
                  <a:rPr lang="en-US" altLang="zh-CN" sz="2400" b="1" i="0" dirty="0">
                    <a:solidFill>
                      <a:srgbClr val="FF0000"/>
                    </a:solidFill>
                    <a:latin typeface="Times New Roman" pitchFamily="34" charset="0"/>
                    <a:ea typeface="微软雅黑" pitchFamily="34" charset="-122"/>
                    <a:cs typeface="Times New Roman" pitchFamily="34" charset="-120"/>
                  </a:rPr>
                  <a:t>，兔子和乌龟在比赛途中相遇2次，B正确；乌龟在</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𝟔</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时刻到达终点</a:t>
                </a:r>
                <a:r>
                  <a:rPr lang="en-US" altLang="zh-CN" sz="2400" b="1" i="0">
                    <a:solidFill>
                      <a:srgbClr val="FF0000"/>
                    </a:solidFill>
                    <a:latin typeface="Times New Roman" pitchFamily="34" charset="0"/>
                    <a:ea typeface="微软雅黑" pitchFamily="34" charset="-122"/>
                    <a:cs typeface="Times New Roman" pitchFamily="34" charset="-120"/>
                  </a:rPr>
                  <a:t>，此</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时兔子还在后面</a:t>
                </a:r>
                <a:r>
                  <a:rPr lang="en-US" altLang="zh-CN" sz="2400" b="1" i="0" dirty="0">
                    <a:solidFill>
                      <a:srgbClr val="FF0000"/>
                    </a:solidFill>
                    <a:latin typeface="Times New Roman" pitchFamily="34" charset="0"/>
                    <a:ea typeface="微软雅黑" pitchFamily="34" charset="-122"/>
                    <a:cs typeface="Times New Roman" pitchFamily="34" charset="-120"/>
                  </a:rPr>
                  <a:t>，比赛结果是乌龟赢，C正确；</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𝟑</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𝟓</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时间内，</a:t>
                </a:r>
                <a:r>
                  <a:rPr lang="en-US" altLang="zh-CN" sz="2400" b="1" i="0">
                    <a:solidFill>
                      <a:srgbClr val="FF0000"/>
                    </a:solidFill>
                    <a:latin typeface="Times New Roman" pitchFamily="34" charset="0"/>
                    <a:ea typeface="微软雅黑" pitchFamily="34" charset="-122"/>
                    <a:cs typeface="Times New Roman" pitchFamily="34" charset="-120"/>
                  </a:rPr>
                  <a:t>兔子的位置没有变化，</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兔子在</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𝟒</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时刻处于静止状态，D错误.</a:t>
                </a:r>
                <a:endParaRPr lang="en-US" altLang="zh-CN" sz="2400" dirty="0"/>
              </a:p>
            </p:txBody>
          </p:sp>
        </mc:Choice>
        <mc:Fallback>
          <p:sp>
            <p:nvSpPr>
              <p:cNvPr id="6" name="QC_4_AS.30_1#f502c5c83?vcp=1&amp;pid=23f09d8d3&amp;color=0,0,0&amp;vtp=1&amp;bbb=1&amp;hb=1"/>
              <p:cNvSpPr>
                <a:spLocks noRot="1" noChangeAspect="1" noMove="1" noResize="1" noEditPoints="1" noAdjustHandles="1" noChangeArrowheads="1" noChangeShapeType="1" noTextEdit="1"/>
              </p:cNvSpPr>
              <p:nvPr/>
            </p:nvSpPr>
            <p:spPr>
              <a:xfrm>
                <a:off x="393192" y="3672108"/>
                <a:ext cx="11402568" cy="2155000"/>
              </a:xfrm>
              <a:prstGeom prst="rect">
                <a:avLst/>
              </a:prstGeom>
              <a:blipFill>
                <a:blip r:embed="rId6"/>
                <a:stretch>
                  <a:fillRect l="-1658" r="-2674" b="-8475"/>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500"/>
                                        <p:tgtEl>
                                          <p:spTgt spid="6">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left)">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EX.31_1#f502c5c83?vcp=1&amp;pid=23f09d8d3&amp;color=0,0,0&amp;vtp=1&amp;bt=1&amp;bbb=1&amp;hb=1"/>
              <p:cNvSpPr/>
              <p:nvPr/>
            </p:nvSpPr>
            <p:spPr>
              <a:xfrm>
                <a:off x="393192" y="2628995"/>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易错分析</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不理解</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𝑡</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图像的意义，易将其与路线或轨迹相混淆</a:t>
                </a:r>
                <a:r>
                  <a:rPr lang="en-US" altLang="zh-CN" sz="2400" b="0" i="0">
                    <a:solidFill>
                      <a:srgbClr val="000000"/>
                    </a:solidFill>
                    <a:latin typeface="Times New Roman" pitchFamily="34" charset="0"/>
                    <a:ea typeface="微软雅黑" pitchFamily="34" charset="-122"/>
                    <a:cs typeface="Times New Roman" pitchFamily="34" charset="-120"/>
                  </a:rPr>
                  <a:t>，不能将题图信息与实际情</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况对应</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EX.31_1#f502c5c83?vcp=1&amp;pid=23f09d8d3&amp;color=0,0,0&amp;vtp=1&amp;bt=1&amp;bbb=1&amp;hb=1"/>
              <p:cNvSpPr>
                <a:spLocks noRot="1" noChangeAspect="1" noMove="1" noResize="1" noEditPoints="1" noAdjustHandles="1" noChangeArrowheads="1" noChangeShapeType="1" noTextEdit="1"/>
              </p:cNvSpPr>
              <p:nvPr/>
            </p:nvSpPr>
            <p:spPr>
              <a:xfrm>
                <a:off x="393192" y="2628995"/>
                <a:ext cx="11402568" cy="1596200"/>
              </a:xfrm>
              <a:prstGeom prst="rect">
                <a:avLst/>
              </a:prstGeom>
              <a:blipFill>
                <a:blip r:embed="rId3"/>
                <a:stretch>
                  <a:fillRect l="-1658" r="-1497" b="-11450"/>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p:sp>
        <p:nvSpPr>
          <p:cNvPr id="2" name="C_3_BD#7385e3c61?vcp=1&amp;pid=48ae0c14e&amp;color=0,0,0&amp;vtp=1&amp;bt=1&amp;bbb=1"/>
          <p:cNvSpPr/>
          <p:nvPr/>
        </p:nvSpPr>
        <p:spPr>
          <a:xfrm>
            <a:off x="393192" y="502920"/>
            <a:ext cx="11402568" cy="949960"/>
          </a:xfrm>
          <a:prstGeom prst="rect">
            <a:avLst/>
          </a:prstGeom>
          <a:noFill/>
          <a:ln/>
        </p:spPr>
        <p:txBody>
          <a:bodyPr wrap="none" lIns="0" tIns="0" rIns="0" bIns="0" rtlCol="0" anchor="t"/>
          <a:lstStyle/>
          <a:p>
            <a:pPr algn="l" latinLnBrk="1">
              <a:lnSpc>
                <a:spcPts val="4600"/>
              </a:lnSpc>
            </a:pPr>
            <a:r>
              <a:rPr lang="en-US" altLang="zh-CN" sz="2600" b="1" i="0" dirty="0">
                <a:solidFill>
                  <a:srgbClr val="000000"/>
                </a:solidFill>
                <a:latin typeface="Times New Roman" pitchFamily="34" charset="0"/>
                <a:ea typeface="SimHei" pitchFamily="34" charset="-122"/>
                <a:cs typeface="Times New Roman" pitchFamily="34" charset="-120"/>
              </a:rPr>
              <a:t>拓展考点突破练</a:t>
            </a:r>
            <a:endParaRPr lang="en-US" altLang="zh-CN" sz="2600" dirty="0"/>
          </a:p>
        </p:txBody>
      </p:sp>
      <p:sp>
        <p:nvSpPr>
          <p:cNvPr id="3" name="P_4_BD#e63508d05?vcp=1&amp;pid=7385e3c61&amp;color=0,0,0&amp;vtp=1&amp;bbb=1"/>
          <p:cNvSpPr/>
          <p:nvPr/>
        </p:nvSpPr>
        <p:spPr>
          <a:xfrm>
            <a:off x="393192" y="1093884"/>
            <a:ext cx="11402568" cy="488125"/>
          </a:xfrm>
          <a:prstGeom prst="rect">
            <a:avLst/>
          </a:prstGeom>
          <a:noFill/>
          <a:ln/>
        </p:spPr>
        <p:txBody>
          <a:bodyPr wrap="none" lIns="0" tIns="0" rIns="0" bIns="0" rtlCol="0" anchor="t"/>
          <a:lstStyle/>
          <a:p>
            <a:pPr algn="ctr"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限时10分钟</a:t>
            </a:r>
            <a:endParaRPr lang="en-US" altLang="zh-CN" sz="2400" dirty="0"/>
          </a:p>
        </p:txBody>
      </p:sp>
      <mc:AlternateContent xmlns:mc="http://schemas.openxmlformats.org/markup-compatibility/2006">
        <mc:Choice xmlns:a14="http://schemas.microsoft.com/office/drawing/2010/main" Requires="a14">
          <p:sp>
            <p:nvSpPr>
              <p:cNvPr id="4" name="QO_4_BD.32_1#cc69a5a1c?vcp=1&amp;pid=7385e3c61&amp;color=0,0,0&amp;vtp=1&amp;bbb=1&amp;hb=1"/>
              <p:cNvSpPr/>
              <p:nvPr/>
            </p:nvSpPr>
            <p:spPr>
              <a:xfrm>
                <a:off x="393192" y="1649285"/>
                <a:ext cx="11402568" cy="215519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1.某商场内底层至二楼之间有一个电动扶梯以恒定的速率在由下向上运行着</a:t>
                </a:r>
                <a:r>
                  <a:rPr lang="en-US" altLang="zh-CN" sz="2400" b="0" i="0">
                    <a:solidFill>
                      <a:srgbClr val="000000"/>
                    </a:solidFill>
                    <a:latin typeface="Times New Roman" pitchFamily="34" charset="0"/>
                    <a:ea typeface="微软雅黑" pitchFamily="34" charset="-122"/>
                    <a:cs typeface="Times New Roman" pitchFamily="34" charset="-120"/>
                  </a:rPr>
                  <a:t>，有人用</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某个不变的速率从底层走至二楼过程中数得扶梯有</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𝑁</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级</a:t>
                </a:r>
                <a:r>
                  <a:rPr lang="en-US" altLang="zh-CN" sz="2400" b="0" i="0">
                    <a:solidFill>
                      <a:srgbClr val="000000"/>
                    </a:solidFill>
                    <a:latin typeface="Times New Roman" pitchFamily="34" charset="0"/>
                    <a:ea typeface="微软雅黑" pitchFamily="34" charset="-122"/>
                    <a:cs typeface="Times New Roman" pitchFamily="34" charset="-120"/>
                  </a:rPr>
                  <a:t>，用相同的速率由二楼走到底</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层过程中数得扶梯有</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𝑁</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级，试问若电动扶梯停止不动</a:t>
                </a:r>
                <a:r>
                  <a:rPr lang="en-US" altLang="zh-CN" sz="2400" b="0" i="0">
                    <a:solidFill>
                      <a:srgbClr val="000000"/>
                    </a:solidFill>
                    <a:latin typeface="Times New Roman" pitchFamily="34" charset="0"/>
                    <a:ea typeface="微软雅黑" pitchFamily="34" charset="-122"/>
                    <a:cs typeface="Times New Roman" pitchFamily="34" charset="-120"/>
                  </a:rPr>
                  <a:t>，则从底层至二楼之间可以看到</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几级扶梯</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4" name="QO_4_BD.32_1#cc69a5a1c?vcp=1&amp;pid=7385e3c61&amp;color=0,0,0&amp;vtp=1&amp;bbb=1&amp;hb=1"/>
              <p:cNvSpPr>
                <a:spLocks noRot="1" noChangeAspect="1" noMove="1" noResize="1" noEditPoints="1" noAdjustHandles="1" noChangeArrowheads="1" noChangeShapeType="1" noTextEdit="1"/>
              </p:cNvSpPr>
              <p:nvPr/>
            </p:nvSpPr>
            <p:spPr>
              <a:xfrm>
                <a:off x="393192" y="1649285"/>
                <a:ext cx="11402568" cy="2155190"/>
              </a:xfrm>
              <a:prstGeom prst="rect">
                <a:avLst/>
              </a:prstGeom>
              <a:blipFill>
                <a:blip r:embed="rId3"/>
                <a:stretch>
                  <a:fillRect l="-1658" r="-856" b="-8499"/>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QO_4_AN.33_1#cc69a5a1c?vcp=1&amp;pid=7385e3c61&amp;color=0,0,0&amp;vtp=1&amp;bbb=1&amp;hb=1"/>
              <p:cNvSpPr/>
              <p:nvPr/>
            </p:nvSpPr>
            <p:spPr>
              <a:xfrm>
                <a:off x="393192" y="3787775"/>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[答案]</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设人相对于静止电梯的速率为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𝒗</m:t>
                    </m:r>
                  </m:oMath>
                </a14:m>
                <a:r>
                  <a:rPr lang="en-US" altLang="zh-CN" sz="2400" b="1" i="0" dirty="0">
                    <a:solidFill>
                      <a:srgbClr val="FF0000"/>
                    </a:solidFill>
                    <a:latin typeface="Times New Roman" pitchFamily="34" charset="0"/>
                    <a:ea typeface="微软雅黑" pitchFamily="34" charset="-122"/>
                    <a:cs typeface="Times New Roman" pitchFamily="34" charset="-120"/>
                  </a:rPr>
                  <a:t>,电梯运行速率为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𝒖</m:t>
                    </m:r>
                  </m:oMath>
                </a14:m>
                <a:r>
                  <a:rPr lang="en-US" altLang="zh-CN" sz="2400" b="1" i="0" dirty="0">
                    <a:solidFill>
                      <a:srgbClr val="FF0000"/>
                    </a:solidFill>
                    <a:latin typeface="Times New Roman" pitchFamily="34" charset="0"/>
                    <a:ea typeface="微软雅黑" pitchFamily="34" charset="-122"/>
                    <a:cs typeface="Times New Roman" pitchFamily="34" charset="-120"/>
                  </a:rPr>
                  <a:t>,底层至二楼之间有</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𝑵</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级扶梯，</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每级长</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𝒔</m:t>
                    </m:r>
                  </m:oMath>
                </a14:m>
                <a:r>
                  <a:rPr lang="en-US" altLang="zh-CN" sz="2400" b="1" i="0" dirty="0">
                    <a:solidFill>
                      <a:srgbClr val="FF0000"/>
                    </a:solidFill>
                    <a:latin typeface="Times New Roman" pitchFamily="34" charset="0"/>
                    <a:ea typeface="微软雅黑" pitchFamily="34" charset="-122"/>
                    <a:cs typeface="Times New Roman" pitchFamily="34" charset="-120"/>
                  </a:rPr>
                  <a:t>,则扶梯总长</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𝒔</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𝒔</m:t>
                    </m:r>
                  </m:oMath>
                </a14:m>
                <a:r>
                  <a:rPr lang="en-US" altLang="zh-CN" sz="2400" b="1" i="0" dirty="0">
                    <a:solidFill>
                      <a:srgbClr val="FF0000"/>
                    </a:solidFill>
                    <a:latin typeface="Times New Roman" pitchFamily="34" charset="0"/>
                    <a:ea typeface="微软雅黑" pitchFamily="34" charset="-122"/>
                    <a:cs typeface="Times New Roman" pitchFamily="34" charset="-120"/>
                  </a:rPr>
                  <a:t>.上楼时人相对电梯走过</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𝒔</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𝒔</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,下楼时人相对电梯走</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过</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𝒔</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𝒔</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,因为人数的扶梯级数实际上是人在电梯上相对电梯走过的级数</a:t>
                </a:r>
                <a:r>
                  <a:rPr lang="en-US" altLang="zh-CN" sz="2400" b="1" i="0">
                    <a:solidFill>
                      <a:srgbClr val="FF0000"/>
                    </a:solidFill>
                    <a:latin typeface="Times New Roman" pitchFamily="34" charset="0"/>
                    <a:ea typeface="微软雅黑" pitchFamily="34" charset="-122"/>
                    <a:cs typeface="Times New Roman" pitchFamily="34" charset="-120"/>
                  </a:rPr>
                  <a:t>，因此根</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据上</a:t>
                </a:r>
                <a:r>
                  <a:rPr lang="en-US" altLang="zh-CN" sz="2400" b="1" i="0" dirty="0">
                    <a:solidFill>
                      <a:srgbClr val="FF0000"/>
                    </a:solidFill>
                    <a:latin typeface="Times New Roman" pitchFamily="34" charset="0"/>
                    <a:ea typeface="微软雅黑" pitchFamily="34" charset="-122"/>
                    <a:cs typeface="Times New Roman" pitchFamily="34" charset="-120"/>
                  </a:rPr>
                  <a:t>、下楼所用时间的关系就可求解.</a:t>
                </a:r>
                <a:endParaRPr lang="en-US" altLang="zh-CN" sz="2400" dirty="0"/>
              </a:p>
            </p:txBody>
          </p:sp>
        </mc:Choice>
        <mc:Fallback>
          <p:sp>
            <p:nvSpPr>
              <p:cNvPr id="5" name="QO_4_AN.33_1#cc69a5a1c?vcp=1&amp;pid=7385e3c61&amp;color=0,0,0&amp;vtp=1&amp;bbb=1&amp;hb=1"/>
              <p:cNvSpPr>
                <a:spLocks noRot="1" noChangeAspect="1" noMove="1" noResize="1" noEditPoints="1" noAdjustHandles="1" noChangeArrowheads="1" noChangeShapeType="1" noTextEdit="1"/>
              </p:cNvSpPr>
              <p:nvPr/>
            </p:nvSpPr>
            <p:spPr>
              <a:xfrm>
                <a:off x="393192" y="3787775"/>
                <a:ext cx="11402568" cy="2155000"/>
              </a:xfrm>
              <a:prstGeom prst="rect">
                <a:avLst/>
              </a:prstGeom>
              <a:blipFill>
                <a:blip r:embed="rId4"/>
                <a:stretch>
                  <a:fillRect l="-1658" r="-2406" b="-8475"/>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500"/>
                                        <p:tgtEl>
                                          <p:spTgt spid="5">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wipe(left)">
                                      <p:cBhvr>
                                        <p:cTn id="13" dur="500"/>
                                        <p:tgtEl>
                                          <p:spTgt spid="5">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wipe(left)">
                                      <p:cBhvr>
                                        <p:cTn id="16" dur="500"/>
                                        <p:tgtEl>
                                          <p:spTgt spid="5">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left)">
                                      <p:cBhvr>
                                        <p:cTn id="19"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amp;si=16">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O_4_AN.33_2#cc69a5a1c?vcp=1&amp;pid=7385e3c61&amp;color=0,0,0&amp;mp=1&amp;vtp=1&amp;bt=1&amp;bbb=1"/>
              <p:cNvSpPr/>
              <p:nvPr/>
            </p:nvSpPr>
            <p:spPr>
              <a:xfrm>
                <a:off x="393192" y="705326"/>
                <a:ext cx="11402568" cy="4327652"/>
              </a:xfrm>
              <a:prstGeom prst="rect">
                <a:avLst/>
              </a:prstGeom>
              <a:noFill/>
              <a:ln/>
            </p:spPr>
            <p:txBody>
              <a:bodyPr wrap="none" lIns="0" tIns="0" rIns="0" bIns="0" rtlCol="0" anchor="t"/>
              <a:lstStyle/>
              <a:p>
                <a:pPr algn="l" latinLnBrk="1">
                  <a:lnSpc>
                    <a:spcPts val="4600"/>
                  </a:lnSpc>
                </a:pPr>
                <a:r>
                  <a:rPr lang="en-US" altLang="zh-CN" sz="2400" b="1" i="0" dirty="0">
                    <a:solidFill>
                      <a:srgbClr val="FF0000"/>
                    </a:solidFill>
                    <a:latin typeface="Times New Roman" pitchFamily="34" charset="0"/>
                    <a:ea typeface="微软雅黑" pitchFamily="34" charset="-122"/>
                    <a:cs typeface="Times New Roman" pitchFamily="34" charset="-120"/>
                  </a:rPr>
                  <a:t>以地面为参考系：上楼时间</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𝒔</m:t>
                        </m:r>
                      </m:num>
                      <m:den>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𝒖</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𝒔</m:t>
                        </m:r>
                      </m:num>
                      <m:den>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𝒖</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下楼时间</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𝒔</m:t>
                        </m:r>
                      </m:num>
                      <m:den>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𝒖</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𝒔</m:t>
                        </m:r>
                      </m:num>
                      <m:den>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𝒖</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以电梯为参考系</a:t>
                </a:r>
                <a:r>
                  <a:rPr lang="en-US" altLang="zh-CN" sz="2400" b="1" i="0" dirty="0">
                    <a:solidFill>
                      <a:srgbClr val="FF0000"/>
                    </a:solidFill>
                    <a:latin typeface="Times New Roman" pitchFamily="34" charset="0"/>
                    <a:ea typeface="微软雅黑" pitchFamily="34" charset="-122"/>
                    <a:cs typeface="Times New Roman" pitchFamily="34" charset="-120"/>
                  </a:rPr>
                  <a:t>：上楼时间</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𝒔</m:t>
                            </m:r>
                          </m:e>
                          <m:sub>
                            <m:r>
                              <a:rPr lang="en-US" altLang="zh-CN" sz="2400" b="1" i="1">
                                <a:solidFill>
                                  <a:srgbClr val="FF0000"/>
                                </a:solidFill>
                                <a:latin typeface="Cambria Math" pitchFamily="34" charset="0"/>
                                <a:ea typeface="Cambria Math" pitchFamily="34" charset="-122"/>
                                <a:cs typeface="Cambria Math" pitchFamily="34" charset="-120"/>
                              </a:rPr>
                              <m:t>𝟏</m:t>
                            </m:r>
                          </m:sub>
                        </m:sSub>
                      </m:num>
                      <m:den>
                        <m:r>
                          <a:rPr lang="en-US" altLang="zh-CN" sz="2400" b="1" i="1">
                            <a:solidFill>
                              <a:srgbClr val="FF0000"/>
                            </a:solidFill>
                            <a:latin typeface="Cambria Math" pitchFamily="34" charset="0"/>
                            <a:ea typeface="Cambria Math" pitchFamily="34" charset="-122"/>
                            <a:cs typeface="Cambria Math" pitchFamily="34" charset="-120"/>
                          </a:rPr>
                          <m:t>𝒗</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𝒔</m:t>
                        </m:r>
                      </m:num>
                      <m:den>
                        <m:r>
                          <a:rPr lang="en-US" altLang="zh-CN" sz="2400" b="1" i="1">
                            <a:solidFill>
                              <a:srgbClr val="FF0000"/>
                            </a:solidFill>
                            <a:latin typeface="Cambria Math" pitchFamily="34" charset="0"/>
                            <a:ea typeface="Cambria Math" pitchFamily="34" charset="-122"/>
                            <a:cs typeface="Cambria Math" pitchFamily="34" charset="-120"/>
                          </a:rPr>
                          <m:t>𝒗</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下楼时间</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𝒔</m:t>
                            </m:r>
                          </m:e>
                          <m:sub>
                            <m:r>
                              <a:rPr lang="en-US" altLang="zh-CN" sz="2400" b="1" i="1">
                                <a:solidFill>
                                  <a:srgbClr val="FF0000"/>
                                </a:solidFill>
                                <a:latin typeface="Cambria Math" pitchFamily="34" charset="0"/>
                                <a:ea typeface="Cambria Math" pitchFamily="34" charset="-122"/>
                                <a:cs typeface="Cambria Math" pitchFamily="34" charset="-120"/>
                              </a:rPr>
                              <m:t>𝟐</m:t>
                            </m:r>
                          </m:sub>
                        </m:sSub>
                      </m:num>
                      <m:den>
                        <m:r>
                          <a:rPr lang="en-US" altLang="zh-CN" sz="2400" b="1" i="1">
                            <a:solidFill>
                              <a:srgbClr val="FF0000"/>
                            </a:solidFill>
                            <a:latin typeface="Cambria Math" pitchFamily="34" charset="0"/>
                            <a:ea typeface="Cambria Math" pitchFamily="34" charset="-122"/>
                            <a:cs typeface="Cambria Math" pitchFamily="34" charset="-120"/>
                          </a:rPr>
                          <m:t>𝒗</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𝒔</m:t>
                        </m:r>
                      </m:num>
                      <m:den>
                        <m:r>
                          <a:rPr lang="en-US" altLang="zh-CN" sz="2400" b="1" i="1">
                            <a:solidFill>
                              <a:srgbClr val="FF0000"/>
                            </a:solidFill>
                            <a:latin typeface="Cambria Math" pitchFamily="34" charset="0"/>
                            <a:ea typeface="Cambria Math" pitchFamily="34" charset="-122"/>
                            <a:cs typeface="Cambria Math" pitchFamily="34" charset="-120"/>
                          </a:rPr>
                          <m:t>𝒗</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联立方程可得</a:t>
                </a: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𝑵</m:t>
                        </m:r>
                      </m:num>
                      <m:den>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𝒖</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𝟏</m:t>
                            </m:r>
                          </m:sub>
                        </m:sSub>
                      </m:num>
                      <m:den>
                        <m:r>
                          <a:rPr lang="en-US" altLang="zh-CN" sz="2400" b="1" i="1">
                            <a:solidFill>
                              <a:srgbClr val="FF0000"/>
                            </a:solidFill>
                            <a:latin typeface="Cambria Math" pitchFamily="34" charset="0"/>
                            <a:ea typeface="Cambria Math" pitchFamily="34" charset="-122"/>
                            <a:cs typeface="Cambria Math" pitchFamily="34" charset="-120"/>
                          </a:rPr>
                          <m:t>𝒗</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𝑵</m:t>
                        </m:r>
                      </m:num>
                      <m:den>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𝒖</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𝟐</m:t>
                            </m:r>
                          </m:sub>
                        </m:sSub>
                      </m:num>
                      <m:den>
                        <m:r>
                          <a:rPr lang="en-US" altLang="zh-CN" sz="2400" b="1" i="1">
                            <a:solidFill>
                              <a:srgbClr val="FF0000"/>
                            </a:solidFill>
                            <a:latin typeface="Cambria Math" pitchFamily="34" charset="0"/>
                            <a:ea typeface="Cambria Math" pitchFamily="34" charset="-122"/>
                            <a:cs typeface="Cambria Math" pitchFamily="34" charset="-120"/>
                          </a:rPr>
                          <m:t>𝒗</m:t>
                        </m:r>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5000"/>
                  </a:lnSpc>
                </a:pPr>
                <a:r>
                  <a:rPr lang="en-US" altLang="zh-CN" sz="2400" b="1" i="0">
                    <a:solidFill>
                      <a:srgbClr val="FF0000"/>
                    </a:solidFill>
                    <a:latin typeface="Times New Roman" pitchFamily="34" charset="0"/>
                    <a:ea typeface="微软雅黑" pitchFamily="34" charset="-122"/>
                    <a:cs typeface="Times New Roman" pitchFamily="34" charset="-120"/>
                  </a:rPr>
                  <a:t>解得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𝟐</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𝟏</m:t>
                            </m:r>
                          </m:sub>
                        </m:sSub>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𝟐</m:t>
                            </m:r>
                          </m:sub>
                        </m:sSub>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𝟐</m:t>
                            </m:r>
                          </m:sub>
                        </m:sSub>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a:p>
                <a:pPr latinLnBrk="1">
                  <a:lnSpc>
                    <a:spcPts val="6600"/>
                  </a:lnSpc>
                </a:pPr>
                <a:r>
                  <a:rPr lang="en-US" altLang="zh-CN" sz="2400" b="1" i="0">
                    <a:solidFill>
                      <a:srgbClr val="FF0000"/>
                    </a:solidFill>
                    <a:latin typeface="Times New Roman" pitchFamily="34" charset="0"/>
                    <a:ea typeface="微软雅黑" pitchFamily="34" charset="-122"/>
                    <a:cs typeface="Times New Roman" pitchFamily="34" charset="-120"/>
                  </a:rPr>
                  <a:t>则若电动扶梯停止不动</a:t>
                </a:r>
                <a:r>
                  <a:rPr lang="en-US" altLang="zh-CN" sz="2400" b="1" i="0" dirty="0">
                    <a:solidFill>
                      <a:srgbClr val="FF0000"/>
                    </a:solidFill>
                    <a:latin typeface="Times New Roman" pitchFamily="34" charset="0"/>
                    <a:ea typeface="微软雅黑" pitchFamily="34" charset="-122"/>
                    <a:cs typeface="Times New Roman" pitchFamily="34" charset="-120"/>
                  </a:rPr>
                  <a:t>，从底层至二楼之间可以看到</a:t>
                </a: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𝟐</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𝟏</m:t>
                            </m:r>
                          </m:sub>
                        </m:sSub>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𝟐</m:t>
                            </m:r>
                          </m:sub>
                        </m:sSub>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𝑵</m:t>
                            </m:r>
                          </m:e>
                          <m:sub>
                            <m:r>
                              <a:rPr lang="en-US" altLang="zh-CN" sz="2400" b="1" i="1">
                                <a:solidFill>
                                  <a:srgbClr val="FF0000"/>
                                </a:solidFill>
                                <a:latin typeface="Cambria Math" pitchFamily="34" charset="0"/>
                                <a:ea typeface="Cambria Math" pitchFamily="34" charset="-122"/>
                                <a:cs typeface="Cambria Math" pitchFamily="34" charset="-120"/>
                              </a:rPr>
                              <m:t>𝟐</m:t>
                            </m:r>
                          </m:sub>
                        </m:sSub>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级扶梯.</a:t>
                </a:r>
                <a:endParaRPr lang="en-US" altLang="zh-CN" sz="2400" dirty="0"/>
              </a:p>
            </p:txBody>
          </p:sp>
        </mc:Choice>
        <mc:Fallback>
          <p:sp>
            <p:nvSpPr>
              <p:cNvPr id="2" name="QO_4_AN.33_2#cc69a5a1c?vcp=1&amp;pid=7385e3c61&amp;color=0,0,0&amp;mp=1&amp;vtp=1&amp;bt=1&amp;bbb=1"/>
              <p:cNvSpPr>
                <a:spLocks noRot="1" noChangeAspect="1" noMove="1" noResize="1" noEditPoints="1" noAdjustHandles="1" noChangeArrowheads="1" noChangeShapeType="1" noTextEdit="1"/>
              </p:cNvSpPr>
              <p:nvPr/>
            </p:nvSpPr>
            <p:spPr>
              <a:xfrm>
                <a:off x="393192" y="705326"/>
                <a:ext cx="11402568" cy="4327652"/>
              </a:xfrm>
              <a:prstGeom prst="rect">
                <a:avLst/>
              </a:prstGeom>
              <a:blipFill>
                <a:blip r:embed="rId3"/>
                <a:stretch>
                  <a:fillRect l="-1658" b="-1268"/>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wipe(left)">
                                      <p:cBhvr>
                                        <p:cTn id="2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amp;si=17">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1063</Words>
  <Application>Microsoft Office PowerPoint</Application>
  <PresentationFormat>宽屏</PresentationFormat>
  <Paragraphs>150</Paragraphs>
  <Slides>17</Slides>
  <Notes>17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KaiTi</vt:lpstr>
      <vt:lpstr>SimSun</vt:lpstr>
      <vt:lpstr>微软雅黑</vt:lpstr>
      <vt:lpstr>Arial</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2</cp:revision>
  <dcterms:created xsi:type="dcterms:W3CDTF">2026-05-25T07:52:31Z</dcterms:created>
  <dcterms:modified xsi:type="dcterms:W3CDTF">2026-05-25T08:03:35Z</dcterms:modified>
  <cp:category/>
  <cp:contentStatus/>
</cp:coreProperties>
</file>