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6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1821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7" Type="http://schemas.openxmlformats.org/officeDocument/2006/relationships/slide" Target="../slides/slide11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9.xml"/><Relationship Id="rId5" Type="http://schemas.openxmlformats.org/officeDocument/2006/relationships/slide" Target="../slides/slide8.xml"/><Relationship Id="rId4" Type="http://schemas.openxmlformats.org/officeDocument/2006/relationships/slide" Target="../slides/slide7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15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7" Type="http://schemas.openxmlformats.org/officeDocument/2006/relationships/slide" Target="../slides/slide11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9.xml"/><Relationship Id="rId5" Type="http://schemas.openxmlformats.org/officeDocument/2006/relationships/slide" Target="../slides/slide8.xml"/><Relationship Id="rId4" Type="http://schemas.openxmlformats.org/officeDocument/2006/relationships/slide" Target="../slides/slide7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15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4b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12a88c36a,6ae01bd42,2f3c279c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f399e05d6&amp;amp;cid=f399e05d6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2e36ce495&amp;amp;cid=2e36ce495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5ef84c163&amp;amp;cid=5ef84c163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50dc0efa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4?lid=51e6af533&amp;amp;cid=51e6af533&amp;amp;vtp=1">
            <a:hlinkClick r:id="rId3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4?lid=2adf4f272&amp;amp;cid=2adf4f272&amp;amp;vtp=1">
            <a:hlinkClick r:id="rId4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4?lid=2a7a96e4a&amp;amp;cid=2a7a96e4a&amp;amp;vtp=1">
            <a:hlinkClick r:id="rId5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4?lid=89685c5f8&amp;amp;cid=89685c5f8&amp;amp;vtp=1">
            <a:hlinkClick r:id="rId6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4?lid=ba04c5ade&amp;amp;cid=ba04c5ade&amp;amp;vtp=1">
            <a:hlinkClick r:id="rId7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01036c1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10?lid=aab227ecb&amp;amp;cid=aab227ecb&amp;amp;vtp=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10?lid=c068997e4&amp;amp;cid=c068997e4&amp;amp;vtp=1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e209a989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13?lid=7b85b5f82&amp;amp;cid=7b85b5f82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6ae01bd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第3讲 位置变化快慢的描述——速度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12a88c36a,6ae01bd42,2f3c279c3#df=6ae01bd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第3讲 位置变化快慢的描述——速度</a:t>
            </a:r>
            <a:endParaRPr lang="en-US" sz="1800" dirty="0"/>
          </a:p>
        </p:txBody>
      </p:sp>
      <p:sp>
        <p:nvSpPr>
          <p:cNvPr id="5" name="C_0#auto_editor_catalog_0?lid=f399e05d6&amp;amp;cid=f399e05d6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2e36ce495&amp;amp;cid=2e36ce495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5ef84c163&amp;amp;cid=5ef84c163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50dc0efa8#df=6ae01bd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第3讲 位置变化快慢的描述——速度</a:t>
            </a:r>
            <a:endParaRPr lang="en-US" sz="1800" dirty="0"/>
          </a:p>
        </p:txBody>
      </p:sp>
      <p:sp>
        <p:nvSpPr>
          <p:cNvPr id="5" name="C_0#auto_editor_catalog_4?lid=51e6af533&amp;amp;cid=51e6af533&amp;amp;vtp=1">
            <a:hlinkClick r:id="rId3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4?lid=2adf4f272&amp;amp;cid=2adf4f272&amp;amp;vtp=1">
            <a:hlinkClick r:id="rId4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4?lid=2a7a96e4a&amp;amp;cid=2a7a96e4a&amp;amp;vtp=1">
            <a:hlinkClick r:id="rId5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4?lid=89685c5f8&amp;amp;cid=89685c5f8&amp;amp;vtp=1">
            <a:hlinkClick r:id="rId6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4?lid=ba04c5ade&amp;amp;cid=ba04c5ade&amp;amp;vtp=1">
            <a:hlinkClick r:id="rId7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01036c1b1#df=6ae01bd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第3讲 位置变化快慢的描述——速度</a:t>
            </a:r>
            <a:endParaRPr lang="en-US" sz="1800" dirty="0"/>
          </a:p>
        </p:txBody>
      </p:sp>
      <p:sp>
        <p:nvSpPr>
          <p:cNvPr id="5" name="C_0#auto_editor_catalog_10?lid=aab227ecb&amp;amp;cid=aab227ecb&amp;amp;vtp=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10?lid=c068997e4&amp;amp;cid=c068997e4&amp;amp;vtp=1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a88c36a,e209a989b#df=6ae01bd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第3讲 位置变化快慢的描述——速度</a:t>
            </a:r>
            <a:endParaRPr lang="en-US" sz="1800" dirty="0"/>
          </a:p>
        </p:txBody>
      </p:sp>
      <p:sp>
        <p:nvSpPr>
          <p:cNvPr id="5" name="C_0#auto_editor_catalog_13?lid=7b85b5f82&amp;amp;cid=7b85b5f82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6ae01bd42.fixed?vcp=1&amp;pid=12a88c36a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运动的描述</a:t>
            </a:r>
            <a:endParaRPr lang="en-US" altLang="zh-CN" sz="4800" dirty="0"/>
          </a:p>
        </p:txBody>
      </p:sp>
      <p:sp>
        <p:nvSpPr>
          <p:cNvPr id="3" name="C_2_BD#6ae01bd42.fixed?vcp=1&amp;pid=12a88c36a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第3讲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位置变化快慢的描述——速度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2f3c279c3?vcp=1&amp;pid=6ae01bd42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4_BD#cfb8cb8a6?vcp=1&amp;pid=2f3c279c3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pic>
        <p:nvPicPr>
          <p:cNvPr id="4" name="QC_4_BD.1_1#f399e05d6?htil=1&amp;vcp=1&amp;pid=2f3c279c3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31707" y="1645538"/>
            <a:ext cx="2103120" cy="3630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_2#f399e05d6?htil=1&amp;vcp=1&amp;pid=2f3c279c3&amp;color=0,0,0&amp;vtp=1&amp;bbb=1&amp;hb=1"/>
              <p:cNvSpPr/>
              <p:nvPr/>
            </p:nvSpPr>
            <p:spPr>
              <a:xfrm>
                <a:off x="393192" y="1590675"/>
                <a:ext cx="916228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（2026·安徽合肥一中期末）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如图所示，从离地面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高处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竖直向上抛出一个小球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，小球上升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后，回落原位置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，上升回落整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个过程用时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_2#f399e05d6?htil=1&amp;vcp=1&amp;pid=2f3c279c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9162288" cy="1592199"/>
              </a:xfrm>
              <a:prstGeom prst="rect">
                <a:avLst/>
              </a:prstGeom>
              <a:blipFill>
                <a:blip r:embed="rId4"/>
                <a:stretch>
                  <a:fillRect l="-2063" r="-1331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C_4_AN.2_1#f399e05d6.bracket?vcp=1&amp;pid=2f3c279c3&amp;color=0,0,0&amp;vpa=1&amp;vtp=1"/>
          <p:cNvSpPr/>
          <p:nvPr/>
        </p:nvSpPr>
        <p:spPr>
          <a:xfrm>
            <a:off x="2910174" y="2696845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_3#f399e05d6.choices?htil=1&amp;vcp=1&amp;pid=2f3c279c3&amp;color=0,0,0&amp;vtp=1&amp;bbb=1"/>
              <p:cNvSpPr/>
              <p:nvPr/>
            </p:nvSpPr>
            <p:spPr>
              <a:xfrm>
                <a:off x="393192" y="3178175"/>
                <a:ext cx="916228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A.小球通过的路程是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,平均速度为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.小球通过的路程是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,平均速度为0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.小球的位移大小是0，平均速度为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.小球的位移大小是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,平均速度为0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_3#f399e05d6.choices?htil=1&amp;vcp=1&amp;pid=2f3c279c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78175"/>
                <a:ext cx="9162288" cy="2155000"/>
              </a:xfrm>
              <a:prstGeom prst="rect">
                <a:avLst/>
              </a:prstGeom>
              <a:blipFill>
                <a:blip r:embed="rId5"/>
                <a:stretch>
                  <a:fillRect l="-2063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BD.3_1#2e36ce495?vcp=1&amp;pid=2f3c279c3&amp;color=0,0,0&amp;vtp=1&amp;bt=1&amp;bbb=1&amp;hb=1"/>
          <p:cNvSpPr/>
          <p:nvPr/>
        </p:nvSpPr>
        <p:spPr>
          <a:xfrm>
            <a:off x="393192" y="619538"/>
            <a:ext cx="11402568" cy="15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考点2、3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（多选题）以往公路上用单点测速仪测车速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，个别司机由于熟知测速点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的位置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，在通过测速点时通过刹车以降低车速来逃避处罚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，但这样很容易造成追尾事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故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，所以有些地方已开始采用区间测速，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下列说法正确的是(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4_AN.4_1#2e36ce495.bracket?vcp=1&amp;pid=2f3c279c3&amp;color=0,0,0&amp;vpa=2&amp;vtp=1&amp;bbb=1"/>
          <p:cNvSpPr/>
          <p:nvPr/>
        </p:nvSpPr>
        <p:spPr>
          <a:xfrm>
            <a:off x="8614061" y="1725708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p:pic>
        <p:nvPicPr>
          <p:cNvPr id="4" name="QC_4_BD.3_2#2e36ce495?vcp=1&amp;pid=2f3c279c3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11880" y="2340133"/>
            <a:ext cx="4965192" cy="1353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3_3#2e36ce495.choices?vcp=1&amp;pid=2f3c279c3&amp;color=0,0,0&amp;vtp=1&amp;bbb=1"/>
              <p:cNvSpPr/>
              <p:nvPr/>
            </p:nvSpPr>
            <p:spPr>
              <a:xfrm>
                <a:off x="393192" y="3826033"/>
                <a:ext cx="11402568" cy="2235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A.区间测速测的是汽车的瞬时速率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.区间测速测的是汽车的平均速率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.图中，限速值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70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指的是平均速度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.根据平均速度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ba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,单点测速时，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足够小，测的是汽车的瞬时速率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3_3#2e36ce495.choices?vcp=1&amp;pid=2f3c279c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826033"/>
                <a:ext cx="11402568" cy="2235200"/>
              </a:xfrm>
              <a:prstGeom prst="rect">
                <a:avLst/>
              </a:prstGeom>
              <a:blipFill>
                <a:blip r:embed="rId4"/>
                <a:stretch>
                  <a:fillRect l="-1658" b="-464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5_1#5ef84c163?vcp=1&amp;pid=2f3c279c3&amp;color=0,0,0&amp;vtp=1&amp;bt=1&amp;bbb=1&amp;hb=1"/>
              <p:cNvSpPr/>
              <p:nvPr/>
            </p:nvSpPr>
            <p:spPr>
              <a:xfrm>
                <a:off x="393192" y="1026255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考点5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（多选题）做直线运动的物体，其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，下列判断正确的是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5_1#5ef84c163?vcp=1&amp;pid=2f3c279c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26255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6_1#5ef84c163.bracket?vcp=1&amp;pid=2f3c279c3&amp;color=0,0,0&amp;vpa=3&amp;vtp=1&amp;bbb=1"/>
          <p:cNvSpPr/>
          <p:nvPr/>
        </p:nvSpPr>
        <p:spPr>
          <a:xfrm>
            <a:off x="651160" y="1573625"/>
            <a:ext cx="8651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BCD</a:t>
            </a:r>
            <a:endParaRPr lang="en-US" altLang="zh-CN" sz="2400" dirty="0"/>
          </a:p>
        </p:txBody>
      </p:sp>
      <p:pic>
        <p:nvPicPr>
          <p:cNvPr id="4" name="QC_4_BD.5_2#5ef84c163?htil=2&amp;vcp=1&amp;pid=2f3c279c3&amp;color=0,0,0&amp;tib=255,255,255&amp;vtp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82658" y="2117184"/>
            <a:ext cx="2505456" cy="18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5_3#5ef84c163.choices?htil=2&amp;vcp=1&amp;pid=2f3c279c3&amp;color=0,0,0&amp;vtp=1&amp;bbb=1&amp;hs=1"/>
              <p:cNvSpPr/>
              <p:nvPr/>
            </p:nvSpPr>
            <p:spPr>
              <a:xfrm>
                <a:off x="393192" y="2071465"/>
                <a:ext cx="8759952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A.物体在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末运动方向改变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.物体在前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内运动方向不变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末运动方向改变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5_3#5ef84c163.choices?htil=2&amp;vcp=1&amp;pid=2f3c279c3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71465"/>
                <a:ext cx="8759952" cy="2158302"/>
              </a:xfrm>
              <a:prstGeom prst="rect">
                <a:avLst/>
              </a:prstGeom>
              <a:blipFill>
                <a:blip r:embed="rId5"/>
                <a:stretch>
                  <a:fillRect l="-2157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AS.7_1#5ef84c163?vcp=1&amp;pid=2f3c279c3&amp;color=0,0,0&amp;vtp=1&amp;bbb=1&amp;hb=1&amp;hs=1"/>
              <p:cNvSpPr/>
              <p:nvPr/>
            </p:nvSpPr>
            <p:spPr>
              <a:xfrm>
                <a:off x="393192" y="4205064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从题图可知，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时物体的速度均为正值，向正方向运动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，运动方向没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有改变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时物体的速度为负值，向负方向运动，可知在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时物体改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变了运动方向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，A错误，B、C正确；物体在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时的速度大小为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AS.7_1#5ef84c163?vcp=1&amp;pid=2f3c279c3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205064"/>
                <a:ext cx="11402568" cy="1596200"/>
              </a:xfrm>
              <a:prstGeom prst="rect">
                <a:avLst/>
              </a:prstGeom>
              <a:blipFill>
                <a:blip r:embed="rId6"/>
                <a:stretch>
                  <a:fillRect l="-1658" r="-802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50dc0efa8?vcp=1&amp;pid=6ae01bd42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4_BD#b0e48abe1?vcp=1&amp;pid=50dc0efa8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  <p:pic>
        <p:nvPicPr>
          <p:cNvPr id="4" name="QC_4_BD.8_1#51e6af533?htil=3&amp;vcp=1&amp;pid=50dc0efa8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26273" y="1704148"/>
            <a:ext cx="2377440" cy="146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8_2#51e6af533?htil=3&amp;vcp=1&amp;pid=50dc0efa8&amp;color=0,0,0&amp;vtp=1&amp;bbb=1&amp;hb=1&amp;hs=1"/>
              <p:cNvSpPr/>
              <p:nvPr/>
            </p:nvSpPr>
            <p:spPr>
              <a:xfrm>
                <a:off x="393192" y="1649285"/>
                <a:ext cx="88879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1、2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如图所示为高速摄影机拍摄到的子弹穿透苹果瞬间的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照片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.该照片经放大后分析出，在曝光时间内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，子弹影像前后错开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的距离约为子弹长度的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2%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.已知子弹的飞行速度约为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500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此可估算出这张照片的曝光时间最接近(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8_2#51e6af533?htil=3&amp;vcp=1&amp;pid=50dc0efa8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49285"/>
                <a:ext cx="8887968" cy="2150999"/>
              </a:xfrm>
              <a:prstGeom prst="rect">
                <a:avLst/>
              </a:prstGeom>
              <a:blipFill>
                <a:blip r:embed="rId4"/>
                <a:stretch>
                  <a:fillRect l="-2126" r="-686" b="-880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C_4_AN.9_1#51e6af533.bracket?vcp=1&amp;pid=50dc0efa8&amp;color=0,0,0&amp;vpa=4&amp;vtp=1"/>
          <p:cNvSpPr/>
          <p:nvPr/>
        </p:nvSpPr>
        <p:spPr>
          <a:xfrm>
            <a:off x="5820060" y="3314255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8_3#51e6af533.choices?vcp=1&amp;pid=50dc0efa8&amp;color=0,0,0&amp;vtp=1&amp;bbb=1&amp;hs=1"/>
              <p:cNvSpPr/>
              <p:nvPr/>
            </p:nvSpPr>
            <p:spPr>
              <a:xfrm>
                <a:off x="393192" y="3843718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888102" algn="l"/>
                    <a:tab pos="5750804" algn="l"/>
                    <a:tab pos="860080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1×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−3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1×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−6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1×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−9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1×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−12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8_3#51e6af533.choices?vcp=1&amp;pid=50dc0efa8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843718"/>
                <a:ext cx="11402568" cy="477330"/>
              </a:xfrm>
              <a:prstGeom prst="rect">
                <a:avLst/>
              </a:prstGeom>
              <a:blipFill>
                <a:blip r:embed="rId5"/>
                <a:stretch>
                  <a:fillRect l="-1658" b="-397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QC_4_AS.10_1#51e6af533?vcp=1&amp;pid=50dc0efa8&amp;color=0,0,0&amp;vtp=1&amp;bbb=1&amp;hb=1"/>
              <p:cNvSpPr/>
              <p:nvPr/>
            </p:nvSpPr>
            <p:spPr>
              <a:xfrm>
                <a:off x="393192" y="4331970"/>
                <a:ext cx="11402568" cy="173964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子弹的长度约为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，所以曝光时间内子弹的位移大约为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%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，又已知子弹的速度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𝟓𝟎𝟎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，所以曝光时间</a:t>
                </a:r>
              </a:p>
              <a:p>
                <a:pPr latinLnBrk="1">
                  <a:lnSpc>
                    <a:spcPts val="5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.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𝟏𝟎</m:t>
                            </m:r>
                          </m:e>
                          <m:sup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−</m:t>
                            </m:r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×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%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𝟓𝟎𝟎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，故选B.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QC_4_AS.10_1#51e6af533?vcp=1&amp;pid=50dc0efa8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331970"/>
                <a:ext cx="11402568" cy="1739646"/>
              </a:xfrm>
              <a:prstGeom prst="rect">
                <a:avLst/>
              </a:prstGeom>
              <a:blipFill>
                <a:blip r:embed="rId6"/>
                <a:stretch>
                  <a:fillRect l="-1658" b="-596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8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1_1#2adf4f272?vcp=1&amp;pid=50dc0efa8&amp;color=0,0,0&amp;vtp=1&amp;bt=1&amp;bbb=1&amp;hb=1"/>
              <p:cNvSpPr/>
              <p:nvPr/>
            </p:nvSpPr>
            <p:spPr>
              <a:xfrm>
                <a:off x="393192" y="504000"/>
                <a:ext cx="11402568" cy="20557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折返跑常被用来评量心肺耐力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，是一种特别适合篮球运动等需要短距离折返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运动的常见训练方式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.某运动员以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的速度向东运动了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后到达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点，在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停了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后，又以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的速度沿原路返回，运动了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后到达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，则运动员在全</a:t>
                </a:r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程的平均速度大小和平均速率分别为(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1_1#2adf4f272?vcp=1&amp;pid=50dc0efa8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2055749"/>
              </a:xfrm>
              <a:prstGeom prst="rect">
                <a:avLst/>
              </a:prstGeom>
              <a:blipFill>
                <a:blip r:embed="rId3"/>
                <a:stretch>
                  <a:fillRect l="-1658" r="-1230" b="-890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2_1#2adf4f272.bracket?vcp=1&amp;pid=50dc0efa8&amp;color=0,0,0&amp;vpa=5&amp;vtp=1"/>
          <p:cNvSpPr/>
          <p:nvPr/>
        </p:nvSpPr>
        <p:spPr>
          <a:xfrm>
            <a:off x="5515260" y="2090166"/>
            <a:ext cx="423863" cy="45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0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1_2#2adf4f272.choices?vcp=1&amp;pid=50dc0efa8&amp;color=0,0,0&amp;vtp=1&amp;bbb=1"/>
              <p:cNvSpPr/>
              <p:nvPr/>
            </p:nvSpPr>
            <p:spPr>
              <a:xfrm>
                <a:off x="393192" y="2554796"/>
                <a:ext cx="11402568" cy="143154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9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10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58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10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1_2#2adf4f272.choices?vcp=1&amp;pid=50dc0efa8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54796"/>
                <a:ext cx="11402568" cy="1431544"/>
              </a:xfrm>
              <a:prstGeom prst="rect">
                <a:avLst/>
              </a:prstGeom>
              <a:blipFill>
                <a:blip r:embed="rId4"/>
                <a:stretch>
                  <a:fillRect l="-1658" b="-723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13_1#2adf4f272?vcp=1&amp;pid=50dc0efa8&amp;color=0,0,0&amp;vtp=1&amp;bbb=1&amp;hb=1"/>
              <p:cNvSpPr/>
              <p:nvPr/>
            </p:nvSpPr>
            <p:spPr>
              <a:xfrm>
                <a:off x="393192" y="3996182"/>
                <a:ext cx="11402568" cy="213366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运动员折返跑全程的位移大小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全程用时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，故平均速度大小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𝟏𝟓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水平向西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.运动员折返跑全程的路程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平均速率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𝒔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𝟏𝟓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.故选B.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13_1#2adf4f272?vcp=1&amp;pid=50dc0efa8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96182"/>
                <a:ext cx="11402568" cy="2133664"/>
              </a:xfrm>
              <a:prstGeom prst="rect">
                <a:avLst/>
              </a:prstGeom>
              <a:blipFill>
                <a:blip r:embed="rId5"/>
                <a:stretch>
                  <a:fillRect l="-1658" r="-1283" b="-48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4_1#2a7a96e4a?vcp=1&amp;pid=50dc0efa8&amp;color=0,0,0&amp;vtp=1&amp;bt=1&amp;bbb=1&amp;hb=1"/>
              <p:cNvSpPr/>
              <p:nvPr/>
            </p:nvSpPr>
            <p:spPr>
              <a:xfrm>
                <a:off x="393192" y="751427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考点5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（2026·湖北武汉中学检测）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（多选题）甲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、乙两物体从同一位置出发沿同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一直线运动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，两物体运动的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图像如图所示，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下列判断正确的是(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4_1#2a7a96e4a?vcp=1&amp;pid=50dc0efa8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51427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1230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5_1#2a7a96e4a.bracket?vcp=1&amp;pid=50dc0efa8&amp;color=0,0,0&amp;vpa=6&amp;vtp=1&amp;bbb=1"/>
          <p:cNvSpPr/>
          <p:nvPr/>
        </p:nvSpPr>
        <p:spPr>
          <a:xfrm>
            <a:off x="9583516" y="1298797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AB</a:t>
            </a:r>
            <a:endParaRPr lang="en-US" altLang="zh-CN" sz="2400" dirty="0"/>
          </a:p>
        </p:txBody>
      </p:sp>
      <p:pic>
        <p:nvPicPr>
          <p:cNvPr id="4" name="QC_4_BD.14_2#2a7a96e4a?htil=4&amp;vcp=1&amp;pid=50dc0efa8&amp;color=0,0,0&amp;tib=255,255,255&amp;vtp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18083" y="1830672"/>
            <a:ext cx="2706624" cy="1947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4_3#2a7a96e4a.choices?htil=4&amp;vcp=1&amp;pid=50dc0efa8&amp;color=0,0,0&amp;vtp=1&amp;bbb=1&amp;hs=1"/>
              <p:cNvSpPr/>
              <p:nvPr/>
            </p:nvSpPr>
            <p:spPr>
              <a:xfrm>
                <a:off x="393192" y="1784952"/>
                <a:ext cx="8558784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A.甲做匀速直线运动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.甲、乙速度相同的时刻在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.乙在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做减速运动，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2∼6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做加速运动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后，甲、乙两物体的速度方向相反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4_3#2a7a96e4a.choices?htil=4&amp;vcp=1&amp;pid=50dc0efa8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84952"/>
                <a:ext cx="8558784" cy="2155000"/>
              </a:xfrm>
              <a:prstGeom prst="rect">
                <a:avLst/>
              </a:prstGeom>
              <a:blipFill>
                <a:blip r:embed="rId5"/>
                <a:stretch>
                  <a:fillRect l="-2208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AS.16_1#2a7a96e4a?vcp=1&amp;pid=50dc0efa8&amp;color=0,0,0&amp;vtp=1&amp;bbb=1&amp;hb=1&amp;hs=1"/>
              <p:cNvSpPr/>
              <p:nvPr/>
            </p:nvSpPr>
            <p:spPr>
              <a:xfrm>
                <a:off x="393192" y="3931252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甲的速度一直是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，即甲以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的速度做匀速直线运动，乙在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速度增大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，做加速运动，在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内速度减小，做减速运动，A正确，C错误；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甲、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乙两图线的交点表示两物体速度相同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，分别在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末，B正确；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内甲、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乙的速度方向都沿正方向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AS.16_1#2a7a96e4a?vcp=1&amp;pid=50dc0efa8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31252"/>
                <a:ext cx="11402568" cy="2155000"/>
              </a:xfrm>
              <a:prstGeom prst="rect">
                <a:avLst/>
              </a:prstGeom>
              <a:blipFill>
                <a:blip r:embed="rId6"/>
                <a:stretch>
                  <a:fillRect l="-1658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17_1#89685c5f8?htil=5&amp;vcp=1&amp;pid=50dc0efa8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25332" y="1286541"/>
            <a:ext cx="2331720" cy="2276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17_2#89685c5f8?htil=5&amp;vcp=1&amp;pid=50dc0efa8&amp;color=0,0,0&amp;vtp=1&amp;bt=1&amp;bbb=1&amp;hb=1"/>
              <p:cNvSpPr/>
              <p:nvPr/>
            </p:nvSpPr>
            <p:spPr>
              <a:xfrm>
                <a:off x="393192" y="1240822"/>
                <a:ext cx="893368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考点5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（2026·湖北黄冈中学检测）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（多选题）甲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、乙两辆汽车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在同一平直公路的不同车道上行驶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时刻两车正好相遇，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内两车的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.关于这段时间内两车的运动情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况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17_2#89685c5f8?htil=5&amp;vcp=1&amp;pid=50dc0efa8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40822"/>
                <a:ext cx="8933688" cy="2150999"/>
              </a:xfrm>
              <a:prstGeom prst="rect">
                <a:avLst/>
              </a:prstGeom>
              <a:blipFill>
                <a:blip r:embed="rId4"/>
                <a:stretch>
                  <a:fillRect l="-2116" r="-1911" b="-880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18_1#89685c5f8.bracket?vcp=1&amp;pid=50dc0efa8&amp;color=0,0,0&amp;vpa=7&amp;vtp=1&amp;bbb=1"/>
          <p:cNvSpPr/>
          <p:nvPr/>
        </p:nvSpPr>
        <p:spPr>
          <a:xfrm>
            <a:off x="3724560" y="2905792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7_3#89685c5f8.choices?htil=5&amp;vcp=1&amp;pid=50dc0efa8&amp;color=0,0,0&amp;vtp=1&amp;bbb=1"/>
              <p:cNvSpPr/>
              <p:nvPr/>
            </p:nvSpPr>
            <p:spPr>
              <a:xfrm>
                <a:off x="393192" y="3443128"/>
                <a:ext cx="893368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A.甲、乙两车的运动方向相反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时，甲、乙两车再次相遇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时，甲车在乙车的后方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内，甲车的平均速度小于乙车的平均速度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7_3#89685c5f8.choices?htil=5&amp;vcp=1&amp;pid=50dc0efa8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43128"/>
                <a:ext cx="8933688" cy="2155000"/>
              </a:xfrm>
              <a:prstGeom prst="rect">
                <a:avLst/>
              </a:prstGeom>
              <a:blipFill>
                <a:blip r:embed="rId5"/>
                <a:stretch>
                  <a:fillRect l="-2116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9_1#89685c5f8?vcp=1&amp;pid=50dc0efa8&amp;color=0,0,0&amp;vtp=1&amp;bt=1&amp;bbb=1&amp;hb=1"/>
              <p:cNvSpPr/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图像可知，二者的速度均为正值，即二者均向正方向运动，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甲、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乙两车的运动方向相同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，A错误；由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图线与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轴围成的“面积”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表示位移可知，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内，两车的位移不相等，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时甲、乙两车没有相遇，B错误；由于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刻两车位置相同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内，甲车的位移小于乙车的位移，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时甲车在乙车后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，甲车的平均速度小于乙车的平均速度，C、D正确.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9_1#89685c5f8?vcp=1&amp;pid=50dc0efa8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1016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0_1#ba04c5ade?vcp=1&amp;pid=50dc0efa8&amp;color=0,0,0&amp;vtp=1&amp;bt=1&amp;bbb=1&amp;hb=1"/>
              <p:cNvSpPr/>
              <p:nvPr/>
            </p:nvSpPr>
            <p:spPr>
              <a:xfrm>
                <a:off x="393192" y="504000"/>
                <a:ext cx="11402568" cy="29034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9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考点2、3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某段高速公路限速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.监控车辆是否超速的“电子警察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”系统如图所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，其工作原理是：路面下，距离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埋设两个传感器线圈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，当有车辆经过线圈正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上方时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，传感器能向数据采集器发出一个电信号；若有一辆汽车（看作质点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）经过该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路段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，两传感器先后向数据采集器发送信号，时间间隔为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，经微型计算机处理后得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出该车的速度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，若超速，则计算机将指令架设在路面上方的照相机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对汽车拍照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，留</a:t>
                </a:r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下违章证据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0_1#ba04c5ade?vcp=1&amp;pid=50dc0efa8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2903474"/>
              </a:xfrm>
              <a:prstGeom prst="rect">
                <a:avLst/>
              </a:prstGeom>
              <a:blipFill>
                <a:blip r:embed="rId3"/>
                <a:stretch>
                  <a:fillRect l="-1658" t="-630" r="-963" b="-630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1_1#ba04c5ade.bracket?vcp=1&amp;pid=50dc0efa8&amp;color=0,0,0&amp;vpa=8&amp;vtp=1"/>
          <p:cNvSpPr/>
          <p:nvPr/>
        </p:nvSpPr>
        <p:spPr>
          <a:xfrm>
            <a:off x="6949663" y="2965323"/>
            <a:ext cx="423863" cy="43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7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4_BD.20_2#ba04c5ade?htil=6&amp;vcp=1&amp;pid=50dc0efa8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96349" y="3453451"/>
            <a:ext cx="4325112" cy="1536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20_3#ba04c5ade.choices?htil=6&amp;vcp=1&amp;pid=50dc0efa8&amp;color=0,0,0&amp;vtp=1&amp;bbb=1&amp;hb=1"/>
              <p:cNvSpPr/>
              <p:nvPr/>
            </p:nvSpPr>
            <p:spPr>
              <a:xfrm>
                <a:off x="393192" y="3407729"/>
                <a:ext cx="6949440" cy="290144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9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，照相机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会拍照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=0.15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，照相机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会拍照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，汽车经过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线圈时的速度大小一定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=0.15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，汽车经过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线圈时的速度大小一定</a:t>
                </a:r>
              </a:p>
              <a:p>
                <a:pPr latinLnBrk="1">
                  <a:lnSpc>
                    <a:spcPts val="37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20_3#ba04c5ade.choices?htil=6&amp;vcp=1&amp;pid=50dc0efa8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07729"/>
                <a:ext cx="6949440" cy="2901442"/>
              </a:xfrm>
              <a:prstGeom prst="rect">
                <a:avLst/>
              </a:prstGeom>
              <a:blipFill>
                <a:blip r:embed="rId5"/>
                <a:stretch>
                  <a:fillRect l="-2719" t="-420" r="-1228" b="-651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2_1#ba04c5ade?vcp=1&amp;pid=50dc0efa8&amp;color=0,0,0&amp;vtp=1&amp;bt=1&amp;bbb=1&amp;hb=1"/>
              <p:cNvSpPr/>
              <p:nvPr/>
            </p:nvSpPr>
            <p:spPr>
              <a:xfrm>
                <a:off x="393192" y="1999266"/>
                <a:ext cx="11402568" cy="2231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𝐡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,照相机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不会拍照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𝐡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,照相机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会拍照，选项A错误，B正确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.根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据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𝑳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内的平均速度，并不表示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位置或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位置的瞬时速度,所以选项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C、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2_1#ba04c5ade?vcp=1&amp;pid=50dc0efa8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999266"/>
                <a:ext cx="11402568" cy="2231200"/>
              </a:xfrm>
              <a:prstGeom prst="rect">
                <a:avLst/>
              </a:prstGeom>
              <a:blipFill>
                <a:blip r:embed="rId3"/>
                <a:stretch>
                  <a:fillRect l="-1658" r="-1123" b="-792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01036c1b1?vcp=1&amp;pid=6ae01bd42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易错考点针对练</a:t>
            </a:r>
            <a:endParaRPr lang="en-US" altLang="zh-CN" sz="2600" dirty="0"/>
          </a:p>
        </p:txBody>
      </p:sp>
      <p:sp>
        <p:nvSpPr>
          <p:cNvPr id="3" name="P_4_BD#3dff01aab?vcp=1&amp;pid=01036c1b1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23_1#aab227ecb?vcp=1&amp;pid=01036c1b1&amp;color=0,0,0&amp;vtp=1&amp;bbb=1&amp;hb=1"/>
              <p:cNvSpPr/>
              <p:nvPr/>
            </p:nvSpPr>
            <p:spPr>
              <a:xfrm>
                <a:off x="393192" y="1649285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考点5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（2026·江西九江二中检测）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运动员（可看作质点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）参加跳板跳水比赛的速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度与时间的关系图像如图所示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是其向上起跳瞬间，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23_1#aab227ecb?vcp=1&amp;pid=01036c1b1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49285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1230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24_1#aab227ecb.bracket?vcp=1&amp;pid=01036c1b1&amp;color=0,0,0&amp;vpa=9&amp;vtp=1"/>
          <p:cNvSpPr/>
          <p:nvPr/>
        </p:nvSpPr>
        <p:spPr>
          <a:xfrm>
            <a:off x="10767219" y="219665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6" name="QC_4_BD.23_2#aab227ecb?vcp=1&amp;pid=01036c1b1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20056" y="2821305"/>
            <a:ext cx="2157984" cy="1691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23_3#aab227ecb.choices?vcp=1&amp;pid=01036c1b1&amp;color=0,0,0&amp;vtp=1&amp;bbb=1"/>
              <p:cNvSpPr/>
              <p:nvPr/>
            </p:nvSpPr>
            <p:spPr>
              <a:xfrm>
                <a:off x="393192" y="4650105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时刻开始进入水面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时刻到达最高点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时间内运动员始终向下运动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时刻已浮出水面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23_3#aab227ecb.choices?vcp=1&amp;pid=01036c1b1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650105"/>
                <a:ext cx="11402568" cy="1033399"/>
              </a:xfrm>
              <a:prstGeom prst="rect">
                <a:avLst/>
              </a:prstGeom>
              <a:blipFill>
                <a:blip r:embed="rId5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5_1#aab227ecb?vcp=1&amp;pid=01036c1b1&amp;color=0,0,0&amp;vtp=1&amp;bt=1&amp;bbb=1&amp;hb=1"/>
              <p:cNvSpPr/>
              <p:nvPr/>
            </p:nvSpPr>
            <p:spPr>
              <a:xfrm>
                <a:off x="393192" y="1835467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解析]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由速度—时间图像并结合题意可知，</a:t>
                </a:r>
                <a14:m>
                  <m:oMath xmlns:m="http://schemas.openxmlformats.org/officeDocument/2006/math"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时刻，运动员向上起跳</a:t>
                </a: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，说明速度是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负值时表示速度方向向上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pc="-5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时刻速度为0，到达最高点，A、B错误；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pc="-5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时刻运动员的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速度开始变小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，说明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pc="-5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时刻开始进入水中，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pc="-5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时刻，运动员的速度减为0</a:t>
                </a: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，此时人处于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水下最深处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，D错误；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pc="-5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1" i="1" spc="-5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时间内速度为正值，表示运动员始终向下运动，C正确.</a:t>
                </a:r>
                <a:endParaRPr lang="en-US" altLang="zh-CN" sz="2400" spc="-50" dirty="0"/>
              </a:p>
            </p:txBody>
          </p:sp>
        </mc:Choice>
        <mc:Fallback>
          <p:sp>
            <p:nvSpPr>
              <p:cNvPr id="2" name="QC_4_AS.25_1#aab227ecb?vcp=1&amp;pid=01036c1b1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35467"/>
                <a:ext cx="11402568" cy="2155000"/>
              </a:xfrm>
              <a:prstGeom prst="rect">
                <a:avLst/>
              </a:prstGeom>
              <a:blipFill>
                <a:blip r:embed="rId3"/>
                <a:stretch>
                  <a:fillRect l="-1658" r="-214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EX.26_1#aab227ecb?vcp=1&amp;pid=01036c1b1&amp;color=0,0,0&amp;vtp=1&amp;bt=1&amp;bbb=1">
                <a:extLst>
                  <a:ext uri="{FF2B5EF4-FFF2-40B4-BE49-F238E27FC236}">
                    <a16:creationId xmlns:a16="http://schemas.microsoft.com/office/drawing/2014/main" id="{39B3EAF7-05F4-5EE7-5D16-0797C86D482B}"/>
                  </a:ext>
                </a:extLst>
              </p:cNvPr>
              <p:cNvSpPr/>
              <p:nvPr/>
            </p:nvSpPr>
            <p:spPr>
              <a:xfrm>
                <a:off x="393192" y="3975164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易错分析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错误地认为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图像的拐点表示速度方向发生变化.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EX.26_1#aab227ecb?vcp=1&amp;pid=01036c1b1&amp;color=0,0,0&amp;vtp=1&amp;bt=1&amp;bbb=1">
                <a:extLst>
                  <a:ext uri="{FF2B5EF4-FFF2-40B4-BE49-F238E27FC236}">
                    <a16:creationId xmlns:a16="http://schemas.microsoft.com/office/drawing/2014/main" id="{39B3EAF7-05F4-5EE7-5D16-0797C86D48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75164"/>
                <a:ext cx="11402568" cy="1033399"/>
              </a:xfrm>
              <a:prstGeom prst="rect">
                <a:avLst/>
              </a:prstGeom>
              <a:blipFill>
                <a:blip r:embed="rId4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3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7_1#c068997e4?vcp=1&amp;pid=01036c1b1&amp;color=0,0,0&amp;vtp=1&amp;bt=1&amp;bbb=1&amp;hb=1"/>
              <p:cNvSpPr/>
              <p:nvPr/>
            </p:nvSpPr>
            <p:spPr>
              <a:xfrm>
                <a:off x="393192" y="1180910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考点2、3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（2026·山东师大附中检测）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一质点沿直线运动，它离开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点的位移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随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变化的关系为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=3+2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,它的速度随时间变化的关系为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=6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,则该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质点在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时的瞬时速度大小和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间的平均速度大小分别为(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7_1#c068997e4?vcp=1&amp;pid=01036c1b1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80910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588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8_1#c068997e4.bracket?vcp=1&amp;pid=01036c1b1&amp;color=0,0,0&amp;vpa=10&amp;vtp=1"/>
          <p:cNvSpPr/>
          <p:nvPr/>
        </p:nvSpPr>
        <p:spPr>
          <a:xfrm>
            <a:off x="10428510" y="2287080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27_2#c068997e4.choices?vcp=1&amp;pid=01036c1b1&amp;color=0,0,0&amp;vtp=1&amp;bbb=1"/>
              <p:cNvSpPr/>
              <p:nvPr/>
            </p:nvSpPr>
            <p:spPr>
              <a:xfrm>
                <a:off x="393192" y="2774505"/>
                <a:ext cx="11402568" cy="10274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27_2#c068997e4.choices?vcp=1&amp;pid=01036c1b1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774505"/>
                <a:ext cx="11402568" cy="1027430"/>
              </a:xfrm>
              <a:prstGeom prst="rect">
                <a:avLst/>
              </a:prstGeom>
              <a:blipFill>
                <a:blip r:embed="rId4"/>
                <a:stretch>
                  <a:fillRect l="-1658" b="-1834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29_1#c068997e4?vcp=1&amp;pid=01036c1b1&amp;color=0,0,0&amp;vtp=1&amp;bbb=1&amp;hb=1"/>
              <p:cNvSpPr/>
              <p:nvPr/>
            </p:nvSpPr>
            <p:spPr>
              <a:xfrm>
                <a:off x="393192" y="3814635"/>
                <a:ext cx="11402568" cy="1714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5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该质点在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时的瞬时速度大小为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，质点在</a:t>
                </a:r>
              </a:p>
              <a:p>
                <a:pPr latinLnBrk="1">
                  <a:lnSpc>
                    <a:spcPts val="45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，该质点在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</a:t>
                </a:r>
              </a:p>
              <a:p>
                <a:pPr latinLnBrk="1">
                  <a:lnSpc>
                    <a:spcPts val="4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平均速度大小为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𝟏𝟔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29_1#c068997e4?vcp=1&amp;pid=01036c1b1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814635"/>
                <a:ext cx="11402568" cy="1714500"/>
              </a:xfrm>
              <a:prstGeom prst="rect">
                <a:avLst/>
              </a:prstGeom>
              <a:blipFill>
                <a:blip r:embed="rId5"/>
                <a:stretch>
                  <a:fillRect l="-1658" r="-909" b="-60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EX.30_1#c068997e4?vcp=1&amp;pid=01036c1b1&amp;color=0,0,0&amp;vtp=1&amp;bt=1&amp;bbb=1&amp;hb=1"/>
              <p:cNvSpPr/>
              <p:nvPr/>
            </p:nvSpPr>
            <p:spPr>
              <a:xfrm>
                <a:off x="393192" y="2404872"/>
                <a:ext cx="11402568" cy="1676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易错分析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容易采用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ba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公式，将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分别代入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=6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而得出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ba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根源在于没有按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ba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Δ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的定义式计算.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EX.30_1#c068997e4?vcp=1&amp;pid=01036c1b1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404872"/>
                <a:ext cx="11402568" cy="1676400"/>
              </a:xfrm>
              <a:prstGeom prst="rect">
                <a:avLst/>
              </a:prstGeom>
              <a:blipFill>
                <a:blip r:embed="rId3"/>
                <a:stretch>
                  <a:fillRect l="-1658" b="-61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e209a989b?vcp=1&amp;pid=6ae01bd42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拓展考点突破练</a:t>
            </a:r>
            <a:endParaRPr lang="en-US" altLang="zh-CN" sz="2600" dirty="0"/>
          </a:p>
        </p:txBody>
      </p:sp>
      <p:sp>
        <p:nvSpPr>
          <p:cNvPr id="3" name="P_4_BD#74f04f492?vcp=1&amp;pid=e209a989b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pic>
        <p:nvPicPr>
          <p:cNvPr id="4" name="QO_4_BD.31_1#7b85b5f82?htil=7&amp;vcp=1&amp;pid=e209a989b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72594" y="1704149"/>
            <a:ext cx="1892808" cy="1810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4_BD.31_2#7b85b5f82?htil=7&amp;vcp=1&amp;pid=e209a989b&amp;color=0,0,0&amp;vtp=1&amp;bbb=1&amp;hb=1&amp;hs=1"/>
              <p:cNvSpPr/>
              <p:nvPr/>
            </p:nvSpPr>
            <p:spPr>
              <a:xfrm>
                <a:off x="393192" y="1649285"/>
                <a:ext cx="9372600" cy="21551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（复旦大学自主招生）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如图所示，在舞台上，甲、乙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、丙三位舞蹈演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员分别从边长为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的正三角形顶点A、B、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出发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，随舞曲节拍以平均速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运动，其舞蹈行进的规则为：以舞曲的若干节拍为单位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，在第一个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时间单位内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，她们始终保持甲朝乙、乙朝丙、丙朝甲运动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；在第二个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4_BD.31_2#7b85b5f82?htil=7&amp;vcp=1&amp;pid=e209a989b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49285"/>
                <a:ext cx="9372600" cy="2155190"/>
              </a:xfrm>
              <a:prstGeom prst="rect">
                <a:avLst/>
              </a:prstGeom>
              <a:blipFill>
                <a:blip r:embed="rId4"/>
                <a:stretch>
                  <a:fillRect l="-2017" r="-2017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O_4_BD.31_2#7b85b5f82?htil=7&amp;vcp=1&amp;pid=e209a989b&amp;color=0,0,0&amp;vtp=1&amp;bbb=1&amp;hb=1&amp;hs=1">
            <a:extLst>
              <a:ext uri="{FF2B5EF4-FFF2-40B4-BE49-F238E27FC236}">
                <a16:creationId xmlns:a16="http://schemas.microsoft.com/office/drawing/2014/main" id="{A0A52C97-EB63-6B12-C561-DEA6B2791A1C}"/>
              </a:ext>
            </a:extLst>
          </p:cNvPr>
          <p:cNvSpPr/>
          <p:nvPr/>
        </p:nvSpPr>
        <p:spPr>
          <a:xfrm>
            <a:off x="393192" y="3846195"/>
            <a:ext cx="1140000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时间单位内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，则始终保持甲朝丙、丙朝乙、乙朝甲运动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；若三位舞蹈演员一直以上述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方式交替运动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.试求: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1）经过多长时间她们三人相聚.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2）每位演员行进的路程.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4_AN.32_1#7b85b5f82?htil=8&amp;vcp=1&amp;pid=e209a989b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20480" y="645922"/>
            <a:ext cx="2020824" cy="1929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QO_4_AN.32_2#7b85b5f82?htil=8&amp;vcp=1&amp;pid=e209a989b&amp;color=0,0,0&amp;vtp=1&amp;bt=1&amp;bbb=1&amp;hb=1&amp;hs=1"/>
          <p:cNvSpPr/>
          <p:nvPr/>
        </p:nvSpPr>
        <p:spPr>
          <a:xfrm>
            <a:off x="393192" y="600202"/>
            <a:ext cx="9244584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[答案]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三人都做等速率曲线运动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，而且任意时刻三人的位置都分布在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一个正三角形的三个顶点上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，但这个正三角形的边长不断减小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，如图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所示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，要想求出三人相聚的时间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，则需用微元法将等速率曲线运动变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成等速率直线运动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，再用逆推法求解.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4_AN.32_3#7b85b5f82?vcp=1&amp;pid=e209a989b&amp;color=0,0,0&amp;vtp=1&amp;bbb=1&amp;hb=1&amp;hs=1"/>
              <p:cNvSpPr/>
              <p:nvPr/>
            </p:nvSpPr>
            <p:spPr>
              <a:xfrm>
                <a:off x="393192" y="2739898"/>
                <a:ext cx="11402568" cy="2870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设经过时间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三人相聚，再把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分成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个微小时间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,在每一个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内每人的运动可视为直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线运动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，每隔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,正三角形的边长分别变为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⋯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,显然当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时三人相聚.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ct val="150000"/>
                  </a:lnSpc>
                </a:pPr>
                <a:endParaRPr lang="en-US" altLang="zh-CN" sz="2400" dirty="0"/>
              </a:p>
            </p:txBody>
          </p:sp>
        </mc:Choice>
        <mc:Fallback>
          <p:sp>
            <p:nvSpPr>
              <p:cNvPr id="4" name="QO_4_AN.32_3#7b85b5f82?vcp=1&amp;pid=e209a989b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739898"/>
                <a:ext cx="11402568" cy="2870200"/>
              </a:xfrm>
              <a:prstGeom prst="rect">
                <a:avLst/>
              </a:prstGeom>
              <a:blipFill>
                <a:blip r:embed="rId4"/>
                <a:stretch>
                  <a:fillRect l="-1658" r="-3904" b="-382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AN.32_3#7b85b5f82?vcp=1&amp;pid=e209a989b&amp;color=0,0,0&amp;vtp=1&amp;bbb=1&amp;hb=1">
                <a:extLst>
                  <a:ext uri="{FF2B5EF4-FFF2-40B4-BE49-F238E27FC236}">
                    <a16:creationId xmlns:a16="http://schemas.microsoft.com/office/drawing/2014/main" id="{50CC58BE-FD93-5427-46AF-76AED1122360}"/>
                  </a:ext>
                </a:extLst>
              </p:cNvPr>
              <p:cNvSpPr/>
              <p:nvPr/>
            </p:nvSpPr>
            <p:spPr>
              <a:xfrm>
                <a:off x="393192" y="2083054"/>
                <a:ext cx="11402568" cy="2286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……</a:t>
                </a:r>
                <a:endParaRPr lang="en-US" altLang="zh-CN" sz="2400" dirty="0">
                  <a:latin typeface="SimSun" panose="02010600030101010101" pitchFamily="2" charset="-122"/>
                </a:endParaRP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,且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,所以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故演员跑过的路程为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AN.32_3#7b85b5f82?vcp=1&amp;pid=e209a989b&amp;color=0,0,0&amp;vtp=1&amp;bbb=1&amp;hb=1">
                <a:extLst>
                  <a:ext uri="{FF2B5EF4-FFF2-40B4-BE49-F238E27FC236}">
                    <a16:creationId xmlns:a16="http://schemas.microsoft.com/office/drawing/2014/main" id="{50CC58BE-FD93-5427-46AF-76AED11223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83054"/>
                <a:ext cx="11402568" cy="2286000"/>
              </a:xfrm>
              <a:prstGeom prst="rect">
                <a:avLst/>
              </a:prstGeom>
              <a:blipFill>
                <a:blip r:embed="rId2"/>
                <a:stretch>
                  <a:fillRect l="-1658" b="-453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6904333"/>
      </p:ext>
    </p:extLst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1487</Words>
  <Application>Microsoft Office PowerPoint</Application>
  <PresentationFormat>宽屏</PresentationFormat>
  <Paragraphs>161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2026-05-25T07:53:55Z</dcterms:created>
  <dcterms:modified xsi:type="dcterms:W3CDTF">2026-05-25T08:03:45Z</dcterms:modified>
  <cp:category/>
  <cp:contentStatus/>
</cp:coreProperties>
</file>