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94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8.xml"/><Relationship Id="rId5" Type="http://schemas.openxmlformats.org/officeDocument/2006/relationships/slide" Target="../slides/slide17.xml"/><Relationship Id="rId4" Type="http://schemas.openxmlformats.org/officeDocument/2006/relationships/slide" Target="../slides/slide1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8.xml"/><Relationship Id="rId5" Type="http://schemas.openxmlformats.org/officeDocument/2006/relationships/slide" Target="../slides/slide17.xml"/><Relationship Id="rId4" Type="http://schemas.openxmlformats.org/officeDocument/2006/relationships/slide" Target="../slides/slide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c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7572e80a0,7896092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b0737cd64&amp;amp;cid=b0737cd64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7a872684&amp;amp;cid=27a87268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f72c4c5ff&amp;amp;cid=f72c4c5ff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02c8915b9&amp;amp;cid=02c8915b9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f3720a804&amp;amp;cid=f3720a804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7c6eec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6?lid=1b9ceaf5d&amp;amp;cid=1b9ceaf5d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d339fa783&amp;amp;cid=d339fa783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147b9f05&amp;amp;cid=7147b9f0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6?lid=1e9a5a95b&amp;amp;cid=1e9a5a95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3c83a0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1?lid=6cab7e39d&amp;amp;cid=6cab7e39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7572e80a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疑难专题7 动态平衡问题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7572e80a0,789609293#df=7572e80a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疑难专题7 动态平衡问题</a:t>
            </a:r>
            <a:endParaRPr lang="en-US" sz="1800" dirty="0"/>
          </a:p>
        </p:txBody>
      </p:sp>
      <p:sp>
        <p:nvSpPr>
          <p:cNvPr id="5" name="C_0#auto_editor_catalog_0?lid=b0737cd64&amp;amp;cid=b0737cd64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7a872684&amp;amp;cid=27a87268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f72c4c5ff&amp;amp;cid=f72c4c5ff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02c8915b9&amp;amp;cid=02c8915b9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f3720a804&amp;amp;cid=f3720a804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7c6eec196#df=7572e80a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疑难专题7 动态平衡问题</a:t>
            </a:r>
            <a:endParaRPr lang="en-US" sz="1800" dirty="0"/>
          </a:p>
        </p:txBody>
      </p:sp>
      <p:sp>
        <p:nvSpPr>
          <p:cNvPr id="5" name="C_0#auto_editor_catalog_6?lid=1b9ceaf5d&amp;amp;cid=1b9ceaf5d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d339fa783&amp;amp;cid=d339fa783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147b9f05&amp;amp;cid=7147b9f0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6?lid=1e9a5a95b&amp;amp;cid=1e9a5a95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3c83a0d1#df=7572e80a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疑难专题7 动态平衡问题</a:t>
            </a:r>
            <a:endParaRPr lang="en-US" sz="1800" dirty="0"/>
          </a:p>
        </p:txBody>
      </p:sp>
      <p:sp>
        <p:nvSpPr>
          <p:cNvPr id="5" name="C_0#auto_editor_catalog_11?lid=6cab7e39d&amp;amp;cid=6cab7e39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7572e80a0.fixed?vcp=1&amp;pid=1273f42b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7572e80a0.fixed?vcp=1&amp;pid=1273f42b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疑难专题7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89609293?vcp=1&amp;pid=7572e80a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6b45bb747?vcp=1&amp;pid=78960929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_1#b0737cd64?htil=1&amp;vcp=1&amp;pid=78960929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9216" y="1645538"/>
            <a:ext cx="2048256" cy="190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2#b0737cd64?htil=1&amp;vcp=1&amp;pid=789609293&amp;color=0,0,0&amp;vtp=1&amp;bbb=1&amp;hb=1&amp;hs=1"/>
              <p:cNvSpPr/>
              <p:nvPr/>
            </p:nvSpPr>
            <p:spPr>
              <a:xfrm>
                <a:off x="393192" y="1590675"/>
                <a:ext cx="921715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如图所示，一细绳跨过光滑定滑轮，其一端悬挂物块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一端与地面上的物块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相连，系统处于静止状态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.现用水平向右的拉力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缓慢拉动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，直至悬挂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的细绳与竖直方向成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始终保持静止，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则在此过程中(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2#b0737cd64?htil=1&amp;vcp=1&amp;pid=78960929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217152" cy="2150999"/>
              </a:xfrm>
              <a:prstGeom prst="rect">
                <a:avLst/>
              </a:prstGeom>
              <a:blipFill>
                <a:blip r:embed="rId4"/>
                <a:stretch>
                  <a:fillRect l="-2050" r="-522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2_1#b0737cd64.bracket?vcp=1&amp;pid=789609293&amp;color=0,0,0&amp;vpa=1&amp;vtp=1"/>
          <p:cNvSpPr/>
          <p:nvPr/>
        </p:nvSpPr>
        <p:spPr>
          <a:xfrm>
            <a:off x="2454561" y="32556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b0737cd64.choices?vcp=1&amp;pid=789609293&amp;color=0,0,0&amp;vtp=1&amp;bbb=1&amp;hs=1"/>
              <p:cNvSpPr/>
              <p:nvPr/>
            </p:nvSpPr>
            <p:spPr>
              <a:xfrm>
                <a:off x="393192" y="37242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.水平拉力大小一直增大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所受细绳的拉力可能减小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所受地面的摩擦力先减小后增大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所受地面的支持力可能先增大后减小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b0737cd64.choices?vcp=1&amp;pid=78960929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4275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3_1#b0737cd64?htil=2&amp;vcp=1&amp;pid=78960929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6595" y="1138840"/>
            <a:ext cx="2331720" cy="25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3_2#b0737cd64?htil=2&amp;vcp=1&amp;pid=789609293&amp;color=0,0,0&amp;vtp=1&amp;bt=1&amp;bbb=1&amp;hb=1&amp;hs=1"/>
              <p:cNvSpPr/>
              <p:nvPr/>
            </p:nvSpPr>
            <p:spPr>
              <a:xfrm>
                <a:off x="393192" y="1093120"/>
                <a:ext cx="893368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的受力情况，并分别沿水平方向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、竖直方向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正交分解各力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，如图所示，对物块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,水平向右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缓慢拉动物块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增大，则细绳的拉力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一直增大，水平拉力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也一直增大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，A正确，B错误；对物块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3_2#b0737cd64?htil=2&amp;vcp=1&amp;pid=78960929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3120"/>
                <a:ext cx="8933688" cy="2713800"/>
              </a:xfrm>
              <a:prstGeom prst="rect">
                <a:avLst/>
              </a:prstGeom>
              <a:blipFill>
                <a:blip r:embed="rId4"/>
                <a:stretch>
                  <a:fillRect l="-2116" r="-47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3_2#b0737cd64?htil=2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1EA3BD46-A02D-55CF-A1EE-AA7D2DBF3F3C}"/>
                  </a:ext>
                </a:extLst>
              </p:cNvPr>
              <p:cNvSpPr/>
              <p:nvPr/>
            </p:nvSpPr>
            <p:spPr>
              <a:xfrm>
                <a:off x="395996" y="3806920"/>
                <a:ext cx="11400008" cy="1647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𝜶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所受地面的摩擦力一直增大，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所受地面的支持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力一直减小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3_2#b0737cd64?htil=2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1EA3BD46-A02D-55CF-A1EE-AA7D2DBF3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806920"/>
                <a:ext cx="11400008" cy="1647000"/>
              </a:xfrm>
              <a:prstGeom prst="rect">
                <a:avLst/>
              </a:prstGeom>
              <a:blipFill>
                <a:blip r:embed="rId5"/>
                <a:stretch>
                  <a:fillRect l="-1658" b="-107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27a872684?vcp=1&amp;pid=789609293&amp;color=0,0,0&amp;vtp=1&amp;bt=1&amp;bbb=1&amp;hb=1"/>
              <p:cNvSpPr/>
              <p:nvPr/>
            </p:nvSpPr>
            <p:spPr>
              <a:xfrm>
                <a:off x="393192" y="100996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，在粗糙水平地面上放着一个横截面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的曲线部分为四分之一圆弧的柱状物体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的左端紧靠竖直墙，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与竖直墙之间放一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光滑圆球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，整个装置处于静止状态.若把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向右移动少许后，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它们仍处于静止状态，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27a872684?vcp=1&amp;pid=7896092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996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27a872684.bracket?vcp=1&amp;pid=789609293&amp;color=0,0,0&amp;vpa=2&amp;vtp=1"/>
          <p:cNvSpPr/>
          <p:nvPr/>
        </p:nvSpPr>
        <p:spPr>
          <a:xfrm>
            <a:off x="930560" y="26749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4_2#27a872684?vcp=1&amp;pid=78960929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57216" y="3276663"/>
            <a:ext cx="1874520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27a872684.choices?vcp=1&amp;pid=789609293&amp;color=0,0,0&amp;vtp=1&amp;bbb=1"/>
              <p:cNvSpPr/>
              <p:nvPr/>
            </p:nvSpPr>
            <p:spPr>
              <a:xfrm>
                <a:off x="393192" y="480066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对墙的压力增大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之间的作用力增大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27a872684.choices?vcp=1&amp;pid=78960929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0066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6_1#27a872684?htil=3&amp;vcp=1&amp;pid=78960929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38535" y="1049876"/>
            <a:ext cx="3108960" cy="19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6_2#27a872684?htil=3&amp;vcp=1&amp;pid=789609293&amp;color=0,0,0&amp;vtp=1&amp;bt=1&amp;bbb=1&amp;hb=1&amp;hs=1"/>
              <p:cNvSpPr/>
              <p:nvPr/>
            </p:nvSpPr>
            <p:spPr>
              <a:xfrm>
                <a:off x="393192" y="1004158"/>
                <a:ext cx="8156448" cy="2176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和墙壁的压力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,如图甲所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，根据平衡条件可知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稍向右移动时，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减小，则墙壁对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6_2#27a872684?htil=3&amp;vcp=1&amp;pid=78960929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4158"/>
                <a:ext cx="8156448" cy="2176399"/>
              </a:xfrm>
              <a:prstGeom prst="rect">
                <a:avLst/>
              </a:prstGeom>
              <a:blipFill>
                <a:blip r:embed="rId4"/>
                <a:stretch>
                  <a:fillRect l="-2317" r="-1868" b="-84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6_2#27a872684?htil=3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E1C1CFD7-68A8-328A-2A47-68317FA194A5}"/>
                  </a:ext>
                </a:extLst>
              </p:cNvPr>
              <p:cNvSpPr/>
              <p:nvPr/>
            </p:nvSpPr>
            <p:spPr>
              <a:xfrm>
                <a:off x="393192" y="3169252"/>
                <a:ext cx="1140000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根据牛顿第三定律可知，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对墙壁的压力减小，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的压力减小，A、B错误.再对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水平方向受力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平衡，可得地面对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,故地面对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减小，C正确.以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，则地面对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的支持力与A、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的总重力等大反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，则地面对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，由牛顿第三定律可得，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对地面的压力不变，D错误.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6_2#27a872684?htil=3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E1C1CFD7-68A8-328A-2A47-68317FA19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69252"/>
                <a:ext cx="11400008" cy="2713800"/>
              </a:xfrm>
              <a:prstGeom prst="rect">
                <a:avLst/>
              </a:prstGeom>
              <a:blipFill>
                <a:blip r:embed="rId5"/>
                <a:stretch>
                  <a:fillRect l="-1658" r="-58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7_1#f72c4c5ff?htil=4&amp;vcp=1&amp;pid=78960929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69158" y="1049400"/>
            <a:ext cx="1152144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7_2#f72c4c5ff?htil=4&amp;vcp=1&amp;pid=789609293&amp;color=0,0,0&amp;vtp=1&amp;bt=1&amp;bbb=1&amp;hb=1&amp;hs=1"/>
              <p:cNvSpPr/>
              <p:nvPr/>
            </p:nvSpPr>
            <p:spPr>
              <a:xfrm>
                <a:off x="393192" y="1003681"/>
                <a:ext cx="10113264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某同学参加“筷子夹玻璃珠”游戏.如图所示,夹起玻璃珠后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,左侧筷子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为锐角,右侧筷子竖直,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且两筷子始终在同一竖直平面内.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保持玻璃珠静止不动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,且忽略筷子与玻璃珠间的摩擦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.左侧筷子对玻璃珠的弹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,右侧筷子对玻璃珠的弹力为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.若玻璃珠的重力为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,则下列说法正确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7_2#f72c4c5ff?htil=4&amp;vcp=1&amp;pid=78960929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3681"/>
                <a:ext cx="10113264" cy="2709799"/>
              </a:xfrm>
              <a:prstGeom prst="rect">
                <a:avLst/>
              </a:prstGeom>
              <a:blipFill>
                <a:blip r:embed="rId4"/>
                <a:stretch>
                  <a:fillRect l="-1869" r="-964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8_1#f72c4c5ff.bracket?vcp=1&amp;pid=789609293&amp;color=0,0,0&amp;vpa=3&amp;vtp=1"/>
          <p:cNvSpPr/>
          <p:nvPr/>
        </p:nvSpPr>
        <p:spPr>
          <a:xfrm>
            <a:off x="1235360" y="322745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f72c4c5ff.choices?vcp=1&amp;pid=789609293&amp;color=0,0,0&amp;vtp=1&amp;bbb=1&amp;hs=1"/>
              <p:cNvSpPr/>
              <p:nvPr/>
            </p:nvSpPr>
            <p:spPr>
              <a:xfrm>
                <a:off x="393192" y="368427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.保持右侧筷子竖直,玻璃珠仍静止,左侧筷子与竖直方向的夹角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略微减小,则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.保持右侧筷子竖直,玻璃珠仍静止,左侧筷子与竖直方向的夹角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略微减小,则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f72c4c5ff.choices?vcp=1&amp;pid=78960929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4270"/>
                <a:ext cx="11402568" cy="2150999"/>
              </a:xfrm>
              <a:prstGeom prst="rect">
                <a:avLst/>
              </a:prstGeom>
              <a:blipFill>
                <a:blip r:embed="rId5"/>
                <a:stretch>
                  <a:fillRect l="-165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f72c4c5ff?vcp=1&amp;pid=789609293&amp;color=0,0,0&amp;vtp=1&amp;bt=1&amp;bbb=1&amp;hb=1"/>
              <p:cNvSpPr/>
              <p:nvPr/>
            </p:nvSpPr>
            <p:spPr>
              <a:xfrm>
                <a:off x="393192" y="1158748"/>
                <a:ext cx="11402568" cy="2760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对玻璃珠进行受力分析，如图所示.受到重力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、左侧筷子对玻璃珠的弹力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右侧筷子对玻璃珠的弹力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，在三个力的作用下处于平衡状态.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根据力的平衡条件可知，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𝐜𝐨𝐭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，则一定有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，所以A、B错误；由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应增大，由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𝐜𝐨𝐭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应增大，所以C错误，D正确.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f72c4c5ff?vcp=1&amp;pid=7896092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8748"/>
                <a:ext cx="11402568" cy="2760599"/>
              </a:xfrm>
              <a:prstGeom prst="rect">
                <a:avLst/>
              </a:prstGeom>
              <a:blipFill>
                <a:blip r:embed="rId3"/>
                <a:stretch>
                  <a:fillRect l="-1658" r="-4225" b="-68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9_2#f72c4c5ff?vcp=1&amp;pid=78960929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0912" y="4035044"/>
            <a:ext cx="2176272" cy="16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02c8915b9?vcp=1&amp;pid=789609293&amp;color=0,0,0&amp;vtp=1&amp;bt=1&amp;bbb=1&amp;hb=1"/>
              <p:cNvSpPr/>
              <p:nvPr/>
            </p:nvSpPr>
            <p:spPr>
              <a:xfrm>
                <a:off x="393192" y="967772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如图所示，轻绳一端拴在天花板上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接一小球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，小球被放置在斜面上，已知轻绳与竖直方向的夹角为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，斜面倾角为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，所有接触面都是光滑的，在斜面上施加一水平外力，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使整个装置处于静止状态.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现水平向左缓慢移动斜面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，直至轻绳到达竖直位置，该过程中小球一直在斜面上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球视为质点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02c8915b9?vcp=1&amp;pid=7896092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7772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230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02c8915b9.bracket?vcp=1&amp;pid=789609293&amp;color=0,0,0&amp;vpa=4&amp;vtp=1"/>
          <p:cNvSpPr/>
          <p:nvPr/>
        </p:nvSpPr>
        <p:spPr>
          <a:xfrm>
            <a:off x="4677060" y="3191542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0_2#02c8915b9?htil=5&amp;vcp=1&amp;pid=78960929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0736" y="3771042"/>
            <a:ext cx="2212848" cy="177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0_3#02c8915b9.choices?htil=5&amp;vcp=1&amp;pid=789609293&amp;color=0,0,0&amp;vtp=1&amp;bbb=1"/>
          <p:cNvSpPr/>
          <p:nvPr/>
        </p:nvSpPr>
        <p:spPr>
          <a:xfrm>
            <a:off x="393192" y="3716178"/>
            <a:ext cx="9052560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A.斜面缓慢移动过程中，斜面对小球的支持力先减小后增大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.斜面缓慢移动过程中，轻绳对小球的拉力一直增大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.斜面缓慢移动过程中，施加在斜面上的水平外力一直增大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.斜面缓慢移动过程中，斜面对水平面的压力先减小后增大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2_1#02c8915b9?htil=6&amp;vcp=1&amp;pid=78960929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4253" y="1336897"/>
            <a:ext cx="1252728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2_2#02c8915b9?htil=6&amp;vcp=1&amp;pid=789609293&amp;color=0,0,0&amp;vtp=1&amp;bt=1&amp;bbb=1&amp;hb=1&amp;hs=1"/>
              <p:cNvSpPr/>
              <p:nvPr/>
            </p:nvSpPr>
            <p:spPr>
              <a:xfrm>
                <a:off x="393192" y="1291177"/>
                <a:ext cx="10012680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对小球受力分析，重力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、轻绳对它的拉力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、斜面对它的支持力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，这三个力构成的矢量三角形如图所示.斜面缓慢向左运动过程中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与竖直方向的夹角不断减小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，由图可看出，拉力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逐渐增大，支持力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，故A错误，B正确；利用整体法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，可知水平外力大小等于轻绳对小球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2_2#02c8915b9?htil=6&amp;vcp=1&amp;pid=78960929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1177"/>
                <a:ext cx="10012680" cy="2155000"/>
              </a:xfrm>
              <a:prstGeom prst="rect">
                <a:avLst/>
              </a:prstGeom>
              <a:blipFill>
                <a:blip r:embed="rId4"/>
                <a:stretch>
                  <a:fillRect l="-1888" r="-48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2_2#02c8915b9?htil=6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92130EF7-2CC8-360A-F06F-4613C6F0D3C7}"/>
                  </a:ext>
                </a:extLst>
              </p:cNvPr>
              <p:cNvSpPr/>
              <p:nvPr/>
            </p:nvSpPr>
            <p:spPr>
              <a:xfrm>
                <a:off x="393192" y="3430873"/>
                <a:ext cx="1140000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拉力的水平分力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，由图分析可知，拉力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沿水平方向的分力一直减小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，故施加在斜面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上的水平外力一直减小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，故C错误；由图分析可知，拉力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沿竖直方向的分力一直增大，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可知水平面对斜面的支持力一直减小，根据牛顿第三定律，可知斜面对水平面的压力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2_2#02c8915b9?htil=6&amp;vcp=1&amp;pid=789609293&amp;color=0,0,0&amp;vtp=1&amp;bt=1&amp;bbb=1&amp;hb=1&amp;hs=1">
                <a:extLst>
                  <a:ext uri="{FF2B5EF4-FFF2-40B4-BE49-F238E27FC236}">
                    <a16:creationId xmlns:a16="http://schemas.microsoft.com/office/drawing/2014/main" id="{92130EF7-2CC8-360A-F06F-4613C6F0D3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30873"/>
                <a:ext cx="11400008" cy="2155000"/>
              </a:xfrm>
              <a:prstGeom prst="rect">
                <a:avLst/>
              </a:prstGeom>
              <a:blipFill>
                <a:blip r:embed="rId5"/>
                <a:stretch>
                  <a:fillRect l="-1658" r="-411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f3720a804?vcp=1&amp;pid=789609293&amp;color=0,0,0&amp;vtp=1&amp;bt=1&amp;bbb=1&amp;hb=1"/>
              <p:cNvSpPr/>
              <p:nvPr/>
            </p:nvSpPr>
            <p:spPr>
              <a:xfrm>
                <a:off x="393192" y="100091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（多选题）如图所示，甲、乙两球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（均视为质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）用轻质细直杆连接，再用细线悬挂在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点处于静止状态，其中甲球的质量为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对两球的弹力沿着杆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，两球分别位于A、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两点，过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点的竖直线与A、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的连线的交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f3720a804?vcp=1&amp;pid=7896092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091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f3720a804.bracket?vcp=1&amp;pid=789609293&amp;color=0,0,0&amp;vpa=5&amp;vtp=1&amp;bbb=1"/>
          <p:cNvSpPr/>
          <p:nvPr/>
        </p:nvSpPr>
        <p:spPr>
          <a:xfrm>
            <a:off x="10434606" y="266588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4_BD.13_2#f3720a804?htil=7&amp;vcp=1&amp;pid=78960929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55444" y="3186335"/>
            <a:ext cx="2066544" cy="193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f3720a804.choices?htil=7&amp;vcp=1&amp;pid=789609293&amp;color=0,0,0&amp;vtp=1&amp;bbb=1&amp;hb=1"/>
              <p:cNvSpPr/>
              <p:nvPr/>
            </p:nvSpPr>
            <p:spPr>
              <a:xfrm>
                <a:off x="393192" y="3140615"/>
                <a:ext cx="9198864" cy="27171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A.乙球的质量为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.杆的弹力大小为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.若增大甲球的质量，乙球的质量不变，则稳定时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角变小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，则两细线对甲、乙的拉力大小之比为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f3720a804.choices?htil=7&amp;vcp=1&amp;pid=78960929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0615"/>
                <a:ext cx="9198864" cy="2717102"/>
              </a:xfrm>
              <a:prstGeom prst="rect">
                <a:avLst/>
              </a:prstGeom>
              <a:blipFill>
                <a:blip r:embed="rId5"/>
                <a:stretch>
                  <a:fillRect l="-2054" b="-69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5_1#f3720a804?htil=8&amp;vcp=1&amp;pid=78960929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89088" y="1124268"/>
            <a:ext cx="3264408" cy="265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AS.15_2#f3720a804?htil=8&amp;vcp=1&amp;pid=789609293&amp;color=0,0,0&amp;vtp=1&amp;bt=1&amp;bbb=1&amp;hb=1&amp;hs=1"/>
          <p:cNvSpPr/>
          <p:nvPr/>
        </p:nvSpPr>
        <p:spPr>
          <a:xfrm>
            <a:off x="393192" y="1078548"/>
            <a:ext cx="8010144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根据题意，对两小球进行受力分析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，作出力的矢量三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角形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，如图所示.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5_3#f3720a804?htil=8&amp;vcp=1&amp;pid=789609293&amp;color=0,0,0&amp;vtp=1&amp;bbb=1&amp;hb=1&amp;hs=1"/>
              <p:cNvSpPr/>
              <p:nvPr/>
            </p:nvSpPr>
            <p:spPr>
              <a:xfrm>
                <a:off x="393192" y="2124774"/>
                <a:ext cx="8010144" cy="1748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利用相似三角形对应边成比例有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𝐍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𝑶𝑪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𝐍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𝑶𝑪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，A错误，B正确；若增大甲球的质量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，乙球的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5_3#f3720a804?htil=8&amp;vcp=1&amp;pid=78960929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4774"/>
                <a:ext cx="8010144" cy="1748600"/>
              </a:xfrm>
              <a:prstGeom prst="rect">
                <a:avLst/>
              </a:prstGeom>
              <a:blipFill>
                <a:blip r:embed="rId4"/>
                <a:stretch>
                  <a:fillRect l="-2359" b="-104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5_3#f3720a804?htil=8&amp;vcp=1&amp;pid=789609293&amp;color=0,0,0&amp;vtp=1&amp;bbb=1&amp;hb=1&amp;hs=1">
                <a:extLst>
                  <a:ext uri="{FF2B5EF4-FFF2-40B4-BE49-F238E27FC236}">
                    <a16:creationId xmlns:a16="http://schemas.microsoft.com/office/drawing/2014/main" id="{3F30EED4-6A0E-5C35-F0A2-AD2AF020581F}"/>
                  </a:ext>
                </a:extLst>
              </p:cNvPr>
              <p:cNvSpPr/>
              <p:nvPr/>
            </p:nvSpPr>
            <p:spPr>
              <a:xfrm>
                <a:off x="393192" y="3883342"/>
                <a:ext cx="11400008" cy="175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，则甲、乙两球和杆整体的重心将向左移，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稳定时，整体的重心一定在悬点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的正下方，甲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、乙两球和杆整体向右移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与竖直方向的夹角将变小，C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由相似三角形有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𝑶𝑪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𝑶𝑩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𝑶𝑪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5_3#f3720a804?htil=8&amp;vcp=1&amp;pid=789609293&amp;color=0,0,0&amp;vtp=1&amp;bbb=1&amp;hb=1&amp;hs=1">
                <a:extLst>
                  <a:ext uri="{FF2B5EF4-FFF2-40B4-BE49-F238E27FC236}">
                    <a16:creationId xmlns:a16="http://schemas.microsoft.com/office/drawing/2014/main" id="{3F30EED4-6A0E-5C35-F0A2-AD2AF0205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83342"/>
                <a:ext cx="11400008" cy="1752600"/>
              </a:xfrm>
              <a:prstGeom prst="rect">
                <a:avLst/>
              </a:prstGeom>
              <a:blipFill>
                <a:blip r:embed="rId5"/>
                <a:stretch>
                  <a:fillRect l="-1658" r="-535" b="-31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c6eec196?vcp=1&amp;pid=7572e80a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2af406eab?vcp=1&amp;pid=7c6eec196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6_1#1b9ceaf5d?vcp=1&amp;pid=7c6eec196&amp;color=0,0,0&amp;vtp=1&amp;bbb=1&amp;hb=1"/>
              <p:cNvSpPr/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沿轴线方向切除一部分后的圆柱形材料水平放置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，该材料的横截面如图所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为其圆心，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𝐴𝑂𝐵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的均匀圆柱形木棒沿轴线方向放置在“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V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”形槽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.初始时，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三点在同一水平线上，不计一切摩擦，重力加速度为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.在材料绕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轴线逆时针缓慢转过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角的过程中，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6_1#1b9ceaf5d?vcp=1&amp;pid=7c6eec19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23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7_1#1b9ceaf5d.bracket?vcp=1&amp;pid=7c6eec196&amp;color=0,0,0&amp;vpa=6&amp;vtp=1"/>
          <p:cNvSpPr/>
          <p:nvPr/>
        </p:nvSpPr>
        <p:spPr>
          <a:xfrm>
            <a:off x="8236172" y="33142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16_2#1b9ceaf5d?htil=9&amp;vcp=1&amp;pid=7c6eec19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4494" y="3924935"/>
            <a:ext cx="1965960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6_3#1b9ceaf5d.choices?htil=9&amp;vcp=1&amp;pid=7c6eec196&amp;color=0,0,0&amp;vtp=1&amp;bbb=1"/>
              <p:cNvSpPr/>
              <p:nvPr/>
            </p:nvSpPr>
            <p:spPr>
              <a:xfrm>
                <a:off x="393192" y="3787775"/>
                <a:ext cx="9299448" cy="2243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A.槽面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对木棒的弹力的最大值为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.槽面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对木棒的弹力先增大后减小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.槽面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对木棒的弹力一直增大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.槽面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与槽面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对木棒弹力的合力先减小后增大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6_3#1b9ceaf5d.choices?htil=9&amp;vcp=1&amp;pid=7c6eec19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7775"/>
                <a:ext cx="9299448" cy="2243900"/>
              </a:xfrm>
              <a:prstGeom prst="rect">
                <a:avLst/>
              </a:prstGeom>
              <a:blipFill>
                <a:blip r:embed="rId5"/>
                <a:stretch>
                  <a:fillRect l="-2033" b="-81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8_1#1b9ceaf5d?htil=10&amp;vcp=1&amp;pid=7c6eec196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9905" y="1013301"/>
            <a:ext cx="1563624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8_2#1b9ceaf5d?htil=10&amp;vcp=1&amp;pid=7c6eec196&amp;color=0,0,0&amp;vtp=1&amp;bt=1&amp;bbb=1&amp;hb=1&amp;hs=1"/>
              <p:cNvSpPr/>
              <p:nvPr/>
            </p:nvSpPr>
            <p:spPr>
              <a:xfrm>
                <a:off x="393192" y="967582"/>
                <a:ext cx="9701784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对均匀圆柱形木棒受力分析，由共点力平衡的条件可知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构成封闭的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矢量三角形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，由于在转动过程中两弹力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，作出辅助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圆如图所示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，可知在材料由题图所示位置逆时针缓慢转过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8_2#1b9ceaf5d?htil=10&amp;vcp=1&amp;pid=7c6eec196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7582"/>
                <a:ext cx="9701784" cy="2150999"/>
              </a:xfrm>
              <a:prstGeom prst="rect">
                <a:avLst/>
              </a:prstGeom>
              <a:blipFill>
                <a:blip r:embed="rId4"/>
                <a:stretch>
                  <a:fillRect l="-1948" r="-270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8_2#1b9ceaf5d?htil=10&amp;vcp=1&amp;pid=7c6eec196&amp;color=0,0,0&amp;vtp=1&amp;bt=1&amp;bbb=1&amp;hb=1&amp;hs=1">
                <a:extLst>
                  <a:ext uri="{FF2B5EF4-FFF2-40B4-BE49-F238E27FC236}">
                    <a16:creationId xmlns:a16="http://schemas.microsoft.com/office/drawing/2014/main" id="{2FD3E072-1CE2-0B8D-3A17-BEEB7B4CBC48}"/>
                  </a:ext>
                </a:extLst>
              </p:cNvPr>
              <p:cNvSpPr/>
              <p:nvPr/>
            </p:nvSpPr>
            <p:spPr>
              <a:xfrm>
                <a:off x="395996" y="3107277"/>
                <a:ext cx="11400008" cy="2802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由竖直方向到水平方向（点拨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：逆时针转动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），先增大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与辅助圆的直径重合时，有最大值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，最大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一直增大，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，B、C错误.槽面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与槽面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对木棒弹力的合力大小始终等于木棒的重力，合力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8_2#1b9ceaf5d?htil=10&amp;vcp=1&amp;pid=7c6eec196&amp;color=0,0,0&amp;vtp=1&amp;bt=1&amp;bbb=1&amp;hb=1&amp;hs=1">
                <a:extLst>
                  <a:ext uri="{FF2B5EF4-FFF2-40B4-BE49-F238E27FC236}">
                    <a16:creationId xmlns:a16="http://schemas.microsoft.com/office/drawing/2014/main" id="{2FD3E072-1CE2-0B8D-3A17-BEEB7B4CBC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107277"/>
                <a:ext cx="11400008" cy="2802700"/>
              </a:xfrm>
              <a:prstGeom prst="rect">
                <a:avLst/>
              </a:prstGeom>
              <a:blipFill>
                <a:blip r:embed="rId5"/>
                <a:stretch>
                  <a:fillRect l="-1658" b="-65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9_1#d339fa783?htil=11&amp;vcp=1&amp;pid=7c6eec196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42805" y="792955"/>
            <a:ext cx="1143000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9_2#d339fa783?htil=11&amp;vcp=1&amp;pid=7c6eec196&amp;color=0,0,0&amp;vtp=1&amp;bt=1&amp;bbb=1&amp;hb=1&amp;hs=1"/>
              <p:cNvSpPr/>
              <p:nvPr/>
            </p:nvSpPr>
            <p:spPr>
              <a:xfrm>
                <a:off x="393192" y="747236"/>
                <a:ext cx="1012240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（2026·河南郑州外国语学校检测）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如图所示，光滑直杆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点由铰链固定，两杆间夹角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，在两杆上分别套上质量相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等的小环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，两小环由不可伸长的轻绳连接，初始时，杆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慢顺时针转动两杆至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则在转动过程中(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9_2#d339fa783?htil=11&amp;vcp=1&amp;pid=7c6eec196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7236"/>
                <a:ext cx="10122408" cy="2150999"/>
              </a:xfrm>
              <a:prstGeom prst="rect">
                <a:avLst/>
              </a:prstGeom>
              <a:blipFill>
                <a:blip r:embed="rId4"/>
                <a:stretch>
                  <a:fillRect l="-1867" r="-181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20_1#d339fa783.bracket?vcp=1&amp;pid=7c6eec196&amp;color=0,0,0&amp;vpa=7&amp;vtp=1"/>
          <p:cNvSpPr/>
          <p:nvPr/>
        </p:nvSpPr>
        <p:spPr>
          <a:xfrm>
            <a:off x="6831553" y="241220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d339fa783.choices?htil=11&amp;vcp=1&amp;pid=7c6eec196&amp;color=0,0,0&amp;vtp=1&amp;bbb=1&amp;hs=1"/>
              <p:cNvSpPr/>
              <p:nvPr/>
            </p:nvSpPr>
            <p:spPr>
              <a:xfrm>
                <a:off x="393192" y="287918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A.杆对环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的弹力先变大后变小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.杆对环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的弹力一直变大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.杆对环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的弹力一直变大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.杆对环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的弹力先变小后变大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d339fa783.choices?htil=11&amp;vcp=1&amp;pid=7c6eec196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79185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AS.21_1#d339fa783?htil=12&amp;vcp=1&amp;pid=7c6eec196&amp;color=0,0,0&amp;tib=255,255,255&amp;vtp=1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94392" y="3965035"/>
            <a:ext cx="1783080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21_2#d339fa783?htil=12&amp;vcp=1&amp;pid=7c6eec196&amp;color=0,0,0&amp;vtp=1&amp;bbb=1&amp;hb=1"/>
              <p:cNvSpPr/>
              <p:nvPr/>
            </p:nvSpPr>
            <p:spPr>
              <a:xfrm>
                <a:off x="393192" y="3919315"/>
                <a:ext cx="948232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对两环和绳整体受力分析，作力的矢量三角形如图所示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，缓慢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顺时针转动两杆至杆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竖直，可知在转动过程中，初始时杆对环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弹力最小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逐渐增大到辅助圆的直径时，杆对环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杆对环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的弹力全过程一直变大，杆对环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的弹力一直变小，故C正确.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21_2#d339fa783?htil=12&amp;vcp=1&amp;pid=7c6eec19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19315"/>
                <a:ext cx="9482328" cy="2155000"/>
              </a:xfrm>
              <a:prstGeom prst="rect">
                <a:avLst/>
              </a:prstGeom>
              <a:blipFill>
                <a:blip r:embed="rId7"/>
                <a:stretch>
                  <a:fillRect l="-1994" r="-20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EX.22_1#d339fa783?vcp=1&amp;pid=7c6eec196&amp;color=0,0,0&amp;vtp=1&amp;bt=1&amp;bbb=1&amp;hb=1"/>
          <p:cNvSpPr/>
          <p:nvPr/>
        </p:nvSpPr>
        <p:spPr>
          <a:xfrm>
            <a:off x="393192" y="235467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方法技巧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三力动态平衡问题中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，三个力中有一个力恒定，另外两个力大小、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方向不确定，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但这两个力的夹角确定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，可根据两个力的夹角不变，利用同弧所对的圆周角相等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，画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出动态矢量三角形的外接圆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，通过三角形分析未知力的变化情况.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23_1#7147b9f05?htil=13&amp;vcp=1&amp;pid=7c6eec196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6724" y="713548"/>
            <a:ext cx="1088136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23_2#7147b9f05?htil=13&amp;vcp=1&amp;pid=7c6eec196&amp;color=0,0,0&amp;vtp=1&amp;bt=1&amp;bbb=1&amp;hb=1&amp;hs=1"/>
              <p:cNvSpPr/>
              <p:nvPr/>
            </p:nvSpPr>
            <p:spPr>
              <a:xfrm>
                <a:off x="393192" y="667829"/>
                <a:ext cx="10186416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如图所示，在竖直放置的穹形光滑支架上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，一根不可伸长的轻绳通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过光滑的轻质滑轮悬挂一重物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.现将轻绳的一端固定于支架上的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点沿支架缓慢地向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点靠近.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则绳中拉力大小变化的情况是(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23_2#7147b9f05?htil=13&amp;vcp=1&amp;pid=7c6eec196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67829"/>
                <a:ext cx="10186416" cy="1592199"/>
              </a:xfrm>
              <a:prstGeom prst="rect">
                <a:avLst/>
              </a:prstGeom>
              <a:blipFill>
                <a:blip r:embed="rId4"/>
                <a:stretch>
                  <a:fillRect l="-1855" r="-131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24_1#7147b9f05.bracket?vcp=1&amp;pid=7c6eec196&amp;color=0,0,0&amp;vpa=8&amp;vtp=1"/>
          <p:cNvSpPr/>
          <p:nvPr/>
        </p:nvSpPr>
        <p:spPr>
          <a:xfrm>
            <a:off x="9030939" y="177399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5" name="QC_4_BD.23_3#7147b9f05.choices?htil=13&amp;vcp=1&amp;pid=7c6eec196&amp;color=0,0,0&amp;vtp=1&amp;bbb=1&amp;hs=1"/>
          <p:cNvSpPr/>
          <p:nvPr/>
        </p:nvSpPr>
        <p:spPr>
          <a:xfrm>
            <a:off x="395996" y="2251138"/>
            <a:ext cx="1140000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613279" algn="l"/>
                <a:tab pos="5201158" algn="l"/>
                <a:tab pos="7789037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.先变小后变大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B.先变小后不变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C.先变大后不变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.先变大后变小</a:t>
            </a:r>
            <a:endParaRPr lang="en-US" altLang="zh-CN" sz="2400" dirty="0"/>
          </a:p>
        </p:txBody>
      </p:sp>
      <p:pic>
        <p:nvPicPr>
          <p:cNvPr id="6" name="QC_4_AS.25_1#7147b9f05?htil=14&amp;vcp=1&amp;pid=7c6eec196&amp;color=0,0,0&amp;tib=255,255,255&amp;vtp=1&amp;hs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71632" y="2790252"/>
            <a:ext cx="1005840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25_2#7147b9f05?htil=14&amp;vcp=1&amp;pid=7c6eec196&amp;color=0,0,0&amp;vtp=1&amp;bbb=1&amp;hb=1&amp;hs=1"/>
              <p:cNvSpPr/>
              <p:nvPr/>
            </p:nvSpPr>
            <p:spPr>
              <a:xfrm>
                <a:off x="393192" y="2744533"/>
                <a:ext cx="10268712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如图所示，设绳长为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，滑轮左边绳长为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,对应水平距离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，滑轮右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边绳长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,对应水平距离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，两点水平距离为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，由滑轮两边绳长受力的对称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性可知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，两边绳与竖直方向的夹角相等，设为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，受力分析得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，绳长拉力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25_2#7147b9f05?htil=14&amp;vcp=1&amp;pid=7c6eec196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44533"/>
                <a:ext cx="10268712" cy="1592199"/>
              </a:xfrm>
              <a:prstGeom prst="rect">
                <a:avLst/>
              </a:prstGeom>
              <a:blipFill>
                <a:blip r:embed="rId6"/>
                <a:stretch>
                  <a:fillRect l="-1841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AS.25_2#7147b9f05?htil=14&amp;vcp=1&amp;pid=7c6eec196&amp;color=0,0,0&amp;vtp=1&amp;bbb=1&amp;hb=1&amp;hs=1">
                <a:extLst>
                  <a:ext uri="{FF2B5EF4-FFF2-40B4-BE49-F238E27FC236}">
                    <a16:creationId xmlns:a16="http://schemas.microsoft.com/office/drawing/2014/main" id="{7847F1BB-97AE-7A79-C42E-7A4C95309748}"/>
                  </a:ext>
                </a:extLst>
              </p:cNvPr>
              <p:cNvSpPr/>
              <p:nvPr/>
            </p:nvSpPr>
            <p:spPr>
              <a:xfrm>
                <a:off x="395996" y="4332034"/>
                <a:ext cx="11400008" cy="1701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,又因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,另一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点移动到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点的过程中，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先增大后不变，故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先增大后不变，由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知，拉力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先变大后不变，故选C.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AS.25_2#7147b9f05?htil=14&amp;vcp=1&amp;pid=7c6eec196&amp;color=0,0,0&amp;vtp=1&amp;bbb=1&amp;hb=1&amp;hs=1">
                <a:extLst>
                  <a:ext uri="{FF2B5EF4-FFF2-40B4-BE49-F238E27FC236}">
                    <a16:creationId xmlns:a16="http://schemas.microsoft.com/office/drawing/2014/main" id="{7847F1BB-97AE-7A79-C42E-7A4C953097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332034"/>
                <a:ext cx="11400008" cy="1701800"/>
              </a:xfrm>
              <a:prstGeom prst="rect">
                <a:avLst/>
              </a:prstGeom>
              <a:blipFill>
                <a:blip r:embed="rId7"/>
                <a:stretch>
                  <a:fillRect l="-1658" b="-60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  <p:bldP spid="8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6_1#1e9a5a95b?vcp=1&amp;pid=7c6eec196&amp;color=0,0,0&amp;vtp=1&amp;bt=1&amp;bbb=1&amp;hb=1"/>
              <p:cNvSpPr/>
              <p:nvPr/>
            </p:nvSpPr>
            <p:spPr>
              <a:xfrm>
                <a:off x="393192" y="1531113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甲、乙两同学用如图所示的方法将带挂钩的重物抬起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.不可伸长的轻绳两端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分别固定于刚性直杆上的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两点，轻绳长度大于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两点间的距离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.现将挂钩挂在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轻绳上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，乙站直后将杆的一端搭在肩上并保持不动，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甲蹲下后将杆的另一端搭在肩上，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此时重物刚要离开地面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，然后甲缓慢站起至站直.若甲、乙站直后肩膀高度相同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挂钩与绳之间的摩擦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.在甲缓慢站起至站直的过程中，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6_1#1e9a5a95b?vcp=1&amp;pid=7c6eec19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1113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3209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7_1#1e9a5a95b.bracket?vcp=1&amp;pid=7c6eec196&amp;color=0,0,0&amp;vpa=9&amp;vtp=1"/>
          <p:cNvSpPr/>
          <p:nvPr/>
        </p:nvSpPr>
        <p:spPr>
          <a:xfrm>
            <a:off x="10150761" y="375488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26_2#1e9a5a95b?htil=15&amp;vcp=1&amp;pid=7c6eec19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2157" y="4334383"/>
            <a:ext cx="2706624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26_3#1e9a5a95b.choices?htil=15&amp;vcp=1&amp;pid=7c6eec196&amp;color=0,0,0&amp;vtp=1&amp;bbb=1"/>
          <p:cNvSpPr/>
          <p:nvPr/>
        </p:nvSpPr>
        <p:spPr>
          <a:xfrm>
            <a:off x="393192" y="4279519"/>
            <a:ext cx="8558784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4387342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.轻绳的张力一直变大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.轻绳的张力一直变小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4387342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C.轻绳的张力先变大后变小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.轻绳对挂钩的合力一直变大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8_1#1e9a5a95b?vcp=1&amp;pid=7c6eec196&amp;color=0,0,0&amp;vtp=1&amp;bt=1&amp;bbb=1&amp;hb=1"/>
              <p:cNvSpPr/>
              <p:nvPr/>
            </p:nvSpPr>
            <p:spPr>
              <a:xfrm>
                <a:off x="393192" y="1716659"/>
                <a:ext cx="11402568" cy="345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设挂钩两侧轻绳的夹角为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，轻绳上的张力大小为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,则由共点力的平衡可得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𝜽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,则当甲缓慢站起至站直的过程中，轻绳间的夹角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变大，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变小，则轻绳的张力变大；甲、乙站直后肩膀高度相同，当甲站直时，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杆水平，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轻绳间夹角最大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，轻绳的张力最大，所以轻绳的张力大小一直变大，故A正确，B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、C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.把挂钩与重物看成一个整体，它们一直保持动态平衡状态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，所以轻绳对挂钩和重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物的作用力大小等于挂钩和重物的重力大小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，轻绳对挂钩的作用力不变，故D错误.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8_1#1e9a5a95b?vcp=1&amp;pid=7c6eec19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16659"/>
                <a:ext cx="11402568" cy="3450400"/>
              </a:xfrm>
              <a:prstGeom prst="rect">
                <a:avLst/>
              </a:prstGeom>
              <a:blipFill>
                <a:blip r:embed="rId3"/>
                <a:stretch>
                  <a:fillRect l="-1658" r="-1551" b="-51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3c83a0d1?vcp=1&amp;pid=7572e80a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e6abccd83?vcp=1&amp;pid=53c83a0d1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O_4_BD.29_1#6cab7e39d?htil=16&amp;vcp=1&amp;pid=53c83a0d1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50826" y="1645539"/>
            <a:ext cx="1773936" cy="160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4_BD.29_2#6cab7e39d?htil=16&amp;vcp=1&amp;pid=53c83a0d1&amp;color=0,0,0&amp;vtp=1&amp;bbb=1&amp;hb=1&amp;hs=1"/>
              <p:cNvSpPr/>
              <p:nvPr/>
            </p:nvSpPr>
            <p:spPr>
              <a:xfrm>
                <a:off x="393192" y="1590675"/>
                <a:ext cx="9491472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（2026·湖北黄冈中学强基训练）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如图所示，半径为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的光滑刚性球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固定在水平桌面上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的均匀弹性细绳圈呈圆环状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，原长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,细绳圈的劲度系数为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（当绳伸长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时，弹性张力大小为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𝑘𝑠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）.已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𝑅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,将绳圈从球的正上方轻放到球上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，用手扶着绳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4_BD.29_2#6cab7e39d?htil=16&amp;vcp=1&amp;pid=53c83a0d1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491472" cy="2235200"/>
              </a:xfrm>
              <a:prstGeom prst="rect">
                <a:avLst/>
              </a:prstGeom>
              <a:blipFill>
                <a:blip r:embed="rId4"/>
                <a:stretch>
                  <a:fillRect l="-1991" r="-1092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4_BD.29_2#6cab7e39d?htil=16&amp;vcp=1&amp;pid=53c83a0d1&amp;color=0,0,0&amp;vtp=1&amp;bbb=1&amp;hb=1&amp;hs=1">
                <a:extLst>
                  <a:ext uri="{FF2B5EF4-FFF2-40B4-BE49-F238E27FC236}">
                    <a16:creationId xmlns:a16="http://schemas.microsoft.com/office/drawing/2014/main" id="{4DCED84C-2821-A3EF-29AF-BF1135016F09}"/>
                  </a:ext>
                </a:extLst>
              </p:cNvPr>
              <p:cNvSpPr/>
              <p:nvPr/>
            </p:nvSpPr>
            <p:spPr>
              <a:xfrm>
                <a:off x="393192" y="3830574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圈使其所在平面保持水平并最后停留在某个平衡位置，平衡时绳圈上任意一点与竖直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.（当夹角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极小时，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4_BD.29_2#6cab7e39d?htil=16&amp;vcp=1&amp;pid=53c83a0d1&amp;color=0,0,0&amp;vtp=1&amp;bbb=1&amp;hb=1&amp;hs=1">
                <a:extLst>
                  <a:ext uri="{FF2B5EF4-FFF2-40B4-BE49-F238E27FC236}">
                    <a16:creationId xmlns:a16="http://schemas.microsoft.com/office/drawing/2014/main" id="{4DCED84C-2821-A3EF-29AF-BF1135016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30574"/>
                <a:ext cx="11400008" cy="1033399"/>
              </a:xfrm>
              <a:prstGeom prst="rect">
                <a:avLst/>
              </a:prstGeom>
              <a:blipFill>
                <a:blip r:embed="rId5"/>
                <a:stretch>
                  <a:fillRect l="-1658" r="-535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30_1#6cab7e39d?vcp=1&amp;pid=53c83a0d1&amp;color=0,0,0&amp;vtp=1&amp;bt=1&amp;bbb=1&amp;hb=1"/>
              <p:cNvSpPr/>
              <p:nvPr/>
            </p:nvSpPr>
            <p:spPr>
              <a:xfrm>
                <a:off x="393192" y="1053084"/>
                <a:ext cx="11402568" cy="220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绳圈的俯视图如图所示，取圆心角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𝝋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所对应绳圈上的一段长为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𝝋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的一小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，其重力大小为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𝝋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,方向竖直向下，张力大小为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，则这一小段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所受张力的合力大小为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𝝋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𝝋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𝝋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,方向在绳圈平面内指向绳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圈的中心垂直于球面方向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，这一小段受球面的支持力大小为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，方向沿球的半径向外.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30_1#6cab7e39d?vcp=1&amp;pid=53c83a0d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53084"/>
                <a:ext cx="11402568" cy="2205800"/>
              </a:xfrm>
              <a:prstGeom prst="rect">
                <a:avLst/>
              </a:prstGeom>
              <a:blipFill>
                <a:blip r:embed="rId3"/>
                <a:stretch>
                  <a:fillRect l="-1658" r="-588" b="-80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N.30_2#6cab7e39d?vcp=1&amp;pid=53c83a0d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93792" y="3389249"/>
            <a:ext cx="1810512" cy="200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31_1#81de44067?vcp=1&amp;pid=6cab7e39d&amp;color=0,0,0&amp;vtp=1&amp;bt=1&amp;bbb=1"/>
              <p:cNvSpPr/>
              <p:nvPr/>
            </p:nvSpPr>
            <p:spPr>
              <a:xfrm>
                <a:off x="393192" y="1835690"/>
                <a:ext cx="11402568" cy="52565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（1）若平衡时绳圈长为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,求劲度系数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31_1#81de44067?vcp=1&amp;pid=6cab7e39d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5690"/>
                <a:ext cx="11402568" cy="525653"/>
              </a:xfrm>
              <a:prstGeom prst="rect">
                <a:avLst/>
              </a:prstGeom>
              <a:blipFill>
                <a:blip r:embed="rId3"/>
                <a:stretch>
                  <a:fillRect l="-1658" b="-348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2_1#81de44067?vcp=1&amp;pid=6cab7e39d&amp;color=0,0,0&amp;vtp=1&amp;bbb=1&amp;hb=1"/>
              <p:cNvSpPr/>
              <p:nvPr/>
            </p:nvSpPr>
            <p:spPr>
              <a:xfrm>
                <a:off x="393192" y="2373281"/>
                <a:ext cx="11402568" cy="241427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对选取的一小段绳，由沿球面经线切线方向合力为0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𝝋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𝝋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根据题意有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𝛑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2_1#81de44067?vcp=1&amp;pid=6cab7e39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73281"/>
                <a:ext cx="11402568" cy="2414270"/>
              </a:xfrm>
              <a:prstGeom prst="rect">
                <a:avLst/>
              </a:prstGeom>
              <a:blipFill>
                <a:blip r:embed="rId4"/>
                <a:stretch>
                  <a:fillRect l="-1658" b="-4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33_1#e8c4f5c8b?vcp=1&amp;pid=6cab7e39d&amp;color=0,0,0&amp;vtp=1&amp;bt=1&amp;bbb=1"/>
              <p:cNvSpPr/>
              <p:nvPr/>
            </p:nvSpPr>
            <p:spPr>
              <a:xfrm>
                <a:off x="393192" y="1302004"/>
                <a:ext cx="11402568" cy="7108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,求绳圈的最后平衡位置及长度（用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33_1#e8c4f5c8b?vcp=1&amp;pid=6cab7e39d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02004"/>
                <a:ext cx="11402568" cy="710883"/>
              </a:xfrm>
              <a:prstGeom prst="rect">
                <a:avLst/>
              </a:prstGeom>
              <a:blipFill>
                <a:blip r:embed="rId3"/>
                <a:stretch>
                  <a:fillRect l="-1658" b="-146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4_1#e8c4f5c8b?vcp=1&amp;pid=6cab7e39d&amp;color=0,0,0&amp;vtp=1&amp;bbb=1&amp;hb=1"/>
              <p:cNvSpPr/>
              <p:nvPr/>
            </p:nvSpPr>
            <p:spPr>
              <a:xfrm>
                <a:off x="393192" y="2014919"/>
                <a:ext cx="11402568" cy="329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𝛑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时，由（1）中的分析可知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整理得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，则上式无解.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实际上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太小时，绳圈在重力作用下将滑过球体而落在桌面上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，因此其长度为原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4_1#e8c4f5c8b?vcp=1&amp;pid=6cab7e39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14919"/>
                <a:ext cx="11402568" cy="3298000"/>
              </a:xfrm>
              <a:prstGeom prst="rect">
                <a:avLst/>
              </a:prstGeom>
              <a:blipFill>
                <a:blip r:embed="rId4"/>
                <a:stretch>
                  <a:fillRect l="-1658" b="-53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1550</Words>
  <Application>Microsoft Office PowerPoint</Application>
  <PresentationFormat>宽屏</PresentationFormat>
  <Paragraphs>194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2026-05-25T07:57:30Z</dcterms:created>
  <dcterms:modified xsi:type="dcterms:W3CDTF">2026-05-25T08:06:31Z</dcterms:modified>
  <cp:category/>
  <cp:contentStatus/>
</cp:coreProperties>
</file>