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5" d="100"/>
          <a:sy n="65" d="100"/>
        </p:scale>
        <p:origin x="72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89757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slide" Target="../slides/slide5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slide" Target="../slides/slide7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slide" Target="../slides/slide10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slide" Target="../slides/slide5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7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slide" Target="../slides/slide1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xin?subject=physics#pid=6a0d1e823a58ca644f0d6f43#tid=6a13f52f7040dabe7959cd8c#sourcefrom=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1261872" y="1078992"/>
            <a:ext cx="7196328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88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考点同步解读</a:t>
            </a:r>
            <a:endParaRPr lang="en-US" sz="8800" dirty="0"/>
          </a:p>
        </p:txBody>
      </p:sp>
      <p:sp>
        <p:nvSpPr>
          <p:cNvPr id="4" name="MasterShapeName"/>
          <p:cNvSpPr/>
          <p:nvPr/>
        </p:nvSpPr>
        <p:spPr>
          <a:xfrm>
            <a:off x="1581912" y="2770632"/>
            <a:ext cx="6839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3400" b="1" i="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高中物理 必修 第一册 RJ</a:t>
            </a:r>
            <a:endParaRPr lang="en-US" sz="3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36576"/>
            <a:ext cx="1911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考点同步解读</a:t>
            </a:r>
            <a:endParaRPr lang="en-US" sz="2400" dirty="0"/>
          </a:p>
        </p:txBody>
      </p:sp>
      <p:sp>
        <p:nvSpPr>
          <p:cNvPr id="4" name="MasterShapeName"/>
          <p:cNvSpPr/>
          <p:nvPr/>
        </p:nvSpPr>
        <p:spPr>
          <a:xfrm>
            <a:off x="2340864" y="146304"/>
            <a:ext cx="36027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600" b="1" i="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高中物理 必修 第一册 RJ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ck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1273f42bf,1273f42bf,aeca822b0,58d81bfbd,aa8e216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C_0#auto_editor_catalog_0?lid=bfadfb39b&amp;amp;cid=bfadfb39b&amp;amp;vtp=1">
            <a:hlinkClick r:id="rId3" action="ppaction://hlinksldjump"/>
          </p:cNvPr>
          <p:cNvSpPr/>
          <p:nvPr/>
        </p:nvSpPr>
        <p:spPr>
          <a:xfrm>
            <a:off x="5596128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C_0#auto_editor_catalog_0?lid=8280ebd05&amp;amp;cid=8280ebd05&amp;amp;vtp=1">
            <a:hlinkClick r:id="rId4" action="ppaction://hlinksldjump"/>
          </p:cNvPr>
          <p:cNvSpPr/>
          <p:nvPr/>
        </p:nvSpPr>
        <p:spPr>
          <a:xfrm>
            <a:off x="613562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1273f42bf,299193e4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C_0#auto_editor_catalog_3?lid=088d8b5ca&amp;amp;cid=088d8b5ca&amp;amp;vtp=1">
            <a:hlinkClick r:id="rId3" action="ppaction://hlinksldjump"/>
          </p:cNvPr>
          <p:cNvSpPr/>
          <p:nvPr/>
        </p:nvSpPr>
        <p:spPr>
          <a:xfrm>
            <a:off x="5596128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C_0#auto_editor_catalog_3?lid=9bf28260d&amp;amp;cid=9bf28260d&amp;amp;vtp=1">
            <a:hlinkClick r:id="rId4" action="ppaction://hlinksldjump"/>
          </p:cNvPr>
          <p:cNvSpPr/>
          <p:nvPr/>
        </p:nvSpPr>
        <p:spPr>
          <a:xfrm>
            <a:off x="613562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df=58d81bfb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课时2 实验：探究弹簧弹力与形变量的关系</a:t>
            </a:r>
            <a:endParaRPr lang="en-US" sz="1800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1273f42bf,1273f42bf,aeca822b0,58d81bfbd,aa8e21636#df=58d81bfb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课时2 实验：探究弹簧弹力与形变量的关系</a:t>
            </a:r>
            <a:endParaRPr lang="en-US" sz="1800" dirty="0"/>
          </a:p>
        </p:txBody>
      </p:sp>
      <p:sp>
        <p:nvSpPr>
          <p:cNvPr id="5" name="C_0#auto_editor_catalog_0?lid=bfadfb39b&amp;amp;cid=bfadfb39b&amp;amp;vtp=1">
            <a:hlinkClick r:id="rId3" action="ppaction://hlinksldjump"/>
          </p:cNvPr>
          <p:cNvSpPr/>
          <p:nvPr/>
        </p:nvSpPr>
        <p:spPr>
          <a:xfrm>
            <a:off x="5596128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C_0#auto_editor_catalog_0?lid=8280ebd05&amp;amp;cid=8280ebd05&amp;amp;vtp=1">
            <a:hlinkClick r:id="rId4" action="ppaction://hlinksldjump"/>
          </p:cNvPr>
          <p:cNvSpPr/>
          <p:nvPr/>
        </p:nvSpPr>
        <p:spPr>
          <a:xfrm>
            <a:off x="613562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1273f42bf,299193e4a#df=58d81bfb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课时2 实验：探究弹簧弹力与形变量的关系</a:t>
            </a:r>
            <a:endParaRPr lang="en-US" sz="1800" dirty="0"/>
          </a:p>
        </p:txBody>
      </p:sp>
      <p:sp>
        <p:nvSpPr>
          <p:cNvPr id="5" name="C_0#auto_editor_catalog_3?lid=088d8b5ca&amp;amp;cid=088d8b5ca&amp;amp;vtp=1">
            <a:hlinkClick r:id="rId3" action="ppaction://hlinksldjump"/>
          </p:cNvPr>
          <p:cNvSpPr/>
          <p:nvPr/>
        </p:nvSpPr>
        <p:spPr>
          <a:xfrm>
            <a:off x="5596128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C_0#auto_editor_catalog_3?lid=9bf28260d&amp;amp;cid=9bf28260d&amp;amp;vtp=1">
            <a:hlinkClick r:id="rId4" action="ppaction://hlinksldjump"/>
          </p:cNvPr>
          <p:cNvSpPr/>
          <p:nvPr/>
        </p:nvSpPr>
        <p:spPr>
          <a:xfrm>
            <a:off x="613562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&amp;si=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split dir="in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&amp;si=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_3#58d81bfbd.fixed?vcp=1&amp;pid=aeca822b0&amp;color=0,112,192&amp;vtp=1&amp;bbb=1"/>
          <p:cNvSpPr/>
          <p:nvPr/>
        </p:nvSpPr>
        <p:spPr>
          <a:xfrm>
            <a:off x="0" y="1801368"/>
            <a:ext cx="12188952" cy="7955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latinLnBrk="1">
              <a:lnSpc>
                <a:spcPts val="6000"/>
              </a:lnSpc>
            </a:pPr>
            <a:r>
              <a:rPr lang="en-US" altLang="zh-CN" sz="4800" b="1" i="0" dirty="0">
                <a:solidFill>
                  <a:srgbClr val="007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第三章</a:t>
            </a:r>
            <a:r>
              <a:rPr lang="en-US" altLang="zh-CN" sz="4800" b="1" i="0" dirty="0">
                <a:solidFill>
                  <a:srgbClr val="0070C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4800" b="1" i="0" dirty="0">
                <a:solidFill>
                  <a:srgbClr val="007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相互作用——力</a:t>
            </a:r>
            <a:endParaRPr lang="en-US" altLang="zh-CN" sz="4800" dirty="0"/>
          </a:p>
        </p:txBody>
      </p:sp>
      <p:sp>
        <p:nvSpPr>
          <p:cNvPr id="3" name="C_3#58d81bfbd.fixed?vcp=1&amp;pid=aeca822b0&amp;color=0,0,0&amp;vtp=1&amp;bbb=1"/>
          <p:cNvSpPr/>
          <p:nvPr/>
        </p:nvSpPr>
        <p:spPr>
          <a:xfrm>
            <a:off x="265176" y="3063240"/>
            <a:ext cx="11521440" cy="1281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5400"/>
              </a:lnSpc>
            </a:pPr>
            <a:r>
              <a:rPr lang="en-US" altLang="zh-CN" sz="44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第9讲</a:t>
            </a:r>
            <a:r>
              <a:rPr lang="en-US" altLang="zh-CN" sz="44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44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重力与弹力</a:t>
            </a:r>
            <a:endParaRPr lang="en-US" altLang="zh-CN" sz="4400" dirty="0"/>
          </a:p>
        </p:txBody>
      </p:sp>
      <p:sp>
        <p:nvSpPr>
          <p:cNvPr id="4" name="C_3_BD#58d81bfbd.fixed?vcp=1&amp;pid=aeca822b0&amp;color=0,0,0&amp;vtp=1&amp;bbb=1"/>
          <p:cNvSpPr/>
          <p:nvPr/>
        </p:nvSpPr>
        <p:spPr>
          <a:xfrm>
            <a:off x="265176" y="4142232"/>
            <a:ext cx="11521440" cy="1281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5400"/>
              </a:lnSpc>
            </a:pPr>
            <a:r>
              <a:rPr lang="en-US" altLang="zh-CN" sz="44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课时2</a:t>
            </a:r>
            <a:r>
              <a:rPr lang="en-US" altLang="zh-CN" sz="44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44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实验：探究弹簧弹力与形变量的关系</a:t>
            </a:r>
            <a:endParaRPr lang="en-US" altLang="zh-CN" sz="4400" dirty="0"/>
          </a:p>
        </p:txBody>
      </p:sp>
    </p:spTree>
  </p:cSld>
  <p:clrMapOvr>
    <a:masterClrMapping/>
  </p:clrMapOvr>
  <p:transition>
    <p:split dir="in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&amp;si=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_4_BD#aa8e21636?vcp=1&amp;pid=58d81bfbd&amp;color=0,0,0&amp;vtp=1&amp;bt=1&amp;bbb=1"/>
          <p:cNvSpPr/>
          <p:nvPr/>
        </p:nvSpPr>
        <p:spPr>
          <a:xfrm>
            <a:off x="393192" y="502920"/>
            <a:ext cx="11402568" cy="949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6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基础考点过关练</a:t>
            </a:r>
            <a:endParaRPr lang="en-US" altLang="zh-CN" sz="2600" dirty="0"/>
          </a:p>
        </p:txBody>
      </p:sp>
      <p:sp>
        <p:nvSpPr>
          <p:cNvPr id="3" name="P_5_BD#0fa30ee4a?vcp=1&amp;pid=aa8e21636&amp;color=0,0,0&amp;vtp=1&amp;bbb=1"/>
          <p:cNvSpPr/>
          <p:nvPr/>
        </p:nvSpPr>
        <p:spPr>
          <a:xfrm>
            <a:off x="393192" y="1093884"/>
            <a:ext cx="11402568" cy="48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3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限时10分钟</a:t>
            </a:r>
            <a:endParaRPr lang="en-US" altLang="zh-CN" sz="2400" dirty="0"/>
          </a:p>
        </p:txBody>
      </p:sp>
      <p:pic>
        <p:nvPicPr>
          <p:cNvPr id="4" name="QO_5_BD.1_1#bfadfb39b?htil=1&amp;vcp=1&amp;pid=aa8e21636&amp;color=0,0,0&amp;tib=255,255,255&amp;vtp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628632" y="1704149"/>
            <a:ext cx="2148840" cy="18836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sp>
        <p:nvSpPr>
          <p:cNvPr id="5" name="QO_5_BD.1_2#bfadfb39b?htil=1&amp;vcp=1&amp;pid=aa8e21636&amp;color=0,0,0&amp;vtp=1&amp;bbb=1&amp;hb=1"/>
          <p:cNvSpPr/>
          <p:nvPr/>
        </p:nvSpPr>
        <p:spPr>
          <a:xfrm>
            <a:off x="393192" y="1649285"/>
            <a:ext cx="9116568" cy="1037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1.</a:t>
            </a: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考点1</a:t>
            </a:r>
            <a:r>
              <a:rPr lang="en-US" altLang="zh-CN" sz="24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0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如图所示，小明用铁架台、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弹簧和多个质量相等的钩码，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探究在弹性限度内弹簧弹力与形变量的关系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</a:t>
            </a:r>
            <a:endParaRPr lang="en-US" altLang="zh-CN" sz="2400" dirty="0"/>
          </a:p>
        </p:txBody>
      </p:sp>
      <p:sp>
        <p:nvSpPr>
          <p:cNvPr id="6" name="QB_6_BD.2_1#abb2f84ad?htil=1&amp;vcp=1&amp;pid=bfadfb39b&amp;color=0,0,0&amp;vtp=1&amp;bbb=1"/>
          <p:cNvSpPr/>
          <p:nvPr/>
        </p:nvSpPr>
        <p:spPr>
          <a:xfrm>
            <a:off x="393192" y="2750248"/>
            <a:ext cx="9116568" cy="484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3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（1）为完成实验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，还需要的实验器材有</a:t>
            </a:r>
            <a:r>
              <a:rPr lang="en-US" altLang="zh-CN" sz="2400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____________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</a:t>
            </a:r>
            <a:endParaRPr lang="en-US" altLang="zh-CN" sz="2400" dirty="0"/>
          </a:p>
        </p:txBody>
      </p:sp>
      <p:sp>
        <p:nvSpPr>
          <p:cNvPr id="7" name="QB_6_AN.3_1#abb2f84ad.blank?vcp=1&amp;pid=bfadfb39b&amp;color=0,0,0&amp;vpa=1&amp;vtp=1&amp;bbb=1"/>
          <p:cNvSpPr/>
          <p:nvPr/>
        </p:nvSpPr>
        <p:spPr>
          <a:xfrm>
            <a:off x="5743860" y="2710243"/>
            <a:ext cx="1744663" cy="488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3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毫米刻度尺</a:t>
            </a:r>
            <a:endParaRPr lang="en-US" altLang="zh-CN" sz="2400" dirty="0"/>
          </a:p>
        </p:txBody>
      </p:sp>
      <p:pic>
        <p:nvPicPr>
          <p:cNvPr id="8" name="QB_6_BD.4_1#d3bdc0ffc?htil=2&amp;vcp=1&amp;pid=bfadfb39b&amp;color=0,0,0&amp;tib=255,255,255&amp;vtp=1&amp;hs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227064" y="3766819"/>
            <a:ext cx="5550408" cy="1965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QB_6_BD.4_2#d3bdc0ffc?htil=2&amp;vcp=1&amp;pid=bfadfb39b&amp;color=0,0,0&amp;vtp=1&amp;bbb=1&amp;hb=1"/>
              <p:cNvSpPr/>
              <p:nvPr/>
            </p:nvSpPr>
            <p:spPr>
              <a:xfrm>
                <a:off x="393192" y="3721100"/>
                <a:ext cx="5724144" cy="21509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（2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）小明在实验中记录了每次悬挂钩码的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个数和对应的弹簧长度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，然后以弹簧长度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𝑥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100" b="0" i="0" kern="0" spc="-99900">
                  <a:solidFill>
                    <a:srgbClr val="FFFFFF"/>
                  </a:solidFill>
                  <a:latin typeface="Times New Roman" pitchFamily="34" charset="0"/>
                  <a:ea typeface="微软雅黑" pitchFamily="34" charset="-122"/>
                  <a:cs typeface="Times New Roman" pitchFamily="34" charset="-120"/>
                </a:endParaRP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为横坐标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,悬挂钩码个数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𝑁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为纵坐标作出图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像.他所作的图像是</a:t>
                </a:r>
                <a:r>
                  <a:rPr lang="en-US" altLang="zh-CN" sz="240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___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9" name="QB_6_BD.4_2#d3bdc0ffc?htil=2&amp;vcp=1&amp;pid=bfadfb39b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721100"/>
                <a:ext cx="5724144" cy="2150999"/>
              </a:xfrm>
              <a:prstGeom prst="rect">
                <a:avLst/>
              </a:prstGeom>
              <a:blipFill>
                <a:blip r:embed="rId5"/>
                <a:stretch>
                  <a:fillRect l="-3301" r="-1704" b="-878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QB_6_AN.5_1#d3bdc0ffc.blank?vcp=1&amp;pid=bfadfb39b&amp;color=0,0,0&amp;vpa=2&amp;vtp=1"/>
          <p:cNvSpPr/>
          <p:nvPr/>
        </p:nvSpPr>
        <p:spPr>
          <a:xfrm>
            <a:off x="2899061" y="5347970"/>
            <a:ext cx="423863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</a:t>
            </a:r>
            <a:endParaRPr lang="en-US" altLang="zh-CN" sz="2400" dirty="0"/>
          </a:p>
        </p:txBody>
      </p:sp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 animBg="1"/>
      <p:bldP spid="10" grpId="0" build="p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&amp;si=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C_6_BD.6_1#3aafcbbaa?vcp=1&amp;pid=bfadfb39b&amp;color=0,0,0&amp;vtp=1&amp;bt=1&amp;bbb=1"/>
          <p:cNvSpPr/>
          <p:nvPr/>
        </p:nvSpPr>
        <p:spPr>
          <a:xfrm>
            <a:off x="393192" y="2400967"/>
            <a:ext cx="11402568" cy="484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3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（3）由（2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）小问可知</a:t>
            </a:r>
            <a:r>
              <a:rPr lang="en-US" altLang="zh-CN" sz="2400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___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</a:t>
            </a:r>
            <a:endParaRPr lang="en-US" altLang="zh-CN" sz="2400" dirty="0"/>
          </a:p>
        </p:txBody>
      </p:sp>
      <p:sp>
        <p:nvSpPr>
          <p:cNvPr id="3" name="QC_6_AN.7_1#3aafcbbaa.blank?vcp=1&amp;pid=bfadfb39b&amp;color=0,0,0&amp;vpa=3&amp;vtp=1"/>
          <p:cNvSpPr/>
          <p:nvPr/>
        </p:nvSpPr>
        <p:spPr>
          <a:xfrm>
            <a:off x="3419760" y="2360962"/>
            <a:ext cx="441325" cy="48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3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QC_6_BD.6_2#3aafcbbaa.choices?vcp=1&amp;pid=bfadfb39b&amp;color=0,0,0&amp;vtp=1&amp;bbb=1"/>
              <p:cNvSpPr/>
              <p:nvPr/>
            </p:nvSpPr>
            <p:spPr>
              <a:xfrm>
                <a:off x="393192" y="2886741"/>
                <a:ext cx="11402568" cy="1599502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A.弹簧竖直悬挂时的原长为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6.0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cm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.弹簧水平放置时的原长为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6.0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cm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3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.挂5个钩码时弹簧的长度为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10.0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cm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4" name="QC_6_BD.6_2#3aafcbbaa.choices?vcp=1&amp;pid=bfadfb39b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886741"/>
                <a:ext cx="11402568" cy="1599502"/>
              </a:xfrm>
              <a:prstGeom prst="rect">
                <a:avLst/>
              </a:prstGeom>
              <a:blipFill>
                <a:blip r:embed="rId3"/>
                <a:stretch>
                  <a:fillRect l="-1658" b="-1183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&amp;si=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O_5_BD.8_1#8280ebd05?vcp=1&amp;pid=aa8e21636&amp;color=0,0,0&amp;vtp=1&amp;bt=1&amp;bbb=1&amp;hb=1"/>
              <p:cNvSpPr/>
              <p:nvPr/>
            </p:nvSpPr>
            <p:spPr>
              <a:xfrm>
                <a:off x="393192" y="504000"/>
                <a:ext cx="11402568" cy="10247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3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考点2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用铁架台、带挂钩的不同弹簧若干、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50</m:t>
                    </m:r>
                    <m:r>
                      <m:rPr>
                        <m:nor/>
                      </m:rP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g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的钩码若干、刻度尺等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，安装如图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甲所示装置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，探究弹簧弹力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的大小与伸长量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𝑥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之间的定量关系.</a:t>
                </a:r>
                <a:endParaRPr lang="en-US" altLang="zh-CN" sz="2400" dirty="0">
                  <a:solidFill>
                    <a:srgbClr val="000000"/>
                  </a:solidFill>
                </a:endParaRPr>
              </a:p>
            </p:txBody>
          </p:sp>
        </mc:Choice>
        <mc:Fallback>
          <p:sp>
            <p:nvSpPr>
              <p:cNvPr id="2" name="QO_5_BD.8_1#8280ebd05?vcp=1&amp;pid=aa8e21636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504000"/>
                <a:ext cx="11402568" cy="1024700"/>
              </a:xfrm>
              <a:prstGeom prst="rect">
                <a:avLst/>
              </a:prstGeom>
              <a:blipFill>
                <a:blip r:embed="rId3"/>
                <a:stretch>
                  <a:fillRect l="-1658" r="-749" b="-1726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QO_5_BD.8_2#8280ebd05?htil=3&amp;vcp=1&amp;pid=aa8e21636&amp;color=0,0,0&amp;tib=255,255,255&amp;vtp=1&amp;hs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456324" y="1583311"/>
            <a:ext cx="4288536" cy="24140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QB_6_BD.9_1#c60f86aa6?htil=3&amp;vcp=1&amp;pid=8280ebd05&amp;color=0,0,0&amp;vtp=1&amp;bbb=1&amp;hb=1&amp;hs=1"/>
              <p:cNvSpPr/>
              <p:nvPr/>
            </p:nvSpPr>
            <p:spPr>
              <a:xfrm>
                <a:off x="393192" y="1537590"/>
                <a:ext cx="6976872" cy="1011174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3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（1）未挂钩码时，弹簧原长放大如图甲所示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，可读</a:t>
                </a:r>
              </a:p>
              <a:p>
                <a:pPr latinLnBrk="1">
                  <a:lnSpc>
                    <a:spcPts val="41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得原长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𝐿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</m:oMath>
                </a14:m>
                <a:r>
                  <a:rPr lang="en-US" altLang="zh-CN" sz="240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___________________________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cm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>
                  <a:solidFill>
                    <a:srgbClr val="000000"/>
                  </a:solidFill>
                </a:endParaRPr>
              </a:p>
            </p:txBody>
          </p:sp>
        </mc:Choice>
        <mc:Fallback>
          <p:sp>
            <p:nvSpPr>
              <p:cNvPr id="4" name="QB_6_BD.9_1#c60f86aa6?htil=3&amp;vcp=1&amp;pid=8280ebd05&amp;color=0,0,0&amp;vtp=1&amp;bbb=1&amp;h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537590"/>
                <a:ext cx="6976872" cy="1011174"/>
              </a:xfrm>
              <a:prstGeom prst="rect">
                <a:avLst/>
              </a:prstGeom>
              <a:blipFill>
                <a:blip r:embed="rId5"/>
                <a:stretch>
                  <a:fillRect l="-2710" r="-962" b="-1867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QB_6_AN.10_1#c60f86aa6.blank?vcp=1&amp;pid=8280ebd05&amp;color=0,0,0&amp;vpa=4&amp;vtp=1&amp;bbb=1"/>
              <p:cNvSpPr/>
              <p:nvPr/>
            </p:nvSpPr>
            <p:spPr>
              <a:xfrm>
                <a:off x="1900967" y="2122996"/>
                <a:ext cx="4112641" cy="36449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ctr" latinLnBrk="1">
                  <a:lnSpc>
                    <a:spcPts val="30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𝟖𝟎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𝟕𝟖</m:t>
                    </m:r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∼</m:t>
                    </m:r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𝟖𝟐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均正确）</a:t>
                </a:r>
                <a:endParaRPr lang="en-US" altLang="zh-CN" sz="1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5" name="QB_6_AN.10_1#c60f86aa6.blank?vcp=1&amp;pid=8280ebd05&amp;color=0,0,0&amp;vpa=4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0967" y="2122996"/>
                <a:ext cx="4112641" cy="364490"/>
              </a:xfrm>
              <a:prstGeom prst="rect">
                <a:avLst/>
              </a:prstGeom>
              <a:blipFill>
                <a:blip r:embed="rId6"/>
                <a:stretch>
                  <a:fillRect t="-26667" r="-1780" b="-5000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QB_6_BD.11_1#a422710b0?htil=3&amp;vcp=1&amp;pid=8280ebd05&amp;color=0,0,0&amp;vtp=1&amp;bbb=1&amp;hb=1&amp;hs=1"/>
              <p:cNvSpPr/>
              <p:nvPr/>
            </p:nvSpPr>
            <p:spPr>
              <a:xfrm>
                <a:off x="393192" y="2555558"/>
                <a:ext cx="6976872" cy="2663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3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（2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）由图乙还可知劲度系数较大的是</a:t>
                </a:r>
                <a:r>
                  <a:rPr lang="en-US" altLang="zh-CN" sz="240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___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弹簧</a:t>
                </a:r>
              </a:p>
              <a:p>
                <a:pPr latinLnBrk="1">
                  <a:lnSpc>
                    <a:spcPts val="43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填“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”或“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”）；还可算出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弹簧的劲度系数为</a:t>
                </a:r>
              </a:p>
              <a:p>
                <a:pPr latinLnBrk="1">
                  <a:lnSpc>
                    <a:spcPts val="4300"/>
                  </a:lnSpc>
                </a:pPr>
                <a:r>
                  <a:rPr lang="en-US" altLang="zh-CN" sz="240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_____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N</m:t>
                    </m:r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（保留三位有效数字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）.若把两个弹簧分别</a:t>
                </a:r>
              </a:p>
              <a:p>
                <a:pPr latinLnBrk="1">
                  <a:lnSpc>
                    <a:spcPts val="43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制作成弹簧测力计，</a:t>
                </a:r>
                <a:r>
                  <a:rPr lang="en-US" altLang="zh-CN" sz="240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___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弹簧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（填“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”或“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”）的灵敏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度更高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>
                  <a:solidFill>
                    <a:srgbClr val="000000"/>
                  </a:solidFill>
                </a:endParaRPr>
              </a:p>
            </p:txBody>
          </p:sp>
        </mc:Choice>
        <mc:Fallback>
          <p:sp>
            <p:nvSpPr>
              <p:cNvPr id="6" name="QB_6_BD.11_1#a422710b0?htil=3&amp;vcp=1&amp;pid=8280ebd05&amp;color=0,0,0&amp;vtp=1&amp;bbb=1&amp;h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555558"/>
                <a:ext cx="6976872" cy="2663000"/>
              </a:xfrm>
              <a:prstGeom prst="rect">
                <a:avLst/>
              </a:prstGeom>
              <a:blipFill>
                <a:blip r:embed="rId7"/>
                <a:stretch>
                  <a:fillRect l="-2710" r="-2098" b="-686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QB_6_AN.12_1#a422710b0.blank?vcp=1&amp;pid=8280ebd05&amp;color=0,0,0&amp;vpa=5&amp;vtp=1"/>
          <p:cNvSpPr/>
          <p:nvPr/>
        </p:nvSpPr>
        <p:spPr>
          <a:xfrm>
            <a:off x="5400960" y="2522220"/>
            <a:ext cx="441325" cy="48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3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</a:t>
            </a:r>
            <a:endParaRPr lang="en-US" altLang="zh-CN" sz="2400" dirty="0">
              <a:solidFill>
                <a:srgbClr val="FF0000"/>
              </a:solidFill>
            </a:endParaRPr>
          </a:p>
        </p:txBody>
      </p:sp>
      <p:sp>
        <p:nvSpPr>
          <p:cNvPr id="8" name="QB_6_AN.13_1#a422710b0.blank?vcp=1&amp;pid=8280ebd05&amp;color=0,0,0&amp;vpa=6&amp;vtp=1&amp;bbb=1"/>
          <p:cNvSpPr/>
          <p:nvPr/>
        </p:nvSpPr>
        <p:spPr>
          <a:xfrm>
            <a:off x="371760" y="3614420"/>
            <a:ext cx="754063" cy="48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300"/>
              </a:lnSpc>
            </a:pP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10.0</a:t>
            </a:r>
            <a:endParaRPr lang="en-US" altLang="zh-CN" sz="2400" dirty="0">
              <a:solidFill>
                <a:srgbClr val="FF0000"/>
              </a:solidFill>
            </a:endParaRPr>
          </a:p>
        </p:txBody>
      </p:sp>
      <p:sp>
        <p:nvSpPr>
          <p:cNvPr id="9" name="QB_6_AN.14_1#a422710b0.blank?vcp=1&amp;pid=8280ebd05&amp;color=0,0,0&amp;vpa=7&amp;vtp=1"/>
          <p:cNvSpPr/>
          <p:nvPr/>
        </p:nvSpPr>
        <p:spPr>
          <a:xfrm>
            <a:off x="3127661" y="4160521"/>
            <a:ext cx="423863" cy="48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3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</a:t>
            </a:r>
            <a:endParaRPr lang="en-US" altLang="zh-CN" sz="2400" dirty="0">
              <a:solidFill>
                <a:srgbClr val="FF0000"/>
              </a:solidFill>
            </a:endParaRPr>
          </a:p>
        </p:txBody>
      </p:sp>
      <p:sp>
        <p:nvSpPr>
          <p:cNvPr id="10" name="QB_6_BD.15_1#c84006e92?vcp=1&amp;pid=8280ebd05&amp;color=0,0,0&amp;vtp=1&amp;bbb=1&amp;hb=1&amp;hs=1"/>
          <p:cNvSpPr/>
          <p:nvPr/>
        </p:nvSpPr>
        <p:spPr>
          <a:xfrm>
            <a:off x="393192" y="5266627"/>
            <a:ext cx="11402568" cy="1011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3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（3）若某同学做实验时，误把弹簧长度当成伸长量作为横坐标作图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，则该同学所作</a:t>
            </a:r>
          </a:p>
          <a:p>
            <a:pPr latinLnBrk="1">
              <a:lnSpc>
                <a:spcPts val="41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图像得到的劲度系数将</a:t>
            </a:r>
            <a:r>
              <a:rPr lang="en-US" altLang="zh-CN" sz="2400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______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（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填“偏大”“偏小”或“不变”）.</a:t>
            </a:r>
            <a:endParaRPr lang="en-US" altLang="zh-CN" sz="2400" dirty="0">
              <a:solidFill>
                <a:srgbClr val="000000"/>
              </a:solidFill>
            </a:endParaRPr>
          </a:p>
        </p:txBody>
      </p:sp>
      <p:sp>
        <p:nvSpPr>
          <p:cNvPr id="11" name="QB_6_AN.16_1#c84006e92.blank?vcp=1&amp;pid=8280ebd05&amp;color=0,0,0&amp;vpa=8&amp;vtp=1&amp;bbb=1"/>
          <p:cNvSpPr/>
          <p:nvPr/>
        </p:nvSpPr>
        <p:spPr>
          <a:xfrm>
            <a:off x="3457860" y="5759133"/>
            <a:ext cx="830263" cy="469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1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不变</a:t>
            </a:r>
            <a:endParaRPr lang="en-US" altLang="zh-CN" sz="2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  <p:bldP spid="7" grpId="0" build="p" animBg="1"/>
      <p:bldP spid="8" grpId="0" build="p" animBg="1"/>
      <p:bldP spid="9" grpId="0" build="p" animBg="1"/>
      <p:bldP spid="11" grpId="0" build="p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&amp;si=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_4_BD#299193e4a?vcp=1&amp;pid=58d81bfbd&amp;color=0,0,0&amp;vtp=1&amp;bt=1&amp;bbb=1"/>
          <p:cNvSpPr/>
          <p:nvPr/>
        </p:nvSpPr>
        <p:spPr>
          <a:xfrm>
            <a:off x="393192" y="502920"/>
            <a:ext cx="11402568" cy="949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6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能力考点提升练</a:t>
            </a:r>
            <a:endParaRPr lang="en-US" altLang="zh-CN" sz="2600" dirty="0"/>
          </a:p>
        </p:txBody>
      </p:sp>
      <p:sp>
        <p:nvSpPr>
          <p:cNvPr id="3" name="P_5_BD#9cbd32d57?vcp=1&amp;pid=299193e4a&amp;color=0,0,0&amp;vtp=1&amp;bbb=1"/>
          <p:cNvSpPr/>
          <p:nvPr/>
        </p:nvSpPr>
        <p:spPr>
          <a:xfrm>
            <a:off x="393192" y="1093884"/>
            <a:ext cx="11402568" cy="48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3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限时20分钟</a:t>
            </a:r>
            <a:endParaRPr lang="en-US" altLang="zh-CN" sz="2400" dirty="0"/>
          </a:p>
        </p:txBody>
      </p:sp>
    </p:spTree>
  </p:cSld>
  <p:clrMapOvr>
    <a:masterClrMapping/>
  </p:clrMapOvr>
  <p:transition>
    <p:split dir="in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&amp;si=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QO_5_BD.17_1#088d8b5ca?htil=4&amp;vcp=1&amp;pid=299193e4a&amp;color=0,0,0&amp;tib=255,255,255&amp;vtp=1&amp;hs=1&amp;hs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416954" y="549720"/>
            <a:ext cx="3129275" cy="1822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QO_5_BD.17_2#088d8b5ca?htil=4&amp;vcp=1&amp;pid=299193e4a&amp;color=0,0,0&amp;vtp=1&amp;bt=1&amp;bbb=1&amp;hb=1&amp;hs=1"/>
              <p:cNvSpPr/>
              <p:nvPr/>
            </p:nvSpPr>
            <p:spPr>
              <a:xfrm>
                <a:off x="393192" y="504000"/>
                <a:ext cx="7763256" cy="210737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3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考点2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（2026·湖南长沙一中检测</a:t>
                </a:r>
                <a:r>
                  <a:rPr lang="en-US" altLang="zh-CN" sz="2400" b="0" i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）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某同学构想一个测</a:t>
                </a:r>
              </a:p>
              <a:p>
                <a:pPr latinLnBrk="1">
                  <a:lnSpc>
                    <a:spcPts val="43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量弹性轻杆的形变量与其劲度系数的实验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，如图所示，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100" b="0" i="0" kern="0" spc="-99900">
                  <a:solidFill>
                    <a:srgbClr val="FFFFFF"/>
                  </a:solidFill>
                  <a:latin typeface="Times New Roman" pitchFamily="34" charset="0"/>
                  <a:ea typeface="微软雅黑" pitchFamily="34" charset="-122"/>
                  <a:cs typeface="Times New Roman" pitchFamily="34" charset="-120"/>
                </a:endParaRPr>
              </a:p>
              <a:p>
                <a:pPr latinLnBrk="1">
                  <a:lnSpc>
                    <a:spcPts val="43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为待测量的弹性轻杆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𝐶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为底部带有小孔且装满细砂的小</a:t>
                </a:r>
              </a:p>
              <a:p>
                <a:pPr latinLnBrk="1">
                  <a:lnSpc>
                    <a:spcPts val="41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桶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为一长度为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𝐿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的轻质刚性杆（不会发生形变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），一端与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3" name="QO_5_BD.17_2#088d8b5ca?htil=4&amp;vcp=1&amp;pid=299193e4a&amp;color=0,0,0&amp;vtp=1&amp;bt=1&amp;bbb=1&amp;h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504000"/>
                <a:ext cx="7763256" cy="2107375"/>
              </a:xfrm>
              <a:prstGeom prst="rect">
                <a:avLst/>
              </a:prstGeom>
              <a:blipFill>
                <a:blip r:embed="rId4"/>
                <a:stretch>
                  <a:fillRect l="-2435" t="-290" r="-2357" b="-8696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QO_5_BD.17_2#088d8b5ca?htil=4&amp;vcp=1&amp;pid=299193e4a&amp;color=0,0,0&amp;vtp=1&amp;bt=1&amp;bbb=1&amp;hb=1&amp;hs=1">
                <a:extLst>
                  <a:ext uri="{FF2B5EF4-FFF2-40B4-BE49-F238E27FC236}">
                    <a16:creationId xmlns:a16="http://schemas.microsoft.com/office/drawing/2014/main" id="{44426B4D-EB76-E7FA-0669-902764077104}"/>
                  </a:ext>
                </a:extLst>
              </p:cNvPr>
              <p:cNvSpPr/>
              <p:nvPr/>
            </p:nvSpPr>
            <p:spPr>
              <a:xfrm>
                <a:off x="393192" y="2605596"/>
                <a:ext cx="11400008" cy="3741674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3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弹性杆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底端连接，另一端固定在轻质平面镜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𝑀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的中心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𝑂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′</m:t>
                    </m:r>
                  </m:oMath>
                </a14:m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处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，且与平面镜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𝑀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垂直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.轻质</a:t>
                </a:r>
              </a:p>
              <a:p>
                <a:pPr latinLnBrk="1">
                  <a:lnSpc>
                    <a:spcPts val="43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平面镜竖直放在水平实验台上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𝑃𝑄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为一带有弧长刻度的透明圆弧，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𝑂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𝑃𝑄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的中心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，圆</a:t>
                </a:r>
              </a:p>
              <a:p>
                <a:pPr latinLnBrk="1">
                  <a:lnSpc>
                    <a:spcPts val="43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弧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𝑃𝑄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的半径为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𝑟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,不挂砂桶时，一束细光束经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𝑂</m:t>
                    </m:r>
                  </m:oMath>
                </a14:m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点射到平面镜的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𝑂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′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点后原路返回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，挂上</a:t>
                </a:r>
              </a:p>
              <a:p>
                <a:pPr latinLnBrk="1">
                  <a:lnSpc>
                    <a:spcPts val="43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砂桶后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使平面镜发生倾斜，入射光束在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𝑀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上的入射点可以近似认为仍在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𝑂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′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，通过</a:t>
                </a:r>
              </a:p>
              <a:p>
                <a:pPr latinLnBrk="1">
                  <a:lnSpc>
                    <a:spcPts val="43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读取反射光在圆弧上的位置，测得光点在透明读数条上移动的弧长为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𝑠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,可以测得弹性</a:t>
                </a:r>
              </a:p>
              <a:p>
                <a:pPr latinLnBrk="1">
                  <a:lnSpc>
                    <a:spcPts val="43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轻杆的形变量，根据胡克定律就可以确定弹性杆的劲度系数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.已知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𝑟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≫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𝐿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𝐿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远大于弹性</a:t>
                </a:r>
              </a:p>
              <a:p>
                <a:pPr latinLnBrk="1">
                  <a:lnSpc>
                    <a:spcPts val="41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杆的形变量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.当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𝜃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较小时，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tan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𝜃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𝜃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,重力加速度为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4" name="QO_5_BD.17_2#088d8b5ca?htil=4&amp;vcp=1&amp;pid=299193e4a&amp;color=0,0,0&amp;vtp=1&amp;bt=1&amp;bbb=1&amp;hb=1&amp;hs=1">
                <a:extLst>
                  <a:ext uri="{FF2B5EF4-FFF2-40B4-BE49-F238E27FC236}">
                    <a16:creationId xmlns:a16="http://schemas.microsoft.com/office/drawing/2014/main" id="{44426B4D-EB76-E7FA-0669-90276407710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605596"/>
                <a:ext cx="11400008" cy="3741674"/>
              </a:xfrm>
              <a:prstGeom prst="rect">
                <a:avLst/>
              </a:prstGeom>
              <a:blipFill>
                <a:blip r:embed="rId5"/>
                <a:stretch>
                  <a:fillRect l="-1658" r="-1444" b="-504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&amp;si=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B_6_BD.18_1#a47627f61?vcp=1&amp;pid=088d8b5ca&amp;color=0,0,0&amp;vtp=1&amp;bt=1&amp;bbb=1&amp;hb=1"/>
              <p:cNvSpPr/>
              <p:nvPr/>
            </p:nvSpPr>
            <p:spPr>
              <a:xfrm>
                <a:off x="393192" y="1372933"/>
                <a:ext cx="11402568" cy="10374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（1）随着砂桶中的细砂不断流出，反射光线的光点在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𝑃𝑄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圆弧上</a:t>
                </a:r>
                <a:r>
                  <a:rPr lang="en-US" altLang="zh-CN" sz="240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______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填“向上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”或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“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向下”）移动.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B_6_BD.18_1#a47627f61?vcp=1&amp;pid=088d8b5ca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372933"/>
                <a:ext cx="11402568" cy="1037400"/>
              </a:xfrm>
              <a:prstGeom prst="rect">
                <a:avLst/>
              </a:prstGeom>
              <a:blipFill>
                <a:blip r:embed="rId3"/>
                <a:stretch>
                  <a:fillRect l="-1658" b="-1764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B_6_AN.19_1#a47627f61.blank?vcp=1&amp;pid=088d8b5ca&amp;color=0,0,0&amp;vpa=9&amp;vtp=1&amp;bbb=1"/>
          <p:cNvSpPr/>
          <p:nvPr/>
        </p:nvSpPr>
        <p:spPr>
          <a:xfrm>
            <a:off x="8891301" y="1344993"/>
            <a:ext cx="830263" cy="497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4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向下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QB_6_AS.20_1#a47627f61?vcp=1&amp;pid=088d8b5ca&amp;color=0,0,0&amp;vtp=1&amp;bbb=1&amp;hb=1"/>
              <p:cNvSpPr/>
              <p:nvPr/>
            </p:nvSpPr>
            <p:spPr>
              <a:xfrm>
                <a:off x="393192" y="2418143"/>
                <a:ext cx="11402568" cy="27138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挂上砂桶后，弹性杆产生形变，连接平面镜的刚性杆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倾斜，平面镜绕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𝑶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′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点逆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时针旋转角度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，由于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𝑳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远大于弹性杆的形变量，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𝒓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≫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𝑳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，所以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角较小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，满足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𝐭𝐚𝐧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，故</a:t>
                </a: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𝐭𝐚𝐧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𝑳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，根据反射定律与几何关系可得弧长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𝒔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𝒓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，联立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解得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𝒔𝑳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𝒓</m:t>
                        </m:r>
                      </m:den>
                    </m:f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，砂桶中的细砂不断流出，砂桶的总质量减小，平面镜旋转角度变小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，所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以反射光点沿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𝑷𝑸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圆弧向下移动.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4" name="QB_6_AS.20_1#a47627f61?vcp=1&amp;pid=088d8b5ca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418143"/>
                <a:ext cx="11402568" cy="2713800"/>
              </a:xfrm>
              <a:prstGeom prst="rect">
                <a:avLst/>
              </a:prstGeom>
              <a:blipFill>
                <a:blip r:embed="rId4"/>
                <a:stretch>
                  <a:fillRect l="-1658" r="-107" b="-651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4" grpId="0" build="p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&amp;si=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B_6_BD.21_1#a932af196?vcp=1&amp;pid=088d8b5ca&amp;color=0,0,0&amp;vtp=1&amp;bt=1&amp;bbb=1"/>
              <p:cNvSpPr/>
              <p:nvPr/>
            </p:nvSpPr>
            <p:spPr>
              <a:xfrm>
                <a:off x="393192" y="2101851"/>
                <a:ext cx="11402568" cy="699262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65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（2）弹性杆的形变量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𝑥</m:t>
                    </m:r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</m:oMath>
                </a14:m>
                <a:r>
                  <a:rPr lang="en-US" altLang="zh-CN" sz="240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_</a:t>
                </a:r>
                <a:r>
                  <a:rPr lang="en-US" altLang="zh-CN" sz="3650" b="1" i="0" u="sng" kern="0" spc="-99900" dirty="0">
                    <a:solidFill>
                      <a:srgbClr val="FF00FF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__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（用光点移动的弧长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𝑠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𝑟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𝐿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表示）.</a:t>
                </a:r>
                <a:endParaRPr lang="en-US" altLang="zh-CN" sz="2400" dirty="0">
                  <a:solidFill>
                    <a:srgbClr val="000000"/>
                  </a:solidFill>
                </a:endParaRPr>
              </a:p>
            </p:txBody>
          </p:sp>
        </mc:Choice>
        <mc:Fallback>
          <p:sp>
            <p:nvSpPr>
              <p:cNvPr id="2" name="QB_6_BD.21_1#a932af196?vcp=1&amp;pid=088d8b5ca&amp;color=0,0,0&amp;vtp=1&amp;bt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101851"/>
                <a:ext cx="11402568" cy="699262"/>
              </a:xfrm>
              <a:prstGeom prst="rect">
                <a:avLst/>
              </a:prstGeom>
              <a:blipFill>
                <a:blip r:embed="rId3"/>
                <a:stretch>
                  <a:fillRect l="-1658" b="-2521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QB_6_AN.22_1#a932af196.blank?vcp=1&amp;pid=088d8b5ca&amp;color=0,0,0&amp;vpa=10&amp;vtp=1&amp;bbb=1&amp;rh=41.32504"/>
              <p:cNvSpPr/>
              <p:nvPr/>
            </p:nvSpPr>
            <p:spPr>
              <a:xfrm>
                <a:off x="3795395" y="2202306"/>
                <a:ext cx="407988" cy="524828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ctr" latinLnBrk="1">
                  <a:lnSpc>
                    <a:spcPts val="4200"/>
                  </a:lnSpc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𝒔𝑳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𝒓</m:t>
                        </m:r>
                      </m:den>
                    </m:f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100" dirty="0"/>
              </a:p>
            </p:txBody>
          </p:sp>
        </mc:Choice>
        <mc:Fallback>
          <p:sp>
            <p:nvSpPr>
              <p:cNvPr id="3" name="QB_6_AN.22_1#a932af196.blank?vcp=1&amp;pid=088d8b5ca&amp;color=0,0,0&amp;vpa=10&amp;vtp=1&amp;bbb=1&amp;rh=41.3250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5395" y="2202306"/>
                <a:ext cx="407988" cy="524828"/>
              </a:xfrm>
              <a:prstGeom prst="rect">
                <a:avLst/>
              </a:prstGeom>
              <a:blipFill>
                <a:blip r:embed="rId4"/>
                <a:stretch>
                  <a:fillRect b="-2326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QB_6_AS.23_1#a932af196?vcp=1&amp;pid=088d8b5ca&amp;color=0,0,0&amp;vtp=1&amp;bbb=1"/>
          <p:cNvSpPr/>
          <p:nvPr/>
        </p:nvSpPr>
        <p:spPr>
          <a:xfrm>
            <a:off x="393192" y="2803841"/>
            <a:ext cx="11402568" cy="484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3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[解析]</a:t>
            </a:r>
            <a:r>
              <a:rPr lang="en-US" altLang="zh-CN" sz="2400" b="1" i="0" dirty="0">
                <a:solidFill>
                  <a:srgbClr val="FF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见解析（1）。</a:t>
            </a:r>
            <a:endParaRPr lang="en-US" altLang="zh-CN" sz="24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QB_6_BD.24_1#8a00ee248?vcp=1&amp;pid=088d8b5ca&amp;color=0,0,0&amp;vtp=1&amp;bbb=1"/>
              <p:cNvSpPr/>
              <p:nvPr/>
            </p:nvSpPr>
            <p:spPr>
              <a:xfrm>
                <a:off x="393192" y="3297236"/>
                <a:ext cx="11402568" cy="708914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66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（3）弹性杆的劲度系数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𝑘</m:t>
                    </m:r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</m:oMath>
                </a14:m>
                <a:r>
                  <a:rPr lang="en-US" altLang="zh-CN" sz="240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_</a:t>
                </a:r>
                <a:r>
                  <a:rPr lang="en-US" altLang="zh-CN" sz="3700" b="1" i="0" u="sng" kern="0" spc="-99900" dirty="0">
                    <a:solidFill>
                      <a:srgbClr val="FF00FF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_____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（砂桶的总质量用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表示）.</a:t>
                </a:r>
                <a:endParaRPr lang="en-US" altLang="zh-CN" sz="2400" dirty="0">
                  <a:solidFill>
                    <a:srgbClr val="000000"/>
                  </a:solidFill>
                </a:endParaRPr>
              </a:p>
            </p:txBody>
          </p:sp>
        </mc:Choice>
        <mc:Fallback>
          <p:sp>
            <p:nvSpPr>
              <p:cNvPr id="5" name="QB_6_BD.24_1#8a00ee248?vcp=1&amp;pid=088d8b5ca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297236"/>
                <a:ext cx="11402568" cy="708914"/>
              </a:xfrm>
              <a:prstGeom prst="rect">
                <a:avLst/>
              </a:prstGeom>
              <a:blipFill>
                <a:blip r:embed="rId5"/>
                <a:stretch>
                  <a:fillRect l="-1658" b="-2500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QB_6_AN.25_1#8a00ee248.blank?vcp=1&amp;pid=088d8b5ca&amp;color=0,0,0&amp;vpa=11&amp;vtp=1&amp;bbb=1"/>
              <p:cNvSpPr/>
              <p:nvPr/>
            </p:nvSpPr>
            <p:spPr>
              <a:xfrm>
                <a:off x="4157092" y="3411918"/>
                <a:ext cx="765175" cy="5334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ctr" latinLnBrk="1">
                  <a:lnSpc>
                    <a:spcPts val="4200"/>
                  </a:lnSpc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𝒎𝒈𝒓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𝒔𝑳</m:t>
                        </m:r>
                      </m:den>
                    </m:f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100" dirty="0"/>
              </a:p>
            </p:txBody>
          </p:sp>
        </mc:Choice>
        <mc:Fallback>
          <p:sp>
            <p:nvSpPr>
              <p:cNvPr id="6" name="QB_6_AN.25_1#8a00ee248.blank?vcp=1&amp;pid=088d8b5ca&amp;color=0,0,0&amp;vpa=11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7092" y="3411918"/>
                <a:ext cx="765175" cy="5334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QB_6_AS.26_1#8a00ee248?vcp=1&amp;pid=088d8b5ca&amp;color=0,0,0&amp;vtp=1&amp;bbb=1"/>
              <p:cNvSpPr/>
              <p:nvPr/>
            </p:nvSpPr>
            <p:spPr>
              <a:xfrm>
                <a:off x="393192" y="4015421"/>
                <a:ext cx="11402568" cy="72263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62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根据胡克定律知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𝒌𝒙</m:t>
                    </m:r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，解得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𝒌</m:t>
                    </m:r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𝒎𝒈𝒓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𝒔𝑳</m:t>
                        </m:r>
                      </m:den>
                    </m:f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7" name="QB_6_AS.26_1#8a00ee248?vcp=1&amp;pid=088d8b5ca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4015421"/>
                <a:ext cx="11402568" cy="722630"/>
              </a:xfrm>
              <a:prstGeom prst="rect">
                <a:avLst/>
              </a:prstGeom>
              <a:blipFill>
                <a:blip r:embed="rId7"/>
                <a:stretch>
                  <a:fillRect l="-1658" b="-1440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4" grpId="0" build="p" animBg="1"/>
      <p:bldP spid="6" grpId="0" build="p" animBg="1"/>
      <p:bldP spid="7" grpId="0" build="p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&amp;si=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QO_5_BD.27_1#9bf28260d?htil=5&amp;vcp=1&amp;pid=299193e4a&amp;color=0,0,0&amp;tib=255,255,255&amp;vtp=1&amp;hs=1&amp;hs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614820" y="1187291"/>
            <a:ext cx="4123944" cy="2889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QO_5_BD.27_2#9bf28260d?htil=5&amp;vcp=1&amp;pid=299193e4a&amp;color=0,0,0&amp;vtp=1&amp;bt=1&amp;bbb=1&amp;hb=1&amp;hs=1"/>
              <p:cNvSpPr/>
              <p:nvPr/>
            </p:nvSpPr>
            <p:spPr>
              <a:xfrm>
                <a:off x="393192" y="1141571"/>
                <a:ext cx="7141464" cy="32726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考点2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（2026·安徽合肥一六八中学检测</a:t>
                </a:r>
                <a:r>
                  <a:rPr lang="en-US" altLang="zh-CN" sz="2400" b="0" i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）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有两根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自然长度相同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，但劲度系数不同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、粗细也不同的弹簧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，设弹簧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劲度系数为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𝑘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,弹簧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劲度系数为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𝑘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;将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弹簧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两端连接套在一起，得到一新弹簧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𝐶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，设弹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簧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𝐶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劲度系数为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𝑘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,关于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𝑘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𝑘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𝑘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的关系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，有三位同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学做出了猜想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.甲同学：和电阻并联相似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，可能是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3" name="QO_5_BD.27_2#9bf28260d?htil=5&amp;vcp=1&amp;pid=299193e4a&amp;color=0,0,0&amp;vtp=1&amp;bt=1&amp;bbb=1&amp;h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141571"/>
                <a:ext cx="7141464" cy="3272600"/>
              </a:xfrm>
              <a:prstGeom prst="rect">
                <a:avLst/>
              </a:prstGeom>
              <a:blipFill>
                <a:blip r:embed="rId4"/>
                <a:stretch>
                  <a:fillRect l="-2647" r="-1879" b="-558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QO_5_BD.27_2#9bf28260d?htil=5&amp;vcp=1&amp;pid=299193e4a&amp;color=0,0,0&amp;vtp=1&amp;bt=1&amp;bbb=1&amp;hb=1&amp;hs=1">
                <a:extLst>
                  <a:ext uri="{FF2B5EF4-FFF2-40B4-BE49-F238E27FC236}">
                    <a16:creationId xmlns:a16="http://schemas.microsoft.com/office/drawing/2014/main" id="{7A6BDF2F-9B1C-80A1-8D1B-0CC5FE167CA9}"/>
                  </a:ext>
                </a:extLst>
              </p:cNvPr>
              <p:cNvSpPr/>
              <p:nvPr/>
            </p:nvSpPr>
            <p:spPr>
              <a:xfrm>
                <a:off x="395996" y="4374801"/>
                <a:ext cx="11400008" cy="124885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900"/>
                  </a:lnSpc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3</m:t>
                            </m:r>
                          </m:sub>
                        </m:sSub>
                      </m:den>
                    </m:f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;乙同学：和电阻串联相似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，可能是</a:t>
                </a:r>
              </a:p>
              <a:p>
                <a:pPr latinLnBrk="1">
                  <a:lnSpc>
                    <a:spcPts val="52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𝑘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𝑘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𝑘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;丙同学：可能是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𝑘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4" name="QO_5_BD.27_2#9bf28260d?htil=5&amp;vcp=1&amp;pid=299193e4a&amp;color=0,0,0&amp;vtp=1&amp;bt=1&amp;bbb=1&amp;hb=1&amp;hs=1">
                <a:extLst>
                  <a:ext uri="{FF2B5EF4-FFF2-40B4-BE49-F238E27FC236}">
                    <a16:creationId xmlns:a16="http://schemas.microsoft.com/office/drawing/2014/main" id="{7A6BDF2F-9B1C-80A1-8D1B-0CC5FE167CA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996" y="4374801"/>
                <a:ext cx="11400008" cy="1248855"/>
              </a:xfrm>
              <a:prstGeom prst="rect">
                <a:avLst/>
              </a:prstGeom>
              <a:blipFill>
                <a:blip r:embed="rId5"/>
                <a:stretch>
                  <a:fillRect l="-53" b="-8293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&amp;si=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B_6_BD.28_1#1619189d7?vcp=1&amp;pid=9bf28260d&amp;color=0,0,0&amp;vtp=1&amp;bt=1&amp;bbb=1&amp;hb=1"/>
              <p:cNvSpPr/>
              <p:nvPr/>
            </p:nvSpPr>
            <p:spPr>
              <a:xfrm>
                <a:off x="393192" y="620681"/>
                <a:ext cx="11402568" cy="43902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（1）为了验证猜想，三位同学设计的实验装置如图（a）所示，实验步骤如下：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①将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弹簧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悬挂在铁架台上，固定好刻度尺，使零刻度线对齐弹簧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上端，读出弹簧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的自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然长度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𝐿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；②在弹簧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的下端挂上钩码，记下钩码的个数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𝑛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,并读出对应的弹簧长度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𝐿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已知每个钩码的质量均为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,实验室所在位置的重力加速度大小为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;③由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______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计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算弹簧的弹力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，由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𝑥</m:t>
                    </m:r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𝐿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sSub>
                      <m:sSubPr>
                        <m:ctrlPr>
                          <a:rPr lang="en-US" altLang="zh-CN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𝐿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计算弹簧的伸长量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，由</a:t>
                </a:r>
                <a:r>
                  <a:rPr lang="en-US" altLang="zh-CN" sz="240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__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计算弹簧的劲度系数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；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④改变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________________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重复实验步骤②③，并求出弹簧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劲度系数的平均值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𝑘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;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⑤仅将弹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簧分别换为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以及组装成的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𝐶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，重复上述操作步骤,分别求出弹簧B、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𝐶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劲度系数的平均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值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𝑘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𝑘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,比较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𝑘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𝑘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𝑘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的关系，并得出结论.</a:t>
                </a:r>
                <a:endParaRPr lang="en-US" altLang="zh-CN" sz="2400" dirty="0">
                  <a:solidFill>
                    <a:srgbClr val="000000"/>
                  </a:solidFill>
                </a:endParaRPr>
              </a:p>
            </p:txBody>
          </p:sp>
        </mc:Choice>
        <mc:Fallback>
          <p:sp>
            <p:nvSpPr>
              <p:cNvPr id="2" name="QB_6_BD.28_1#1619189d7?vcp=1&amp;pid=9bf28260d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620681"/>
                <a:ext cx="11402568" cy="4390200"/>
              </a:xfrm>
              <a:prstGeom prst="rect">
                <a:avLst/>
              </a:prstGeom>
              <a:blipFill>
                <a:blip r:embed="rId3"/>
                <a:stretch>
                  <a:fillRect l="-1658" r="-1818" b="-4028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QB_6_AN.29_1#1619189d7.blank?vcp=1&amp;pid=9bf28260d&amp;color=0,0,0&amp;vpa=12&amp;vtp=1&amp;bbb=1"/>
              <p:cNvSpPr/>
              <p:nvPr/>
            </p:nvSpPr>
            <p:spPr>
              <a:xfrm>
                <a:off x="10390315" y="2382996"/>
                <a:ext cx="841375" cy="353441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ctr" latinLnBrk="1">
                  <a:lnSpc>
                    <a:spcPts val="30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𝒏𝒎𝒈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100" dirty="0"/>
              </a:p>
            </p:txBody>
          </p:sp>
        </mc:Choice>
        <mc:Fallback>
          <p:sp>
            <p:nvSpPr>
              <p:cNvPr id="3" name="QB_6_AN.29_1#1619189d7.blank?vcp=1&amp;pid=9bf28260d&amp;color=0,0,0&amp;vpa=12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90315" y="2382996"/>
                <a:ext cx="841375" cy="353441"/>
              </a:xfrm>
              <a:prstGeom prst="rect">
                <a:avLst/>
              </a:prstGeom>
              <a:blipFill>
                <a:blip r:embed="rId4"/>
                <a:stretch>
                  <a:fillRect l="-4348" r="-3623" b="-31034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QB_6_AN.30_1#1619189d7.blank?vcp=1&amp;pid=9bf28260d&amp;color=0,0,0&amp;vpa=13&amp;vtp=1&amp;bbb=1&amp;rh=41.46"/>
              <p:cNvSpPr/>
              <p:nvPr/>
            </p:nvSpPr>
            <p:spPr>
              <a:xfrm>
                <a:off x="7419911" y="2765711"/>
                <a:ext cx="298450" cy="526542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ctr" latinLnBrk="1">
                  <a:lnSpc>
                    <a:spcPts val="4200"/>
                  </a:lnSpc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den>
                    </m:f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100" dirty="0"/>
              </a:p>
            </p:txBody>
          </p:sp>
        </mc:Choice>
        <mc:Fallback>
          <p:sp>
            <p:nvSpPr>
              <p:cNvPr id="4" name="QB_6_AN.30_1#1619189d7.blank?vcp=1&amp;pid=9bf28260d&amp;color=0,0,0&amp;vpa=13&amp;vtp=1&amp;bbb=1&amp;rh=41.4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9911" y="2765711"/>
                <a:ext cx="298450" cy="526542"/>
              </a:xfrm>
              <a:prstGeom prst="rect">
                <a:avLst/>
              </a:prstGeom>
              <a:blipFill>
                <a:blip r:embed="rId5"/>
                <a:stretch>
                  <a:fillRect b="-1163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QB_6_AN.31_1#1619189d7.blank?vcp=1&amp;pid=9bf28260d&amp;color=0,0,0&amp;vpa=14&amp;vtp=1&amp;bbb=1"/>
          <p:cNvSpPr/>
          <p:nvPr/>
        </p:nvSpPr>
        <p:spPr>
          <a:xfrm>
            <a:off x="409860" y="3386740"/>
            <a:ext cx="2354263" cy="497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4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所挂钩码的个数</a:t>
            </a:r>
            <a:endParaRPr lang="en-US" altLang="zh-CN" sz="24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QB_6_AS.32_1#1619189d7?vcp=1&amp;pid=9bf28260d&amp;color=0,0,0&amp;vtp=1&amp;bbb=1&amp;hb=1"/>
              <p:cNvSpPr/>
              <p:nvPr/>
            </p:nvSpPr>
            <p:spPr>
              <a:xfrm>
                <a:off x="393192" y="4957476"/>
                <a:ext cx="11402568" cy="10628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6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依题意，根据二力平衡可知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𝒏𝒎𝒈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；根据胡克定律有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𝒌𝒙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，即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𝒌</m:t>
                    </m:r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den>
                    </m:f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;实验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的自变量为弹簧弹力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，则应改变所挂钩码个数，重复实验.</a:t>
                </a:r>
                <a:endParaRPr lang="en-US" altLang="zh-CN" sz="24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6" name="QB_6_AS.32_1#1619189d7?vcp=1&amp;pid=9bf28260d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4957476"/>
                <a:ext cx="11402568" cy="1062800"/>
              </a:xfrm>
              <a:prstGeom prst="rect">
                <a:avLst/>
              </a:prstGeom>
              <a:blipFill>
                <a:blip r:embed="rId6"/>
                <a:stretch>
                  <a:fillRect l="-1658" r="-1123" b="-16571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4" grpId="0" build="p" animBg="1"/>
      <p:bldP spid="5" grpId="0" build="p" animBg="1"/>
      <p:bldP spid="6" grpId="0" build="p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&amp;si=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B_6_BD.33_1#3d546bd25?vcp=1&amp;pid=9bf28260d&amp;color=0,0,0&amp;vtp=1&amp;bt=1&amp;bbb=1&amp;hb=1"/>
              <p:cNvSpPr/>
              <p:nvPr/>
            </p:nvSpPr>
            <p:spPr>
              <a:xfrm>
                <a:off x="393192" y="1026763"/>
                <a:ext cx="11402568" cy="10333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（2）在步骤①中测量弹簧的自然长度时，若弹簧上端与刻度尺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cm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处刻度线对齐，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则这样测量的弹簧劲度系数将</a:t>
                </a:r>
                <a:r>
                  <a:rPr lang="en-US" altLang="zh-CN" sz="240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______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填“偏大”“偏小”或“不变”）.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B_6_BD.33_1#3d546bd25?vcp=1&amp;pid=9bf28260d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026763"/>
                <a:ext cx="11402568" cy="1033399"/>
              </a:xfrm>
              <a:prstGeom prst="rect">
                <a:avLst/>
              </a:prstGeom>
              <a:blipFill>
                <a:blip r:embed="rId3"/>
                <a:stretch>
                  <a:fillRect l="-1658" b="-1764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B_6_AN.34_1#3d546bd25.blank?vcp=1&amp;pid=9bf28260d&amp;color=0,0,0&amp;vpa=15&amp;vtp=1&amp;bbb=1"/>
          <p:cNvSpPr/>
          <p:nvPr/>
        </p:nvSpPr>
        <p:spPr>
          <a:xfrm>
            <a:off x="4372260" y="1536033"/>
            <a:ext cx="830263" cy="4787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不变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QB_6_AS.35_1#3d546bd25?vcp=1&amp;pid=9bf28260d&amp;color=0,0,0&amp;vtp=1&amp;bbb=1&amp;hb=1"/>
              <p:cNvSpPr/>
              <p:nvPr/>
            </p:nvSpPr>
            <p:spPr>
              <a:xfrm>
                <a:off x="393192" y="2122899"/>
                <a:ext cx="11402568" cy="15962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实验中需要用到的是弹簧的伸长量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，是挂钩码后弹簧的长度减去弹簧的自然长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度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，即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𝑳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𝑳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，所以在步骤①中测量弹簧的自然长度时，弹簧上端与刻度尺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𝐜𝐦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100" b="1" i="0" kern="0" spc="-99900">
                  <a:solidFill>
                    <a:srgbClr val="FFFFFF"/>
                  </a:solidFill>
                  <a:latin typeface="Times New Roman" pitchFamily="34" charset="0"/>
                  <a:ea typeface="微软雅黑" pitchFamily="34" charset="-122"/>
                  <a:cs typeface="Times New Roman" pitchFamily="34" charset="-120"/>
                </a:endParaRP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处刻度线对齐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，对最后测量弹簧的劲度系数没有影响.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4" name="QB_6_AS.35_1#3d546bd25?vcp=1&amp;pid=9bf28260d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122899"/>
                <a:ext cx="11402568" cy="1596200"/>
              </a:xfrm>
              <a:prstGeom prst="rect">
                <a:avLst/>
              </a:prstGeom>
              <a:blipFill>
                <a:blip r:embed="rId4"/>
                <a:stretch>
                  <a:fillRect l="-1658" r="-1016" b="-1145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QB_6_BD.36_1#f4edbdc81?vcp=1&amp;pid=9bf28260d&amp;color=0,0,0&amp;vtp=1&amp;bbb=1&amp;hb=1"/>
              <p:cNvSpPr/>
              <p:nvPr/>
            </p:nvSpPr>
            <p:spPr>
              <a:xfrm>
                <a:off x="393192" y="3711289"/>
                <a:ext cx="11402568" cy="10374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（3）图（b）是由实验数据得到的三个弹簧的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𝑥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图像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，由此可以判断</a:t>
                </a:r>
                <a:r>
                  <a:rPr lang="en-US" altLang="zh-CN" sz="240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____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填“甲”“乙”或“丙”）同学的猜想正确.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B_6_BD.36_1#f4edbdc81?vcp=1&amp;pid=9bf28260d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711289"/>
                <a:ext cx="11402568" cy="1037400"/>
              </a:xfrm>
              <a:prstGeom prst="rect">
                <a:avLst/>
              </a:prstGeom>
              <a:blipFill>
                <a:blip r:embed="rId5"/>
                <a:stretch>
                  <a:fillRect l="-1658" b="-1705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QB_6_AN.37_1#f4edbdc81.blank?vcp=1&amp;pid=9bf28260d&amp;color=0,0,0&amp;vpa=16&amp;vtp=1"/>
          <p:cNvSpPr/>
          <p:nvPr/>
        </p:nvSpPr>
        <p:spPr>
          <a:xfrm>
            <a:off x="9980391" y="3683349"/>
            <a:ext cx="525463" cy="497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4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乙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QB_6_AS.38_1#f4edbdc81?vcp=1&amp;pid=9bf28260d&amp;color=0,0,0&amp;vtp=1&amp;bbb=1&amp;hb=1"/>
              <p:cNvSpPr/>
              <p:nvPr/>
            </p:nvSpPr>
            <p:spPr>
              <a:xfrm>
                <a:off x="393192" y="4751419"/>
                <a:ext cx="11402568" cy="10755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7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由题图可知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𝒌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𝟏𝟎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.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𝟎𝟖</m:t>
                        </m:r>
                      </m:den>
                    </m:f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𝐍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𝒌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𝟏𝟓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.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𝟎𝟖</m:t>
                        </m:r>
                      </m:den>
                    </m:f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𝐍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𝒌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𝟐𝟓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.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𝟎𝟖</m:t>
                        </m:r>
                      </m:den>
                    </m:f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𝐍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,整理可得</a:t>
                </a:r>
              </a:p>
              <a:p>
                <a:pPr latinLnBrk="1">
                  <a:lnSpc>
                    <a:spcPts val="42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𝒌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𝒌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𝒌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，由此可以判断乙同学的猜想正确.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7" name="QB_6_AS.38_1#f4edbdc81?vcp=1&amp;pid=9bf28260d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4751419"/>
                <a:ext cx="11402568" cy="1075500"/>
              </a:xfrm>
              <a:prstGeom prst="rect">
                <a:avLst/>
              </a:prstGeom>
              <a:blipFill>
                <a:blip r:embed="rId6"/>
                <a:stretch>
                  <a:fillRect l="-1658" b="-1694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4" grpId="0" build="p" animBg="1"/>
      <p:bldP spid="6" grpId="0" build="p" animBg="1"/>
      <p:bldP spid="7" grpId="0" build="p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&amp;si=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QC_6_BD.39_1#0dadeda06?htil=6&amp;vcp=1&amp;pid=9bf28260d&amp;color=0,0,0&amp;tib=255,255,255&amp;vtp=1&amp;hs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042824" y="549719"/>
            <a:ext cx="646960" cy="2149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QC_6_BD.39_2#0dadeda06?htil=6&amp;vcp=1&amp;pid=9bf28260d&amp;color=0,0,0&amp;vtp=1&amp;bt=1&amp;bbb=1&amp;hb=1&amp;hs=1"/>
              <p:cNvSpPr/>
              <p:nvPr/>
            </p:nvSpPr>
            <p:spPr>
              <a:xfrm>
                <a:off x="393192" y="504000"/>
                <a:ext cx="10469880" cy="234784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38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（4）类似地，可以定义一个系统在受到拉力作用时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，拉力大小与系统长度增</a:t>
                </a:r>
              </a:p>
              <a:p>
                <a:pPr latinLnBrk="1">
                  <a:lnSpc>
                    <a:spcPts val="38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加量的比值叫系统的等效劲度系数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,如图（c）中的装置，外力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竖直向下作用于</a:t>
                </a:r>
              </a:p>
              <a:p>
                <a:pPr latinLnBrk="1">
                  <a:lnSpc>
                    <a:spcPts val="38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动滑轮下方的挂钩上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.滑轮光滑，连接天花板、弹簧、滑轮的轻绳不可伸长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，弹</a:t>
                </a:r>
              </a:p>
              <a:p>
                <a:pPr latinLnBrk="1">
                  <a:lnSpc>
                    <a:spcPts val="38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簧的劲度系数为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𝑘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,且弹簧、滑轮以及挂钩的质量不计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.若定义该系统的长度为系</a:t>
                </a:r>
              </a:p>
              <a:p>
                <a:pPr latinLnBrk="1">
                  <a:lnSpc>
                    <a:spcPts val="36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统静止时天花板到挂钩最低点间的距离，则该系统的等效劲度系数为</a:t>
                </a:r>
                <a:r>
                  <a:rPr lang="en-US" altLang="zh-CN" sz="240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___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3" name="QC_6_BD.39_2#0dadeda06?htil=6&amp;vcp=1&amp;pid=9bf28260d&amp;color=0,0,0&amp;vtp=1&amp;bt=1&amp;bbb=1&amp;h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504000"/>
                <a:ext cx="10469880" cy="2347849"/>
              </a:xfrm>
              <a:prstGeom prst="rect">
                <a:avLst/>
              </a:prstGeom>
              <a:blipFill>
                <a:blip r:embed="rId4"/>
                <a:stretch>
                  <a:fillRect l="-1805" t="-1299" r="-1747" b="-779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QC_6_AN.40_1#0dadeda06.blank?vcp=1&amp;pid=9bf28260d&amp;color=0,0,0&amp;vpa=17&amp;vtp=1"/>
          <p:cNvSpPr/>
          <p:nvPr/>
        </p:nvSpPr>
        <p:spPr>
          <a:xfrm>
            <a:off x="9515761" y="2382584"/>
            <a:ext cx="441325" cy="42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36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6_BD.39_3#0dadeda06.choices?htil=6&amp;vcp=1&amp;pid=9bf28260d&amp;color=0,0,0&amp;vtp=1&amp;bbb=1&amp;hs=1"/>
              <p:cNvSpPr/>
              <p:nvPr/>
            </p:nvSpPr>
            <p:spPr>
              <a:xfrm>
                <a:off x="395996" y="2893060"/>
                <a:ext cx="11400008" cy="42018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3700"/>
                  </a:lnSpc>
                  <a:tabLst>
                    <a:tab pos="2528570" algn="l"/>
                    <a:tab pos="5031740" algn="l"/>
                    <a:tab pos="7763511" algn="l"/>
                  </a:tabLst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4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𝑘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2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𝑘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0.5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𝑘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0.25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𝑘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6_BD.39_3#0dadeda06.choices?htil=6&amp;vcp=1&amp;pid=9bf28260d&amp;color=0,0,0&amp;vtp=1&amp;bb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996" y="2893060"/>
                <a:ext cx="11400008" cy="420180"/>
              </a:xfrm>
              <a:prstGeom prst="rect">
                <a:avLst/>
              </a:prstGeom>
              <a:blipFill>
                <a:blip r:embed="rId5"/>
                <a:stretch>
                  <a:fillRect l="-1658" t="-8696" b="-44928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QC_6_AS.41_1#0dadeda06?vcp=1&amp;pid=9bf28260d&amp;color=0,0,0&amp;vtp=1&amp;bbb=1&amp;hb=1"/>
              <p:cNvSpPr/>
              <p:nvPr/>
            </p:nvSpPr>
            <p:spPr>
              <a:xfrm>
                <a:off x="393192" y="3315526"/>
                <a:ext cx="11402568" cy="2963736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38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设系统在外力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的作用下弹簧的伸长量为</a:t>
                </a: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根据弹簧的劲度系数定义可知，</a:t>
                </a:r>
              </a:p>
              <a:p>
                <a:pPr latinLnBrk="1">
                  <a:lnSpc>
                    <a:spcPts val="5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弹簧的劲度系数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𝒌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num>
                      <m:den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𝚫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den>
                    </m:f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.因动滑轮光滑且质量不计，挂钩质量不计，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所以系统静止时，</a:t>
                </a:r>
              </a:p>
              <a:p>
                <a:pPr latinLnBrk="1">
                  <a:lnSpc>
                    <a:spcPts val="38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若弹簧弹力为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′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，则系统所受外力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′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，由动滑轮的特点可知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，系统长度增加量为</a:t>
                </a:r>
              </a:p>
              <a:p>
                <a:pPr latinLnBrk="1">
                  <a:lnSpc>
                    <a:spcPts val="5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弹簧弹力为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′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时的伸长量的一半，</a:t>
                </a: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′=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，则该系统的等效劲度系数为</a:t>
                </a:r>
              </a:p>
              <a:p>
                <a:pPr latinLnBrk="1">
                  <a:lnSpc>
                    <a:spcPts val="52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𝒌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′=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num>
                      <m:den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𝚫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′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𝒌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，A正确.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6" name="QC_6_AS.41_1#0dadeda06?vcp=1&amp;pid=9bf28260d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315526"/>
                <a:ext cx="11402568" cy="2963736"/>
              </a:xfrm>
              <a:prstGeom prst="rect">
                <a:avLst/>
              </a:prstGeom>
              <a:blipFill>
                <a:blip r:embed="rId6"/>
                <a:stretch>
                  <a:fillRect l="-1658" t="-1029" r="-1444" b="-3498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6" grpId="0" build="p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&amp;si=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split dir="in"/>
  </p:transition>
</p:sld>
</file>

<file path=ppt/theme/theme1.xml><?xml version="1.0" encoding="utf-8"?>
<a:theme xmlns:a="http://schemas.openxmlformats.org/drawingml/2006/mai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824</Words>
  <Application>Microsoft Office PowerPoint</Application>
  <PresentationFormat>宽屏</PresentationFormat>
  <Paragraphs>120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1" baseType="lpstr">
      <vt:lpstr>KaiTi</vt:lpstr>
      <vt:lpstr>SimSun</vt:lpstr>
      <vt:lpstr>微软雅黑</vt:lpstr>
      <vt:lpstr>Arial</vt:lpstr>
      <vt:lpstr>Cambria Math</vt:lpstr>
      <vt:lpstr>Times New Roman</vt:lpstr>
      <vt:lpstr/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Administrator</cp:lastModifiedBy>
  <cp:revision>2</cp:revision>
  <dcterms:created xsi:type="dcterms:W3CDTF">2026-05-25T08:00:24Z</dcterms:created>
  <dcterms:modified xsi:type="dcterms:W3CDTF">2026-05-25T08:03:17Z</dcterms:modified>
  <cp:category/>
  <cp:contentStatus/>
</cp:coreProperties>
</file>