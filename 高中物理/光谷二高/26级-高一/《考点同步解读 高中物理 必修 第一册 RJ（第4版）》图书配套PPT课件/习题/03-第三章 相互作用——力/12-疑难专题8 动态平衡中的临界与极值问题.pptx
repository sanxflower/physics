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509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5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slide" Target="../slides/slide18.xml"/><Relationship Id="rId3" Type="http://schemas.openxmlformats.org/officeDocument/2006/relationships/slide" Target="../slides/slide7.xml"/><Relationship Id="rId7" Type="http://schemas.openxmlformats.org/officeDocument/2006/relationships/slide" Target="../slides/slide1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3.xml"/><Relationship Id="rId5" Type="http://schemas.openxmlformats.org/officeDocument/2006/relationships/slide" Target="../slides/slide11.xml"/><Relationship Id="rId4" Type="http://schemas.openxmlformats.org/officeDocument/2006/relationships/slide" Target="../slides/slide9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5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" Target="../slides/slide18.xml"/><Relationship Id="rId3" Type="http://schemas.openxmlformats.org/officeDocument/2006/relationships/slide" Target="../slides/slide7.xml"/><Relationship Id="rId7" Type="http://schemas.openxmlformats.org/officeDocument/2006/relationships/slide" Target="../slides/slide1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3.xml"/><Relationship Id="rId5" Type="http://schemas.openxmlformats.org/officeDocument/2006/relationships/slide" Target="../slides/slide11.xml"/><Relationship Id="rId4" Type="http://schemas.openxmlformats.org/officeDocument/2006/relationships/slide" Target="../slides/slide9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5d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e3816e10d,74a7dc2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cfdaab5b1&amp;amp;cid=cfdaab5b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972f6b7eb&amp;amp;cid=972f6b7eb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d579a8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3?lid=00371dc12&amp;amp;cid=00371dc12">
            <a:hlinkClick r:id="rId3" action="ppaction://hlinksldjump"/>
          </p:cNvPr>
          <p:cNvSpPr/>
          <p:nvPr/>
        </p:nvSpPr>
        <p:spPr>
          <a:xfrm>
            <a:off x="450799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3?lid=eef7271e2&amp;amp;cid=eef7271e2">
            <a:hlinkClick r:id="rId4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3?lid=83152bbd4&amp;amp;cid=83152bbd4">
            <a:hlinkClick r:id="rId5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3?lid=43847a6e3&amp;amp;cid=43847a6e3">
            <a:hlinkClick r:id="rId6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3?lid=491bb56ff&amp;amp;cid=491bb56ff">
            <a:hlinkClick r:id="rId7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C_0#auto_editor_catalog_3?lid=1776cd9af&amp;amp;cid=1776cd9af">
            <a:hlinkClick r:id="rId8" action="ppaction://hlinksldjump"/>
          </p:cNvPr>
          <p:cNvSpPr/>
          <p:nvPr/>
        </p:nvSpPr>
        <p:spPr>
          <a:xfrm>
            <a:off x="721461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302fe9ec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0?lid=c5d4fffa1&amp;amp;cid=c5d4fffa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e3816e10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疑难专题8 动态平衡中的临界与极值问题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e3816e10d,74a7dc275#df=e3816e10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疑难专题8 动态平衡中的临界与极值问题</a:t>
            </a:r>
            <a:endParaRPr lang="en-US" sz="1800" dirty="0"/>
          </a:p>
        </p:txBody>
      </p:sp>
      <p:sp>
        <p:nvSpPr>
          <p:cNvPr id="5" name="C_0#auto_editor_catalog_0?lid=cfdaab5b1&amp;amp;cid=cfdaab5b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972f6b7eb&amp;amp;cid=972f6b7eb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d579a8e27#df=e3816e10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疑难专题8 动态平衡中的临界与极值问题</a:t>
            </a:r>
            <a:endParaRPr lang="en-US" sz="1800" dirty="0"/>
          </a:p>
        </p:txBody>
      </p:sp>
      <p:sp>
        <p:nvSpPr>
          <p:cNvPr id="5" name="C_0#auto_editor_catalog_3?lid=00371dc12&amp;amp;cid=00371dc12">
            <a:hlinkClick r:id="rId3" action="ppaction://hlinksldjump"/>
          </p:cNvPr>
          <p:cNvSpPr/>
          <p:nvPr/>
        </p:nvSpPr>
        <p:spPr>
          <a:xfrm>
            <a:off x="450799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3?lid=eef7271e2&amp;amp;cid=eef7271e2">
            <a:hlinkClick r:id="rId4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3?lid=83152bbd4&amp;amp;cid=83152bbd4">
            <a:hlinkClick r:id="rId5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3?lid=43847a6e3&amp;amp;cid=43847a6e3">
            <a:hlinkClick r:id="rId6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3?lid=491bb56ff&amp;amp;cid=491bb56ff">
            <a:hlinkClick r:id="rId7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C_0#auto_editor_catalog_3?lid=1776cd9af&amp;amp;cid=1776cd9af">
            <a:hlinkClick r:id="rId8" action="ppaction://hlinksldjump"/>
          </p:cNvPr>
          <p:cNvSpPr/>
          <p:nvPr/>
        </p:nvSpPr>
        <p:spPr>
          <a:xfrm>
            <a:off x="721461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302fe9ecc#df=e3816e10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疑难专题8 动态平衡中的临界与极值问题</a:t>
            </a:r>
            <a:endParaRPr lang="en-US" sz="1800" dirty="0"/>
          </a:p>
        </p:txBody>
      </p:sp>
      <p:sp>
        <p:nvSpPr>
          <p:cNvPr id="5" name="C_0#auto_editor_catalog_10?lid=c5d4fffa1&amp;amp;cid=c5d4fffa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e3816e10d.fixed?vcp=1&amp;pid=1273f42bf&amp;color=0,112,192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2_BD#e3816e10d.fixed?vcp=1&amp;pid=1273f42bf&amp;color=0,0,0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疑难专题8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动态平衡中的临界与极值问题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74a7dc275?vcp=1&amp;pid=e3816e10d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0ae239c2d?vcp=1&amp;pid=74a7dc275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_1#cfdaab5b1?vcp=1&amp;pid=74a7dc275&amp;color=0,0,0&amp;bbb=1&amp;hb=1"/>
              <p:cNvSpPr/>
              <p:nvPr/>
            </p:nvSpPr>
            <p:spPr>
              <a:xfrm>
                <a:off x="393192" y="164928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（2026·陕西西安铁一中检测）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，一光滑球体放在支架与竖直墙壁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，支架的倾角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,光滑球体的质量为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,支架的质量为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,已知最大静摩擦力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等于滑动摩擦力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，整个装置保持静止，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则支架和地面间的动摩擦因数至少为(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_1#cfdaab5b1?vcp=1&amp;pid=74a7dc275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230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_1#cfdaab5b1.bracket?vcp=1&amp;pid=74a7dc275&amp;color=0,0,0&amp;vpa=1"/>
          <p:cNvSpPr/>
          <p:nvPr/>
        </p:nvSpPr>
        <p:spPr>
          <a:xfrm>
            <a:off x="10684161" y="27554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6" name="QC_4_BD.1_2#cfdaab5b1?vcp=1&amp;pid=74a7dc275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11496" y="3368675"/>
            <a:ext cx="1975104" cy="116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_3#cfdaab5b1.choices?vcp=1&amp;pid=74a7dc275&amp;color=0,0,0&amp;bbb=1"/>
              <p:cNvSpPr/>
              <p:nvPr/>
            </p:nvSpPr>
            <p:spPr>
              <a:xfrm>
                <a:off x="393192" y="4664075"/>
                <a:ext cx="11402568" cy="62223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000"/>
                  </a:lnSpc>
                  <a:tabLst>
                    <a:tab pos="2923027" algn="l"/>
                    <a:tab pos="5807954" algn="l"/>
                    <a:tab pos="86928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_3#cfdaab5b1.choices?vcp=1&amp;pid=74a7dc275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664075"/>
                <a:ext cx="11402568" cy="622237"/>
              </a:xfrm>
              <a:prstGeom prst="rect">
                <a:avLst/>
              </a:prstGeom>
              <a:blipFill>
                <a:blip r:embed="rId5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_1#cfdaab5b1?vcp=1&amp;pid=74a7dc275&amp;color=0,0,0&amp;bt=1&amp;bbb=1&amp;hb=1"/>
              <p:cNvSpPr/>
              <p:nvPr/>
            </p:nvSpPr>
            <p:spPr>
              <a:xfrm>
                <a:off x="393192" y="832580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对光滑球体受力分析如图所示，根据平衡条件可得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,对支架受力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分析如图所示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_1#cfdaab5b1?vcp=1&amp;pid=74a7dc275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32580"/>
                <a:ext cx="11402568" cy="1037400"/>
              </a:xfrm>
              <a:prstGeom prst="rect">
                <a:avLst/>
              </a:prstGeom>
              <a:blipFill>
                <a:blip r:embed="rId3"/>
                <a:stretch>
                  <a:fillRect l="-1658" r="-1497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3_3#cfdaab5b1?htil=1&amp;vcp=1&amp;pid=74a7dc275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48256" y="2124678"/>
            <a:ext cx="2404872" cy="145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QC_4_AS.3_4#cfdaab5b1?htil=1&amp;vcp=1&amp;pid=74a7dc275&amp;color=0,0,0&amp;tib=255,255,255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54696" y="2005806"/>
            <a:ext cx="2185416" cy="1572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3_5#cfdaab5b1?vcp=1&amp;pid=74a7dc275&amp;color=0,0,0&amp;bbb=1"/>
              <p:cNvSpPr/>
              <p:nvPr/>
            </p:nvSpPr>
            <p:spPr>
              <a:xfrm>
                <a:off x="393192" y="3707606"/>
                <a:ext cx="11402568" cy="229978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根据牛顿第三定律可知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对支架由平衡条件可得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,又达到最大静摩擦力时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联立以上各式解得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,可知支架和地面间的动摩擦因数至少为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,故选D.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3_5#cfdaab5b1?vcp=1&amp;pid=74a7dc275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07606"/>
                <a:ext cx="11402568" cy="2299780"/>
              </a:xfrm>
              <a:prstGeom prst="rect">
                <a:avLst/>
              </a:prstGeom>
              <a:blipFill>
                <a:blip r:embed="rId6"/>
                <a:stretch>
                  <a:fillRect l="-1658" b="-47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4_1#972f6b7eb?htil=2&amp;vcp=1&amp;pid=74a7dc275&amp;color=0,0,0&amp;tib=255,255,255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20072" y="1338071"/>
            <a:ext cx="2075688" cy="2258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4_2#972f6b7eb?htil=2&amp;vcp=1&amp;pid=74a7dc275&amp;color=0,0,0&amp;bt=1&amp;bbb=1&amp;hb=1&amp;hs=1"/>
              <p:cNvSpPr/>
              <p:nvPr/>
            </p:nvSpPr>
            <p:spPr>
              <a:xfrm>
                <a:off x="393192" y="1292353"/>
                <a:ext cx="9235440" cy="3268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如图所示，墙角上有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四个点，一只蜘蛛通过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两根蛛丝将自己悬挂在结点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处休息，其中虚线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𝑂𝐷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沿竖直方向，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蛛丝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水平，蛛丝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与竖直方向的夹角为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,蜘蛛的重力为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.某时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刻蛛丝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由于某个原因突然断裂，蜘蛛需要在墙上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𝐴𝐶𝐷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之间选一点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重新拉一根蛛丝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（未画出），最后蜘蛛重新挂在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点休息并保持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点位置不变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4_2#972f6b7eb?htil=2&amp;vcp=1&amp;pid=74a7dc275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92353"/>
                <a:ext cx="9235440" cy="3268599"/>
              </a:xfrm>
              <a:prstGeom prst="rect">
                <a:avLst/>
              </a:prstGeom>
              <a:blipFill>
                <a:blip r:embed="rId4"/>
                <a:stretch>
                  <a:fillRect l="-2046" r="-2508" b="-559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5_1#972f6b7eb.bracket?vcp=1&amp;pid=74a7dc275&amp;color=0,0,0&amp;vpa=2"/>
          <p:cNvSpPr/>
          <p:nvPr/>
        </p:nvSpPr>
        <p:spPr>
          <a:xfrm>
            <a:off x="4664360" y="4074923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4_3#972f6b7eb.choices?vcp=1&amp;pid=74a7dc275&amp;color=0,0,0&amp;bbb=1&amp;hs=1"/>
              <p:cNvSpPr/>
              <p:nvPr/>
            </p:nvSpPr>
            <p:spPr>
              <a:xfrm>
                <a:off x="393192" y="4524247"/>
                <a:ext cx="11402568" cy="1027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A.蛛丝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拉力的最小值为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0.5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.蛛丝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拉力的最大值为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.蛛丝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拉力的最大值为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.蛛丝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拉力的最小值为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0.5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4_3#972f6b7eb.choices?vcp=1&amp;pid=74a7dc275&amp;color=0,0,0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524247"/>
                <a:ext cx="11402568" cy="1027430"/>
              </a:xfrm>
              <a:prstGeom prst="rect">
                <a:avLst/>
              </a:prstGeom>
              <a:blipFill>
                <a:blip r:embed="rId5"/>
                <a:stretch>
                  <a:fillRect l="-1658" b="-1834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6_1#972f6b7eb?vcp=1&amp;pid=74a7dc275&amp;color=0,0,0&amp;bt=1&amp;bbb=1&amp;hb=1"/>
              <p:cNvSpPr/>
              <p:nvPr/>
            </p:nvSpPr>
            <p:spPr>
              <a:xfrm>
                <a:off x="393192" y="1228598"/>
                <a:ext cx="11402568" cy="1685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对结点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进行分析，受力如图所示，可知，蛛丝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拉力的最小值为0，蛛丝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拉力的最大值为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𝑩𝑶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,蛛丝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𝑬𝑶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拉力的最大值为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𝑬𝑶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,蛛丝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𝑬𝑶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拉力的最小值为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𝑬𝑶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𝐦𝐢𝐧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,故ABC错误，D正确.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6_1#972f6b7eb?vcp=1&amp;pid=74a7dc275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28598"/>
                <a:ext cx="11402568" cy="1685100"/>
              </a:xfrm>
              <a:prstGeom prst="rect">
                <a:avLst/>
              </a:prstGeom>
              <a:blipFill>
                <a:blip r:embed="rId3"/>
                <a:stretch>
                  <a:fillRect l="-1658" r="-749" b="-1087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6_2#972f6b7eb?vcp=1&amp;pid=74a7dc275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85232" y="3050032"/>
            <a:ext cx="1618488" cy="2578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d579a8e27?vcp=1&amp;pid=e3816e10d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18b7993f6?vcp=1&amp;pid=d579a8e27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限时30分钟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7_1#00371dc12?vcp=1&amp;pid=d579a8e27&amp;color=0,0,0&amp;bbb=1&amp;hb=1"/>
              <p:cNvSpPr/>
              <p:nvPr/>
            </p:nvSpPr>
            <p:spPr>
              <a:xfrm>
                <a:off x="393192" y="1649285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制作木器家具时，工人师傅常在连接处打入木楔，如图所示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，假设一个不计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重力的木楔两面对称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，顶角为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,竖直地被打入木制家具缝隙中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.已知接触面的动摩擦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，且最大静摩擦力等于滑动摩擦力.要使木楔能自锁而不会自动滑动,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应满足(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7_1#00371dc12?vcp=1&amp;pid=d579a8e27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230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8_1#00371dc12.bracket?vcp=1&amp;pid=d579a8e27&amp;color=0,0,0&amp;vpa=3"/>
          <p:cNvSpPr/>
          <p:nvPr/>
        </p:nvSpPr>
        <p:spPr>
          <a:xfrm>
            <a:off x="1540161" y="33142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6" name="QC_4_BD.7_2#00371dc12?vcp=1&amp;pid=d579a8e27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74336" y="3914775"/>
            <a:ext cx="2240280" cy="134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7_3#00371dc12.choices?vcp=1&amp;pid=d579a8e27&amp;color=0,0,0&amp;bbb=1"/>
              <p:cNvSpPr/>
              <p:nvPr/>
            </p:nvSpPr>
            <p:spPr>
              <a:xfrm>
                <a:off x="393192" y="5387975"/>
                <a:ext cx="11402568" cy="711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600"/>
                  </a:lnSpc>
                  <a:tabLst>
                    <a:tab pos="2989702" algn="l"/>
                    <a:tab pos="5941304" algn="l"/>
                    <a:tab pos="875320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𝛼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tan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tan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𝛼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7_3#00371dc12.choices?vcp=1&amp;pid=d579a8e27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387975"/>
                <a:ext cx="11402568" cy="711200"/>
              </a:xfrm>
              <a:prstGeom prst="rect">
                <a:avLst/>
              </a:prstGeom>
              <a:blipFill>
                <a:blip r:embed="rId5"/>
                <a:stretch>
                  <a:fillRect l="-165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9_1#00371dc12?vcp=1&amp;pid=d579a8e27&amp;color=0,0,0&amp;bt=1&amp;bbb=1&amp;hb=1"/>
              <p:cNvSpPr/>
              <p:nvPr/>
            </p:nvSpPr>
            <p:spPr>
              <a:xfrm>
                <a:off x="393192" y="1646428"/>
                <a:ext cx="11402568" cy="111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由于存在对称性，仅对木楔的一个侧面受力分析，如图所示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，当木楔能自锁而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不会自动滑出时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，一定满足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𝜶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𝜶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,整理得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𝜶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,故选A.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9_1#00371dc12?vcp=1&amp;pid=d579a8e27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6428"/>
                <a:ext cx="11402568" cy="1117600"/>
              </a:xfrm>
              <a:prstGeom prst="rect">
                <a:avLst/>
              </a:prstGeom>
              <a:blipFill>
                <a:blip r:embed="rId3"/>
                <a:stretch>
                  <a:fillRect l="-1658" r="-1016" b="-98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9_2#00371dc12?vcp=1&amp;pid=d579a8e27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9512" y="2899283"/>
            <a:ext cx="1719072" cy="2212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10_1#eef7271e2?htil=3&amp;vcp=1&amp;pid=d579a8e27&amp;color=0,0,0&amp;tib=255,255,255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90052" y="1343532"/>
            <a:ext cx="2697480" cy="1911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10_2#eef7271e2?htil=3&amp;vcp=1&amp;pid=d579a8e27&amp;color=0,0,0&amp;bt=1&amp;bbb=1&amp;hb=1&amp;hs=1"/>
              <p:cNvSpPr/>
              <p:nvPr/>
            </p:nvSpPr>
            <p:spPr>
              <a:xfrm>
                <a:off x="393192" y="1297813"/>
                <a:ext cx="861364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（2026·陕西师大附中检测</a:t>
                </a:r>
                <a:r>
                  <a:rPr lang="en-US" altLang="zh-CN" sz="2400" b="0" i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用两根手指抓着一个截面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为圆的杯盖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，简化示意图如图所示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，手指与杯盖截面始终处于竖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直平面内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，手指接触点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1、2与圆心的连线和水平方向的夹角均为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,手指和杯盖间的动摩擦因数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=0.8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,设最大静摩擦力等于滑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10_2#eef7271e2?htil=3&amp;vcp=1&amp;pid=d579a8e27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97813"/>
                <a:ext cx="8613648" cy="2150999"/>
              </a:xfrm>
              <a:prstGeom prst="rect">
                <a:avLst/>
              </a:prstGeom>
              <a:blipFill>
                <a:blip r:embed="rId4"/>
                <a:stretch>
                  <a:fillRect l="-2194" r="-2123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11_1#eef7271e2.bracket?vcp=1&amp;pid=d579a8e27&amp;color=0,0,0&amp;vpa=4"/>
          <p:cNvSpPr/>
          <p:nvPr/>
        </p:nvSpPr>
        <p:spPr>
          <a:xfrm>
            <a:off x="930560" y="4543678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0_3#eef7271e2.choices?vcp=1&amp;pid=d579a8e27&amp;color=0,0,0&amp;bbb=1"/>
              <p:cNvSpPr/>
              <p:nvPr/>
            </p:nvSpPr>
            <p:spPr>
              <a:xfrm>
                <a:off x="393192" y="5080951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3065902" algn="l"/>
                    <a:tab pos="6093704" algn="l"/>
                    <a:tab pos="912150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12.5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6.25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1.25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0_3#eef7271e2.choices?vcp=1&amp;pid=d579a8e27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80951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2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10_2#eef7271e2?htil=3&amp;vcp=1&amp;pid=d579a8e27&amp;color=0,0,0&amp;bt=1&amp;bbb=1&amp;hb=1&amp;hs=1">
                <a:extLst>
                  <a:ext uri="{FF2B5EF4-FFF2-40B4-BE49-F238E27FC236}">
                    <a16:creationId xmlns:a16="http://schemas.microsoft.com/office/drawing/2014/main" id="{19751D63-AE52-6DCA-0589-73D99F82AF64}"/>
                  </a:ext>
                </a:extLst>
              </p:cNvPr>
              <p:cNvSpPr/>
              <p:nvPr/>
            </p:nvSpPr>
            <p:spPr>
              <a:xfrm>
                <a:off x="393192" y="3437508"/>
                <a:ext cx="1140000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动摩擦力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.已知杯盖质量为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=0.6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=0.8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,杯盖始终在竖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直平面内处于平衡状态，手指与杯盖恰好不相对滑动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，则手指对接触点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1的压力大小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10_2#eef7271e2?htil=3&amp;vcp=1&amp;pid=d579a8e27&amp;color=0,0,0&amp;bt=1&amp;bbb=1&amp;hb=1&amp;hs=1">
                <a:extLst>
                  <a:ext uri="{FF2B5EF4-FFF2-40B4-BE49-F238E27FC236}">
                    <a16:creationId xmlns:a16="http://schemas.microsoft.com/office/drawing/2014/main" id="{19751D63-AE52-6DCA-0589-73D99F82AF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37508"/>
                <a:ext cx="11400008" cy="1592199"/>
              </a:xfrm>
              <a:prstGeom prst="rect">
                <a:avLst/>
              </a:prstGeom>
              <a:blipFill>
                <a:blip r:embed="rId6"/>
                <a:stretch>
                  <a:fillRect l="-1658" r="-1176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AS.12_1#eef7271e2?vcp=1&amp;pid=d579a8e27&amp;color=0,0,0&amp;bt=1&amp;bbb=1"/>
          <p:cNvSpPr/>
          <p:nvPr/>
        </p:nvSpPr>
        <p:spPr>
          <a:xfrm>
            <a:off x="393192" y="2206752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endParaRPr lang="en-US" altLang="zh-CN" sz="2400" dirty="0"/>
          </a:p>
        </p:txBody>
      </p:sp>
      <p:pic>
        <p:nvPicPr>
          <p:cNvPr id="3" name="QC_4_AS.12_2#eef7271e2?vcp=1&amp;pid=d579a8e27&amp;color=0,0,0&amp;tib=255,255,255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00984" y="2820543"/>
            <a:ext cx="5586984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3_1#83152bbd4?vcp=1&amp;pid=d579a8e27&amp;color=0,0,0&amp;bt=1&amp;bbb=1&amp;hb=1"/>
              <p:cNvSpPr/>
              <p:nvPr/>
            </p:nvSpPr>
            <p:spPr>
              <a:xfrm>
                <a:off x="393192" y="683769"/>
                <a:ext cx="11402568" cy="27986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小李发现小区的消防通道被一质量为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的石墩挡住了，为了移开石墩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找来一根结实的绳子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，将绳的一端系在石墩上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，双手紧握绳的另一端用力斜向上拖拽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石墩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.设绳子与水平方向的夹角为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,小李对绳施加的最大拉力为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0.6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为重力加速度,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石墩与水平地面间的动摩擦因数为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,且最大静摩擦力等于滑动摩擦力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.则下列说法正确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3_1#83152bbd4?vcp=1&amp;pid=d579a8e27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83769"/>
                <a:ext cx="11402568" cy="2798699"/>
              </a:xfrm>
              <a:prstGeom prst="rect">
                <a:avLst/>
              </a:prstGeom>
              <a:blipFill>
                <a:blip r:embed="rId3"/>
                <a:stretch>
                  <a:fillRect l="-1658" r="-1925" b="-675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4_1#83152bbd4.bracket?vcp=1&amp;pid=d579a8e27&amp;color=0,0,0&amp;vpa=5"/>
          <p:cNvSpPr/>
          <p:nvPr/>
        </p:nvSpPr>
        <p:spPr>
          <a:xfrm>
            <a:off x="1235360" y="2996439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3_2#83152bbd4.choices?vcp=1&amp;pid=d579a8e27&amp;color=0,0,0&amp;bbb=1"/>
              <p:cNvSpPr/>
              <p:nvPr/>
            </p:nvSpPr>
            <p:spPr>
              <a:xfrm>
                <a:off x="393192" y="3458463"/>
                <a:ext cx="11402568" cy="26867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A.无论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取何值，小李都不可能拖动石墩</a:t>
                </a:r>
                <a:endParaRPr lang="en-US" altLang="zh-CN" sz="2400" dirty="0"/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.小李能拖动石墩，且当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π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时最省力</a:t>
                </a:r>
                <a:endParaRPr lang="en-US" altLang="zh-CN" sz="2400" dirty="0"/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.小李能拖动石墩，且当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π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时最省力</a:t>
                </a:r>
                <a:endParaRPr lang="en-US" altLang="zh-CN" sz="2400" dirty="0"/>
              </a:p>
              <a:p>
                <a:pPr latinLnBrk="1">
                  <a:lnSpc>
                    <a:spcPts val="5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.小李能拖动石墩，且当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π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时最省力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3_2#83152bbd4.choices?vcp=1&amp;pid=d579a8e27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58463"/>
                <a:ext cx="11402568" cy="2686749"/>
              </a:xfrm>
              <a:prstGeom prst="rect">
                <a:avLst/>
              </a:prstGeom>
              <a:blipFill>
                <a:blip r:embed="rId4"/>
                <a:stretch>
                  <a:fillRect l="-1658" b="-40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15_1#83152bbd4?htil=4&amp;vcp=1&amp;pid=d579a8e27&amp;color=0,0,0&amp;tib=255,255,255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8423" y="1635347"/>
            <a:ext cx="2286000" cy="1627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15_2#83152bbd4?htil=4&amp;vcp=1&amp;pid=d579a8e27&amp;color=0,0,0&amp;bt=1&amp;bbb=1&amp;hb=1&amp;hs=1"/>
              <p:cNvSpPr/>
              <p:nvPr/>
            </p:nvSpPr>
            <p:spPr>
              <a:xfrm>
                <a:off x="393192" y="1589627"/>
                <a:ext cx="9015984" cy="1676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对石墩进行受力分析如图所示.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100"/>
                  </a:lnSpc>
                </a:pPr>
                <a:endParaRPr lang="en-US" altLang="zh-CN" sz="2400" dirty="0"/>
              </a:p>
            </p:txBody>
          </p:sp>
        </mc:Choice>
        <mc:Fallback>
          <p:sp>
            <p:nvSpPr>
              <p:cNvPr id="3" name="QC_4_AS.15_2#83152bbd4?htil=4&amp;vcp=1&amp;pid=d579a8e27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89627"/>
                <a:ext cx="9015984" cy="1676400"/>
              </a:xfrm>
              <a:prstGeom prst="rect">
                <a:avLst/>
              </a:prstGeom>
              <a:blipFill>
                <a:blip r:embed="rId4"/>
                <a:stretch>
                  <a:fillRect l="-2096" b="-690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15_2#83152bbd4?htil=4&amp;vcp=1&amp;pid=d579a8e27&amp;color=0,0,0&amp;bt=1&amp;bbb=1&amp;hb=1&amp;hs=1">
                <a:extLst>
                  <a:ext uri="{FF2B5EF4-FFF2-40B4-BE49-F238E27FC236}">
                    <a16:creationId xmlns:a16="http://schemas.microsoft.com/office/drawing/2014/main" id="{5195054D-3926-5F23-6C71-75AEEC350D76}"/>
                  </a:ext>
                </a:extLst>
              </p:cNvPr>
              <p:cNvSpPr/>
              <p:nvPr/>
            </p:nvSpPr>
            <p:spPr>
              <a:xfrm>
                <a:off x="395996" y="3235547"/>
                <a:ext cx="11400008" cy="195668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5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𝛑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den>
                        </m:f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,可解得，当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，故小李能拖</a:t>
                </a:r>
              </a:p>
              <a:p>
                <a:pPr latinLnBrk="1">
                  <a:lnSpc>
                    <a:spcPts val="5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动石墩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时最省力，故选C.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15_2#83152bbd4?htil=4&amp;vcp=1&amp;pid=d579a8e27&amp;color=0,0,0&amp;bt=1&amp;bbb=1&amp;hb=1&amp;hs=1">
                <a:extLst>
                  <a:ext uri="{FF2B5EF4-FFF2-40B4-BE49-F238E27FC236}">
                    <a16:creationId xmlns:a16="http://schemas.microsoft.com/office/drawing/2014/main" id="{5195054D-3926-5F23-6C71-75AEEC350D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3235547"/>
                <a:ext cx="11400008" cy="1956689"/>
              </a:xfrm>
              <a:prstGeom prst="rect">
                <a:avLst/>
              </a:prstGeom>
              <a:blipFill>
                <a:blip r:embed="rId5"/>
                <a:stretch>
                  <a:fillRect l="-1658" b="-529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6_1#43847a6e3?vcp=1&amp;pid=d579a8e27&amp;color=0,0,0&amp;bt=1&amp;bbb=1&amp;hb=1"/>
              <p:cNvSpPr/>
              <p:nvPr/>
            </p:nvSpPr>
            <p:spPr>
              <a:xfrm>
                <a:off x="393192" y="855663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（2026·湖北黄石二中检测）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如图所示，两相同轻质硬杆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𝑂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𝑂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可绕其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两端垂直于纸面的水平轴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𝑂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𝑂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转动，在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点悬挂一质量为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的重物，将质量为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的两相同木块紧压在竖直挡板上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，此时整个系统保持静止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.若将两挡板缓慢靠近少许距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离后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𝑂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与竖直方向夹角为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,靠近过程保持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𝑂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𝑂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始终等高，已知重力加速度为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最大静摩擦力等于滑动摩擦力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则靠近过程中(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6_1#43847a6e3?vcp=1&amp;pid=d579a8e27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55663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1230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7_1#43847a6e3.bracket?vcp=1&amp;pid=d579a8e27&amp;color=0,0,0&amp;vpa=6"/>
          <p:cNvSpPr/>
          <p:nvPr/>
        </p:nvSpPr>
        <p:spPr>
          <a:xfrm>
            <a:off x="6721761" y="3079433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4_BD.16_2#43847a6e3?htil=5&amp;vcp=1&amp;pid=d579a8e27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09864" y="3658933"/>
            <a:ext cx="3035808" cy="192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6_3#43847a6e3.choices?htil=5&amp;vcp=1&amp;pid=d579a8e27&amp;color=0,0,0&amp;bbb=1"/>
              <p:cNvSpPr/>
              <p:nvPr/>
            </p:nvSpPr>
            <p:spPr>
              <a:xfrm>
                <a:off x="393192" y="3604069"/>
                <a:ext cx="8266176" cy="2235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A.挡板与木块间的弹力变大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.挡板与木块间的摩擦力一定保持不变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.若木块没有滑动，则两挡板的摩擦力之和大于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.若木块没有滑动，则木块与挡板间动摩擦因数至少为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tan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6_3#43847a6e3.choices?htil=5&amp;vcp=1&amp;pid=d579a8e27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04069"/>
                <a:ext cx="8266176" cy="2235200"/>
              </a:xfrm>
              <a:prstGeom prst="rect">
                <a:avLst/>
              </a:prstGeom>
              <a:blipFill>
                <a:blip r:embed="rId5"/>
                <a:stretch>
                  <a:fillRect l="-2286" b="-463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18_1#43847a6e3?htil=6&amp;vcp=1&amp;pid=d579a8e27&amp;color=0,0,0&amp;tib=255,255,255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74535" y="1645570"/>
            <a:ext cx="3364992" cy="218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18_2#43847a6e3?htil=6&amp;vcp=1&amp;pid=d579a8e27&amp;color=0,0,0&amp;bt=1&amp;bbb=1&amp;hb=1&amp;hs=1"/>
              <p:cNvSpPr/>
              <p:nvPr/>
            </p:nvSpPr>
            <p:spPr>
              <a:xfrm>
                <a:off x="393192" y="1599851"/>
                <a:ext cx="7946136" cy="21805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设轻质硬杆的弹力分别为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，将重物对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拉力按照作用效果分解如图甲所示，竖直方向有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;再将硬杆对木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块的推力按照作用效果分解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，如图甲所示，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根据几何关系，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18_2#43847a6e3?htil=6&amp;vcp=1&amp;pid=d579a8e27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9851"/>
                <a:ext cx="7946136" cy="2180590"/>
              </a:xfrm>
              <a:prstGeom prst="rect">
                <a:avLst/>
              </a:prstGeom>
              <a:blipFill>
                <a:blip r:embed="rId4"/>
                <a:stretch>
                  <a:fillRect l="-2379" r="-2072" b="-838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18_2#43847a6e3?htil=6&amp;vcp=1&amp;pid=d579a8e27&amp;color=0,0,0&amp;bt=1&amp;bbb=1&amp;hb=1&amp;hs=1">
                <a:extLst>
                  <a:ext uri="{FF2B5EF4-FFF2-40B4-BE49-F238E27FC236}">
                    <a16:creationId xmlns:a16="http://schemas.microsoft.com/office/drawing/2014/main" id="{272FD037-0260-1B55-66E0-7A7222056C03}"/>
                  </a:ext>
                </a:extLst>
              </p:cNvPr>
              <p:cNvSpPr/>
              <p:nvPr/>
            </p:nvSpPr>
            <p:spPr>
              <a:xfrm>
                <a:off x="395996" y="3784123"/>
                <a:ext cx="11400008" cy="1266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,联立解得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；若将挡板间的距离减小少许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，则角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，所以挡板与木块间的弹力变小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18_2#43847a6e3?htil=6&amp;vcp=1&amp;pid=d579a8e27&amp;color=0,0,0&amp;bt=1&amp;bbb=1&amp;hb=1&amp;hs=1">
                <a:extLst>
                  <a:ext uri="{FF2B5EF4-FFF2-40B4-BE49-F238E27FC236}">
                    <a16:creationId xmlns:a16="http://schemas.microsoft.com/office/drawing/2014/main" id="{272FD037-0260-1B55-66E0-7A7222056C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3784123"/>
                <a:ext cx="11400008" cy="1266000"/>
              </a:xfrm>
              <a:prstGeom prst="rect">
                <a:avLst/>
              </a:prstGeom>
              <a:blipFill>
                <a:blip r:embed="rId5"/>
                <a:stretch>
                  <a:fillRect l="-1658" b="-1449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18_3#43847a6e3?htil=7&amp;vcp=1&amp;pid=d579a8e27&amp;color=0,0,0&amp;tib=255,255,255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06018" y="549720"/>
            <a:ext cx="3392424" cy="2276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18_4#43847a6e3?htil=7&amp;vcp=1&amp;pid=d579a8e27&amp;color=0,0,0&amp;bt=1&amp;bbb=1&amp;hb=1&amp;hs=1"/>
              <p:cNvSpPr/>
              <p:nvPr/>
            </p:nvSpPr>
            <p:spPr>
              <a:xfrm>
                <a:off x="393192" y="504000"/>
                <a:ext cx="7909560" cy="25328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若木块没有滑动，对木块、硬杆和重物整体受力分析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平衡条件可知木块所受的摩擦力之和与整体的重力等大反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;若木块发生了相对滑动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，则挡板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与木块间的摩擦力由静摩擦力转变为滑动摩擦力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、C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.若木块没有滑动，对其中一个木块受力分析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，如图乙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18_4#43847a6e3?htil=7&amp;vcp=1&amp;pid=d579a8e27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7909560" cy="2532825"/>
              </a:xfrm>
              <a:prstGeom prst="rect">
                <a:avLst/>
              </a:prstGeom>
              <a:blipFill>
                <a:blip r:embed="rId4"/>
                <a:stretch>
                  <a:fillRect l="-2390" r="-231" b="-722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EX.19_1#43847a6e3?vcp=1&amp;pid=d579a8e27&amp;color=0,0,0&amp;bbb=1&amp;hb=1"/>
              <p:cNvSpPr/>
              <p:nvPr/>
            </p:nvSpPr>
            <p:spPr>
              <a:xfrm>
                <a:off x="393192" y="4614101"/>
                <a:ext cx="11402568" cy="14914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由于轻质硬杆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𝑂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𝑂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可绕其两端垂直于纸面的水平轴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𝑂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𝑂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转动，为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“活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杆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”模型，杆上的弹力沿杆方向.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EX.19_1#43847a6e3?vcp=1&amp;pid=d579a8e27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614101"/>
                <a:ext cx="11402568" cy="1491425"/>
              </a:xfrm>
              <a:prstGeom prst="rect">
                <a:avLst/>
              </a:prstGeom>
              <a:blipFill>
                <a:blip r:embed="rId5"/>
                <a:stretch>
                  <a:fillRect l="-1658" r="-214" b="-1183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18_4#43847a6e3?htil=7&amp;vcp=1&amp;pid=d579a8e27&amp;color=0,0,0&amp;bt=1&amp;bbb=1&amp;hb=1&amp;hs=1">
                <a:extLst>
                  <a:ext uri="{FF2B5EF4-FFF2-40B4-BE49-F238E27FC236}">
                    <a16:creationId xmlns:a16="http://schemas.microsoft.com/office/drawing/2014/main" id="{84AA4002-AFD7-A73F-7F78-E7032F3F896B}"/>
                  </a:ext>
                </a:extLst>
              </p:cNvPr>
              <p:cNvSpPr/>
              <p:nvPr/>
            </p:nvSpPr>
            <p:spPr>
              <a:xfrm>
                <a:off x="395996" y="3032380"/>
                <a:ext cx="11400008" cy="15767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，竖直方向有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≥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𝐭𝐚𝐧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,即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木块与挡板间的动摩擦因数至少为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𝐭𝐚𝐧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,故D正确.］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18_4#43847a6e3?htil=7&amp;vcp=1&amp;pid=d579a8e27&amp;color=0,0,0&amp;bt=1&amp;bbb=1&amp;hb=1&amp;hs=1">
                <a:extLst>
                  <a:ext uri="{FF2B5EF4-FFF2-40B4-BE49-F238E27FC236}">
                    <a16:creationId xmlns:a16="http://schemas.microsoft.com/office/drawing/2014/main" id="{84AA4002-AFD7-A73F-7F78-E7032F3F89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3032380"/>
                <a:ext cx="11400008" cy="1576705"/>
              </a:xfrm>
              <a:prstGeom prst="rect">
                <a:avLst/>
              </a:prstGeom>
              <a:blipFill>
                <a:blip r:embed="rId6"/>
                <a:stretch>
                  <a:fillRect l="-1658" b="-656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5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0_1#491bb56ff?vcp=1&amp;pid=d579a8e27&amp;color=0,0,0&amp;bt=1&amp;bbb=1&amp;hb=1"/>
              <p:cNvSpPr/>
              <p:nvPr/>
            </p:nvSpPr>
            <p:spPr>
              <a:xfrm>
                <a:off x="393192" y="504000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（2026·湖北武汉二中检测）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（多选题）春节是我国的传统节日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，中国民谚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“腊月二十四，掸尘扫房子”.人们通过大扫除表达除旧迎新的思想.如图甲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、乙所示是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用长杆推动擦头擦玻璃的实物图和示意图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，假设擦头与玻璃间的动摩擦因数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恒定，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擦头匀速上升过程中杆与竖直方向的夹角越来越小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且杆对擦头的力始终沿杆方向，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则在擦头匀速上升过程中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下列有关说法正确的是(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0_1#491bb56ff?vcp=1&amp;pid=d579a8e27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1551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1_1#491bb56ff.bracket?vcp=1&amp;pid=d579a8e27&amp;color=0,0,0&amp;vpa=7&amp;bbb=1"/>
          <p:cNvSpPr/>
          <p:nvPr/>
        </p:nvSpPr>
        <p:spPr>
          <a:xfrm>
            <a:off x="7394861" y="2727770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pic>
        <p:nvPicPr>
          <p:cNvPr id="4" name="QC_4_BD.20_2#491bb56ff?htil=8&amp;vcp=1&amp;pid=d579a8e27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34670" y="3307270"/>
            <a:ext cx="3703320" cy="237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0_3#491bb56ff.choices?htil=8&amp;vcp=1&amp;pid=d579a8e27&amp;color=0,0,0&amp;bbb=1&amp;hb=1"/>
              <p:cNvSpPr/>
              <p:nvPr/>
            </p:nvSpPr>
            <p:spPr>
              <a:xfrm>
                <a:off x="393192" y="3252406"/>
                <a:ext cx="7598664" cy="278523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A.杆对擦头的作用力逐渐增大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.擦头对玻璃的压力越来越小，摩擦力也越来越小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.无论杆与竖直方向夹角多大都可以推动擦头上升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D.杆与竖直方向的夹角必须小于某一值才可能推动擦头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上升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，该角的正切值为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0_3#491bb56ff.choices?htil=8&amp;vcp=1&amp;pid=d579a8e27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52406"/>
                <a:ext cx="7598664" cy="2785237"/>
              </a:xfrm>
              <a:prstGeom prst="rect">
                <a:avLst/>
              </a:prstGeom>
              <a:blipFill>
                <a:blip r:embed="rId5"/>
                <a:stretch>
                  <a:fillRect l="-2488" b="-219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22_1#491bb56ff?htil=9&amp;vcp=1&amp;pid=d579a8e27&amp;color=0,0,0&amp;tib=255,255,255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47460" y="1389317"/>
            <a:ext cx="1828800" cy="2459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22_2#491bb56ff?htil=9&amp;vcp=1&amp;pid=d579a8e27&amp;color=0,0,0&amp;bt=1&amp;bbb=1&amp;hb=1&amp;hs=1"/>
              <p:cNvSpPr/>
              <p:nvPr/>
            </p:nvSpPr>
            <p:spPr>
              <a:xfrm>
                <a:off x="393192" y="1343597"/>
                <a:ext cx="9473184" cy="2870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擦头受力如图所示，由平衡关系可得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 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,联立可得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,擦头匀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速上升过程中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，杆与竖直方向的夹角越来越小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，可知杆对擦头的作用力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逐渐减小，擦头对玻璃的压力、摩擦力逐渐减小，故A错误，B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正确；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只有当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才可能推动擦头上升，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22_2#491bb56ff?htil=9&amp;vcp=1&amp;pid=d579a8e27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43597"/>
                <a:ext cx="9473184" cy="2870200"/>
              </a:xfrm>
              <a:prstGeom prst="rect">
                <a:avLst/>
              </a:prstGeom>
              <a:blipFill>
                <a:blip r:embed="rId4"/>
                <a:stretch>
                  <a:fillRect l="-1995" r="-1802" b="-233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22_2#491bb56ff?htil=9&amp;vcp=1&amp;pid=d579a8e27&amp;color=0,0,0&amp;bt=1&amp;bbb=1&amp;hb=1&amp;hs=1">
                <a:extLst>
                  <a:ext uri="{FF2B5EF4-FFF2-40B4-BE49-F238E27FC236}">
                    <a16:creationId xmlns:a16="http://schemas.microsoft.com/office/drawing/2014/main" id="{612AC1EA-183D-E398-7EFE-78EFE22D6C7F}"/>
                  </a:ext>
                </a:extLst>
              </p:cNvPr>
              <p:cNvSpPr/>
              <p:nvPr/>
            </p:nvSpPr>
            <p:spPr>
              <a:xfrm>
                <a:off x="393192" y="4169092"/>
                <a:ext cx="11400008" cy="1113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所以杆与竖直方向的夹角必须小于某一值才可能推动擦头上升，该角的正切值为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22_2#491bb56ff?htil=9&amp;vcp=1&amp;pid=d579a8e27&amp;color=0,0,0&amp;bt=1&amp;bbb=1&amp;hb=1&amp;hs=1">
                <a:extLst>
                  <a:ext uri="{FF2B5EF4-FFF2-40B4-BE49-F238E27FC236}">
                    <a16:creationId xmlns:a16="http://schemas.microsoft.com/office/drawing/2014/main" id="{612AC1EA-183D-E398-7EFE-78EFE22D6C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69092"/>
                <a:ext cx="11400008" cy="1113600"/>
              </a:xfrm>
              <a:prstGeom prst="rect">
                <a:avLst/>
              </a:prstGeom>
              <a:blipFill>
                <a:blip r:embed="rId5"/>
                <a:stretch>
                  <a:fillRect l="-1658" r="-1016" b="-158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4_BD.23_1#1776cd9af?htil=10&amp;vcp=1&amp;pid=d579a8e27&amp;color=0,0,0&amp;tib=255,255,255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41280" y="798163"/>
            <a:ext cx="1554480" cy="143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4_BD.23_2#1776cd9af?htil=10&amp;vcp=1&amp;pid=d579a8e27&amp;color=0,0,0&amp;bt=1&amp;bbb=1&amp;hb=1&amp;hs=1"/>
              <p:cNvSpPr/>
              <p:nvPr/>
            </p:nvSpPr>
            <p:spPr>
              <a:xfrm>
                <a:off x="393192" y="752443"/>
                <a:ext cx="9747504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6.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在竖直墙壁的左侧水平地面上，放置一个棱长为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正方体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，其某一截面为正方形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𝐴𝐵𝐶𝐷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，在墙壁和正方体之间放置一半径为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𝑅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的光滑球，正方体和球均保持静止，如图所示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.球的球心为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4_BD.23_2#1776cd9af?htil=10&amp;vcp=1&amp;pid=d579a8e27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52443"/>
                <a:ext cx="9747504" cy="1596200"/>
              </a:xfrm>
              <a:prstGeom prst="rect">
                <a:avLst/>
              </a:prstGeom>
              <a:blipFill>
                <a:blip r:embed="rId4"/>
                <a:stretch>
                  <a:fillRect l="-1939" r="-1063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BD.24_1#609a9807c?vcp=1&amp;pid=1776cd9af&amp;color=0,0,0&amp;bbb=1"/>
              <p:cNvSpPr/>
              <p:nvPr/>
            </p:nvSpPr>
            <p:spPr>
              <a:xfrm>
                <a:off x="393192" y="3520853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（1）正方体和墙壁对球的支持力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𝑁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𝑁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分别是多大？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BD.24_1#609a9807c?vcp=1&amp;pid=1776cd9af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20853"/>
                <a:ext cx="11402568" cy="488125"/>
              </a:xfrm>
              <a:prstGeom prst="rect">
                <a:avLst/>
              </a:prstGeom>
              <a:blipFill>
                <a:blip r:embed="rId5"/>
                <a:stretch>
                  <a:fillRect l="-1658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O_5_AN.25_1#609a9807c?iti=1&amp;htil=11&amp;vcp=1&amp;pid=1776cd9af&amp;color=0,0,0&amp;tib=255,255,255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01585" y="4059968"/>
            <a:ext cx="1801368" cy="142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6" name="QO_5_AN.25_2#609a9807c?iti=1&amp;htil=11&amp;vcp=1&amp;pid=1776cd9af&amp;color=0,0,0"/>
          <p:cNvSpPr/>
          <p:nvPr/>
        </p:nvSpPr>
        <p:spPr>
          <a:xfrm>
            <a:off x="9115738" y="5611527"/>
            <a:ext cx="373062" cy="89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latinLnBrk="1">
              <a:lnSpc>
                <a:spcPct val="150000"/>
              </a:lnSpc>
            </a:pPr>
            <a:r>
              <a:rPr lang="en-US" altLang="zh-CN" sz="2400" b="0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甲</a:t>
            </a:r>
            <a:endParaRPr lang="en-US" altLang="zh-CN" sz="2400" dirty="0"/>
          </a:p>
        </p:txBody>
      </p:sp>
      <p:sp>
        <p:nvSpPr>
          <p:cNvPr id="7" name="QO_5_AN.25_3#609a9807c?htil=11&amp;vcp=1&amp;pid=1776cd9af&amp;color=0,0,0&amp;bbb=1"/>
          <p:cNvSpPr/>
          <p:nvPr/>
        </p:nvSpPr>
        <p:spPr>
          <a:xfrm>
            <a:off x="393192" y="4014248"/>
            <a:ext cx="9409176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[答案]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对球进行受力分析，如图甲所示.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QO_5_AN.25_4#609a9807c?htil=11&amp;vcp=1&amp;pid=1776cd9af&amp;color=0,0,0&amp;bbb=1"/>
              <p:cNvSpPr/>
              <p:nvPr/>
            </p:nvSpPr>
            <p:spPr>
              <a:xfrm>
                <a:off x="393192" y="4507643"/>
                <a:ext cx="9409176" cy="111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根据平衡条件有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O_5_AN.25_4#609a9807c?htil=11&amp;vcp=1&amp;pid=1776cd9af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507643"/>
                <a:ext cx="9409176" cy="1117600"/>
              </a:xfrm>
              <a:prstGeom prst="rect">
                <a:avLst/>
              </a:prstGeom>
              <a:blipFill>
                <a:blip r:embed="rId7"/>
                <a:stretch>
                  <a:fillRect l="-2009" b="-923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QO_4_BD.23_2#1776cd9af?htil=10&amp;vcp=1&amp;pid=d579a8e27&amp;color=0,0,0&amp;bt=1&amp;bbb=1&amp;hb=1&amp;hs=1">
                <a:extLst>
                  <a:ext uri="{FF2B5EF4-FFF2-40B4-BE49-F238E27FC236}">
                    <a16:creationId xmlns:a16="http://schemas.microsoft.com/office/drawing/2014/main" id="{477B31BF-9C07-B1DA-73D1-38E66CB4F804}"/>
                  </a:ext>
                </a:extLst>
              </p:cNvPr>
              <p:cNvSpPr/>
              <p:nvPr/>
            </p:nvSpPr>
            <p:spPr>
              <a:xfrm>
                <a:off x="395996" y="2339753"/>
                <a:ext cx="11400008" cy="118097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zh-CN" altLang="en-US" sz="2400" b="0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与竖直方向的夹角为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,正方体的棱长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𝑅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,正方体与水平地面间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的动摩擦因数为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,设最大静摩擦力等于滑动摩擦力，重力加速度为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9" name="QO_4_BD.23_2#1776cd9af?htil=10&amp;vcp=1&amp;pid=d579a8e27&amp;color=0,0,0&amp;bt=1&amp;bbb=1&amp;hb=1&amp;hs=1">
                <a:extLst>
                  <a:ext uri="{FF2B5EF4-FFF2-40B4-BE49-F238E27FC236}">
                    <a16:creationId xmlns:a16="http://schemas.microsoft.com/office/drawing/2014/main" id="{477B31BF-9C07-B1DA-73D1-38E66CB4F8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2339753"/>
                <a:ext cx="11400008" cy="1180973"/>
              </a:xfrm>
              <a:prstGeom prst="rect">
                <a:avLst/>
              </a:prstGeom>
              <a:blipFill>
                <a:blip r:embed="rId8"/>
                <a:stretch>
                  <a:fillRect l="-1658" b="-82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  <p:bldP spid="8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6_1#390091c4c?vcp=1&amp;pid=1776cd9af&amp;color=0,0,0&amp;bt=1&amp;bbb=1&amp;hb=1"/>
              <p:cNvSpPr/>
              <p:nvPr/>
            </p:nvSpPr>
            <p:spPr>
              <a:xfrm>
                <a:off x="393192" y="1667986"/>
                <a:ext cx="11402568" cy="10375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45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,保持球的半径不变，只增大球的质量，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为了不让正方体出现滑动，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则球的质量的最大值为多少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？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6_1#390091c4c?vcp=1&amp;pid=1776cd9af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67986"/>
                <a:ext cx="11402568" cy="1037590"/>
              </a:xfrm>
              <a:prstGeom prst="rect">
                <a:avLst/>
              </a:prstGeom>
              <a:blipFill>
                <a:blip r:embed="rId3"/>
                <a:stretch>
                  <a:fillRect l="-1658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5_AN.27_1#390091c4c?iti=2&amp;htil=12&amp;vcp=1&amp;pid=1776cd9af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64208" y="2815875"/>
            <a:ext cx="2139696" cy="1755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O_5_AN.27_2#390091c4c?iti=2&amp;htil=12&amp;vcp=1&amp;pid=1776cd9af&amp;color=0,0,0"/>
          <p:cNvSpPr/>
          <p:nvPr/>
        </p:nvSpPr>
        <p:spPr>
          <a:xfrm>
            <a:off x="9447526" y="4696618"/>
            <a:ext cx="373062" cy="89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latinLnBrk="1">
              <a:lnSpc>
                <a:spcPct val="150000"/>
              </a:lnSpc>
            </a:pPr>
            <a:r>
              <a:rPr lang="en-US" altLang="zh-CN" sz="2400" b="0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乙</a:t>
            </a:r>
            <a:endParaRPr lang="en-US" altLang="zh-CN" sz="2400" dirty="0"/>
          </a:p>
        </p:txBody>
      </p:sp>
      <p:sp>
        <p:nvSpPr>
          <p:cNvPr id="5" name="QO_5_AN.27_3#390091c4c?htil=12&amp;vcp=1&amp;pid=1776cd9af&amp;color=0,0,0&amp;bbb=1"/>
          <p:cNvSpPr/>
          <p:nvPr/>
        </p:nvSpPr>
        <p:spPr>
          <a:xfrm>
            <a:off x="393192" y="2770155"/>
            <a:ext cx="916228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[答案]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对整体进行受力分析，如图乙所示.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O_5_AN.27_4#390091c4c?htil=12&amp;vcp=1&amp;pid=1776cd9af&amp;color=0,0,0&amp;bbb=1"/>
              <p:cNvSpPr/>
              <p:nvPr/>
            </p:nvSpPr>
            <p:spPr>
              <a:xfrm>
                <a:off x="393192" y="3258407"/>
                <a:ext cx="9162288" cy="174053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根据平衡条件有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联立得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.故球的质量的最大值为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O_5_AN.27_4#390091c4c?htil=12&amp;vcp=1&amp;pid=1776cd9af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58407"/>
                <a:ext cx="9162288" cy="1740535"/>
              </a:xfrm>
              <a:prstGeom prst="rect">
                <a:avLst/>
              </a:prstGeom>
              <a:blipFill>
                <a:blip r:embed="rId5"/>
                <a:stretch>
                  <a:fillRect l="-2063" b="-596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build="p" animBg="1"/>
      <p:bldP spid="6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302fe9ecc?vcp=1&amp;pid=e3816e10d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f8f06e4f6?vcp=1&amp;pid=302fe9ecc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4_BD.28_1#c5d4fffa1?vcp=1&amp;pid=302fe9ecc&amp;color=0,0,0&amp;bbb=1&amp;hb=1"/>
              <p:cNvSpPr/>
              <p:nvPr/>
            </p:nvSpPr>
            <p:spPr>
              <a:xfrm>
                <a:off x="393192" y="1649285"/>
                <a:ext cx="11402568" cy="16337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（江西强基竞赛训练）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如图所示，一台轧钢机的两个轮子以相反方向旋转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，轮子直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=50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,间距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,如果轮子和钢板间的动摩擦因数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=0.5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.求仅靠轮子的作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用能进入轮子间的钢板的最大厚度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</m:e>
                    </m:rad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2.236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,结果保留三位有效数字）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4_BD.28_1#c5d4fffa1?vcp=1&amp;pid=302fe9ecc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11402568" cy="1633728"/>
              </a:xfrm>
              <a:prstGeom prst="rect">
                <a:avLst/>
              </a:prstGeom>
              <a:blipFill>
                <a:blip r:embed="rId3"/>
                <a:stretch>
                  <a:fillRect l="-1658" r="-856" b="-1082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O_4_BD.28_2#c5d4fffa1?vcp=1&amp;pid=302fe9ecc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20640" y="3406775"/>
            <a:ext cx="1956816" cy="192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4_AN.29_1#c5d4fffa1?htil=13&amp;vcp=1&amp;pid=302fe9ecc&amp;color=0,0,0&amp;tib=255,255,255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27561" y="915447"/>
            <a:ext cx="2478024" cy="213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4_AN.29_2#c5d4fffa1?htil=13&amp;vcp=1&amp;pid=302fe9ecc&amp;color=0,0,0&amp;bt=1&amp;bbb=1&amp;hb=1&amp;hs=1"/>
              <p:cNvSpPr/>
              <p:nvPr/>
            </p:nvSpPr>
            <p:spPr>
              <a:xfrm>
                <a:off x="393192" y="869727"/>
                <a:ext cx="8833104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在临界状态（钢板最大厚度）下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，对钢板与轮子接触点受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力分析如图所示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，轮子对钢板的作用力在轮子与钢板接触的边缘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点处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，设钢板是匀速向前运动的，则轮子对钢板的摩擦力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的合力F的方向与钢板的前进方向垂直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，即有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4_AN.29_2#c5d4fffa1?htil=13&amp;vcp=1&amp;pid=302fe9ecc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69727"/>
                <a:ext cx="8833104" cy="2155000"/>
              </a:xfrm>
              <a:prstGeom prst="rect">
                <a:avLst/>
              </a:prstGeom>
              <a:blipFill>
                <a:blip r:embed="rId4"/>
                <a:stretch>
                  <a:fillRect l="-2139" r="-13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4_AN.29_2#c5d4fffa1?htil=13&amp;vcp=1&amp;pid=302fe9ecc&amp;color=0,0,0&amp;bt=1&amp;bbb=1&amp;hb=1&amp;hs=1">
                <a:extLst>
                  <a:ext uri="{FF2B5EF4-FFF2-40B4-BE49-F238E27FC236}">
                    <a16:creationId xmlns:a16="http://schemas.microsoft.com/office/drawing/2014/main" id="{032AF519-18AE-6A0C-62A3-60039F4F74C6}"/>
                  </a:ext>
                </a:extLst>
              </p:cNvPr>
              <p:cNvSpPr/>
              <p:nvPr/>
            </p:nvSpPr>
            <p:spPr>
              <a:xfrm>
                <a:off x="395996" y="3009423"/>
                <a:ext cx="11400008" cy="2955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,在临界状态下，摩擦力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联立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5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𝛍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5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𝛍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即仅靠轮子的作用能进入轮子间的钢板的最大厚度为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4_AN.29_2#c5d4fffa1?htil=13&amp;vcp=1&amp;pid=302fe9ecc&amp;color=0,0,0&amp;bt=1&amp;bbb=1&amp;hb=1&amp;hs=1">
                <a:extLst>
                  <a:ext uri="{FF2B5EF4-FFF2-40B4-BE49-F238E27FC236}">
                    <a16:creationId xmlns:a16="http://schemas.microsoft.com/office/drawing/2014/main" id="{032AF519-18AE-6A0C-62A3-60039F4F74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3009423"/>
                <a:ext cx="11400008" cy="2955100"/>
              </a:xfrm>
              <a:prstGeom prst="rect">
                <a:avLst/>
              </a:prstGeom>
              <a:blipFill>
                <a:blip r:embed="rId5"/>
                <a:stretch>
                  <a:fillRect l="-1658" b="-619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1179</Words>
  <Application>Microsoft Office PowerPoint</Application>
  <PresentationFormat>宽屏</PresentationFormat>
  <Paragraphs>161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2026-05-25T07:16:09Z</dcterms:created>
  <dcterms:modified xsi:type="dcterms:W3CDTF">2026-05-25T07:22:19Z</dcterms:modified>
  <cp:category/>
  <cp:contentStatus/>
</cp:coreProperties>
</file>