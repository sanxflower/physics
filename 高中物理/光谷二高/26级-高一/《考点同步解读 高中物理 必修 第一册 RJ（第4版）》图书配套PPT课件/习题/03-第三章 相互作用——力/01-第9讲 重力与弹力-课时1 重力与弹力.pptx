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030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1.xml"/><Relationship Id="rId5" Type="http://schemas.openxmlformats.org/officeDocument/2006/relationships/slide" Target="../slides/slide9.xml"/><Relationship Id="rId4" Type="http://schemas.openxmlformats.org/officeDocument/2006/relationships/slide" Target="../slides/slide8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1.xml"/><Relationship Id="rId5" Type="http://schemas.openxmlformats.org/officeDocument/2006/relationships/slide" Target="../slides/slide9.xml"/><Relationship Id="rId4" Type="http://schemas.openxmlformats.org/officeDocument/2006/relationships/slide" Target="../slides/slide8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040dabe7959cd8b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aeca822b0,d0615b57b,1609983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cd6b5ffb8&amp;amp;cid=cd6b5ffb8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18f4d9479&amp;amp;cid=18f4d9479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9ca4f376a&amp;amp;cid=9ca4f376a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f8759d9a9&amp;amp;cid=f8759d9a9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58d9ea2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5?lid=f2fa06f7b&amp;amp;cid=f2fa06f7b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cae27a67a&amp;amp;cid=cae27a67a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1a0ee35a4&amp;amp;cid=1a0ee35a4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5?lid=3a9c9ec5f&amp;amp;cid=3a9c9ec5f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b565c6c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0?lid=e506d6dbd&amp;amp;cid=e506d6dbd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d0615b57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课时1 重力与弹力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aeca822b0,d0615b57b,1609983e4#df=d0615b57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课时1 重力与弹力</a:t>
            </a:r>
            <a:endParaRPr lang="en-US" sz="1800" dirty="0"/>
          </a:p>
        </p:txBody>
      </p:sp>
      <p:sp>
        <p:nvSpPr>
          <p:cNvPr id="5" name="C_0#auto_editor_catalog_0?lid=cd6b5ffb8&amp;amp;cid=cd6b5ffb8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18f4d9479&amp;amp;cid=18f4d9479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9ca4f376a&amp;amp;cid=9ca4f376a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f8759d9a9&amp;amp;cid=f8759d9a9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58d9ea275#df=d0615b57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课时1 重力与弹力</a:t>
            </a:r>
            <a:endParaRPr lang="en-US" sz="1800" dirty="0"/>
          </a:p>
        </p:txBody>
      </p:sp>
      <p:sp>
        <p:nvSpPr>
          <p:cNvPr id="5" name="C_0#auto_editor_catalog_5?lid=f2fa06f7b&amp;amp;cid=f2fa06f7b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cae27a67a&amp;amp;cid=cae27a67a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1a0ee35a4&amp;amp;cid=1a0ee35a4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5?lid=3a9c9ec5f&amp;amp;cid=3a9c9ec5f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b565c6c24#df=d0615b57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课时1 重力与弹力</a:t>
            </a:r>
            <a:endParaRPr lang="en-US" sz="1800" dirty="0"/>
          </a:p>
        </p:txBody>
      </p:sp>
      <p:sp>
        <p:nvSpPr>
          <p:cNvPr id="5" name="C_0#auto_editor_catalog_10?lid=e506d6dbd&amp;amp;cid=e506d6dbd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#d0615b57b.fixed?vcp=1&amp;pid=aeca822b0&amp;color=0,112,192&amp;vtp=1&amp;bbb=1"/>
          <p:cNvSpPr/>
          <p:nvPr/>
        </p:nvSpPr>
        <p:spPr>
          <a:xfrm>
            <a:off x="0" y="1801368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3#d0615b57b.fixed?vcp=1&amp;pid=aeca822b0&amp;color=0,0,0&amp;vtp=1&amp;bbb=1"/>
          <p:cNvSpPr/>
          <p:nvPr/>
        </p:nvSpPr>
        <p:spPr>
          <a:xfrm>
            <a:off x="265176" y="3063240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第9讲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重力与弹力</a:t>
            </a:r>
            <a:endParaRPr lang="en-US" altLang="zh-CN" sz="4400" dirty="0"/>
          </a:p>
        </p:txBody>
      </p:sp>
      <p:sp>
        <p:nvSpPr>
          <p:cNvPr id="4" name="C_3_BD#d0615b57b.fixed?vcp=1&amp;pid=aeca822b0&amp;color=0,0,0&amp;vtp=1&amp;bbb=1"/>
          <p:cNvSpPr/>
          <p:nvPr/>
        </p:nvSpPr>
        <p:spPr>
          <a:xfrm>
            <a:off x="265176" y="4142232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课时1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重力与弹力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4_BD#1609983e4?vcp=1&amp;pid=d0615b57b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5_BD#3366fe2ec?vcp=1&amp;pid=1609983e4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sp>
        <p:nvSpPr>
          <p:cNvPr id="4" name="QC_5_BD.1_1#cd6b5ffb8?vcp=1&amp;pid=1609983e4&amp;color=0,0,0&amp;vtp=1&amp;bbb=1"/>
          <p:cNvSpPr/>
          <p:nvPr/>
        </p:nvSpPr>
        <p:spPr>
          <a:xfrm>
            <a:off x="393192" y="1646618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下列关于力的说法中错误的是(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5" name="QC_5_AN.2_1#cd6b5ffb8.bracket?vcp=1&amp;pid=1609983e4&amp;color=0,0,0&amp;vpa=1&amp;vtp=1"/>
          <p:cNvSpPr/>
          <p:nvPr/>
        </p:nvSpPr>
        <p:spPr>
          <a:xfrm>
            <a:off x="5885149" y="1644713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sp>
        <p:nvSpPr>
          <p:cNvPr id="6" name="QC_5_BD.1_2#cd6b5ffb8.choices?vcp=1&amp;pid=1609983e4&amp;color=0,0,0&amp;vtp=1&amp;bbb=1"/>
          <p:cNvSpPr/>
          <p:nvPr/>
        </p:nvSpPr>
        <p:spPr>
          <a:xfrm>
            <a:off x="393192" y="2197481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A.相互接触的物体才会发生力的作用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.小孩用力推墙，他同时也受到墙的作用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.人坐在沙发上，发现沙发凹下去，这表明力可以改变物体的形状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.足球运动员用头顶球，球的运动方向发生改变，表明力可以改变物体的运动状态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3_1#18f4d9479?vcp=1&amp;pid=1609983e4&amp;color=0,0,0&amp;vtp=1&amp;bt=1&amp;bbb=1"/>
          <p:cNvSpPr/>
          <p:nvPr/>
        </p:nvSpPr>
        <p:spPr>
          <a:xfrm>
            <a:off x="393192" y="1518190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考点2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下列关于重心及重力的说法中正确的是(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4_1#18f4d9479.bracket?vcp=1&amp;pid=1609983e4&amp;color=0,0,0&amp;vpa=2&amp;vtp=1"/>
          <p:cNvSpPr/>
          <p:nvPr/>
        </p:nvSpPr>
        <p:spPr>
          <a:xfrm>
            <a:off x="7104348" y="1516285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3_2#18f4d9479.choices?vcp=1&amp;pid=1609983e4&amp;color=0,0,0&amp;vtp=1&amp;bbb=1&amp;hb=1"/>
              <p:cNvSpPr/>
              <p:nvPr/>
            </p:nvSpPr>
            <p:spPr>
              <a:xfrm>
                <a:off x="393192" y="206657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A.一个物体放于水中称量时,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弹簧测力计的示数小于物体在空气中时弹簧测力计的示数, 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因此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,物体在水中时的重力小于在空气中的重力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.据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可知,两个物体相比较,质量较大的物体的重力一定较大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.当物体放于水平面上时,重力方向垂直于水平面向下,当物体静止于斜面上时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,其重力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方向垂直于斜面向下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.物体的形状改变后,其重心位置可能改变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BD.3_2#18f4d9479.choices?vcp=1&amp;pid=1609983e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6657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1818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5_1#9ca4f376a?vcp=1&amp;pid=1609983e4&amp;color=0,0,0&amp;vtp=1&amp;bt=1&amp;bbb=1&amp;hb=1"/>
          <p:cNvSpPr/>
          <p:nvPr/>
        </p:nvSpPr>
        <p:spPr>
          <a:xfrm>
            <a:off x="393192" y="1814323"/>
            <a:ext cx="1140256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考点3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（2026·湖南长沙一中检测）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如图是我国的极地考察破冰船——“雪龙号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”.为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满足破冰航行的要求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，其船体结构经过特殊设计，船体下部与竖直方向成特殊角度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.则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船体对冰块的弹力示意图正确的是(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6_1#9ca4f376a.bracket?vcp=1&amp;pid=1609983e4&amp;color=0,0,0&amp;vpa=3&amp;vtp=1"/>
          <p:cNvSpPr/>
          <p:nvPr/>
        </p:nvSpPr>
        <p:spPr>
          <a:xfrm>
            <a:off x="5197760" y="2920493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5_BD.5_2#9ca4f376a?htil=1&amp;vcp=1&amp;pid=1609983e4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33084" y="3580638"/>
            <a:ext cx="1984248" cy="146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5_BD.5_3#9ca4f376a.choices?htil=1&amp;vcp=1&amp;pid=1609983e4&amp;color=0,0,0&amp;vtp=1&amp;bbb=1"/>
          <p:cNvSpPr/>
          <p:nvPr/>
        </p:nvSpPr>
        <p:spPr>
          <a:xfrm>
            <a:off x="393192" y="3534918"/>
            <a:ext cx="9281160" cy="1443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12900"/>
              </a:lnSpc>
              <a:tabLst>
                <a:tab pos="2412365" algn="l"/>
                <a:tab pos="4748530" algn="l"/>
                <a:tab pos="7135495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</a:t>
            </a:r>
            <a:r>
              <a:rPr lang="en-US" altLang="zh-CN" sz="67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</a:t>
            </a:r>
            <a:r>
              <a:rPr lang="en-US" altLang="zh-CN" sz="67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</a:t>
            </a:r>
            <a:r>
              <a:rPr lang="en-US" altLang="zh-CN" sz="72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D.</a:t>
            </a:r>
            <a:r>
              <a:rPr lang="en-US" altLang="zh-CN" sz="72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</a:t>
            </a:r>
            <a:endParaRPr lang="en-US" altLang="zh-CN" sz="900" dirty="0">
              <a:latin typeface="SimSun" panose="02010600030101010101" pitchFamily="2" charset="-122"/>
            </a:endParaRPr>
          </a:p>
        </p:txBody>
      </p:sp>
      <p:pic>
        <p:nvPicPr>
          <p:cNvPr id="6" name="QC_5_BD.5_3#9ca4f376a.choice_image?htil=1&amp;vcp=1&amp;pid=1609983e4&amp;color=0,0,0&amp;tib=255,255,255&amp;iip=1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4945" y="3639503"/>
            <a:ext cx="1856232" cy="134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7" name="QC_5_BD.5_3#9ca4f376a.choice_image?htil=1&amp;vcp=1&amp;pid=1609983e4&amp;color=0,0,0&amp;tib=255,255,255&amp;iip=2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98705" y="3639503"/>
            <a:ext cx="1801368" cy="134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QC_5_BD.5_3#9ca4f376a.choice_image?htil=1&amp;vcp=1&amp;pid=1609983e4&amp;color=0,0,0&amp;tib=255,255,255&amp;iip=3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31441" y="3538918"/>
            <a:ext cx="1865376" cy="144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9" name="QC_5_BD.5_3#9ca4f376a.choice_image?htil=1&amp;vcp=1&amp;pid=1609983e4&amp;color=0,0,0&amp;tib=255,255,255&amp;iip=4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39297" y="3538918"/>
            <a:ext cx="1801368" cy="144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7_1#f8759d9a9?vcp=1&amp;pid=1609983e4&amp;color=0,0,0&amp;vtp=1&amp;bt=1&amp;bbb=1&amp;hb=1"/>
          <p:cNvSpPr/>
          <p:nvPr/>
        </p:nvSpPr>
        <p:spPr>
          <a:xfrm>
            <a:off x="393192" y="1793272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考点3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（2026·河南郑州一中检测）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玩具汽车停在模型桥面上，如图所示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.下列说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8_1#f8759d9a9.bracket?vcp=1&amp;pid=1609983e4&amp;color=0,0,0&amp;vpa=4&amp;vtp=1"/>
          <p:cNvSpPr/>
          <p:nvPr/>
        </p:nvSpPr>
        <p:spPr>
          <a:xfrm>
            <a:off x="2149761" y="2340642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5_BD.7_2#f8759d9a9?htil=2&amp;vcp=1&amp;pid=1609983e4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40400" y="2935128"/>
            <a:ext cx="2103120" cy="154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5_BD.7_3#f8759d9a9.choices?htil=2&amp;vcp=1&amp;pid=1609983e4&amp;color=0,0,0&amp;vtp=1&amp;bbb=1"/>
          <p:cNvSpPr/>
          <p:nvPr/>
        </p:nvSpPr>
        <p:spPr>
          <a:xfrm>
            <a:off x="393192" y="2889408"/>
            <a:ext cx="916228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A.桥面受到汽车给它的向下的弹力，是因为桥梁发生了弹性形变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.桥面受到汽车给它的向上的弹力，是因为汽车发生了弹性形变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.汽车受到桥面给它的向上的弹力，是因为桥梁发生了弹性形变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.汽车受到桥面给它的向下的弹力，是因为汽车发生了弹性形变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4_BD#58d9ea275?vcp=1&amp;pid=d0615b57b&amp;color=0,0,0&amp;vtp=1&amp;bt=1&amp;bbb=1"/>
          <p:cNvSpPr/>
          <p:nvPr/>
        </p:nvSpPr>
        <p:spPr>
          <a:xfrm>
            <a:off x="393192" y="502920"/>
            <a:ext cx="11402568" cy="511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5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5_BD#015fb6a9b?vcp=1&amp;pid=58d9ea275&amp;color=0,0,0&amp;vtp=1&amp;bbb=1"/>
          <p:cNvSpPr/>
          <p:nvPr/>
        </p:nvSpPr>
        <p:spPr>
          <a:xfrm>
            <a:off x="393192" y="1073804"/>
            <a:ext cx="11402568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p:pic>
        <p:nvPicPr>
          <p:cNvPr id="4" name="QC_5_BD.9_1#f2fa06f7b?htil=3&amp;vcp=1&amp;pid=58d9ea275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47802" y="1754822"/>
            <a:ext cx="3877056" cy="2770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5_BD.9_2#f2fa06f7b?htil=3&amp;vcp=1&amp;pid=58d9ea275&amp;color=0,0,0&amp;vtp=1&amp;bbb=1"/>
          <p:cNvSpPr/>
          <p:nvPr/>
        </p:nvSpPr>
        <p:spPr>
          <a:xfrm>
            <a:off x="393192" y="1608518"/>
            <a:ext cx="7388352" cy="46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1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考点3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下列对图中弹力的判断说法正确的是(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6" name="QC_5_AN.10_1#f2fa06f7b.bracket?vcp=1&amp;pid=58d9ea275&amp;color=0,0,0&amp;vpa=5&amp;vtp=1"/>
          <p:cNvSpPr/>
          <p:nvPr/>
        </p:nvSpPr>
        <p:spPr>
          <a:xfrm>
            <a:off x="6812248" y="1601279"/>
            <a:ext cx="423863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5_BD.9_3#f2fa06f7b.choices?htil=3&amp;vcp=1&amp;pid=58d9ea275&amp;color=0,0,0&amp;vtp=1&amp;bbb=1&amp;hb=1"/>
              <p:cNvSpPr/>
              <p:nvPr/>
            </p:nvSpPr>
            <p:spPr>
              <a:xfrm>
                <a:off x="393192" y="2136775"/>
                <a:ext cx="7388352" cy="420306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A.图甲中，小球随车厢一起向右做匀速直线运动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，车厢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左壁对小球有弹力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.图乙中，小球被轻绳斜拉着静止在光滑的斜面上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，斜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面对小球有弹力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.图丙中，小球被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两轻绳悬挂着处于静止，其中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绳竖直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绳对小球有弹力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.图丁中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，两相同球各自被长度相同的竖直轻绳拉住而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，则两球间有弹力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5_BD.9_3#f2fa06f7b.choices?htil=3&amp;vcp=1&amp;pid=58d9ea27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36775"/>
                <a:ext cx="7388352" cy="4203065"/>
              </a:xfrm>
              <a:prstGeom prst="rect">
                <a:avLst/>
              </a:prstGeom>
              <a:blipFill>
                <a:blip r:embed="rId4"/>
                <a:stretch>
                  <a:fillRect l="-2558" r="-1403" b="-435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11_1#cae27a67a?htil=4&amp;vcp=1&amp;pid=58d9ea275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89920" y="549720"/>
            <a:ext cx="987552" cy="168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BD.11_2#cae27a67a?htil=4&amp;vcp=1&amp;pid=58d9ea275&amp;color=0,0,0&amp;vtp=1&amp;bt=1&amp;bbb=1&amp;hb=1&amp;hs=1"/>
              <p:cNvSpPr/>
              <p:nvPr/>
            </p:nvSpPr>
            <p:spPr>
              <a:xfrm>
                <a:off x="393192" y="504000"/>
                <a:ext cx="10277856" cy="26494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如图所示，两个弹簧的质量不计，劲度系数分别为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,它们一端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分别固定在质量为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的物体的上、下两侧面，另一端分别固定在平面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上，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当物体平衡时上面的弹簧处于原长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，若把固定的物体换为质量为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弹簧均处于弹性限度内），当物体再次达到平衡状态时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，物体比第一次平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衡时的位置下降了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为（重力加速度为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BD.11_2#cae27a67a?htil=4&amp;vcp=1&amp;pid=58d9ea275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0277856" cy="2649474"/>
              </a:xfrm>
              <a:prstGeom prst="rect">
                <a:avLst/>
              </a:prstGeom>
              <a:blipFill>
                <a:blip r:embed="rId4"/>
                <a:stretch>
                  <a:fillRect l="-1839" r="-3203" b="-691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12_1#cae27a67a.bracket?vcp=1&amp;pid=58d9ea275&amp;color=0,0,0&amp;vpa=6&amp;vtp=1"/>
          <p:cNvSpPr/>
          <p:nvPr/>
        </p:nvSpPr>
        <p:spPr>
          <a:xfrm>
            <a:off x="6721571" y="2675636"/>
            <a:ext cx="441325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11_3#cae27a67a.choices?vcp=1&amp;pid=58d9ea275&amp;color=0,0,0&amp;vtp=1&amp;bbb=1&amp;hs=1"/>
              <p:cNvSpPr/>
              <p:nvPr/>
            </p:nvSpPr>
            <p:spPr>
              <a:xfrm>
                <a:off x="393192" y="3132456"/>
                <a:ext cx="11402568" cy="78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200"/>
                  </a:lnSpc>
                  <a:tabLst>
                    <a:tab pos="2618227" algn="l"/>
                    <a:tab pos="5744454" algn="l"/>
                    <a:tab pos="83245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11_3#cae27a67a.choices?vcp=1&amp;pid=58d9ea275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32456"/>
                <a:ext cx="11402568" cy="787400"/>
              </a:xfrm>
              <a:prstGeom prst="rect">
                <a:avLst/>
              </a:prstGeom>
              <a:blipFill>
                <a:blip r:embed="rId5"/>
                <a:stretch>
                  <a:fillRect l="-1658" b="-69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13_1#cae27a67a?vcp=1&amp;pid=58d9ea275&amp;color=0,0,0&amp;vtp=1&amp;bbb=1&amp;hb=1"/>
              <p:cNvSpPr/>
              <p:nvPr/>
            </p:nvSpPr>
            <p:spPr>
              <a:xfrm>
                <a:off x="393192" y="3919856"/>
                <a:ext cx="11402568" cy="2133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当物体的质量为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时，下方弹簧被压缩的长度为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，当物体的质量变为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时，设物体下降的高度为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，则上方弹簧伸长的长度为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，下方弹簧被压缩的长度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，两弹簧弹力之和等于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，由胡克定律和力的平衡条件得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,联立解得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AS.13_1#cae27a67a?vcp=1&amp;pid=58d9ea27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19856"/>
                <a:ext cx="11402568" cy="2133600"/>
              </a:xfrm>
              <a:prstGeom prst="rect">
                <a:avLst/>
              </a:prstGeom>
              <a:blipFill>
                <a:blip r:embed="rId6"/>
                <a:stretch>
                  <a:fillRect l="-1658" t="-2286" b="-28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14_1#1a0ee35a4?vcp=1&amp;pid=58d9ea275&amp;color=0,0,0&amp;vtp=1&amp;bt=1&amp;bbb=1&amp;hb=1"/>
              <p:cNvSpPr/>
              <p:nvPr/>
            </p:nvSpPr>
            <p:spPr>
              <a:xfrm>
                <a:off x="393192" y="1186339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（2026·湖北黄冈中学检测）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如图所示是锻炼身体用的拉力器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，并列装有三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根相同的弹簧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，每根弹簧的自然长度为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,某人用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600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的力把它们拉长至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14_1#1a0ee35a4?vcp=1&amp;pid=58d9ea27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86339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230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5_BD.14_2#1a0ee35a4?vcp=1&amp;pid=58d9ea27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82896" y="2906934"/>
            <a:ext cx="2432304" cy="46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C_5_AN.15_1#1a0ee35a4.bracket?vcp=1&amp;pid=58d9ea275&amp;color=0,0,0&amp;vpa=7&amp;vtp=1"/>
          <p:cNvSpPr/>
          <p:nvPr/>
        </p:nvSpPr>
        <p:spPr>
          <a:xfrm>
            <a:off x="625760" y="2292509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14_3#1a0ee35a4.choices?vcp=1&amp;pid=58d9ea275&amp;color=0,0,0&amp;vtp=1&amp;bbb=1"/>
              <p:cNvSpPr/>
              <p:nvPr/>
            </p:nvSpPr>
            <p:spPr>
              <a:xfrm>
                <a:off x="393192" y="3503834"/>
                <a:ext cx="11402568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A.人的每只手受到拉力器的拉力大小为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300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.每根弹簧产生的弹力大小为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.每根弹簧的劲度系数为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200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.每根弹簧的劲度系数为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600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14_3#1a0ee35a4.choices?vcp=1&amp;pid=58d9ea27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03834"/>
                <a:ext cx="11402568" cy="2158302"/>
              </a:xfrm>
              <a:prstGeom prst="rect">
                <a:avLst/>
              </a:prstGeom>
              <a:blipFill>
                <a:blip r:embed="rId5"/>
                <a:stretch>
                  <a:fillRect l="-1658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16_1#1a0ee35a4?vcp=1&amp;pid=58d9ea275&amp;color=0,0,0&amp;vtp=1&amp;bt=1&amp;bbb=1&amp;hb=1"/>
              <p:cNvSpPr/>
              <p:nvPr/>
            </p:nvSpPr>
            <p:spPr>
              <a:xfrm>
                <a:off x="393192" y="1966118"/>
                <a:ext cx="11402568" cy="2739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依题意，根据力的相互性知，人的每只手受到拉力器的拉力大小为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𝟔𝟎𝟎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错误；由于三根弹簧并联，每根弹簧受到的拉力相等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，故每根弹簧产生的弹力均为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，故B错误；每根弹簧的伸长量为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，每根弹簧产生的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，则由胡克定律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得，每根弹簧的劲度系数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C正确，D错误.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16_1#1a0ee35a4?vcp=1&amp;pid=58d9ea27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66118"/>
                <a:ext cx="11402568" cy="2739200"/>
              </a:xfrm>
              <a:prstGeom prst="rect">
                <a:avLst/>
              </a:prstGeom>
              <a:blipFill>
                <a:blip r:embed="rId3"/>
                <a:stretch>
                  <a:fillRect l="-1658" r="-214" b="-64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5_BD.17_1#3a9c9ec5f?htil=5&amp;vcp=1&amp;pid=58d9ea275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8382" y="1333373"/>
            <a:ext cx="3584448" cy="2715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BD.17_2#3a9c9ec5f?htil=5&amp;vcp=1&amp;pid=58d9ea275&amp;color=0,0,0&amp;vtp=1&amp;bt=1&amp;bbb=1&amp;hb=1&amp;hs=1"/>
              <p:cNvSpPr/>
              <p:nvPr/>
            </p:nvSpPr>
            <p:spPr>
              <a:xfrm>
                <a:off x="393192" y="1287653"/>
                <a:ext cx="7690104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（2026·皖南八校检测）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如图甲所示，物体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放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在水平地面上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，弹簧1的两端与物体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相连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，弹簧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的一端与物体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相连，另一端与绳子相连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，绳子绕过定滑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轮与物体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相连，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三个物体的质量分别是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,弹簧1和弹簧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全相同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，弹簧的弹力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与弹簧总长度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𝑙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的关系如图乙所示.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BD.17_2#3a9c9ec5f?htil=5&amp;vcp=1&amp;pid=58d9ea275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87653"/>
                <a:ext cx="7690104" cy="3272600"/>
              </a:xfrm>
              <a:prstGeom prst="rect">
                <a:avLst/>
              </a:prstGeom>
              <a:blipFill>
                <a:blip r:embed="rId4"/>
                <a:stretch>
                  <a:fillRect l="-2458" r="-2220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BD.17_2#3a9c9ec5f?htil=5&amp;vcp=1&amp;pid=58d9ea275&amp;color=0,0,0&amp;vtp=1&amp;bt=1&amp;bbb=1&amp;hb=1&amp;hs=1">
                <a:extLst>
                  <a:ext uri="{FF2B5EF4-FFF2-40B4-BE49-F238E27FC236}">
                    <a16:creationId xmlns:a16="http://schemas.microsoft.com/office/drawing/2014/main" id="{BD7D4DD9-0029-1644-60BB-3C23375B45B7}"/>
                  </a:ext>
                </a:extLst>
              </p:cNvPr>
              <p:cNvSpPr/>
              <p:nvPr/>
            </p:nvSpPr>
            <p:spPr>
              <a:xfrm>
                <a:off x="395996" y="4532249"/>
                <a:ext cx="11400008" cy="10368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现用竖直向下的力缓慢拉动物体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，直到物体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刚要离开地面.不计弹簧与绳子的重力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和一切摩擦，重力加速度大小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.求：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BD.17_2#3a9c9ec5f?htil=5&amp;vcp=1&amp;pid=58d9ea275&amp;color=0,0,0&amp;vtp=1&amp;bt=1&amp;bbb=1&amp;hb=1&amp;hs=1">
                <a:extLst>
                  <a:ext uri="{FF2B5EF4-FFF2-40B4-BE49-F238E27FC236}">
                    <a16:creationId xmlns:a16="http://schemas.microsoft.com/office/drawing/2014/main" id="{BD7D4DD9-0029-1644-60BB-3C23375B45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4532249"/>
                <a:ext cx="11400008" cy="1036828"/>
              </a:xfrm>
              <a:prstGeom prst="rect">
                <a:avLst/>
              </a:prstGeom>
              <a:blipFill>
                <a:blip r:embed="rId5"/>
                <a:stretch>
                  <a:fillRect l="-1658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6_BD.18_1#e18c51eda?vcp=1&amp;pid=3a9c9ec5f&amp;color=0,0,0&amp;vtp=1&amp;bt=1&amp;bbb=1"/>
              <p:cNvSpPr/>
              <p:nvPr/>
            </p:nvSpPr>
            <p:spPr>
              <a:xfrm>
                <a:off x="393192" y="1800669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（1）拉动物体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之前弹簧1的形变量和弹簧2的形变量.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6_BD.18_1#e18c51eda?vcp=1&amp;pid=3a9c9ec5f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00669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6_AN.19_1#e18c51eda?vcp=1&amp;pid=3a9c9ec5f&amp;color=0,0,0&amp;vtp=1&amp;bbb=1&amp;hb=1"/>
              <p:cNvSpPr/>
              <p:nvPr/>
            </p:nvSpPr>
            <p:spPr>
              <a:xfrm>
                <a:off x="393192" y="2300160"/>
                <a:ext cx="11402568" cy="2739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由题图乙可知，弹簧的原长为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，弹簧的劲度系数为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初始时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，弹簧2处于伸长状态，对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假设弹簧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1处于压缩状态，对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联立解得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𝟎𝟎𝟓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，假设成立.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6_AN.19_1#e18c51eda?vcp=1&amp;pid=3a9c9ec5f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00160"/>
                <a:ext cx="11402568" cy="2739200"/>
              </a:xfrm>
              <a:prstGeom prst="rect">
                <a:avLst/>
              </a:prstGeom>
              <a:blipFill>
                <a:blip r:embed="rId4"/>
                <a:stretch>
                  <a:fillRect l="-1658" b="-64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6_BD.20_1#90ef10f3a?vcp=1&amp;pid=3a9c9ec5f&amp;color=0,0,0&amp;vtp=1&amp;bt=1&amp;bbb=1"/>
              <p:cNvSpPr/>
              <p:nvPr/>
            </p:nvSpPr>
            <p:spPr>
              <a:xfrm>
                <a:off x="393192" y="1810607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刚要离地时，物体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向下移动的距离.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6_BD.20_1#90ef10f3a?vcp=1&amp;pid=3a9c9ec5f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10607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6_AN.21_1#90ef10f3a?vcp=1&amp;pid=3a9c9ec5f&amp;color=0,0,0&amp;vtp=1&amp;bbb=1"/>
              <p:cNvSpPr/>
              <p:nvPr/>
            </p:nvSpPr>
            <p:spPr>
              <a:xfrm>
                <a:off x="393192" y="2310098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刚要离地时，对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𝟎𝟏𝟓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1处于伸长状态，对B有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向下移动的距离为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)+(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6_AN.21_1#90ef10f3a?vcp=1&amp;pid=3a9c9ec5f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10098"/>
                <a:ext cx="11402568" cy="2713800"/>
              </a:xfrm>
              <a:prstGeom prst="rect">
                <a:avLst/>
              </a:prstGeom>
              <a:blipFill>
                <a:blip r:embed="rId4"/>
                <a:stretch>
                  <a:fillRect l="-1658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4_BD#b565c6c24?vcp=1&amp;pid=d0615b57b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>
              <a:solidFill>
                <a:srgbClr val="000000"/>
              </a:solidFill>
            </a:endParaRPr>
          </a:p>
        </p:txBody>
      </p:sp>
      <p:sp>
        <p:nvSpPr>
          <p:cNvPr id="3" name="P_5_BD#81dd222ce?vcp=1&amp;pid=b565c6c24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pic>
        <p:nvPicPr>
          <p:cNvPr id="4" name="QB_5_BD.22_1#e506d6dbd?htil=6&amp;vcp=1&amp;pid=b565c6c24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79476" y="1645538"/>
            <a:ext cx="1152144" cy="2715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B_5_BD.22_2#e506d6dbd?htil=6&amp;vcp=1&amp;pid=b565c6c24&amp;color=0,0,0&amp;vtp=1&amp;bbb=1&amp;hb=1"/>
              <p:cNvSpPr/>
              <p:nvPr/>
            </p:nvSpPr>
            <p:spPr>
              <a:xfrm>
                <a:off x="393192" y="1590675"/>
                <a:ext cx="10113264" cy="241827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（上海交大自主招生）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如图所示,原长分别为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、劲度系数分别为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的轻质弹簧竖直地悬挂在天花板下.两弹簧之间有一质量为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 err="1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的物体，最</a:t>
                </a:r>
                <a:endParaRPr lang="en-US" altLang="zh-CN" sz="2400" b="0" i="0" dirty="0">
                  <a:solidFill>
                    <a:srgbClr val="000000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 dirty="0" err="1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下端挂着质量为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 err="1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的另一物体.整个装置处于静止状态,这时两个弹簧的总长</a:t>
                </a:r>
                <a:endParaRPr lang="en-US" altLang="zh-CN" sz="2400" b="0" i="0" dirty="0">
                  <a:solidFill>
                    <a:srgbClr val="000000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6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</a:t>
                </a:r>
                <a:r>
                  <a:rPr lang="en-US" altLang="zh-CN" sz="3950" b="1" i="0" u="sng" kern="0" spc="-99900">
                    <a:solidFill>
                      <a:srgbClr val="FF00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______________________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" name="QB_5_BD.22_2#e506d6dbd?htil=6&amp;vcp=1&amp;pid=b565c6c2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0113264" cy="2418271"/>
              </a:xfrm>
              <a:prstGeom prst="rect">
                <a:avLst/>
              </a:prstGeom>
              <a:blipFill>
                <a:blip r:embed="rId4"/>
                <a:stretch>
                  <a:fillRect l="-1869" r="-1266" b="-705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B_5_AN.23_1#e506d6dbd.blank?vcp=1&amp;pid=b565c6c24&amp;color=0,0,0&amp;vpa=8&amp;vtp=1&amp;bbb=1&amp;rh=45.58"/>
              <p:cNvSpPr/>
              <p:nvPr/>
            </p:nvSpPr>
            <p:spPr>
              <a:xfrm>
                <a:off x="1013904" y="3359595"/>
                <a:ext cx="3504248" cy="57886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6" name="QB_5_AN.23_1#e506d6dbd.blank?vcp=1&amp;pid=b565c6c24&amp;color=0,0,0&amp;vpa=8&amp;vtp=1&amp;bbb=1&amp;rh=45.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904" y="3359595"/>
                <a:ext cx="3504248" cy="578866"/>
              </a:xfrm>
              <a:prstGeom prst="rect">
                <a:avLst/>
              </a:prstGeom>
              <a:blipFill>
                <a:blip r:embed="rId5"/>
                <a:stretch>
                  <a:fillRect b="-105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QB_5_BD.22_3#e506d6dbd?htil=6&amp;vcp=1&amp;pid=b565c6c24&amp;color=0,0,0&amp;vtp=1&amp;bbb=1&amp;hb=1"/>
          <p:cNvSpPr/>
          <p:nvPr/>
        </p:nvSpPr>
        <p:spPr>
          <a:xfrm>
            <a:off x="393192" y="4003675"/>
            <a:ext cx="10113264" cy="1300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用一个平板把下面的物体竖直地缓慢地向上托起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,直到两个弹簧的总长度等</a:t>
            </a:r>
          </a:p>
          <a:p>
            <a:pPr latinLnBrk="1">
              <a:lnSpc>
                <a:spcPts val="69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于两弹簧的原长之和,这时平板受到下面物体的压力大小等于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</a:t>
            </a:r>
            <a:r>
              <a:rPr lang="en-US" altLang="zh-CN" sz="3950" b="1" i="0" u="sng" kern="0" spc="-99900">
                <a:solidFill>
                  <a:srgbClr val="FF00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____________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QB_5_AN.24_1#e506d6dbd.blank?vcp=1&amp;pid=b565c6c24&amp;color=0,0,0&amp;vpa=9&amp;vtp=1&amp;bbb=1&amp;rh=45.47"/>
              <p:cNvSpPr/>
              <p:nvPr/>
            </p:nvSpPr>
            <p:spPr>
              <a:xfrm>
                <a:off x="8443405" y="4664266"/>
                <a:ext cx="1884236" cy="57746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8" name="QB_5_AN.24_1#e506d6dbd.blank?vcp=1&amp;pid=b565c6c24&amp;color=0,0,0&amp;vpa=9&amp;vtp=1&amp;bbb=1&amp;rh=45.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405" y="4664266"/>
                <a:ext cx="1884236" cy="577469"/>
              </a:xfrm>
              <a:prstGeom prst="rect">
                <a:avLst/>
              </a:prstGeom>
              <a:blipFill>
                <a:blip r:embed="rId6"/>
                <a:stretch>
                  <a:fillRect b="-105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8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5_AS.25_1#e506d6dbd?vcp=1&amp;pid=b565c6c24&amp;color=0,0,0&amp;vtp=1&amp;bt=1&amp;bbb=1&amp;hb=1"/>
              <p:cNvSpPr/>
              <p:nvPr/>
            </p:nvSpPr>
            <p:spPr>
              <a:xfrm>
                <a:off x="393192" y="1333976"/>
                <a:ext cx="11402568" cy="4216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1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研究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整体，弹簧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的伸长量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;研究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,弹簧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的伸长量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,这时两个弹簧的总长度为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很容易分析得到弹簧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伸长，弹簧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缩短.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设托起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的伸长量为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的压缩量为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据题意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的平衡条件可知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,这时平板受到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的压力大小为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B_5_AS.25_1#e506d6dbd?vcp=1&amp;pid=b565c6c2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33976"/>
                <a:ext cx="11402568" cy="4216400"/>
              </a:xfrm>
              <a:prstGeom prst="rect">
                <a:avLst/>
              </a:prstGeom>
              <a:blipFill>
                <a:blip r:embed="rId3"/>
                <a:stretch>
                  <a:fillRect l="-1658" r="-53" b="-14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826</Words>
  <Application>Microsoft Office PowerPoint</Application>
  <PresentationFormat>宽屏</PresentationFormat>
  <Paragraphs>120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2026-05-25T08:00:41Z</dcterms:created>
  <dcterms:modified xsi:type="dcterms:W3CDTF">2026-05-25T08:03:12Z</dcterms:modified>
  <cp:category/>
  <cp:contentStatus/>
</cp:coreProperties>
</file>