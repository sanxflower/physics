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35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9.xml"/><Relationship Id="rId4" Type="http://schemas.openxmlformats.org/officeDocument/2006/relationships/slide" Target="../slides/slide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9.xml"/><Relationship Id="rId4" Type="http://schemas.openxmlformats.org/officeDocument/2006/relationships/slide" Target="../slides/slide6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040dabe7959cd8f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aaf6a47cc,a3672e741,d70a533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3ab29821a&amp;amp;cid=3ab29821a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362fe4ace&amp;amp;cid=362fe4ace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3c14acd57&amp;amp;cid=3c14acd57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a57990a0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4?lid=598a2b74a&amp;amp;cid=598a2b74a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a3672e7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课时3 实验：探究两个互成角度的力的合成规律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aaf6a47cc,a3672e741,d70a53340#df=a3672e7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课时3 实验：探究两个互成角度的力的合成规律</a:t>
            </a:r>
            <a:endParaRPr lang="en-US" sz="1800" dirty="0"/>
          </a:p>
        </p:txBody>
      </p:sp>
      <p:sp>
        <p:nvSpPr>
          <p:cNvPr id="5" name="C_0#auto_editor_catalog_0?lid=3ab29821a&amp;amp;cid=3ab29821a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362fe4ace&amp;amp;cid=362fe4ace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3c14acd57&amp;amp;cid=3c14acd57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a57990a0f#df=a3672e7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课时3 实验：探究两个互成角度的力的合成规律</a:t>
            </a:r>
            <a:endParaRPr lang="en-US" sz="1800" dirty="0"/>
          </a:p>
        </p:txBody>
      </p:sp>
      <p:sp>
        <p:nvSpPr>
          <p:cNvPr id="5" name="C_0#auto_editor_catalog_4?lid=598a2b74a&amp;amp;cid=598a2b74a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#a3672e741.fixed?vcp=1&amp;pid=aaf6a47cc&amp;color=0,112,192&amp;vtp=1&amp;bbb=1"/>
          <p:cNvSpPr/>
          <p:nvPr/>
        </p:nvSpPr>
        <p:spPr>
          <a:xfrm>
            <a:off x="0" y="1801368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相互作用——力</a:t>
            </a:r>
            <a:endParaRPr lang="en-US" altLang="zh-CN" sz="4800" dirty="0"/>
          </a:p>
        </p:txBody>
      </p:sp>
      <p:sp>
        <p:nvSpPr>
          <p:cNvPr id="3" name="C_3#a3672e741.fixed?vcp=1&amp;pid=aaf6a47cc&amp;color=0,0,0&amp;vtp=1&amp;bbb=1"/>
          <p:cNvSpPr/>
          <p:nvPr/>
        </p:nvSpPr>
        <p:spPr>
          <a:xfrm>
            <a:off x="265176" y="3063240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力的合成和分解</a:t>
            </a:r>
            <a:endParaRPr lang="en-US" altLang="zh-CN" sz="4400" dirty="0"/>
          </a:p>
        </p:txBody>
      </p:sp>
      <p:sp>
        <p:nvSpPr>
          <p:cNvPr id="4" name="C_3_BD#a3672e741.fixed?vcp=1&amp;pid=aaf6a47cc&amp;color=0,0,0&amp;vtp=1&amp;bbb=1&amp;hb=1"/>
          <p:cNvSpPr/>
          <p:nvPr/>
        </p:nvSpPr>
        <p:spPr>
          <a:xfrm>
            <a:off x="265176" y="4142232"/>
            <a:ext cx="11521440" cy="134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3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课时3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</a:t>
            </a:r>
            <a:r>
              <a:rPr lang="en-US" altLang="zh-CN" sz="4400" b="1" i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：探究两个互成角度的力的合成规</a:t>
            </a:r>
          </a:p>
          <a:p>
            <a:pPr algn="ctr" latinLnBrk="1">
              <a:lnSpc>
                <a:spcPts val="5400"/>
              </a:lnSpc>
            </a:pPr>
            <a:r>
              <a:rPr lang="en-US" altLang="zh-CN" sz="4400" b="1" i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律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4_BD#d70a53340?vcp=1&amp;pid=a3672e741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5_BD#61e2ef354?vcp=1&amp;pid=d70a53340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pic>
        <p:nvPicPr>
          <p:cNvPr id="4" name="QO_5_BD.1_1#3ab29821a?htil=1&amp;vcp=1&amp;pid=d70a53340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51690" y="1701482"/>
            <a:ext cx="1956816" cy="220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O_5_BD.1_2#3ab29821a?htil=1&amp;vcp=1&amp;pid=d70a53340&amp;color=0,0,0&amp;vtp=1&amp;bbb=1"/>
          <p:cNvSpPr/>
          <p:nvPr/>
        </p:nvSpPr>
        <p:spPr>
          <a:xfrm>
            <a:off x="393192" y="1646618"/>
            <a:ext cx="9308592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“探究求合力的方法”的实验装置如图所示,在该实验中：</a:t>
            </a:r>
            <a:endParaRPr lang="en-US" altLang="zh-CN" sz="2400" dirty="0"/>
          </a:p>
        </p:txBody>
      </p:sp>
      <p:sp>
        <p:nvSpPr>
          <p:cNvPr id="6" name="QC_6_BD.2_1#f1299050e?htil=1&amp;vcp=1&amp;pid=3ab29821a&amp;color=0,0,0&amp;vtp=1&amp;bbb=1"/>
          <p:cNvSpPr/>
          <p:nvPr/>
        </p:nvSpPr>
        <p:spPr>
          <a:xfrm>
            <a:off x="393192" y="2190813"/>
            <a:ext cx="9308592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）下列说法正确的是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sp>
        <p:nvSpPr>
          <p:cNvPr id="7" name="QC_6_BD.2_2#f1299050e.choices?htil=1&amp;vcp=1&amp;pid=3ab29821a&amp;color=0,0,0&amp;vtp=1&amp;bbb=1&amp;hb=1"/>
          <p:cNvSpPr/>
          <p:nvPr/>
        </p:nvSpPr>
        <p:spPr>
          <a:xfrm>
            <a:off x="393192" y="2741676"/>
            <a:ext cx="9308592" cy="2713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A.拉着细绳套的两只弹簧测力计,稳定后读数应相同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.在已记录结点位置的情况下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,确定一个拉力的方向需要再选择相距较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远的两点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.测量时弹簧测力计外壳与木板之间不能存在摩擦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.测量时,橡皮条、细绳和弹簧测力计应贴近并平行于木板</a:t>
            </a:r>
            <a:endParaRPr lang="en-US" altLang="zh-CN" sz="2400" dirty="0"/>
          </a:p>
        </p:txBody>
      </p:sp>
      <p:sp>
        <p:nvSpPr>
          <p:cNvPr id="8" name="QC_6_AN.3_1#f1299050e.blank?vcp=1&amp;pid=3ab29821a&amp;color=0,0,0&amp;vpa=1&amp;vtp=1"/>
          <p:cNvSpPr/>
          <p:nvPr/>
        </p:nvSpPr>
        <p:spPr>
          <a:xfrm>
            <a:off x="3572160" y="2150808"/>
            <a:ext cx="4413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6_AS.4_1#f1299050e?vcp=1&amp;pid=3ab29821a&amp;color=0,0,0&amp;mp=1&amp;vtp=1&amp;bt=1&amp;bbb=1&amp;hb=1"/>
          <p:cNvSpPr/>
          <p:nvPr/>
        </p:nvSpPr>
        <p:spPr>
          <a:xfrm>
            <a:off x="393192" y="2635345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两弹簧测力计读数不必相同；在结点位置确定好的情况下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，确定一个拉力的方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向只需要选择距离稍远的一个点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；弹簧测力计外壳与木板之间可以有摩擦；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橡皮条、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细绳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、弹簧测力计与木板应贴近且平行，故选D.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6_BD.5_1#0926fc9f6?vcp=1&amp;pid=3ab29821a&amp;color=0,0,0&amp;vtp=1&amp;bt=1&amp;bbb=1&amp;hb=1"/>
              <p:cNvSpPr/>
              <p:nvPr/>
            </p:nvSpPr>
            <p:spPr>
              <a:xfrm>
                <a:off x="393192" y="2662745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（2）若只有一只弹簧测力计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,为了完成该实验至少需要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填“2”“3”或“4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”）次把橡皮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条结点拉到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" name="QB_6_BD.5_1#0926fc9f6?vcp=1&amp;pid=3ab29821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62745"/>
                <a:ext cx="11402568" cy="1037400"/>
              </a:xfrm>
              <a:prstGeom prst="rect">
                <a:avLst/>
              </a:prstGeom>
              <a:blipFill>
                <a:blip r:embed="rId3"/>
                <a:stretch>
                  <a:fillRect l="-1658" r="-1444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B_6_AN.6_1#0926fc9f6.blank?vcp=1&amp;pid=3ab29821a&amp;color=0,0,0&amp;vpa=2&amp;vtp=1&amp;bbb=1"/>
              <p:cNvSpPr/>
              <p:nvPr/>
            </p:nvSpPr>
            <p:spPr>
              <a:xfrm>
                <a:off x="7694105" y="2739516"/>
                <a:ext cx="338138" cy="35344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3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3" name="QB_6_AN.6_1#0926fc9f6.blank?vcp=1&amp;pid=3ab29821a&amp;color=0,0,0&amp;vpa=2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105" y="2739516"/>
                <a:ext cx="338138" cy="353441"/>
              </a:xfrm>
              <a:prstGeom prst="rect">
                <a:avLst/>
              </a:prstGeom>
              <a:blipFill>
                <a:blip r:embed="rId4"/>
                <a:stretch>
                  <a:fillRect l="-8929" r="-7143" b="-12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B_6_AS.7_1#0926fc9f6?vcp=1&amp;pid=3ab29821a&amp;color=0,0,0&amp;vtp=1&amp;bbb=1"/>
          <p:cNvSpPr/>
          <p:nvPr/>
        </p:nvSpPr>
        <p:spPr>
          <a:xfrm>
            <a:off x="393192" y="3707956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只有一个弹簧测力计时，确定三个力的大小至少需拉3次.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8_1#362fe4ace?vcp=1&amp;pid=d70a53340&amp;color=0,0,0&amp;vtp=1&amp;bt=1&amp;bbb=1&amp;hb=1"/>
              <p:cNvSpPr/>
              <p:nvPr/>
            </p:nvSpPr>
            <p:spPr>
              <a:xfrm>
                <a:off x="393192" y="504000"/>
                <a:ext cx="11402568" cy="14914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某同学用如图所示的实验装置来“验证力的平行四边形定则”.弹簧测力计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悬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挂在固定点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处,下端用细线挂一重物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点.弹簧测力计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的一端用细线系于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,手持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另一端向左拉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,使结点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静止在某位置.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8_1#362fe4ace?vcp=1&amp;pid=d70a53340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1491425"/>
              </a:xfrm>
              <a:prstGeom prst="rect">
                <a:avLst/>
              </a:prstGeom>
              <a:blipFill>
                <a:blip r:embed="rId3"/>
                <a:stretch>
                  <a:fillRect l="-1658" r="-1016" b="-1229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5_BD.8_2#362fe4ace?vcp=1&amp;pid=d70a53340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47488" y="2132966"/>
            <a:ext cx="2103120" cy="1435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C_6_BD.9_1#d11226c99?vcp=1&amp;pid=362fe4ace&amp;color=0,0,0&amp;vtp=1&amp;bbb=1"/>
          <p:cNvSpPr/>
          <p:nvPr/>
        </p:nvSpPr>
        <p:spPr>
          <a:xfrm>
            <a:off x="393192" y="3707766"/>
            <a:ext cx="11402568" cy="455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0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（1）（多选题）下列操作中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,不必要的步骤要求是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sp>
        <p:nvSpPr>
          <p:cNvPr id="5" name="QC_6_AN.10_1#d11226c99.blank?vcp=1&amp;pid=362fe4ace&amp;color=0,0,0&amp;vpa=3&amp;vtp=1&amp;bbb=1"/>
          <p:cNvSpPr/>
          <p:nvPr/>
        </p:nvSpPr>
        <p:spPr>
          <a:xfrm>
            <a:off x="7051961" y="3661093"/>
            <a:ext cx="644525" cy="45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0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6_BD.9_2#d11226c99.choices?vcp=1&amp;pid=362fe4ace&amp;color=0,0,0&amp;vtp=1&amp;bbb=1"/>
              <p:cNvSpPr/>
              <p:nvPr/>
            </p:nvSpPr>
            <p:spPr>
              <a:xfrm>
                <a:off x="393192" y="4224338"/>
                <a:ext cx="11402568" cy="2012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A.木板平面要保持竖直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.两个弹簧测力计必须完全相同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.拉线方向应与木板平面平行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.改变拉力多次实验时,每次都要使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点静止在同一位置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6_BD.9_2#d11226c99.choices?vcp=1&amp;pid=362fe4ace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224338"/>
                <a:ext cx="11402568" cy="2012125"/>
              </a:xfrm>
              <a:prstGeom prst="rect">
                <a:avLst/>
              </a:prstGeom>
              <a:blipFill>
                <a:blip r:embed="rId5"/>
                <a:stretch>
                  <a:fillRect l="-1658" b="-878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6_AS.11_1#d11226c99?vcp=1&amp;pid=362fe4ace&amp;color=0,0,0&amp;mp=1&amp;vtp=1&amp;bt=1&amp;bbb=1&amp;hb=1"/>
              <p:cNvSpPr/>
              <p:nvPr/>
            </p:nvSpPr>
            <p:spPr>
              <a:xfrm>
                <a:off x="393192" y="2361025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实验过程中应保持木板竖直，拉线方向应与木板平面平行，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这样可以减小摩擦，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提高准确度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，是必要的；两个弹簧测力计只要能准确测出拉力的大小即可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，没必要完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全相同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；每次改变拉力后，与上次实验的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点没有任何关系，因此没必要每次使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在同一位置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.故选BD.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6_AS.11_1#d11226c99?vcp=1&amp;pid=362fe4ace&amp;color=0,0,0&amp;mp=1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61025"/>
                <a:ext cx="11402568" cy="2155000"/>
              </a:xfrm>
              <a:prstGeom prst="rect">
                <a:avLst/>
              </a:prstGeom>
              <a:blipFill>
                <a:blip r:embed="rId3"/>
                <a:stretch>
                  <a:fillRect l="-1658" r="-3690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B_6_BD.12_1#03018a485?htil=2&amp;vcp=1&amp;pid=362fe4ace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70648" y="982980"/>
            <a:ext cx="4306824" cy="493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QB_6_BD.12_2#03018a485?htil=2&amp;vcp=1&amp;pid=362fe4ace&amp;color=0,0,0&amp;vtp=1&amp;bt=1&amp;bbb=1&amp;hb=1"/>
          <p:cNvSpPr/>
          <p:nvPr/>
        </p:nvSpPr>
        <p:spPr>
          <a:xfrm>
            <a:off x="393192" y="937261"/>
            <a:ext cx="6958584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（2）以下是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4位同学做完实验后在白纸上留下的标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注信息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,根据这些信息判断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,明显出现错误的是图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;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对提高实验精度最有利的是图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sp>
        <p:nvSpPr>
          <p:cNvPr id="4" name="QB_6_AN.13_1#03018a485.blank?vcp=1&amp;pid=362fe4ace&amp;color=0,0,0&amp;vpa=4&amp;vtp=1"/>
          <p:cNvSpPr/>
          <p:nvPr/>
        </p:nvSpPr>
        <p:spPr>
          <a:xfrm>
            <a:off x="6632861" y="1468121"/>
            <a:ext cx="423863" cy="49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sp>
        <p:nvSpPr>
          <p:cNvPr id="5" name="QB_6_AN.14_1#03018a485.blank?vcp=1&amp;pid=362fe4ace&amp;color=0,0,0&amp;vpa=5&amp;vtp=1"/>
          <p:cNvSpPr/>
          <p:nvPr/>
        </p:nvSpPr>
        <p:spPr>
          <a:xfrm>
            <a:off x="4334160" y="2005331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B_6_AS.15_1#03018a485?htil=2&amp;vcp=1&amp;pid=362fe4ace&amp;color=0,0,0&amp;vtp=1&amp;bbb=1&amp;hb=1"/>
              <p:cNvSpPr/>
              <p:nvPr/>
            </p:nvSpPr>
            <p:spPr>
              <a:xfrm>
                <a:off x="393192" y="2530856"/>
                <a:ext cx="6958584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平衡时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𝑶𝒄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段的拉力与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平衡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,所以题图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明显错误.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在记录拉力的方向时，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使记录点离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点远一些，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可以更准确地画出力的方向.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尽可能让重物重一些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这样使弹簧的读数大一些，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在画力的大小时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尽可能将力的大小画得大一些，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可以选更小的单位长度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，题图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𝑫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最精确.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B_6_AS.15_1#03018a485?htil=2&amp;vcp=1&amp;pid=362fe4ace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30856"/>
                <a:ext cx="6958584" cy="3272600"/>
              </a:xfrm>
              <a:prstGeom prst="rect">
                <a:avLst/>
              </a:prstGeom>
              <a:blipFill>
                <a:blip r:embed="rId4"/>
                <a:stretch>
                  <a:fillRect l="-2717" r="-3418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build="p" animBg="1"/>
      <p:bldP spid="6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16_1#3c14acd57?vcp=1&amp;pid=d70a53340&amp;color=0,0,0&amp;vtp=1&amp;bt=1&amp;bbb=1&amp;hb=1"/>
              <p:cNvSpPr/>
              <p:nvPr/>
            </p:nvSpPr>
            <p:spPr>
              <a:xfrm>
                <a:off x="393192" y="179333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（2026·山东省实验中学高一检测）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张衡”学习小组探究“两个互成角度的力的合成规律”，同学操作如下：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①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将橡皮条的一端连接轻质小圆环，另一端固定，橡皮条的自然长度为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𝐸𝐹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（如图甲所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②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用手通过两个弹簧测力计共同拉动小圆环，小圆环受到拉力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的共同作用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点静止，橡皮条伸长的长度为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（如图乙所示）.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16_1#3c14acd57?vcp=1&amp;pid=d70a53340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9333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1283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16_2#3c14acd57?vcp=1&amp;pid=d70a53340&amp;color=0,0,0&amp;mp=1&amp;vtp=1&amp;bt=1&amp;bbb=1&amp;hb=1"/>
              <p:cNvSpPr/>
              <p:nvPr/>
            </p:nvSpPr>
            <p:spPr>
              <a:xfrm>
                <a:off x="393192" y="553752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③撤去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，改用一个弹簧测力计单独拉住小圆环，仍使它处于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点静止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，拉力为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（如图丙所示）.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④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单独作用与力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共同作用的效果相同，即力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的合力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.同学以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为邻边画平行四边形，画出对角线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比较，如图丁所示.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16_2#3c14acd57?vcp=1&amp;pid=d70a53340&amp;color=0,0,0&amp;mp=1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53752"/>
                <a:ext cx="11402568" cy="2155000"/>
              </a:xfrm>
              <a:prstGeom prst="rect">
                <a:avLst/>
              </a:prstGeom>
              <a:blipFill>
                <a:blip r:embed="rId3"/>
                <a:stretch>
                  <a:fillRect l="-165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5_BD.16_3#3c14acd57?htil=3&amp;vcp=1&amp;pid=d70a53340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01907" y="2830608"/>
            <a:ext cx="3300381" cy="3460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O_5_BD.16_4#3c14acd57?htil=3&amp;vcp=1&amp;pid=d70a53340&amp;color=0,0,0&amp;vtp=1&amp;bbb=1"/>
          <p:cNvSpPr/>
          <p:nvPr/>
        </p:nvSpPr>
        <p:spPr>
          <a:xfrm>
            <a:off x="393192" y="2706148"/>
            <a:ext cx="788212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⑤多次重复操作①②③④,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同学总结出结论.</a:t>
            </a:r>
            <a:endParaRPr lang="zh-CN" altLang="en-US" sz="2400" b="0" i="0">
              <a:solidFill>
                <a:srgbClr val="000000"/>
              </a:solidFill>
              <a:latin typeface="Times New Roman" pitchFamily="34" charset="0"/>
              <a:ea typeface="微软雅黑" pitchFamily="34" charset="-122"/>
              <a:cs typeface="Times New Roman" pitchFamily="34" charset="-120"/>
            </a:endParaRPr>
          </a:p>
          <a:p>
            <a:pPr algn="l" latinLnBrk="1">
              <a:lnSpc>
                <a:spcPts val="4200"/>
              </a:lnSpc>
            </a:pPr>
            <a:r>
              <a:rPr lang="zh-CN" altLang="en-US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请回答下列问题：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split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6_BD.17_1#9496ebb1e?vcp=1&amp;pid=3c14acd57&amp;color=0,0,0&amp;mp=1&amp;vtp=1&amp;bt=1&amp;bbb=1&amp;hb=1"/>
              <p:cNvSpPr/>
              <p:nvPr/>
            </p:nvSpPr>
            <p:spPr>
              <a:xfrm>
                <a:off x="393192" y="2132425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（1）经过多次实验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，该学习小组的同学总结出的结论应该是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_____________________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_____________________________________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图丁中，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填“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”或“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”）一定与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𝐸𝑂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共线.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" name="QB_6_BD.17_1#9496ebb1e?vcp=1&amp;pid=3c14acd57&amp;color=0,0,0&amp;mp=1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32425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535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B_6_AN.18_1#9496ebb1e.blank?vcp=1&amp;pid=3c14acd57&amp;color=0,0,0&amp;mp=1&amp;vpa=6&amp;vtp=1&amp;bbb=1&amp;hb=1"/>
          <p:cNvSpPr/>
          <p:nvPr/>
        </p:nvSpPr>
        <p:spPr>
          <a:xfrm>
            <a:off x="393192" y="2104485"/>
            <a:ext cx="1140256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                     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在误差允许的范围内，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互成角度的二力合成遵循平行四边形定则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B_6_AN.20_1#9496ebb1e.blank?vcp=1&amp;pid=3c14acd57&amp;color=0,0,0&amp;vpa=7&amp;vtp=1&amp;bbb=1"/>
              <p:cNvSpPr/>
              <p:nvPr/>
            </p:nvSpPr>
            <p:spPr>
              <a:xfrm>
                <a:off x="2436305" y="3312064"/>
                <a:ext cx="496824" cy="35344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3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5" name="QB_6_AN.20_1#9496ebb1e.blank?vcp=1&amp;pid=3c14acd57&amp;color=0,0,0&amp;vpa=7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305" y="3312064"/>
                <a:ext cx="496824" cy="353441"/>
              </a:xfrm>
              <a:prstGeom prst="rect">
                <a:avLst/>
              </a:prstGeom>
              <a:blipFill>
                <a:blip r:embed="rId4"/>
                <a:stretch>
                  <a:fillRect l="-7407" b="-2069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B_6_AS.21_1#cee9cffbf?vcp=1&amp;pid=3c14acd57&amp;color=0,0,0&amp;vtp=1&amp;bbb=1&amp;hb=1"/>
              <p:cNvSpPr/>
              <p:nvPr/>
            </p:nvSpPr>
            <p:spPr>
              <a:xfrm>
                <a:off x="393192" y="3725005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是通过作图法得到的理论值，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是用一根弹簧测力计测出的实际合力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一定与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𝑬𝑶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共线.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QB_6_AS.21_1#cee9cffbf?vcp=1&amp;pid=3c14acd57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25005"/>
                <a:ext cx="11402568" cy="1037400"/>
              </a:xfrm>
              <a:prstGeom prst="rect">
                <a:avLst/>
              </a:prstGeom>
              <a:blipFill>
                <a:blip r:embed="rId5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  <p:bldP spid="6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6_BD.22_1#8c482eb9e?vcp=1&amp;pid=3c14acd57&amp;color=0,0,0&amp;vtp=1&amp;bt=1&amp;bbb=1&amp;hb=1"/>
              <p:cNvSpPr/>
              <p:nvPr/>
            </p:nvSpPr>
            <p:spPr>
              <a:xfrm>
                <a:off x="393192" y="739141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（3）小组同学又进行了这样的操作：如图戊所示，保持小圆环的位置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点不变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，拉力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的方向不变，且原来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的夹角小于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90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,现使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的方向逆时针旋转至水平位置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𝑂𝐾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方向），此过程中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的大小变化情况是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6_BD.22_1#8c482eb9e?vcp=1&amp;pid=3c14acd57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39141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070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6_AN.23_1#8c482eb9e.blank?vcp=1&amp;pid=3c14acd57&amp;color=0,0,0&amp;vpa=8&amp;vtp=1"/>
          <p:cNvSpPr/>
          <p:nvPr/>
        </p:nvSpPr>
        <p:spPr>
          <a:xfrm>
            <a:off x="6866668" y="1807210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6_BD.22_2#8c482eb9e.choices?vcp=1&amp;pid=3c14acd57&amp;color=0,0,0&amp;vtp=1&amp;bbb=1"/>
              <p:cNvSpPr/>
              <p:nvPr/>
            </p:nvSpPr>
            <p:spPr>
              <a:xfrm>
                <a:off x="393192" y="2332736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都增大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都减小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先增大后减小，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先减小后增大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6_BD.22_2#8c482eb9e.choices?vcp=1&amp;pid=3c14acd57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32736"/>
                <a:ext cx="11402568" cy="1033399"/>
              </a:xfrm>
              <a:prstGeom prst="rect">
                <a:avLst/>
              </a:prstGeom>
              <a:blipFill>
                <a:blip r:embed="rId4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6_AS.24_1#8c482eb9e?vcp=1&amp;pid=3c14acd57&amp;color=0,0,0&amp;vtp=1&amp;bbb=1&amp;hb=1"/>
              <p:cNvSpPr/>
              <p:nvPr/>
            </p:nvSpPr>
            <p:spPr>
              <a:xfrm>
                <a:off x="393192" y="3372866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合力与分力遵循平行四边形定则（或三角形定则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），根据如图所示的受力分析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先减小后增大，故选D.］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6_AS.24_1#8c482eb9e?vcp=1&amp;pid=3c14acd57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72866"/>
                <a:ext cx="11402568" cy="1037400"/>
              </a:xfrm>
              <a:prstGeom prst="rect">
                <a:avLst/>
              </a:prstGeom>
              <a:blipFill>
                <a:blip r:embed="rId5"/>
                <a:stretch>
                  <a:fillRect l="-1658" r="-1016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QC_6_AS.24_2#8c482eb9e?vcp=1&amp;pid=3c14acd57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29200" y="4539996"/>
            <a:ext cx="2139696" cy="156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4_BD#a57990a0f?vcp=1&amp;pid=a3672e741&amp;color=0,0,0&amp;vtp=1&amp;bt=1&amp;bbb=1"/>
          <p:cNvSpPr/>
          <p:nvPr/>
        </p:nvSpPr>
        <p:spPr>
          <a:xfrm>
            <a:off x="393192" y="502920"/>
            <a:ext cx="11402568" cy="526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5_BD#8d38cc21b?vcp=1&amp;pid=a57990a0f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pic>
        <p:nvPicPr>
          <p:cNvPr id="4" name="QO_5_BD.25_1#598a2b74a?htil=4&amp;vcp=1&amp;pid=a57990a0f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52437" y="1704149"/>
            <a:ext cx="3410712" cy="226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BD.25_2#598a2b74a?htil=4&amp;vcp=1&amp;pid=a57990a0f&amp;color=0,0,0&amp;vtp=1&amp;bbb=1&amp;hb=1&amp;hs=1"/>
              <p:cNvSpPr/>
              <p:nvPr/>
            </p:nvSpPr>
            <p:spPr>
              <a:xfrm>
                <a:off x="393192" y="1649285"/>
                <a:ext cx="7863840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（2026·江西师大附中检测）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某同学利用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6个完全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相同的玻璃球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（每个球的重力均为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）验证力的平行四边形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定则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.如图甲所示，该同学先把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6个玻璃球装在同一个塑料袋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，用带拉环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的橡皮筋的自由端悬挂塑料袋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，根据橡皮筋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的原长测出塑料袋静止时橡皮筋的伸长量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.如图乙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BD.25_2#598a2b74a?htil=4&amp;vcp=1&amp;pid=a57990a0f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9285"/>
                <a:ext cx="7863840" cy="2713800"/>
              </a:xfrm>
              <a:prstGeom prst="rect">
                <a:avLst/>
              </a:prstGeom>
              <a:blipFill>
                <a:blip r:embed="rId4"/>
                <a:stretch>
                  <a:fillRect l="-2403" r="-2171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O_5_BD.25_2#598a2b74a?htil=4&amp;vcp=1&amp;pid=a57990a0f&amp;color=0,0,0&amp;vtp=1&amp;bbb=1&amp;hb=1&amp;hs=1">
                <a:extLst>
                  <a:ext uri="{FF2B5EF4-FFF2-40B4-BE49-F238E27FC236}">
                    <a16:creationId xmlns:a16="http://schemas.microsoft.com/office/drawing/2014/main" id="{674F741F-74B4-3315-26AB-1C86E1488E17}"/>
                  </a:ext>
                </a:extLst>
              </p:cNvPr>
              <p:cNvSpPr/>
              <p:nvPr/>
            </p:nvSpPr>
            <p:spPr>
              <a:xfrm>
                <a:off x="393192" y="4333875"/>
                <a:ext cx="11400008" cy="1676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，再将白纸用图钉固定在竖直木板上，将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6个玻璃球平分并装在两个塑料袋里，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分别挂在细绳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𝑀𝑁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的两端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，细绳跨过光滑的钉子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，最后把橡皮筋的自由端和细绳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𝑀𝑁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上某一点连接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，记结点为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，待结点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静止后，记录下拉环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zh-CN" altLang="en-US" sz="2400" b="0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点及结点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的位置，</a:t>
                </a:r>
              </a:p>
              <a:p>
                <a:pPr latinLnBrk="1">
                  <a:lnSpc>
                    <a:spcPct val="150000"/>
                  </a:lnSpc>
                </a:pPr>
                <a:endParaRPr lang="en-US" altLang="zh-CN" sz="2400" dirty="0"/>
              </a:p>
            </p:txBody>
          </p:sp>
        </mc:Choice>
        <mc:Fallback>
          <p:sp>
            <p:nvSpPr>
              <p:cNvPr id="6" name="QO_5_BD.25_2#598a2b74a?htil=4&amp;vcp=1&amp;pid=a57990a0f&amp;color=0,0,0&amp;vtp=1&amp;bbb=1&amp;hb=1&amp;hs=1">
                <a:extLst>
                  <a:ext uri="{FF2B5EF4-FFF2-40B4-BE49-F238E27FC236}">
                    <a16:creationId xmlns:a16="http://schemas.microsoft.com/office/drawing/2014/main" id="{674F741F-74B4-3315-26AB-1C86E1488E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333875"/>
                <a:ext cx="11400008" cy="1676400"/>
              </a:xfrm>
              <a:prstGeom prst="rect">
                <a:avLst/>
              </a:prstGeom>
              <a:blipFill>
                <a:blip r:embed="rId5"/>
                <a:stretch>
                  <a:fillRect l="-1658" r="-4064" b="-690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5_2#598a2b74a?htil=4&amp;vcp=1&amp;pid=a57990a0f&amp;color=0,0,0&amp;vtp=1&amp;bbb=1&amp;hb=1&amp;hs=1">
                <a:extLst>
                  <a:ext uri="{FF2B5EF4-FFF2-40B4-BE49-F238E27FC236}">
                    <a16:creationId xmlns:a16="http://schemas.microsoft.com/office/drawing/2014/main" id="{8C2C9CED-11CE-8F5D-22BC-FBD0C2785B94}"/>
                  </a:ext>
                </a:extLst>
              </p:cNvPr>
              <p:cNvSpPr/>
              <p:nvPr/>
            </p:nvSpPr>
            <p:spPr>
              <a:xfrm>
                <a:off x="393192" y="2909570"/>
                <a:ext cx="11400008" cy="10375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测出此时橡皮筋的伸长量，记为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.已知橡皮筋的拉力大小与其伸长量成正比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，根据上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述实验过程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，回答下列问题：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5_2#598a2b74a?htil=4&amp;vcp=1&amp;pid=a57990a0f&amp;color=0,0,0&amp;vtp=1&amp;bbb=1&amp;hb=1&amp;hs=1">
                <a:extLst>
                  <a:ext uri="{FF2B5EF4-FFF2-40B4-BE49-F238E27FC236}">
                    <a16:creationId xmlns:a16="http://schemas.microsoft.com/office/drawing/2014/main" id="{8C2C9CED-11CE-8F5D-22BC-FBD0C2785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909570"/>
                <a:ext cx="11400008" cy="1037590"/>
              </a:xfrm>
              <a:prstGeom prst="rect">
                <a:avLst/>
              </a:prstGeom>
              <a:blipFill>
                <a:blip r:embed="rId2"/>
                <a:stretch>
                  <a:fillRect l="-1658" r="-1230" b="-169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7870166"/>
      </p:ext>
    </p:extLst>
  </p:cSld>
  <p:clrMapOvr>
    <a:masterClrMapping/>
  </p:clrMapOvr>
  <p:transition>
    <p:split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6_BD.26_1#774a5b3bc?vcp=1&amp;pid=598a2b74a&amp;color=0,0,0&amp;vtp=1&amp;bt=1&amp;bbb=1"/>
          <p:cNvSpPr/>
          <p:nvPr/>
        </p:nvSpPr>
        <p:spPr>
          <a:xfrm>
            <a:off x="393192" y="1604105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（1）关于该实验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，下列说法正确的是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sp>
        <p:nvSpPr>
          <p:cNvPr id="3" name="QC_6_AN.27_1#774a5b3bc.blank?vcp=1&amp;pid=598a2b74a&amp;color=0,0,0&amp;vpa=9&amp;vtp=1"/>
          <p:cNvSpPr/>
          <p:nvPr/>
        </p:nvSpPr>
        <p:spPr>
          <a:xfrm>
            <a:off x="5413660" y="1564100"/>
            <a:ext cx="423863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6_BD.26_2#774a5b3bc.choices?vcp=1&amp;pid=598a2b74a&amp;color=0,0,0&amp;vtp=1&amp;bbb=1"/>
              <p:cNvSpPr/>
              <p:nvPr/>
            </p:nvSpPr>
            <p:spPr>
              <a:xfrm>
                <a:off x="393192" y="2089880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A.实验前应测量出玻璃球的重力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的具体大小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.实验中应保证木板面与细绳方向平行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.细绳的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段与橡皮筋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𝑂𝑄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之间的夹角越大越好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6_BD.26_2#774a5b3bc.choices?vcp=1&amp;pid=598a2b74a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89880"/>
                <a:ext cx="11402568" cy="1596200"/>
              </a:xfrm>
              <a:prstGeom prst="rect">
                <a:avLst/>
              </a:prstGeom>
              <a:blipFill>
                <a:blip r:embed="rId3"/>
                <a:stretch>
                  <a:fillRect l="-1658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6_AS.28_1#774a5b3bc?vcp=1&amp;pid=598a2b74a&amp;color=0,0,0&amp;vtp=1&amp;bbb=1&amp;hb=1"/>
              <p:cNvSpPr/>
              <p:nvPr/>
            </p:nvSpPr>
            <p:spPr>
              <a:xfrm>
                <a:off x="393192" y="3677379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根据实验的等效替代原理可知，无需测量玻璃球的重力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的具体大小，A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实验中应保证木板面与细绳方向平行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，B正确；细绳的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𝑶𝑷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段与橡皮筋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𝑶𝑸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之间的夹角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适当即可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，并非越大越好，C错误.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6_AS.28_1#774a5b3bc?vcp=1&amp;pid=598a2b74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77379"/>
                <a:ext cx="11402568" cy="1596200"/>
              </a:xfrm>
              <a:prstGeom prst="rect">
                <a:avLst/>
              </a:prstGeom>
              <a:blipFill>
                <a:blip r:embed="rId4"/>
                <a:stretch>
                  <a:fillRect l="-1658" r="-2086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6_BD.29_1#7645c8d81?vcp=1&amp;pid=598a2b74a&amp;color=0,0,0&amp;vtp=1&amp;bt=1&amp;bbb=1"/>
              <p:cNvSpPr/>
              <p:nvPr/>
            </p:nvSpPr>
            <p:spPr>
              <a:xfrm>
                <a:off x="393192" y="2438876"/>
                <a:ext cx="11402568" cy="64090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9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2）当橡皮筋伸长量为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pc="-5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时橡皮筋上的拉力表达式为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pc="-5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T</m:t>
                        </m:r>
                      </m:sub>
                    </m:sSub>
                    <m:r>
                      <a:rPr lang="en-US" altLang="zh-CN" sz="2400" b="0" i="0" spc="-5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2400" i="0" spc="-5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</a:t>
                </a:r>
                <a:r>
                  <a:rPr lang="en-US" altLang="zh-CN" sz="3300" b="1" i="0" u="sng" kern="0" spc="-99900" dirty="0">
                    <a:solidFill>
                      <a:srgbClr val="FF00FF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i="0" spc="-5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</a:t>
                </a:r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（用</a:t>
                </a:r>
                <a14:m>
                  <m:oMath xmlns:m="http://schemas.openxmlformats.org/officeDocument/2006/math">
                    <m:r>
                      <a:rPr lang="en-US" altLang="zh-CN" sz="2400" b="0" i="0" spc="-5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pc="-5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pc="-5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表示）.</a:t>
                </a:r>
                <a:endParaRPr lang="en-US" altLang="zh-CN" sz="2400" spc="-5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" name="QB_6_BD.29_1#7645c8d81?vcp=1&amp;pid=598a2b74a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438876"/>
                <a:ext cx="11402568" cy="640906"/>
              </a:xfrm>
              <a:prstGeom prst="rect">
                <a:avLst/>
              </a:prstGeom>
              <a:blipFill>
                <a:blip r:embed="rId3"/>
                <a:stretch>
                  <a:fillRect l="-1658" r="-695" b="-2857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B_6_AN.30_1#7645c8d81.blank?vcp=1&amp;pid=598a2b74a&amp;color=0,0,0&amp;vpa=10&amp;vtp=1&amp;bbb=1&amp;rh=45.03504"/>
              <p:cNvSpPr/>
              <p:nvPr/>
            </p:nvSpPr>
            <p:spPr>
              <a:xfrm>
                <a:off x="8043990" y="2447067"/>
                <a:ext cx="664591" cy="57194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spc="-5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  <m:sSub>
                          <m:sSubPr>
                            <m:ctrlPr>
                              <a:rPr lang="en-US" altLang="zh-CN" sz="2400" b="1" i="1" spc="-5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 spc="-5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2400" b="1" i="1" spc="-5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spc="-5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 spc="-5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2400" b="1" i="1" spc="-5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3" name="QB_6_AN.30_1#7645c8d81.blank?vcp=1&amp;pid=598a2b74a&amp;color=0,0,0&amp;vpa=10&amp;vtp=1&amp;bbb=1&amp;rh=45.035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990" y="2447067"/>
                <a:ext cx="664591" cy="571945"/>
              </a:xfrm>
              <a:prstGeom prst="rect">
                <a:avLst/>
              </a:prstGeom>
              <a:blipFill>
                <a:blip r:embed="rId4"/>
                <a:stretch>
                  <a:fillRect b="-212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B_6_AS.31_1#7645c8d81?vcp=1&amp;pid=598a2b74a&amp;color=0,0,0&amp;vtp=1&amp;bbb=1&amp;hb=1"/>
              <p:cNvSpPr/>
              <p:nvPr/>
            </p:nvSpPr>
            <p:spPr>
              <a:xfrm>
                <a:off x="393192" y="3080226"/>
                <a:ext cx="11402568" cy="111131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该同学先把6个玻璃球装在同一个塑料袋里时有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，当橡皮筋伸长量为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时橡皮筋上的拉力表达式为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QB_6_AS.31_1#7645c8d81?vcp=1&amp;pid=598a2b74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080226"/>
                <a:ext cx="11402568" cy="1111314"/>
              </a:xfrm>
              <a:prstGeom prst="rect">
                <a:avLst/>
              </a:prstGeom>
              <a:blipFill>
                <a:blip r:embed="rId5"/>
                <a:stretch>
                  <a:fillRect l="-1658" r="-267" b="-546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6_BD.32_1#9cf8d712e?vcp=1&amp;pid=598a2b74a&amp;color=0,0,0&amp;vtp=1&amp;bt=1&amp;bbb=1&amp;hb=1"/>
              <p:cNvSpPr/>
              <p:nvPr/>
            </p:nvSpPr>
            <p:spPr>
              <a:xfrm>
                <a:off x="393192" y="1564227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（3）以1个玻璃球的重力作为力的单位，在白纸上画出相应力的图示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，用平行四边形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定则合成细绳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段、橡皮筋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𝑂𝑄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上的拉力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，只要得到的对角线的长度接近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个单位长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，且方向与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几乎在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，力的平行四边形定则就得以验证.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B_6_BD.32_1#9cf8d712e?vcp=1&amp;pid=598a2b74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64227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070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B_6_AN.33_1#9cf8d712e.blank?vcp=1&amp;pid=598a2b74a&amp;color=0,0,0&amp;vpa=11&amp;vtp=1"/>
          <p:cNvSpPr/>
          <p:nvPr/>
        </p:nvSpPr>
        <p:spPr>
          <a:xfrm>
            <a:off x="10073482" y="2095087"/>
            <a:ext cx="373063" cy="49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endParaRPr lang="en-US" altLang="zh-CN" sz="2400" dirty="0"/>
          </a:p>
        </p:txBody>
      </p:sp>
      <p:sp>
        <p:nvSpPr>
          <p:cNvPr id="4" name="QB_6_AN.34_1#9cf8d712e.blank?vcp=1&amp;pid=598a2b74a&amp;color=0,0,0&amp;vpa=12&amp;vtp=1&amp;bbb=1"/>
          <p:cNvSpPr/>
          <p:nvPr/>
        </p:nvSpPr>
        <p:spPr>
          <a:xfrm>
            <a:off x="3625628" y="2632297"/>
            <a:ext cx="1439863" cy="478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同一直线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B_6_AS.35_1#9cf8d712e?vcp=1&amp;pid=598a2b74a&amp;color=0,0,0&amp;vtp=1&amp;bbb=1&amp;hb=1"/>
              <p:cNvSpPr/>
              <p:nvPr/>
            </p:nvSpPr>
            <p:spPr>
              <a:xfrm>
                <a:off x="393192" y="3157822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𝑶𝑴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线上的拉力为3个单位长度，根据实验的等效替代原理可知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平行四边形定则合成细绳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𝑶𝑷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、橡皮筋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𝑶𝑸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上的拉力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，在实验误差允许范围内只要得到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的对角线的长度接近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3个单位长度，且方向与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𝑶𝑴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几乎在同一直线上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，力的平行四边形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定则就得以验证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B_6_AS.35_1#9cf8d712e?vcp=1&amp;pid=598a2b74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57822"/>
                <a:ext cx="11402568" cy="2155000"/>
              </a:xfrm>
              <a:prstGeom prst="rect">
                <a:avLst/>
              </a:prstGeom>
              <a:blipFill>
                <a:blip r:embed="rId4"/>
                <a:stretch>
                  <a:fillRect l="-1658" r="-1390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5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704</Words>
  <Application>Microsoft Office PowerPoint</Application>
  <PresentationFormat>宽屏</PresentationFormat>
  <Paragraphs>123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2026-05-25T08:01:33Z</dcterms:created>
  <dcterms:modified xsi:type="dcterms:W3CDTF">2026-05-25T08:03:20Z</dcterms:modified>
  <cp:category/>
  <cp:contentStatus/>
</cp:coreProperties>
</file>