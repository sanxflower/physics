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968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9.xml"/><Relationship Id="rId5" Type="http://schemas.openxmlformats.org/officeDocument/2006/relationships/slide" Target="../slides/slide8.xml"/><Relationship Id="rId4" Type="http://schemas.openxmlformats.org/officeDocument/2006/relationships/slide" Target="../slides/slide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9.xml"/><Relationship Id="rId5" Type="http://schemas.openxmlformats.org/officeDocument/2006/relationships/slide" Target="../slides/slide8.xml"/><Relationship Id="rId4" Type="http://schemas.openxmlformats.org/officeDocument/2006/relationships/slide" Target="../slides/slide7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040dabe7959cd8d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aaf6a47cc,650bfca66,3414a93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22f8cd39d&amp;amp;cid=22f8cd39d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1323a836a&amp;amp;cid=1323a836a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1415309a0&amp;amp;cid=1415309a0&amp;amp;vtp=1">
            <a:hlinkClick r:id="rId4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52f04f69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4?lid=96324e385&amp;amp;cid=96324e385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39ebea1e1&amp;amp;cid=39ebea1e1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a36616e99&amp;amp;cid=a36616e99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4?lid=3706e2eaf&amp;amp;cid=3706e2eaf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2be2b66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9?lid=f987e2528&amp;amp;cid=f987e2528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650bfca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课时1 力的合成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aaf6a47cc,650bfca66,3414a9397#df=650bfca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课时1 力的合成</a:t>
            </a:r>
            <a:endParaRPr lang="en-US" sz="1800" dirty="0"/>
          </a:p>
        </p:txBody>
      </p:sp>
      <p:sp>
        <p:nvSpPr>
          <p:cNvPr id="5" name="C_0#auto_editor_catalog_0?lid=22f8cd39d&amp;amp;cid=22f8cd39d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1323a836a&amp;amp;cid=1323a836a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1415309a0&amp;amp;cid=1415309a0&amp;amp;vtp=1">
            <a:hlinkClick r:id="rId4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52f04f69b#df=650bfca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课时1 力的合成</a:t>
            </a:r>
            <a:endParaRPr lang="en-US" sz="1800" dirty="0"/>
          </a:p>
        </p:txBody>
      </p:sp>
      <p:sp>
        <p:nvSpPr>
          <p:cNvPr id="5" name="C_0#auto_editor_catalog_4?lid=96324e385&amp;amp;cid=96324e385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39ebea1e1&amp;amp;cid=39ebea1e1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a36616e99&amp;amp;cid=a36616e99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4?lid=3706e2eaf&amp;amp;cid=3706e2eaf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2be2b66a4#df=650bfca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课时1 力的合成</a:t>
            </a:r>
            <a:endParaRPr lang="en-US" sz="1800" dirty="0"/>
          </a:p>
        </p:txBody>
      </p:sp>
      <p:sp>
        <p:nvSpPr>
          <p:cNvPr id="5" name="C_0#auto_editor_catalog_9?lid=f987e2528&amp;amp;cid=f987e2528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#650bfca66.fixed?vcp=1&amp;pid=aaf6a47cc&amp;color=0,112,192&amp;vtp=1&amp;bbb=1"/>
          <p:cNvSpPr/>
          <p:nvPr/>
        </p:nvSpPr>
        <p:spPr>
          <a:xfrm>
            <a:off x="0" y="1801368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3#650bfca66.fixed?vcp=1&amp;pid=aaf6a47cc&amp;color=0,0,0&amp;vtp=1&amp;bbb=1"/>
          <p:cNvSpPr/>
          <p:nvPr/>
        </p:nvSpPr>
        <p:spPr>
          <a:xfrm>
            <a:off x="265176" y="3063240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力的合成和分解</a:t>
            </a:r>
            <a:endParaRPr lang="en-US" altLang="zh-CN" sz="4400" dirty="0"/>
          </a:p>
        </p:txBody>
      </p:sp>
      <p:sp>
        <p:nvSpPr>
          <p:cNvPr id="4" name="C_3_BD#650bfca66.fixed?vcp=1&amp;pid=aaf6a47cc&amp;color=0,0,0&amp;vtp=1&amp;bbb=1"/>
          <p:cNvSpPr/>
          <p:nvPr/>
        </p:nvSpPr>
        <p:spPr>
          <a:xfrm>
            <a:off x="265176" y="4142232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课时1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力的合成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4_BD#3414a9397?vcp=1&amp;pid=650bfca66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5_BD#7b41056b4?vcp=1&amp;pid=3414a9397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sp>
        <p:nvSpPr>
          <p:cNvPr id="4" name="QC_5_BD.1_1#22f8cd39d?vcp=1&amp;pid=3414a9397&amp;color=0,0,0&amp;vtp=1&amp;bbb=1"/>
          <p:cNvSpPr/>
          <p:nvPr/>
        </p:nvSpPr>
        <p:spPr>
          <a:xfrm>
            <a:off x="393192" y="1646618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5_AN.2_1#22f8cd39d.bracket?vcp=1&amp;pid=3414a9397&amp;color=0,0,0&amp;vpa=1&amp;vtp=1"/>
          <p:cNvSpPr/>
          <p:nvPr/>
        </p:nvSpPr>
        <p:spPr>
          <a:xfrm>
            <a:off x="4361149" y="1644713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sp>
        <p:nvSpPr>
          <p:cNvPr id="6" name="QC_5_BD.1_2#22f8cd39d.choices?vcp=1&amp;pid=3414a9397&amp;color=0,0,0&amp;vtp=1&amp;bbb=1"/>
          <p:cNvSpPr/>
          <p:nvPr/>
        </p:nvSpPr>
        <p:spPr>
          <a:xfrm>
            <a:off x="393192" y="2197481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A.两个共点力共同作用的效果与其合力单独作用的效果相同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.合力作用的效果与物体受到的每一个力的作用效果都相同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.把物体受到的几个力的合力求出后，则物体只受一个力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.性质不同的力可以合成，作用在不同物体上的力也可以合成</a:t>
            </a:r>
            <a:endParaRPr lang="en-US" altLang="zh-CN" sz="2400" dirty="0"/>
          </a:p>
        </p:txBody>
      </p:sp>
      <p:sp>
        <p:nvSpPr>
          <p:cNvPr id="7" name="QC_5_BD.3_1#1323a836a?vcp=1&amp;pid=3414a9397&amp;color=0,0,0&amp;vtp=1&amp;bbb=1"/>
          <p:cNvSpPr/>
          <p:nvPr/>
        </p:nvSpPr>
        <p:spPr>
          <a:xfrm>
            <a:off x="393192" y="4400613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下列物理量的运算，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不遵循平行四边形定则的是(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8" name="QC_5_AN.4_1#1323a836a.bracket?vcp=1&amp;pid=3414a9397&amp;color=0,0,0&amp;vpa=2&amp;vtp=1"/>
          <p:cNvSpPr/>
          <p:nvPr/>
        </p:nvSpPr>
        <p:spPr>
          <a:xfrm>
            <a:off x="8323548" y="4398708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9" name="QC_5_BD.3_2#1323a836a.choices?vcp=1&amp;pid=3414a9397&amp;color=0,0,0&amp;vtp=1&amp;bbb=1"/>
          <p:cNvSpPr/>
          <p:nvPr/>
        </p:nvSpPr>
        <p:spPr>
          <a:xfrm>
            <a:off x="393192" y="4944808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300"/>
              </a:lnSpc>
              <a:tabLst>
                <a:tab pos="2916677" algn="l"/>
                <a:tab pos="6112754" algn="l"/>
                <a:tab pos="9004031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B.加速度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C.路程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.力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8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5_1#1415309a0?vcp=1&amp;pid=3414a9397&amp;color=0,0,0&amp;vtp=1&amp;bt=1&amp;bbb=1&amp;hb=1"/>
          <p:cNvSpPr/>
          <p:nvPr/>
        </p:nvSpPr>
        <p:spPr>
          <a:xfrm>
            <a:off x="393192" y="1787429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考点1、2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（多选题）关于合力与其两个分力的关系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，下列说法中正确的是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6_1#1415309a0.bracket?vcp=1&amp;pid=3414a9397&amp;color=0,0,0&amp;vpa=3&amp;vtp=1&amp;bbb=1"/>
          <p:cNvSpPr/>
          <p:nvPr/>
        </p:nvSpPr>
        <p:spPr>
          <a:xfrm>
            <a:off x="638460" y="2334799"/>
            <a:ext cx="882650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ACD</a:t>
            </a:r>
            <a:endParaRPr lang="en-US" altLang="zh-CN" sz="2400" dirty="0"/>
          </a:p>
        </p:txBody>
      </p:sp>
      <p:sp>
        <p:nvSpPr>
          <p:cNvPr id="4" name="QC_5_BD.5_2#1415309a0.choices?vcp=1&amp;pid=3414a9397&amp;color=0,0,0&amp;vtp=1&amp;bbb=1"/>
          <p:cNvSpPr/>
          <p:nvPr/>
        </p:nvSpPr>
        <p:spPr>
          <a:xfrm>
            <a:off x="393192" y="2895250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A.合力的作用效果与两个分力共同作用的效果相同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.合力的大小一定等于两个分力的代数和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.合力可能小于它的任一分力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.合力大小可能等于某一分力的大小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4_BD#52f04f69b?vcp=1&amp;pid=650bfca66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5_BD#e95478f05?vcp=1&amp;pid=52f04f69b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限时15分钟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7_1#96324e385?vcp=1&amp;pid=52f04f69b&amp;color=0,0,0&amp;vtp=1&amp;bbb=1&amp;hb=1"/>
              <p:cNvSpPr/>
              <p:nvPr/>
            </p:nvSpPr>
            <p:spPr>
              <a:xfrm>
                <a:off x="393192" y="159067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（2026·华东师大附中检测）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三个力恰好构成封闭的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直角三角形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，在下列四个选项表示的情境中，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三个力的合力最大的是(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7_1#96324e385?vcp=1&amp;pid=52f04f69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856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5_AN.8_1#96324e385.bracket?vcp=1&amp;pid=52f04f69b&amp;color=0,0,0&amp;vpa=4&amp;vtp=1"/>
          <p:cNvSpPr/>
          <p:nvPr/>
        </p:nvSpPr>
        <p:spPr>
          <a:xfrm>
            <a:off x="9769761" y="21380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6" name="QC_5_BD.7_2#96324e385.choices?vcp=1&amp;pid=52f04f69b&amp;color=0,0,0&amp;vtp=1&amp;bbb=1"/>
          <p:cNvSpPr/>
          <p:nvPr/>
        </p:nvSpPr>
        <p:spPr>
          <a:xfrm>
            <a:off x="393192" y="2768600"/>
            <a:ext cx="11402568" cy="782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7000"/>
              </a:lnSpc>
              <a:tabLst>
                <a:tab pos="2884927" algn="l"/>
                <a:tab pos="5807954" algn="l"/>
                <a:tab pos="8730981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38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2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2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39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7" name="QC_5_BD.7_2#96324e385.choice_image?vcp=1&amp;pid=52f04f69b&amp;color=0,0,0&amp;tib=255,255,255&amp;iip=1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2660" y="2776093"/>
            <a:ext cx="1289304" cy="77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QC_5_BD.7_2#96324e385.choice_image?vcp=1&amp;pid=52f04f69b&amp;color=0,0,0&amp;tib=255,255,255&amp;iip=2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66573" y="2776093"/>
            <a:ext cx="1353312" cy="77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9" name="QC_5_BD.7_2#96324e385.choice_image?vcp=1&amp;pid=52f04f69b&amp;color=0,0,0&amp;tib=255,255,255&amp;iip=3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98622" y="2756154"/>
            <a:ext cx="1335024" cy="78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10" name="QC_5_BD.7_2#96324e385.choice_image?vcp=1&amp;pid=52f04f69b&amp;color=0,0,0&amp;tib=255,255,255&amp;iip=4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43053" y="2776093"/>
            <a:ext cx="1271016" cy="77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QC_5_AS.9_1#96324e385?vcp=1&amp;pid=52f04f69b&amp;color=0,0,0&amp;vtp=1&amp;bbb=1&amp;hb=1"/>
              <p:cNvSpPr/>
              <p:nvPr/>
            </p:nvSpPr>
            <p:spPr>
              <a:xfrm>
                <a:off x="393192" y="3554095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根据三角形定则，A选项中三个力的合力等于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B选项中三个力的合力等于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；C选项中三个力的合力等于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；D选项中三个力的合力等于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C选项中三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个力的合力最大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，故选C.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11" name="QC_5_AS.9_1#96324e385?vcp=1&amp;pid=52f04f69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54095"/>
                <a:ext cx="11402568" cy="1596200"/>
              </a:xfrm>
              <a:prstGeom prst="rect">
                <a:avLst/>
              </a:prstGeom>
              <a:blipFill>
                <a:blip r:embed="rId8"/>
                <a:stretch>
                  <a:fillRect l="-1658" r="-1337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11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EX.10_1#96324e385?vcp=1&amp;pid=52f04f69b&amp;color=0,0,0&amp;vtp=1&amp;bt=1&amp;bbb=1&amp;hb=1"/>
          <p:cNvSpPr/>
          <p:nvPr/>
        </p:nvSpPr>
        <p:spPr>
          <a:xfrm>
            <a:off x="393192" y="2628995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技巧点拨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利用三角形定则判断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：将一个力的起始点平移到另一个力的终点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，从第一个力的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起点到第二个力的终点的有向线段可表示两力的合力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11_1#39ebea1e1?iti=1&amp;htil=1&amp;vcp=1&amp;pid=52f04f69b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24037" y="1062576"/>
            <a:ext cx="2039112" cy="153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C_5_BD.11_2#39ebea1e1?iti=1&amp;htil=1&amp;vcp=1&amp;pid=52f04f69b&amp;color=0,0,0&amp;vtp=1&amp;bbb=1"/>
          <p:cNvSpPr/>
          <p:nvPr/>
        </p:nvSpPr>
        <p:spPr>
          <a:xfrm>
            <a:off x="10176062" y="2725769"/>
            <a:ext cx="1135062" cy="89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第2题图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11_3#39ebea1e1?htil=1&amp;vcp=1&amp;pid=52f04f69b&amp;color=0,0,0&amp;vtp=1&amp;bt=1&amp;bbb=1&amp;hb=1"/>
              <p:cNvSpPr/>
              <p:nvPr/>
            </p:nvSpPr>
            <p:spPr>
              <a:xfrm>
                <a:off x="393192" y="1016858"/>
                <a:ext cx="9235440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（2026·湖北黄冈检测）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，物体在六个共点力的作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用下保持平衡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.如果只把力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的大小变为原来的一半，方向不变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，其他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几个力大小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、方向均保持不变,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则此时合力的大小为(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11_3#39ebea1e1?htil=1&amp;vcp=1&amp;pid=52f04f69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16858"/>
                <a:ext cx="9235440" cy="1592199"/>
              </a:xfrm>
              <a:prstGeom prst="rect">
                <a:avLst/>
              </a:prstGeom>
              <a:blipFill>
                <a:blip r:embed="rId4"/>
                <a:stretch>
                  <a:fillRect l="-2046" r="-184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5_AN.12_1#39ebea1e1.bracket?vcp=1&amp;pid=52f04f69b&amp;color=0,0,0&amp;vpa=5&amp;vtp=1"/>
          <p:cNvSpPr/>
          <p:nvPr/>
        </p:nvSpPr>
        <p:spPr>
          <a:xfrm>
            <a:off x="7407561" y="212302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BD.11_4#39ebea1e1.choices?htil=1&amp;vcp=1&amp;pid=52f04f69b&amp;color=0,0,0&amp;vtp=1&amp;bbb=1"/>
              <p:cNvSpPr/>
              <p:nvPr/>
            </p:nvSpPr>
            <p:spPr>
              <a:xfrm>
                <a:off x="393192" y="2666395"/>
                <a:ext cx="9235440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569210" algn="l"/>
                    <a:tab pos="5100320" algn="l"/>
                    <a:tab pos="71107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1.5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C.0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BD.11_4#39ebea1e1.choices?htil=1&amp;vcp=1&amp;pid=52f04f69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66395"/>
                <a:ext cx="9235440" cy="477330"/>
              </a:xfrm>
              <a:prstGeom prst="rect">
                <a:avLst/>
              </a:prstGeom>
              <a:blipFill>
                <a:blip r:embed="rId5"/>
                <a:stretch>
                  <a:fillRect l="-2046" b="-39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5_AS.13_1#39ebea1e1?htil=1&amp;vcp=1&amp;pid=52f04f69b&amp;color=0,0,0&amp;vtp=1&amp;bbb=1&amp;hb=1"/>
              <p:cNvSpPr/>
              <p:nvPr/>
            </p:nvSpPr>
            <p:spPr>
              <a:xfrm>
                <a:off x="393192" y="3154647"/>
                <a:ext cx="9235440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物体在六个共点力的作用下保持平衡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，则六个力的矢量和等于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外的其他五个力的合力与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等大反向，只把力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的大小变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为原来的一半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，方向不变，其他几个力大小方向均保持不变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，则此时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合力的大小为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反向，故A正确，B、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C、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5_AS.13_1#39ebea1e1?htil=1&amp;vcp=1&amp;pid=52f04f69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54647"/>
                <a:ext cx="9235440" cy="2713800"/>
              </a:xfrm>
              <a:prstGeom prst="rect">
                <a:avLst/>
              </a:prstGeom>
              <a:blipFill>
                <a:blip r:embed="rId6"/>
                <a:stretch>
                  <a:fillRect l="-2046" r="-5017" b="-650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14_1#a36616e99?iti=2&amp;htil=2&amp;vcp=1&amp;pid=52f04f69b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75980" y="663384"/>
            <a:ext cx="2478024" cy="207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C_5_BD.14_2#a36616e99?iti=2&amp;htil=2&amp;vcp=1&amp;pid=52f04f69b&amp;color=0,0,0&amp;vtp=1&amp;bbb=1"/>
          <p:cNvSpPr/>
          <p:nvPr/>
        </p:nvSpPr>
        <p:spPr>
          <a:xfrm>
            <a:off x="9947461" y="2866072"/>
            <a:ext cx="1135062" cy="89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第3题图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14_3#a36616e99?htil=2&amp;vcp=1&amp;pid=52f04f69b&amp;color=0,0,0&amp;vtp=1&amp;bt=1&amp;bbb=1&amp;hb=1&amp;hs=1"/>
              <p:cNvSpPr/>
              <p:nvPr/>
            </p:nvSpPr>
            <p:spPr>
              <a:xfrm>
                <a:off x="393192" y="617665"/>
                <a:ext cx="8787384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（2026·湖北武汉一中检测）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）两个共点力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的大小不变，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,它们的合力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之间夹角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关系如图所示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14_3#a36616e99?htil=2&amp;vcp=1&amp;pid=52f04f69b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17665"/>
                <a:ext cx="8787384" cy="1592199"/>
              </a:xfrm>
              <a:prstGeom prst="rect">
                <a:avLst/>
              </a:prstGeom>
              <a:blipFill>
                <a:blip r:embed="rId4"/>
                <a:stretch>
                  <a:fillRect l="-2151" r="-1874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5_AN.15_1#a36616e99.bracket?vcp=1&amp;pid=52f04f69b&amp;color=0,0,0&amp;vpa=6&amp;vtp=1&amp;bbb=1"/>
          <p:cNvSpPr/>
          <p:nvPr/>
        </p:nvSpPr>
        <p:spPr>
          <a:xfrm>
            <a:off x="3127661" y="1723835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BD.14_4#a36616e99.choices?htil=2&amp;vcp=1&amp;pid=52f04f69b&amp;color=0,0,0&amp;vtp=1&amp;bbb=1&amp;hs=1"/>
              <p:cNvSpPr/>
              <p:nvPr/>
            </p:nvSpPr>
            <p:spPr>
              <a:xfrm>
                <a:off x="393192" y="2211260"/>
                <a:ext cx="8787384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的取值范围是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的取值范围是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≤14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BD.14_4#a36616e99.choices?htil=2&amp;vcp=1&amp;pid=52f04f69b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11260"/>
                <a:ext cx="8787384" cy="2158302"/>
              </a:xfrm>
              <a:prstGeom prst="rect">
                <a:avLst/>
              </a:prstGeom>
              <a:blipFill>
                <a:blip r:embed="rId5"/>
                <a:stretch>
                  <a:fillRect l="-2151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5_AS.16_1#a36616e99?vcp=1&amp;pid=52f04f69b&amp;color=0,0,0&amp;vtp=1&amp;bbb=1&amp;hb=1&amp;hs=1"/>
              <p:cNvSpPr/>
              <p:nvPr/>
            </p:nvSpPr>
            <p:spPr>
              <a:xfrm>
                <a:off x="393192" y="4344860"/>
                <a:ext cx="11402568" cy="1862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5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垂直时，合力大小为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方向相反时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，合力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，两式联立解得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，C正确，D错误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；当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b="1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方向相同时，合力最大，为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，B正确，A错误.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5_AS.16_1#a36616e99?vcp=1&amp;pid=52f04f69b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44860"/>
                <a:ext cx="11402568" cy="1862900"/>
              </a:xfrm>
              <a:prstGeom prst="rect">
                <a:avLst/>
              </a:prstGeom>
              <a:blipFill>
                <a:blip r:embed="rId6"/>
                <a:stretch>
                  <a:fillRect l="-1658" r="-1176" b="-98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7_1#3706e2eaf?vcp=1&amp;pid=52f04f69b&amp;color=0,0,0&amp;vtp=1&amp;bt=1&amp;bbb=1&amp;hb=1"/>
              <p:cNvSpPr/>
              <p:nvPr/>
            </p:nvSpPr>
            <p:spPr>
              <a:xfrm>
                <a:off x="393192" y="577216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（多选题）两个大小相等的共点力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间的夹角为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,合力大小为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，那么当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旋转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合力的大小可能为(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17_1#3706e2eaf?vcp=1&amp;pid=52f04f69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77216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8_1#3706e2eaf.bracket?vcp=1&amp;pid=52f04f69b&amp;color=0,0,0&amp;vpa=7&amp;vtp=1&amp;bbb=1"/>
          <p:cNvSpPr/>
          <p:nvPr/>
        </p:nvSpPr>
        <p:spPr>
          <a:xfrm>
            <a:off x="8271859" y="1124586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17_2#3706e2eaf.choices?vcp=1&amp;pid=52f04f69b&amp;color=0,0,0&amp;vtp=1&amp;bbb=1"/>
              <p:cNvSpPr/>
              <p:nvPr/>
            </p:nvSpPr>
            <p:spPr>
              <a:xfrm>
                <a:off x="393192" y="1610741"/>
                <a:ext cx="11402568" cy="51847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700"/>
                  </a:lnSpc>
                  <a:tabLst>
                    <a:tab pos="2646802" algn="l"/>
                    <a:tab pos="5623804" algn="l"/>
                    <a:tab pos="860080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17_2#3706e2eaf.choices?vcp=1&amp;pid=52f04f69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10741"/>
                <a:ext cx="11402568" cy="518478"/>
              </a:xfrm>
              <a:prstGeom prst="rect">
                <a:avLst/>
              </a:prstGeom>
              <a:blipFill>
                <a:blip r:embed="rId4"/>
                <a:stretch>
                  <a:fillRect l="-1658" b="-3647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C_5_AS.19_1#3706e2eaf?htil=3&amp;vcp=1&amp;pid=52f04f69b&amp;color=0,0,0&amp;tib=255,255,255&amp;vtp=1&amp;hs=1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8352" y="2185924"/>
            <a:ext cx="4389120" cy="1271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19_2#3706e2eaf?htil=3&amp;vcp=1&amp;pid=52f04f69b&amp;color=0,0,0&amp;vtp=1&amp;bbb=1&amp;hb=1&amp;hs=1"/>
              <p:cNvSpPr/>
              <p:nvPr/>
            </p:nvSpPr>
            <p:spPr>
              <a:xfrm>
                <a:off x="393192" y="2140204"/>
                <a:ext cx="6876288" cy="1662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设两个大小相等的共点力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的大小均为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间的夹角为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时，合力大小为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如图甲所示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，由平行四边形定则，有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19_2#3706e2eaf?htil=3&amp;vcp=1&amp;pid=52f04f69b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40204"/>
                <a:ext cx="6876288" cy="1662430"/>
              </a:xfrm>
              <a:prstGeom prst="rect">
                <a:avLst/>
              </a:prstGeom>
              <a:blipFill>
                <a:blip r:embed="rId6"/>
                <a:stretch>
                  <a:fillRect l="-2748" r="-4787" b="-1098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5_AS.19_2#3706e2eaf?htil=3&amp;vcp=1&amp;pid=52f04f69b&amp;color=0,0,0&amp;vtp=1&amp;bbb=1&amp;hb=1&amp;hs=1">
                <a:extLst>
                  <a:ext uri="{FF2B5EF4-FFF2-40B4-BE49-F238E27FC236}">
                    <a16:creationId xmlns:a16="http://schemas.microsoft.com/office/drawing/2014/main" id="{7046590D-443C-6913-F244-C6CAE4535DAC}"/>
                  </a:ext>
                </a:extLst>
              </p:cNvPr>
              <p:cNvSpPr/>
              <p:nvPr/>
            </p:nvSpPr>
            <p:spPr>
              <a:xfrm>
                <a:off x="393192" y="3791204"/>
                <a:ext cx="11400008" cy="2273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旋转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，二力夹角可能为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如图乙、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丙所示，结合平行四边形定则，由几何关系可知二者合力大小可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能为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合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𝟔𝟎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，或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合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𝟏𝟐𝟎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，故选BD.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5_AS.19_2#3706e2eaf?htil=3&amp;vcp=1&amp;pid=52f04f69b&amp;color=0,0,0&amp;vtp=1&amp;bbb=1&amp;hb=1&amp;hs=1">
                <a:extLst>
                  <a:ext uri="{FF2B5EF4-FFF2-40B4-BE49-F238E27FC236}">
                    <a16:creationId xmlns:a16="http://schemas.microsoft.com/office/drawing/2014/main" id="{7046590D-443C-6913-F244-C6CAE4535D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91204"/>
                <a:ext cx="11400008" cy="2273300"/>
              </a:xfrm>
              <a:prstGeom prst="rect">
                <a:avLst/>
              </a:prstGeom>
              <a:blipFill>
                <a:blip r:embed="rId7"/>
                <a:stretch>
                  <a:fillRect l="-1658" r="-2567" b="-455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  <p:bldP spid="7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4_BD#2be2b66a4?vcp=1&amp;pid=650bfca66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5_BD#73dfb37e9?vcp=1&amp;pid=2be2b66a4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20_1#f987e2528?vcp=1&amp;pid=2be2b66a4&amp;color=0,0,0&amp;vtp=1&amp;bbb=1&amp;hb=1"/>
              <p:cNvSpPr/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（复旦大学自主招生）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拉力作用下处于竖直平衡，若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长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点左移，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仍保持竖直平衡状态.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绳上拉力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受到绳的压力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与原先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相比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20_1#f987e2528?vcp=1&amp;pid=2be2b66a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070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5_AN.21_1#f987e2528.bracket?vcp=1&amp;pid=2be2b66a4&amp;color=0,0,0&amp;vpa=8&amp;vtp=1"/>
          <p:cNvSpPr/>
          <p:nvPr/>
        </p:nvSpPr>
        <p:spPr>
          <a:xfrm>
            <a:off x="4054760" y="26968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6" name="QC_5_BD.20_2#f987e2528?vcp=1&amp;pid=2be2b66a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37760" y="3305175"/>
            <a:ext cx="2322576" cy="152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5_BD.20_3#f987e2528.choices?vcp=1&amp;pid=2be2b66a4&amp;color=0,0,0&amp;vtp=1&amp;bbb=1"/>
              <p:cNvSpPr/>
              <p:nvPr/>
            </p:nvSpPr>
            <p:spPr>
              <a:xfrm>
                <a:off x="393192" y="4968875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961127" algn="l"/>
                    <a:tab pos="5884154" algn="l"/>
                    <a:tab pos="87309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都减小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都增大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5_BD.20_3#f987e2528.choices?vcp=1&amp;pid=2be2b66a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968875"/>
                <a:ext cx="11402568" cy="484124"/>
              </a:xfrm>
              <a:prstGeom prst="rect">
                <a:avLst/>
              </a:prstGeom>
              <a:blipFill>
                <a:blip r:embed="rId5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22_1#f987e2528?vcp=1&amp;pid=2be2b66a4&amp;color=0,0,0&amp;vtp=1&amp;bt=1&amp;bbb=1&amp;hb=1"/>
              <p:cNvSpPr/>
              <p:nvPr/>
            </p:nvSpPr>
            <p:spPr>
              <a:xfrm>
                <a:off x="393192" y="1604010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如图所示，分析结点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处的受力情况，水平拉力大小、方向都不变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，两个拉力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的合力方向始终竖直向下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绳中力的方向在变化前后，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根据平行四边形定则作图，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由各个力的大小和各边线段的长短关系即可得出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都减小，所以C正确.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22_1#f987e2528?vcp=1&amp;pid=2be2b66a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04010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r="-1283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5_AS.22_2#f987e2528?vcp=1&amp;pid=2be2b66a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98848" y="3324606"/>
            <a:ext cx="3200400" cy="192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</Words>
  <Application>Microsoft Office PowerPoint</Application>
  <PresentationFormat>宽屏</PresentationFormat>
  <Paragraphs>89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2026-05-25T08:00:39Z</dcterms:created>
  <dcterms:modified xsi:type="dcterms:W3CDTF">2026-05-25T08:02:20Z</dcterms:modified>
  <cp:category/>
  <cp:contentStatus/>
</cp:coreProperties>
</file>