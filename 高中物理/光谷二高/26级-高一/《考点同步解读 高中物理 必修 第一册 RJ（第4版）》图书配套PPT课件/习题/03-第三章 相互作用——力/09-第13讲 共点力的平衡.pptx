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5" d="100"/>
          <a:sy n="65" d="100"/>
        </p:scale>
        <p:origin x="72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031857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slide" Target="../slides/slide3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slide" Target="../slides/slide6.xml"/><Relationship Id="rId5" Type="http://schemas.openxmlformats.org/officeDocument/2006/relationships/slide" Target="../slides/slide5.xml"/><Relationship Id="rId4" Type="http://schemas.openxmlformats.org/officeDocument/2006/relationships/slide" Target="../slides/slide4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slide" Target="../slides/slide9.xml"/><Relationship Id="rId7" Type="http://schemas.openxmlformats.org/officeDocument/2006/relationships/slide" Target="../slides/slide15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slide" Target="../slides/slide14.xml"/><Relationship Id="rId5" Type="http://schemas.openxmlformats.org/officeDocument/2006/relationships/slide" Target="../slides/slide13.xml"/><Relationship Id="rId4" Type="http://schemas.openxmlformats.org/officeDocument/2006/relationships/slide" Target="../slides/slide1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7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slide" Target="../slides/slide3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slide" Target="../slides/slide6.xml"/><Relationship Id="rId5" Type="http://schemas.openxmlformats.org/officeDocument/2006/relationships/slide" Target="../slides/slide5.xml"/><Relationship Id="rId4" Type="http://schemas.openxmlformats.org/officeDocument/2006/relationships/slide" Target="../slides/slide4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slide" Target="../slides/slide9.xml"/><Relationship Id="rId7" Type="http://schemas.openxmlformats.org/officeDocument/2006/relationships/slide" Target="../slides/slide15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slide" Target="../slides/slide14.xml"/><Relationship Id="rId5" Type="http://schemas.openxmlformats.org/officeDocument/2006/relationships/slide" Target="../slides/slide13.xml"/><Relationship Id="rId4" Type="http://schemas.openxmlformats.org/officeDocument/2006/relationships/slide" Target="../slides/slide1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7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xin?subject=physics#pid=6a0d1e823a58ca644f0d6f43#tid=6a13f52f736a60ac3496b25a#sourcefrom=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1261872" y="1078992"/>
            <a:ext cx="7196328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88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考点同步解读</a:t>
            </a:r>
            <a:endParaRPr lang="en-US" sz="8800" dirty="0"/>
          </a:p>
        </p:txBody>
      </p:sp>
      <p:sp>
        <p:nvSpPr>
          <p:cNvPr id="4" name="MasterShapeName"/>
          <p:cNvSpPr/>
          <p:nvPr/>
        </p:nvSpPr>
        <p:spPr>
          <a:xfrm>
            <a:off x="1581912" y="2770632"/>
            <a:ext cx="6839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3400" b="1" i="0" dirty="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高中物理 必修 第一册 RJ</a:t>
            </a:r>
            <a:endParaRPr lang="en-US" sz="34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36576"/>
            <a:ext cx="1911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2400" b="1" i="0" dirty="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考点同步解读</a:t>
            </a:r>
            <a:endParaRPr lang="en-US" sz="2400" dirty="0"/>
          </a:p>
        </p:txBody>
      </p:sp>
      <p:sp>
        <p:nvSpPr>
          <p:cNvPr id="4" name="MasterShapeName"/>
          <p:cNvSpPr/>
          <p:nvPr/>
        </p:nvSpPr>
        <p:spPr>
          <a:xfrm>
            <a:off x="2340864" y="146304"/>
            <a:ext cx="36027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600" b="1" i="0" dirty="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高中物理 必修 第一册 RJ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ck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mc=目录配置1#1273f42bf,1273f42bf,02fd2d879,c03880f0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C_0#auto_editor_catalog_0?lid=6e1929b30&amp;amp;cid=6e1929b30&amp;amp;vtp=1">
            <a:hlinkClick r:id="rId3" action="ppaction://hlinksldjump"/>
          </p:cNvPr>
          <p:cNvSpPr/>
          <p:nvPr/>
        </p:nvSpPr>
        <p:spPr>
          <a:xfrm>
            <a:off x="5056632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C_0#auto_editor_catalog_0?lid=bdb4109aa&amp;amp;cid=bdb4109aa&amp;amp;vtp=1">
            <a:hlinkClick r:id="rId4" action="ppaction://hlinksldjump"/>
          </p:cNvPr>
          <p:cNvSpPr/>
          <p:nvPr/>
        </p:nvSpPr>
        <p:spPr>
          <a:xfrm>
            <a:off x="5596128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C_0#auto_editor_catalog_0?lid=0ac322e95&amp;amp;cid=0ac322e95&amp;amp;vtp=1">
            <a:hlinkClick r:id="rId5" action="ppaction://hlinksldjump"/>
          </p:cNvPr>
          <p:cNvSpPr/>
          <p:nvPr/>
        </p:nvSpPr>
        <p:spPr>
          <a:xfrm>
            <a:off x="6135624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3</a:t>
            </a:r>
            <a:endParaRPr lang="en-US" sz="1600" dirty="0"/>
          </a:p>
        </p:txBody>
      </p:sp>
      <p:sp>
        <p:nvSpPr>
          <p:cNvPr id="8" name="C_0#auto_editor_catalog_0?lid=eb3e8d25b&amp;amp;cid=eb3e8d25b&amp;amp;vtp=1">
            <a:hlinkClick r:id="rId6" action="ppaction://hlinksldjump"/>
          </p:cNvPr>
          <p:cNvSpPr/>
          <p:nvPr/>
        </p:nvSpPr>
        <p:spPr>
          <a:xfrm>
            <a:off x="6675120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4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mc=目录配置1#1273f42bf,0af09d2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C_0#auto_editor_catalog_5?lid=3ee9bb3ba&amp;amp;cid=3ee9bb3ba&amp;amp;vtp=1">
            <a:hlinkClick r:id="rId3" action="ppaction://hlinksldjump"/>
          </p:cNvPr>
          <p:cNvSpPr/>
          <p:nvPr/>
        </p:nvSpPr>
        <p:spPr>
          <a:xfrm>
            <a:off x="4782312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C_0#auto_editor_catalog_5?lid=aa02e93a3&amp;amp;cid=aa02e93a3&amp;amp;vtp=1">
            <a:hlinkClick r:id="rId4" action="ppaction://hlinksldjump"/>
          </p:cNvPr>
          <p:cNvSpPr/>
          <p:nvPr/>
        </p:nvSpPr>
        <p:spPr>
          <a:xfrm>
            <a:off x="5321808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C_0#auto_editor_catalog_5?lid=4ce9aa191&amp;amp;cid=4ce9aa191&amp;amp;vtp=1">
            <a:hlinkClick r:id="rId5" action="ppaction://hlinksldjump"/>
          </p:cNvPr>
          <p:cNvSpPr/>
          <p:nvPr/>
        </p:nvSpPr>
        <p:spPr>
          <a:xfrm>
            <a:off x="5861304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3</a:t>
            </a:r>
            <a:endParaRPr lang="en-US" sz="1600" dirty="0"/>
          </a:p>
        </p:txBody>
      </p:sp>
      <p:sp>
        <p:nvSpPr>
          <p:cNvPr id="8" name="C_0#auto_editor_catalog_5?lid=48f6dbb05&amp;amp;cid=48f6dbb05&amp;amp;vtp=1">
            <a:hlinkClick r:id="rId6" action="ppaction://hlinksldjump"/>
          </p:cNvPr>
          <p:cNvSpPr/>
          <p:nvPr/>
        </p:nvSpPr>
        <p:spPr>
          <a:xfrm>
            <a:off x="6400800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4</a:t>
            </a:r>
            <a:endParaRPr lang="en-US" sz="1600" dirty="0"/>
          </a:p>
        </p:txBody>
      </p:sp>
      <p:sp>
        <p:nvSpPr>
          <p:cNvPr id="9" name="C_0#auto_editor_catalog_5?lid=c8b3c0969&amp;amp;cid=c8b3c0969&amp;amp;vtp=1">
            <a:hlinkClick r:id="rId7" action="ppaction://hlinksldjump"/>
          </p:cNvPr>
          <p:cNvSpPr/>
          <p:nvPr/>
        </p:nvSpPr>
        <p:spPr>
          <a:xfrm>
            <a:off x="6940296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5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mc=目录配置1#1273f42bf,66ce07d4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C_0#auto_editor_catalog_11?lid=1a6954fcb&amp;amp;cid=1a6954fcb&amp;amp;vtp=1">
            <a:hlinkClick r:id="rId3" action="ppaction://hlinksldjump"/>
          </p:cNvPr>
          <p:cNvSpPr/>
          <p:nvPr/>
        </p:nvSpPr>
        <p:spPr>
          <a:xfrm>
            <a:off x="5861304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1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df=02fd2d87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第13讲 共点力的平衡</a:t>
            </a:r>
            <a:endParaRPr lang="en-US" sz="1800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mc=目录配置1#1273f42bf,1273f42bf,02fd2d879,c03880f0c#df=02fd2d87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第13讲 共点力的平衡</a:t>
            </a:r>
            <a:endParaRPr lang="en-US" sz="1800" dirty="0"/>
          </a:p>
        </p:txBody>
      </p:sp>
      <p:sp>
        <p:nvSpPr>
          <p:cNvPr id="5" name="C_0#auto_editor_catalog_0?lid=6e1929b30&amp;amp;cid=6e1929b30&amp;amp;vtp=1">
            <a:hlinkClick r:id="rId3" action="ppaction://hlinksldjump"/>
          </p:cNvPr>
          <p:cNvSpPr/>
          <p:nvPr/>
        </p:nvSpPr>
        <p:spPr>
          <a:xfrm>
            <a:off x="5056632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C_0#auto_editor_catalog_0?lid=bdb4109aa&amp;amp;cid=bdb4109aa&amp;amp;vtp=1">
            <a:hlinkClick r:id="rId4" action="ppaction://hlinksldjump"/>
          </p:cNvPr>
          <p:cNvSpPr/>
          <p:nvPr/>
        </p:nvSpPr>
        <p:spPr>
          <a:xfrm>
            <a:off x="5596128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C_0#auto_editor_catalog_0?lid=0ac322e95&amp;amp;cid=0ac322e95&amp;amp;vtp=1">
            <a:hlinkClick r:id="rId5" action="ppaction://hlinksldjump"/>
          </p:cNvPr>
          <p:cNvSpPr/>
          <p:nvPr/>
        </p:nvSpPr>
        <p:spPr>
          <a:xfrm>
            <a:off x="6135624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3</a:t>
            </a:r>
            <a:endParaRPr lang="en-US" sz="1600" dirty="0"/>
          </a:p>
        </p:txBody>
      </p:sp>
      <p:sp>
        <p:nvSpPr>
          <p:cNvPr id="8" name="C_0#auto_editor_catalog_0?lid=eb3e8d25b&amp;amp;cid=eb3e8d25b&amp;amp;vtp=1">
            <a:hlinkClick r:id="rId6" action="ppaction://hlinksldjump"/>
          </p:cNvPr>
          <p:cNvSpPr/>
          <p:nvPr/>
        </p:nvSpPr>
        <p:spPr>
          <a:xfrm>
            <a:off x="6675120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4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mc=目录配置1#1273f42bf,0af09d235#df=02fd2d87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第13讲 共点力的平衡</a:t>
            </a:r>
            <a:endParaRPr lang="en-US" sz="1800" dirty="0"/>
          </a:p>
        </p:txBody>
      </p:sp>
      <p:sp>
        <p:nvSpPr>
          <p:cNvPr id="5" name="C_0#auto_editor_catalog_5?lid=3ee9bb3ba&amp;amp;cid=3ee9bb3ba&amp;amp;vtp=1">
            <a:hlinkClick r:id="rId3" action="ppaction://hlinksldjump"/>
          </p:cNvPr>
          <p:cNvSpPr/>
          <p:nvPr/>
        </p:nvSpPr>
        <p:spPr>
          <a:xfrm>
            <a:off x="4782312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C_0#auto_editor_catalog_5?lid=aa02e93a3&amp;amp;cid=aa02e93a3&amp;amp;vtp=1">
            <a:hlinkClick r:id="rId4" action="ppaction://hlinksldjump"/>
          </p:cNvPr>
          <p:cNvSpPr/>
          <p:nvPr/>
        </p:nvSpPr>
        <p:spPr>
          <a:xfrm>
            <a:off x="5321808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C_0#auto_editor_catalog_5?lid=4ce9aa191&amp;amp;cid=4ce9aa191&amp;amp;vtp=1">
            <a:hlinkClick r:id="rId5" action="ppaction://hlinksldjump"/>
          </p:cNvPr>
          <p:cNvSpPr/>
          <p:nvPr/>
        </p:nvSpPr>
        <p:spPr>
          <a:xfrm>
            <a:off x="5861304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3</a:t>
            </a:r>
            <a:endParaRPr lang="en-US" sz="1600" dirty="0"/>
          </a:p>
        </p:txBody>
      </p:sp>
      <p:sp>
        <p:nvSpPr>
          <p:cNvPr id="8" name="C_0#auto_editor_catalog_5?lid=48f6dbb05&amp;amp;cid=48f6dbb05&amp;amp;vtp=1">
            <a:hlinkClick r:id="rId6" action="ppaction://hlinksldjump"/>
          </p:cNvPr>
          <p:cNvSpPr/>
          <p:nvPr/>
        </p:nvSpPr>
        <p:spPr>
          <a:xfrm>
            <a:off x="6400800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4</a:t>
            </a:r>
            <a:endParaRPr lang="en-US" sz="1600" dirty="0"/>
          </a:p>
        </p:txBody>
      </p:sp>
      <p:sp>
        <p:nvSpPr>
          <p:cNvPr id="9" name="C_0#auto_editor_catalog_5?lid=c8b3c0969&amp;amp;cid=c8b3c0969&amp;amp;vtp=1">
            <a:hlinkClick r:id="rId7" action="ppaction://hlinksldjump"/>
          </p:cNvPr>
          <p:cNvSpPr/>
          <p:nvPr/>
        </p:nvSpPr>
        <p:spPr>
          <a:xfrm>
            <a:off x="6940296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5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mc=目录配置1#1273f42bf,66ce07d4f#df=02fd2d87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第13讲 共点力的平衡</a:t>
            </a:r>
            <a:endParaRPr lang="en-US" sz="1800" dirty="0"/>
          </a:p>
        </p:txBody>
      </p:sp>
      <p:sp>
        <p:nvSpPr>
          <p:cNvPr id="5" name="C_0#auto_editor_catalog_11?lid=1a6954fcb&amp;amp;cid=1a6954fcb&amp;amp;vtp=1">
            <a:hlinkClick r:id="rId3" action="ppaction://hlinksldjump"/>
          </p:cNvPr>
          <p:cNvSpPr/>
          <p:nvPr/>
        </p:nvSpPr>
        <p:spPr>
          <a:xfrm>
            <a:off x="5861304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1</a:t>
            </a: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&amp;si=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split dir="in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&amp;si=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_2#02fd2d879.fixed?vcp=1&amp;pid=1273f42bf&amp;color=0,112,192&amp;vtp=1&amp;bbb=1"/>
          <p:cNvSpPr/>
          <p:nvPr/>
        </p:nvSpPr>
        <p:spPr>
          <a:xfrm>
            <a:off x="0" y="2157984"/>
            <a:ext cx="12188952" cy="7955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latinLnBrk="1">
              <a:lnSpc>
                <a:spcPts val="6000"/>
              </a:lnSpc>
            </a:pPr>
            <a:r>
              <a:rPr lang="en-US" altLang="zh-CN" sz="4800" b="1" i="0" dirty="0">
                <a:solidFill>
                  <a:srgbClr val="0070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第三章</a:t>
            </a:r>
            <a:r>
              <a:rPr lang="en-US" altLang="zh-CN" sz="4800" b="1" i="0" dirty="0">
                <a:solidFill>
                  <a:srgbClr val="0070C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4800" b="1" i="0" dirty="0">
                <a:solidFill>
                  <a:srgbClr val="0070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相互作用——力</a:t>
            </a:r>
            <a:endParaRPr lang="en-US" altLang="zh-CN" sz="4800" dirty="0"/>
          </a:p>
        </p:txBody>
      </p:sp>
      <p:sp>
        <p:nvSpPr>
          <p:cNvPr id="3" name="C_2_BD#02fd2d879.fixed?vcp=1&amp;pid=1273f42bf&amp;color=0,0,0&amp;vtp=1&amp;bbb=1"/>
          <p:cNvSpPr/>
          <p:nvPr/>
        </p:nvSpPr>
        <p:spPr>
          <a:xfrm>
            <a:off x="265176" y="3602736"/>
            <a:ext cx="11521440" cy="1281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5400"/>
              </a:lnSpc>
            </a:pPr>
            <a:r>
              <a:rPr lang="en-US" altLang="zh-CN" sz="4400" b="1" i="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第13讲</a:t>
            </a:r>
            <a:r>
              <a:rPr lang="en-US" altLang="zh-CN" sz="4400" b="1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4400" b="1" i="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共点力的平衡</a:t>
            </a:r>
            <a:endParaRPr lang="en-US" altLang="zh-CN" sz="4400" dirty="0"/>
          </a:p>
        </p:txBody>
      </p:sp>
    </p:spTree>
  </p:cSld>
  <p:clrMapOvr>
    <a:masterClrMapping/>
  </p:clrMapOvr>
  <p:transition>
    <p:split dir="in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&amp;si=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_3_BD#c03880f0c?vcp=1&amp;pid=02fd2d879&amp;color=0,0,0&amp;vtp=1&amp;bt=1&amp;bbb=1"/>
          <p:cNvSpPr/>
          <p:nvPr/>
        </p:nvSpPr>
        <p:spPr>
          <a:xfrm>
            <a:off x="393192" y="502920"/>
            <a:ext cx="11402568" cy="949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600"/>
              </a:lnSpc>
            </a:pP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基础考点过关练</a:t>
            </a:r>
            <a:endParaRPr lang="en-US" altLang="zh-CN" sz="2600" dirty="0"/>
          </a:p>
        </p:txBody>
      </p:sp>
      <p:sp>
        <p:nvSpPr>
          <p:cNvPr id="3" name="P_4_BD#53292a384?vcp=1&amp;pid=c03880f0c&amp;color=0,0,0&amp;vtp=1&amp;bbb=1"/>
          <p:cNvSpPr/>
          <p:nvPr/>
        </p:nvSpPr>
        <p:spPr>
          <a:xfrm>
            <a:off x="393192" y="1093884"/>
            <a:ext cx="11402568" cy="48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3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限时10分钟</a:t>
            </a:r>
            <a:endParaRPr lang="en-US" altLang="zh-CN" sz="2400" dirty="0"/>
          </a:p>
        </p:txBody>
      </p:sp>
      <p:sp>
        <p:nvSpPr>
          <p:cNvPr id="4" name="QC_4_BD.1_1#6e1929b30?vcp=1&amp;pid=c03880f0c&amp;color=0,0,0&amp;vtp=1&amp;bbb=1"/>
          <p:cNvSpPr/>
          <p:nvPr/>
        </p:nvSpPr>
        <p:spPr>
          <a:xfrm>
            <a:off x="393192" y="1646618"/>
            <a:ext cx="11483975" cy="484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3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1.</a:t>
            </a:r>
            <a:r>
              <a:rPr lang="en-US" altLang="zh-CN" sz="24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考点1、2</a:t>
            </a:r>
            <a:r>
              <a:rPr lang="en-US" altLang="zh-CN" sz="2400" b="1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0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（多选题）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下列关于共点力的平衡与平衡条件的说法正确的是(</a:t>
            </a:r>
            <a:r>
              <a:rPr lang="en-US" altLang="zh-CN" sz="2400" b="0" i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1" i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 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).</a:t>
            </a:r>
            <a:endParaRPr lang="en-US" altLang="zh-CN" sz="2400" dirty="0"/>
          </a:p>
        </p:txBody>
      </p:sp>
      <p:sp>
        <p:nvSpPr>
          <p:cNvPr id="5" name="QC_4_AN.2_1#6e1929b30.bracket?vcp=1&amp;pid=c03880f0c&amp;color=0,0,0&amp;vpa=1&amp;vtp=1&amp;bbb=1"/>
          <p:cNvSpPr/>
          <p:nvPr/>
        </p:nvSpPr>
        <p:spPr>
          <a:xfrm>
            <a:off x="10660348" y="1644713"/>
            <a:ext cx="661988" cy="48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3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CD</a:t>
            </a:r>
            <a:endParaRPr lang="en-US" altLang="zh-CN" sz="2400" dirty="0"/>
          </a:p>
        </p:txBody>
      </p:sp>
      <p:sp>
        <p:nvSpPr>
          <p:cNvPr id="6" name="QC_4_BD.1_2#6e1929b30.choices?vcp=1&amp;pid=c03880f0c&amp;color=0,0,0&amp;vtp=1&amp;bbb=1&amp;hb=1"/>
          <p:cNvSpPr/>
          <p:nvPr/>
        </p:nvSpPr>
        <p:spPr>
          <a:xfrm>
            <a:off x="393192" y="2197481"/>
            <a:ext cx="11402568" cy="2713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A.如果物体的运动速度为0，则物体必处于平衡状态</a:t>
            </a:r>
            <a:endParaRPr lang="en-US" altLang="zh-CN" sz="2400" dirty="0"/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B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.如果物体的运动速度大小不变，则物体必处于平衡状态</a:t>
            </a:r>
            <a:endParaRPr lang="en-US" altLang="zh-CN" sz="2400" dirty="0"/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C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.如果物体处于平衡状态，则将物体受到的力沿任意方向进行合成，合力都必为0</a:t>
            </a:r>
            <a:endParaRPr lang="en-US" altLang="zh-CN" sz="2400" dirty="0"/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D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.如果物体受到三个共点力的作用而处于平衡状态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，则任意两个力的合力与第三个力</a:t>
            </a:r>
          </a:p>
          <a:p>
            <a:pPr latinLnBrk="1">
              <a:lnSpc>
                <a:spcPts val="42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大小相等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、方向相反</a:t>
            </a:r>
            <a:endParaRPr lang="en-US" altLang="zh-CN" sz="2400" dirty="0"/>
          </a:p>
        </p:txBody>
      </p:sp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&amp;si=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BD.3_1#bdb4109aa?vcp=1&amp;pid=c03880f0c&amp;color=0,0,0&amp;vtp=1&amp;bt=1&amp;bbb=1&amp;hb=1"/>
              <p:cNvSpPr/>
              <p:nvPr/>
            </p:nvSpPr>
            <p:spPr>
              <a:xfrm>
                <a:off x="393192" y="504000"/>
                <a:ext cx="11402568" cy="1557274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3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2.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考点2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一物体静止于水平桌面上，且与水平桌面之间的最大静摩擦力为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5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N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，现将</a:t>
                </a:r>
              </a:p>
              <a:p>
                <a:pPr latinLnBrk="1">
                  <a:lnSpc>
                    <a:spcPts val="43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水平面内三个力同时作用于物体的同一点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，三个力的大小分别为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2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N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2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N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3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N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.下列</a:t>
                </a:r>
              </a:p>
              <a:p>
                <a:pPr latinLnBrk="1">
                  <a:lnSpc>
                    <a:spcPts val="41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关于物体的受力情况和运动情况判断正确的是(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BD.3_1#bdb4109aa?vcp=1&amp;pid=c03880f0c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504000"/>
                <a:ext cx="11402568" cy="1557274"/>
              </a:xfrm>
              <a:prstGeom prst="rect">
                <a:avLst/>
              </a:prstGeom>
              <a:blipFill>
                <a:blip r:embed="rId3"/>
                <a:stretch>
                  <a:fillRect l="-1658" b="-11765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QC_4_AN.4_1#bdb4109aa.bracket?vcp=1&amp;pid=c03880f0c&amp;color=0,0,0&amp;vpa=2&amp;vtp=1"/>
          <p:cNvSpPr/>
          <p:nvPr/>
        </p:nvSpPr>
        <p:spPr>
          <a:xfrm>
            <a:off x="6721761" y="1583436"/>
            <a:ext cx="441325" cy="46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1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C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QC_4_BD.3_2#bdb4109aa.choices?vcp=1&amp;pid=c03880f0c&amp;color=0,0,0&amp;vtp=1&amp;bbb=1"/>
              <p:cNvSpPr/>
              <p:nvPr/>
            </p:nvSpPr>
            <p:spPr>
              <a:xfrm>
                <a:off x="393192" y="2059495"/>
                <a:ext cx="11402568" cy="1011174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4300"/>
                  </a:lnSpc>
                  <a:tabLst>
                    <a:tab pos="5807954" algn="l"/>
                  </a:tabLst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A.物体所受静摩擦力不可能为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2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N</m:t>
                    </m:r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.物体所受静摩擦力不可能为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4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N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4100"/>
                  </a:lnSpc>
                  <a:tabLst>
                    <a:tab pos="5807954" algn="l"/>
                  </a:tabLst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C.物体可能仍保持静止</a:t>
                </a:r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.物体不可能保持静止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4" name="QC_4_BD.3_2#bdb4109aa.choices?vcp=1&amp;pid=c03880f0c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059495"/>
                <a:ext cx="11402568" cy="1011174"/>
              </a:xfrm>
              <a:prstGeom prst="rect">
                <a:avLst/>
              </a:prstGeom>
              <a:blipFill>
                <a:blip r:embed="rId4"/>
                <a:stretch>
                  <a:fillRect l="-1658" b="-18072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QC_4_AS.5_1#bdb4109aa?vcp=1&amp;pid=c03880f0c&amp;color=0,0,0&amp;vtp=1&amp;bbb=1&amp;hb=1"/>
              <p:cNvSpPr/>
              <p:nvPr/>
            </p:nvSpPr>
            <p:spPr>
              <a:xfrm>
                <a:off x="393192" y="3071177"/>
                <a:ext cx="11402568" cy="3199575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3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𝐍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𝐍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的力的合力大小范围为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≤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baseline="-10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合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≤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𝟒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𝐍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𝟑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𝐍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在此范围内，故当两个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𝐍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100" b="1" i="0" kern="0" spc="-99900">
                  <a:solidFill>
                    <a:srgbClr val="FFFFFF"/>
                  </a:solidFill>
                  <a:latin typeface="Times New Roman" pitchFamily="34" charset="0"/>
                  <a:ea typeface="微软雅黑" pitchFamily="34" charset="-122"/>
                  <a:cs typeface="Times New Roman" pitchFamily="34" charset="-120"/>
                </a:endParaRPr>
              </a:p>
              <a:p>
                <a:pPr latinLnBrk="1">
                  <a:lnSpc>
                    <a:spcPts val="43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的力的合力大小为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𝟑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𝐍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，且与第三个力的大小相等、方向相反时，三个力的合力为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0，</a:t>
                </a:r>
              </a:p>
              <a:p>
                <a:pPr latinLnBrk="1">
                  <a:lnSpc>
                    <a:spcPts val="43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故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𝐍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𝐍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𝟑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𝐍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三个力的合力大小范围为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≤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′</m:t>
                        </m:r>
                      </m:e>
                      <m:sub>
                        <m:r>
                          <a:rPr lang="en-US" altLang="zh-CN" sz="2400" b="1" baseline="-10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合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≤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𝟕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𝐍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𝐍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在三个力的合力范围内，</a:t>
                </a:r>
              </a:p>
              <a:p>
                <a:pPr latinLnBrk="1">
                  <a:lnSpc>
                    <a:spcPts val="43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故当三个力的合力为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𝐍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时，物体所受静摩擦力为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𝐍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，A错误；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𝟒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𝐍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在三个力的合力范</a:t>
                </a:r>
              </a:p>
              <a:p>
                <a:pPr latinLnBrk="1">
                  <a:lnSpc>
                    <a:spcPts val="43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围内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，故当三个力的合力为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𝟒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𝐍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时，物体所受静摩擦力为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𝟒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𝐍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，B错误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；当三个力的合</a:t>
                </a:r>
              </a:p>
              <a:p>
                <a:pPr latinLnBrk="1">
                  <a:lnSpc>
                    <a:spcPts val="41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力小于或等于最大静摩擦力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𝐍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时，物体仍保持静止，C正确，D错误.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C_4_AS.5_1#bdb4109aa?vcp=1&amp;pid=c03880f0c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071177"/>
                <a:ext cx="11402568" cy="3199575"/>
              </a:xfrm>
              <a:prstGeom prst="rect">
                <a:avLst/>
              </a:prstGeom>
              <a:blipFill>
                <a:blip r:embed="rId5"/>
                <a:stretch>
                  <a:fillRect l="-1658" r="-2299" b="-5524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5" grpId="0" build="p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&amp;si=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BD.6_1#0ac322e95?vcp=1&amp;pid=c03880f0c&amp;color=0,0,0&amp;vtp=1&amp;bt=1&amp;bbb=1&amp;hb=1"/>
              <p:cNvSpPr/>
              <p:nvPr/>
            </p:nvSpPr>
            <p:spPr>
              <a:xfrm>
                <a:off x="393192" y="762858"/>
                <a:ext cx="11402568" cy="15921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3.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考点2、3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如图所示，某同学用橡皮擦字时，用方向与水平纸面夹角为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𝜃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的推力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𝐹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100" b="0" i="0" kern="0" spc="-99900">
                  <a:solidFill>
                    <a:srgbClr val="FFFFFF"/>
                  </a:solidFill>
                  <a:latin typeface="Times New Roman" pitchFamily="34" charset="0"/>
                  <a:ea typeface="微软雅黑" pitchFamily="34" charset="-122"/>
                  <a:cs typeface="Times New Roman" pitchFamily="34" charset="-120"/>
                </a:endParaRP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推着橡皮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（质量变化忽略不计）向右做匀速直线运动，橡皮受到的支持力为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N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、摩擦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力为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𝑓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、重力为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𝐺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下列说法正确的是(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BD.6_1#0ac322e95?vcp=1&amp;pid=c03880f0c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762858"/>
                <a:ext cx="11402568" cy="1592199"/>
              </a:xfrm>
              <a:prstGeom prst="rect">
                <a:avLst/>
              </a:prstGeom>
              <a:blipFill>
                <a:blip r:embed="rId3"/>
                <a:stretch>
                  <a:fillRect l="-1658" r="-802" b="-1187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QC_4_AN.7_1#0ac322e95.bracket?vcp=1&amp;pid=c03880f0c&amp;color=0,0,0&amp;vpa=3&amp;vtp=1"/>
          <p:cNvSpPr/>
          <p:nvPr/>
        </p:nvSpPr>
        <p:spPr>
          <a:xfrm>
            <a:off x="5593175" y="1869027"/>
            <a:ext cx="423863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B</a:t>
            </a:r>
            <a:endParaRPr lang="en-US" altLang="zh-CN" sz="2400" dirty="0"/>
          </a:p>
        </p:txBody>
      </p:sp>
      <p:pic>
        <p:nvPicPr>
          <p:cNvPr id="4" name="QC_4_BD.6_2#0ac322e95?htil=1&amp;vcp=1&amp;pid=c03880f0c&amp;color=0,0,0&amp;tib=255,255,255&amp;vtp=1&amp;hs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729147" y="2402173"/>
            <a:ext cx="1591056" cy="768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QC_4_BD.6_3#0ac322e95.choices?htil=1&amp;vcp=1&amp;pid=c03880f0c&amp;color=0,0,0&amp;vtp=1&amp;bbb=1&amp;hs=1"/>
              <p:cNvSpPr/>
              <p:nvPr/>
            </p:nvSpPr>
            <p:spPr>
              <a:xfrm>
                <a:off x="393192" y="2356452"/>
                <a:ext cx="9674352" cy="10333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4400"/>
                  </a:lnSpc>
                  <a:tabLst>
                    <a:tab pos="4945126" algn="l"/>
                  </a:tabLst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𝐹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sin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𝜃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𝐺</m:t>
                    </m:r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𝐹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cos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𝜃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𝑓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4200"/>
                  </a:lnSpc>
                  <a:tabLst>
                    <a:tab pos="4945126" algn="l"/>
                  </a:tabLst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.F、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𝑓</m:t>
                    </m:r>
                  </m:oMath>
                </a14:m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的合力方向竖直向上</a:t>
                </a:r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.F、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N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的合力方向水平向右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C_4_BD.6_3#0ac322e95.choices?htil=1&amp;vcp=1&amp;pid=c03880f0c&amp;color=0,0,0&amp;vtp=1&amp;bbb=1&amp;hs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356452"/>
                <a:ext cx="9674352" cy="1033399"/>
              </a:xfrm>
              <a:prstGeom prst="rect">
                <a:avLst/>
              </a:prstGeom>
              <a:blipFill>
                <a:blip r:embed="rId5"/>
                <a:stretch>
                  <a:fillRect l="-1953" b="-17751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QC_4_AS.8_1#0ac322e95?vcp=1&amp;pid=c03880f0c&amp;color=0,0,0&amp;vtp=1&amp;bbb=1&amp;hb=1&amp;hs=1"/>
              <p:cNvSpPr/>
              <p:nvPr/>
            </p:nvSpPr>
            <p:spPr>
              <a:xfrm>
                <a:off x="393192" y="3396582"/>
                <a:ext cx="11402568" cy="27138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对橡皮受力分析，竖直方向上有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𝐬𝐢𝐧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𝑮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𝐍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，水平方向上有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𝐜𝐨𝐬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𝒇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故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A错误，B正确；橡皮做匀速直线运动，根据平衡条件可知，橡皮受到的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𝒇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的合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力方向必然与受到的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𝑮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𝐍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的合力方向相反，因为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𝐍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&gt;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𝑮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，故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𝒇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的合力方向竖直向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下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，故C错误；根据平衡条件，橡皮受到的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𝐍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的合力方向与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𝒇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𝑮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的合力方向相反，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因此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𝐍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的合力指向右上方，故D错误.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6" name="QC_4_AS.8_1#0ac322e95?vcp=1&amp;pid=c03880f0c&amp;color=0,0,0&amp;vtp=1&amp;bbb=1&amp;hb=1&amp;hs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396582"/>
                <a:ext cx="11402568" cy="2713800"/>
              </a:xfrm>
              <a:prstGeom prst="rect">
                <a:avLst/>
              </a:prstGeom>
              <a:blipFill>
                <a:blip r:embed="rId6"/>
                <a:stretch>
                  <a:fillRect l="-1658" r="-2620" b="-6742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6" grpId="0" build="p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&amp;si=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BD.9_1#eb3e8d25b?vcp=1&amp;pid=c03880f0c&amp;color=0,0,0&amp;vtp=1&amp;bt=1&amp;bbb=1&amp;hb=1"/>
              <p:cNvSpPr/>
              <p:nvPr/>
            </p:nvSpPr>
            <p:spPr>
              <a:xfrm>
                <a:off x="393192" y="1400334"/>
                <a:ext cx="11402568" cy="15921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4.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考点3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（多选题）如图所示，重物的质量为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,轻绳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𝐴𝑂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𝐵𝑂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端、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端均是固定的，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平衡时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𝐴𝑂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是水平的，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𝐵𝑂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与水平方向的夹角为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𝜃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,重力加速度为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𝑔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𝐴𝑂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的拉力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𝐵𝑂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拉力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的大小分别是(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BD.9_1#eb3e8d25b?vcp=1&amp;pid=c03880f0c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400334"/>
                <a:ext cx="11402568" cy="1592199"/>
              </a:xfrm>
              <a:prstGeom prst="rect">
                <a:avLst/>
              </a:prstGeom>
              <a:blipFill>
                <a:blip r:embed="rId3"/>
                <a:stretch>
                  <a:fillRect l="-1658" r="-4278" b="-11494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QC_4_AN.10_1#eb3e8d25b.bracket?vcp=1&amp;pid=c03880f0c&amp;color=0,0,0&amp;vpa=4&amp;vtp=1&amp;bbb=1"/>
          <p:cNvSpPr/>
          <p:nvPr/>
        </p:nvSpPr>
        <p:spPr>
          <a:xfrm>
            <a:off x="3421284" y="2506504"/>
            <a:ext cx="644525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BD</a:t>
            </a:r>
            <a:endParaRPr lang="en-US" altLang="zh-CN" sz="2400" dirty="0"/>
          </a:p>
        </p:txBody>
      </p:sp>
      <p:pic>
        <p:nvPicPr>
          <p:cNvPr id="4" name="QC_4_BD.9_2#eb3e8d25b?vcp=1&amp;pid=c03880f0c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818888" y="3120929"/>
            <a:ext cx="2551176" cy="1527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QC_4_BD.9_3#eb3e8d25b.choices?vcp=1&amp;pid=c03880f0c&amp;color=0,0,0&amp;vtp=1&amp;bbb=1"/>
              <p:cNvSpPr/>
              <p:nvPr/>
            </p:nvSpPr>
            <p:spPr>
              <a:xfrm>
                <a:off x="393192" y="4784629"/>
                <a:ext cx="11402568" cy="66529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5700"/>
                  </a:lnSpc>
                  <a:tabLst>
                    <a:tab pos="3215127" algn="l"/>
                    <a:tab pos="5846054" algn="l"/>
                    <a:tab pos="8984981" algn="l"/>
                  </a:tabLst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𝑚𝑔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cos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𝜃</m:t>
                    </m:r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𝑚𝑔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tan</m:t>
                        </m:r>
                        <m:r>
                          <m:rPr>
                            <m:nor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 </m:t>
                        </m:r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𝜃</m:t>
                        </m:r>
                      </m:den>
                    </m:f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𝑚𝑔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sin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𝜃</m:t>
                    </m:r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𝑚𝑔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sin</m:t>
                        </m:r>
                        <m:r>
                          <m:rPr>
                            <m:nor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 </m:t>
                        </m:r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𝜃</m:t>
                        </m:r>
                      </m:den>
                    </m:f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C_4_BD.9_3#eb3e8d25b.choices?vcp=1&amp;pid=c03880f0c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4784629"/>
                <a:ext cx="11402568" cy="665290"/>
              </a:xfrm>
              <a:prstGeom prst="rect">
                <a:avLst/>
              </a:prstGeom>
              <a:blipFill>
                <a:blip r:embed="rId5"/>
                <a:stretch>
                  <a:fillRect l="-1658" b="-15596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&amp;si=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QC_4_AS.11_1#eb3e8d25b?htil=2&amp;vcp=1&amp;pid=c03880f0c&amp;color=0,0,0&amp;tib=255,255,255&amp;vtp=1&amp;hs=1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897930" y="1080357"/>
            <a:ext cx="1856232" cy="1527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QC_4_AS.11_2#eb3e8d25b?htil=2&amp;vcp=1&amp;pid=c03880f0c&amp;color=0,0,0&amp;vtp=1&amp;bt=1&amp;bbb=1&amp;hb=1&amp;hs=1"/>
              <p:cNvSpPr/>
              <p:nvPr/>
            </p:nvSpPr>
            <p:spPr>
              <a:xfrm>
                <a:off x="393192" y="1034637"/>
                <a:ext cx="9409176" cy="16764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方法一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合成法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由力的平行四边形定则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，作出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的合力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𝟏𝟐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，如图所示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，又考虑到</a:t>
                </a:r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，由几何关系得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𝒎𝒈</m:t>
                        </m:r>
                      </m:num>
                      <m:den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𝐭𝐚𝐧</m:t>
                        </m:r>
                        <m:r>
                          <m:rPr>
                            <m:nor/>
                          </m:rP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 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𝜽</m:t>
                        </m:r>
                      </m:den>
                    </m:f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𝒎𝒈</m:t>
                        </m:r>
                      </m:num>
                      <m:den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𝐬𝐢𝐧</m:t>
                        </m:r>
                        <m:r>
                          <m:rPr>
                            <m:nor/>
                          </m:rP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 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𝜽</m:t>
                        </m:r>
                      </m:den>
                    </m:f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3" name="QC_4_AS.11_2#eb3e8d25b?htil=2&amp;vcp=1&amp;pid=c03880f0c&amp;color=0,0,0&amp;vtp=1&amp;bt=1&amp;bbb=1&amp;hb=1&amp;hs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034637"/>
                <a:ext cx="9409176" cy="1676400"/>
              </a:xfrm>
              <a:prstGeom prst="rect">
                <a:avLst/>
              </a:prstGeom>
              <a:blipFill>
                <a:blip r:embed="rId4"/>
                <a:stretch>
                  <a:fillRect l="-2009" r="-1750" b="-6182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QC_4_AS.11_3#eb3e8d25b?htil=3&amp;vcp=1&amp;pid=c03880f0c&amp;color=0,0,0&amp;tib=255,255,255&amp;vtp=1&amp;hs=1" descr="preencoded.png"/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314432" y="2760122"/>
            <a:ext cx="1463040" cy="18562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QC_4_AS.11_4#eb3e8d25b?htil=3&amp;vcp=1&amp;pid=c03880f0c&amp;color=0,0,0&amp;vtp=1&amp;bbb=1&amp;hb=1&amp;hs=1"/>
              <p:cNvSpPr/>
              <p:nvPr/>
            </p:nvSpPr>
            <p:spPr>
              <a:xfrm>
                <a:off x="393192" y="2714402"/>
                <a:ext cx="9802368" cy="22352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方法二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正交分解法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将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𝑶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点受的力沿水平方向、竖直方向正交分解，如图所示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，由力的平衡条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件得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𝐜𝐨𝐬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𝐬𝐢𝐧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，联立解得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𝒎𝒈</m:t>
                        </m:r>
                      </m:num>
                      <m:den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𝐬𝐢𝐧</m:t>
                        </m:r>
                        <m:r>
                          <m:rPr>
                            <m:nor/>
                          </m:rP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 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𝜽</m:t>
                        </m:r>
                      </m:den>
                    </m:f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𝒎𝒈</m:t>
                        </m:r>
                      </m:num>
                      <m:den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𝐭𝐚𝐧</m:t>
                        </m:r>
                        <m:r>
                          <m:rPr>
                            <m:nor/>
                          </m:rP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 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𝜽</m:t>
                        </m:r>
                      </m:den>
                    </m:f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C_4_AS.11_4#eb3e8d25b?htil=3&amp;vcp=1&amp;pid=c03880f0c&amp;color=0,0,0&amp;vtp=1&amp;bbb=1&amp;hb=1&amp;hs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714402"/>
                <a:ext cx="9802368" cy="2235200"/>
              </a:xfrm>
              <a:prstGeom prst="rect">
                <a:avLst/>
              </a:prstGeom>
              <a:blipFill>
                <a:blip r:embed="rId6"/>
                <a:stretch>
                  <a:fillRect l="-1928" r="-560" b="-4632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QC_4_AS.11_5#eb3e8d25b?vcp=1&amp;pid=c03880f0c&amp;color=0,0,0&amp;vtp=1&amp;bbb=1&amp;hs=1"/>
          <p:cNvSpPr/>
          <p:nvPr/>
        </p:nvSpPr>
        <p:spPr>
          <a:xfrm>
            <a:off x="393192" y="4951761"/>
            <a:ext cx="11402568" cy="48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3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（也可以用效果分解法求解，同学们可以试一试.）</a:t>
            </a:r>
            <a:endParaRPr lang="en-US" altLang="zh-CN" sz="2400" dirty="0"/>
          </a:p>
        </p:txBody>
      </p:sp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5" grpId="0" build="p" animBg="1"/>
      <p:bldP spid="6" grpId="0" build="p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&amp;si=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QC_4_AS.11_6#eb3e8d25b?htil=4&amp;vcp=1&amp;pid=c03880f0c&amp;color=0,0,0&amp;tib=255,255,255&amp;vtp=1&amp;hs=1&amp;hs=1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054113" y="1918049"/>
            <a:ext cx="3648456" cy="1737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QC_4_AS.11_7#eb3e8d25b?htil=4&amp;vcp=1&amp;pid=c03880f0c&amp;color=0,0,0&amp;vtp=1&amp;bt=1&amp;bbb=1&amp;hb=1&amp;hs=1"/>
              <p:cNvSpPr/>
              <p:nvPr/>
            </p:nvSpPr>
            <p:spPr>
              <a:xfrm>
                <a:off x="393192" y="1771745"/>
                <a:ext cx="7616952" cy="215519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方法三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矢量三角形法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𝑶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点在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的共同作用下处于平衡状态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，画出的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受力分析示意图如图甲所示，再将表示三个力的有向线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段平移到一个三角形中，三个力构成首尾相接的闭合的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3" name="QC_4_AS.11_7#eb3e8d25b?htil=4&amp;vcp=1&amp;pid=c03880f0c&amp;color=0,0,0&amp;vtp=1&amp;bt=1&amp;bbb=1&amp;hb=1&amp;hs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771745"/>
                <a:ext cx="7616952" cy="2155190"/>
              </a:xfrm>
              <a:prstGeom prst="rect">
                <a:avLst/>
              </a:prstGeom>
              <a:blipFill>
                <a:blip r:embed="rId4"/>
                <a:stretch>
                  <a:fillRect l="-2482" r="-801" b="-849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QC_4_AS.11_8#eb3e8d25b?vcp=1&amp;pid=c03880f0c&amp;color=0,0,0&amp;vtp=1&amp;bbb=1"/>
          <p:cNvSpPr/>
          <p:nvPr/>
        </p:nvSpPr>
        <p:spPr>
          <a:xfrm>
            <a:off x="393192" y="4577683"/>
            <a:ext cx="11402568" cy="48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3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综上所述，B、D正确.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QC_4_AS.11_7#eb3e8d25b?htil=4&amp;vcp=1&amp;pid=c03880f0c&amp;color=0,0,0&amp;vtp=1&amp;bt=1&amp;bbb=1&amp;hb=1&amp;hs=1">
                <a:extLst>
                  <a:ext uri="{FF2B5EF4-FFF2-40B4-BE49-F238E27FC236}">
                    <a16:creationId xmlns:a16="http://schemas.microsoft.com/office/drawing/2014/main" id="{3DE0F3E9-B62C-6B44-D3CE-DBE7D07756B6}"/>
                  </a:ext>
                </a:extLst>
              </p:cNvPr>
              <p:cNvSpPr/>
              <p:nvPr/>
            </p:nvSpPr>
            <p:spPr>
              <a:xfrm>
                <a:off x="395996" y="3923125"/>
                <a:ext cx="11400008" cy="66490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57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三角形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，如图乙所示，则由几何关系可知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𝒎𝒈</m:t>
                        </m:r>
                      </m:num>
                      <m:den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𝐭𝐚𝐧</m:t>
                        </m:r>
                        <m:r>
                          <m:rPr>
                            <m:nor/>
                          </m:rP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 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𝜽</m:t>
                        </m:r>
                      </m:den>
                    </m:f>
                  </m:oMath>
                </a14:m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𝒎𝒈</m:t>
                        </m:r>
                      </m:num>
                      <m:den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𝐬𝐢𝐧</m:t>
                        </m:r>
                        <m:r>
                          <m:rPr>
                            <m:nor/>
                          </m:rP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 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𝜽</m:t>
                        </m:r>
                      </m:den>
                    </m:f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C_4_AS.11_7#eb3e8d25b?htil=4&amp;vcp=1&amp;pid=c03880f0c&amp;color=0,0,0&amp;vtp=1&amp;bt=1&amp;bbb=1&amp;hb=1&amp;hs=1">
                <a:extLst>
                  <a:ext uri="{FF2B5EF4-FFF2-40B4-BE49-F238E27FC236}">
                    <a16:creationId xmlns:a16="http://schemas.microsoft.com/office/drawing/2014/main" id="{3DE0F3E9-B62C-6B44-D3CE-DBE7D07756B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996" y="3923125"/>
                <a:ext cx="11400008" cy="664909"/>
              </a:xfrm>
              <a:prstGeom prst="rect">
                <a:avLst/>
              </a:prstGeom>
              <a:blipFill>
                <a:blip r:embed="rId5"/>
                <a:stretch>
                  <a:fillRect l="-1658" b="-15596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4" grpId="0" build="p" animBg="1"/>
      <p:bldP spid="5" grpId="0" build="p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&amp;si=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_3_BD#0af09d235?vcp=1&amp;pid=02fd2d879&amp;color=0,0,0&amp;vtp=1&amp;bt=1&amp;bbb=1"/>
          <p:cNvSpPr/>
          <p:nvPr/>
        </p:nvSpPr>
        <p:spPr>
          <a:xfrm>
            <a:off x="393192" y="502920"/>
            <a:ext cx="11402568" cy="949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600"/>
              </a:lnSpc>
            </a:pP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能力考点提升练</a:t>
            </a:r>
            <a:endParaRPr lang="en-US" altLang="zh-CN" sz="2600" dirty="0"/>
          </a:p>
        </p:txBody>
      </p:sp>
      <p:sp>
        <p:nvSpPr>
          <p:cNvPr id="3" name="P_4_BD#aad5daf28?vcp=1&amp;pid=0af09d235&amp;color=0,0,0&amp;vtp=1&amp;bbb=1"/>
          <p:cNvSpPr/>
          <p:nvPr/>
        </p:nvSpPr>
        <p:spPr>
          <a:xfrm>
            <a:off x="393192" y="1093884"/>
            <a:ext cx="11402568" cy="48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3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限时20分钟</a:t>
            </a:r>
            <a:endParaRPr lang="en-US" altLang="zh-CN" sz="2400" dirty="0"/>
          </a:p>
        </p:txBody>
      </p:sp>
      <p:pic>
        <p:nvPicPr>
          <p:cNvPr id="4" name="QC_4_BD.12_1#3ee9bb3ba?htil=5&amp;vcp=1&amp;pid=0af09d235&amp;color=0,0,0&amp;tib=255,255,255&amp;vtp=1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895237" y="1704148"/>
            <a:ext cx="3867912" cy="36027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sp>
        <p:nvSpPr>
          <p:cNvPr id="5" name="QC_4_BD.12_2#3ee9bb3ba?htil=5&amp;vcp=1&amp;pid=0af09d235&amp;color=0,0,0&amp;vtp=1&amp;bbb=1&amp;hb=1"/>
          <p:cNvSpPr/>
          <p:nvPr/>
        </p:nvSpPr>
        <p:spPr>
          <a:xfrm>
            <a:off x="393192" y="1649285"/>
            <a:ext cx="7406640" cy="2709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1.</a:t>
            </a:r>
            <a:r>
              <a:rPr lang="en-US" altLang="zh-CN" sz="24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考点4</a:t>
            </a:r>
            <a:r>
              <a:rPr lang="en-US" altLang="zh-CN" sz="2400" b="1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0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四个相同的物块用轻绳系住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，绕过光滑的轻质</a:t>
            </a:r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滑轮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，并将绳子另一端系在墙壁上.甲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、乙两图中两杆固</a:t>
            </a:r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定在墙壁上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，丙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、丁两图中两杆带有铰链并固定于墙壁</a:t>
            </a:r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上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.轻杆与轻绳和水平方向的夹角如图所示.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四幅图中，</a:t>
            </a:r>
          </a:p>
          <a:p>
            <a:pPr latinLnBrk="1">
              <a:lnSpc>
                <a:spcPts val="42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物块能够保持静止且杆的作用力相同的是(</a:t>
            </a:r>
            <a:r>
              <a:rPr lang="en-US" altLang="zh-CN" sz="2400" b="0" i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1" i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).</a:t>
            </a:r>
            <a:endParaRPr lang="en-US" altLang="zh-CN" sz="2400" dirty="0"/>
          </a:p>
        </p:txBody>
      </p:sp>
      <p:sp>
        <p:nvSpPr>
          <p:cNvPr id="6" name="QC_4_AN.13_1#3ee9bb3ba.bracket?vcp=1&amp;pid=0af09d235&amp;color=0,0,0&amp;vpa=5&amp;vtp=1"/>
          <p:cNvSpPr/>
          <p:nvPr/>
        </p:nvSpPr>
        <p:spPr>
          <a:xfrm>
            <a:off x="6112160" y="3873055"/>
            <a:ext cx="441325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D</a:t>
            </a:r>
            <a:endParaRPr lang="en-US" altLang="zh-CN" sz="2400" dirty="0"/>
          </a:p>
        </p:txBody>
      </p:sp>
      <p:sp>
        <p:nvSpPr>
          <p:cNvPr id="7" name="QC_4_BD.12_3#3ee9bb3ba.choices?htil=5&amp;vcp=1&amp;pid=0af09d235&amp;color=0,0,0&amp;vtp=1&amp;bbb=1"/>
          <p:cNvSpPr/>
          <p:nvPr/>
        </p:nvSpPr>
        <p:spPr>
          <a:xfrm>
            <a:off x="393192" y="4389818"/>
            <a:ext cx="7406640" cy="484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latinLnBrk="1">
              <a:lnSpc>
                <a:spcPts val="4300"/>
              </a:lnSpc>
              <a:tabLst>
                <a:tab pos="1918335" algn="l"/>
                <a:tab pos="3811270" algn="l"/>
                <a:tab pos="5704206" algn="l"/>
              </a:tabLst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A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.甲和乙</a:t>
            </a:r>
            <a:r>
              <a:rPr lang="en-US" altLang="zh-CN" sz="2400" b="0" i="0" spc="-1030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	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B.乙和丙</a:t>
            </a:r>
            <a:r>
              <a:rPr lang="en-US" altLang="zh-CN" sz="2400" b="0" i="0" spc="-1030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	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C.甲和丁</a:t>
            </a:r>
            <a:r>
              <a:rPr lang="en-US" altLang="zh-CN" sz="2400" b="0" i="0" spc="-1030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	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D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.乙和丁</a:t>
            </a:r>
            <a:endParaRPr lang="en-US" altLang="zh-CN" sz="2400" dirty="0"/>
          </a:p>
        </p:txBody>
      </p:sp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&amp;si=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AS.14_1#3ee9bb3ba?vcp=1&amp;pid=0af09d235&amp;color=0,0,0&amp;vtp=1&amp;bt=1&amp;bbb=1&amp;hb=1"/>
              <p:cNvSpPr/>
              <p:nvPr/>
            </p:nvSpPr>
            <p:spPr>
              <a:xfrm>
                <a:off x="393192" y="2361025"/>
                <a:ext cx="11402568" cy="21550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物块静止时，轻杆的力与两绳对滑轮的合力等大反向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，题图甲中杆的力与竖直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方向成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𝟑𝟎</m:t>
                        </m:r>
                      </m:e>
                      <m:sup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∘</m:t>
                        </m:r>
                      </m:sup>
                    </m:sSup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向右上；题图乙中杆的力与竖直方向成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𝟔𝟎</m:t>
                        </m:r>
                      </m:e>
                      <m:sup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∘</m:t>
                        </m:r>
                      </m:sup>
                    </m:sSup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向右上；题图丙中为动杆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，不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能保持静止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；题图丁中杆的力与竖直方向成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𝟔𝟎</m:t>
                        </m:r>
                      </m:e>
                      <m:sup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∘</m:t>
                        </m:r>
                      </m:sup>
                    </m:sSup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向右上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，故乙和丁中物块能保持静止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且杆的作用力相同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，D正确.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AS.14_1#3ee9bb3ba?vcp=1&amp;pid=0af09d235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361025"/>
                <a:ext cx="11402568" cy="2155000"/>
              </a:xfrm>
              <a:prstGeom prst="rect">
                <a:avLst/>
              </a:prstGeom>
              <a:blipFill>
                <a:blip r:embed="rId3"/>
                <a:stretch>
                  <a:fillRect l="-1658" r="-1016" b="-8475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&amp;si=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BD.15_1#aa02e93a3?vcp=1&amp;pid=0af09d235&amp;color=0,0,0&amp;vtp=1&amp;bt=1&amp;bbb=1&amp;hb=1"/>
              <p:cNvSpPr/>
              <p:nvPr/>
            </p:nvSpPr>
            <p:spPr>
              <a:xfrm>
                <a:off x="393192" y="1172559"/>
                <a:ext cx="11402568" cy="21509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2.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考点2、3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1E5A99"/>
                    </a:solidFill>
                    <a:latin typeface="KaiTi" pitchFamily="34" charset="0"/>
                    <a:ea typeface="KaiTi" pitchFamily="34" charset="-122"/>
                    <a:cs typeface="KaiTi" pitchFamily="34" charset="-120"/>
                  </a:rPr>
                  <a:t>（2026·西安交大附中检测）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（多选题）如图所示，一质量为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的滑块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静止于倾角为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45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∘</m:t>
                        </m:r>
                      </m:sup>
                    </m:sSup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的粗糙斜面上，滑块与斜面间的动摩擦因数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μ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=0.75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,一根轻弹簧一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端固定在竖直墙上的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𝑃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点，另一端系在滑块上，弹簧与斜面垂直，重力加速度大小为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𝑔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则下列说法中正确的是(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BD.15_1#aa02e93a3?vcp=1&amp;pid=0af09d235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172559"/>
                <a:ext cx="11402568" cy="2150999"/>
              </a:xfrm>
              <a:prstGeom prst="rect">
                <a:avLst/>
              </a:prstGeom>
              <a:blipFill>
                <a:blip r:embed="rId3"/>
                <a:stretch>
                  <a:fillRect l="-1658" r="-1925" b="-8782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QC_4_AN.16_1#aa02e93a3.bracket?vcp=1&amp;pid=0af09d235&amp;color=0,0,0&amp;vpa=6&amp;vtp=1&amp;bbb=1"/>
          <p:cNvSpPr/>
          <p:nvPr/>
        </p:nvSpPr>
        <p:spPr>
          <a:xfrm>
            <a:off x="3699160" y="2837529"/>
            <a:ext cx="865188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BCD</a:t>
            </a:r>
            <a:endParaRPr lang="en-US" altLang="zh-CN" sz="2400" dirty="0"/>
          </a:p>
        </p:txBody>
      </p:sp>
      <p:pic>
        <p:nvPicPr>
          <p:cNvPr id="4" name="QC_4_BD.15_2#aa02e93a3?htil=6&amp;vcp=1&amp;pid=0af09d235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206418" y="3420585"/>
            <a:ext cx="1417320" cy="20482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QC_4_BD.15_3#aa02e93a3.choices?htil=6&amp;vcp=1&amp;pid=0af09d235&amp;color=0,0,0&amp;vtp=1&amp;bbb=1"/>
              <p:cNvSpPr/>
              <p:nvPr/>
            </p:nvSpPr>
            <p:spPr>
              <a:xfrm>
                <a:off x="393192" y="3374865"/>
                <a:ext cx="9848088" cy="2307908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A.滑块可能只受到3个力作用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.弹簧一定处于压缩状态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.斜面对滑块的支持力大小不可能为0</a:t>
                </a:r>
                <a:endParaRPr lang="en-US" altLang="zh-CN" sz="2400" dirty="0"/>
              </a:p>
              <a:p>
                <a:pPr latinLnBrk="1">
                  <a:lnSpc>
                    <a:spcPts val="51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.斜面对滑块的摩擦力大小一定等于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den>
                    </m:f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𝑚𝑔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C_4_BD.15_3#aa02e93a3.choices?htil=6&amp;vcp=1&amp;pid=0af09d235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374865"/>
                <a:ext cx="9848088" cy="2307908"/>
              </a:xfrm>
              <a:prstGeom prst="rect">
                <a:avLst/>
              </a:prstGeom>
              <a:blipFill>
                <a:blip r:embed="rId5"/>
                <a:stretch>
                  <a:fillRect l="-1920" b="-449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&amp;si=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AS.17_1#aa02e93a3?vcp=1&amp;pid=0af09d235&amp;color=0,0,0&amp;vtp=1&amp;bt=1&amp;bbb=1&amp;hb=1"/>
              <p:cNvSpPr/>
              <p:nvPr/>
            </p:nvSpPr>
            <p:spPr>
              <a:xfrm>
                <a:off x="393192" y="2015966"/>
                <a:ext cx="11402568" cy="2858326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滑块静止在斜面上，滑块一定受重力、摩擦力作用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，故斜面对滑块一定有支持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力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；假设弹簧对滑块的作用力为0，由于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𝐬𝐢𝐧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𝟒𝟓</m:t>
                        </m:r>
                      </m:e>
                      <m:sup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∘</m:t>
                        </m:r>
                      </m:sup>
                    </m:sSup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&gt;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𝛍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𝐜𝐨𝐬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𝟒𝟓</m:t>
                        </m:r>
                      </m:e>
                      <m:sup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∘</m:t>
                        </m:r>
                      </m:sup>
                    </m:sSup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，则滑块一定下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滑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，假设不成立，所以弹簧对滑块的力垂直于斜面向下，弹簧处于压缩状态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，滑块受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4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个力作用，故A错误，B、C正确；弹簧对滑块的力在垂直于斜面的方向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，故滑块所</a:t>
                </a:r>
              </a:p>
              <a:p>
                <a:pPr latinLnBrk="1">
                  <a:lnSpc>
                    <a:spcPts val="50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受的摩擦力大小等于其重力沿斜面方向的分力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，即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𝒇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𝐬𝐢𝐧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𝟒𝟓</m:t>
                        </m:r>
                      </m:e>
                      <m:sup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∘</m:t>
                        </m:r>
                      </m:sup>
                    </m:sSup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e>
                        </m:rad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,D正确.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AS.17_1#aa02e93a3?vcp=1&amp;pid=0af09d235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015966"/>
                <a:ext cx="11402568" cy="2858326"/>
              </a:xfrm>
              <a:prstGeom prst="rect">
                <a:avLst/>
              </a:prstGeom>
              <a:blipFill>
                <a:blip r:embed="rId3"/>
                <a:stretch>
                  <a:fillRect l="-1658" r="-1016" b="-3625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&amp;si=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QC_4_BD.18_1#4ce9aa191?htil=7&amp;vcp=1&amp;pid=0af09d235&amp;color=0,0,0&amp;tib=255,255,255&amp;vtp=1&amp;hs=1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301824" y="1123600"/>
            <a:ext cx="2359152" cy="1106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QC_4_BD.18_2#4ce9aa191?htil=7&amp;vcp=1&amp;pid=0af09d235&amp;color=0,0,0&amp;vtp=1&amp;bt=1&amp;bbb=1&amp;hb=1&amp;hs=1"/>
              <p:cNvSpPr/>
              <p:nvPr/>
            </p:nvSpPr>
            <p:spPr>
              <a:xfrm>
                <a:off x="393192" y="1077881"/>
                <a:ext cx="8906256" cy="15921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3.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考点2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如图所示，一轻质晒衣架静置于水平地面上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，水平横杆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与四根相同的斜杆垂直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，两斜杆夹角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𝜃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60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∘</m:t>
                        </m:r>
                      </m:sup>
                    </m:sSup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，一重为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𝐺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的物体悬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挂在横杆中点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则每根斜杆受到地面的(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3" name="QC_4_BD.18_2#4ce9aa191?htil=7&amp;vcp=1&amp;pid=0af09d235&amp;color=0,0,0&amp;vtp=1&amp;bt=1&amp;bbb=1&amp;hb=1&amp;hs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077881"/>
                <a:ext cx="8906256" cy="1592199"/>
              </a:xfrm>
              <a:prstGeom prst="rect">
                <a:avLst/>
              </a:prstGeom>
              <a:blipFill>
                <a:blip r:embed="rId4"/>
                <a:stretch>
                  <a:fillRect l="-2122" b="-11494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QC_4_AN.19_1#4ce9aa191.bracket?vcp=1&amp;pid=0af09d235&amp;color=0,0,0&amp;vpa=7&amp;vtp=1"/>
          <p:cNvSpPr/>
          <p:nvPr/>
        </p:nvSpPr>
        <p:spPr>
          <a:xfrm>
            <a:off x="5820060" y="2184051"/>
            <a:ext cx="423863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B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QC_4_BD.18_3#4ce9aa191.choices?vcp=1&amp;pid=0af09d235&amp;color=0,0,0&amp;vtp=1&amp;bbb=1&amp;hs=1"/>
              <p:cNvSpPr/>
              <p:nvPr/>
            </p:nvSpPr>
            <p:spPr>
              <a:xfrm>
                <a:off x="393192" y="2671476"/>
                <a:ext cx="11402568" cy="622364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5000"/>
                  </a:lnSpc>
                  <a:tabLst>
                    <a:tab pos="2923027" algn="l"/>
                    <a:tab pos="5807954" algn="l"/>
                    <a:tab pos="8692881" algn="l"/>
                  </a:tabLst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A.作用力为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3</m:t>
                        </m:r>
                      </m:den>
                    </m:f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𝐺</m:t>
                    </m:r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.作用力为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6</m:t>
                        </m:r>
                      </m:den>
                    </m:f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𝐺</m:t>
                    </m:r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.摩擦力为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4</m:t>
                        </m:r>
                      </m:den>
                    </m:f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𝐺</m:t>
                    </m:r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.摩擦力为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8</m:t>
                        </m:r>
                      </m:den>
                    </m:f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𝐺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C_4_BD.18_3#4ce9aa191.choices?vcp=1&amp;pid=0af09d235&amp;color=0,0,0&amp;vtp=1&amp;bbb=1&amp;hs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671476"/>
                <a:ext cx="11402568" cy="622364"/>
              </a:xfrm>
              <a:prstGeom prst="rect">
                <a:avLst/>
              </a:prstGeom>
              <a:blipFill>
                <a:blip r:embed="rId5"/>
                <a:stretch>
                  <a:fillRect l="-1658" b="-1764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QC_4_AS.20_1#4ce9aa191?htil=8&amp;vcp=1&amp;pid=0af09d235&amp;color=0,0,0&amp;tib=255,255,255&amp;vtp=1&amp;hs=1" descr="preencoded.png"/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899648" y="3346418"/>
            <a:ext cx="877824" cy="12710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QC_4_AS.20_2#4ce9aa191?htil=8&amp;vcp=1&amp;pid=0af09d235&amp;color=0,0,0&amp;vtp=1&amp;bbb=1&amp;hb=1"/>
              <p:cNvSpPr/>
              <p:nvPr/>
            </p:nvSpPr>
            <p:spPr>
              <a:xfrm>
                <a:off x="393192" y="3300698"/>
                <a:ext cx="10387584" cy="2477135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设斜杆的弹力大小为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，以水平横杆和重物为整体，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根据受力平衡可得，</a:t>
                </a:r>
              </a:p>
              <a:p>
                <a:pPr latinLnBrk="1">
                  <a:lnSpc>
                    <a:spcPts val="51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竖直方向有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𝐜𝐨𝐬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𝟑𝟎</m:t>
                        </m:r>
                      </m:e>
                      <m:sup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∘</m:t>
                        </m:r>
                      </m:sup>
                    </m:sSup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𝑮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,解得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𝟑</m:t>
                            </m:r>
                          </m:e>
                        </m:rad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𝟔</m:t>
                        </m:r>
                      </m:den>
                    </m:f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𝑮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.以其中一斜杆为研究对象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，其受力如</a:t>
                </a:r>
              </a:p>
              <a:p>
                <a:pPr latinLnBrk="1">
                  <a:lnSpc>
                    <a:spcPts val="51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图所示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，可知每根斜杆受到地面的作用力应与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平衡，即大小为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𝟑</m:t>
                            </m:r>
                          </m:e>
                        </m:rad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𝟔</m:t>
                        </m:r>
                      </m:den>
                    </m:f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𝑮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,每根斜杆</a:t>
                </a:r>
              </a:p>
              <a:p>
                <a:pPr latinLnBrk="1">
                  <a:lnSpc>
                    <a:spcPts val="50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受到地面的摩擦力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𝒇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𝐬𝐢𝐧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𝟑𝟎</m:t>
                        </m:r>
                      </m:e>
                      <m:sup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∘</m:t>
                        </m:r>
                      </m:sup>
                    </m:sSup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𝟑</m:t>
                            </m:r>
                          </m:e>
                        </m:rad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𝟏𝟐</m:t>
                        </m:r>
                      </m:den>
                    </m:f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𝑮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,B正确,A、C、D错误.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7" name="QC_4_AS.20_2#4ce9aa191?htil=8&amp;vcp=1&amp;pid=0af09d235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300698"/>
                <a:ext cx="10387584" cy="2477135"/>
              </a:xfrm>
              <a:prstGeom prst="rect">
                <a:avLst/>
              </a:prstGeom>
              <a:blipFill>
                <a:blip r:embed="rId7"/>
                <a:stretch>
                  <a:fillRect l="-1819" r="-3932" b="-417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  <p:bldP spid="7" grpId="0" build="p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&amp;si=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BD.21_1#48f6dbb05?vcp=1&amp;pid=0af09d235&amp;color=0,0,0&amp;vtp=1&amp;bt=1&amp;bbb=1&amp;hb=1"/>
              <p:cNvSpPr/>
              <p:nvPr/>
            </p:nvSpPr>
            <p:spPr>
              <a:xfrm>
                <a:off x="393192" y="677355"/>
                <a:ext cx="11402568" cy="15921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4.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考点2、3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抖空竹在中国有着悠久的历史.如图所示,假设抖空竹所用轻绳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𝐴𝐵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总长为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𝐿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空竹重力为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𝐺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,可视为质点.绳能承受的最大拉力是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2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𝐺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,将绳一端固定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,将另一端缓慢水平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向右移动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𝑑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而使绳不断,不计一切摩擦,则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𝑑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的最大可能值为(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BD.21_1#48f6dbb05?vcp=1&amp;pid=0af09d235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677355"/>
                <a:ext cx="11402568" cy="1592199"/>
              </a:xfrm>
              <a:prstGeom prst="rect">
                <a:avLst/>
              </a:prstGeom>
              <a:blipFill>
                <a:blip r:embed="rId3"/>
                <a:stretch>
                  <a:fillRect l="-1658" r="-1658" b="-1187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QC_4_AN.22_1#48f6dbb05.bracket?vcp=1&amp;pid=0af09d235&amp;color=0,0,0&amp;vpa=8&amp;vtp=1"/>
          <p:cNvSpPr/>
          <p:nvPr/>
        </p:nvSpPr>
        <p:spPr>
          <a:xfrm>
            <a:off x="8172989" y="1783525"/>
            <a:ext cx="423863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B</a:t>
            </a:r>
            <a:endParaRPr lang="en-US" altLang="zh-CN" sz="2400" dirty="0"/>
          </a:p>
        </p:txBody>
      </p:sp>
      <p:pic>
        <p:nvPicPr>
          <p:cNvPr id="4" name="QC_4_BD.21_2#48f6dbb05?vcp=1&amp;pid=0af09d235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645152" y="2397950"/>
            <a:ext cx="2907792" cy="7498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QC_4_BD.21_3#48f6dbb05.choices?vcp=1&amp;pid=0af09d235&amp;color=0,0,0&amp;vtp=1&amp;bbb=1"/>
              <p:cNvSpPr/>
              <p:nvPr/>
            </p:nvSpPr>
            <p:spPr>
              <a:xfrm>
                <a:off x="393192" y="3286950"/>
                <a:ext cx="11402568" cy="622364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5000"/>
                  </a:lnSpc>
                  <a:tabLst>
                    <a:tab pos="2884927" algn="l"/>
                    <a:tab pos="5833354" algn="l"/>
                    <a:tab pos="8642081" algn="l"/>
                  </a:tabLst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radPr>
                      <m:deg/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3</m:t>
                        </m:r>
                      </m:e>
                    </m:rad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𝐿</m:t>
                    </m:r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15</m:t>
                            </m:r>
                          </m:e>
                        </m:rad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4</m:t>
                        </m:r>
                      </m:den>
                    </m:f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𝐿</m:t>
                    </m:r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den>
                    </m:f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𝐿</m:t>
                    </m:r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15</m:t>
                            </m:r>
                          </m:e>
                        </m:rad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den>
                    </m:f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𝐿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C_4_BD.21_3#48f6dbb05.choices?vcp=1&amp;pid=0af09d235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286950"/>
                <a:ext cx="11402568" cy="622364"/>
              </a:xfrm>
              <a:prstGeom prst="rect">
                <a:avLst/>
              </a:prstGeom>
              <a:blipFill>
                <a:blip r:embed="rId5"/>
                <a:stretch>
                  <a:fillRect l="-1658" b="-1764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QC_4_AS.23_1#48f6dbb05?vcp=1&amp;pid=0af09d235&amp;color=0,0,0&amp;vtp=1&amp;bbb=1&amp;hb=1"/>
              <p:cNvSpPr/>
              <p:nvPr/>
            </p:nvSpPr>
            <p:spPr>
              <a:xfrm>
                <a:off x="393192" y="3916235"/>
                <a:ext cx="11402568" cy="226187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设轻绳与水平方向的夹角为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,根据受力分析可得竖直方向上有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𝐓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𝐬𝐢𝐧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𝑮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</a:p>
              <a:p>
                <a:pPr latinLnBrk="1">
                  <a:lnSpc>
                    <a:spcPts val="85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绳能承受的最大拉力是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𝑮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时，解得</a:t>
                </a:r>
                <a14:m>
                  <m:oMath xmlns:m="http://schemas.openxmlformats.org/officeDocument/2006/math"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𝐬𝐢𝐧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𝟒</m:t>
                        </m:r>
                      </m:den>
                    </m:f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,由几何关系可得</a:t>
                </a:r>
                <a14:m>
                  <m:oMath xmlns:m="http://schemas.openxmlformats.org/officeDocument/2006/math"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𝐬𝐢𝐧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lang="en-US" altLang="zh-CN" sz="2400" b="1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微软雅黑" pitchFamily="34" charset="-122"/>
                                    <a:cs typeface="Times New Roman" pitchFamily="34" charset="-12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b="1" i="0">
                                    <a:solidFill>
                                      <a:srgbClr val="FF0000"/>
                                    </a:solidFill>
                                    <a:latin typeface="Cambria Math" pitchFamily="34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(</m:t>
                                </m:r>
                                <m:f>
                                  <m:fPr>
                                    <m:ctrlPr>
                                      <a:rPr lang="en-US" altLang="zh-CN" sz="2400" b="1" i="1" dirty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微软雅黑" pitchFamily="34" charset="-122"/>
                                        <a:cs typeface="Times New Roman" pitchFamily="34" charset="-12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2400" b="1" i="1">
                                        <a:solidFill>
                                          <a:srgbClr val="FF0000"/>
                                        </a:solidFill>
                                        <a:latin typeface="Cambria Math" pitchFamily="34" charset="0"/>
                                        <a:ea typeface="Cambria Math" pitchFamily="34" charset="-122"/>
                                        <a:cs typeface="Cambria Math" pitchFamily="34" charset="-120"/>
                                      </a:rPr>
                                      <m:t>𝑳</m:t>
                                    </m:r>
                                  </m:num>
                                  <m:den>
                                    <m:r>
                                      <a:rPr lang="en-US" altLang="zh-CN" sz="2400" b="1" i="1">
                                        <a:solidFill>
                                          <a:srgbClr val="FF0000"/>
                                        </a:solidFill>
                                        <a:latin typeface="Cambria Math" pitchFamily="34" charset="0"/>
                                        <a:ea typeface="Cambria Math" pitchFamily="34" charset="-122"/>
                                        <a:cs typeface="Cambria Math" pitchFamily="34" charset="-120"/>
                                      </a:rPr>
                                      <m:t>𝟐</m:t>
                                    </m:r>
                                  </m:den>
                                </m:f>
                                <m:r>
                                  <a:rPr lang="en-US" altLang="zh-CN" sz="2400" b="1" i="0">
                                    <a:solidFill>
                                      <a:srgbClr val="FF0000"/>
                                    </a:solidFill>
                                    <a:latin typeface="Cambria Math" pitchFamily="34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US" altLang="zh-CN" sz="2400" b="1" i="1">
                                    <a:solidFill>
                                      <a:srgbClr val="FF0000"/>
                                    </a:solidFill>
                                    <a:latin typeface="Cambria Math" pitchFamily="34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𝟐</m:t>
                                </m:r>
                              </m:sup>
                            </m:sSup>
                            <m:r>
                              <a:rPr lang="en-US" altLang="zh-CN" sz="2400" b="1" i="0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altLang="zh-CN" sz="2400" b="1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微软雅黑" pitchFamily="34" charset="-122"/>
                                    <a:cs typeface="Times New Roman" pitchFamily="34" charset="-12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b="1" i="0">
                                    <a:solidFill>
                                      <a:srgbClr val="FF0000"/>
                                    </a:solidFill>
                                    <a:latin typeface="Cambria Math" pitchFamily="34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(</m:t>
                                </m:r>
                                <m:f>
                                  <m:fPr>
                                    <m:ctrlPr>
                                      <a:rPr lang="en-US" altLang="zh-CN" sz="2400" b="1" i="1" dirty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微软雅黑" pitchFamily="34" charset="-122"/>
                                        <a:cs typeface="Times New Roman" pitchFamily="34" charset="-12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2400" b="1" i="1">
                                        <a:solidFill>
                                          <a:srgbClr val="FF0000"/>
                                        </a:solidFill>
                                        <a:latin typeface="Cambria Math" pitchFamily="34" charset="0"/>
                                        <a:ea typeface="Cambria Math" pitchFamily="34" charset="-122"/>
                                        <a:cs typeface="Cambria Math" pitchFamily="34" charset="-120"/>
                                      </a:rPr>
                                      <m:t>𝒅</m:t>
                                    </m:r>
                                  </m:num>
                                  <m:den>
                                    <m:r>
                                      <a:rPr lang="en-US" altLang="zh-CN" sz="2400" b="1" i="1">
                                        <a:solidFill>
                                          <a:srgbClr val="FF0000"/>
                                        </a:solidFill>
                                        <a:latin typeface="Cambria Math" pitchFamily="34" charset="0"/>
                                        <a:ea typeface="Cambria Math" pitchFamily="34" charset="-122"/>
                                        <a:cs typeface="Cambria Math" pitchFamily="34" charset="-120"/>
                                      </a:rPr>
                                      <m:t>𝟐</m:t>
                                    </m:r>
                                  </m:den>
                                </m:f>
                                <m:r>
                                  <a:rPr lang="en-US" altLang="zh-CN" sz="2400" b="1" i="0">
                                    <a:solidFill>
                                      <a:srgbClr val="FF0000"/>
                                    </a:solidFill>
                                    <a:latin typeface="Cambria Math" pitchFamily="34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US" altLang="zh-CN" sz="2400" b="1" i="1">
                                    <a:solidFill>
                                      <a:srgbClr val="FF0000"/>
                                    </a:solidFill>
                                    <a:latin typeface="Cambria Math" pitchFamily="34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𝟐</m:t>
                                </m:r>
                              </m:sup>
                            </m:sSup>
                          </m:e>
                        </m:rad>
                      </m:num>
                      <m:den>
                        <m:f>
                          <m:f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fPr>
                          <m:num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𝑳</m:t>
                            </m:r>
                          </m:num>
                          <m:den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den>
                        </m:f>
                      </m:den>
                    </m:f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,联立解</a:t>
                </a:r>
              </a:p>
              <a:p>
                <a:pPr latinLnBrk="1">
                  <a:lnSpc>
                    <a:spcPts val="50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得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𝒅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𝟏𝟓</m:t>
                            </m:r>
                          </m:e>
                        </m:rad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𝟒</m:t>
                        </m:r>
                      </m:den>
                    </m:f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𝑳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,故选B.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6" name="QC_4_AS.23_1#48f6dbb05?vcp=1&amp;pid=0af09d235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916235"/>
                <a:ext cx="11402568" cy="2261870"/>
              </a:xfrm>
              <a:prstGeom prst="rect">
                <a:avLst/>
              </a:prstGeom>
              <a:blipFill>
                <a:blip r:embed="rId6"/>
                <a:stretch>
                  <a:fillRect l="-1658" r="-1016" b="-4852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6" grpId="0" build="p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&amp;si=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BD.24_1#c8b3c0969?vcp=1&amp;pid=0af09d235&amp;color=0,0,0&amp;vtp=1&amp;bt=1&amp;bbb=1&amp;hb=1"/>
              <p:cNvSpPr/>
              <p:nvPr/>
            </p:nvSpPr>
            <p:spPr>
              <a:xfrm>
                <a:off x="393192" y="1175004"/>
                <a:ext cx="11402568" cy="21509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5.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考点2、3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（多选题）如图甲所示,质量为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的风筝在细线和均匀风力的作用下处于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静止状态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,此模型的截面图如图乙所示.已知风筝平面与水平面的夹角为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37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∘</m:t>
                        </m:r>
                      </m:sup>
                    </m:sSup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,细线与风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筝平面的夹角为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53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∘</m:t>
                        </m:r>
                      </m:sup>
                    </m:sSup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,风力与风筝平面垂直,重力加速度大小为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𝑔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sin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37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∘</m:t>
                        </m:r>
                      </m:sup>
                    </m:sSup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=0.6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</a:p>
              <a:p>
                <a:pPr latinLnBrk="1">
                  <a:lnSpc>
                    <a:spcPts val="4200"/>
                  </a:lnSpc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cos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37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∘</m:t>
                        </m:r>
                      </m:sup>
                    </m:sSup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=0.8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下列说法正确的是(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BD.24_1#c8b3c0969?vcp=1&amp;pid=0af09d235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175004"/>
                <a:ext cx="11402568" cy="2150999"/>
              </a:xfrm>
              <a:prstGeom prst="rect">
                <a:avLst/>
              </a:prstGeom>
              <a:blipFill>
                <a:blip r:embed="rId3"/>
                <a:stretch>
                  <a:fillRect l="-1658" r="-214" b="-849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QC_4_AN.25_1#c8b3c0969.bracket?vcp=1&amp;pid=0af09d235&amp;color=0,0,0&amp;vpa=9&amp;vtp=1&amp;bbb=1"/>
          <p:cNvSpPr/>
          <p:nvPr/>
        </p:nvSpPr>
        <p:spPr>
          <a:xfrm>
            <a:off x="4941538" y="2839974"/>
            <a:ext cx="644525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BC</a:t>
            </a:r>
            <a:endParaRPr lang="en-US" altLang="zh-CN" sz="2400" dirty="0"/>
          </a:p>
        </p:txBody>
      </p:sp>
      <p:pic>
        <p:nvPicPr>
          <p:cNvPr id="4" name="QC_4_BD.24_2#c8b3c0969?htil=9&amp;vcp=1&amp;pid=0af09d235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360218" y="3360420"/>
            <a:ext cx="5093208" cy="2322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QC_4_BD.24_3#c8b3c0969.choices?htil=9&amp;vcp=1&amp;pid=0af09d235&amp;color=0,0,0&amp;vtp=1&amp;bbb=1"/>
              <p:cNvSpPr/>
              <p:nvPr/>
            </p:nvSpPr>
            <p:spPr>
              <a:xfrm>
                <a:off x="393192" y="3314699"/>
                <a:ext cx="6181344" cy="21550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A.细线的拉力与风筝所受重力的夹角为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37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∘</m:t>
                        </m:r>
                      </m:sup>
                    </m:sSup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.细线的拉力大小为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𝑚𝑔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.风力的大小为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1.6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𝑚𝑔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.若仅增大风力,则风筝保持静止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C_4_BD.24_3#c8b3c0969.choices?htil=9&amp;vcp=1&amp;pid=0af09d235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314699"/>
                <a:ext cx="6181344" cy="2155000"/>
              </a:xfrm>
              <a:prstGeom prst="rect">
                <a:avLst/>
              </a:prstGeom>
              <a:blipFill>
                <a:blip r:embed="rId5"/>
                <a:stretch>
                  <a:fillRect l="-3057" b="-849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&amp;si=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AS.26_1#c8b3c0969?vcp=1&amp;pid=0af09d235&amp;color=0,0,0&amp;vtp=1&amp;bt=1&amp;bbb=1&amp;hb=1"/>
              <p:cNvSpPr/>
              <p:nvPr/>
            </p:nvSpPr>
            <p:spPr>
              <a:xfrm>
                <a:off x="393192" y="1523778"/>
                <a:ext cx="11402568" cy="38314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由几何关系可知，细线与水平方向的夹角为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𝟓𝟑</m:t>
                        </m:r>
                      </m:e>
                      <m:sup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∘</m:t>
                        </m:r>
                      </m:sup>
                    </m:sSup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𝟑𝟕</m:t>
                        </m:r>
                      </m:e>
                      <m:sup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∘</m:t>
                        </m:r>
                      </m:sup>
                    </m:sSup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𝟏𝟔</m:t>
                        </m:r>
                      </m:e>
                      <m:sup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∘</m:t>
                        </m:r>
                      </m:sup>
                    </m:sSup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,与竖直方向的夹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角为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𝟗𝟎</m:t>
                        </m:r>
                      </m:e>
                      <m:sup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∘</m:t>
                        </m:r>
                      </m:sup>
                    </m:sSup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𝟏𝟔</m:t>
                        </m:r>
                      </m:e>
                      <m:sup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∘</m:t>
                        </m:r>
                      </m:sup>
                    </m:sSup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𝟕𝟒</m:t>
                        </m:r>
                      </m:e>
                      <m:sup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∘</m:t>
                        </m:r>
                      </m:sup>
                    </m:sSup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，故A错误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；把细线的拉力分别沿着风筝平面和垂直于风筝平面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分解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，把重力分别沿着风筝平面和垂直于风筝平面分解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，由力的平衡条件可得</a:t>
                </a:r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𝑻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𝐬𝐢𝐧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𝟑𝟕</m:t>
                        </m:r>
                      </m:e>
                      <m:sup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∘</m:t>
                        </m:r>
                      </m:sup>
                    </m:sSup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𝐬𝐢𝐧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𝟑𝟕</m:t>
                        </m:r>
                      </m:e>
                      <m:sup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∘</m:t>
                        </m:r>
                      </m:sup>
                    </m:sSup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𝑻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𝐜𝐨𝐬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𝟑𝟕</m:t>
                        </m:r>
                      </m:e>
                      <m:sup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∘</m:t>
                        </m:r>
                      </m:sup>
                    </m:sSup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𝐜𝐨𝐬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𝟑𝟕</m:t>
                        </m:r>
                      </m:e>
                      <m:sup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∘</m:t>
                        </m:r>
                      </m:sup>
                    </m:sSup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baseline="-10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风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，联立解得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𝑻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baseline="-10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风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𝟔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,故B、C正确；由以上分析可知，增大风力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，若细线拉力和风筝重力同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时增大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，则风筝保持静止，由于风筝重力不变，可知若仅增大风力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，则风筝不会保持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静止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，故D错误.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AS.26_1#c8b3c0969?vcp=1&amp;pid=0af09d235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523778"/>
                <a:ext cx="11402568" cy="3831400"/>
              </a:xfrm>
              <a:prstGeom prst="rect">
                <a:avLst/>
              </a:prstGeom>
              <a:blipFill>
                <a:blip r:embed="rId3"/>
                <a:stretch>
                  <a:fillRect l="-1658" r="-1658" b="-477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&amp;si=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_3_BD#66ce07d4f?vcp=1&amp;pid=02fd2d879&amp;color=0,0,0&amp;vtp=1&amp;bt=1&amp;bbb=1"/>
          <p:cNvSpPr/>
          <p:nvPr/>
        </p:nvSpPr>
        <p:spPr>
          <a:xfrm>
            <a:off x="393192" y="502920"/>
            <a:ext cx="11402568" cy="949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600"/>
              </a:lnSpc>
            </a:pP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拓展考点突破练</a:t>
            </a:r>
            <a:endParaRPr lang="en-US" altLang="zh-CN" sz="2600" dirty="0"/>
          </a:p>
        </p:txBody>
      </p:sp>
      <p:sp>
        <p:nvSpPr>
          <p:cNvPr id="3" name="P_4_BD#57c0674d8?vcp=1&amp;pid=66ce07d4f&amp;color=0,0,0&amp;vtp=1&amp;bbb=1"/>
          <p:cNvSpPr/>
          <p:nvPr/>
        </p:nvSpPr>
        <p:spPr>
          <a:xfrm>
            <a:off x="393192" y="1093884"/>
            <a:ext cx="11402568" cy="48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3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限时10分钟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QC_4_BD.27_1#1a6954fcb?vcp=1&amp;pid=66ce07d4f&amp;color=0,0,0&amp;vtp=1&amp;bbb=1&amp;hb=1"/>
              <p:cNvSpPr/>
              <p:nvPr/>
            </p:nvSpPr>
            <p:spPr>
              <a:xfrm>
                <a:off x="393192" y="1649285"/>
                <a:ext cx="11402568" cy="15921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1.</a:t>
                </a:r>
                <a:r>
                  <a:rPr lang="en-US" altLang="zh-CN" sz="2400" b="0" i="0" dirty="0">
                    <a:solidFill>
                      <a:srgbClr val="1E5A99"/>
                    </a:solidFill>
                    <a:latin typeface="KaiTi" pitchFamily="34" charset="0"/>
                    <a:ea typeface="KaiTi" pitchFamily="34" charset="-122"/>
                    <a:cs typeface="KaiTi" pitchFamily="34" charset="-120"/>
                  </a:rPr>
                  <a:t>（2026·湖北鄂南高中检测）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（多选题）如图所示，完全相同的四个足球（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俯视图）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彼此相互紧密接触叠放在水平面上并保持静止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，每个足球的质量都是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,重力加速度为</a:t>
                </a:r>
              </a:p>
              <a:p>
                <a:pPr latinLnBrk="1">
                  <a:lnSpc>
                    <a:spcPts val="4200"/>
                  </a:lnSpc>
                </a:pP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𝑔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下列说法正确的是(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4" name="QC_4_BD.27_1#1a6954fcb?vcp=1&amp;pid=66ce07d4f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649285"/>
                <a:ext cx="11402568" cy="1592199"/>
              </a:xfrm>
              <a:prstGeom prst="rect">
                <a:avLst/>
              </a:prstGeom>
              <a:blipFill>
                <a:blip r:embed="rId3"/>
                <a:stretch>
                  <a:fillRect l="-1658" r="-2567" b="-11494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QC_4_AN.28_1#1a6954fcb.bracket?vcp=1&amp;pid=66ce07d4f&amp;color=0,0,0&amp;vpa=10&amp;vtp=1&amp;bbb=1"/>
          <p:cNvSpPr/>
          <p:nvPr/>
        </p:nvSpPr>
        <p:spPr>
          <a:xfrm>
            <a:off x="3382105" y="2755455"/>
            <a:ext cx="661988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AD</a:t>
            </a:r>
            <a:endParaRPr lang="en-US" altLang="zh-CN" sz="2400" dirty="0"/>
          </a:p>
        </p:txBody>
      </p:sp>
      <p:pic>
        <p:nvPicPr>
          <p:cNvPr id="6" name="QC_4_BD.27_2#1a6954fcb?htil=10&amp;vcp=1&amp;pid=66ce07d4f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478134" y="3387979"/>
            <a:ext cx="1773936" cy="1636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QC_4_BD.27_3#1a6954fcb.choices?htil=10&amp;vcp=1&amp;pid=66ce07d4f&amp;color=0,0,0&amp;vtp=1&amp;bbb=1"/>
              <p:cNvSpPr/>
              <p:nvPr/>
            </p:nvSpPr>
            <p:spPr>
              <a:xfrm>
                <a:off x="393192" y="3241675"/>
                <a:ext cx="9491472" cy="2397062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A.下面的每个球对地面的压力大小均为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4</m:t>
                        </m:r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3</m:t>
                        </m:r>
                      </m:den>
                    </m:f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𝑚𝑔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.下面的每个球不受地面的摩擦力</a:t>
                </a:r>
                <a:endParaRPr lang="en-US" altLang="zh-CN" sz="2400" dirty="0"/>
              </a:p>
              <a:p>
                <a:pPr latinLnBrk="1">
                  <a:lnSpc>
                    <a:spcPts val="51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.下面的每个球受到地面的摩擦力大小均为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3</m:t>
                        </m:r>
                      </m:den>
                    </m:f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𝑚𝑔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51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.上面的球对下面每个球的压力大小均为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6</m:t>
                            </m:r>
                          </m:e>
                        </m:rad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6</m:t>
                        </m:r>
                      </m:den>
                    </m:f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𝑚𝑔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7" name="QC_4_BD.27_3#1a6954fcb.choices?htil=10&amp;vcp=1&amp;pid=66ce07d4f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241675"/>
                <a:ext cx="9491472" cy="2397062"/>
              </a:xfrm>
              <a:prstGeom prst="rect">
                <a:avLst/>
              </a:prstGeom>
              <a:blipFill>
                <a:blip r:embed="rId5"/>
                <a:stretch>
                  <a:fillRect l="-1991" b="-4326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&amp;si=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AS.29_1#1a6954fcb?vcp=1&amp;pid=66ce07d4f&amp;color=0,0,0&amp;vtp=1&amp;bt=1&amp;bbb=1&amp;hb=1"/>
              <p:cNvSpPr/>
              <p:nvPr/>
            </p:nvSpPr>
            <p:spPr>
              <a:xfrm>
                <a:off x="393192" y="1520571"/>
                <a:ext cx="11402568" cy="363347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以四个球整体为研究对象，受力分析可得，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𝟑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𝐍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，可知下面每个球对</a:t>
                </a:r>
              </a:p>
              <a:p>
                <a:pPr latinLnBrk="1">
                  <a:lnSpc>
                    <a:spcPts val="46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地面的压力大小均为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′</m:t>
                        </m:r>
                      </m:e>
                      <m: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𝐍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𝐍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𝟒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den>
                    </m:f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，A正确；隔离分析上面球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，设上面球对下面球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的压力大小均为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，由对称性和几何关系可知，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与竖直方向的夹角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𝜶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均满足</a:t>
                </a:r>
              </a:p>
              <a:p>
                <a:pPr latinLnBrk="1">
                  <a:lnSpc>
                    <a:spcPts val="51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𝐜𝐨𝐬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𝜶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𝟔</m:t>
                            </m:r>
                          </m:e>
                        </m:rad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den>
                    </m:f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，由平衡条件可得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𝟑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⋅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𝐜𝐨𝐬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𝜶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，解得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𝟔</m:t>
                            </m:r>
                          </m:e>
                        </m:rad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𝟔</m:t>
                        </m:r>
                      </m:den>
                    </m:f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，D正确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；隔离分析下</a:t>
                </a:r>
              </a:p>
              <a:p>
                <a:pPr latinLnBrk="1">
                  <a:lnSpc>
                    <a:spcPts val="5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面任意一个球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，由水平方向合力为0可知，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𝐟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⋅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𝐬𝐢𝐧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𝜶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e>
                        </m:rad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𝟔</m:t>
                        </m:r>
                      </m:den>
                    </m:f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，即下面每个球受</a:t>
                </a:r>
              </a:p>
              <a:p>
                <a:pPr latinLnBrk="1">
                  <a:lnSpc>
                    <a:spcPts val="50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到地面的摩擦力大小均为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e>
                        </m:rad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𝟔</m:t>
                        </m:r>
                      </m:den>
                    </m:f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，B、C错误.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AS.29_1#1a6954fcb?vcp=1&amp;pid=66ce07d4f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520571"/>
                <a:ext cx="11402568" cy="3633470"/>
              </a:xfrm>
              <a:prstGeom prst="rect">
                <a:avLst/>
              </a:prstGeom>
              <a:blipFill>
                <a:blip r:embed="rId3"/>
                <a:stretch>
                  <a:fillRect l="-1658" r="-1283" b="-3020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&amp;si=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split dir="in"/>
  </p:transition>
</p:sld>
</file>

<file path=ppt/theme/theme1.xml><?xml version="1.0" encoding="utf-8"?>
<a:theme xmlns:a="http://schemas.openxmlformats.org/drawingml/2006/mai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1122</Words>
  <Application>Microsoft Office PowerPoint</Application>
  <PresentationFormat>宽屏</PresentationFormat>
  <Paragraphs>148</Paragraphs>
  <Slides>19</Slides>
  <Notes>19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6" baseType="lpstr">
      <vt:lpstr>KaiTi</vt:lpstr>
      <vt:lpstr>SimSun</vt:lpstr>
      <vt:lpstr>微软雅黑</vt:lpstr>
      <vt:lpstr>Arial</vt:lpstr>
      <vt:lpstr>Cambria Math</vt:lpstr>
      <vt:lpstr>Times New Roman</vt:lpstr>
      <vt:lpstr/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Administrator</cp:lastModifiedBy>
  <cp:revision>2</cp:revision>
  <dcterms:created xsi:type="dcterms:W3CDTF">2026-05-25T07:57:19Z</dcterms:created>
  <dcterms:modified xsi:type="dcterms:W3CDTF">2026-05-25T08:05:07Z</dcterms:modified>
  <cp:category/>
  <cp:contentStatus/>
</cp:coreProperties>
</file>