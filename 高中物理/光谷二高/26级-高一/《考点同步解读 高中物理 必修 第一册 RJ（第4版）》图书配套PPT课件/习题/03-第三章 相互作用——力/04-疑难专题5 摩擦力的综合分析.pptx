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3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8.xml"/><Relationship Id="rId5" Type="http://schemas.openxmlformats.org/officeDocument/2006/relationships/slide" Target="../slides/slide6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7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8.xml"/><Relationship Id="rId5" Type="http://schemas.openxmlformats.org/officeDocument/2006/relationships/slide" Target="../slides/slide6.xml"/><Relationship Id="rId4" Type="http://schemas.openxmlformats.org/officeDocument/2006/relationships/slide" Target="../slides/slide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8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577ece3ce,2d3de50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c087fa0e2&amp;amp;cid=c087fa0e2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ee72779c0&amp;amp;cid=ee72779c0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d196eabae&amp;amp;cid=d196eabae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21cf981e5&amp;amp;cid=21cf981e5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8e74b6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cafae2243&amp;amp;cid=cafae2243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6232db23b&amp;amp;cid=6232db23b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6610a2854&amp;amp;cid=6610a2854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3898e8d58,41bf9e072,98a7e53d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9?lid=7c786cc83&amp;amp;cid=7c786cc83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9?lid=a57dda727&amp;amp;cid=a57dda727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577ece3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疑难专题5 摩擦力的综合分析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577ece3ce,2d3de505c#df=577ece3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疑难专题5 摩擦力的综合分析</a:t>
            </a:r>
            <a:endParaRPr lang="en-US" sz="1800" dirty="0"/>
          </a:p>
        </p:txBody>
      </p:sp>
      <p:sp>
        <p:nvSpPr>
          <p:cNvPr id="5" name="C_0#auto_editor_catalog_0?lid=c087fa0e2&amp;amp;cid=c087fa0e2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ee72779c0&amp;amp;cid=ee72779c0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d196eabae&amp;amp;cid=d196eabae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21cf981e5&amp;amp;cid=21cf981e5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8e74b619#df=577ece3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疑难专题5 摩擦力的综合分析</a:t>
            </a:r>
            <a:endParaRPr lang="en-US" sz="1800" dirty="0"/>
          </a:p>
        </p:txBody>
      </p:sp>
      <p:sp>
        <p:nvSpPr>
          <p:cNvPr id="5" name="C_0#auto_editor_catalog_5?lid=cafae2243&amp;amp;cid=cafae2243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6232db23b&amp;amp;cid=6232db23b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6610a2854&amp;amp;cid=6610a2854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3898e8d58,41bf9e072,98a7e53d3#df=577ece3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疑难专题5 摩擦力的综合分析</a:t>
            </a:r>
            <a:endParaRPr lang="en-US" sz="1800" dirty="0"/>
          </a:p>
        </p:txBody>
      </p:sp>
      <p:sp>
        <p:nvSpPr>
          <p:cNvPr id="5" name="C_0#auto_editor_catalog_9?lid=7c786cc83&amp;amp;cid=7c786cc83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9?lid=a57dda727&amp;amp;cid=a57dda727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577ece3ce.fixed?vcp=1&amp;pid=1273f42bf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577ece3ce.fixed?vcp=1&amp;pid=1273f42bf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疑难专题5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摩擦力的综合分析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2d3de505c?vcp=1&amp;pid=577ece3ce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38a875a83?vcp=1&amp;pid=2d3de505c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c087fa0e2?vcp=1&amp;pid=2d3de505c&amp;color=0,0,0&amp;vtp=1&amp;bbb=1&amp;hb=1"/>
              <p:cNvSpPr/>
              <p:nvPr/>
            </p:nvSpPr>
            <p:spPr>
              <a:xfrm>
                <a:off x="393192" y="159067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（2026·湖北武汉武钢三中检测）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,它们与水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平地面之间的动摩擦因数均为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0.25.夹在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之间的轻弹簧被压缩了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,弹簧的劲度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.系统置于水平地面上静止不动.现用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的水平拉力作用在木块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.水平拉力作用后,下列判断正确的是（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最大静摩擦力等于滑动摩擦力）(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c087fa0e2?vcp=1&amp;pid=2d3de505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44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C_4_BD.1_2#c087fa0e2?vcp=1&amp;pid=2d3de505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11496" y="3851275"/>
            <a:ext cx="1975104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6" name="QC_4_AN.2_1#c087fa0e2.bracket?vcp=1&amp;pid=2d3de505c&amp;color=0,0,0&amp;vpa=1&amp;vtp=1"/>
          <p:cNvSpPr/>
          <p:nvPr/>
        </p:nvSpPr>
        <p:spPr>
          <a:xfrm>
            <a:off x="10836561" y="32556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c087fa0e2.choices?vcp=1&amp;pid=2d3de505c&amp;color=0,0,0&amp;vtp=1&amp;bbb=1"/>
              <p:cNvSpPr/>
              <p:nvPr/>
            </p:nvSpPr>
            <p:spPr>
              <a:xfrm>
                <a:off x="393192" y="4435475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所受摩擦力大小是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所受摩擦力大小是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11.5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所受摩擦力大小是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所受摩擦力大小是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c087fa0e2.choices?vcp=1&amp;pid=2d3de505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35475"/>
                <a:ext cx="11402568" cy="1027430"/>
              </a:xfrm>
              <a:prstGeom prst="rect">
                <a:avLst/>
              </a:prstGeom>
              <a:blipFill>
                <a:blip r:embed="rId5"/>
                <a:stretch>
                  <a:fillRect l="-1658" b="-184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c087fa0e2?vcp=1&amp;pid=2d3de505c&amp;color=0,0,0&amp;vtp=1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未加水平拉力时，木板A、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受力平衡，所受静摩擦力等于弹簧的弹力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与地面间的最大静摩擦力为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与地面间的最大静摩擦力为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;施加水平拉力后，对木块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所受摩擦力仍为静摩擦力，其大小为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施加水平拉力后，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所受摩擦力仍为静摩擦力，大小为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c087fa0e2?vcp=1&amp;pid=2d3de505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535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ee72779c0?vcp=1&amp;pid=2d3de505c&amp;color=0,0,0&amp;vtp=1&amp;bt=1&amp;bbb=1&amp;hb=1"/>
              <p:cNvSpPr/>
              <p:nvPr/>
            </p:nvSpPr>
            <p:spPr>
              <a:xfrm>
                <a:off x="393192" y="159140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运动员双手紧握竹竿匀速攀升和匀速下滑时，所受的摩擦力分别是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ee72779c0?vcp=1&amp;pid=2d3de505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140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123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ee72779c0.bracket?vcp=1&amp;pid=2d3de505c&amp;color=0,0,0&amp;vpa=2&amp;vtp=1"/>
          <p:cNvSpPr/>
          <p:nvPr/>
        </p:nvSpPr>
        <p:spPr>
          <a:xfrm>
            <a:off x="625760" y="213877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4_2#ee72779c0.choices?vcp=1&amp;pid=2d3de505c&amp;color=0,0,0&amp;vtp=1&amp;bbb=1"/>
              <p:cNvSpPr/>
              <p:nvPr/>
            </p:nvSpPr>
            <p:spPr>
              <a:xfrm>
                <a:off x="393192" y="2636615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4_2#ee72779c0.choices?vcp=1&amp;pid=2d3de505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6615"/>
                <a:ext cx="11402568" cy="1027430"/>
              </a:xfrm>
              <a:prstGeom prst="rect">
                <a:avLst/>
              </a:prstGeom>
              <a:blipFill>
                <a:blip r:embed="rId4"/>
                <a:stretch>
                  <a:fillRect l="-1658" b="-184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6_1#ee72779c0?vcp=1&amp;pid=2d3de505c&amp;color=0,0,0&amp;vtp=1&amp;bbb=1&amp;hb=1"/>
              <p:cNvSpPr/>
              <p:nvPr/>
            </p:nvSpPr>
            <p:spPr>
              <a:xfrm>
                <a:off x="393192" y="3665314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运动员匀速攀升时，其重力与静摩擦力平衡，由平衡条件可知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方向竖直向上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，运动员匀速下滑时，其重力与滑动摩擦力平衡，则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方向竖直向上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，A、B、D错误，C正确.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6_1#ee72779c0?vcp=1&amp;pid=2d3de505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65314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1123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d196eabae?vcp=1&amp;pid=2d3de505c&amp;color=0,0,0&amp;vtp=1&amp;bt=1&amp;bbb=1&amp;hb=1"/>
              <p:cNvSpPr/>
              <p:nvPr/>
            </p:nvSpPr>
            <p:spPr>
              <a:xfrm>
                <a:off x="393192" y="1074420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（多选题）如图甲、乙所示，倾角为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的斜面上放置一滑块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放置一个质量为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相对静止，一起沿斜面匀速下滑；图丙中水平力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一起向左匀速运动；图丁为粗糙水平面上放一斜面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，斜面上放置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着一木块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，木块和斜面均静止.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d196eabae?vcp=1&amp;pid=2d3de505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74420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176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d196eabae.bracket?vcp=1&amp;pid=2d3de505c&amp;color=0,0,0&amp;vpa=3&amp;vtp=1&amp;bbb=1"/>
          <p:cNvSpPr/>
          <p:nvPr/>
        </p:nvSpPr>
        <p:spPr>
          <a:xfrm>
            <a:off x="7153561" y="2739390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CD</a:t>
            </a:r>
            <a:endParaRPr lang="en-US" altLang="zh-CN" sz="2400" dirty="0"/>
          </a:p>
        </p:txBody>
      </p:sp>
      <p:pic>
        <p:nvPicPr>
          <p:cNvPr id="4" name="QC_4_BD.7_2#d196eabae?htil=1&amp;vcp=1&amp;pid=2d3de505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02597" y="3259836"/>
            <a:ext cx="3767328" cy="252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d196eabae.choices?htil=1&amp;vcp=1&amp;pid=2d3de505c&amp;color=0,0,0&amp;vtp=1&amp;bbb=1"/>
              <p:cNvSpPr/>
              <p:nvPr/>
            </p:nvSpPr>
            <p:spPr>
              <a:xfrm>
                <a:off x="393192" y="3214115"/>
                <a:ext cx="7498080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A.甲、乙两图中物块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均受到摩擦力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.图乙中物块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不受摩擦力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.图丙中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有向左的摩擦力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.图丁中水平面对斜面一定没有摩擦力作用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d196eabae.choices?htil=1&amp;vcp=1&amp;pid=2d3de505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14115"/>
                <a:ext cx="7498080" cy="2155000"/>
              </a:xfrm>
              <a:prstGeom prst="rect">
                <a:avLst/>
              </a:prstGeom>
              <a:blipFill>
                <a:blip r:embed="rId5"/>
                <a:stretch>
                  <a:fillRect l="-2520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d196eabae?vcp=1&amp;pid=2d3de505c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题图甲中，物块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做匀速运动，合力为0，即水平方向不受摩擦力作用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，题图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乙中物块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做匀速运动，合力为0，沿接触面受斜向上的摩擦力作用，故A、B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题图丙中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物体做匀速直线运动，对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，水平方向受向左的外力和向右的摩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，由力的相互性可知，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的摩擦力向左，故C正确；题图丁中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，对整体进行受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，可得水平方向不受摩擦力才能使其处于静止状态，故D正确.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d196eabae?vcp=1&amp;pid=2d3de505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390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21cf981e5?vcp=1&amp;pid=2d3de505c&amp;color=0,0,0&amp;vtp=1&amp;bt=1&amp;bbb=1&amp;hb=1"/>
              <p:cNvSpPr/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（多选题）如图所示，水平传送带以速度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顺时针匀速运动，质量为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的物块连接水平轻质细线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，绕过光滑定滑轮，下端悬挂一质量为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，某时刻物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块以速度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向右运动，物块与传送带间的动摩擦因数为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.关于物块所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受的摩擦力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21cf981e5?vcp=1&amp;pid=2d3de505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33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21cf981e5.bracket?vcp=1&amp;pid=2d3de505c&amp;color=0,0,0&amp;vpa=4&amp;vtp=1&amp;bbb=1"/>
          <p:cNvSpPr/>
          <p:nvPr/>
        </p:nvSpPr>
        <p:spPr>
          <a:xfrm>
            <a:off x="4905089" y="2937097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10_2#21cf981e5?htil=2&amp;vcp=1&amp;pid=2d3de505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9252" y="3457542"/>
            <a:ext cx="2916936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21cf981e5.choices?htil=2&amp;vcp=1&amp;pid=2d3de505c&amp;color=0,0,0&amp;vtp=1&amp;bbb=1"/>
              <p:cNvSpPr/>
              <p:nvPr/>
            </p:nvSpPr>
            <p:spPr>
              <a:xfrm>
                <a:off x="393192" y="3411822"/>
                <a:ext cx="8348472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,方向向左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,方向向左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,且物块保持匀速运动，则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的大小为0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,且物块保持匀速运动，则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,方向向左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21cf981e5.choices?htil=2&amp;vcp=1&amp;pid=2d3de505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8348472" cy="2155000"/>
              </a:xfrm>
              <a:prstGeom prst="rect">
                <a:avLst/>
              </a:prstGeom>
              <a:blipFill>
                <a:blip r:embed="rId5"/>
                <a:stretch>
                  <a:fillRect l="-2264" r="-175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21cf981e5?vcp=1&amp;pid=2d3de505c&amp;color=0,0,0&amp;vtp=1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，则物块相对传送带向左运动，其所受滑动摩擦力方向向右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，则物块相对传送带向右运动，其所受滑动摩擦力方向向左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，两种情况下物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块所受滑动摩擦力大小均为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，A错误，B正确；若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，且物块保持匀速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，此时物块所受细线拉力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与传送带对物块的静摩擦力平衡，即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方向向左，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又因为物体也做匀速直线运动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，所以细线的拉力与物体的重力平衡，即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21cf981e5?vcp=1&amp;pid=2d3de505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3476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18e74b619?vcp=1&amp;pid=577ece3ce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22faa84ba?vcp=1&amp;pid=18e74b619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3_1#cafae2243?vcp=1&amp;pid=18e74b619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的木板从光滑水平面滑上长为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的粗糙桌面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，停止运动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时木板右端到桌面边缘的距离为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.在该过程中，木板所受摩擦力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的关系图线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3_1#cafae2243?vcp=1&amp;pid=18e74b61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016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14_1#cafae2243.bracket?vcp=1&amp;pid=18e74b619&amp;color=0,0,0&amp;vpa=5&amp;vtp=1"/>
          <p:cNvSpPr/>
          <p:nvPr/>
        </p:nvSpPr>
        <p:spPr>
          <a:xfrm>
            <a:off x="930560" y="26968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6" name="QC_4_BD.13_2#cafae2243?htil=3&amp;vcp=1&amp;pid=18e74b619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07840" y="3405759"/>
            <a:ext cx="3310128" cy="81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7" name="QC_4_BD.13_3#cafae2243.choices?htil=3&amp;vcp=1&amp;pid=18e74b619&amp;color=0,0,0&amp;vtp=1&amp;bbb=1&amp;hs=1"/>
          <p:cNvSpPr/>
          <p:nvPr/>
        </p:nvSpPr>
        <p:spPr>
          <a:xfrm>
            <a:off x="393192" y="3305175"/>
            <a:ext cx="7955280" cy="108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9700"/>
              </a:lnSpc>
              <a:tabLst>
                <a:tab pos="2068195" algn="l"/>
                <a:tab pos="4110990" algn="l"/>
                <a:tab pos="6153785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52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52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5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8" name="QC_4_BD.13_3#cafae2243.choice_image?htil=3&amp;vcp=1&amp;pid=18e74b619&amp;color=0,0,0&amp;tib=255,255,255&amp;iip=1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7231" y="3349308"/>
            <a:ext cx="1508760" cy="10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QC_4_BD.13_3#cafae2243.choice_image?htil=3&amp;vcp=1&amp;pid=18e74b619&amp;color=0,0,0&amp;tib=255,255,255&amp;iip=2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67108" y="3349308"/>
            <a:ext cx="1490472" cy="10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0" name="QC_4_BD.13_3#cafae2243.choice_image?htil=3&amp;vcp=1&amp;pid=18e74b619&amp;color=0,0,0&amp;tib=255,255,255&amp;iip=3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6187" y="3303588"/>
            <a:ext cx="15179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1" name="QC_4_BD.13_3#cafae2243.choice_image?htil=3&amp;vcp=1&amp;pid=18e74b619&amp;color=0,0,0&amp;tib=255,255,255&amp;iip=4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6157" y="3312732"/>
            <a:ext cx="1481328" cy="107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QC_4_AS.15_1#cafae2243?vcp=1&amp;pid=18e74b619&amp;color=0,0,0&amp;vtp=1&amp;bbb=1&amp;hb=1&amp;hs=1"/>
              <p:cNvSpPr/>
              <p:nvPr/>
            </p:nvSpPr>
            <p:spPr>
              <a:xfrm>
                <a:off x="393192" y="4395470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可知，随着长为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的木板逐渐进入粗糙桌面，木板所受摩擦力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均匀增大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，全部进入粗糙桌面后，木板所受支持力不变，则木板所受摩擦力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也不再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改变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，故选项D正确.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2" name="QC_4_AS.15_1#cafae2243?vcp=1&amp;pid=18e74b619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95470"/>
                <a:ext cx="11402568" cy="1596200"/>
              </a:xfrm>
              <a:prstGeom prst="rect">
                <a:avLst/>
              </a:prstGeom>
              <a:blipFill>
                <a:blip r:embed="rId9"/>
                <a:stretch>
                  <a:fillRect l="-1658" r="-481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1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6232db23b?vcp=1&amp;pid=18e74b619&amp;color=0,0,0&amp;vtp=1&amp;bt=1&amp;bbb=1&amp;hb=1"/>
              <p:cNvSpPr/>
              <p:nvPr/>
            </p:nvSpPr>
            <p:spPr>
              <a:xfrm>
                <a:off x="393192" y="1213168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如图所示,一位同学用双手水平夹起一摞书,并停留在空中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.已知手掌与书间的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动摩擦因数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=0.3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,书与书间的动摩擦因数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,设最大静摩擦力大小等于滑动摩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擦力大小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.若每本书的质量为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,该同学对书的水平正压力为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,且每本书均呈竖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直静止状态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6232db23b?vcp=1&amp;pid=18e74b61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13168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642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6232db23b.bracket?vcp=1&amp;pid=18e74b619&amp;color=0,0,0&amp;vpa=6&amp;vtp=1"/>
          <p:cNvSpPr/>
          <p:nvPr/>
        </p:nvSpPr>
        <p:spPr>
          <a:xfrm>
            <a:off x="8245697" y="287813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6_2#6232db23b?vcp=1&amp;pid=18e74b61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65776" y="3479863"/>
            <a:ext cx="2057400" cy="987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6_3#6232db23b.choices?vcp=1&amp;pid=18e74b619&amp;color=0,0,0&amp;vtp=1&amp;bbb=1"/>
          <p:cNvSpPr/>
          <p:nvPr/>
        </p:nvSpPr>
        <p:spPr>
          <a:xfrm>
            <a:off x="393192" y="4597463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.每本书受到的摩擦力的方向都向上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.书与书之间的摩擦力大小均相等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.他最多能夹住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22本书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.他最多能夹住30本书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6232db23b?vcp=1&amp;pid=18e74b619&amp;color=0,0,0&amp;vtp=1&amp;bt=1&amp;bbb=1&amp;hb=1"/>
              <p:cNvSpPr/>
              <p:nvPr/>
            </p:nvSpPr>
            <p:spPr>
              <a:xfrm>
                <a:off x="393192" y="778510"/>
                <a:ext cx="11402568" cy="358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每本书受到的静摩擦力有的向上，有的向下，A错误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；把除最外侧两本以外的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书当作一个整体受力分析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，如图所示，由平衡条件得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,把除最外侧四本书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外的书当作一个整体受力分析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，由平衡条件得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,故越靠近外侧的书与书之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间的摩擦力越大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，B错误；假设双手能夹起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本书，则分析可知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，手与书之间的受力为</a:t>
                </a:r>
              </a:p>
              <a:p>
                <a:pPr latinLnBrk="1">
                  <a:lnSpc>
                    <a:spcPts val="5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,再考虑书与书之间的摩擦力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，需满足</a:t>
                </a:r>
              </a:p>
              <a:p>
                <a:pPr latinLnBrk="1">
                  <a:lnSpc>
                    <a:spcPts val="5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𝟐𝟐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最大为22，C正确，D错误.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6232db23b?vcp=1&amp;pid=18e74b61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78510"/>
                <a:ext cx="11402568" cy="3581400"/>
              </a:xfrm>
              <a:prstGeom prst="rect">
                <a:avLst/>
              </a:prstGeom>
              <a:blipFill>
                <a:blip r:embed="rId3"/>
                <a:stretch>
                  <a:fillRect l="-1658" r="-1390" b="-15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8_2#6232db23b?vcp=1&amp;pid=18e74b61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22392" y="4494212"/>
            <a:ext cx="1335024" cy="14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9_1#6610a2854?vcp=1&amp;pid=18e74b619&amp;color=0,0,0&amp;vtp=1&amp;bt=1&amp;bbb=1&amp;hb=1"/>
              <p:cNvSpPr/>
              <p:nvPr/>
            </p:nvSpPr>
            <p:spPr>
              <a:xfrm>
                <a:off x="393192" y="697834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（多选题）打印机是现代办公不可或缺的设备,其进纸系统结构如图所示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常情况下能做到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“每次只进1张纸”,某次打印过程中刚好还有100张相同的纸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,每张纸的质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,打印时搓纸轮按图示逆时针方向转动,搓纸轮给第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1张纸压力大小为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≫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,带动最上面的第1张纸匀速向右运动,搓纸轮与纸张之间的动摩擦因数为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纸张与纸张之间的动摩擦因数为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.当打印机正常工作时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,下列说法中正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9_1#6610a2854?vcp=1&amp;pid=18e74b61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97834"/>
                <a:ext cx="11402568" cy="3268599"/>
              </a:xfrm>
              <a:prstGeom prst="rect">
                <a:avLst/>
              </a:prstGeom>
              <a:blipFill>
                <a:blip r:embed="rId3"/>
                <a:stretch>
                  <a:fillRect l="-1658" r="-165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0_1#6610a2854.bracket?vcp=1&amp;pid=18e74b619&amp;color=0,0,0&amp;vpa=7&amp;vtp=1&amp;bbb=1"/>
          <p:cNvSpPr/>
          <p:nvPr/>
        </p:nvSpPr>
        <p:spPr>
          <a:xfrm>
            <a:off x="1552861" y="3480403"/>
            <a:ext cx="882650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p:pic>
        <p:nvPicPr>
          <p:cNvPr id="4" name="QC_4_BD.19_2#6610a2854?htil=4&amp;vcp=1&amp;pid=18e74b61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12812" y="4038060"/>
            <a:ext cx="2505456" cy="112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9_3#6610a2854.choices?htil=4&amp;vcp=1&amp;pid=18e74b619&amp;color=0,0,0&amp;vtp=1&amp;bbb=1"/>
              <p:cNvSpPr/>
              <p:nvPr/>
            </p:nvSpPr>
            <p:spPr>
              <a:xfrm>
                <a:off x="393192" y="3992339"/>
                <a:ext cx="875995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A.搓纸轮对第1张纸的摩擦力方向向右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.第2张纸与第3张纸之间的摩擦力大小为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.第99张纸与第100张纸之间的摩擦力为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9_3#6610a2854.choices?htil=4&amp;vcp=1&amp;pid=18e74b61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92339"/>
                <a:ext cx="8759952" cy="2158302"/>
              </a:xfrm>
              <a:prstGeom prst="rect">
                <a:avLst/>
              </a:prstGeom>
              <a:blipFill>
                <a:blip r:embed="rId5"/>
                <a:stretch>
                  <a:fillRect l="-2157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1_1#6610a2854?vcp=1&amp;pid=18e74b619&amp;color=0,0,0&amp;vtp=1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因为是搓纸轮带动第一张纸向右运动，第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1张纸的上表面受到搓纸轮施加的摩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,方向向右，故A正确；第1张纸的下表面受到第2张纸施加的滑动摩擦力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为搓纸轮对第1张纸的压力，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要让纸张一张一张进入，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则需满足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,由题知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,故必有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,故D正确；第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2张纸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与第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3张纸之间的摩擦力及第99张纸与第100张纸之间的摩擦力都是静摩擦力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，根据受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力平衡可知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,故B错误，C正确.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1_1#6610a2854?vcp=1&amp;pid=18e74b61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497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3898e8d58?vcp=1&amp;pid=577ece3ce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8aa8bd610?vcp=1&amp;pid=3898e8d58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C_4_BD#41bf9e072?vcp=1&amp;pid=3898e8d58&amp;color=0,0,0&amp;vtp=1&amp;bbb=1"/>
          <p:cNvSpPr/>
          <p:nvPr/>
        </p:nvSpPr>
        <p:spPr>
          <a:xfrm>
            <a:off x="393192" y="1627124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对静摩擦力的可变性理解不全而出错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2_1#7c786cc83?vcp=1&amp;pid=41bf9e072&amp;color=0,0,0&amp;vtp=1&amp;bbb=1&amp;hb=1"/>
              <p:cNvSpPr/>
              <p:nvPr/>
            </p:nvSpPr>
            <p:spPr>
              <a:xfrm>
                <a:off x="393192" y="2210498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考点2、3、4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（2026·陕西西安铁一中检测）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放在水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平桌面上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，通过轻绳和定滑轮悬挂一个重为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与桌面间的最大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静摩擦力为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.要使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静止，需加一水平向左的拉力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的取值可以为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22_1#7c786cc83?vcp=1&amp;pid=41bf9e07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10498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390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5_AN.23_1#7c786cc83.bracket?vcp=1&amp;pid=41bf9e072&amp;color=0,0,0&amp;vpa=8&amp;vtp=1&amp;bbb=1"/>
          <p:cNvSpPr/>
          <p:nvPr/>
        </p:nvSpPr>
        <p:spPr>
          <a:xfrm>
            <a:off x="651160" y="3875468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ABC</a:t>
            </a:r>
            <a:endParaRPr lang="en-US" altLang="zh-CN" sz="2400" dirty="0"/>
          </a:p>
        </p:txBody>
      </p:sp>
      <p:pic>
        <p:nvPicPr>
          <p:cNvPr id="7" name="QC_5_BD.22_2#7c786cc83?vcp=1&amp;pid=41bf9e072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8616" y="4478655"/>
            <a:ext cx="2331720" cy="110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5_BD.22_3#7c786cc83.choices?vcp=1&amp;pid=41bf9e072&amp;color=0,0,0&amp;vtp=1&amp;bbb=1"/>
              <p:cNvSpPr/>
              <p:nvPr/>
            </p:nvSpPr>
            <p:spPr>
              <a:xfrm>
                <a:off x="393192" y="5723255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37302" algn="l"/>
                    <a:tab pos="5636504" algn="l"/>
                    <a:tab pos="86135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5_BD.22_3#7c786cc83.choices?vcp=1&amp;pid=41bf9e07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23255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4_1#7c786cc83?vcp=1&amp;pid=41bf9e072&amp;color=0,0,0&amp;vtp=1&amp;bt=1&amp;bbb=1&amp;hb=1"/>
              <p:cNvSpPr/>
              <p:nvPr/>
            </p:nvSpPr>
            <p:spPr>
              <a:xfrm>
                <a:off x="393192" y="732377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进行受力分析，物体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在水平方向上受拉力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、轻绳对它的拉力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，可能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还受静摩擦力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，由题意可知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.要使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在水平方向受力平衡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.当静摩擦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力方向向左且达到最大静摩擦力时拉力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最小，有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，当静摩擦力方向向右且达到最大静摩擦力时拉力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.因静摩擦力可随着拉力的变化而变化，故拉力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的取值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范围是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，A、B、C符合题意.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4_1#7c786cc83?vcp=1&amp;pid=41bf9e07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32377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497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EX.25_1#7c786cc83?vcp=1&amp;pid=41bf9e072&amp;color=0,0,0&amp;vtp=1&amp;bt=1&amp;bbb=1&amp;hb=1">
                <a:extLst>
                  <a:ext uri="{FF2B5EF4-FFF2-40B4-BE49-F238E27FC236}">
                    <a16:creationId xmlns:a16="http://schemas.microsoft.com/office/drawing/2014/main" id="{404D9A47-3ABF-857C-01F4-4D06F226420B}"/>
                  </a:ext>
                </a:extLst>
              </p:cNvPr>
              <p:cNvSpPr/>
              <p:nvPr/>
            </p:nvSpPr>
            <p:spPr>
              <a:xfrm>
                <a:off x="393192" y="3976973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易错分析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本题易漏选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B、C，原因是认为物体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有向右运动的趋势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，所以静摩擦力方向一定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，然后根据平衡条件解得拉力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，没有考虑到静摩擦力的大小和方向会随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外力的变化而变化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EX.25_1#7c786cc83?vcp=1&amp;pid=41bf9e072&amp;color=0,0,0&amp;vtp=1&amp;bt=1&amp;bbb=1&amp;hb=1">
                <a:extLst>
                  <a:ext uri="{FF2B5EF4-FFF2-40B4-BE49-F238E27FC236}">
                    <a16:creationId xmlns:a16="http://schemas.microsoft.com/office/drawing/2014/main" id="{404D9A47-3ABF-857C-01F4-4D06F22642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76973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r="-481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98a7e53d3?vcp=1&amp;pid=577ece3ce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111f46113?vcp=1&amp;pid=98a7e53d3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BD.26_1#a57dda727?vcp=1&amp;pid=98a7e53d3&amp;color=0,0,0&amp;vtp=1&amp;bbb=1&amp;hb=1"/>
              <p:cNvSpPr/>
              <p:nvPr/>
            </p:nvSpPr>
            <p:spPr>
              <a:xfrm>
                <a:off x="393192" y="1590675"/>
                <a:ext cx="11402568" cy="27139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（上海交大自主招生节选）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如图所示,在水平地面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𝑥𝑂𝑦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上有一沿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轴正方向做匀速运动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的传送带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，运动速度为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.传送带上有一质量为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的正方形物体随传送带一起运动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𝑦𝑂𝑧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平面时遇到一阻挡板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，阻止其继续向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轴正方向运动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.设物体与传送带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,与挡板之间的动摩擦因数为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，此时若要使物体沿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𝑦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轴正方向以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恒速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运动，问沿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𝑦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轴方向所加外力为多少？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BD.26_1#a57dda727?vcp=1&amp;pid=98a7e53d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2713990"/>
              </a:xfrm>
              <a:prstGeom prst="rect">
                <a:avLst/>
              </a:prstGeom>
              <a:blipFill>
                <a:blip r:embed="rId3"/>
                <a:stretch>
                  <a:fillRect l="-1658" r="-1497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O_4_BD.26_2#a57dda727?vcp=1&amp;pid=98a7e53d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38928" y="4410075"/>
            <a:ext cx="1911096" cy="151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N.27_1#a57dda727?vcp=1&amp;pid=98a7e53d3&amp;color=0,0,0&amp;vtp=1&amp;bt=1&amp;bbb=1&amp;hb=1"/>
              <p:cNvSpPr/>
              <p:nvPr/>
            </p:nvSpPr>
            <p:spPr>
              <a:xfrm>
                <a:off x="393192" y="559594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物体相对传送带的速度方向如图所示，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为传送带给物体的摩擦力，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为阻挡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板给物体的摩擦力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N.27_1#a57dda727?vcp=1&amp;pid=98a7e53d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59594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230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AN.27_2#a57dda727?vcp=1&amp;pid=98a7e53d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0680" y="1720120"/>
            <a:ext cx="1316736" cy="177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AN.27_3#a57dda727?vcp=1&amp;pid=98a7e53d3&amp;color=0,0,0&amp;vtp=1&amp;bbb=1"/>
              <p:cNvSpPr/>
              <p:nvPr/>
            </p:nvSpPr>
            <p:spPr>
              <a:xfrm>
                <a:off x="393192" y="3625120"/>
                <a:ext cx="11402568" cy="2679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9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6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7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AN.27_3#a57dda727?vcp=1&amp;pid=98a7e53d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25120"/>
                <a:ext cx="11402568" cy="2679700"/>
              </a:xfrm>
              <a:prstGeom prst="rect">
                <a:avLst/>
              </a:prstGeom>
              <a:blipFill>
                <a:blip r:embed="rId5"/>
                <a:stretch>
                  <a:fillRect l="-1658" b="-22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4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1258</Words>
  <Application>Microsoft Office PowerPoint</Application>
  <PresentationFormat>宽屏</PresentationFormat>
  <Paragraphs>144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2026-05-25T07:57:19Z</dcterms:created>
  <dcterms:modified xsi:type="dcterms:W3CDTF">2026-05-25T08:05:08Z</dcterms:modified>
  <cp:category/>
  <cp:contentStatus/>
</cp:coreProperties>
</file>