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8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3.xml"/><Relationship Id="rId3" Type="http://schemas.openxmlformats.org/officeDocument/2006/relationships/slide" Target="../slides/slide7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9.xml"/><Relationship Id="rId4" Type="http://schemas.openxmlformats.org/officeDocument/2006/relationships/slide" Target="../slides/slide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6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" Target="../slides/slide13.xml"/><Relationship Id="rId3" Type="http://schemas.openxmlformats.org/officeDocument/2006/relationships/slide" Target="../slides/slide7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9.xml"/><Relationship Id="rId4" Type="http://schemas.openxmlformats.org/officeDocument/2006/relationships/slide" Target="../slides/slide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9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fb5c2d6bc,bed1a5fb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ca1e412d4&amp;amp;cid=ca1e412d4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80007640a&amp;amp;cid=80007640a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6ab7f213b&amp;amp;cid=6ab7f213b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22a56fb8f&amp;amp;cid=22a56fb8f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8eef60c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5?lid=9e12d4fbb&amp;amp;cid=9e12d4fbb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b21b39808&amp;amp;cid=b21b39808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7796c18e9&amp;amp;cid=7796c18e9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51b87183e&amp;amp;cid=51b87183e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b40f470cf&amp;amp;cid=b40f470cf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5?lid=fa058bb34&amp;amp;cid=fa058bb34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e645bdc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2?lid=2ae430083&amp;amp;cid=2ae430083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fb5c2d6b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第11讲 牛顿第三定律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1273f42bf,fb5c2d6bc,bed1a5fb6#df=fb5c2d6b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第11讲 牛顿第三定律</a:t>
            </a:r>
            <a:endParaRPr lang="en-US" sz="1800" dirty="0"/>
          </a:p>
        </p:txBody>
      </p:sp>
      <p:sp>
        <p:nvSpPr>
          <p:cNvPr id="5" name="C_0#auto_editor_catalog_0?lid=ca1e412d4&amp;amp;cid=ca1e412d4">
            <a:hlinkClick r:id="rId3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80007640a&amp;amp;cid=80007640a">
            <a:hlinkClick r:id="rId4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6ab7f213b&amp;amp;cid=6ab7f213b">
            <a:hlinkClick r:id="rId5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0?lid=22a56fb8f&amp;amp;cid=22a56fb8f">
            <a:hlinkClick r:id="rId6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8eef60c41#df=fb5c2d6b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第11讲 牛顿第三定律</a:t>
            </a:r>
            <a:endParaRPr lang="en-US" sz="1800" dirty="0"/>
          </a:p>
        </p:txBody>
      </p:sp>
      <p:sp>
        <p:nvSpPr>
          <p:cNvPr id="5" name="C_0#auto_editor_catalog_5?lid=9e12d4fbb&amp;amp;cid=9e12d4fbb">
            <a:hlinkClick r:id="rId3" action="ppaction://hlinksldjump"/>
          </p:cNvPr>
          <p:cNvSpPr/>
          <p:nvPr/>
        </p:nvSpPr>
        <p:spPr>
          <a:xfrm>
            <a:off x="450799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5?lid=b21b39808&amp;amp;cid=b21b39808">
            <a:hlinkClick r:id="rId4" action="ppaction://hlinksldjump"/>
          </p:cNvPr>
          <p:cNvSpPr/>
          <p:nvPr/>
        </p:nvSpPr>
        <p:spPr>
          <a:xfrm>
            <a:off x="505663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5?lid=7796c18e9&amp;amp;cid=7796c18e9">
            <a:hlinkClick r:id="rId5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5?lid=51b87183e&amp;amp;cid=51b87183e">
            <a:hlinkClick r:id="rId6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5?lid=b40f470cf&amp;amp;cid=b40f470cf">
            <a:hlinkClick r:id="rId7" action="ppaction://hlinksldjump"/>
          </p:cNvPr>
          <p:cNvSpPr/>
          <p:nvPr/>
        </p:nvSpPr>
        <p:spPr>
          <a:xfrm>
            <a:off x="667512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C_0#auto_editor_catalog_5?lid=fa058bb34&amp;amp;cid=fa058bb34">
            <a:hlinkClick r:id="rId8" action="ppaction://hlinksldjump"/>
          </p:cNvPr>
          <p:cNvSpPr/>
          <p:nvPr/>
        </p:nvSpPr>
        <p:spPr>
          <a:xfrm>
            <a:off x="721461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1273f42bf,e645bdc80#df=fb5c2d6b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第11讲 牛顿第三定律</a:t>
            </a:r>
            <a:endParaRPr lang="en-US" sz="1800" dirty="0"/>
          </a:p>
        </p:txBody>
      </p:sp>
      <p:sp>
        <p:nvSpPr>
          <p:cNvPr id="5" name="C_0#auto_editor_catalog_12?lid=2ae430083&amp;amp;cid=2ae430083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fb5c2d6bc.fixed?vcp=1&amp;pid=1273f42bf&amp;color=0,112,192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fb5c2d6bc.fixed?vcp=1&amp;pid=1273f42bf&amp;color=0,0,0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第11讲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牛顿第三定律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bed1a5fb6?vcp=1&amp;pid=fb5c2d6bc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60f10c4b3?vcp=1&amp;pid=bed1a5fb6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4_BD.1_1#ca1e412d4?vcp=1&amp;pid=bed1a5fb6&amp;color=0,0,0&amp;bbb=1"/>
          <p:cNvSpPr/>
          <p:nvPr/>
        </p:nvSpPr>
        <p:spPr>
          <a:xfrm>
            <a:off x="393192" y="1646618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如图所示的情形中，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不涉及牛顿第三定律的是(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_1#ca1e412d4.bracket?vcp=1&amp;pid=bed1a5fb6&amp;color=0,0,0&amp;vpa=1"/>
          <p:cNvSpPr/>
          <p:nvPr/>
        </p:nvSpPr>
        <p:spPr>
          <a:xfrm>
            <a:off x="8031448" y="1644713"/>
            <a:ext cx="423863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6" name="QC_4_BD.1_2#ca1e412d4.choice_image?htil=1&amp;vcp=1&amp;pid=bed1a5fb6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2688" y="2261870"/>
            <a:ext cx="1783080" cy="103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QC_4_BD.1_3#ca1e412d4?htil=1&amp;vcp=1&amp;pid=bed1a5fb6&amp;color=0,0,0&amp;bbb=1&amp;hb=1"/>
          <p:cNvSpPr/>
          <p:nvPr/>
        </p:nvSpPr>
        <p:spPr>
          <a:xfrm>
            <a:off x="393192" y="3414014"/>
            <a:ext cx="285292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.气垫船通过旋转空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气螺旋桨获得动力</a:t>
            </a:r>
            <a:endParaRPr lang="en-US" altLang="zh-CN" sz="2400" dirty="0"/>
          </a:p>
        </p:txBody>
      </p:sp>
      <p:pic>
        <p:nvPicPr>
          <p:cNvPr id="8" name="QC_4_BD.1_4#ca1e412d4.choice_image?htil=1&amp;vcp=1&amp;pid=bed1a5fb6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49040" y="2261870"/>
            <a:ext cx="1847088" cy="103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9" name="QC_4_BD.1_5#ca1e412d4?htil=1&amp;vcp=1&amp;pid=bed1a5fb6&amp;color=0,0,0&amp;bbb=1&amp;hb=1"/>
          <p:cNvSpPr/>
          <p:nvPr/>
        </p:nvSpPr>
        <p:spPr>
          <a:xfrm>
            <a:off x="3246120" y="3414014"/>
            <a:ext cx="285292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.战斗机在行进途中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抛弃副油箱</a:t>
            </a:r>
            <a:endParaRPr lang="en-US" altLang="zh-CN" sz="2400" dirty="0"/>
          </a:p>
        </p:txBody>
      </p:sp>
      <p:pic>
        <p:nvPicPr>
          <p:cNvPr id="10" name="QC_4_BD.1_6#ca1e412d4.choice_image?htil=1&amp;vcp=1&amp;pid=bed1a5fb6&amp;color=0,0,0&amp;tib=255,255,255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47688" y="2261870"/>
            <a:ext cx="1746504" cy="103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11" name="QC_4_BD.1_7#ca1e412d4?htil=1&amp;vcp=1&amp;pid=bed1a5fb6&amp;color=0,0,0&amp;bbb=1&amp;hb=1"/>
          <p:cNvSpPr/>
          <p:nvPr/>
        </p:nvSpPr>
        <p:spPr>
          <a:xfrm>
            <a:off x="6099048" y="3414014"/>
            <a:ext cx="2852928" cy="159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.玩具火箭靠喷出火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药燃烧后的气体飞上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天空</a:t>
            </a:r>
            <a:endParaRPr lang="en-US" altLang="zh-CN" sz="2400" dirty="0"/>
          </a:p>
        </p:txBody>
      </p:sp>
      <p:pic>
        <p:nvPicPr>
          <p:cNvPr id="12" name="QC_4_BD.1_8#ca1e412d4.choice_image?htil=1&amp;vcp=1&amp;pid=bed1a5fb6&amp;color=0,0,0&amp;tib=255,255,255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54896" y="2261870"/>
            <a:ext cx="1837944" cy="103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13" name="QC_4_BD.1_9#ca1e412d4?htil=1&amp;vcp=1&amp;pid=bed1a5fb6&amp;color=0,0,0&amp;bbb=1&amp;hb=1"/>
          <p:cNvSpPr/>
          <p:nvPr/>
        </p:nvSpPr>
        <p:spPr>
          <a:xfrm>
            <a:off x="8942832" y="3414014"/>
            <a:ext cx="285292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.喷水龙头自动旋转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使喷水均匀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3_1#80007640a?vcp=1&amp;pid=bed1a5fb6&amp;color=0,0,0&amp;bt=1&amp;bbb=1"/>
          <p:cNvSpPr/>
          <p:nvPr/>
        </p:nvSpPr>
        <p:spPr>
          <a:xfrm>
            <a:off x="393192" y="179251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（多选题）下列关于飞船与火箭起飞的情形，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叙述正确的是(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4_1#80007640a.bracket?vcp=1&amp;pid=bed1a5fb6&amp;color=0,0,0&amp;vpa=2&amp;bbb=1"/>
          <p:cNvSpPr/>
          <p:nvPr/>
        </p:nvSpPr>
        <p:spPr>
          <a:xfrm>
            <a:off x="9898348" y="1790605"/>
            <a:ext cx="66198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p:sp>
        <p:nvSpPr>
          <p:cNvPr id="4" name="QC_4_BD.3_2#80007640a.choices?vcp=1&amp;pid=bed1a5fb6&amp;color=0,0,0&amp;bbb=1&amp;hb=1"/>
          <p:cNvSpPr/>
          <p:nvPr/>
        </p:nvSpPr>
        <p:spPr>
          <a:xfrm>
            <a:off x="393192" y="234089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A.火箭尾部向下喷气，喷出的气体反过来对火箭产生一个反作用力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，从而让火箭获得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了向上的推力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.火箭尾部喷出的气体对空气产生一个作用力，空气的反作用力使火箭获得飞行的动力</a:t>
            </a:r>
            <a:endParaRPr lang="en-US" altLang="zh-CN" sz="2400" spc="-5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.火箭飞出大气层后，由于没有空气，火箭虽然向下喷气，但也无法获得前进的动力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.飞船进入运动轨道之后，与地球之间仍然存在一对作用力与反作用力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5_1#6ab7f213b?htil=1&amp;vcp=1&amp;pid=bed1a5fb6&amp;color=0,0,0&amp;tib=255,255,255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08610" y="1870296"/>
            <a:ext cx="1261872" cy="210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5_2#6ab7f213b?htil=1&amp;vcp=1&amp;pid=bed1a5fb6&amp;color=0,0,0&amp;bt=1&amp;bbb=1&amp;hb=1"/>
              <p:cNvSpPr/>
              <p:nvPr/>
            </p:nvSpPr>
            <p:spPr>
              <a:xfrm>
                <a:off x="393192" y="1824577"/>
                <a:ext cx="10049256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如图所示，用质量不计的轻绳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两重物悬挂起来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5_2#6ab7f213b?htil=1&amp;vcp=1&amp;pid=bed1a5fb6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24577"/>
                <a:ext cx="10049256" cy="1033399"/>
              </a:xfrm>
              <a:prstGeom prst="rect">
                <a:avLst/>
              </a:prstGeom>
              <a:blipFill>
                <a:blip r:embed="rId4"/>
                <a:stretch>
                  <a:fillRect l="-1881" r="-157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6_1#6ab7f213b.bracket?vcp=1&amp;pid=bed1a5fb6&amp;color=0,0,0&amp;vpa=3"/>
          <p:cNvSpPr/>
          <p:nvPr/>
        </p:nvSpPr>
        <p:spPr>
          <a:xfrm>
            <a:off x="3064161" y="23719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5_3#6ab7f213b.choices?htil=1&amp;vcp=1&amp;pid=bed1a5fb6&amp;color=0,0,0&amp;bbb=1"/>
              <p:cNvSpPr/>
              <p:nvPr/>
            </p:nvSpPr>
            <p:spPr>
              <a:xfrm>
                <a:off x="393192" y="2858102"/>
                <a:ext cx="1004925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的拉力是一对平衡力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的拉力是一对作用力与反作用力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的拉力是一对平衡力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的拉力是一对作用力和反作用力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5_3#6ab7f213b.choices?htil=1&amp;vcp=1&amp;pid=bed1a5fb6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858102"/>
                <a:ext cx="10049256" cy="2155000"/>
              </a:xfrm>
              <a:prstGeom prst="rect">
                <a:avLst/>
              </a:prstGeom>
              <a:blipFill>
                <a:blip r:embed="rId5"/>
                <a:stretch>
                  <a:fillRect l="-1881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7_1#22a56fb8f?vcp=1&amp;pid=bed1a5fb6&amp;color=0,0,0&amp;bt=1&amp;bbb=1&amp;hb=1"/>
              <p:cNvSpPr/>
              <p:nvPr/>
            </p:nvSpPr>
            <p:spPr>
              <a:xfrm>
                <a:off x="393192" y="1490568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如图所示，一对父子掰手腕，父亲让儿子获胜.若父亲对儿子的力记为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儿子对父亲的力记为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7_1#22a56fb8f?vcp=1&amp;pid=bed1a5fb6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90568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8_1#22a56fb8f.bracket?vcp=1&amp;pid=bed1a5fb6&amp;color=0,0,0&amp;vpa=4"/>
          <p:cNvSpPr/>
          <p:nvPr/>
        </p:nvSpPr>
        <p:spPr>
          <a:xfrm>
            <a:off x="4284884" y="203793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7_2#22a56fb8f?htil=2&amp;vcp=1&amp;pid=bed1a5fb6&amp;color=0,0,0&amp;tib=255,255,255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07603" y="2569813"/>
            <a:ext cx="2432304" cy="161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7_3#22a56fb8f.choices?htil=2&amp;vcp=1&amp;pid=bed1a5fb6&amp;color=0,0,0&amp;bbb=1&amp;hs=1"/>
              <p:cNvSpPr/>
              <p:nvPr/>
            </p:nvSpPr>
            <p:spPr>
              <a:xfrm>
                <a:off x="393192" y="2524093"/>
                <a:ext cx="8869680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542790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大小相等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542790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产生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的性质可能不同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7_3#22a56fb8f.choices?htil=2&amp;vcp=1&amp;pid=bed1a5fb6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24093"/>
                <a:ext cx="8869680" cy="1033399"/>
              </a:xfrm>
              <a:prstGeom prst="rect">
                <a:avLst/>
              </a:prstGeom>
              <a:blipFill>
                <a:blip r:embed="rId5"/>
                <a:stretch>
                  <a:fillRect l="-2131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S.9_1#22a56fb8f?vcp=1&amp;pid=bed1a5fb6&amp;color=0,0,0&amp;bbb=1&amp;hb=1&amp;hs=1"/>
          <p:cNvSpPr/>
          <p:nvPr/>
        </p:nvSpPr>
        <p:spPr>
          <a:xfrm>
            <a:off x="393192" y="4313523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父亲对儿子的力与儿子对父亲的力是一对作用力与反作用力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.它们总是大小相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等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，方向相反，同时产生，同时消失，且性质相同.故B正确.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8eef60c41?vcp=1&amp;pid=fb5c2d6bc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e3b064fe7?vcp=1&amp;pid=8eef60c41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限时30分钟</a:t>
            </a:r>
            <a:endParaRPr lang="en-US" altLang="zh-CN" sz="2400" dirty="0"/>
          </a:p>
        </p:txBody>
      </p:sp>
      <p:pic>
        <p:nvPicPr>
          <p:cNvPr id="4" name="QC_4_BD.10_1#9e12d4fbb?htil=3&amp;vcp=1&amp;pid=8eef60c41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95098" y="1645538"/>
            <a:ext cx="1600200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2#9e12d4fbb?htil=3&amp;vcp=1&amp;pid=8eef60c41&amp;color=0,0,0&amp;bbb=1&amp;hb=1&amp;hs=1"/>
              <p:cNvSpPr/>
              <p:nvPr/>
            </p:nvSpPr>
            <p:spPr>
              <a:xfrm>
                <a:off x="393192" y="1590675"/>
                <a:ext cx="9701784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如图所示，用弹簧测力计悬挂一个重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的金属块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属块的一部分浸在台秤上的水杯中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（水不会溢出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）.若弹簧测力计的示数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则台秤的示数与未挂金属块时相比(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2#9e12d4fbb?htil=3&amp;vcp=1&amp;pid=8eef60c41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9701784" cy="1592199"/>
              </a:xfrm>
              <a:prstGeom prst="rect">
                <a:avLst/>
              </a:prstGeom>
              <a:blipFill>
                <a:blip r:embed="rId4"/>
                <a:stretch>
                  <a:fillRect l="-1948" r="-126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C_4_AN.11_1#9e12d4fbb.bracket?vcp=1&amp;pid=8eef60c41&amp;color=0,0,0&amp;vpa=5"/>
          <p:cNvSpPr/>
          <p:nvPr/>
        </p:nvSpPr>
        <p:spPr>
          <a:xfrm>
            <a:off x="7156927" y="26968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0_3#9e12d4fbb.choices?htil=3&amp;vcp=1&amp;pid=8eef60c41&amp;color=0,0,0&amp;bbb=1&amp;hs=1"/>
              <p:cNvSpPr/>
              <p:nvPr/>
            </p:nvSpPr>
            <p:spPr>
              <a:xfrm>
                <a:off x="393192" y="3234118"/>
                <a:ext cx="9701784" cy="47815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577846" algn="l"/>
                    <a:tab pos="5130292" algn="l"/>
                    <a:tab pos="7504938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.保持不变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.增加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.增加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.增加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N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0_3#9e12d4fbb.choices?htil=3&amp;vcp=1&amp;pid=8eef60c41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34118"/>
                <a:ext cx="9701784" cy="478155"/>
              </a:xfrm>
              <a:prstGeom prst="rect">
                <a:avLst/>
              </a:prstGeom>
              <a:blipFill>
                <a:blip r:embed="rId5"/>
                <a:stretch>
                  <a:fillRect l="-1948" b="-3974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AS.12_1#9e12d4fbb?vcp=1&amp;pid=8eef60c41&amp;color=0,0,0&amp;bbb=1&amp;hb=1&amp;hs=1"/>
              <p:cNvSpPr/>
              <p:nvPr/>
            </p:nvSpPr>
            <p:spPr>
              <a:xfrm>
                <a:off x="393192" y="3722370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金属块浸入水中后,水对金属块产生浮力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,由弹簧测力计的示数可知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,浮力的大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.根据牛顿第三定律可知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,金属块对水也施加一个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反作用力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,其大小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,通过水和杯的传递，对台秤产生附加压力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,所以台秤的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示数增加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𝐍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AS.12_1#9e12d4fbb?vcp=1&amp;pid=8eef60c41&amp;color=0,0,0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22370"/>
                <a:ext cx="11402568" cy="2155000"/>
              </a:xfrm>
              <a:prstGeom prst="rect">
                <a:avLst/>
              </a:prstGeom>
              <a:blipFill>
                <a:blip r:embed="rId6"/>
                <a:stretch>
                  <a:fillRect l="-1658" r="-1444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  <p:bldP spid="8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13_1#b21b39808?htil=4&amp;vcp=1&amp;pid=8eef60c41&amp;color=0,0,0&amp;tib=255,255,255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57060" y="1342039"/>
            <a:ext cx="704088" cy="181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BD.13_2#b21b39808?htil=4&amp;vcp=1&amp;pid=8eef60c41&amp;color=0,0,0&amp;bt=1&amp;bbb=1&amp;hb=1&amp;hs=1"/>
              <p:cNvSpPr/>
              <p:nvPr/>
            </p:nvSpPr>
            <p:spPr>
              <a:xfrm>
                <a:off x="393192" y="1296320"/>
                <a:ext cx="10607040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如图所示，截面为等腰三角形的木块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上放铁块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，木块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的斜边在竖直粗糙墙壁上，现对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施加竖直向上的力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，使得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一起向上匀速运动，运动过程中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一直保持相对静止，则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的受力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个数分别为(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BD.13_2#b21b39808?htil=4&amp;vcp=1&amp;pid=8eef60c41&amp;color=0,0,0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6320"/>
                <a:ext cx="10607040" cy="2150999"/>
              </a:xfrm>
              <a:prstGeom prst="rect">
                <a:avLst/>
              </a:prstGeom>
              <a:blipFill>
                <a:blip r:embed="rId4"/>
                <a:stretch>
                  <a:fillRect l="-1782" r="-1149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4_AN.14_1#b21b39808.bracket?vcp=1&amp;pid=8eef60c41&amp;color=0,0,0&amp;vpa=6"/>
          <p:cNvSpPr/>
          <p:nvPr/>
        </p:nvSpPr>
        <p:spPr>
          <a:xfrm>
            <a:off x="2162461" y="2961290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5" name="QC_4_BD.13_3#b21b39808.choices?vcp=1&amp;pid=8eef60c41&amp;color=0,0,0&amp;bbb=1&amp;hs=1"/>
          <p:cNvSpPr/>
          <p:nvPr/>
        </p:nvSpPr>
        <p:spPr>
          <a:xfrm>
            <a:off x="393192" y="3484213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916677" algn="l"/>
                <a:tab pos="5807954" algn="l"/>
                <a:tab pos="86992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.3、3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B.4、3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C.5、2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.6、3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15_1#b21b39808?vcp=1&amp;pid=8eef60c41&amp;color=0,0,0&amp;bbb=1&amp;hb=1"/>
              <p:cNvSpPr/>
              <p:nvPr/>
            </p:nvSpPr>
            <p:spPr>
              <a:xfrm>
                <a:off x="393192" y="3972464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两物体受力平衡，对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分析可知，受重力、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的支持力和摩擦力，共3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个力；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整体分析，因力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竖直向上，可知竖直墙壁对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无弹力，则也无摩擦力；对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析可知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，受重力、力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的压力和摩擦力，共4个力作用，故B正确.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15_1#b21b39808?vcp=1&amp;pid=8eef60c41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2464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262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7796c18e9?vcp=1&amp;pid=8eef60c41&amp;color=0,0,0&amp;bt=1&amp;bbb=1&amp;hb=1"/>
              <p:cNvSpPr/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（2026·华科附中检测）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叠放在粗糙的斜面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，在沿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斜面向上的力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作用下，物体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一起沿斜面向上匀速运动，而斜面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始终静止在水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平地面上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7796c18e9?vcp=1&amp;pid=8eef60c4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517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123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7796c18e9.bracket?vcp=1&amp;pid=8eef60c41&amp;color=0,0,0&amp;vpa=7"/>
          <p:cNvSpPr/>
          <p:nvPr/>
        </p:nvSpPr>
        <p:spPr>
          <a:xfrm>
            <a:off x="6112160" y="26513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16_2#7796c18e9?htil=5&amp;vcp=1&amp;pid=8eef60c41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23082" y="3184492"/>
            <a:ext cx="3017520" cy="1463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7796c18e9.choices?htil=5&amp;vcp=1&amp;pid=8eef60c41&amp;color=0,0,0&amp;bbb=1"/>
              <p:cNvSpPr/>
              <p:nvPr/>
            </p:nvSpPr>
            <p:spPr>
              <a:xfrm>
                <a:off x="393192" y="3138772"/>
                <a:ext cx="8284464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受4个力作用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受6个力作用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.斜面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受6个力作用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.地面受到的压力大于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所受地面的支持力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7796c18e9.choices?htil=5&amp;vcp=1&amp;pid=8eef60c41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38772"/>
                <a:ext cx="8284464" cy="2155000"/>
              </a:xfrm>
              <a:prstGeom prst="rect">
                <a:avLst/>
              </a:prstGeom>
              <a:blipFill>
                <a:blip r:embed="rId5"/>
                <a:stretch>
                  <a:fillRect l="-2281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7796c18e9?vcp=1&amp;pid=8eef60c41&amp;color=0,0,0&amp;bt=1&amp;bbb=1&amp;hb=1"/>
              <p:cNvSpPr/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匀速运动，对物体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受力分析，除受拉力、重力、支持力外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，还受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对其沿斜面向下的静摩擦力作用，共4个力，故A正确；对物体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，物体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间有沿斜面方向的静摩擦力，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间有沿斜面方向的滑动摩擦力，物体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还受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到重力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、支持力、压力，共5个力，故B错误；对斜面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受力分析，斜面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除受到重力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外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，还受到地面对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的静摩擦力及支持力，物体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的压力及滑动摩擦力，共5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个力，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C错误；地面受到的压力与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所受地面的支持力是一对作用力与反作用力，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大小相等，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7796c18e9?vcp=1&amp;pid=8eef60c4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4118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19_1#51b87183e?vcp=1&amp;pid=8eef60c41&amp;color=0,0,0&amp;bt=1&amp;bbb=1&amp;hb=1"/>
          <p:cNvSpPr/>
          <p:nvPr/>
        </p:nvSpPr>
        <p:spPr>
          <a:xfrm>
            <a:off x="393192" y="941927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小明将一辆后轮驱动的电动小汽车按图示方法置于两个平板小车上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,三者置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于水平实验桌上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.当小明用遥控器启动小车向前运动后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,他看到两个平板小车也开始运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下列平板小车的运动方向标示正确的是(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20_1#51b87183e.bracket?vcp=1&amp;pid=8eef60c41&amp;color=0,0,0&amp;vpa=8"/>
          <p:cNvSpPr/>
          <p:nvPr/>
        </p:nvSpPr>
        <p:spPr>
          <a:xfrm>
            <a:off x="6188360" y="204809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4_BD.19_2#51b87183e.choices?vcp=1&amp;pid=8eef60c41&amp;color=0,0,0&amp;bbb=1"/>
          <p:cNvSpPr/>
          <p:nvPr/>
        </p:nvSpPr>
        <p:spPr>
          <a:xfrm>
            <a:off x="393192" y="2662522"/>
            <a:ext cx="11402568" cy="1106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9900"/>
              </a:lnSpc>
              <a:tabLst>
                <a:tab pos="2802377" algn="l"/>
                <a:tab pos="5807954" algn="l"/>
                <a:tab pos="8584931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4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55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55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4_BD.19_2#51b87183e.choice_image?vcp=1&amp;pid=8eef60c41&amp;color=0,0,0&amp;tib=255,255,255&amp;ii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375" y="2809080"/>
            <a:ext cx="2020824" cy="9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4_BD.19_2#51b87183e.choice_image?vcp=1&amp;pid=8eef60c41&amp;color=0,0,0&amp;tib=255,255,255&amp;iip=2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84023" y="2809080"/>
            <a:ext cx="2267712" cy="9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4_BD.19_2#51b87183e.choice_image?vcp=1&amp;pid=8eef60c41&amp;color=0,0,0&amp;tib=255,255,255&amp;iip=3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98622" y="2662776"/>
            <a:ext cx="2020824" cy="11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4_BD.19_2#51b87183e.choice_image?vcp=1&amp;pid=8eef60c41&amp;color=0,0,0&amp;tib=255,255,255&amp;iip=4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84430" y="2662776"/>
            <a:ext cx="2267712" cy="11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9" name="QC_4_AS.21_1#51b87183e?vcp=1&amp;pid=8eef60c41&amp;color=0,0,0&amp;bbb=1&amp;hb=1"/>
          <p:cNvSpPr/>
          <p:nvPr/>
        </p:nvSpPr>
        <p:spPr>
          <a:xfrm>
            <a:off x="393192" y="3780122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当后轮驱动的电动小汽车的后轮顺时针转动时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，左边平板小车对后轮摩擦力向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右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，后轮对左边平板小车的摩擦力向左；而前轮是从动轮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，所以右边平板小车对前轮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的摩擦力向左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，前轮对右边平板小车的摩擦力向右.因此，左边平板小车向左运动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右边平板小车向右运动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，C正确.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9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2_1#b40f470cf?vcp=1&amp;pid=8eef60c41&amp;color=0,0,0&amp;bt=1&amp;bbb=1&amp;hb=1"/>
              <p:cNvSpPr/>
              <p:nvPr/>
            </p:nvSpPr>
            <p:spPr>
              <a:xfrm>
                <a:off x="393192" y="1840517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将重均为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的两个磁环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先后套在光滑的木支架上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,并使两磁环相对面的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极性相同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,此时可以看到上方的磁环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“悬浮”在空中,如图所示.设磁环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对木支架底座的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压力为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的排斥力为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下列关于这些力的大小关系正确的是(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2_1#b40f470cf?vcp=1&amp;pid=8eef60c4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40517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42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3_1#b40f470cf.bracket?vcp=1&amp;pid=8eef60c41&amp;color=0,0,0&amp;vpa=9"/>
          <p:cNvSpPr/>
          <p:nvPr/>
        </p:nvSpPr>
        <p:spPr>
          <a:xfrm>
            <a:off x="9853136" y="2946686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22_2#b40f470cf?htil=6&amp;vcp=1&amp;pid=8eef60c41&amp;color=0,0,0&amp;tib=255,255,255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6961" y="3421411"/>
            <a:ext cx="1411111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2_3#b40f470cf.choices?htil=6&amp;vcp=1&amp;pid=8eef60c41&amp;color=0,0,0&amp;bbb=1&amp;hs=1"/>
              <p:cNvSpPr/>
              <p:nvPr/>
            </p:nvSpPr>
            <p:spPr>
              <a:xfrm>
                <a:off x="393192" y="3434111"/>
                <a:ext cx="9473184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844542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844542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𝐺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2_3#b40f470cf.choices?htil=6&amp;vcp=1&amp;pid=8eef60c41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34111"/>
                <a:ext cx="9473184" cy="1027430"/>
              </a:xfrm>
              <a:prstGeom prst="rect">
                <a:avLst/>
              </a:prstGeom>
              <a:blipFill>
                <a:blip r:embed="rId5"/>
                <a:stretch>
                  <a:fillRect l="-1995" b="-183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AS.24_1#b40f470cf?vcp=1&amp;pid=8eef60c41&amp;color=0,0,0&amp;bbb=1&amp;hs=1"/>
              <p:cNvSpPr/>
              <p:nvPr/>
            </p:nvSpPr>
            <p:spPr>
              <a:xfrm>
                <a:off x="393192" y="4517484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对磁环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，对磁环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′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，选项B正确.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AS.24_1#b40f470cf?vcp=1&amp;pid=8eef60c41&amp;color=0,0,0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17484"/>
                <a:ext cx="11402568" cy="484124"/>
              </a:xfrm>
              <a:prstGeom prst="rect">
                <a:avLst/>
              </a:prstGeom>
              <a:blipFill>
                <a:blip r:embed="rId6"/>
                <a:stretch>
                  <a:fillRect l="-1658" b="-3924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25_1#fa058bb34?vcp=1&amp;pid=8eef60c41&amp;color=0,0,0&amp;bt=1&amp;bbb=1&amp;hb=1"/>
              <p:cNvSpPr/>
              <p:nvPr/>
            </p:nvSpPr>
            <p:spPr>
              <a:xfrm>
                <a:off x="393192" y="1265777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6.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（2026·江西师大附中检测）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叠石平衡艺术的创作过程中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，艺术家们不使用任何黏合剂或辅助工具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，仅依靠重力和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石头的自然形态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，调整石头的角度和位置，使其达到平衡.在如图所示的作品中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，虚线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为石头间接触面的切线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，下列关于石头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受力情况的说法正确的是(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25_1#fa058bb34?vcp=1&amp;pid=8eef60c4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65777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230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6_1#fa058bb34.bracket?vcp=1&amp;pid=8eef60c41&amp;color=0,0,0&amp;vpa=10"/>
          <p:cNvSpPr/>
          <p:nvPr/>
        </p:nvSpPr>
        <p:spPr>
          <a:xfrm>
            <a:off x="9869837" y="293074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25_2#fa058bb34?htil=7&amp;vcp=1&amp;pid=8eef60c41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47469" y="3451192"/>
            <a:ext cx="1947672" cy="159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25_3#fa058bb34.choices?htil=7&amp;vcp=1&amp;pid=8eef60c41&amp;color=0,0,0&amp;bbb=1"/>
              <p:cNvSpPr/>
              <p:nvPr/>
            </p:nvSpPr>
            <p:spPr>
              <a:xfrm>
                <a:off x="393192" y="3405472"/>
                <a:ext cx="9363456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的压力的方向为竖直向下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的作用力的方向为垂直虚线向下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的作用力大于石头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.石头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的受力个数为5个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25_3#fa058bb34.choices?htil=7&amp;vcp=1&amp;pid=8eef60c41&amp;color=0,0,0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05472"/>
                <a:ext cx="9363456" cy="2155000"/>
              </a:xfrm>
              <a:prstGeom prst="rect">
                <a:avLst/>
              </a:prstGeom>
              <a:blipFill>
                <a:blip r:embed="rId5"/>
                <a:stretch>
                  <a:fillRect l="-201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7_1#fa058bb34?vcp=1&amp;pid=8eef60c41&amp;color=0,0,0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的压力的方向为垂直于虚线斜向下，故A错误；石头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在自身重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力与石头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对其的支持力和静摩擦力共同作用下，处于平衡状态，可知石头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的作用力与石头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的重力大小相等，方向相反，则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的作用力方向竖直向上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，由牛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顿第三定律可知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的作用力等于石头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，二者方向相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反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的作用力方向竖直向下，故B、C错误；石头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受自身重力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的压力、石头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的摩擦力、下方石头的支持力和摩擦力，共5个力，故D正确.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7_1#fa058bb34?vcp=1&amp;pid=8eef60c41&amp;color=0,0,0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642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EX.28_1#fa058bb34?vcp=1&amp;pid=8eef60c41&amp;color=0,0,0&amp;bt=1&amp;bbb=1&amp;hb=1"/>
          <p:cNvSpPr/>
          <p:nvPr/>
        </p:nvSpPr>
        <p:spPr>
          <a:xfrm>
            <a:off x="393192" y="179333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方法技巧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如何防止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“添力”或“漏力”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1）防止“添力”.应注意区分内力和外力，区分性质力和效果力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，区分施力物体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和受力物体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2）防止“漏力”.按照重力、弹力、摩擦力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、其他力的顺序进行受力分析是防止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漏力”的有效办法.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e645bdc80?vcp=1&amp;pid=fb5c2d6bc&amp;color=0,0,0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44a3bb13b?vcp=1&amp;pid=e645bdc80&amp;color=0,0,0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29_1#2ae430083?vcp=1&amp;pid=e645bdc80&amp;color=0,0,0&amp;bbb=1&amp;hb=1"/>
              <p:cNvSpPr/>
              <p:nvPr/>
            </p:nvSpPr>
            <p:spPr>
              <a:xfrm>
                <a:off x="393192" y="1590675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（复旦大学自主招生）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在一深度为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𝐻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的容器中充满液体,液体密度从表面的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到容器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底的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𝜌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成线性变化.液体里浸入两个体积同为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𝑉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的小球,小球间用长为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𝑙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、不可伸长的轻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细绳连接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,第1个小球密度为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,第2个小球密度为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,过一段时间后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,两小球静止于图示位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.求绳中张力.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29_1#2ae430083?vcp=1&amp;pid=e645bdc80&amp;color=0,0,0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2155000"/>
              </a:xfrm>
              <a:prstGeom prst="rect">
                <a:avLst/>
              </a:prstGeom>
              <a:blipFill>
                <a:blip r:embed="rId3"/>
                <a:stretch>
                  <a:fillRect l="-1658" r="-58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4_BD.29_2#2ae430083?vcp=1&amp;pid=e645bdc80&amp;color=0,0,0&amp;tib=255,255,255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5776" y="3863975"/>
            <a:ext cx="2057400" cy="202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AN.30_1#2ae430083?vcp=1&amp;pid=e645bdc80&amp;color=0,0,0&amp;bt=1&amp;bbb=1"/>
              <p:cNvSpPr/>
              <p:nvPr/>
            </p:nvSpPr>
            <p:spPr>
              <a:xfrm>
                <a:off x="393192" y="1331246"/>
                <a:ext cx="11402568" cy="3869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设细绳中拉力为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，对两个球分别有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浮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浮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在液体下深度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处时，球受到的浮力表示为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浮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7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𝑯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由此可得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𝒈𝑽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𝝆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𝝆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𝑯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：这一关系只有在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≥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𝑯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时才有可能成立.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AN.30_1#2ae430083?vcp=1&amp;pid=e645bdc80&amp;color=0,0,0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31246"/>
                <a:ext cx="11402568" cy="3869500"/>
              </a:xfrm>
              <a:prstGeom prst="rect">
                <a:avLst/>
              </a:prstGeom>
              <a:blipFill>
                <a:blip r:embed="rId3"/>
                <a:stretch>
                  <a:fillRect l="-1658" b="-472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Microsoft Office PowerPoint</Application>
  <PresentationFormat>宽屏</PresentationFormat>
  <Paragraphs>139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2026-05-25T07:15:54Z</dcterms:created>
  <dcterms:modified xsi:type="dcterms:W3CDTF">2026-05-25T07:21:43Z</dcterms:modified>
  <cp:category/>
  <cp:contentStatus/>
</cp:coreProperties>
</file>