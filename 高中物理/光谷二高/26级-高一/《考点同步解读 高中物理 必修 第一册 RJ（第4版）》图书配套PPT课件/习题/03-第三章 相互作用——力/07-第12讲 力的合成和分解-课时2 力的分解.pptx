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97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9.xml"/><Relationship Id="rId4" Type="http://schemas.openxmlformats.org/officeDocument/2006/relationships/slide" Target="../slides/slide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9.xml"/><Relationship Id="rId4" Type="http://schemas.openxmlformats.org/officeDocument/2006/relationships/slide" Target="../slides/slide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040dabe7959cd8e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af6a47cc,3c0669d34,e415f0ef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6b2a292ca&amp;amp;cid=6b2a292ca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68a5aa141&amp;amp;cid=68a5aa14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c6a6d3be6&amp;amp;cid=c6a6d3be6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39e438d9c&amp;amp;cid=39e438d9c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4e93c1d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f5aedae7d&amp;amp;cid=f5aedae7d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61fc90b80&amp;amp;cid=61fc90b80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ab3fbc753&amp;amp;cid=ab3fbc753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3c0669d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课时2 力的分解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aaf6a47cc,3c0669d34,e415f0ef4#df=3c0669d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课时2 力的分解</a:t>
            </a:r>
            <a:endParaRPr lang="en-US" sz="1800" dirty="0"/>
          </a:p>
        </p:txBody>
      </p:sp>
      <p:sp>
        <p:nvSpPr>
          <p:cNvPr id="5" name="C_0#auto_editor_catalog_0?lid=6b2a292ca&amp;amp;cid=6b2a292ca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68a5aa141&amp;amp;cid=68a5aa14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c6a6d3be6&amp;amp;cid=c6a6d3be6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39e438d9c&amp;amp;cid=39e438d9c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4e93c1d86#df=3c0669d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课时2 力的分解</a:t>
            </a:r>
            <a:endParaRPr lang="en-US" sz="1800" dirty="0"/>
          </a:p>
        </p:txBody>
      </p:sp>
      <p:sp>
        <p:nvSpPr>
          <p:cNvPr id="5" name="C_0#auto_editor_catalog_5?lid=f5aedae7d&amp;amp;cid=f5aedae7d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61fc90b80&amp;amp;cid=61fc90b80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ab3fbc753&amp;amp;cid=ab3fbc753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#3c0669d34.fixed?vcp=1&amp;pid=aaf6a47cc&amp;color=0,112,192&amp;bbb=1"/>
          <p:cNvSpPr/>
          <p:nvPr/>
        </p:nvSpPr>
        <p:spPr>
          <a:xfrm>
            <a:off x="0" y="1801368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3#3c0669d34.fixed?vcp=1&amp;pid=aaf6a47cc&amp;color=0,0,0&amp;bbb=1"/>
          <p:cNvSpPr/>
          <p:nvPr/>
        </p:nvSpPr>
        <p:spPr>
          <a:xfrm>
            <a:off x="265176" y="3063240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第12讲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力的合成和分解</a:t>
            </a:r>
            <a:endParaRPr lang="en-US" altLang="zh-CN" sz="4400" dirty="0"/>
          </a:p>
        </p:txBody>
      </p:sp>
      <p:sp>
        <p:nvSpPr>
          <p:cNvPr id="4" name="C_3_BD#3c0669d34.fixed?vcp=1&amp;pid=aaf6a47cc&amp;color=0,0,0&amp;bbb=1"/>
          <p:cNvSpPr/>
          <p:nvPr/>
        </p:nvSpPr>
        <p:spPr>
          <a:xfrm>
            <a:off x="265176" y="4142232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课时2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力的分解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e415f0ef4?vcp=1&amp;pid=3c0669d34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5_BD#e37520d91?vcp=1&amp;pid=e415f0ef4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_1#6b2a292ca?vcp=1&amp;pid=e415f0ef4&amp;color=0,0,0&amp;bbb=1&amp;hb=1"/>
              <p:cNvSpPr/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如图，拖拉机拉着耙前进时,拖拉机对耙的拉力大小为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斜向上方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、与水平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分解到水平和竖直方向,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则水平方向分力的大小为(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1_1#6b2a292ca?vcp=1&amp;pid=e415f0ef4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695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5_AN.2_1#6b2a292ca.bracket?vcp=1&amp;pid=e415f0ef4&amp;color=0,0,0&amp;vpa=1"/>
          <p:cNvSpPr/>
          <p:nvPr/>
        </p:nvSpPr>
        <p:spPr>
          <a:xfrm>
            <a:off x="9855739" y="213804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6" name="QC_5_BD.1_2#6b2a292ca?vcp=1&amp;pid=e415f0ef4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85616" y="2757805"/>
            <a:ext cx="4617720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BD.1_3#6b2a292ca.choices?vcp=1&amp;pid=e415f0ef4&amp;color=0,0,0&amp;bbb=1"/>
              <p:cNvSpPr/>
              <p:nvPr/>
            </p:nvSpPr>
            <p:spPr>
              <a:xfrm>
                <a:off x="393192" y="4294505"/>
                <a:ext cx="11402568" cy="71088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2961127" algn="l"/>
                    <a:tab pos="5934954" algn="l"/>
                    <a:tab pos="89087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BD.1_3#6b2a292ca.choices?vcp=1&amp;pid=e415f0ef4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94505"/>
                <a:ext cx="11402568" cy="710883"/>
              </a:xfrm>
              <a:prstGeom prst="rect">
                <a:avLst/>
              </a:prstGeom>
              <a:blipFill>
                <a:blip r:embed="rId5"/>
                <a:stretch>
                  <a:fillRect l="-1658" b="-14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5_AS.3_1#6b2a292ca?vcp=1&amp;pid=e415f0ef4&amp;color=0,0,0&amp;bbb=1"/>
              <p:cNvSpPr/>
              <p:nvPr/>
            </p:nvSpPr>
            <p:spPr>
              <a:xfrm>
                <a:off x="393192" y="5015040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根据力的正交分解可知，水平方向上力的大小为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,故选B.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5_AS.3_1#6b2a292ca?vcp=1&amp;pid=e415f0ef4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15040"/>
                <a:ext cx="11402568" cy="484124"/>
              </a:xfrm>
              <a:prstGeom prst="rect">
                <a:avLst/>
              </a:prstGeom>
              <a:blipFill>
                <a:blip r:embed="rId6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8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4_1#68a5aa141?htil=1&amp;vcp=1&amp;pid=e415f0ef4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10928" y="623696"/>
            <a:ext cx="1271016" cy="162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4_2#68a5aa141?htil=1&amp;vcp=1&amp;pid=e415f0ef4&amp;color=0,0,0&amp;bt=1&amp;bbb=1&amp;hb=1&amp;hs=1"/>
              <p:cNvSpPr/>
              <p:nvPr/>
            </p:nvSpPr>
            <p:spPr>
              <a:xfrm>
                <a:off x="393192" y="577977"/>
                <a:ext cx="100309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百米飞人苏炳添因为有惊人的弹跳力而被戏称有弹簧腿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.弹跳过程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中屈膝是其中一个关键动作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.如图所示,人下蹲,膝盖关节弯曲角度为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,设此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时大小腿肌群对膝关节的作用力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的方向水平向后,且大腿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、小腿骨对膝关节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的作用力大致相等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那么脚掌所受地面向上的弹力约为(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4_2#68a5aa141?htil=1&amp;vcp=1&amp;pid=e415f0ef4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77977"/>
                <a:ext cx="10030968" cy="2150999"/>
              </a:xfrm>
              <a:prstGeom prst="rect">
                <a:avLst/>
              </a:prstGeom>
              <a:blipFill>
                <a:blip r:embed="rId4"/>
                <a:stretch>
                  <a:fillRect l="-1884" r="-182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5_1#68a5aa141.bracket?vcp=1&amp;pid=e415f0ef4&amp;color=0,0,0&amp;vpa=2"/>
          <p:cNvSpPr/>
          <p:nvPr/>
        </p:nvSpPr>
        <p:spPr>
          <a:xfrm>
            <a:off x="7712361" y="22429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4_3#68a5aa141.choices?vcp=1&amp;pid=e415f0ef4&amp;color=0,0,0&amp;bbb=1&amp;hs=1"/>
              <p:cNvSpPr/>
              <p:nvPr/>
            </p:nvSpPr>
            <p:spPr>
              <a:xfrm>
                <a:off x="393192" y="2709926"/>
                <a:ext cx="11402568" cy="736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800"/>
                  </a:lnSpc>
                  <a:tabLst>
                    <a:tab pos="2900802" algn="l"/>
                    <a:tab pos="5801604" algn="l"/>
                    <a:tab pos="87024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cot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4_3#68a5aa141.choices?vcp=1&amp;pid=e415f0ef4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09926"/>
                <a:ext cx="11402568" cy="736600"/>
              </a:xfrm>
              <a:prstGeom prst="rect">
                <a:avLst/>
              </a:prstGeom>
              <a:blipFill>
                <a:blip r:embed="rId5"/>
                <a:stretch>
                  <a:fillRect l="-16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6_1#68a5aa141?vcp=1&amp;pid=e415f0ef4&amp;color=0,0,0&amp;bbb=1&amp;hb=1"/>
              <p:cNvSpPr/>
              <p:nvPr/>
            </p:nvSpPr>
            <p:spPr>
              <a:xfrm>
                <a:off x="393192" y="3446526"/>
                <a:ext cx="11402568" cy="264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根据力的合成与分解可知，膝关节所受的合力为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,小腿骨对膝</a:t>
                </a:r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关节的作用力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,则膝关节对小腿骨在竖直方向的作用力为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因为脚掌对地面在竖直方向的作用力约为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,根据牛顿第三定律可知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，脚掌所受地面向</a:t>
                </a:r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上的弹力约为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𝐜𝐨𝐭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6_1#68a5aa141?vcp=1&amp;pid=e415f0ef4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46526"/>
                <a:ext cx="11402568" cy="2641600"/>
              </a:xfrm>
              <a:prstGeom prst="rect">
                <a:avLst/>
              </a:prstGeom>
              <a:blipFill>
                <a:blip r:embed="rId6"/>
                <a:stretch>
                  <a:fillRect l="-1658" r="-15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7_1#c6a6d3be6?htil=2&amp;vcp=1&amp;pid=e415f0ef4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41734" y="876045"/>
            <a:ext cx="2386584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7_2#c6a6d3be6?htil=2&amp;vcp=1&amp;pid=e415f0ef4&amp;color=0,0,0&amp;bt=1&amp;bbb=1&amp;hb=1&amp;hs=1"/>
              <p:cNvSpPr/>
              <p:nvPr/>
            </p:nvSpPr>
            <p:spPr>
              <a:xfrm>
                <a:off x="393192" y="830326"/>
                <a:ext cx="8924544" cy="22266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如图所示,某钢制工件上开有一个楔形凹槽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,凹槽的截面是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一个直角三角形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∠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𝐶𝐴𝐵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∠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𝐴𝐵𝐶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，在凹槽中放有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一个光滑的金属球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，当金属球静止时，金属球对凹槽的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边的压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边的压力大小为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的值为(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QC_5_BD.7_2#c6a6d3be6?htil=2&amp;vcp=1&amp;pid=e415f0ef4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30326"/>
                <a:ext cx="8924544" cy="2226628"/>
              </a:xfrm>
              <a:prstGeom prst="rect">
                <a:avLst/>
              </a:prstGeom>
              <a:blipFill>
                <a:blip r:embed="rId4"/>
                <a:stretch>
                  <a:fillRect l="-2117" r="-683" b="-301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8_1#c6a6d3be6.bracket?vcp=1&amp;pid=e415f0ef4&amp;color=0,0,0&amp;vpa=3"/>
          <p:cNvSpPr/>
          <p:nvPr/>
        </p:nvSpPr>
        <p:spPr>
          <a:xfrm>
            <a:off x="7329075" y="2577464"/>
            <a:ext cx="423863" cy="36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7_3#c6a6d3be6.choices?vcp=1&amp;pid=e415f0ef4&amp;color=0,0,0&amp;bbb=1&amp;hs=1"/>
              <p:cNvSpPr/>
              <p:nvPr/>
            </p:nvSpPr>
            <p:spPr>
              <a:xfrm>
                <a:off x="393192" y="3068954"/>
                <a:ext cx="11402568" cy="62217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751577" algn="l"/>
                    <a:tab pos="5719054" algn="l"/>
                    <a:tab pos="85849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7_3#c6a6d3be6.choices?vcp=1&amp;pid=e415f0ef4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68954"/>
                <a:ext cx="11402568" cy="622173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9_1#c6a6d3be6?vcp=1&amp;pid=e415f0ef4&amp;color=0,0,0&amp;bbb=1"/>
              <p:cNvSpPr/>
              <p:nvPr/>
            </p:nvSpPr>
            <p:spPr>
              <a:xfrm>
                <a:off x="393192" y="3698620"/>
                <a:ext cx="11402568" cy="78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由力的分解图（如图）知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𝐜𝐨𝐭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,故选B.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QC_5_AS.9_1#c6a6d3be6?vcp=1&amp;pid=e415f0ef4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98620"/>
                <a:ext cx="11402568" cy="787400"/>
              </a:xfrm>
              <a:prstGeom prst="rect">
                <a:avLst/>
              </a:prstGeom>
              <a:blipFill>
                <a:blip r:embed="rId6"/>
                <a:stretch>
                  <a:fillRect l="-1658" b="-77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QC_5_AS.9_2#c6a6d3be6?vcp=1&amp;pid=e415f0ef4&amp;color=0,0,0&amp;tib=255,255,255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93792" y="4613020"/>
            <a:ext cx="1810512" cy="1216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0_1#39e438d9c?vcp=1&amp;pid=e415f0ef4&amp;color=0,0,0&amp;bt=1&amp;bbb=1&amp;hb=1"/>
              <p:cNvSpPr/>
              <p:nvPr/>
            </p:nvSpPr>
            <p:spPr>
              <a:xfrm>
                <a:off x="393192" y="93799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（经典·天津高考）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（多选题）明朝谢肇淛的《五杂组》中记载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:“明姑苏虎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丘寺塔倾侧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,议欲正之,非万缗不可.一游僧见之曰:无烦也,我能正之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.”游僧每天将木楔从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塔身倾斜一侧的砖缝间敲进去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,经月余扶正了塔身.假设所用的木楔为等腰三角形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,木楔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的顶角为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,现在木楔背上加一力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,方向如图所示,木楔两侧产生推力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0_1#39e438d9c?vcp=1&amp;pid=e415f0ef4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37990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58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1_1#39e438d9c.bracket?vcp=1&amp;pid=e415f0ef4&amp;color=0,0,0&amp;vpa=4&amp;bbb=1"/>
          <p:cNvSpPr/>
          <p:nvPr/>
        </p:nvSpPr>
        <p:spPr>
          <a:xfrm>
            <a:off x="10392252" y="2602960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4" name="QC_5_BD.10_2#39e438d9c?htil=3&amp;vcp=1&amp;pid=e415f0ef4&amp;color=0,0,0&amp;tib=255,255,255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16678" y="3123406"/>
            <a:ext cx="2020824" cy="52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0_3#39e438d9c.choices?htil=3&amp;vcp=1&amp;pid=e415f0ef4&amp;color=0,0,0&amp;bbb=1&amp;hs=1"/>
              <p:cNvSpPr/>
              <p:nvPr/>
            </p:nvSpPr>
            <p:spPr>
              <a:xfrm>
                <a:off x="393192" y="3077686"/>
                <a:ext cx="9281160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748530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748530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0_3#39e438d9c.choices?htil=3&amp;vcp=1&amp;pid=e415f0ef4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77686"/>
                <a:ext cx="9281160" cy="1033399"/>
              </a:xfrm>
              <a:prstGeom prst="rect">
                <a:avLst/>
              </a:prstGeom>
              <a:blipFill>
                <a:blip r:embed="rId5"/>
                <a:stretch>
                  <a:fillRect l="-2037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12_1#39e438d9c?vcp=1&amp;pid=e415f0ef4&amp;color=0,0,0&amp;bbb=1&amp;hb=1&amp;hs=1"/>
              <p:cNvSpPr/>
              <p:nvPr/>
            </p:nvSpPr>
            <p:spPr>
              <a:xfrm>
                <a:off x="393192" y="4117816"/>
                <a:ext cx="11402568" cy="1799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木楔两侧面产生的推力的合力大小等于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由力的平行四边形定则可知,</a:t>
                </a:r>
              </a:p>
              <a:p>
                <a:pPr latinLnBrk="1">
                  <a:lnSpc>
                    <a:spcPts val="6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𝜽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,由表达式可知,若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越小,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越大,A错误,B正确;若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越大,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,C正确,D错误.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12_1#39e438d9c?vcp=1&amp;pid=e415f0ef4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17816"/>
                <a:ext cx="11402568" cy="1799400"/>
              </a:xfrm>
              <a:prstGeom prst="rect">
                <a:avLst/>
              </a:prstGeom>
              <a:blipFill>
                <a:blip r:embed="rId6"/>
                <a:stretch>
                  <a:fillRect l="-1658" r="-1070" b="-97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4_BD#4e93c1d86?vcp=1&amp;pid=3c0669d34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5_BD#c67c8dde3?vcp=1&amp;pid=4e93c1d86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3_1#f5aedae7d?vcp=1&amp;pid=4e93c1d86&amp;color=0,0,0&amp;bbb=1&amp;hb=1"/>
              <p:cNvSpPr/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（多选题）要把一个已知力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分解为两个分力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，在下列哪些情况下一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定能得到唯一的解？(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13_1#f5aedae7d?vcp=1&amp;pid=4e93c1d86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5_AN.14_1#f5aedae7d.bracket?vcp=1&amp;pid=4e93c1d86&amp;color=0,0,0&amp;vpa=5&amp;bbb=1"/>
          <p:cNvSpPr/>
          <p:nvPr/>
        </p:nvSpPr>
        <p:spPr>
          <a:xfrm>
            <a:off x="3432460" y="2138045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BD.13_2#f5aedae7d.choices?vcp=1&amp;pid=4e93c1d86&amp;color=0,0,0&amp;bbb=1"/>
              <p:cNvSpPr/>
              <p:nvPr/>
            </p:nvSpPr>
            <p:spPr>
              <a:xfrm>
                <a:off x="393192" y="263080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的大小和方向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BD.13_2#f5aedae7d.choices?vcp=1&amp;pid=4e93c1d86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0805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AS.15_1#f5aedae7d?vcp=1&amp;pid=4e93c1d86&amp;color=0,0,0&amp;bbb=1&amp;hb=1"/>
              <p:cNvSpPr/>
              <p:nvPr/>
            </p:nvSpPr>
            <p:spPr>
              <a:xfrm>
                <a:off x="393192" y="367093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根据合力与分力的矢量三角形可知，A和B中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一定能围成唯一的三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，故A、B正确；C中若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在垂直于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方向上的分量，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则不能围成三角形，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C错误；D中若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数值之和小于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，则不能围成三角形，故D错误.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AS.15_1#f5aedae7d?vcp=1&amp;pid=4e93c1d86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70935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535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6_1#61fc90b80?vcp=1&amp;pid=4e93c1d86&amp;color=0,0,0&amp;bt=1&amp;bbb=1&amp;hb=1"/>
              <p:cNvSpPr/>
              <p:nvPr/>
            </p:nvSpPr>
            <p:spPr>
              <a:xfrm>
                <a:off x="393192" y="131657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已知两个共点力的合力为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，分力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的方向与合力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6_1#61fc90b80?vcp=1&amp;pid=4e93c1d86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16577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7_1#61fc90b80.bracket?vcp=1&amp;pid=4e93c1d86&amp;color=0,0,0&amp;vpa=6"/>
          <p:cNvSpPr/>
          <p:nvPr/>
        </p:nvSpPr>
        <p:spPr>
          <a:xfrm>
            <a:off x="3435573" y="18639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6_2#61fc90b80.choices?vcp=1&amp;pid=4e93c1d86&amp;color=0,0,0&amp;bbb=1"/>
              <p:cNvSpPr/>
              <p:nvPr/>
            </p:nvSpPr>
            <p:spPr>
              <a:xfrm>
                <a:off x="393192" y="235010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的大小是唯一的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的方向是唯一的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有两个可能的方向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可取任意方向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16_2#61fc90b80.choices?vcp=1&amp;pid=4e93c1d86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50102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C_5_AS.18_1#61fc90b80?htil=4&amp;vcp=1&amp;pid=4e93c1d86&amp;color=0,0,0&amp;tib=255,255,255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36535" y="3435952"/>
            <a:ext cx="2642616" cy="172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18_2#61fc90b80?htil=4&amp;vcp=1&amp;pid=4e93c1d86&amp;color=0,0,0&amp;bbb=1&amp;hb=1"/>
              <p:cNvSpPr/>
              <p:nvPr/>
            </p:nvSpPr>
            <p:spPr>
              <a:xfrm>
                <a:off x="393192" y="3390232"/>
                <a:ext cx="86593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组成的矢量三角形图可以看出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两个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的方向有两个，即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的方向，C正确.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18_2#61fc90b80?htil=4&amp;vcp=1&amp;pid=4e93c1d86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90232"/>
                <a:ext cx="8659368" cy="2155000"/>
              </a:xfrm>
              <a:prstGeom prst="rect">
                <a:avLst/>
              </a:prstGeom>
              <a:blipFill>
                <a:blip r:embed="rId6"/>
                <a:stretch>
                  <a:fillRect l="-2183" r="-2042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9_1#ab3fbc753?htil=5&amp;vcp=1&amp;pid=4e93c1d86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91506" y="1222152"/>
            <a:ext cx="2404872" cy="142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9_2#ab3fbc753?htil=5&amp;vcp=1&amp;pid=4e93c1d86&amp;color=0,0,0&amp;bt=1&amp;bbb=1&amp;hb=1&amp;hs=1"/>
              <p:cNvSpPr/>
              <p:nvPr/>
            </p:nvSpPr>
            <p:spPr>
              <a:xfrm>
                <a:off x="393192" y="1176433"/>
                <a:ext cx="8906256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如图所示，重力为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的小球用轻绳悬于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，使轻绳保持偏离竖直方向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角不变，当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最小，则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的值分别为(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19_2#ab3fbc753?htil=5&amp;vcp=1&amp;pid=4e93c1d86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6433"/>
                <a:ext cx="8906256" cy="1592199"/>
              </a:xfrm>
              <a:prstGeom prst="rect">
                <a:avLst/>
              </a:prstGeom>
              <a:blipFill>
                <a:blip r:embed="rId4"/>
                <a:stretch>
                  <a:fillRect l="-2122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20_1#ab3fbc753.bracket?vcp=1&amp;pid=4e93c1d86&amp;color=0,0,0&amp;vpa=7"/>
          <p:cNvSpPr/>
          <p:nvPr/>
        </p:nvSpPr>
        <p:spPr>
          <a:xfrm>
            <a:off x="5661818" y="2282603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9_3#ab3fbc753.choices?vcp=1&amp;pid=4e93c1d86&amp;color=0,0,0&amp;bbb=1&amp;hs=1"/>
              <p:cNvSpPr/>
              <p:nvPr/>
            </p:nvSpPr>
            <p:spPr>
              <a:xfrm>
                <a:off x="393192" y="2770028"/>
                <a:ext cx="11402568" cy="6217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665852" algn="l"/>
                    <a:tab pos="5801604" algn="l"/>
                    <a:tab pos="86071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9_3#ab3fbc753.choices?vcp=1&amp;pid=4e93c1d86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70028"/>
                <a:ext cx="11402568" cy="62172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5_AS.21_1#ab3fbc753?htil=6&amp;vcp=1&amp;pid=4e93c1d86&amp;color=0,0,0&amp;tib=255,255,255&amp;hs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9136" y="3447002"/>
            <a:ext cx="2706624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5_AS.21_2#ab3fbc753?htil=6&amp;vcp=1&amp;pid=4e93c1d86&amp;color=0,0,0&amp;bbb=1&amp;hb=1"/>
              <p:cNvSpPr/>
              <p:nvPr/>
            </p:nvSpPr>
            <p:spPr>
              <a:xfrm>
                <a:off x="393192" y="3401282"/>
                <a:ext cx="8595360" cy="22993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小球重力不变，则力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和轻绳的拉力的合力不变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，轻绳偏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离竖直方向的角度不变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拉力的方向不变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，通过作图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如图所示），可知当力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垂直时，力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5_AS.21_2#ab3fbc753?htil=6&amp;vcp=1&amp;pid=4e93c1d86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01282"/>
                <a:ext cx="8595360" cy="2299335"/>
              </a:xfrm>
              <a:prstGeom prst="rect">
                <a:avLst/>
              </a:prstGeom>
              <a:blipFill>
                <a:blip r:embed="rId7"/>
                <a:stretch>
                  <a:fillRect l="-2199" r="-780" b="-450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宽屏</PresentationFormat>
  <Paragraphs>75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2026-05-25T07:15:33Z</dcterms:created>
  <dcterms:modified xsi:type="dcterms:W3CDTF">2026-05-25T07:20:11Z</dcterms:modified>
  <cp:category/>
  <cp:contentStatus/>
</cp:coreProperties>
</file>