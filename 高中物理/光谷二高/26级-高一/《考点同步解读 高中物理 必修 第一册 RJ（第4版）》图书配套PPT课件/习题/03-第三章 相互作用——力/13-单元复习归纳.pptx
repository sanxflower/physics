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680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0.xml"/><Relationship Id="rId3" Type="http://schemas.openxmlformats.org/officeDocument/2006/relationships/slide" Target="../slides/slide3.xml"/><Relationship Id="rId7" Type="http://schemas.openxmlformats.org/officeDocument/2006/relationships/slide" Target="../slides/slide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7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Relationship Id="rId9" Type="http://schemas.openxmlformats.org/officeDocument/2006/relationships/slide" Target="../slides/slide1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9.xml"/><Relationship Id="rId5" Type="http://schemas.openxmlformats.org/officeDocument/2006/relationships/slide" Target="../slides/slide18.xml"/><Relationship Id="rId4" Type="http://schemas.openxmlformats.org/officeDocument/2006/relationships/slide" Target="../slides/slide16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0.xml"/><Relationship Id="rId3" Type="http://schemas.openxmlformats.org/officeDocument/2006/relationships/slide" Target="../slides/slide3.xml"/><Relationship Id="rId7" Type="http://schemas.openxmlformats.org/officeDocument/2006/relationships/slide" Target="../slides/slide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7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Relationship Id="rId9" Type="http://schemas.openxmlformats.org/officeDocument/2006/relationships/slide" Target="../slides/slide1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9.xml"/><Relationship Id="rId5" Type="http://schemas.openxmlformats.org/officeDocument/2006/relationships/slide" Target="../slides/slide18.xml"/><Relationship Id="rId4" Type="http://schemas.openxmlformats.org/officeDocument/2006/relationships/slide" Target="../slides/slide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5e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0891c7190,73232a9b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599d2946f&amp;amp;cid=599d2946f">
            <a:hlinkClick r:id="rId3" action="ppaction://hlinksldjump"/>
          </p:cNvPr>
          <p:cNvSpPr/>
          <p:nvPr/>
        </p:nvSpPr>
        <p:spPr>
          <a:xfrm>
            <a:off x="424281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469cccdc1&amp;amp;cid=469cccdc1">
            <a:hlinkClick r:id="rId4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ca604eec9&amp;amp;cid=ca604eec9">
            <a:hlinkClick r:id="rId5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6aa5905c9&amp;amp;cid=6aa5905c9">
            <a:hlinkClick r:id="rId6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0?lid=51081211d&amp;amp;cid=51081211d">
            <a:hlinkClick r:id="rId7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C_0#auto_editor_catalog_0?lid=07b410bd7&amp;amp;cid=07b410bd7">
            <a:hlinkClick r:id="rId8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11" name="C_0#auto_editor_catalog_0?lid=d67733ad1&amp;amp;cid=d67733ad1">
            <a:hlinkClick r:id="rId9" action="ppaction://hlinksldjump"/>
          </p:cNvPr>
          <p:cNvSpPr/>
          <p:nvPr/>
        </p:nvSpPr>
        <p:spPr>
          <a:xfrm>
            <a:off x="747979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6fdde2d3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8?lid=115ced1cd&amp;amp;cid=115ced1cd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8?lid=a938a96b1&amp;amp;cid=a938a96b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8?lid=02793e114&amp;amp;cid=02793e114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8?lid=45744c85b&amp;amp;cid=45744c85b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0891c71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单元复习归纳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0891c7190,73232a9bd#df=0891c71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单元复习归纳</a:t>
            </a:r>
            <a:endParaRPr lang="en-US" sz="1800" dirty="0"/>
          </a:p>
        </p:txBody>
      </p:sp>
      <p:sp>
        <p:nvSpPr>
          <p:cNvPr id="5" name="C_0#auto_editor_catalog_0?lid=599d2946f&amp;amp;cid=599d2946f">
            <a:hlinkClick r:id="rId3" action="ppaction://hlinksldjump"/>
          </p:cNvPr>
          <p:cNvSpPr/>
          <p:nvPr/>
        </p:nvSpPr>
        <p:spPr>
          <a:xfrm>
            <a:off x="424281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469cccdc1&amp;amp;cid=469cccdc1">
            <a:hlinkClick r:id="rId4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ca604eec9&amp;amp;cid=ca604eec9">
            <a:hlinkClick r:id="rId5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6aa5905c9&amp;amp;cid=6aa5905c9">
            <a:hlinkClick r:id="rId6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0?lid=51081211d&amp;amp;cid=51081211d">
            <a:hlinkClick r:id="rId7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C_0#auto_editor_catalog_0?lid=07b410bd7&amp;amp;cid=07b410bd7">
            <a:hlinkClick r:id="rId8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11" name="C_0#auto_editor_catalog_0?lid=d67733ad1&amp;amp;cid=d67733ad1">
            <a:hlinkClick r:id="rId9" action="ppaction://hlinksldjump"/>
          </p:cNvPr>
          <p:cNvSpPr/>
          <p:nvPr/>
        </p:nvSpPr>
        <p:spPr>
          <a:xfrm>
            <a:off x="747979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6fdde2d3f#df=0891c71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单元复习归纳</a:t>
            </a:r>
            <a:endParaRPr lang="en-US" sz="1800" dirty="0"/>
          </a:p>
        </p:txBody>
      </p:sp>
      <p:sp>
        <p:nvSpPr>
          <p:cNvPr id="5" name="C_0#auto_editor_catalog_8?lid=115ced1cd&amp;amp;cid=115ced1cd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8?lid=a938a96b1&amp;amp;cid=a938a96b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8?lid=02793e114&amp;amp;cid=02793e114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8?lid=45744c85b&amp;amp;cid=45744c85b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0891c7190.fixed?vcp=1&amp;pid=1273f42bf&amp;color=0,112,192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2_BD#0891c7190.fixed?vcp=1&amp;pid=1273f42bf&amp;color=0,0,0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单元复习归纳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73232a9bd?vcp=1&amp;pid=0891c7190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高考真题实战练</a:t>
            </a:r>
            <a:endParaRPr lang="en-US" altLang="zh-CN" sz="2600" dirty="0"/>
          </a:p>
        </p:txBody>
      </p:sp>
      <p:sp>
        <p:nvSpPr>
          <p:cNvPr id="3" name="P_4_BD#222a635ff?vcp=1&amp;pid=73232a9bd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p:pic>
        <p:nvPicPr>
          <p:cNvPr id="4" name="QC_4_BD.1_1#599d2946f?htil=1&amp;vcp=1&amp;pid=73232a9bd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16695" y="1645539"/>
            <a:ext cx="1810512" cy="85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_2#599d2946f?htil=1&amp;vcp=1&amp;pid=73232a9bd&amp;color=0,0,0&amp;bbb=1&amp;hb=1&amp;hs=1"/>
              <p:cNvSpPr/>
              <p:nvPr/>
            </p:nvSpPr>
            <p:spPr>
              <a:xfrm>
                <a:off x="393192" y="1590675"/>
                <a:ext cx="9491472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（2025·北京等级考）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如图所示，长方体物块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叠放在斜面上，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受到一个沿斜面方向的拉力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，两物块保持静止.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受力的个数为(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_2#599d2946f?htil=1&amp;vcp=1&amp;pid=73232a9bd&amp;color=0,0,0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9491472" cy="1033399"/>
              </a:xfrm>
              <a:prstGeom prst="rect">
                <a:avLst/>
              </a:prstGeom>
              <a:blipFill>
                <a:blip r:embed="rId4"/>
                <a:stretch>
                  <a:fillRect l="-1991" r="-1541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4_AN.2_1#599d2946f.bracket?vcp=1&amp;pid=73232a9bd&amp;color=0,0,0&amp;vpa=1"/>
          <p:cNvSpPr/>
          <p:nvPr/>
        </p:nvSpPr>
        <p:spPr>
          <a:xfrm>
            <a:off x="9032652" y="21380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7" name="QC_4_BD.1_3#599d2946f.choices?vcp=1&amp;pid=73232a9bd&amp;color=0,0,0&amp;bbb=1&amp;hs=1"/>
          <p:cNvSpPr/>
          <p:nvPr/>
        </p:nvSpPr>
        <p:spPr>
          <a:xfrm>
            <a:off x="393192" y="2624074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300"/>
              </a:lnSpc>
              <a:tabLst>
                <a:tab pos="2916677" algn="l"/>
                <a:tab pos="5807954" algn="l"/>
                <a:tab pos="8699231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.4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B.5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C.6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.7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4_AS.3_1#599d2946f?vcp=1&amp;pid=73232a9bd&amp;color=0,0,0&amp;bbb=1&amp;hb=1"/>
              <p:cNvSpPr/>
              <p:nvPr/>
            </p:nvSpPr>
            <p:spPr>
              <a:xfrm>
                <a:off x="393192" y="3117469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由平衡条件知，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受重力、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沿斜面向上的摩擦力，对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整体受力分析，受拉力、重力、斜面的支持力，沿斜面向上的摩擦力，则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沿斜面向下的摩擦力、斜面对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的支持力、拉力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、斜面对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，共6个力作用，C正确.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4_AS.3_1#599d2946f?vcp=1&amp;pid=73232a9bd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17469"/>
                <a:ext cx="11402568" cy="2155000"/>
              </a:xfrm>
              <a:prstGeom prst="rect">
                <a:avLst/>
              </a:prstGeom>
              <a:blipFill>
                <a:blip r:embed="rId5"/>
                <a:stretch>
                  <a:fillRect l="-1658" r="-1230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8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4_1#469cccdc1?htil=2&amp;vcp=1&amp;pid=73232a9bd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33599" y="1258315"/>
            <a:ext cx="2221992" cy="153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4_2#469cccdc1?htil=2&amp;vcp=1&amp;pid=73232a9bd&amp;color=0,0,0&amp;bt=1&amp;bbb=1&amp;hb=1&amp;hs=1"/>
              <p:cNvSpPr/>
              <p:nvPr/>
            </p:nvSpPr>
            <p:spPr>
              <a:xfrm>
                <a:off x="393192" y="1212597"/>
                <a:ext cx="9089136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（2025·陕晋青宁选择考）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的均匀钢管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，一端支在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粗糙水平地面上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，另一端被竖直绳悬挂，处于静止状态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.钢管与水平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地面之间的动摩擦因数为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.则地面对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钢管左端的摩擦力大小为(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4_2#469cccdc1?htil=2&amp;vcp=1&amp;pid=73232a9bd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12597"/>
                <a:ext cx="9089136" cy="2150999"/>
              </a:xfrm>
              <a:prstGeom prst="rect">
                <a:avLst/>
              </a:prstGeom>
              <a:blipFill>
                <a:blip r:embed="rId4"/>
                <a:stretch>
                  <a:fillRect l="-2079" r="-1341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5_1#469cccdc1.bracket?vcp=1&amp;pid=73232a9bd&amp;color=0,0,0&amp;vpa=2"/>
          <p:cNvSpPr/>
          <p:nvPr/>
        </p:nvSpPr>
        <p:spPr>
          <a:xfrm>
            <a:off x="3978560" y="2877566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4_3#469cccdc1.choices?vcp=1&amp;pid=73232a9bd&amp;color=0,0,0&amp;bbb=1&amp;hs=1"/>
              <p:cNvSpPr/>
              <p:nvPr/>
            </p:nvSpPr>
            <p:spPr>
              <a:xfrm>
                <a:off x="393192" y="3352292"/>
                <a:ext cx="11402568" cy="71018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100"/>
                  </a:lnSpc>
                  <a:tabLst>
                    <a:tab pos="3491352" algn="l"/>
                    <a:tab pos="6462004" algn="l"/>
                    <a:tab pos="925485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.0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4_3#469cccdc1.choices?vcp=1&amp;pid=73232a9bd&amp;color=0,0,0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52292"/>
                <a:ext cx="11402568" cy="710184"/>
              </a:xfrm>
              <a:prstGeom prst="rect">
                <a:avLst/>
              </a:prstGeom>
              <a:blipFill>
                <a:blip r:embed="rId5"/>
                <a:stretch>
                  <a:fillRect l="-1658" b="-1465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QC_4_AS.6_1#469cccdc1?htil=3&amp;vcp=1&amp;pid=73232a9bd&amp;color=0,0,0&amp;tib=255,255,255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73768" y="4109148"/>
            <a:ext cx="2221992" cy="153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7" name="QC_4_AS.6_2#469cccdc1?htil=3&amp;vcp=1&amp;pid=73232a9bd&amp;color=0,0,0&amp;bbb=1&amp;hb=1"/>
          <p:cNvSpPr/>
          <p:nvPr/>
        </p:nvSpPr>
        <p:spPr>
          <a:xfrm>
            <a:off x="393192" y="4063428"/>
            <a:ext cx="9089136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对钢管受力分析如图所示，若地面对钢管有摩擦力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，则钢管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水平方向受力不平衡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，故地面对钢管左端的摩擦力大小为0，D正确.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7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7_1#ca604eec9?htil=4&amp;vcp=1&amp;pid=73232a9bd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45168" y="1559591"/>
            <a:ext cx="2450592" cy="226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C_4_BD.7_2#ca604eec9?htil=4&amp;vcp=1&amp;pid=73232a9bd&amp;color=0,0,0&amp;bt=1&amp;bbb=1&amp;hb=1"/>
          <p:cNvSpPr/>
          <p:nvPr/>
        </p:nvSpPr>
        <p:spPr>
          <a:xfrm>
            <a:off x="393192" y="1513872"/>
            <a:ext cx="8860536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（2025·浙江1月选考改编）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中国运动员以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121公斤的成绩获得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2024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年世界举重锦标赛抓举金牌，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举起杠铃稳定时的状态如图所示.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4" name="QC_4_AN.8_1#ca604eec9.bracket?vcp=1&amp;pid=73232a9bd&amp;color=0,0,0&amp;vpa=3"/>
          <p:cNvSpPr/>
          <p:nvPr/>
        </p:nvSpPr>
        <p:spPr>
          <a:xfrm>
            <a:off x="3064161" y="262004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7_3#ca604eec9.choices?htil=4&amp;vcp=1&amp;pid=73232a9bd&amp;color=0,0,0&amp;bbb=1"/>
              <p:cNvSpPr/>
              <p:nvPr/>
            </p:nvSpPr>
            <p:spPr>
              <a:xfrm>
                <a:off x="393192" y="3170078"/>
                <a:ext cx="8860536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A.双臂夹角越大，受力越小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.杠铃对每只手臂作用力大小为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605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.杠铃对手臂的压力和手臂对杠铃的支持力是一对平衡力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.地面对人的支持力等于人与杠铃的总重力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7_3#ca604eec9.choices?htil=4&amp;vcp=1&amp;pid=73232a9bd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70078"/>
                <a:ext cx="8860536" cy="2155000"/>
              </a:xfrm>
              <a:prstGeom prst="rect">
                <a:avLst/>
              </a:prstGeom>
              <a:blipFill>
                <a:blip r:embed="rId4"/>
                <a:stretch>
                  <a:fillRect l="-2134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9_1#ca604eec9?vcp=1&amp;pid=73232a9bd&amp;color=0,0,0&amp;bt=1&amp;bbb=1&amp;hb=1"/>
              <p:cNvSpPr/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解析]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运动员举起杠铃稳定时受力平衡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，双臂所受杠铃作用力的合力的大小等于杠铃的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重力大小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，与双臂的夹角无关,A错误；杠铃的重力为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𝟏𝟐𝟏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𝟐𝟏𝟎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设手臂与竖直方向夹角为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，根据平衡条件可知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,因为</a:t>
                </a:r>
                <a14:m>
                  <m:oMath xmlns:m="http://schemas.openxmlformats.org/officeDocument/2006/math"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，故杠铃对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每只手臂的作用力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𝟔𝟎𝟓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；杠铃对手臂的压力和手臂对杠铃的支持力是一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对相互作用力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，C错误；地面对人的支持力等于人与杠铃的总重力，D正确.</a:t>
                </a:r>
                <a:endParaRPr lang="en-US" altLang="zh-CN" sz="2400" spc="-50" dirty="0"/>
              </a:p>
            </p:txBody>
          </p:sp>
        </mc:Choice>
        <mc:Fallback>
          <p:sp>
            <p:nvSpPr>
              <p:cNvPr id="2" name="QC_4_AS.9_1#ca604eec9?vcp=1&amp;pid=73232a9bd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2674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0_1#6aa5905c9?htil=5&amp;vcp=1&amp;pid=73232a9bd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56541" y="975327"/>
            <a:ext cx="2267712" cy="144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C_4_BD.10_2#6aa5905c9?htil=5&amp;vcp=1&amp;pid=73232a9bd&amp;color=0,0,0&amp;bt=1&amp;bbb=1&amp;hb=1&amp;hs=1"/>
          <p:cNvSpPr/>
          <p:nvPr/>
        </p:nvSpPr>
        <p:spPr>
          <a:xfrm>
            <a:off x="393192" y="929608"/>
            <a:ext cx="9034272" cy="159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4.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（2025·河北选择考）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，内壁截面为半圆形的光滑凹槽固定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在水平面上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，左右边沿等高.该截面内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，一根不可伸长的细绳穿过带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有光滑孔的小球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，一端固定于凹槽左边沿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，另一端过右边沿并沿绳</a:t>
            </a:r>
            <a:endParaRPr lang="en-US" altLang="zh-CN" sz="2400" dirty="0"/>
          </a:p>
        </p:txBody>
      </p:sp>
      <p:sp>
        <p:nvSpPr>
          <p:cNvPr id="4" name="QC_4_AN.11_1#6aa5905c9.bracket?vcp=1&amp;pid=73232a9bd&amp;color=0,0,0&amp;vpa=4"/>
          <p:cNvSpPr/>
          <p:nvPr/>
        </p:nvSpPr>
        <p:spPr>
          <a:xfrm>
            <a:off x="4188936" y="3070573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0_3#6aa5905c9.choices?vcp=1&amp;pid=73232a9bd&amp;color=0,0,0&amp;bbb=1"/>
              <p:cNvSpPr/>
              <p:nvPr/>
            </p:nvSpPr>
            <p:spPr>
              <a:xfrm>
                <a:off x="393192" y="3563333"/>
                <a:ext cx="11402568" cy="62198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000"/>
                  </a:lnSpc>
                  <a:tabLst>
                    <a:tab pos="2878577" algn="l"/>
                    <a:tab pos="5871454" algn="l"/>
                    <a:tab pos="85468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0_3#6aa5905c9.choices?vcp=1&amp;pid=73232a9bd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63333"/>
                <a:ext cx="11402568" cy="621983"/>
              </a:xfrm>
              <a:prstGeom prst="rect">
                <a:avLst/>
              </a:prstGeom>
              <a:blipFill>
                <a:blip r:embed="rId4"/>
                <a:stretch>
                  <a:fillRect l="-1658" b="-16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QC_4_AS.12_1#6aa5905c9?htil=6&amp;vcp=1&amp;pid=73232a9bd&amp;color=0,0,0&amp;tib=255,255,255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02952" y="4248625"/>
            <a:ext cx="1892808" cy="1481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AS.12_2#6aa5905c9?htil=6&amp;vcp=1&amp;pid=73232a9bd&amp;color=0,0,0&amp;bbb=1&amp;hb=1"/>
              <p:cNvSpPr/>
              <p:nvPr/>
            </p:nvSpPr>
            <p:spPr>
              <a:xfrm>
                <a:off x="393192" y="4193761"/>
                <a:ext cx="9409176" cy="174072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如图所示为小球受力分析图，其中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内壁截面为半圆形，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由几何关系得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有最大值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AS.12_2#6aa5905c9?htil=6&amp;vcp=1&amp;pid=73232a9bd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93761"/>
                <a:ext cx="9409176" cy="1740726"/>
              </a:xfrm>
              <a:prstGeom prst="rect">
                <a:avLst/>
              </a:prstGeom>
              <a:blipFill>
                <a:blip r:embed="rId6"/>
                <a:stretch>
                  <a:fillRect l="-2009" r="-972" b="-55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4_BD.10_2#6aa5905c9?htil=5&amp;vcp=1&amp;pid=73232a9bd&amp;color=0,0,0&amp;bt=1&amp;bbb=1&amp;hb=1&amp;hs=1">
                <a:extLst>
                  <a:ext uri="{FF2B5EF4-FFF2-40B4-BE49-F238E27FC236}">
                    <a16:creationId xmlns:a16="http://schemas.microsoft.com/office/drawing/2014/main" id="{502BB50E-CA43-5967-CA1F-53D7CA4520A8}"/>
                  </a:ext>
                </a:extLst>
              </p:cNvPr>
              <p:cNvSpPr/>
              <p:nvPr/>
            </p:nvSpPr>
            <p:spPr>
              <a:xfrm>
                <a:off x="393192" y="2523203"/>
                <a:ext cx="1140000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方向对其施加拉力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F.小球半径远小于凹槽半径，所受重力大小为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 若小球始终位于内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壁最低点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的最大值为(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4_BD.10_2#6aa5905c9?htil=5&amp;vcp=1&amp;pid=73232a9bd&amp;color=0,0,0&amp;bt=1&amp;bbb=1&amp;hb=1&amp;hs=1">
                <a:extLst>
                  <a:ext uri="{FF2B5EF4-FFF2-40B4-BE49-F238E27FC236}">
                    <a16:creationId xmlns:a16="http://schemas.microsoft.com/office/drawing/2014/main" id="{502BB50E-CA43-5967-CA1F-53D7CA4520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23203"/>
                <a:ext cx="11400008" cy="1033399"/>
              </a:xfrm>
              <a:prstGeom prst="rect">
                <a:avLst/>
              </a:prstGeom>
              <a:blipFill>
                <a:blip r:embed="rId7"/>
                <a:stretch>
                  <a:fillRect l="-1658" r="-267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7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3_1#51081211d?vcp=1&amp;pid=73232a9bd&amp;color=0,0,0&amp;bt=1&amp;bbb=1&amp;hb=1"/>
              <p:cNvSpPr/>
              <p:nvPr/>
            </p:nvSpPr>
            <p:spPr>
              <a:xfrm>
                <a:off x="393192" y="855663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（2024·贵州选择考）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如图（a）,一质量为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的匀质球置于固定钢质支架的水平横杆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和竖直墙之间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，并处于静止状态，其中一个视图如图（b）所示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.测得球与横杆接触点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到墙面的距离为球半径的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1.8倍，已知重力加速度大小为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,不计所有摩擦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，则球对横杆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的压力大小为(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3_1#51081211d?vcp=1&amp;pid=73232a9bd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55663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390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4_1#51081211d.bracket?vcp=1&amp;pid=73232a9bd&amp;color=0,0,0&amp;vpa=5"/>
          <p:cNvSpPr/>
          <p:nvPr/>
        </p:nvSpPr>
        <p:spPr>
          <a:xfrm>
            <a:off x="2454561" y="252063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13_2#51081211d?vcp=1&amp;pid=73232a9bd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85616" y="3122358"/>
            <a:ext cx="4617720" cy="202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3_3#51081211d.choices?vcp=1&amp;pid=73232a9bd&amp;color=0,0,0&amp;bbb=1"/>
              <p:cNvSpPr/>
              <p:nvPr/>
            </p:nvSpPr>
            <p:spPr>
              <a:xfrm>
                <a:off x="393192" y="5281358"/>
                <a:ext cx="11402568" cy="71215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100"/>
                  </a:lnSpc>
                  <a:tabLst>
                    <a:tab pos="2916677" algn="l"/>
                    <a:tab pos="5807954" algn="l"/>
                    <a:tab pos="86992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3_3#51081211d.choices?vcp=1&amp;pid=73232a9bd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281358"/>
                <a:ext cx="11402568" cy="712153"/>
              </a:xfrm>
              <a:prstGeom prst="rect">
                <a:avLst/>
              </a:prstGeom>
              <a:blipFill>
                <a:blip r:embed="rId5"/>
                <a:stretch>
                  <a:fillRect l="-1658" b="-1453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5_1#51081211d?htil=7&amp;vcp=1&amp;pid=73232a9bd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21746" y="549720"/>
            <a:ext cx="3346704" cy="171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15_2#51081211d?htil=7&amp;vcp=1&amp;pid=73232a9bd&amp;color=0,0,0&amp;bt=1&amp;bbb=1&amp;hb=1&amp;hs=1"/>
              <p:cNvSpPr/>
              <p:nvPr/>
            </p:nvSpPr>
            <p:spPr>
              <a:xfrm>
                <a:off x="393192" y="504000"/>
                <a:ext cx="7955280" cy="187471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方法一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正交分解法</a:t>
                </a:r>
                <a:endParaRPr lang="en-US" altLang="zh-CN" sz="2400" dirty="0"/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设球的半径为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𝑹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，对球进行受力分析，受到重力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、竖直墙的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支持力和横杆的支持力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，如图甲所示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，设横杆的支持力与竖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直方向的夹角为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，由几何知识可得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𝑹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𝑹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𝑹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15_2#51081211d?htil=7&amp;vcp=1&amp;pid=73232a9bd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7955280" cy="1874711"/>
              </a:xfrm>
              <a:prstGeom prst="rect">
                <a:avLst/>
              </a:prstGeom>
              <a:blipFill>
                <a:blip r:embed="rId4"/>
                <a:stretch>
                  <a:fillRect l="-2375" t="-1954" r="-1916" b="-553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15_3#51081211d?vcp=1&amp;pid=73232a9bd&amp;color=0,0,0&amp;bbb=1&amp;hb=1"/>
              <p:cNvSpPr/>
              <p:nvPr/>
            </p:nvSpPr>
            <p:spPr>
              <a:xfrm>
                <a:off x="393192" y="4384740"/>
                <a:ext cx="11402568" cy="140658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力的三角形法</a:t>
                </a:r>
                <a:endParaRPr lang="en-US" altLang="zh-CN" sz="2400" dirty="0"/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将球所受的三个力平移组成力的三角形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，如图乙，由几何关系可知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𝜶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</a:p>
              <a:p>
                <a:pPr latinLnBrk="1">
                  <a:lnSpc>
                    <a:spcPts val="3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，球对横杆的压力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.故选D.］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15_3#51081211d?vcp=1&amp;pid=73232a9bd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84740"/>
                <a:ext cx="11402568" cy="1406589"/>
              </a:xfrm>
              <a:prstGeom prst="rect">
                <a:avLst/>
              </a:prstGeom>
              <a:blipFill>
                <a:blip r:embed="rId5"/>
                <a:stretch>
                  <a:fillRect l="-1658" t="-2165" b="-73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15_2#51081211d?htil=7&amp;vcp=1&amp;pid=73232a9bd&amp;color=0,0,0&amp;bt=1&amp;bbb=1&amp;hb=1&amp;hs=1">
                <a:extLst>
                  <a:ext uri="{FF2B5EF4-FFF2-40B4-BE49-F238E27FC236}">
                    <a16:creationId xmlns:a16="http://schemas.microsoft.com/office/drawing/2014/main" id="{39CF7B79-C2F2-3F36-046A-08279105F9CD}"/>
                  </a:ext>
                </a:extLst>
              </p:cNvPr>
              <p:cNvSpPr/>
              <p:nvPr/>
            </p:nvSpPr>
            <p:spPr>
              <a:xfrm>
                <a:off x="395996" y="2378711"/>
                <a:ext cx="11400008" cy="19740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将横杆对球的支持力正交分解，沿竖直方向有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，解得横杆对球的支持力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牛顿第三定律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，可得球对横杆的压力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15_2#51081211d?htil=7&amp;vcp=1&amp;pid=73232a9bd&amp;color=0,0,0&amp;bt=1&amp;bbb=1&amp;hb=1&amp;hs=1">
                <a:extLst>
                  <a:ext uri="{FF2B5EF4-FFF2-40B4-BE49-F238E27FC236}">
                    <a16:creationId xmlns:a16="http://schemas.microsoft.com/office/drawing/2014/main" id="{39CF7B79-C2F2-3F36-046A-08279105F9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2378711"/>
                <a:ext cx="11400008" cy="1974025"/>
              </a:xfrm>
              <a:prstGeom prst="rect">
                <a:avLst/>
              </a:prstGeom>
              <a:blipFill>
                <a:blip r:embed="rId6"/>
                <a:stretch>
                  <a:fillRect l="-1658" t="-1543" b="-92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6_1#07b410bd7?htil=8&amp;vcp=1&amp;pid=73232a9bd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40312" y="1591183"/>
            <a:ext cx="2642616" cy="245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6_2#07b410bd7?htil=8&amp;vcp=1&amp;pid=73232a9bd&amp;color=0,0,0&amp;bt=1&amp;bbb=1&amp;hb=1&amp;hs=1"/>
              <p:cNvSpPr/>
              <p:nvPr/>
            </p:nvSpPr>
            <p:spPr>
              <a:xfrm>
                <a:off x="393192" y="1545463"/>
                <a:ext cx="86593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6.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（2024·浙江1月选考）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如图所示，在同一竖直平面内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zh-CN" altLang="en-US" sz="2400" b="0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上系有不可伸长的细线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,其中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的上端悬挂于竖直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固定的支架上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跨过左侧定滑轮、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跨过右侧定滑轮分别与相同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配重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相连，调节左、右两侧定滑轮高度达到平衡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.已知小球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和配重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质量均为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,细线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平行且与水平面成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6_2#07b410bd7?htil=8&amp;vcp=1&amp;pid=73232a9bd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45463"/>
                <a:ext cx="8659368" cy="2713800"/>
              </a:xfrm>
              <a:prstGeom prst="rect">
                <a:avLst/>
              </a:prstGeom>
              <a:blipFill>
                <a:blip r:embed="rId4"/>
                <a:stretch>
                  <a:fillRect l="-2183" r="-2113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17_1#07b410bd7.bracket?vcp=1&amp;pid=73232a9bd&amp;color=0,0,0&amp;vpa=6"/>
          <p:cNvSpPr/>
          <p:nvPr/>
        </p:nvSpPr>
        <p:spPr>
          <a:xfrm>
            <a:off x="9266280" y="4285297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6_3#07b410bd7.choices?vcp=1&amp;pid=73232a9bd&amp;color=0,0,0&amp;bbb=1"/>
              <p:cNvSpPr/>
              <p:nvPr/>
            </p:nvSpPr>
            <p:spPr>
              <a:xfrm>
                <a:off x="393192" y="4831397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808727" algn="l"/>
                    <a:tab pos="5807954" algn="l"/>
                    <a:tab pos="85785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6_3#07b410bd7.choices?vcp=1&amp;pid=73232a9bd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831397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16_2#07b410bd7?htil=8&amp;vcp=1&amp;pid=73232a9bd&amp;color=0,0,0&amp;bt=1&amp;bbb=1&amp;hb=1&amp;hs=1">
                <a:extLst>
                  <a:ext uri="{FF2B5EF4-FFF2-40B4-BE49-F238E27FC236}">
                    <a16:creationId xmlns:a16="http://schemas.microsoft.com/office/drawing/2014/main" id="{9221218E-AE09-D421-0B23-EDFD94352051}"/>
                  </a:ext>
                </a:extLst>
              </p:cNvPr>
              <p:cNvSpPr/>
              <p:nvPr/>
            </p:nvSpPr>
            <p:spPr>
              <a:xfrm>
                <a:off x="395996" y="4287202"/>
                <a:ext cx="1140000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（不计摩擦），则细线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100" b="0" i="0" kern="0" spc="-9990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16_2#07b410bd7?htil=8&amp;vcp=1&amp;pid=73232a9bd&amp;color=0,0,0&amp;bt=1&amp;bbb=1&amp;hb=1&amp;hs=1">
                <a:extLst>
                  <a:ext uri="{FF2B5EF4-FFF2-40B4-BE49-F238E27FC236}">
                    <a16:creationId xmlns:a16="http://schemas.microsoft.com/office/drawing/2014/main" id="{9221218E-AE09-D421-0B23-EDFD943520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287202"/>
                <a:ext cx="11400008" cy="484124"/>
              </a:xfrm>
              <a:prstGeom prst="rect">
                <a:avLst/>
              </a:prstGeom>
              <a:blipFill>
                <a:blip r:embed="rId6"/>
                <a:stretch>
                  <a:fillRect l="-963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8_1#07b410bd7?vcp=1&amp;pid=73232a9bd&amp;color=0,0,0&amp;bt=1&amp;bbb=1&amp;hb=1"/>
              <p:cNvSpPr/>
              <p:nvPr/>
            </p:nvSpPr>
            <p:spPr>
              <a:xfrm>
                <a:off x="393192" y="2088705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配重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的重力相同，细线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中的拉力大小相等，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𝒄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由题意可知，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细线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的拉力和细线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的拉力大小相等、方向相反.对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，竖直方向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𝒄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,则细线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的拉力大小为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;设细线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与水平方向的夹角为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𝒃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𝒄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𝒃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𝒃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,故选D.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8_1#07b410bd7?vcp=1&amp;pid=73232a9bd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8705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1337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9_1#d67733ad1?vcp=1&amp;pid=73232a9bd&amp;color=0,0,0&amp;bt=1&amp;bbb=1&amp;hb=1"/>
              <p:cNvSpPr/>
              <p:nvPr/>
            </p:nvSpPr>
            <p:spPr>
              <a:xfrm>
                <a:off x="393192" y="1079691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7.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（2024·湖北选择考）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如图所示，两拖船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拉着无动力货船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𝑆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一起在静水中沿图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中虚线方向匀速前进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，两根水平缆绳与虚线的夹角均保持为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.假设水对三艘船在水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平方向的作用力大小均为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,方向与船的运动方向相反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，则每艘拖船发动机提供的动力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9_1#d67733ad1?vcp=1&amp;pid=73232a9bd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79691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123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0_1#d67733ad1.bracket?vcp=1&amp;pid=73232a9bd&amp;color=0,0,0&amp;vpa=7"/>
          <p:cNvSpPr/>
          <p:nvPr/>
        </p:nvSpPr>
        <p:spPr>
          <a:xfrm>
            <a:off x="1552861" y="2744661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19_2#d67733ad1?vcp=1&amp;pid=73232a9bd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38928" y="3346386"/>
            <a:ext cx="1911096" cy="167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9_3#d67733ad1.choices?vcp=1&amp;pid=73232a9bd&amp;color=0,0,0&amp;bbb=1"/>
              <p:cNvSpPr/>
              <p:nvPr/>
            </p:nvSpPr>
            <p:spPr>
              <a:xfrm>
                <a:off x="393192" y="5149786"/>
                <a:ext cx="11402568" cy="62242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000"/>
                  </a:lnSpc>
                  <a:tabLst>
                    <a:tab pos="2961127" algn="l"/>
                    <a:tab pos="6023854" algn="l"/>
                    <a:tab pos="88071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21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9_3#d67733ad1.choices?vcp=1&amp;pid=73232a9bd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149786"/>
                <a:ext cx="11402568" cy="622427"/>
              </a:xfrm>
              <a:prstGeom prst="rect">
                <a:avLst/>
              </a:prstGeom>
              <a:blipFill>
                <a:blip r:embed="rId5"/>
                <a:stretch>
                  <a:fillRect l="-1658" b="-16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21_1#d67733ad1?htil=9&amp;vcp=1&amp;pid=73232a9bd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44592" y="549720"/>
            <a:ext cx="5715000" cy="30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C_4_AS.21_2#d67733ad1?htil=9&amp;vcp=1&amp;pid=73232a9bd&amp;color=0,0,0&amp;bt=1&amp;bbb=1&amp;hb=1&amp;hs=1"/>
          <p:cNvSpPr/>
          <p:nvPr/>
        </p:nvSpPr>
        <p:spPr>
          <a:xfrm>
            <a:off x="393192" y="504000"/>
            <a:ext cx="5586984" cy="970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无动力货船和拖船受力平衡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，在水</a:t>
            </a:r>
          </a:p>
          <a:p>
            <a:pPr latinLnBrk="1">
              <a:lnSpc>
                <a:spcPts val="39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平方向的受力分别如图甲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、乙所示.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21_3#d67733ad1?htil=9&amp;vcp=1&amp;pid=73232a9bd&amp;color=0,0,0&amp;bbb=1&amp;hb=1&amp;hs=1"/>
              <p:cNvSpPr/>
              <p:nvPr/>
            </p:nvSpPr>
            <p:spPr>
              <a:xfrm>
                <a:off x="393192" y="1477582"/>
                <a:ext cx="5586984" cy="214731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对无动力货船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𝑺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，竖直方向重力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与水的浮力平衡，水平方向的受力如图甲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，将各力正交分解，沿货船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𝑺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运动方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;对拖船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21_3#d67733ad1?htil=9&amp;vcp=1&amp;pid=73232a9bd&amp;color=0,0,0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77582"/>
                <a:ext cx="5586984" cy="2147316"/>
              </a:xfrm>
              <a:prstGeom prst="rect">
                <a:avLst/>
              </a:prstGeom>
              <a:blipFill>
                <a:blip r:embed="rId4"/>
                <a:stretch>
                  <a:fillRect l="-3384" r="-1528" b="-481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21_3#d67733ad1?htil=9&amp;vcp=1&amp;pid=73232a9bd&amp;color=0,0,0&amp;bbb=1&amp;hb=1&amp;hs=1">
                <a:extLst>
                  <a:ext uri="{FF2B5EF4-FFF2-40B4-BE49-F238E27FC236}">
                    <a16:creationId xmlns:a16="http://schemas.microsoft.com/office/drawing/2014/main" id="{80E23F3D-431A-4482-59CF-F1E1EE732E04}"/>
                  </a:ext>
                </a:extLst>
              </p:cNvPr>
              <p:cNvSpPr/>
              <p:nvPr/>
            </p:nvSpPr>
            <p:spPr>
              <a:xfrm>
                <a:off x="393192" y="3623882"/>
                <a:ext cx="11400008" cy="266820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，设拖船发动机提供的动力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方向与货船前进方向的夹角为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，水平方向的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受力如图乙所示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正交分解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，沿货船运动方向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，沿垂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直货船运动的方向，有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</a:p>
              <a:p>
                <a:pPr latinLnBrk="1">
                  <a:lnSpc>
                    <a:spcPts val="41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𝟐𝟏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，故选B.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21_3#d67733ad1?htil=9&amp;vcp=1&amp;pid=73232a9bd&amp;color=0,0,0&amp;bbb=1&amp;hb=1&amp;hs=1">
                <a:extLst>
                  <a:ext uri="{FF2B5EF4-FFF2-40B4-BE49-F238E27FC236}">
                    <a16:creationId xmlns:a16="http://schemas.microsoft.com/office/drawing/2014/main" id="{80E23F3D-431A-4482-59CF-F1E1EE732E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23882"/>
                <a:ext cx="11400008" cy="2668207"/>
              </a:xfrm>
              <a:prstGeom prst="rect">
                <a:avLst/>
              </a:prstGeom>
              <a:blipFill>
                <a:blip r:embed="rId5"/>
                <a:stretch>
                  <a:fillRect l="-1658" r="-1176" b="-388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6fdde2d3f?vcp=1&amp;pid=0891c7190&amp;color=0,0,0&amp;bt=1&amp;bbb=1"/>
          <p:cNvSpPr/>
          <p:nvPr/>
        </p:nvSpPr>
        <p:spPr>
          <a:xfrm>
            <a:off x="393192" y="502920"/>
            <a:ext cx="11402568" cy="47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1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原创新题模拟练</a:t>
            </a:r>
            <a:endParaRPr lang="en-US" altLang="zh-CN" sz="2600" dirty="0"/>
          </a:p>
        </p:txBody>
      </p:sp>
      <p:sp>
        <p:nvSpPr>
          <p:cNvPr id="3" name="P_4_BD#d1d854724?vcp=1&amp;pid=6fdde2d3f&amp;color=0,0,0&amp;bbb=1"/>
          <p:cNvSpPr/>
          <p:nvPr/>
        </p:nvSpPr>
        <p:spPr>
          <a:xfrm>
            <a:off x="393192" y="1036168"/>
            <a:ext cx="11402568" cy="44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8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2_1#115ced1cd?vcp=1&amp;pid=6fdde2d3f&amp;color=0,0,0&amp;bbb=1&amp;hb=1"/>
              <p:cNvSpPr/>
              <p:nvPr/>
            </p:nvSpPr>
            <p:spPr>
              <a:xfrm>
                <a:off x="393192" y="1526033"/>
                <a:ext cx="11402568" cy="24081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1.（多选题）筷子是中华饮食文化的标志之一，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我国著名物理学家李政道曾夸赞说：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筷子如此简单的两根木头，却精妙绝伦地应用了物理学杠杆原理.”如图所示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，用筷子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夹住质量为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的小球，两根筷子均在竖直面内，且筷子和竖直方向的夹角均为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小球与筷子间的动摩擦因数为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,小球静止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，设最大静摩擦力等于滑动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摩擦力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2_1#115ced1cd?vcp=1&amp;pid=6fdde2d3f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26033"/>
                <a:ext cx="11402568" cy="2408174"/>
              </a:xfrm>
              <a:prstGeom prst="rect">
                <a:avLst/>
              </a:prstGeom>
              <a:blipFill>
                <a:blip r:embed="rId3"/>
                <a:stretch>
                  <a:fillRect l="-1658" t="-506" r="-1123" b="-784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3_1#115ced1cd.bracket?vcp=1&amp;pid=6fdde2d3f&amp;color=0,0,0&amp;vpa=8&amp;bbb=1"/>
          <p:cNvSpPr/>
          <p:nvPr/>
        </p:nvSpPr>
        <p:spPr>
          <a:xfrm>
            <a:off x="4118260" y="3497517"/>
            <a:ext cx="644525" cy="43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7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6" name="QC_4_BD.24_1#115ced1cd?htil=10&amp;vcp=1&amp;pid=6fdde2d3f&amp;color=0,0,0&amp;tib=255,255,255" descr="preencoded.png">
            <a:extLst>
              <a:ext uri="{FF2B5EF4-FFF2-40B4-BE49-F238E27FC236}">
                <a16:creationId xmlns:a16="http://schemas.microsoft.com/office/drawing/2014/main" id="{C1052545-6A76-5BBD-EAF2-C95235ED19C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43032" y="3472942"/>
            <a:ext cx="1261872" cy="219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24_2#115ced1cd.choices?htil=10&amp;vcp=1&amp;pid=6fdde2d3f&amp;color=0,0,0&amp;bt=1&amp;bbb=1">
                <a:extLst>
                  <a:ext uri="{FF2B5EF4-FFF2-40B4-BE49-F238E27FC236}">
                    <a16:creationId xmlns:a16="http://schemas.microsoft.com/office/drawing/2014/main" id="{AD55FA57-D05B-A3C1-5B3B-12597E5BC5BF}"/>
                  </a:ext>
                </a:extLst>
              </p:cNvPr>
              <p:cNvSpPr/>
              <p:nvPr/>
            </p:nvSpPr>
            <p:spPr>
              <a:xfrm>
                <a:off x="393192" y="3896932"/>
                <a:ext cx="10049256" cy="196145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A.筷子对小球的最小压力为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2(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μcos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sin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增大时，筷子对小球的最小压力一定增大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减小时，筷子对小球的最小压力一定增大</a:t>
                </a:r>
                <a:endParaRPr lang="en-US" altLang="zh-CN" sz="2400" dirty="0"/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.要想用筷子夹住小球，必须满足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24_2#115ced1cd.choices?htil=10&amp;vcp=1&amp;pid=6fdde2d3f&amp;color=0,0,0&amp;bt=1&amp;bbb=1">
                <a:extLst>
                  <a:ext uri="{FF2B5EF4-FFF2-40B4-BE49-F238E27FC236}">
                    <a16:creationId xmlns:a16="http://schemas.microsoft.com/office/drawing/2014/main" id="{AD55FA57-D05B-A3C1-5B3B-12597E5BC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96932"/>
                <a:ext cx="10049256" cy="1961452"/>
              </a:xfrm>
              <a:prstGeom prst="rect">
                <a:avLst/>
              </a:prstGeom>
              <a:blipFill>
                <a:blip r:embed="rId5"/>
                <a:stretch>
                  <a:fillRect l="-1881" t="-2174" b="-962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25_1#115ced1cd?htil=11&amp;vcp=1&amp;pid=6fdde2d3f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91472" y="1536827"/>
            <a:ext cx="2304288" cy="249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25_2#115ced1cd?htil=11&amp;vcp=1&amp;pid=6fdde2d3f&amp;color=0,0,0&amp;bt=1&amp;bbb=1&amp;hb=1&amp;hs=1"/>
              <p:cNvSpPr/>
              <p:nvPr/>
            </p:nvSpPr>
            <p:spPr>
              <a:xfrm>
                <a:off x="393192" y="1491107"/>
                <a:ext cx="9006840" cy="28240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对小球受力分析，如图所示，小球受力平衡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，竖直方向有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,且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≥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故筷子对小球的最小压力为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,A错误；由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A选项分析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𝐦𝐢𝐧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,由数学知识可知当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增大时，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增大，则筷子对小球的最小压力一定增大，B正确，C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25_2#115ced1cd?htil=11&amp;vcp=1&amp;pid=6fdde2d3f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91107"/>
                <a:ext cx="9006840" cy="2824099"/>
              </a:xfrm>
              <a:prstGeom prst="rect">
                <a:avLst/>
              </a:prstGeom>
              <a:blipFill>
                <a:blip r:embed="rId4"/>
                <a:stretch>
                  <a:fillRect l="-2099" r="-2708" b="-647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25_2#115ced1cd?htil=11&amp;vcp=1&amp;pid=6fdde2d3f&amp;color=0,0,0&amp;bt=1&amp;bbb=1&amp;hb=1&amp;hs=1">
                <a:extLst>
                  <a:ext uri="{FF2B5EF4-FFF2-40B4-BE49-F238E27FC236}">
                    <a16:creationId xmlns:a16="http://schemas.microsoft.com/office/drawing/2014/main" id="{428B7678-4308-A07C-B7FE-63A12669D79F}"/>
                  </a:ext>
                </a:extLst>
              </p:cNvPr>
              <p:cNvSpPr/>
              <p:nvPr/>
            </p:nvSpPr>
            <p:spPr>
              <a:xfrm>
                <a:off x="395996" y="4292092"/>
                <a:ext cx="11400008" cy="10714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要想用筷子夹住小球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𝐦𝐢𝐧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，即必须满足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25_2#115ced1cd?htil=11&amp;vcp=1&amp;pid=6fdde2d3f&amp;color=0,0,0&amp;bt=1&amp;bbb=1&amp;hb=1&amp;hs=1">
                <a:extLst>
                  <a:ext uri="{FF2B5EF4-FFF2-40B4-BE49-F238E27FC236}">
                    <a16:creationId xmlns:a16="http://schemas.microsoft.com/office/drawing/2014/main" id="{428B7678-4308-A07C-B7FE-63A12669D7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292092"/>
                <a:ext cx="11400008" cy="1071499"/>
              </a:xfrm>
              <a:prstGeom prst="rect">
                <a:avLst/>
              </a:prstGeom>
              <a:blipFill>
                <a:blip r:embed="rId5"/>
                <a:stretch>
                  <a:fillRect l="-1658" b="-1761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6_1#a938a96b1?vcp=1&amp;pid=6fdde2d3f&amp;color=0,0,0&amp;bt=1&amp;bbb=1&amp;hb=1"/>
              <p:cNvSpPr/>
              <p:nvPr/>
            </p:nvSpPr>
            <p:spPr>
              <a:xfrm>
                <a:off x="393192" y="787718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2.如图甲所示，两薄木板A、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质量相同，其中木板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与墙面间的动摩擦因数为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,木板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间的动摩擦因数为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,光滑重球被轻质细绳跨过定滑轮拉住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，整个系统处于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静止状态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.现缓缓释放细绳使重球缓慢下降，对可能出现的情况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，下列说法正确的是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6_1#a938a96b1?vcp=1&amp;pid=6fdde2d3f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87718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642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7_1#a938a96b1.bracket?vcp=1&amp;pid=6fdde2d3f&amp;color=0,0,0&amp;vpa=9"/>
          <p:cNvSpPr/>
          <p:nvPr/>
        </p:nvSpPr>
        <p:spPr>
          <a:xfrm>
            <a:off x="625760" y="2452688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26_2#a938a96b1?vcp=1&amp;pid=6fdde2d3f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50792" y="3054413"/>
            <a:ext cx="4096512" cy="183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6_3#a938a96b1.choices?vcp=1&amp;pid=6fdde2d3f&amp;color=0,0,0&amp;bbb=1"/>
              <p:cNvSpPr/>
              <p:nvPr/>
            </p:nvSpPr>
            <p:spPr>
              <a:xfrm>
                <a:off x="393192" y="5022913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A.要出现图乙所示情况，只需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，会出现图乙所示情况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.要出现图丙所示情况，则需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，会出现图丙所示情况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6_3#a938a96b1.choices?vcp=1&amp;pid=6fdde2d3f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22913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8_1#a938a96b1?vcp=1&amp;pid=6fdde2d3f&amp;color=0,0,0&amp;bt=1&amp;bbb=1&amp;hb=1"/>
              <p:cNvSpPr/>
              <p:nvPr/>
            </p:nvSpPr>
            <p:spPr>
              <a:xfrm>
                <a:off x="393192" y="2060670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设球对木板的压力为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，题图甲所示情况，对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墙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.题图乙所示情况中，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下滑，对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分析可知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≥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,A、B错误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；题图丙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所示情况中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相对静止一起下滑，对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整体分析可知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≥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,联立解得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,C错误，D正确.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8_1#a938a96b1?vcp=1&amp;pid=6fdde2d3f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60670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29_1#02793e114?htil=12&amp;vcp=1&amp;pid=6fdde2d3f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44905" y="933386"/>
            <a:ext cx="3163824" cy="202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29_2#02793e114?htil=12&amp;vcp=1&amp;pid=6fdde2d3f&amp;color=0,0,0&amp;bt=1&amp;bbb=1&amp;hb=1&amp;hs=1"/>
              <p:cNvSpPr/>
              <p:nvPr/>
            </p:nvSpPr>
            <p:spPr>
              <a:xfrm>
                <a:off x="393192" y="887667"/>
                <a:ext cx="8138160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3.我国元宵节素有猜灯谜的习俗.如图所示，用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1、2、3、4四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根轻质细绳悬挂三个质量相等的彩灯，其中最右端的绳子沿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水平方向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，绳1和绳3与竖直方向夹角分别为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.则下列说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29_2#02793e114?htil=12&amp;vcp=1&amp;pid=6fdde2d3f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87667"/>
                <a:ext cx="8138160" cy="2150999"/>
              </a:xfrm>
              <a:prstGeom prst="rect">
                <a:avLst/>
              </a:prstGeom>
              <a:blipFill>
                <a:blip r:embed="rId4"/>
                <a:stretch>
                  <a:fillRect l="-2322" r="-449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30_1#02793e114.bracket?vcp=1&amp;pid=6fdde2d3f&amp;color=0,0,0&amp;vpa=10"/>
          <p:cNvSpPr/>
          <p:nvPr/>
        </p:nvSpPr>
        <p:spPr>
          <a:xfrm>
            <a:off x="2149761" y="255263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9_3#02793e114.choices?vcp=1&amp;pid=6fdde2d3f&amp;color=0,0,0&amp;bbb=1&amp;hs=1"/>
              <p:cNvSpPr/>
              <p:nvPr/>
            </p:nvSpPr>
            <p:spPr>
              <a:xfrm>
                <a:off x="393192" y="3027362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.绳1拉力一定是绳3拉力的2倍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9_3#02793e114.choices?vcp=1&amp;pid=6fdde2d3f&amp;color=0,0,0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27362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31_1#02793e114?vcp=1&amp;pid=6fdde2d3f&amp;color=0,0,0&amp;bbb=1&amp;hb=1"/>
              <p:cNvSpPr/>
              <p:nvPr/>
            </p:nvSpPr>
            <p:spPr>
              <a:xfrm>
                <a:off x="393192" y="4067492"/>
                <a:ext cx="11402568" cy="175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以三个彩灯（含2、3两细绳）为一整体，由平衡条件可得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 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，以3、4绳间节点为研究对象，有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,联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立可得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不一定等于2，故C正确，A、B、D错误.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31_1#02793e114?vcp=1&amp;pid=6fdde2d3f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67492"/>
                <a:ext cx="11402568" cy="1752600"/>
              </a:xfrm>
              <a:prstGeom prst="rect">
                <a:avLst/>
              </a:prstGeom>
              <a:blipFill>
                <a:blip r:embed="rId6"/>
                <a:stretch>
                  <a:fillRect l="-1658" r="-909" b="-347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32_1#45744c85b?htil=13&amp;vcp=1&amp;pid=6fdde2d3f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30873" y="1466056"/>
            <a:ext cx="1353312" cy="234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32_2#45744c85b?htil=13&amp;vcp=1&amp;pid=6fdde2d3f&amp;color=0,0,0&amp;bt=1&amp;bbb=1&amp;hb=1&amp;hs=1"/>
              <p:cNvSpPr/>
              <p:nvPr/>
            </p:nvSpPr>
            <p:spPr>
              <a:xfrm>
                <a:off x="393192" y="1420336"/>
                <a:ext cx="9948672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4.孔府建筑是中国传统建筑的杰出代表，采用了瓦片屋顶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，屋顶结构的简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化图如图所示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,半径为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的弧形瓦片静止在两根相互平行且完全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相同的倾斜椽子正中间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，两根椽子间的距离为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,与水平面的夹角均为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,最大静摩擦力等于滑动摩擦力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，则下列说法正确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32_2#45744c85b?htil=13&amp;vcp=1&amp;pid=6fdde2d3f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20336"/>
                <a:ext cx="9948672" cy="2709799"/>
              </a:xfrm>
              <a:prstGeom prst="rect">
                <a:avLst/>
              </a:prstGeom>
              <a:blipFill>
                <a:blip r:embed="rId4"/>
                <a:stretch>
                  <a:fillRect l="-1900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33_1#45744c85b.bracket?vcp=1&amp;pid=6fdde2d3f&amp;color=0,0,0&amp;vpa=11"/>
          <p:cNvSpPr/>
          <p:nvPr/>
        </p:nvSpPr>
        <p:spPr>
          <a:xfrm>
            <a:off x="1235360" y="3644106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32_3#45744c85b.choices?vcp=1&amp;pid=6fdde2d3f&amp;color=0,0,0&amp;bbb=1&amp;hs=1"/>
              <p:cNvSpPr/>
              <p:nvPr/>
            </p:nvSpPr>
            <p:spPr>
              <a:xfrm>
                <a:off x="393192" y="4134389"/>
                <a:ext cx="11402568" cy="127895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1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A.每根椽子对瓦片的支持力大小为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.每根椽子对瓦片的支持力大小为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.椽子与瓦片间的动摩擦因数可能为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.椽子与瓦片间的动摩擦因数可能为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32_3#45744c85b.choices?vcp=1&amp;pid=6fdde2d3f&amp;color=0,0,0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34389"/>
                <a:ext cx="11402568" cy="1278954"/>
              </a:xfrm>
              <a:prstGeom prst="rect">
                <a:avLst/>
              </a:prstGeom>
              <a:blipFill>
                <a:blip r:embed="rId5"/>
                <a:stretch>
                  <a:fillRect l="-1658" b="-857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4_1#45744c85b?vcp=1&amp;pid=6fdde2d3f&amp;color=0,0,0&amp;bt=1&amp;bbb=1&amp;hb=1"/>
              <p:cNvSpPr/>
              <p:nvPr/>
            </p:nvSpPr>
            <p:spPr>
              <a:xfrm>
                <a:off x="393192" y="1522889"/>
                <a:ext cx="11402568" cy="362058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两根椽子对瓦片的支持力的合力为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，瓦片有弧度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，设每根椽子对瓦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片的支持力大小为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,故A、B错误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；两根椽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子对瓦片的摩擦力的合力为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,所以每根椽子对瓦片的摩擦力大小为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是最大静摩擦力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，则椽子与瓦片间的动摩擦因数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,而上述摩擦力有可能比最大静摩擦力要小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，所以椽子与瓦片间的动摩擦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因数可能比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要大，故选项C正确，D错误.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4_1#45744c85b?vcp=1&amp;pid=6fdde2d3f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22889"/>
                <a:ext cx="11402568" cy="3620580"/>
              </a:xfrm>
              <a:prstGeom prst="rect">
                <a:avLst/>
              </a:prstGeom>
              <a:blipFill>
                <a:blip r:embed="rId3"/>
                <a:stretch>
                  <a:fillRect l="-1658" r="-374" b="-286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1400</Words>
  <Application>Microsoft Office PowerPoint</Application>
  <PresentationFormat>宽屏</PresentationFormat>
  <Paragraphs>166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2026-05-25T07:16:09Z</dcterms:created>
  <dcterms:modified xsi:type="dcterms:W3CDTF">2026-05-25T07:22:44Z</dcterms:modified>
  <cp:category/>
  <cp:contentStatus/>
</cp:coreProperties>
</file>