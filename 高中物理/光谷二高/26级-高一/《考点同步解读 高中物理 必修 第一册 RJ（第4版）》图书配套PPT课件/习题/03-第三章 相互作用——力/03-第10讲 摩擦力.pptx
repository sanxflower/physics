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72"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87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s>
</file>

<file path=ppt/slideLayouts/_rels/slideLayout9.xml.rels><?xml version="1.0" encoding="UTF-8" standalone="yes"?>
<Relationships xmlns="http://schemas.openxmlformats.org/package/2006/relationships"><Relationship Id="rId8" Type="http://schemas.openxmlformats.org/officeDocument/2006/relationships/slide" Target="../slides/slide13.xml"/><Relationship Id="rId3" Type="http://schemas.openxmlformats.org/officeDocument/2006/relationships/slide" Target="../slides/slide7.xml"/><Relationship Id="rId7" Type="http://schemas.openxmlformats.org/officeDocument/2006/relationships/slide" Target="../slides/slide12.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11.xml"/><Relationship Id="rId5" Type="http://schemas.openxmlformats.org/officeDocument/2006/relationships/slide" Target="../slides/slide10.xml"/><Relationship Id="rId4" Type="http://schemas.openxmlformats.org/officeDocument/2006/relationships/slide" Target="../slides/slide9.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6.xml"/><Relationship Id="rId5" Type="http://schemas.openxmlformats.org/officeDocument/2006/relationships/slide" Target="../slides/slide5.xml"/><Relationship Id="rId4" Type="http://schemas.openxmlformats.org/officeDocument/2006/relationships/slide" Target="../slides/slide4.xml"/></Relationships>
</file>

<file path=ppt/slideLayouts/_rels/slideLayout12.xml.rels><?xml version="1.0" encoding="UTF-8" standalone="yes"?>
<Relationships xmlns="http://schemas.openxmlformats.org/package/2006/relationships"><Relationship Id="rId8" Type="http://schemas.openxmlformats.org/officeDocument/2006/relationships/slide" Target="../slides/slide13.xml"/><Relationship Id="rId3" Type="http://schemas.openxmlformats.org/officeDocument/2006/relationships/slide" Target="../slides/slide7.xml"/><Relationship Id="rId7" Type="http://schemas.openxmlformats.org/officeDocument/2006/relationships/slide" Target="../slides/slide12.xml"/><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slide" Target="../slides/slide11.xml"/><Relationship Id="rId5" Type="http://schemas.openxmlformats.org/officeDocument/2006/relationships/slide" Target="../slides/slide10.xml"/><Relationship Id="rId4" Type="http://schemas.openxmlformats.org/officeDocument/2006/relationships/slide" Target="../slides/slide9.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xin?subject=physics#pid=6a0d1e823a58ca644f0d6f43#tid=6a13f52f736a60ac3496b257#sourcefrom=">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1261872" y="1078992"/>
            <a:ext cx="7196328" cy="1581912"/>
          </a:xfrm>
          <a:prstGeom prst="rect">
            <a:avLst/>
          </a:prstGeom>
          <a:noFill/>
          <a:ln/>
        </p:spPr>
        <p:txBody>
          <a:bodyPr wrap="square" lIns="0" tIns="0" rIns="0" bIns="0" rtlCol="0" anchor="ctr"/>
          <a:lstStyle/>
          <a:p>
            <a:pPr algn="ctr">
              <a:lnSpc>
                <a:spcPct val="100000"/>
              </a:lnSpc>
            </a:pPr>
            <a:r>
              <a:rPr lang="en-US" sz="8800" b="1" i="0" dirty="0">
                <a:solidFill>
                  <a:srgbClr val="000000"/>
                </a:solidFill>
                <a:latin typeface="Times New Roman" pitchFamily="34" charset="0"/>
                <a:ea typeface="微软雅黑" pitchFamily="34" charset="-122"/>
                <a:cs typeface="Times New Roman" pitchFamily="34" charset="-120"/>
              </a:rPr>
              <a:t>考点同步解读</a:t>
            </a:r>
            <a:endParaRPr lang="en-US" sz="8800" dirty="0"/>
          </a:p>
        </p:txBody>
      </p:sp>
      <p:sp>
        <p:nvSpPr>
          <p:cNvPr id="4" name="MasterShapeName"/>
          <p:cNvSpPr/>
          <p:nvPr/>
        </p:nvSpPr>
        <p:spPr>
          <a:xfrm>
            <a:off x="1581912" y="2770632"/>
            <a:ext cx="6839712" cy="502920"/>
          </a:xfrm>
          <a:prstGeom prst="rect">
            <a:avLst/>
          </a:prstGeom>
          <a:noFill/>
          <a:ln/>
        </p:spPr>
        <p:txBody>
          <a:bodyPr wrap="square" lIns="0" tIns="0" rIns="0" bIns="0" rtlCol="0" anchor="ctr"/>
          <a:lstStyle/>
          <a:p>
            <a:pPr algn="l">
              <a:lnSpc>
                <a:spcPct val="100000"/>
              </a:lnSpc>
            </a:pPr>
            <a:r>
              <a:rPr lang="en-US" sz="34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3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标题">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36576"/>
            <a:ext cx="1911096" cy="502920"/>
          </a:xfrm>
          <a:prstGeom prst="rect">
            <a:avLst/>
          </a:prstGeom>
          <a:noFill/>
          <a:ln/>
        </p:spPr>
        <p:txBody>
          <a:bodyPr wrap="square" lIns="0" tIns="0" rIns="0" bIns="0" rtlCol="0" anchor="ctr"/>
          <a:lstStyle/>
          <a:p>
            <a:pPr algn="l">
              <a:lnSpc>
                <a:spcPct val="100000"/>
              </a:lnSpc>
            </a:pPr>
            <a:r>
              <a:rPr lang="en-US" sz="2400" b="1" i="0" dirty="0">
                <a:solidFill>
                  <a:srgbClr val="FFFFFF"/>
                </a:solidFill>
                <a:latin typeface="Times New Roman" pitchFamily="34" charset="0"/>
                <a:ea typeface="微软雅黑" pitchFamily="34" charset="-122"/>
                <a:cs typeface="Times New Roman" pitchFamily="34" charset="-120"/>
              </a:rPr>
              <a:t>考点同步解读</a:t>
            </a:r>
            <a:endParaRPr lang="en-US" sz="2400" dirty="0"/>
          </a:p>
        </p:txBody>
      </p:sp>
      <p:sp>
        <p:nvSpPr>
          <p:cNvPr id="4" name="MasterShapeName"/>
          <p:cNvSpPr/>
          <p:nvPr/>
        </p:nvSpPr>
        <p:spPr>
          <a:xfrm>
            <a:off x="2340864" y="146304"/>
            <a:ext cx="3602736" cy="356616"/>
          </a:xfrm>
          <a:prstGeom prst="rect">
            <a:avLst/>
          </a:prstGeom>
          <a:noFill/>
          <a:ln/>
        </p:spPr>
        <p:txBody>
          <a:bodyPr wrap="square" lIns="0" tIns="0" rIns="0" bIns="0" rtlCol="0" anchor="ctr"/>
          <a:lstStyle/>
          <a:p>
            <a:pPr algn="l">
              <a:lnSpc>
                <a:spcPct val="100000"/>
              </a:lnSpc>
            </a:pPr>
            <a:r>
              <a:rPr lang="en-US" sz="1600" b="1" i="0" dirty="0">
                <a:solidFill>
                  <a:srgbClr val="FFFFFF"/>
                </a:solidFill>
                <a:latin typeface="Times New Roman" pitchFamily="34" charset="0"/>
                <a:ea typeface="微软雅黑" pitchFamily="34" charset="-122"/>
                <a:cs typeface="Times New Roman" pitchFamily="34" charset="-120"/>
              </a:rPr>
              <a:t>高中物理 必修 第一册 RJ</a:t>
            </a: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目录">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ackCover">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mc=目录配置1#1273f42bf,1273f42bf,a3c6183ca,5f76f57d0">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0?lid=cc041c1fd&amp;amp;cid=cc041c1fd">
            <a:hlinkClick r:id="rId3" action="ppaction://hlinksldjump"/>
          </p:cNvPr>
          <p:cNvSpPr/>
          <p:nvPr/>
        </p:nvSpPr>
        <p:spPr>
          <a:xfrm>
            <a:off x="478231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3a61a5352&amp;amp;cid=3a61a5352">
            <a:hlinkClick r:id="rId4" action="ppaction://hlinksldjump"/>
          </p:cNvPr>
          <p:cNvSpPr/>
          <p:nvPr/>
        </p:nvSpPr>
        <p:spPr>
          <a:xfrm>
            <a:off x="532180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0?lid=f32583f21&amp;amp;cid=f32583f21">
            <a:hlinkClick r:id="rId4"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0?lid=e2cc089aa&amp;amp;cid=e2cc089aa">
            <a:hlinkClick r:id="rId5" action="ppaction://hlinksldjump"/>
          </p:cNvPr>
          <p:cNvSpPr/>
          <p:nvPr/>
        </p:nvSpPr>
        <p:spPr>
          <a:xfrm>
            <a:off x="640080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
        <p:nvSpPr>
          <p:cNvPr id="9" name="C_0#auto_editor_catalog_0?lid=92747152b&amp;amp;cid=92747152b">
            <a:hlinkClick r:id="rId6" action="ppaction://hlinksldjump"/>
          </p:cNvPr>
          <p:cNvSpPr/>
          <p:nvPr/>
        </p:nvSpPr>
        <p:spPr>
          <a:xfrm>
            <a:off x="6940296"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5</a:t>
            </a: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内容#mc=目录配置1#1273f42bf,a6a02b6c9">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a:lstStyle/>
          <a:p>
            <a:endParaRPr lang="zh-CN" altLang="en-US"/>
          </a:p>
        </p:txBody>
      </p:sp>
      <p:sp>
        <p:nvSpPr>
          <p:cNvPr id="5" name="C_0#auto_editor_catalog_6?lid=079ae567d&amp;amp;cid=079ae567d">
            <a:hlinkClick r:id="rId3" action="ppaction://hlinksldjump"/>
          </p:cNvPr>
          <p:cNvSpPr/>
          <p:nvPr/>
        </p:nvSpPr>
        <p:spPr>
          <a:xfrm>
            <a:off x="450799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6?lid=6bb50637a&amp;amp;cid=6bb50637a">
            <a:hlinkClick r:id="rId4"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6?lid=af1bbf428&amp;amp;cid=af1bbf428">
            <a:hlinkClick r:id="rId5"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6?lid=1f2f160f4&amp;amp;cid=1f2f160f4">
            <a:hlinkClick r:id="rId6"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
        <p:nvSpPr>
          <p:cNvPr id="9" name="C_0#auto_editor_catalog_6?lid=cc49b43d8&amp;amp;cid=cc49b43d8">
            <a:hlinkClick r:id="rId7"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5</a:t>
            </a:r>
            <a:endParaRPr lang="en-US" sz="1600" dirty="0"/>
          </a:p>
        </p:txBody>
      </p:sp>
      <p:sp>
        <p:nvSpPr>
          <p:cNvPr id="10" name="C_0#auto_editor_catalog_6?lid=4c4a40064&amp;amp;cid=4c4a40064">
            <a:hlinkClick r:id="rId8" action="ppaction://hlinksldjump"/>
          </p:cNvPr>
          <p:cNvSpPr/>
          <p:nvPr/>
        </p:nvSpPr>
        <p:spPr>
          <a:xfrm>
            <a:off x="7214616"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6</a:t>
            </a:r>
            <a:endParaRPr 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df=a3c6183ca">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第10讲 摩擦力</a:t>
            </a:r>
            <a:endParaRPr lang="en-US" sz="18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内容#mc=目录配置1#1273f42bf,1273f42bf,a3c6183ca,5f76f57d0#df=a3c6183ca">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第10讲 摩擦力</a:t>
            </a:r>
            <a:endParaRPr lang="en-US" sz="1800" dirty="0"/>
          </a:p>
        </p:txBody>
      </p:sp>
      <p:sp>
        <p:nvSpPr>
          <p:cNvPr id="5" name="C_0#auto_editor_catalog_0?lid=cc041c1fd&amp;amp;cid=cc041c1fd">
            <a:hlinkClick r:id="rId3" action="ppaction://hlinksldjump"/>
          </p:cNvPr>
          <p:cNvSpPr/>
          <p:nvPr/>
        </p:nvSpPr>
        <p:spPr>
          <a:xfrm>
            <a:off x="478231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0?lid=3a61a5352&amp;amp;cid=3a61a5352">
            <a:hlinkClick r:id="rId4" action="ppaction://hlinksldjump"/>
          </p:cNvPr>
          <p:cNvSpPr/>
          <p:nvPr/>
        </p:nvSpPr>
        <p:spPr>
          <a:xfrm>
            <a:off x="532180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0?lid=f32583f21&amp;amp;cid=f32583f21">
            <a:hlinkClick r:id="rId4" action="ppaction://hlinksldjump"/>
          </p:cNvPr>
          <p:cNvSpPr/>
          <p:nvPr/>
        </p:nvSpPr>
        <p:spPr>
          <a:xfrm>
            <a:off x="586130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0?lid=e2cc089aa&amp;amp;cid=e2cc089aa">
            <a:hlinkClick r:id="rId5" action="ppaction://hlinksldjump"/>
          </p:cNvPr>
          <p:cNvSpPr/>
          <p:nvPr/>
        </p:nvSpPr>
        <p:spPr>
          <a:xfrm>
            <a:off x="640080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
        <p:nvSpPr>
          <p:cNvPr id="9" name="C_0#auto_editor_catalog_0?lid=92747152b&amp;amp;cid=92747152b">
            <a:hlinkClick r:id="rId6" action="ppaction://hlinksldjump"/>
          </p:cNvPr>
          <p:cNvSpPr/>
          <p:nvPr/>
        </p:nvSpPr>
        <p:spPr>
          <a:xfrm>
            <a:off x="6940296"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5</a:t>
            </a:r>
            <a:endParaRPr lang="en-US" sz="1600"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内容#mc=目录配置1#1273f42bf,a6a02b6c9#df=a3c6183ca">
    <p:spTree>
      <p:nvGrpSpPr>
        <p:cNvPr id="1" name=""/>
        <p:cNvGrpSpPr/>
        <p:nvPr/>
      </p:nvGrpSpPr>
      <p:grpSpPr>
        <a:xfrm>
          <a:off x="0" y="0"/>
          <a:ext cx="0" cy="0"/>
          <a:chOff x="0" y="0"/>
          <a:chExt cx="0" cy="0"/>
        </a:xfrm>
      </p:grpSpPr>
      <p:pic>
        <p:nvPicPr>
          <p:cNvPr id="2" name="MasterShapeName" descr="preencoded.png"/>
          <p:cNvPicPr>
            <a:picLocks noChangeAspect="1"/>
          </p:cNvPicPr>
          <p:nvPr/>
        </p:nvPicPr>
        <p:blipFill>
          <a:blip r:embed="rId2"/>
          <a:stretch>
            <a:fillRect/>
          </a:stretch>
        </p:blipFill>
        <p:spPr>
          <a:xfrm>
            <a:off x="0" y="0"/>
            <a:ext cx="12188952" cy="6858000"/>
          </a:xfrm>
          <a:prstGeom prst="rect">
            <a:avLst/>
          </a:prstGeom>
        </p:spPr>
      </p:pic>
      <p:sp>
        <p:nvSpPr>
          <p:cNvPr id="3" name="MasterShapeName"/>
          <p:cNvSpPr/>
          <p:nvPr/>
        </p:nvSpPr>
        <p:spPr>
          <a:xfrm>
            <a:off x="283464" y="54864"/>
            <a:ext cx="6117336" cy="356616"/>
          </a:xfrm>
          <a:prstGeom prst="rect">
            <a:avLst/>
          </a:prstGeom>
          <a:noFill/>
          <a:ln/>
        </p:spPr>
        <p:txBody>
          <a:bodyPr wrap="square" lIns="0" tIns="0" rIns="0" bIns="0" rtlCol="0" anchor="ctr"/>
          <a:lstStyle/>
          <a:p>
            <a:pPr algn="l">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《考点同步解读 高中物理 必修 第一册 RJ》</a:t>
            </a:r>
            <a:endParaRPr lang="en-US" sz="1800" dirty="0"/>
          </a:p>
        </p:txBody>
      </p:sp>
      <p:sp>
        <p:nvSpPr>
          <p:cNvPr id="4" name="MasterShapeName"/>
          <p:cNvSpPr/>
          <p:nvPr/>
        </p:nvSpPr>
        <p:spPr>
          <a:xfrm>
            <a:off x="4681728" y="54864"/>
            <a:ext cx="7196328" cy="356616"/>
          </a:xfrm>
          <a:prstGeom prst="rect">
            <a:avLst/>
          </a:prstGeom>
          <a:noFill/>
          <a:ln/>
        </p:spPr>
        <p:txBody>
          <a:bodyPr wrap="square" lIns="0" tIns="0" rIns="0" bIns="0" rtlCol="0" anchor="ctr"/>
          <a:lstStyle/>
          <a:p>
            <a:pPr algn="r">
              <a:lnSpc>
                <a:spcPct val="100000"/>
              </a:lnSpc>
            </a:pPr>
            <a:r>
              <a:rPr lang="en-US" sz="1800" b="1" i="0" dirty="0">
                <a:solidFill>
                  <a:srgbClr val="0070C0"/>
                </a:solidFill>
                <a:latin typeface="Times New Roman" pitchFamily="34" charset="0"/>
                <a:ea typeface="微软雅黑" pitchFamily="34" charset="-122"/>
                <a:cs typeface="Times New Roman" pitchFamily="34" charset="-120"/>
              </a:rPr>
              <a:t>第10讲 摩擦力</a:t>
            </a:r>
            <a:endParaRPr lang="en-US" sz="1800" dirty="0"/>
          </a:p>
        </p:txBody>
      </p:sp>
      <p:sp>
        <p:nvSpPr>
          <p:cNvPr id="5" name="C_0#auto_editor_catalog_6?lid=079ae567d&amp;amp;cid=079ae567d">
            <a:hlinkClick r:id="rId3" action="ppaction://hlinksldjump"/>
          </p:cNvPr>
          <p:cNvSpPr/>
          <p:nvPr/>
        </p:nvSpPr>
        <p:spPr>
          <a:xfrm>
            <a:off x="450799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1</a:t>
            </a:r>
            <a:endParaRPr lang="en-US" sz="1600" dirty="0"/>
          </a:p>
        </p:txBody>
      </p:sp>
      <p:sp>
        <p:nvSpPr>
          <p:cNvPr id="6" name="C_0#auto_editor_catalog_6?lid=6bb50637a&amp;amp;cid=6bb50637a">
            <a:hlinkClick r:id="rId4" action="ppaction://hlinksldjump"/>
          </p:cNvPr>
          <p:cNvSpPr/>
          <p:nvPr/>
        </p:nvSpPr>
        <p:spPr>
          <a:xfrm>
            <a:off x="5056632"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2</a:t>
            </a:r>
            <a:endParaRPr lang="en-US" sz="1600" dirty="0"/>
          </a:p>
        </p:txBody>
      </p:sp>
      <p:sp>
        <p:nvSpPr>
          <p:cNvPr id="7" name="C_0#auto_editor_catalog_6?lid=af1bbf428&amp;amp;cid=af1bbf428">
            <a:hlinkClick r:id="rId5" action="ppaction://hlinksldjump"/>
          </p:cNvPr>
          <p:cNvSpPr/>
          <p:nvPr/>
        </p:nvSpPr>
        <p:spPr>
          <a:xfrm>
            <a:off x="5596128"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3</a:t>
            </a:r>
            <a:endParaRPr lang="en-US" sz="1600" dirty="0"/>
          </a:p>
        </p:txBody>
      </p:sp>
      <p:sp>
        <p:nvSpPr>
          <p:cNvPr id="8" name="C_0#auto_editor_catalog_6?lid=1f2f160f4&amp;amp;cid=1f2f160f4">
            <a:hlinkClick r:id="rId6" action="ppaction://hlinksldjump"/>
          </p:cNvPr>
          <p:cNvSpPr/>
          <p:nvPr/>
        </p:nvSpPr>
        <p:spPr>
          <a:xfrm>
            <a:off x="6135624"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4</a:t>
            </a:r>
            <a:endParaRPr lang="en-US" sz="1600" dirty="0"/>
          </a:p>
        </p:txBody>
      </p:sp>
      <p:sp>
        <p:nvSpPr>
          <p:cNvPr id="9" name="C_0#auto_editor_catalog_6?lid=cc49b43d8&amp;amp;cid=cc49b43d8">
            <a:hlinkClick r:id="rId7" action="ppaction://hlinksldjump"/>
          </p:cNvPr>
          <p:cNvSpPr/>
          <p:nvPr/>
        </p:nvSpPr>
        <p:spPr>
          <a:xfrm>
            <a:off x="6675120"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5</a:t>
            </a:r>
            <a:endParaRPr lang="en-US" sz="1600" dirty="0"/>
          </a:p>
        </p:txBody>
      </p:sp>
      <p:sp>
        <p:nvSpPr>
          <p:cNvPr id="10" name="C_0#auto_editor_catalog_6?lid=4c4a40064&amp;amp;cid=4c4a40064">
            <a:hlinkClick r:id="rId8" action="ppaction://hlinksldjump"/>
          </p:cNvPr>
          <p:cNvSpPr/>
          <p:nvPr/>
        </p:nvSpPr>
        <p:spPr>
          <a:xfrm>
            <a:off x="7214616" y="6446520"/>
            <a:ext cx="466344" cy="356616"/>
          </a:xfrm>
          <a:prstGeom prst="rect">
            <a:avLst/>
          </a:prstGeom>
          <a:solidFill>
            <a:srgbClr val="D7D8D9"/>
          </a:solidFill>
          <a:ln/>
        </p:spPr>
        <p:txBody>
          <a:bodyPr wrap="square" lIns="127000" tIns="127000" rIns="127000" bIns="127000" rtlCol="0" anchor="ctr"/>
          <a:lstStyle/>
          <a:p>
            <a:pPr algn="ctr">
              <a:lnSpc>
                <a:spcPct val="100000"/>
              </a:lnSpc>
            </a:pPr>
            <a:r>
              <a:rPr lang="en-US" sz="1600" b="1" i="0" dirty="0">
                <a:solidFill>
                  <a:srgbClr val="7B7E82"/>
                </a:solidFill>
                <a:latin typeface="Times New Roman" pitchFamily="34" charset="0"/>
                <a:ea typeface="SimHei" pitchFamily="34" charset="-122"/>
                <a:cs typeface="Times New Roman" pitchFamily="34" charset="-120"/>
              </a:rPr>
              <a:t>6</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3.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1&amp;si=1">
    <p:spTree>
      <p:nvGrpSpPr>
        <p:cNvPr id="1" name=""/>
        <p:cNvGrpSpPr/>
        <p:nvPr/>
      </p:nvGrpSpPr>
      <p:grpSpPr>
        <a:xfrm>
          <a:off x="0" y="0"/>
          <a:ext cx="0" cy="0"/>
          <a:chOff x="0" y="0"/>
          <a:chExt cx="0" cy="0"/>
        </a:xfrm>
      </p:grpSpPr>
    </p:spTree>
  </p:cSld>
  <p:clrMapOvr>
    <a:masterClrMapping/>
  </p:clrMapOvr>
  <p:transition>
    <p:split dir="in"/>
  </p:transition>
</p:sld>
</file>

<file path=ppt/slides/slide2.xml><?xml version="1.0" encoding="utf-8"?>
<p:sld xmlns:a="http://schemas.openxmlformats.org/drawingml/2006/main" xmlns:r="http://schemas.openxmlformats.org/officeDocument/2006/relationships" xmlns:p="http://schemas.openxmlformats.org/presentationml/2006/main">
  <p:cSld name="Slide 2&amp;si=2">
    <p:spTree>
      <p:nvGrpSpPr>
        <p:cNvPr id="1" name=""/>
        <p:cNvGrpSpPr/>
        <p:nvPr/>
      </p:nvGrpSpPr>
      <p:grpSpPr>
        <a:xfrm>
          <a:off x="0" y="0"/>
          <a:ext cx="0" cy="0"/>
          <a:chOff x="0" y="0"/>
          <a:chExt cx="0" cy="0"/>
        </a:xfrm>
      </p:grpSpPr>
      <p:sp>
        <p:nvSpPr>
          <p:cNvPr id="2" name="C_2#a3c6183ca.fixed?vcp=1&amp;pid=1273f42bf&amp;color=0,112,192&amp;bbb=1"/>
          <p:cNvSpPr/>
          <p:nvPr/>
        </p:nvSpPr>
        <p:spPr>
          <a:xfrm>
            <a:off x="0" y="2157984"/>
            <a:ext cx="12188952" cy="795528"/>
          </a:xfrm>
          <a:prstGeom prst="rect">
            <a:avLst/>
          </a:prstGeom>
          <a:noFill/>
          <a:ln/>
        </p:spPr>
        <p:txBody>
          <a:bodyPr wrap="none" lIns="0" tIns="0" rIns="0" bIns="0" rtlCol="0" anchor="ctr"/>
          <a:lstStyle/>
          <a:p>
            <a:pPr algn="ctr" latinLnBrk="1">
              <a:lnSpc>
                <a:spcPts val="6000"/>
              </a:lnSpc>
            </a:pPr>
            <a:r>
              <a:rPr lang="en-US" altLang="zh-CN" sz="4800" b="1" i="0" dirty="0">
                <a:solidFill>
                  <a:srgbClr val="0070C0"/>
                </a:solidFill>
                <a:latin typeface="微软雅黑" pitchFamily="34" charset="0"/>
                <a:ea typeface="微软雅黑" pitchFamily="34" charset="-122"/>
                <a:cs typeface="微软雅黑" pitchFamily="34" charset="-120"/>
              </a:rPr>
              <a:t>第三章</a:t>
            </a:r>
            <a:r>
              <a:rPr lang="en-US" altLang="zh-CN" sz="4800" b="1" i="0" dirty="0">
                <a:solidFill>
                  <a:srgbClr val="0070C0"/>
                </a:solidFill>
                <a:latin typeface="SimSun" pitchFamily="34" charset="0"/>
                <a:ea typeface="SimSun" pitchFamily="34" charset="-122"/>
                <a:cs typeface="SimSun" pitchFamily="34" charset="-120"/>
              </a:rPr>
              <a:t> </a:t>
            </a:r>
            <a:r>
              <a:rPr lang="en-US" altLang="zh-CN" sz="4800" b="1" i="0" dirty="0">
                <a:solidFill>
                  <a:srgbClr val="0070C0"/>
                </a:solidFill>
                <a:latin typeface="微软雅黑" pitchFamily="34" charset="0"/>
                <a:ea typeface="微软雅黑" pitchFamily="34" charset="-122"/>
                <a:cs typeface="微软雅黑" pitchFamily="34" charset="-120"/>
              </a:rPr>
              <a:t>相互作用——力</a:t>
            </a:r>
            <a:endParaRPr lang="en-US" altLang="zh-CN" sz="4800" dirty="0"/>
          </a:p>
        </p:txBody>
      </p:sp>
      <p:sp>
        <p:nvSpPr>
          <p:cNvPr id="3" name="C_2_BD#a3c6183ca.fixed?vcp=1&amp;pid=1273f42bf&amp;color=0,0,0&amp;bbb=1"/>
          <p:cNvSpPr/>
          <p:nvPr/>
        </p:nvSpPr>
        <p:spPr>
          <a:xfrm>
            <a:off x="265176" y="3602736"/>
            <a:ext cx="11521440" cy="1281176"/>
          </a:xfrm>
          <a:prstGeom prst="rect">
            <a:avLst/>
          </a:prstGeom>
          <a:noFill/>
          <a:ln/>
        </p:spPr>
        <p:txBody>
          <a:bodyPr wrap="none" lIns="0" tIns="0" rIns="0" bIns="0" rtlCol="0" anchor="t"/>
          <a:lstStyle/>
          <a:p>
            <a:pPr algn="ctr" latinLnBrk="1">
              <a:lnSpc>
                <a:spcPts val="5400"/>
              </a:lnSpc>
            </a:pPr>
            <a:r>
              <a:rPr lang="en-US" altLang="zh-CN" sz="4400" b="1" i="0" dirty="0">
                <a:solidFill>
                  <a:srgbClr val="000000"/>
                </a:solidFill>
                <a:latin typeface="微软雅黑" pitchFamily="34" charset="0"/>
                <a:ea typeface="微软雅黑" pitchFamily="34" charset="-122"/>
                <a:cs typeface="微软雅黑" pitchFamily="34" charset="-120"/>
              </a:rPr>
              <a:t>第10讲</a:t>
            </a:r>
            <a:r>
              <a:rPr lang="en-US" altLang="zh-CN" sz="4400" b="1" i="0" dirty="0">
                <a:solidFill>
                  <a:srgbClr val="000000"/>
                </a:solidFill>
                <a:latin typeface="SimSun" pitchFamily="34" charset="0"/>
                <a:ea typeface="SimSun" pitchFamily="34" charset="-122"/>
                <a:cs typeface="SimSun" pitchFamily="34" charset="-120"/>
              </a:rPr>
              <a:t> </a:t>
            </a:r>
            <a:r>
              <a:rPr lang="en-US" altLang="zh-CN" sz="4400" b="1" i="0" dirty="0">
                <a:solidFill>
                  <a:srgbClr val="000000"/>
                </a:solidFill>
                <a:latin typeface="微软雅黑" pitchFamily="34" charset="0"/>
                <a:ea typeface="微软雅黑" pitchFamily="34" charset="-122"/>
                <a:cs typeface="微软雅黑" pitchFamily="34" charset="-120"/>
              </a:rPr>
              <a:t>摩擦力</a:t>
            </a:r>
            <a:endParaRPr lang="en-US" altLang="zh-CN" sz="4400" dirty="0"/>
          </a:p>
        </p:txBody>
      </p:sp>
    </p:spTree>
  </p:cSld>
  <p:clrMapOvr>
    <a:masterClrMapping/>
  </p:clrMapOvr>
  <p:transition>
    <p:split dir="in"/>
  </p:transition>
</p:sld>
</file>

<file path=ppt/slides/slide3.xml><?xml version="1.0" encoding="utf-8"?>
<p:sld xmlns:a="http://schemas.openxmlformats.org/drawingml/2006/main" xmlns:r="http://schemas.openxmlformats.org/officeDocument/2006/relationships" xmlns:p="http://schemas.openxmlformats.org/presentationml/2006/main">
  <p:cSld name="Slide 3&amp;si=3">
    <p:spTree>
      <p:nvGrpSpPr>
        <p:cNvPr id="1" name=""/>
        <p:cNvGrpSpPr/>
        <p:nvPr/>
      </p:nvGrpSpPr>
      <p:grpSpPr>
        <a:xfrm>
          <a:off x="0" y="0"/>
          <a:ext cx="0" cy="0"/>
          <a:chOff x="0" y="0"/>
          <a:chExt cx="0" cy="0"/>
        </a:xfrm>
      </p:grpSpPr>
      <p:sp>
        <p:nvSpPr>
          <p:cNvPr id="2" name="C_3_BD#5f76f57d0?vcp=1&amp;pid=a3c6183ca&amp;color=0,0,0&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基础考点过关练</a:t>
            </a:r>
            <a:endParaRPr lang="en-US" altLang="zh-CN" sz="2600" dirty="0"/>
          </a:p>
        </p:txBody>
      </p:sp>
      <p:sp>
        <p:nvSpPr>
          <p:cNvPr id="3" name="P_4_BD#529391c72?vcp=1&amp;pid=5f76f57d0&amp;color=0,0,0&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限时10分钟</a:t>
            </a:r>
            <a:endParaRPr lang="en-US" altLang="zh-CN" sz="2400" dirty="0"/>
          </a:p>
        </p:txBody>
      </p:sp>
      <p:sp>
        <p:nvSpPr>
          <p:cNvPr id="4" name="QC_4_BD.1_1#cc041c1fd?vcp=1&amp;pid=5f76f57d0&amp;color=0,0,0&amp;bbb=1&amp;hb=1"/>
          <p:cNvSpPr/>
          <p:nvPr/>
        </p:nvSpPr>
        <p:spPr>
          <a:xfrm>
            <a:off x="393192" y="1649285"/>
            <a:ext cx="11402568"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考点1、3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（多选题）用一水平力推一个静止在地面上的木箱，没有推动</a:t>
            </a:r>
            <a:r>
              <a:rPr lang="en-US" altLang="zh-CN" sz="2400" b="0" i="0">
                <a:solidFill>
                  <a:srgbClr val="000000"/>
                </a:solidFill>
                <a:latin typeface="Times New Roman" pitchFamily="34" charset="0"/>
                <a:ea typeface="微软雅黑" pitchFamily="34" charset="-122"/>
                <a:cs typeface="Times New Roman" pitchFamily="34" charset="-120"/>
              </a:rPr>
              <a:t>，则</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5" name="QC_4_AN.2_1#cc041c1fd.bracket?vcp=1&amp;pid=5f76f57d0&amp;color=0,0,0&amp;vpa=1&amp;bbb=1"/>
          <p:cNvSpPr/>
          <p:nvPr/>
        </p:nvSpPr>
        <p:spPr>
          <a:xfrm>
            <a:off x="676560" y="2196655"/>
            <a:ext cx="661988"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AD</a:t>
            </a:r>
            <a:endParaRPr lang="en-US" altLang="zh-CN" sz="2400" dirty="0"/>
          </a:p>
        </p:txBody>
      </p:sp>
      <p:sp>
        <p:nvSpPr>
          <p:cNvPr id="6" name="QC_4_BD.1_2#cc041c1fd.choices?vcp=1&amp;pid=5f76f57d0&amp;color=0,0,0&amp;bbb=1"/>
          <p:cNvSpPr/>
          <p:nvPr/>
        </p:nvSpPr>
        <p:spPr>
          <a:xfrm>
            <a:off x="393192" y="2756916"/>
            <a:ext cx="11402568"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A.木箱的运动趋势沿水平力方向</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.木箱受到的摩擦力大于水平推力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.此时摩擦力与木箱对地面的正压力成正比</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.木箱与地面间的最大静摩擦力大小应等于木箱刚能被推动时的推力大小</a:t>
            </a:r>
            <a:endParaRPr lang="en-US" altLang="zh-CN" sz="2400" dirty="0"/>
          </a:p>
        </p:txBody>
      </p:sp>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bg/>
                                          </p:spTgt>
                                        </p:tgtEl>
                                        <p:attrNameLst>
                                          <p:attrName>style.visibility</p:attrName>
                                        </p:attrNameLst>
                                      </p:cBhvr>
                                      <p:to>
                                        <p:strVal val="visible"/>
                                      </p:to>
                                    </p:set>
                                    <p:animEffect transition="in" filter="wipe(left)">
                                      <p:cBhvr>
                                        <p:cTn id="7" dur="500"/>
                                        <p:tgtEl>
                                          <p:spTgt spid="5">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xEl>
                                              <p:pRg st="0" end="0"/>
                                            </p:txEl>
                                          </p:spTgt>
                                        </p:tgtEl>
                                        <p:attrNameLst>
                                          <p:attrName>style.visibility</p:attrName>
                                        </p:attrNameLst>
                                      </p:cBhvr>
                                      <p:to>
                                        <p:strVal val="visible"/>
                                      </p:to>
                                    </p:set>
                                    <p:animEffect transition="in" filter="wipe(left)">
                                      <p:cBhvr>
                                        <p:cTn id="10"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amp;si=4">
    <p:spTree>
      <p:nvGrpSpPr>
        <p:cNvPr id="1" name=""/>
        <p:cNvGrpSpPr/>
        <p:nvPr/>
      </p:nvGrpSpPr>
      <p:grpSpPr>
        <a:xfrm>
          <a:off x="0" y="0"/>
          <a:ext cx="0" cy="0"/>
          <a:chOff x="0" y="0"/>
          <a:chExt cx="0" cy="0"/>
        </a:xfrm>
      </p:grpSpPr>
      <p:sp>
        <p:nvSpPr>
          <p:cNvPr id="2" name="QC_4_BD.3_1#3a61a5352?vcp=1&amp;pid=5f76f57d0&amp;color=0,0,0&amp;bt=1&amp;bbb=1"/>
          <p:cNvSpPr/>
          <p:nvPr/>
        </p:nvSpPr>
        <p:spPr>
          <a:xfrm>
            <a:off x="393192" y="502921"/>
            <a:ext cx="11402568" cy="474599"/>
          </a:xfrm>
          <a:prstGeom prst="rect">
            <a:avLst/>
          </a:prstGeom>
          <a:noFill/>
          <a:ln/>
        </p:spPr>
        <p:txBody>
          <a:bodyPr wrap="none" lIns="0" tIns="0" rIns="0" bIns="0" rtlCol="0" anchor="t"/>
          <a:lstStyle/>
          <a:p>
            <a:pPr algn="l" latinLnBrk="1">
              <a:lnSpc>
                <a:spcPts val="42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考点1、3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下列关于静摩擦力的说法中，</a:t>
            </a:r>
            <a:r>
              <a:rPr lang="en-US" altLang="zh-CN" sz="2400" b="0" i="0">
                <a:solidFill>
                  <a:srgbClr val="000000"/>
                </a:solidFill>
                <a:latin typeface="Times New Roman" pitchFamily="34" charset="0"/>
                <a:ea typeface="微软雅黑" pitchFamily="34" charset="-122"/>
                <a:cs typeface="Times New Roman" pitchFamily="34" charset="-120"/>
              </a:rPr>
              <a:t>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4_1#3a61a5352.bracket?vcp=1&amp;pid=5f76f57d0&amp;color=0,0,0&amp;vpa=2"/>
          <p:cNvSpPr/>
          <p:nvPr/>
        </p:nvSpPr>
        <p:spPr>
          <a:xfrm>
            <a:off x="7561548" y="494221"/>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mc:AlternateContent xmlns:mc="http://schemas.openxmlformats.org/markup-compatibility/2006">
        <mc:Choice xmlns:a14="http://schemas.microsoft.com/office/drawing/2010/main" Requires="a14">
          <p:sp>
            <p:nvSpPr>
              <p:cNvPr id="4" name="QC_4_BD.3_2#3a61a5352.choices?vcp=1&amp;pid=5f76f57d0&amp;color=0,0,0&amp;bbb=1"/>
              <p:cNvSpPr/>
              <p:nvPr/>
            </p:nvSpPr>
            <p:spPr>
              <a:xfrm>
                <a:off x="393192" y="1043558"/>
                <a:ext cx="11402568" cy="2116900"/>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A.静摩擦力的方向总是与物体的相对运动趋势的方向相反</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.静摩擦力的方向总是与物体的运动方向相反</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.静摩擦力的大小可以用公式</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m:t>
                    </m:r>
                    <m:r>
                      <m:rPr>
                        <m:sty m:val="p"/>
                      </m:rPr>
                      <a:rPr lang="en-US" altLang="zh-CN" sz="2400" b="0" i="0">
                        <a:solidFill>
                          <a:srgbClr val="000000"/>
                        </a:solidFill>
                        <a:latin typeface="Cambria Math" pitchFamily="34" charset="0"/>
                        <a:ea typeface="Cambria Math" pitchFamily="34" charset="-122"/>
                        <a:cs typeface="Cambria Math" pitchFamily="34" charset="-120"/>
                      </a:rPr>
                      <m:t>μ</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𝐹</m:t>
                        </m:r>
                      </m:e>
                      <m:sub>
                        <m:r>
                          <m:rPr>
                            <m:sty m:val="p"/>
                          </m:rPr>
                          <a:rPr lang="en-US" altLang="zh-CN" sz="2400" b="0" i="0">
                            <a:solidFill>
                              <a:srgbClr val="000000"/>
                            </a:solidFill>
                            <a:latin typeface="Cambria Math" pitchFamily="34" charset="0"/>
                            <a:ea typeface="Cambria Math" pitchFamily="34" charset="-122"/>
                            <a:cs typeface="Cambria Math" pitchFamily="34" charset="-120"/>
                          </a:rPr>
                          <m:t>N</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直接计算</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.物体间正压力越大，静摩擦力越大</a:t>
                </a:r>
                <a:endParaRPr lang="en-US" altLang="zh-CN" sz="2400" dirty="0"/>
              </a:p>
            </p:txBody>
          </p:sp>
        </mc:Choice>
        <mc:Fallback>
          <p:sp>
            <p:nvSpPr>
              <p:cNvPr id="4" name="QC_4_BD.3_2#3a61a5352.choices?vcp=1&amp;pid=5f76f57d0&amp;color=0,0,0&amp;bbb=1"/>
              <p:cNvSpPr>
                <a:spLocks noRot="1" noChangeAspect="1" noMove="1" noResize="1" noEditPoints="1" noAdjustHandles="1" noChangeArrowheads="1" noChangeShapeType="1" noTextEdit="1"/>
              </p:cNvSpPr>
              <p:nvPr/>
            </p:nvSpPr>
            <p:spPr>
              <a:xfrm>
                <a:off x="393192" y="1043558"/>
                <a:ext cx="11402568" cy="2116900"/>
              </a:xfrm>
              <a:prstGeom prst="rect">
                <a:avLst/>
              </a:prstGeom>
              <a:blipFill>
                <a:blip r:embed="rId3"/>
                <a:stretch>
                  <a:fillRect l="-1658" b="-8646"/>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QC_4_BD.5_1#f32583f21?vcp=1&amp;pid=5f76f57d0&amp;color=0,0,0&amp;bbb=1&amp;hb=1"/>
              <p:cNvSpPr/>
              <p:nvPr/>
            </p:nvSpPr>
            <p:spPr>
              <a:xfrm>
                <a:off x="393192" y="3161030"/>
                <a:ext cx="11402568" cy="1020699"/>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1" i="0" dirty="0">
                    <a:solidFill>
                      <a:srgbClr val="000000"/>
                    </a:solidFill>
                    <a:latin typeface="Times New Roman" pitchFamily="34" charset="0"/>
                    <a:ea typeface="微软雅黑" pitchFamily="34" charset="-122"/>
                    <a:cs typeface="Times New Roman" pitchFamily="34" charset="-120"/>
                  </a:rPr>
                  <a:t>考点1、3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（多选题）如图所示，两个相同的立方体</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，叠放在水平桌面上</a:t>
                </a:r>
                <a:r>
                  <a:rPr lang="en-US" altLang="zh-CN" sz="2400" b="0" i="0">
                    <a:solidFill>
                      <a:srgbClr val="000000"/>
                    </a:solidFill>
                    <a:latin typeface="Times New Roman" pitchFamily="34" charset="0"/>
                    <a:ea typeface="微软雅黑" pitchFamily="34" charset="-122"/>
                    <a:cs typeface="Times New Roman" pitchFamily="34" charset="-120"/>
                  </a:rPr>
                  <a:t>，现</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以水平力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拉</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，而两立方体均保持静止，</a:t>
                </a:r>
                <a:r>
                  <a:rPr lang="en-US" altLang="zh-CN" sz="2400" b="0" i="0">
                    <a:solidFill>
                      <a:srgbClr val="000000"/>
                    </a:solidFill>
                    <a:latin typeface="Times New Roman" pitchFamily="34" charset="0"/>
                    <a:ea typeface="微软雅黑" pitchFamily="34" charset="-122"/>
                    <a:cs typeface="Times New Roman" pitchFamily="34" charset="-120"/>
                  </a:rPr>
                  <a:t>则下列结论正确的是(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C_4_BD.5_1#f32583f21?vcp=1&amp;pid=5f76f57d0&amp;color=0,0,0&amp;bbb=1&amp;hb=1"/>
              <p:cNvSpPr>
                <a:spLocks noRot="1" noChangeAspect="1" noMove="1" noResize="1" noEditPoints="1" noAdjustHandles="1" noChangeArrowheads="1" noChangeShapeType="1" noTextEdit="1"/>
              </p:cNvSpPr>
              <p:nvPr/>
            </p:nvSpPr>
            <p:spPr>
              <a:xfrm>
                <a:off x="393192" y="3161030"/>
                <a:ext cx="11402568" cy="1020699"/>
              </a:xfrm>
              <a:prstGeom prst="rect">
                <a:avLst/>
              </a:prstGeom>
              <a:blipFill>
                <a:blip r:embed="rId4"/>
                <a:stretch>
                  <a:fillRect l="-1658" r="-749" b="-17964"/>
                </a:stretch>
              </a:blipFill>
              <a:ln/>
            </p:spPr>
            <p:txBody>
              <a:bodyPr/>
              <a:lstStyle/>
              <a:p>
                <a:r>
                  <a:rPr lang="zh-CN" altLang="en-US">
                    <a:noFill/>
                  </a:rPr>
                  <a:t> </a:t>
                </a:r>
              </a:p>
            </p:txBody>
          </p:sp>
        </mc:Fallback>
      </mc:AlternateContent>
      <p:sp>
        <p:nvSpPr>
          <p:cNvPr id="6" name="QC_4_AN.6_1#f32583f21.bracket?vcp=1&amp;pid=5f76f57d0&amp;color=0,0,0&amp;vpa=3&amp;bbb=1"/>
          <p:cNvSpPr/>
          <p:nvPr/>
        </p:nvSpPr>
        <p:spPr>
          <a:xfrm>
            <a:off x="8969152" y="3698430"/>
            <a:ext cx="882650"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ACD</a:t>
            </a:r>
            <a:endParaRPr lang="en-US" altLang="zh-CN" sz="2400" dirty="0"/>
          </a:p>
        </p:txBody>
      </p:sp>
      <p:pic>
        <p:nvPicPr>
          <p:cNvPr id="7" name="QC_4_BD.5_2#f32583f21?htil=1&amp;vcp=1&amp;pid=5f76f57d0&amp;color=0,0,0&amp;tib=255,255,255"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9371833" y="4227893"/>
            <a:ext cx="1563624" cy="1088136"/>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8" name="QC_4_BD.5_3#f32583f21.choices?htil=1&amp;vcp=1&amp;pid=5f76f57d0&amp;color=0,0,0&amp;bbb=1"/>
              <p:cNvSpPr/>
              <p:nvPr/>
            </p:nvSpPr>
            <p:spPr>
              <a:xfrm>
                <a:off x="393192" y="4182173"/>
                <a:ext cx="9738360" cy="2116900"/>
              </a:xfrm>
              <a:prstGeom prst="rect">
                <a:avLst/>
              </a:prstGeom>
              <a:noFill/>
              <a:ln/>
            </p:spPr>
            <p:txBody>
              <a:bodyPr wrap="none" lIns="0" tIns="0" rIns="0" bIns="0" rtlCol="0" anchor="t"/>
              <a:lstStyle/>
              <a:p>
                <a:pPr algn="l"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之间不存在摩擦力作用</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之间存在静摩擦力作用</a:t>
                </a:r>
                <a:endParaRPr lang="en-US" altLang="zh-CN" sz="2400" dirty="0"/>
              </a:p>
              <a:p>
                <a:pPr latinLnBrk="1">
                  <a:lnSpc>
                    <a:spcPts val="43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与桌面间存在静摩擦力作用</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.若撤去外力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之间、</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与桌面之间都不存在摩擦力</a:t>
                </a:r>
                <a:endParaRPr lang="en-US" altLang="zh-CN" sz="2400" dirty="0"/>
              </a:p>
            </p:txBody>
          </p:sp>
        </mc:Choice>
        <mc:Fallback>
          <p:sp>
            <p:nvSpPr>
              <p:cNvPr id="8" name="QC_4_BD.5_3#f32583f21.choices?htil=1&amp;vcp=1&amp;pid=5f76f57d0&amp;color=0,0,0&amp;bbb=1"/>
              <p:cNvSpPr>
                <a:spLocks noRot="1" noChangeAspect="1" noMove="1" noResize="1" noEditPoints="1" noAdjustHandles="1" noChangeArrowheads="1" noChangeShapeType="1" noTextEdit="1"/>
              </p:cNvSpPr>
              <p:nvPr/>
            </p:nvSpPr>
            <p:spPr>
              <a:xfrm>
                <a:off x="393192" y="4182173"/>
                <a:ext cx="9738360" cy="2116900"/>
              </a:xfrm>
              <a:prstGeom prst="rect">
                <a:avLst/>
              </a:prstGeom>
              <a:blipFill>
                <a:blip r:embed="rId6"/>
                <a:stretch>
                  <a:fillRect l="-1941" b="-8646"/>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amp;si=5">
    <p:spTree>
      <p:nvGrpSpPr>
        <p:cNvPr id="1" name=""/>
        <p:cNvGrpSpPr/>
        <p:nvPr/>
      </p:nvGrpSpPr>
      <p:grpSpPr>
        <a:xfrm>
          <a:off x="0" y="0"/>
          <a:ext cx="0" cy="0"/>
          <a:chOff x="0" y="0"/>
          <a:chExt cx="0" cy="0"/>
        </a:xfrm>
      </p:grpSpPr>
      <p:sp>
        <p:nvSpPr>
          <p:cNvPr id="2" name="QC_4_BD.7_1#e2cc089aa?vcp=1&amp;pid=5f76f57d0&amp;color=0,0,0&amp;bt=1&amp;bbb=1&amp;hb=1"/>
          <p:cNvSpPr/>
          <p:nvPr/>
        </p:nvSpPr>
        <p:spPr>
          <a:xfrm>
            <a:off x="393192" y="775240"/>
            <a:ext cx="11402568" cy="1417574"/>
          </a:xfrm>
          <a:prstGeom prst="rect">
            <a:avLst/>
          </a:prstGeom>
          <a:noFill/>
          <a:ln/>
        </p:spPr>
        <p:txBody>
          <a:bodyPr wrap="none" lIns="0" tIns="0" rIns="0" bIns="0" rtlCol="0" anchor="t"/>
          <a:lstStyle/>
          <a:p>
            <a:pPr algn="l" latinLnBrk="1">
              <a:lnSpc>
                <a:spcPts val="3900"/>
              </a:lnSpc>
            </a:pPr>
            <a:r>
              <a:rPr lang="en-US" altLang="zh-CN" sz="2400" b="0" i="0" dirty="0">
                <a:solidFill>
                  <a:srgbClr val="000000"/>
                </a:solidFill>
                <a:latin typeface="Times New Roman" pitchFamily="34" charset="0"/>
                <a:ea typeface="微软雅黑" pitchFamily="34" charset="-122"/>
                <a:cs typeface="Times New Roman" pitchFamily="34" charset="-120"/>
              </a:rPr>
              <a:t>4.</a:t>
            </a:r>
            <a:r>
              <a:rPr lang="en-US" altLang="zh-CN" sz="2400" b="1" i="0" dirty="0">
                <a:solidFill>
                  <a:srgbClr val="000000"/>
                </a:solidFill>
                <a:latin typeface="Times New Roman" pitchFamily="34" charset="0"/>
                <a:ea typeface="微软雅黑" pitchFamily="34" charset="-122"/>
                <a:cs typeface="Times New Roman" pitchFamily="34" charset="-120"/>
              </a:rPr>
              <a:t>考点1、2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如图所示，在桌面上放置一张纸和一瓶矿泉水，</a:t>
            </a:r>
            <a:r>
              <a:rPr lang="en-US" altLang="zh-CN" sz="2400" b="0" i="0">
                <a:solidFill>
                  <a:srgbClr val="000000"/>
                </a:solidFill>
                <a:latin typeface="Times New Roman" pitchFamily="34" charset="0"/>
                <a:ea typeface="微软雅黑" pitchFamily="34" charset="-122"/>
                <a:cs typeface="Times New Roman" pitchFamily="34" charset="-120"/>
              </a:rPr>
              <a:t>矿泉水瓶静止在纸面上，</a:t>
            </a:r>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如果突然迅速向右拉动纸的一边</a:t>
            </a:r>
            <a:r>
              <a:rPr lang="en-US" altLang="zh-CN" sz="2400" b="0" i="0" dirty="0">
                <a:solidFill>
                  <a:srgbClr val="000000"/>
                </a:solidFill>
                <a:latin typeface="Times New Roman" pitchFamily="34" charset="0"/>
                <a:ea typeface="微软雅黑" pitchFamily="34" charset="-122"/>
                <a:cs typeface="Times New Roman" pitchFamily="34" charset="-120"/>
              </a:rPr>
              <a:t>，将纸片拉出，</a:t>
            </a:r>
            <a:r>
              <a:rPr lang="en-US" altLang="zh-CN" sz="2400" b="0" i="0">
                <a:solidFill>
                  <a:srgbClr val="000000"/>
                </a:solidFill>
                <a:latin typeface="Times New Roman" pitchFamily="34" charset="0"/>
                <a:ea typeface="微软雅黑" pitchFamily="34" charset="-122"/>
                <a:cs typeface="Times New Roman" pitchFamily="34" charset="-120"/>
              </a:rPr>
              <a:t>而矿泉水瓶相对桌面的位置几乎没变.</a:t>
            </a:r>
          </a:p>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下列说法正确的是(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p:sp>
        <p:nvSpPr>
          <p:cNvPr id="3" name="QC_4_AN.8_1#e2cc089aa.bracket?vcp=1&amp;pid=5f76f57d0&amp;color=0,0,0&amp;vpa=4"/>
          <p:cNvSpPr/>
          <p:nvPr/>
        </p:nvSpPr>
        <p:spPr>
          <a:xfrm>
            <a:off x="3076861" y="1756123"/>
            <a:ext cx="423863" cy="430975"/>
          </a:xfrm>
          <a:prstGeom prst="rect">
            <a:avLst/>
          </a:prstGeom>
          <a:noFill/>
          <a:ln/>
        </p:spPr>
        <p:txBody>
          <a:bodyPr wrap="none" lIns="0" tIns="0" rIns="0" bIns="0" rtlCol="0" anchor="t"/>
          <a:lstStyle/>
          <a:p>
            <a:pPr algn="ctr" latinLnBrk="1">
              <a:lnSpc>
                <a:spcPts val="37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4" name="QC_4_BD.7_2#e2cc089aa?htil=2&amp;vcp=1&amp;pid=5f76f57d0&amp;color=0,0,0&amp;tib=255,255,255&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8076002" y="2211736"/>
            <a:ext cx="2176055" cy="1901762"/>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5" name="QC_4_BD.7_3#e2cc089aa.choices?htil=2&amp;vcp=1&amp;pid=5f76f57d0&amp;color=0,0,0&amp;bbb=1&amp;hs=1"/>
          <p:cNvSpPr/>
          <p:nvPr/>
        </p:nvSpPr>
        <p:spPr>
          <a:xfrm>
            <a:off x="393192" y="2224436"/>
            <a:ext cx="9134856" cy="1916875"/>
          </a:xfrm>
          <a:prstGeom prst="rect">
            <a:avLst/>
          </a:prstGeom>
          <a:noFill/>
          <a:ln/>
        </p:spPr>
        <p:txBody>
          <a:bodyPr wrap="none" lIns="0" tIns="0" rIns="0" bIns="0" rtlCol="0" anchor="t"/>
          <a:lstStyle/>
          <a:p>
            <a:pPr algn="l" latinLnBrk="1">
              <a:lnSpc>
                <a:spcPts val="3900"/>
              </a:lnSpc>
            </a:pPr>
            <a:r>
              <a:rPr lang="en-US" altLang="zh-CN" sz="2400" b="0" i="0" dirty="0">
                <a:solidFill>
                  <a:srgbClr val="000000"/>
                </a:solidFill>
                <a:latin typeface="Times New Roman" pitchFamily="34" charset="0"/>
                <a:ea typeface="微软雅黑" pitchFamily="34" charset="-122"/>
                <a:cs typeface="Times New Roman" pitchFamily="34" charset="-120"/>
              </a:rPr>
              <a:t>A.纸片对矿泉水瓶摩擦力的方向向左</a:t>
            </a:r>
            <a:endParaRPr lang="en-US" altLang="zh-CN" sz="2400" dirty="0"/>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.矿泉水瓶相对于纸片向左运动</a:t>
            </a:r>
            <a:endParaRPr lang="en-US" altLang="zh-CN" sz="2400" dirty="0"/>
          </a:p>
          <a:p>
            <a:pPr latinLnBrk="1">
              <a:lnSpc>
                <a:spcPts val="39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.拉动纸片越快，矿泉水瓶受到的摩擦力越大</a:t>
            </a:r>
            <a:endParaRPr lang="en-US" altLang="zh-CN" sz="2400" dirty="0"/>
          </a:p>
          <a:p>
            <a:pPr latinLnBrk="1">
              <a:lnSpc>
                <a:spcPts val="37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.拉动纸片越快，矿泉水瓶受到的摩擦力越小</a:t>
            </a:r>
            <a:endParaRPr lang="en-US" altLang="zh-CN" sz="2400" dirty="0"/>
          </a:p>
        </p:txBody>
      </p:sp>
      <mc:AlternateContent xmlns:mc="http://schemas.openxmlformats.org/markup-compatibility/2006">
        <mc:Choice xmlns:a14="http://schemas.microsoft.com/office/drawing/2010/main" Requires="a14">
          <p:sp>
            <p:nvSpPr>
              <p:cNvPr id="6" name="QC_4_AS.9_1#e2cc089aa?vcp=1&amp;pid=5f76f57d0&amp;color=0,0,0&amp;bbb=1&amp;hb=1&amp;hs=1"/>
              <p:cNvSpPr/>
              <p:nvPr/>
            </p:nvSpPr>
            <p:spPr>
              <a:xfrm>
                <a:off x="393192" y="4155599"/>
                <a:ext cx="11402568" cy="1916875"/>
              </a:xfrm>
              <a:prstGeom prst="rect">
                <a:avLst/>
              </a:prstGeom>
              <a:noFill/>
              <a:ln/>
            </p:spPr>
            <p:txBody>
              <a:bodyPr wrap="none" lIns="0" tIns="0" rIns="0" bIns="0" rtlCol="0" anchor="t"/>
              <a:lstStyle/>
              <a:p>
                <a:pPr algn="l" latinLnBrk="1">
                  <a:lnSpc>
                    <a:spcPts val="39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纸片相对于矿泉水瓶向右运动，故矿泉水瓶相对于纸片向左运动</a:t>
                </a:r>
                <a:r>
                  <a:rPr lang="en-US" altLang="zh-CN" sz="2400" b="1" i="0">
                    <a:solidFill>
                      <a:srgbClr val="FF0000"/>
                    </a:solidFill>
                    <a:latin typeface="Times New Roman" pitchFamily="34" charset="0"/>
                    <a:ea typeface="微软雅黑" pitchFamily="34" charset="-122"/>
                    <a:cs typeface="Times New Roman" pitchFamily="34" charset="-120"/>
                  </a:rPr>
                  <a:t>，则纸片对矿</a:t>
                </a:r>
              </a:p>
              <a:p>
                <a:pPr latinLnBrk="1">
                  <a:lnSpc>
                    <a:spcPts val="3900"/>
                  </a:lnSpc>
                </a:pPr>
                <a:r>
                  <a:rPr lang="en-US" altLang="zh-CN" sz="2400" b="1" i="0">
                    <a:solidFill>
                      <a:srgbClr val="FF0000"/>
                    </a:solidFill>
                    <a:latin typeface="Times New Roman" pitchFamily="34" charset="0"/>
                    <a:ea typeface="微软雅黑" pitchFamily="34" charset="-122"/>
                    <a:cs typeface="Times New Roman" pitchFamily="34" charset="-120"/>
                  </a:rPr>
                  <a:t>泉水瓶的摩擦力方向向右</a:t>
                </a:r>
                <a:r>
                  <a:rPr lang="en-US" altLang="zh-CN" sz="2400" b="1" i="0" dirty="0">
                    <a:solidFill>
                      <a:srgbClr val="FF0000"/>
                    </a:solidFill>
                    <a:latin typeface="Times New Roman" pitchFamily="34" charset="0"/>
                    <a:ea typeface="微软雅黑" pitchFamily="34" charset="-122"/>
                    <a:cs typeface="Times New Roman" pitchFamily="34" charset="-120"/>
                  </a:rPr>
                  <a:t>，故A错误，B正确；将纸片拉出的过程中</a:t>
                </a:r>
                <a:r>
                  <a:rPr lang="en-US" altLang="zh-CN" sz="2400" b="1" i="0">
                    <a:solidFill>
                      <a:srgbClr val="FF0000"/>
                    </a:solidFill>
                    <a:latin typeface="Times New Roman" pitchFamily="34" charset="0"/>
                    <a:ea typeface="微软雅黑" pitchFamily="34" charset="-122"/>
                    <a:cs typeface="Times New Roman" pitchFamily="34" charset="-120"/>
                  </a:rPr>
                  <a:t>，纸片与矿泉水瓶</a:t>
                </a:r>
              </a:p>
              <a:p>
                <a:pPr latinLnBrk="1">
                  <a:lnSpc>
                    <a:spcPts val="3900"/>
                  </a:lnSpc>
                </a:pPr>
                <a:r>
                  <a:rPr lang="en-US" altLang="zh-CN" sz="2400" b="1" i="0">
                    <a:solidFill>
                      <a:srgbClr val="FF0000"/>
                    </a:solidFill>
                    <a:latin typeface="Times New Roman" pitchFamily="34" charset="0"/>
                    <a:ea typeface="微软雅黑" pitchFamily="34" charset="-122"/>
                    <a:cs typeface="Times New Roman" pitchFamily="34" charset="-120"/>
                  </a:rPr>
                  <a:t>间的摩擦力是滑动摩擦力</a:t>
                </a:r>
                <a:r>
                  <a:rPr lang="en-US" altLang="zh-CN" sz="2400" b="1" i="0" dirty="0">
                    <a:solidFill>
                      <a:srgbClr val="FF0000"/>
                    </a:solidFill>
                    <a:latin typeface="Times New Roman" pitchFamily="34" charset="0"/>
                    <a:ea typeface="微软雅黑" pitchFamily="34" charset="-122"/>
                    <a:cs typeface="Times New Roman" pitchFamily="34" charset="-120"/>
                  </a:rPr>
                  <a:t>，根据滑动摩擦力的公式</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𝒇</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𝛍</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知</a:t>
                </a:r>
                <a:r>
                  <a:rPr lang="en-US" altLang="zh-CN" sz="2400" b="1" i="0">
                    <a:solidFill>
                      <a:srgbClr val="FF0000"/>
                    </a:solidFill>
                    <a:latin typeface="Times New Roman" pitchFamily="34" charset="0"/>
                    <a:ea typeface="微软雅黑" pitchFamily="34" charset="-122"/>
                    <a:cs typeface="Times New Roman" pitchFamily="34" charset="-120"/>
                  </a:rPr>
                  <a:t>，滑动摩擦力的大小只</a:t>
                </a:r>
              </a:p>
              <a:p>
                <a:pPr latinLnBrk="1">
                  <a:lnSpc>
                    <a:spcPts val="3700"/>
                  </a:lnSpc>
                </a:pPr>
                <a:r>
                  <a:rPr lang="en-US" altLang="zh-CN" sz="2400" b="1" i="0">
                    <a:solidFill>
                      <a:srgbClr val="FF0000"/>
                    </a:solidFill>
                    <a:latin typeface="Times New Roman" pitchFamily="34" charset="0"/>
                    <a:ea typeface="微软雅黑" pitchFamily="34" charset="-122"/>
                    <a:cs typeface="Times New Roman" pitchFamily="34" charset="-120"/>
                  </a:rPr>
                  <a:t>与动摩擦因数</a:t>
                </a:r>
                <a:r>
                  <a:rPr lang="en-US" altLang="zh-CN" sz="2400" b="1" i="0" dirty="0">
                    <a:solidFill>
                      <a:srgbClr val="FF0000"/>
                    </a:solidFill>
                    <a:latin typeface="Times New Roman" pitchFamily="34" charset="0"/>
                    <a:ea typeface="微软雅黑" pitchFamily="34" charset="-122"/>
                    <a:cs typeface="Times New Roman" pitchFamily="34" charset="-120"/>
                  </a:rPr>
                  <a:t>、正压力有关，与纸片运动的快慢无关，故C、D错误.</a:t>
                </a:r>
                <a:endParaRPr lang="en-US" altLang="zh-CN" sz="2400" dirty="0"/>
              </a:p>
            </p:txBody>
          </p:sp>
        </mc:Choice>
        <mc:Fallback>
          <p:sp>
            <p:nvSpPr>
              <p:cNvPr id="6" name="QC_4_AS.9_1#e2cc089aa?vcp=1&amp;pid=5f76f57d0&amp;color=0,0,0&amp;bbb=1&amp;hb=1&amp;hs=1"/>
              <p:cNvSpPr>
                <a:spLocks noRot="1" noChangeAspect="1" noMove="1" noResize="1" noEditPoints="1" noAdjustHandles="1" noChangeArrowheads="1" noChangeShapeType="1" noTextEdit="1"/>
              </p:cNvSpPr>
              <p:nvPr/>
            </p:nvSpPr>
            <p:spPr>
              <a:xfrm>
                <a:off x="393192" y="4155599"/>
                <a:ext cx="11402568" cy="1916875"/>
              </a:xfrm>
              <a:prstGeom prst="rect">
                <a:avLst/>
              </a:prstGeom>
              <a:blipFill>
                <a:blip r:embed="rId4"/>
                <a:stretch>
                  <a:fillRect l="-1658" t="-955" r="-1604" b="-9554"/>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amp;si=6">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0_1#92747152b?vcp=1&amp;pid=5f76f57d0&amp;color=0,0,0&amp;bt=1&amp;bbb=1&amp;hb=1"/>
              <p:cNvSpPr/>
              <p:nvPr/>
            </p:nvSpPr>
            <p:spPr>
              <a:xfrm>
                <a:off x="393192" y="581247"/>
                <a:ext cx="11402568"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5.</a:t>
                </a:r>
                <a:r>
                  <a:rPr lang="en-US" altLang="zh-CN" sz="2400" b="1" i="0" dirty="0">
                    <a:solidFill>
                      <a:srgbClr val="000000"/>
                    </a:solidFill>
                    <a:latin typeface="Times New Roman" pitchFamily="34" charset="0"/>
                    <a:ea typeface="微软雅黑" pitchFamily="34" charset="-122"/>
                    <a:cs typeface="Times New Roman" pitchFamily="34" charset="-120"/>
                  </a:rPr>
                  <a:t>考点2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（2026·山西太原五中检测）</a:t>
                </a:r>
                <a:r>
                  <a:rPr lang="en-US" altLang="zh-CN" sz="2400" b="0" i="0" dirty="0">
                    <a:solidFill>
                      <a:srgbClr val="000000"/>
                    </a:solidFill>
                    <a:latin typeface="Times New Roman" pitchFamily="34" charset="0"/>
                    <a:ea typeface="微软雅黑" pitchFamily="34" charset="-122"/>
                    <a:cs typeface="Times New Roman" pitchFamily="34" charset="-120"/>
                  </a:rPr>
                  <a:t>如图所示，质量为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kg</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的箱子从一斜面上滑</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下冲到水平地面上后</a:t>
                </a:r>
                <a:r>
                  <a:rPr lang="en-US" altLang="zh-CN" sz="2400" b="0" i="0" dirty="0">
                    <a:solidFill>
                      <a:srgbClr val="000000"/>
                    </a:solidFill>
                    <a:latin typeface="Times New Roman" pitchFamily="34" charset="0"/>
                    <a:ea typeface="微软雅黑" pitchFamily="34" charset="-122"/>
                    <a:cs typeface="Times New Roman" pitchFamily="34" charset="-120"/>
                  </a:rPr>
                  <a:t>，对箱子施加一大小为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的水平推力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，方向与箱子运动方向</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相反</a:t>
                </a:r>
                <a:r>
                  <a:rPr lang="en-US" altLang="zh-CN" sz="2400" b="0" i="0" dirty="0">
                    <a:solidFill>
                      <a:srgbClr val="000000"/>
                    </a:solidFill>
                    <a:latin typeface="Times New Roman" pitchFamily="34" charset="0"/>
                    <a:ea typeface="微软雅黑" pitchFamily="34" charset="-122"/>
                    <a:cs typeface="Times New Roman" pitchFamily="34" charset="-120"/>
                  </a:rPr>
                  <a:t>.已知箱子与地面间的动摩擦因数为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0.4</m:t>
                    </m:r>
                  </m:oMath>
                </a14:m>
                <a:r>
                  <a:rPr lang="en-US" altLang="zh-CN" sz="2400" b="0" i="0" dirty="0">
                    <a:solidFill>
                      <a:srgbClr val="000000"/>
                    </a:solidFill>
                    <a:latin typeface="Times New Roman" pitchFamily="34" charset="0"/>
                    <a:ea typeface="微软雅黑" pitchFamily="34" charset="-122"/>
                    <a:cs typeface="Times New Roman" pitchFamily="34" charset="-120"/>
                  </a:rPr>
                  <a:t>,取</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𝑔</m:t>
                    </m:r>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m</m:t>
                    </m:r>
                    <m:r>
                      <a:rPr lang="en-US" altLang="zh-CN" sz="2400" b="0" i="0">
                        <a:solidFill>
                          <a:srgbClr val="000000"/>
                        </a:solidFill>
                        <a:latin typeface="Cambria Math" pitchFamily="34" charset="0"/>
                        <a:ea typeface="Cambria Math" pitchFamily="34" charset="-122"/>
                        <a:cs typeface="Cambria Math" pitchFamily="34" charset="-120"/>
                      </a:rPr>
                      <m:t>/</m:t>
                    </m:r>
                    <m:sSup>
                      <m:sSup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pPr>
                      <m:e>
                        <m:r>
                          <m:rPr>
                            <m:sty m:val="p"/>
                          </m:rPr>
                          <a:rPr lang="en-US" altLang="zh-CN" sz="2400" b="0" i="0">
                            <a:solidFill>
                              <a:srgbClr val="000000"/>
                            </a:solidFill>
                            <a:latin typeface="Cambria Math" pitchFamily="34" charset="0"/>
                            <a:ea typeface="Cambria Math" pitchFamily="34" charset="-122"/>
                            <a:cs typeface="Cambria Math" pitchFamily="34" charset="-120"/>
                          </a:rPr>
                          <m:t>s</m:t>
                        </m:r>
                      </m:e>
                      <m:sup>
                        <m:r>
                          <a:rPr lang="en-US" altLang="zh-CN" sz="2400" b="0" i="0">
                            <a:solidFill>
                              <a:srgbClr val="000000"/>
                            </a:solidFill>
                            <a:latin typeface="Cambria Math" pitchFamily="34" charset="0"/>
                            <a:ea typeface="Cambria Math" pitchFamily="34" charset="-122"/>
                            <a:cs typeface="Cambria Math" pitchFamily="34" charset="-120"/>
                          </a:rPr>
                          <m:t>2</m:t>
                        </m:r>
                      </m:sup>
                    </m:sSup>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,则箱子在水平面上运动的</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过程中所受摩擦力(</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0_1#92747152b?vcp=1&amp;pid=5f76f57d0&amp;color=0,0,0&amp;bt=1&amp;bbb=1&amp;hb=1"/>
              <p:cNvSpPr>
                <a:spLocks noRot="1" noChangeAspect="1" noMove="1" noResize="1" noEditPoints="1" noAdjustHandles="1" noChangeArrowheads="1" noChangeShapeType="1" noTextEdit="1"/>
              </p:cNvSpPr>
              <p:nvPr/>
            </p:nvSpPr>
            <p:spPr>
              <a:xfrm>
                <a:off x="393192" y="581247"/>
                <a:ext cx="11402568" cy="2150999"/>
              </a:xfrm>
              <a:prstGeom prst="rect">
                <a:avLst/>
              </a:prstGeom>
              <a:blipFill>
                <a:blip r:embed="rId3"/>
                <a:stretch>
                  <a:fillRect l="-1658" r="-1070" b="-8782"/>
                </a:stretch>
              </a:blipFill>
              <a:ln/>
            </p:spPr>
            <p:txBody>
              <a:bodyPr/>
              <a:lstStyle/>
              <a:p>
                <a:r>
                  <a:rPr lang="zh-CN" altLang="en-US">
                    <a:noFill/>
                  </a:rPr>
                  <a:t> </a:t>
                </a:r>
              </a:p>
            </p:txBody>
          </p:sp>
        </mc:Fallback>
      </mc:AlternateContent>
      <p:sp>
        <p:nvSpPr>
          <p:cNvPr id="3" name="QC_4_AN.11_1#92747152b.bracket?vcp=1&amp;pid=5f76f57d0&amp;color=0,0,0&amp;vpa=5"/>
          <p:cNvSpPr/>
          <p:nvPr/>
        </p:nvSpPr>
        <p:spPr>
          <a:xfrm>
            <a:off x="3076861" y="2246217"/>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4" name="QC_4_BD.10_2#92747152b?vcp=1&amp;pid=5f76f57d0&amp;color=0,0,0&amp;tib=255,255,255"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5193792" y="2847942"/>
            <a:ext cx="1810512" cy="64922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0_3#92747152b.choices?vcp=1&amp;pid=5f76f57d0&amp;color=0,0,0&amp;bbb=1"/>
              <p:cNvSpPr/>
              <p:nvPr/>
            </p:nvSpPr>
            <p:spPr>
              <a:xfrm>
                <a:off x="393192" y="3635342"/>
                <a:ext cx="11402568" cy="1033399"/>
              </a:xfrm>
              <a:prstGeom prst="rect">
                <a:avLst/>
              </a:prstGeom>
              <a:noFill/>
              <a:ln/>
            </p:spPr>
            <p:txBody>
              <a:bodyPr wrap="none" lIns="0" tIns="0" rIns="0" bIns="0" rtlCol="0" anchor="t"/>
              <a:lstStyle/>
              <a:p>
                <a:pPr latinLnBrk="1">
                  <a:lnSpc>
                    <a:spcPts val="4400"/>
                  </a:lnSpc>
                  <a:tabLst>
                    <a:tab pos="5807954" algn="l"/>
                  </a:tabLst>
                </a:pPr>
                <a:r>
                  <a:rPr lang="en-US" altLang="zh-CN" sz="2400" b="0" i="0" dirty="0">
                    <a:solidFill>
                      <a:srgbClr val="000000"/>
                    </a:solidFill>
                    <a:latin typeface="Times New Roman" pitchFamily="34" charset="0"/>
                    <a:ea typeface="微软雅黑" pitchFamily="34" charset="-122"/>
                    <a:cs typeface="Times New Roman" pitchFamily="34" charset="-120"/>
                  </a:rPr>
                  <a:t>A.大小为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，方向与推力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a:solidFill>
                      <a:srgbClr val="000000"/>
                    </a:solidFill>
                    <a:latin typeface="Times New Roman" pitchFamily="34" charset="0"/>
                    <a:ea typeface="微软雅黑" pitchFamily="34" charset="-122"/>
                    <a:cs typeface="Times New Roman" pitchFamily="34" charset="-120"/>
                  </a:rPr>
                  <a:t>方向相反</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，方向与推力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方向相同</a:t>
                </a:r>
                <a:endParaRPr lang="en-US" altLang="zh-CN" sz="2400" dirty="0"/>
              </a:p>
              <a:p>
                <a:pPr latinLnBrk="1">
                  <a:lnSpc>
                    <a:spcPts val="4200"/>
                  </a:lnSpc>
                  <a:tabLst>
                    <a:tab pos="5807954" algn="l"/>
                  </a:tabLst>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，方向与推力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a:solidFill>
                      <a:srgbClr val="000000"/>
                    </a:solidFill>
                    <a:latin typeface="Times New Roman" pitchFamily="34" charset="0"/>
                    <a:ea typeface="微软雅黑" pitchFamily="34" charset="-122"/>
                    <a:cs typeface="Times New Roman" pitchFamily="34" charset="-120"/>
                  </a:rPr>
                  <a:t>方向相同</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，方向与推力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方向相反</a:t>
                </a:r>
                <a:endParaRPr lang="en-US" altLang="zh-CN" sz="2400" dirty="0"/>
              </a:p>
            </p:txBody>
          </p:sp>
        </mc:Choice>
        <mc:Fallback>
          <p:sp>
            <p:nvSpPr>
              <p:cNvPr id="5" name="QC_4_BD.10_3#92747152b.choices?vcp=1&amp;pid=5f76f57d0&amp;color=0,0,0&amp;bbb=1"/>
              <p:cNvSpPr>
                <a:spLocks noRot="1" noChangeAspect="1" noMove="1" noResize="1" noEditPoints="1" noAdjustHandles="1" noChangeArrowheads="1" noChangeShapeType="1" noTextEdit="1"/>
              </p:cNvSpPr>
              <p:nvPr/>
            </p:nvSpPr>
            <p:spPr>
              <a:xfrm>
                <a:off x="393192" y="3635342"/>
                <a:ext cx="11402568" cy="1033399"/>
              </a:xfrm>
              <a:prstGeom prst="rect">
                <a:avLst/>
              </a:prstGeom>
              <a:blipFill>
                <a:blip r:embed="rId5"/>
                <a:stretch>
                  <a:fillRect l="-1658" b="-17647"/>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12_1#92747152b?vcp=1&amp;pid=5f76f57d0&amp;color=0,0,0&amp;bbb=1&amp;hb=1"/>
              <p:cNvSpPr/>
              <p:nvPr/>
            </p:nvSpPr>
            <p:spPr>
              <a:xfrm>
                <a:off x="393192" y="4675472"/>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箱子受到地面给的摩擦力是滑动摩擦力</a:t>
                </a:r>
                <a:r>
                  <a:rPr lang="en-US" altLang="zh-CN" sz="2400" b="1" i="0">
                    <a:solidFill>
                      <a:srgbClr val="FF0000"/>
                    </a:solidFill>
                    <a:latin typeface="Times New Roman" pitchFamily="34" charset="0"/>
                    <a:ea typeface="微软雅黑" pitchFamily="34" charset="-122"/>
                    <a:cs typeface="Times New Roman" pitchFamily="34" charset="-120"/>
                  </a:rPr>
                  <a:t>，所以</a:t>
                </a:r>
              </a:p>
              <a:p>
                <a:pPr latinLnBrk="1">
                  <a:lnSpc>
                    <a:spcPts val="44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𝐟</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𝛍</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𝟎</m:t>
                    </m:r>
                    <m:r>
                      <a:rPr lang="en-US" altLang="zh-CN" sz="2400" b="1" i="1">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𝟓𝟎</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𝟏𝟎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𝟐𝟎𝟎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；方向与相对运动方向相反，故水平向左</a:t>
                </a:r>
                <a:r>
                  <a:rPr lang="en-US" altLang="zh-CN" sz="2400" b="1" i="0">
                    <a:solidFill>
                      <a:srgbClr val="FF0000"/>
                    </a:solidFill>
                    <a:latin typeface="Times New Roman" pitchFamily="34" charset="0"/>
                    <a:ea typeface="微软雅黑" pitchFamily="34" charset="-122"/>
                    <a:cs typeface="Times New Roman" pitchFamily="34" charset="-120"/>
                  </a:rPr>
                  <a:t>，而</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推力方向水平向左</a:t>
                </a:r>
                <a:r>
                  <a:rPr lang="en-US" altLang="zh-CN" sz="2400" b="1" i="0" dirty="0">
                    <a:solidFill>
                      <a:srgbClr val="FF0000"/>
                    </a:solidFill>
                    <a:latin typeface="Times New Roman" pitchFamily="34" charset="0"/>
                    <a:ea typeface="微软雅黑" pitchFamily="34" charset="-122"/>
                    <a:cs typeface="Times New Roman" pitchFamily="34" charset="-120"/>
                  </a:rPr>
                  <a:t>，故摩擦力的方向与推力方向相同，故B正确，A、C、D错误.</a:t>
                </a:r>
                <a:endParaRPr lang="en-US" altLang="zh-CN" sz="2400" dirty="0"/>
              </a:p>
            </p:txBody>
          </p:sp>
        </mc:Choice>
        <mc:Fallback>
          <p:sp>
            <p:nvSpPr>
              <p:cNvPr id="6" name="QC_4_AS.12_1#92747152b?vcp=1&amp;pid=5f76f57d0&amp;color=0,0,0&amp;bbb=1&amp;hb=1"/>
              <p:cNvSpPr>
                <a:spLocks noRot="1" noChangeAspect="1" noMove="1" noResize="1" noEditPoints="1" noAdjustHandles="1" noChangeArrowheads="1" noChangeShapeType="1" noTextEdit="1"/>
              </p:cNvSpPr>
              <p:nvPr/>
            </p:nvSpPr>
            <p:spPr>
              <a:xfrm>
                <a:off x="393192" y="4675472"/>
                <a:ext cx="11402568" cy="1596200"/>
              </a:xfrm>
              <a:prstGeom prst="rect">
                <a:avLst/>
              </a:prstGeom>
              <a:blipFill>
                <a:blip r:embed="rId6"/>
                <a:stretch>
                  <a:fillRect l="-1658" b="-1106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amp;si=7">
    <p:spTree>
      <p:nvGrpSpPr>
        <p:cNvPr id="1" name=""/>
        <p:cNvGrpSpPr/>
        <p:nvPr/>
      </p:nvGrpSpPr>
      <p:grpSpPr>
        <a:xfrm>
          <a:off x="0" y="0"/>
          <a:ext cx="0" cy="0"/>
          <a:chOff x="0" y="0"/>
          <a:chExt cx="0" cy="0"/>
        </a:xfrm>
      </p:grpSpPr>
      <p:sp>
        <p:nvSpPr>
          <p:cNvPr id="2" name="C_3_BD#a6a02b6c9?vcp=1&amp;pid=a3c6183ca&amp;color=0,0,0&amp;bt=1&amp;bbb=1"/>
          <p:cNvSpPr/>
          <p:nvPr/>
        </p:nvSpPr>
        <p:spPr>
          <a:xfrm>
            <a:off x="393192" y="502920"/>
            <a:ext cx="11402568" cy="949960"/>
          </a:xfrm>
          <a:prstGeom prst="rect">
            <a:avLst/>
          </a:prstGeom>
          <a:noFill/>
          <a:ln/>
        </p:spPr>
        <p:txBody>
          <a:bodyPr wrap="none" lIns="0" tIns="0" rIns="0" bIns="0" rtlCol="0" anchor="t"/>
          <a:lstStyle/>
          <a:p>
            <a:pPr algn="l" latinLnBrk="1">
              <a:lnSpc>
                <a:spcPts val="4600"/>
              </a:lnSpc>
            </a:pPr>
            <a:r>
              <a:rPr lang="en-US" altLang="zh-CN" sz="2600" b="1" i="0" dirty="0">
                <a:solidFill>
                  <a:srgbClr val="000000"/>
                </a:solidFill>
                <a:latin typeface="Times New Roman" pitchFamily="34" charset="0"/>
                <a:ea typeface="SimHei" pitchFamily="34" charset="-122"/>
                <a:cs typeface="Times New Roman" pitchFamily="34" charset="-120"/>
              </a:rPr>
              <a:t>能力考点提升练</a:t>
            </a:r>
            <a:endParaRPr lang="en-US" altLang="zh-CN" sz="2600" dirty="0"/>
          </a:p>
        </p:txBody>
      </p:sp>
      <p:sp>
        <p:nvSpPr>
          <p:cNvPr id="3" name="P_4_BD#f1da4cdc3?vcp=1&amp;pid=a6a02b6c9&amp;color=0,0,0&amp;bbb=1"/>
          <p:cNvSpPr/>
          <p:nvPr/>
        </p:nvSpPr>
        <p:spPr>
          <a:xfrm>
            <a:off x="393192" y="1093884"/>
            <a:ext cx="11402568" cy="488125"/>
          </a:xfrm>
          <a:prstGeom prst="rect">
            <a:avLst/>
          </a:prstGeom>
          <a:noFill/>
          <a:ln/>
        </p:spPr>
        <p:txBody>
          <a:bodyPr wrap="none" lIns="0" tIns="0" rIns="0" bIns="0" rtlCol="0" anchor="t"/>
          <a:lstStyle/>
          <a:p>
            <a:pPr algn="ctr" latinLnBrk="1">
              <a:lnSpc>
                <a:spcPts val="4300"/>
              </a:lnSpc>
            </a:pPr>
            <a:r>
              <a:rPr lang="en-US" altLang="zh-CN" sz="2400" b="0" i="0" dirty="0">
                <a:solidFill>
                  <a:srgbClr val="000000"/>
                </a:solidFill>
                <a:latin typeface="Times New Roman" pitchFamily="34" charset="0"/>
                <a:ea typeface="微软雅黑" pitchFamily="34" charset="-122"/>
                <a:cs typeface="Times New Roman" pitchFamily="34" charset="-120"/>
              </a:rPr>
              <a:t>限时30分钟</a:t>
            </a:r>
            <a:endParaRPr lang="en-US" altLang="zh-CN" sz="2400" dirty="0"/>
          </a:p>
        </p:txBody>
      </p:sp>
      <p:pic>
        <p:nvPicPr>
          <p:cNvPr id="4" name="QC_4_BD.13_1#079ae567d?htil=3&amp;vcp=1&amp;pid=a6a02b6c9&amp;color=0,0,0&amp;tib=255,255,255"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568713" y="1645538"/>
            <a:ext cx="1207008" cy="219456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3_2#079ae567d?htil=3&amp;vcp=1&amp;pid=a6a02b6c9&amp;color=0,0,0&amp;bbb=1&amp;hb=1"/>
              <p:cNvSpPr/>
              <p:nvPr/>
            </p:nvSpPr>
            <p:spPr>
              <a:xfrm>
                <a:off x="393192" y="1590675"/>
                <a:ext cx="10094976" cy="10333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1.</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如图所示，用大小为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的握力握住一个重为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的瓶子</a:t>
                </a:r>
                <a:r>
                  <a:rPr lang="en-US" altLang="zh-CN" sz="2400" b="0" i="0">
                    <a:solidFill>
                      <a:srgbClr val="000000"/>
                    </a:solidFill>
                    <a:latin typeface="Times New Roman" pitchFamily="34" charset="0"/>
                    <a:ea typeface="微软雅黑" pitchFamily="34" charset="-122"/>
                    <a:cs typeface="Times New Roman" pitchFamily="34" charset="-120"/>
                  </a:rPr>
                  <a:t>.瓶子竖</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直</a:t>
                </a:r>
                <a:r>
                  <a:rPr lang="en-US" altLang="zh-CN" sz="2400" b="0" i="0" dirty="0">
                    <a:solidFill>
                      <a:srgbClr val="000000"/>
                    </a:solidFill>
                    <a:latin typeface="Times New Roman" pitchFamily="34" charset="0"/>
                    <a:ea typeface="微软雅黑" pitchFamily="34" charset="-122"/>
                    <a:cs typeface="Times New Roman" pitchFamily="34" charset="-120"/>
                  </a:rPr>
                  <a:t>,始终处于静止状态,已知手掌与瓶子间的动摩擦因数</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μ</m:t>
                    </m:r>
                    <m:r>
                      <a:rPr lang="en-US" altLang="zh-CN" sz="2400" b="0" i="0">
                        <a:solidFill>
                          <a:srgbClr val="000000"/>
                        </a:solidFill>
                        <a:latin typeface="Cambria Math" pitchFamily="34" charset="0"/>
                        <a:ea typeface="Cambria Math" pitchFamily="34" charset="-122"/>
                        <a:cs typeface="Cambria Math" pitchFamily="34" charset="-120"/>
                      </a:rPr>
                      <m:t>=0.5</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a:t>
                </a:r>
                <a:r>
                  <a:rPr lang="en-US" altLang="zh-CN" sz="2400" b="0" i="0">
                    <a:solidFill>
                      <a:srgbClr val="000000"/>
                    </a:solidFill>
                    <a:latin typeface="Times New Roman" pitchFamily="34" charset="0"/>
                    <a:ea typeface="微软雅黑" pitchFamily="34" charset="-122"/>
                    <a:cs typeface="Times New Roman" pitchFamily="34" charset="-120"/>
                  </a:rPr>
                  <a:t>则(</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5" name="QC_4_BD.13_2#079ae567d?htil=3&amp;vcp=1&amp;pid=a6a02b6c9&amp;color=0,0,0&amp;bbb=1&amp;hb=1"/>
              <p:cNvSpPr>
                <a:spLocks noRot="1" noChangeAspect="1" noMove="1" noResize="1" noEditPoints="1" noAdjustHandles="1" noChangeArrowheads="1" noChangeShapeType="1" noTextEdit="1"/>
              </p:cNvSpPr>
              <p:nvPr/>
            </p:nvSpPr>
            <p:spPr>
              <a:xfrm>
                <a:off x="393192" y="1590675"/>
                <a:ext cx="10094976" cy="1033399"/>
              </a:xfrm>
              <a:prstGeom prst="rect">
                <a:avLst/>
              </a:prstGeom>
              <a:blipFill>
                <a:blip r:embed="rId4"/>
                <a:stretch>
                  <a:fillRect l="-1872" r="-1691" b="-17751"/>
                </a:stretch>
              </a:blipFill>
              <a:ln/>
            </p:spPr>
            <p:txBody>
              <a:bodyPr/>
              <a:lstStyle/>
              <a:p>
                <a:r>
                  <a:rPr lang="zh-CN" altLang="en-US">
                    <a:noFill/>
                  </a:rPr>
                  <a:t> </a:t>
                </a:r>
              </a:p>
            </p:txBody>
          </p:sp>
        </mc:Fallback>
      </mc:AlternateContent>
      <p:sp>
        <p:nvSpPr>
          <p:cNvPr id="6" name="QC_4_AN.14_1#079ae567d.bracket?vcp=1&amp;pid=a6a02b6c9&amp;color=0,0,0&amp;vpa=6"/>
          <p:cNvSpPr/>
          <p:nvPr/>
        </p:nvSpPr>
        <p:spPr>
          <a:xfrm>
            <a:off x="9131015" y="213804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D</a:t>
            </a:r>
            <a:endParaRPr lang="en-US" altLang="zh-CN" sz="2400" dirty="0"/>
          </a:p>
        </p:txBody>
      </p:sp>
      <mc:AlternateContent xmlns:mc="http://schemas.openxmlformats.org/markup-compatibility/2006">
        <mc:Choice xmlns:a14="http://schemas.microsoft.com/office/drawing/2010/main" Requires="a14">
          <p:sp>
            <p:nvSpPr>
              <p:cNvPr id="7" name="QC_4_BD.13_3#079ae567d.choices?htil=3&amp;vcp=1&amp;pid=a6a02b6c9&amp;color=0,0,0&amp;bbb=1"/>
              <p:cNvSpPr/>
              <p:nvPr/>
            </p:nvSpPr>
            <p:spPr>
              <a:xfrm>
                <a:off x="393192" y="2630805"/>
                <a:ext cx="10094976"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A.瓶子受到的摩擦力大小为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50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.当握力进一步增大时,瓶子受到的摩擦力将增大</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.当握力持续减小但瓶子仍未下滑时,瓶子受到的摩擦力大小将持续减小</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.瓶子的最大静摩擦力随握力的增大而增大</a:t>
                </a:r>
                <a:endParaRPr lang="en-US" altLang="zh-CN" sz="2400" dirty="0"/>
              </a:p>
            </p:txBody>
          </p:sp>
        </mc:Choice>
        <mc:Fallback>
          <p:sp>
            <p:nvSpPr>
              <p:cNvPr id="7" name="QC_4_BD.13_3#079ae567d.choices?htil=3&amp;vcp=1&amp;pid=a6a02b6c9&amp;color=0,0,0&amp;bbb=1"/>
              <p:cNvSpPr>
                <a:spLocks noRot="1" noChangeAspect="1" noMove="1" noResize="1" noEditPoints="1" noAdjustHandles="1" noChangeArrowheads="1" noChangeShapeType="1" noTextEdit="1"/>
              </p:cNvSpPr>
              <p:nvPr/>
            </p:nvSpPr>
            <p:spPr>
              <a:xfrm>
                <a:off x="393192" y="2630805"/>
                <a:ext cx="10094976" cy="2155000"/>
              </a:xfrm>
              <a:prstGeom prst="rect">
                <a:avLst/>
              </a:prstGeom>
              <a:blipFill>
                <a:blip r:embed="rId5"/>
                <a:stretch>
                  <a:fillRect l="-1872"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bg/>
                                          </p:spTgt>
                                        </p:tgtEl>
                                        <p:attrNameLst>
                                          <p:attrName>style.visibility</p:attrName>
                                        </p:attrNameLst>
                                      </p:cBhvr>
                                      <p:to>
                                        <p:strVal val="visible"/>
                                      </p:to>
                                    </p:set>
                                    <p:animEffect transition="in" filter="wipe(left)">
                                      <p:cBhvr>
                                        <p:cTn id="7" dur="500"/>
                                        <p:tgtEl>
                                          <p:spTgt spid="6">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6">
                                            <p:txEl>
                                              <p:pRg st="0" end="0"/>
                                            </p:txEl>
                                          </p:spTgt>
                                        </p:tgtEl>
                                        <p:attrNameLst>
                                          <p:attrName>style.visibility</p:attrName>
                                        </p:attrNameLst>
                                      </p:cBhvr>
                                      <p:to>
                                        <p:strVal val="visible"/>
                                      </p:to>
                                    </p:set>
                                    <p:animEffect transition="in" filter="wipe(left)">
                                      <p:cBhvr>
                                        <p:cTn id="10"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amp;si=8">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15_1#079ae567d?vcp=1&amp;pid=a6a02b6c9&amp;color=0,0,0&amp;bt=1&amp;bbb=1&amp;hb=1"/>
              <p:cNvSpPr/>
              <p:nvPr/>
            </p:nvSpPr>
            <p:spPr>
              <a:xfrm>
                <a:off x="393192" y="1812385"/>
                <a:ext cx="11402568" cy="32726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重为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的瓶子，瓶子竖直，始终处于静止状态，由平衡条件可知</a:t>
                </a:r>
                <a:r>
                  <a:rPr lang="en-US" altLang="zh-CN" sz="2400" b="1" i="0">
                    <a:solidFill>
                      <a:srgbClr val="FF0000"/>
                    </a:solidFill>
                    <a:latin typeface="Times New Roman" pitchFamily="34" charset="0"/>
                    <a:ea typeface="微软雅黑" pitchFamily="34" charset="-122"/>
                    <a:cs typeface="Times New Roman" pitchFamily="34" charset="-120"/>
                  </a:rPr>
                  <a:t>，瓶子受到</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的摩擦力大小等于瓶子的重力</a:t>
                </a:r>
                <a:r>
                  <a:rPr lang="en-US" altLang="zh-CN" sz="2400" b="1" i="0" dirty="0">
                    <a:solidFill>
                      <a:srgbClr val="FF0000"/>
                    </a:solidFill>
                    <a:latin typeface="Times New Roman" pitchFamily="34" charset="0"/>
                    <a:ea typeface="微软雅黑" pitchFamily="34" charset="-122"/>
                    <a:cs typeface="Times New Roman" pitchFamily="34" charset="-120"/>
                  </a:rPr>
                  <a:t>，为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𝟒𝟎</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𝐀</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错误；由平衡条件可知，</a:t>
                </a:r>
                <a:r>
                  <a:rPr lang="en-US" altLang="zh-CN" sz="2400" b="1" i="0">
                    <a:solidFill>
                      <a:srgbClr val="FF0000"/>
                    </a:solidFill>
                    <a:latin typeface="Times New Roman" pitchFamily="34" charset="0"/>
                    <a:ea typeface="微软雅黑" pitchFamily="34" charset="-122"/>
                    <a:cs typeface="Times New Roman" pitchFamily="34" charset="-120"/>
                  </a:rPr>
                  <a:t>瓶子的重力不变，</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当握力进一步增大时</a:t>
                </a:r>
                <a:r>
                  <a:rPr lang="en-US" altLang="zh-CN" sz="2400" b="1" i="0" dirty="0">
                    <a:solidFill>
                      <a:srgbClr val="FF0000"/>
                    </a:solidFill>
                    <a:latin typeface="Times New Roman" pitchFamily="34" charset="0"/>
                    <a:ea typeface="微软雅黑" pitchFamily="34" charset="-122"/>
                    <a:cs typeface="Times New Roman" pitchFamily="34" charset="-120"/>
                  </a:rPr>
                  <a:t>，瓶子受到的摩擦力也不会增大，B错误</a:t>
                </a:r>
                <a:r>
                  <a:rPr lang="en-US" altLang="zh-CN" sz="2400" b="1" i="0">
                    <a:solidFill>
                      <a:srgbClr val="FF0000"/>
                    </a:solidFill>
                    <a:latin typeface="Times New Roman" pitchFamily="34" charset="0"/>
                    <a:ea typeface="微软雅黑" pitchFamily="34" charset="-122"/>
                    <a:cs typeface="Times New Roman" pitchFamily="34" charset="-120"/>
                  </a:rPr>
                  <a:t>；当握力持续减小但瓶</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子仍未下滑时</a:t>
                </a:r>
                <a:r>
                  <a:rPr lang="en-US" altLang="zh-CN" sz="2400" b="1" i="0" dirty="0">
                    <a:solidFill>
                      <a:srgbClr val="FF0000"/>
                    </a:solidFill>
                    <a:latin typeface="Times New Roman" pitchFamily="34" charset="0"/>
                    <a:ea typeface="微软雅黑" pitchFamily="34" charset="-122"/>
                    <a:cs typeface="Times New Roman" pitchFamily="34" charset="-120"/>
                  </a:rPr>
                  <a:t>，由平衡条件可知，瓶子的重力不变，</a:t>
                </a:r>
                <a:r>
                  <a:rPr lang="en-US" altLang="zh-CN" sz="2400" b="1" i="0">
                    <a:solidFill>
                      <a:srgbClr val="FF0000"/>
                    </a:solidFill>
                    <a:latin typeface="Times New Roman" pitchFamily="34" charset="0"/>
                    <a:ea typeface="微软雅黑" pitchFamily="34" charset="-122"/>
                    <a:cs typeface="Times New Roman" pitchFamily="34" charset="-120"/>
                  </a:rPr>
                  <a:t>瓶子受到的摩擦力大小将不变，</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不会减小</a:t>
                </a:r>
                <a:r>
                  <a:rPr lang="en-US" altLang="zh-CN" sz="2400" b="1" i="0" dirty="0">
                    <a:solidFill>
                      <a:srgbClr val="FF0000"/>
                    </a:solidFill>
                    <a:latin typeface="Times New Roman" pitchFamily="34" charset="0"/>
                    <a:ea typeface="微软雅黑" pitchFamily="34" charset="-122"/>
                    <a:cs typeface="Times New Roman" pitchFamily="34" charset="-120"/>
                  </a:rPr>
                  <a:t>，C错误；瓶子与手之间的最大静摩擦力为</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𝐟𝐦𝐚𝐱</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𝛍</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，由此可知</a:t>
                </a:r>
                <a:r>
                  <a:rPr lang="en-US" altLang="zh-CN" sz="2400" b="1" i="0">
                    <a:solidFill>
                      <a:srgbClr val="FF0000"/>
                    </a:solidFill>
                    <a:latin typeface="Times New Roman" pitchFamily="34" charset="0"/>
                    <a:ea typeface="微软雅黑" pitchFamily="34" charset="-122"/>
                    <a:cs typeface="Times New Roman" pitchFamily="34" charset="-120"/>
                  </a:rPr>
                  <a:t>，手与瓶</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子之间的最大静摩擦力随握力的增大而增大</a:t>
                </a:r>
                <a:r>
                  <a:rPr lang="en-US" altLang="zh-CN" sz="2400" b="1" i="0" dirty="0">
                    <a:solidFill>
                      <a:srgbClr val="FF0000"/>
                    </a:solidFill>
                    <a:latin typeface="Times New Roman" pitchFamily="34" charset="0"/>
                    <a:ea typeface="微软雅黑" pitchFamily="34" charset="-122"/>
                    <a:cs typeface="Times New Roman" pitchFamily="34" charset="-120"/>
                  </a:rPr>
                  <a:t>，D正确.</a:t>
                </a:r>
                <a:endParaRPr lang="en-US" altLang="zh-CN" sz="2400" dirty="0"/>
              </a:p>
            </p:txBody>
          </p:sp>
        </mc:Choice>
        <mc:Fallback>
          <p:sp>
            <p:nvSpPr>
              <p:cNvPr id="2" name="QC_4_AS.15_1#079ae567d?vcp=1&amp;pid=a6a02b6c9&amp;color=0,0,0&amp;bt=1&amp;bbb=1&amp;hb=1"/>
              <p:cNvSpPr>
                <a:spLocks noRot="1" noChangeAspect="1" noMove="1" noResize="1" noEditPoints="1" noAdjustHandles="1" noChangeArrowheads="1" noChangeShapeType="1" noTextEdit="1"/>
              </p:cNvSpPr>
              <p:nvPr/>
            </p:nvSpPr>
            <p:spPr>
              <a:xfrm>
                <a:off x="393192" y="1812385"/>
                <a:ext cx="11402568" cy="3272600"/>
              </a:xfrm>
              <a:prstGeom prst="rect">
                <a:avLst/>
              </a:prstGeom>
              <a:blipFill>
                <a:blip r:embed="rId3"/>
                <a:stretch>
                  <a:fillRect l="-1658" r="-2620" b="-5587"/>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2">
                                            <p:txEl>
                                              <p:pRg st="5" end="5"/>
                                            </p:txEl>
                                          </p:spTgt>
                                        </p:tgtEl>
                                        <p:attrNameLst>
                                          <p:attrName>style.visibility</p:attrName>
                                        </p:attrNameLst>
                                      </p:cBhvr>
                                      <p:to>
                                        <p:strVal val="visible"/>
                                      </p:to>
                                    </p:set>
                                    <p:animEffect transition="in" filter="wipe(left)">
                                      <p:cBhvr>
                                        <p:cTn id="25"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amp;si=9">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6_1#6bb50637a?vcp=1&amp;pid=a6a02b6c9&amp;color=0,0,0&amp;bt=1&amp;bbb=1&amp;hb=1"/>
              <p:cNvSpPr/>
              <p:nvPr/>
            </p:nvSpPr>
            <p:spPr>
              <a:xfrm>
                <a:off x="393192" y="1120997"/>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2.</a:t>
                </a:r>
                <a:r>
                  <a:rPr lang="en-US" altLang="zh-CN" sz="2400" b="1" i="0" dirty="0">
                    <a:solidFill>
                      <a:srgbClr val="000000"/>
                    </a:solidFill>
                    <a:latin typeface="Times New Roman" pitchFamily="34" charset="0"/>
                    <a:ea typeface="微软雅黑" pitchFamily="34" charset="-122"/>
                    <a:cs typeface="Times New Roman" pitchFamily="34" charset="-120"/>
                  </a:rPr>
                  <a:t>考点3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（2026·湖北黄石二中检测）</a:t>
                </a:r>
                <a:r>
                  <a:rPr lang="en-US" altLang="zh-CN" sz="2400" b="0" i="0" dirty="0">
                    <a:solidFill>
                      <a:srgbClr val="000000"/>
                    </a:solidFill>
                    <a:latin typeface="Times New Roman" pitchFamily="34" charset="0"/>
                    <a:ea typeface="微软雅黑" pitchFamily="34" charset="-122"/>
                    <a:cs typeface="Times New Roman" pitchFamily="34" charset="-120"/>
                  </a:rPr>
                  <a:t>如图所示，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两个物体所受的重力都等于</a:t>
                </a:r>
              </a:p>
              <a:p>
                <a:pPr latinLnBrk="1">
                  <a:lnSpc>
                    <a:spcPts val="44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10</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，各接触面间的动摩擦因数都等于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0.3</m:t>
                    </m:r>
                  </m:oMath>
                </a14:m>
                <a:r>
                  <a:rPr lang="en-US" altLang="zh-CN" sz="2400" b="0" i="0" dirty="0">
                    <a:solidFill>
                      <a:srgbClr val="000000"/>
                    </a:solidFill>
                    <a:latin typeface="Times New Roman" pitchFamily="34" charset="0"/>
                    <a:ea typeface="微软雅黑" pitchFamily="34" charset="-122"/>
                    <a:cs typeface="Times New Roman" pitchFamily="34" charset="-120"/>
                  </a:rPr>
                  <a:t>,同时有</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的两个水平力分别作用于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上，则地面对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的摩擦力分别等于(</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6_1#6bb50637a?vcp=1&amp;pid=a6a02b6c9&amp;color=0,0,0&amp;bt=1&amp;bbb=1&amp;hb=1"/>
              <p:cNvSpPr>
                <a:spLocks noRot="1" noChangeAspect="1" noMove="1" noResize="1" noEditPoints="1" noAdjustHandles="1" noChangeArrowheads="1" noChangeShapeType="1" noTextEdit="1"/>
              </p:cNvSpPr>
              <p:nvPr/>
            </p:nvSpPr>
            <p:spPr>
              <a:xfrm>
                <a:off x="393192" y="1120997"/>
                <a:ext cx="11402568" cy="1592199"/>
              </a:xfrm>
              <a:prstGeom prst="rect">
                <a:avLst/>
              </a:prstGeom>
              <a:blipFill>
                <a:blip r:embed="rId3"/>
                <a:stretch>
                  <a:fillRect l="-1658" b="-11494"/>
                </a:stretch>
              </a:blipFill>
              <a:ln/>
            </p:spPr>
            <p:txBody>
              <a:bodyPr/>
              <a:lstStyle/>
              <a:p>
                <a:r>
                  <a:rPr lang="zh-CN" altLang="en-US">
                    <a:noFill/>
                  </a:rPr>
                  <a:t> </a:t>
                </a:r>
              </a:p>
            </p:txBody>
          </p:sp>
        </mc:Fallback>
      </mc:AlternateContent>
      <p:sp>
        <p:nvSpPr>
          <p:cNvPr id="3" name="QC_4_AN.17_1#6bb50637a.bracket?vcp=1&amp;pid=a6a02b6c9&amp;color=0,0,0&amp;vpa=7"/>
          <p:cNvSpPr/>
          <p:nvPr/>
        </p:nvSpPr>
        <p:spPr>
          <a:xfrm>
            <a:off x="6641370" y="2227167"/>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p:pic>
        <p:nvPicPr>
          <p:cNvPr id="4" name="QC_4_BD.16_2#6bb50637a?vcp=1&amp;pid=a6a02b6c9&amp;color=0,0,0&amp;tib=255,255,255"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5312664" y="2841592"/>
            <a:ext cx="1563624" cy="69494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6_3#6bb50637a.choices?vcp=1&amp;pid=a6a02b6c9&amp;color=0,0,0&amp;bbb=1"/>
              <p:cNvSpPr/>
              <p:nvPr/>
            </p:nvSpPr>
            <p:spPr>
              <a:xfrm>
                <a:off x="393192" y="3667092"/>
                <a:ext cx="11402568" cy="478155"/>
              </a:xfrm>
              <a:prstGeom prst="rect">
                <a:avLst/>
              </a:prstGeom>
              <a:noFill/>
              <a:ln/>
            </p:spPr>
            <p:txBody>
              <a:bodyPr wrap="none" lIns="0" tIns="0" rIns="0" bIns="0" rtlCol="0" anchor="t"/>
              <a:lstStyle/>
              <a:p>
                <a:pPr latinLnBrk="1">
                  <a:lnSpc>
                    <a:spcPts val="4300"/>
                  </a:lnSpc>
                  <a:tabLst>
                    <a:tab pos="3116702" algn="l"/>
                    <a:tab pos="5839704" algn="l"/>
                    <a:tab pos="885480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6</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.0、</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1</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.0、</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nor/>
                      </m:rPr>
                      <a:rPr lang="en-US" altLang="zh-CN" sz="2400" b="0" i="0">
                        <a:solidFill>
                          <a:srgbClr val="000000"/>
                        </a:solidFill>
                        <a:latin typeface="Cambria Math" pitchFamily="34" charset="0"/>
                        <a:ea typeface="Cambria Math" pitchFamily="34" charset="-122"/>
                        <a:cs typeface="Cambria Math" pitchFamily="34" charset="-120"/>
                      </a:rPr>
                      <m:t> </m:t>
                    </m:r>
                    <m:r>
                      <m:rPr>
                        <m:sty m:val="p"/>
                      </m:rPr>
                      <a:rPr lang="en-US" altLang="zh-CN" sz="2400" b="0" i="0">
                        <a:solidFill>
                          <a:srgbClr val="000000"/>
                        </a:solidFill>
                        <a:latin typeface="Cambria Math" pitchFamily="34" charset="0"/>
                        <a:ea typeface="Cambria Math" pitchFamily="34" charset="-122"/>
                        <a:cs typeface="Cambria Math" pitchFamily="34" charset="-120"/>
                      </a:rPr>
                      <m:t>N</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16_3#6bb50637a.choices?vcp=1&amp;pid=a6a02b6c9&amp;color=0,0,0&amp;bbb=1"/>
              <p:cNvSpPr>
                <a:spLocks noRot="1" noChangeAspect="1" noMove="1" noResize="1" noEditPoints="1" noAdjustHandles="1" noChangeArrowheads="1" noChangeShapeType="1" noTextEdit="1"/>
              </p:cNvSpPr>
              <p:nvPr/>
            </p:nvSpPr>
            <p:spPr>
              <a:xfrm>
                <a:off x="393192" y="3667092"/>
                <a:ext cx="11402568" cy="478155"/>
              </a:xfrm>
              <a:prstGeom prst="rect">
                <a:avLst/>
              </a:prstGeom>
              <a:blipFill>
                <a:blip r:embed="rId5"/>
                <a:stretch>
                  <a:fillRect l="-1658" b="-3974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18_1#6bb50637a?vcp=1&amp;pid=a6a02b6c9&amp;color=0,0,0&amp;bbb=1&amp;hb=1"/>
              <p:cNvSpPr/>
              <p:nvPr/>
            </p:nvSpPr>
            <p:spPr>
              <a:xfrm>
                <a:off x="393192" y="4147787"/>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整体受力分析，整体在水平方向受力平衡，所以地面对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的摩擦力为</a:t>
                </a:r>
                <a:r>
                  <a:rPr lang="en-US" altLang="zh-CN" sz="2400" b="1" i="0">
                    <a:solidFill>
                      <a:srgbClr val="FF0000"/>
                    </a:solidFill>
                    <a:latin typeface="Times New Roman" pitchFamily="34" charset="0"/>
                    <a:ea typeface="微软雅黑" pitchFamily="34" charset="-122"/>
                    <a:cs typeface="Times New Roman" pitchFamily="34" charset="-120"/>
                  </a:rPr>
                  <a:t>0.</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受力分析，因为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受到水平向右的力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作用，所以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有静摩擦力作用</a:t>
                </a:r>
                <a:r>
                  <a:rPr lang="en-US" altLang="zh-CN" sz="2400" b="1" i="0">
                    <a:solidFill>
                      <a:srgbClr val="FF0000"/>
                    </a:solidFill>
                    <a:latin typeface="Times New Roman" pitchFamily="34" charset="0"/>
                    <a:ea typeface="微软雅黑" pitchFamily="34" charset="-122"/>
                    <a:cs typeface="Times New Roman" pitchFamily="34" charset="-120"/>
                  </a:rPr>
                  <a:t>，大小等于</a:t>
                </a:r>
              </a:p>
              <a:p>
                <a:pPr latinLnBrk="1">
                  <a:lnSpc>
                    <a:spcPts val="42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的大小，即为</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𝟏</m:t>
                    </m:r>
                    <m:r>
                      <m:rPr>
                        <m:nor/>
                      </m:rPr>
                      <a:rPr lang="en-US" altLang="zh-CN" sz="2400" b="1" i="0">
                        <a:solidFill>
                          <a:srgbClr val="FF0000"/>
                        </a:solidFill>
                        <a:latin typeface="Cambria Math" pitchFamily="34" charset="0"/>
                        <a:ea typeface="Cambria Math" pitchFamily="34" charset="-122"/>
                        <a:cs typeface="Cambria Math" pitchFamily="34" charset="-120"/>
                      </a:rPr>
                      <m:t> </m:t>
                    </m:r>
                    <m:r>
                      <a:rPr lang="en-US" altLang="zh-CN" sz="2400" b="1" i="0">
                        <a:solidFill>
                          <a:srgbClr val="FF0000"/>
                        </a:solidFill>
                        <a:latin typeface="Cambria Math" pitchFamily="34" charset="0"/>
                        <a:ea typeface="Cambria Math" pitchFamily="34" charset="-122"/>
                        <a:cs typeface="Cambria Math" pitchFamily="34" charset="-120"/>
                      </a:rPr>
                      <m:t>𝐍</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，B正确.</a:t>
                </a:r>
                <a:endParaRPr lang="en-US" altLang="zh-CN" sz="2400" dirty="0"/>
              </a:p>
            </p:txBody>
          </p:sp>
        </mc:Choice>
        <mc:Fallback>
          <p:sp>
            <p:nvSpPr>
              <p:cNvPr id="6" name="QC_4_AS.18_1#6bb50637a?vcp=1&amp;pid=a6a02b6c9&amp;color=0,0,0&amp;bbb=1&amp;hb=1"/>
              <p:cNvSpPr>
                <a:spLocks noRot="1" noChangeAspect="1" noMove="1" noResize="1" noEditPoints="1" noAdjustHandles="1" noChangeArrowheads="1" noChangeShapeType="1" noTextEdit="1"/>
              </p:cNvSpPr>
              <p:nvPr/>
            </p:nvSpPr>
            <p:spPr>
              <a:xfrm>
                <a:off x="393192" y="4147787"/>
                <a:ext cx="11402568" cy="1596200"/>
              </a:xfrm>
              <a:prstGeom prst="rect">
                <a:avLst/>
              </a:prstGeom>
              <a:blipFill>
                <a:blip r:embed="rId6"/>
                <a:stretch>
                  <a:fillRect l="-1658" r="-1444" b="-1145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amp;si=10">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19_1#af1bbf428?vcp=1&amp;pid=a6a02b6c9&amp;color=0,0,0&amp;bt=1&amp;bbb=1&amp;hb=1"/>
              <p:cNvSpPr/>
              <p:nvPr/>
            </p:nvSpPr>
            <p:spPr>
              <a:xfrm>
                <a:off x="393192" y="746347"/>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3.</a:t>
                </a:r>
                <a:r>
                  <a:rPr lang="en-US" altLang="zh-CN" sz="2400" b="1" i="0" dirty="0">
                    <a:solidFill>
                      <a:srgbClr val="000000"/>
                    </a:solidFill>
                    <a:latin typeface="Times New Roman" pitchFamily="34" charset="0"/>
                    <a:ea typeface="微软雅黑" pitchFamily="34" charset="-122"/>
                    <a:cs typeface="Times New Roman" pitchFamily="34" charset="-120"/>
                  </a:rPr>
                  <a:t>考点1、2、3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（2026·江西九江部分重点中学检测）</a:t>
                </a:r>
                <a:r>
                  <a:rPr lang="en-US" altLang="zh-CN" sz="2400" b="0" i="0" dirty="0">
                    <a:solidFill>
                      <a:srgbClr val="000000"/>
                    </a:solidFill>
                    <a:latin typeface="Times New Roman" pitchFamily="34" charset="0"/>
                    <a:ea typeface="微软雅黑" pitchFamily="34" charset="-122"/>
                    <a:cs typeface="Times New Roman" pitchFamily="34" charset="-120"/>
                  </a:rPr>
                  <a:t>如图所示，</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为长木板</a:t>
                </a:r>
                <a:r>
                  <a:rPr lang="en-US" altLang="zh-CN" sz="2400" b="0" i="0">
                    <a:solidFill>
                      <a:srgbClr val="000000"/>
                    </a:solidFill>
                    <a:latin typeface="Times New Roman" pitchFamily="34" charset="0"/>
                    <a:ea typeface="微软雅黑" pitchFamily="34" charset="-122"/>
                    <a:cs typeface="Times New Roman" pitchFamily="34" charset="-120"/>
                  </a:rPr>
                  <a:t>，在水</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平面上以速度</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开始向右运动，同时物块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的上表面以速度</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开始向右运动</a:t>
                </a:r>
                <a:r>
                  <a:rPr lang="en-US" altLang="zh-CN" sz="2400" b="0" i="0">
                    <a:solidFill>
                      <a:srgbClr val="000000"/>
                    </a:solidFill>
                    <a:latin typeface="Times New Roman" pitchFamily="34" charset="0"/>
                    <a:ea typeface="微软雅黑" pitchFamily="34" charset="-122"/>
                    <a:cs typeface="Times New Roman" pitchFamily="34" charset="-120"/>
                  </a:rPr>
                  <a:t>，且</a:t>
                </a:r>
              </a:p>
              <a:p>
                <a:pPr latinLnBrk="1">
                  <a:lnSpc>
                    <a:spcPts val="4200"/>
                  </a:lnSpc>
                </a:pP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接触面粗糙，水平面光滑.</a:t>
                </a:r>
                <a:r>
                  <a:rPr lang="en-US" altLang="zh-CN" sz="2400" b="0" i="0">
                    <a:solidFill>
                      <a:srgbClr val="000000"/>
                    </a:solidFill>
                    <a:latin typeface="Times New Roman" pitchFamily="34" charset="0"/>
                    <a:ea typeface="微软雅黑" pitchFamily="34" charset="-122"/>
                    <a:cs typeface="Times New Roman" pitchFamily="34" charset="-120"/>
                  </a:rPr>
                  <a:t>下列判断正确的是(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19_1#af1bbf428?vcp=1&amp;pid=a6a02b6c9&amp;color=0,0,0&amp;bt=1&amp;bbb=1&amp;hb=1"/>
              <p:cNvSpPr>
                <a:spLocks noRot="1" noChangeAspect="1" noMove="1" noResize="1" noEditPoints="1" noAdjustHandles="1" noChangeArrowheads="1" noChangeShapeType="1" noTextEdit="1"/>
              </p:cNvSpPr>
              <p:nvPr/>
            </p:nvSpPr>
            <p:spPr>
              <a:xfrm>
                <a:off x="393192" y="746347"/>
                <a:ext cx="11402568" cy="1592199"/>
              </a:xfrm>
              <a:prstGeom prst="rect">
                <a:avLst/>
              </a:prstGeom>
              <a:blipFill>
                <a:blip r:embed="rId3"/>
                <a:stretch>
                  <a:fillRect l="-1658" r="-267" b="-11450"/>
                </a:stretch>
              </a:blipFill>
              <a:ln/>
            </p:spPr>
            <p:txBody>
              <a:bodyPr/>
              <a:lstStyle/>
              <a:p>
                <a:r>
                  <a:rPr lang="zh-CN" altLang="en-US">
                    <a:noFill/>
                  </a:rPr>
                  <a:t> </a:t>
                </a:r>
              </a:p>
            </p:txBody>
          </p:sp>
        </mc:Fallback>
      </mc:AlternateContent>
      <p:sp>
        <p:nvSpPr>
          <p:cNvPr id="3" name="QC_4_AN.20_1#af1bbf428.bracket?vcp=1&amp;pid=a6a02b6c9&amp;color=0,0,0&amp;vpa=8"/>
          <p:cNvSpPr/>
          <p:nvPr/>
        </p:nvSpPr>
        <p:spPr>
          <a:xfrm>
            <a:off x="7202837" y="185251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4" name="QC_4_BD.19_2#af1bbf428?htil=4&amp;vcp=1&amp;pid=a6a02b6c9&amp;color=0,0,0&amp;tib=255,255,255&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8319892" y="2385663"/>
            <a:ext cx="1947672" cy="594360"/>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19_3#af1bbf428.choices?htil=4&amp;vcp=1&amp;pid=a6a02b6c9&amp;color=0,0,0&amp;bbb=1&amp;hs=1"/>
              <p:cNvSpPr/>
              <p:nvPr/>
            </p:nvSpPr>
            <p:spPr>
              <a:xfrm>
                <a:off x="393192" y="2339942"/>
                <a:ext cx="9363456" cy="215500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A.若</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之间无滑动摩擦力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.若</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受到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所施加的向右的滑动摩擦力</a:t>
                </a:r>
                <a:endParaRPr lang="en-US" altLang="zh-CN" sz="2400" dirty="0"/>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.若</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&lt;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受到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所施加的向右的滑动摩擦力</a:t>
                </a:r>
                <a:endParaRPr lang="en-US" altLang="zh-CN" sz="2400" dirty="0"/>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.若</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1</m:t>
                        </m:r>
                      </m:sub>
                    </m:sSub>
                    <m:r>
                      <a:rPr lang="en-US" altLang="zh-CN" sz="2400" b="0" i="0">
                        <a:solidFill>
                          <a:srgbClr val="000000"/>
                        </a:solidFill>
                        <a:latin typeface="Cambria Math" pitchFamily="34" charset="0"/>
                        <a:ea typeface="Cambria Math" pitchFamily="34" charset="-122"/>
                        <a:cs typeface="Cambria Math" pitchFamily="34" charset="-120"/>
                      </a:rPr>
                      <m:t>&gt;</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a:rPr lang="en-US" altLang="zh-CN" sz="2400" b="0" i="0">
                            <a:solidFill>
                              <a:srgbClr val="000000"/>
                            </a:solidFill>
                            <a:latin typeface="Cambria Math" pitchFamily="34" charset="0"/>
                            <a:ea typeface="Cambria Math" pitchFamily="34" charset="-122"/>
                            <a:cs typeface="Cambria Math" pitchFamily="34" charset="-120"/>
                          </a:rPr>
                          <m:t>𝑣</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之间无滑动摩擦力</a:t>
                </a:r>
                <a:endParaRPr lang="en-US" altLang="zh-CN" sz="2400" dirty="0"/>
              </a:p>
            </p:txBody>
          </p:sp>
        </mc:Choice>
        <mc:Fallback>
          <p:sp>
            <p:nvSpPr>
              <p:cNvPr id="5" name="QC_4_BD.19_3#af1bbf428.choices?htil=4&amp;vcp=1&amp;pid=a6a02b6c9&amp;color=0,0,0&amp;bbb=1&amp;hs=1"/>
              <p:cNvSpPr>
                <a:spLocks noRot="1" noChangeAspect="1" noMove="1" noResize="1" noEditPoints="1" noAdjustHandles="1" noChangeArrowheads="1" noChangeShapeType="1" noTextEdit="1"/>
              </p:cNvSpPr>
              <p:nvPr/>
            </p:nvSpPr>
            <p:spPr>
              <a:xfrm>
                <a:off x="393192" y="2339942"/>
                <a:ext cx="9363456" cy="2155000"/>
              </a:xfrm>
              <a:prstGeom prst="rect">
                <a:avLst/>
              </a:prstGeom>
              <a:blipFill>
                <a:blip r:embed="rId5"/>
                <a:stretch>
                  <a:fillRect l="-2018" b="-8499"/>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21_1#af1bbf428?vcp=1&amp;pid=a6a02b6c9&amp;color=0,0,0&amp;bbb=1&amp;hb=1&amp;hs=1"/>
              <p:cNvSpPr/>
              <p:nvPr/>
            </p:nvSpPr>
            <p:spPr>
              <a:xfrm>
                <a:off x="393192" y="4486242"/>
                <a:ext cx="11402568" cy="15962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相对静止，</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之间无滑动摩擦力，A正确；若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&gt;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相对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向右运动，故</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施加向左的滑动摩擦力，B、D错误；若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&lt;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𝒗</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相</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向右运动，故</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受到</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施加的向左的滑动摩擦力，故C错误.</a:t>
                </a:r>
                <a:endParaRPr lang="en-US" altLang="zh-CN" sz="2400" dirty="0"/>
              </a:p>
            </p:txBody>
          </p:sp>
        </mc:Choice>
        <mc:Fallback>
          <p:sp>
            <p:nvSpPr>
              <p:cNvPr id="6" name="QC_4_AS.21_1#af1bbf428?vcp=1&amp;pid=a6a02b6c9&amp;color=0,0,0&amp;bbb=1&amp;hb=1&amp;hs=1"/>
              <p:cNvSpPr>
                <a:spLocks noRot="1" noChangeAspect="1" noMove="1" noResize="1" noEditPoints="1" noAdjustHandles="1" noChangeArrowheads="1" noChangeShapeType="1" noTextEdit="1"/>
              </p:cNvSpPr>
              <p:nvPr/>
            </p:nvSpPr>
            <p:spPr>
              <a:xfrm>
                <a:off x="393192" y="4486242"/>
                <a:ext cx="11402568" cy="1596200"/>
              </a:xfrm>
              <a:prstGeom prst="rect">
                <a:avLst/>
              </a:prstGeom>
              <a:blipFill>
                <a:blip r:embed="rId6"/>
                <a:stretch>
                  <a:fillRect l="-1658" r="-2086" b="-1106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6"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amp;si=11">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22_1#1f2f160f4?vcp=1&amp;pid=a6a02b6c9&amp;color=0,0,0&amp;bt=1&amp;bbb=1&amp;hb=1"/>
              <p:cNvSpPr/>
              <p:nvPr/>
            </p:nvSpPr>
            <p:spPr>
              <a:xfrm>
                <a:off x="393192" y="1062577"/>
                <a:ext cx="11402568" cy="15921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4.</a:t>
                </a:r>
                <a:r>
                  <a:rPr lang="en-US" altLang="zh-CN" sz="2400" b="1" i="0" dirty="0">
                    <a:solidFill>
                      <a:srgbClr val="000000"/>
                    </a:solidFill>
                    <a:latin typeface="Times New Roman" pitchFamily="34" charset="0"/>
                    <a:ea typeface="微软雅黑" pitchFamily="34" charset="-122"/>
                    <a:cs typeface="Times New Roman" pitchFamily="34" charset="-120"/>
                  </a:rPr>
                  <a:t>考点1、2、3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1E5A99"/>
                    </a:solidFill>
                    <a:latin typeface="KaiTi" pitchFamily="34" charset="0"/>
                    <a:ea typeface="KaiTi" pitchFamily="34" charset="-122"/>
                    <a:cs typeface="KaiTi" pitchFamily="34" charset="-120"/>
                  </a:rPr>
                  <a:t>（2026·南京师大附中模拟）</a:t>
                </a:r>
                <a:r>
                  <a:rPr lang="en-US" altLang="zh-CN" sz="2400" b="0" i="0" dirty="0">
                    <a:solidFill>
                      <a:srgbClr val="000000"/>
                    </a:solidFill>
                    <a:latin typeface="Times New Roman" pitchFamily="34" charset="0"/>
                    <a:ea typeface="微软雅黑" pitchFamily="34" charset="-122"/>
                    <a:cs typeface="Times New Roman" pitchFamily="34" charset="-120"/>
                  </a:rPr>
                  <a:t>如图所示</a:t>
                </a:r>
                <a:r>
                  <a:rPr lang="en-US" altLang="zh-CN" sz="2400" b="0" i="0">
                    <a:solidFill>
                      <a:srgbClr val="000000"/>
                    </a:solidFill>
                    <a:latin typeface="Times New Roman" pitchFamily="34" charset="0"/>
                    <a:ea typeface="微软雅黑" pitchFamily="34" charset="-122"/>
                    <a:cs typeface="Times New Roman" pitchFamily="34" charset="-120"/>
                  </a:rPr>
                  <a:t>，完全相同的三条轮胎整齐叠</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放在墙角</a:t>
                </a:r>
                <a:r>
                  <a:rPr lang="en-US" altLang="zh-CN" sz="2400" b="0" i="0" dirty="0">
                    <a:solidFill>
                      <a:srgbClr val="000000"/>
                    </a:solidFill>
                    <a:latin typeface="Times New Roman" pitchFamily="34" charset="0"/>
                    <a:ea typeface="微软雅黑" pitchFamily="34" charset="-122"/>
                    <a:cs typeface="Times New Roman" pitchFamily="34" charset="-120"/>
                  </a:rPr>
                  <a:t>，所有接触面间的动摩擦因数均相同，最大静摩擦力等于滑动摩擦力</a:t>
                </a:r>
                <a:r>
                  <a:rPr lang="en-US" altLang="zh-CN" sz="2400" b="0" i="0">
                    <a:solidFill>
                      <a:srgbClr val="000000"/>
                    </a:solidFill>
                    <a:latin typeface="Times New Roman" pitchFamily="34" charset="0"/>
                    <a:ea typeface="微软雅黑" pitchFamily="34" charset="-122"/>
                    <a:cs typeface="Times New Roman" pitchFamily="34" charset="-120"/>
                  </a:rPr>
                  <a:t>.现将水</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平向右的恒力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作用在中间轮胎上，</a:t>
                </a:r>
                <a:r>
                  <a:rPr lang="en-US" altLang="zh-CN" sz="2400" b="0" i="0">
                    <a:solidFill>
                      <a:srgbClr val="000000"/>
                    </a:solidFill>
                    <a:latin typeface="Times New Roman" pitchFamily="34" charset="0"/>
                    <a:ea typeface="微软雅黑" pitchFamily="34" charset="-122"/>
                    <a:cs typeface="Times New Roman" pitchFamily="34" charset="-120"/>
                  </a:rPr>
                  <a:t>一小段时间后三条轮胎的位置可能是(</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22_1#1f2f160f4?vcp=1&amp;pid=a6a02b6c9&amp;color=0,0,0&amp;bt=1&amp;bbb=1&amp;hb=1"/>
              <p:cNvSpPr>
                <a:spLocks noRot="1" noChangeAspect="1" noMove="1" noResize="1" noEditPoints="1" noAdjustHandles="1" noChangeArrowheads="1" noChangeShapeType="1" noTextEdit="1"/>
              </p:cNvSpPr>
              <p:nvPr/>
            </p:nvSpPr>
            <p:spPr>
              <a:xfrm>
                <a:off x="393192" y="1062577"/>
                <a:ext cx="11402568" cy="1592199"/>
              </a:xfrm>
              <a:prstGeom prst="rect">
                <a:avLst/>
              </a:prstGeom>
              <a:blipFill>
                <a:blip r:embed="rId3"/>
                <a:stretch>
                  <a:fillRect l="-1658" r="-1230" b="-11877"/>
                </a:stretch>
              </a:blipFill>
              <a:ln/>
            </p:spPr>
            <p:txBody>
              <a:bodyPr/>
              <a:lstStyle/>
              <a:p>
                <a:r>
                  <a:rPr lang="zh-CN" altLang="en-US">
                    <a:noFill/>
                  </a:rPr>
                  <a:t> </a:t>
                </a:r>
              </a:p>
            </p:txBody>
          </p:sp>
        </mc:Fallback>
      </mc:AlternateContent>
      <p:sp>
        <p:nvSpPr>
          <p:cNvPr id="3" name="QC_4_AN.23_1#1f2f160f4.bracket?vcp=1&amp;pid=a6a02b6c9&amp;color=0,0,0&amp;vpa=9"/>
          <p:cNvSpPr/>
          <p:nvPr/>
        </p:nvSpPr>
        <p:spPr>
          <a:xfrm>
            <a:off x="10272236" y="2168747"/>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4" name="QC_4_BD.22_2#1f2f160f4?htil=5&amp;vcp=1&amp;pid=a6a02b6c9&amp;color=0,0,0&amp;tib=255,255,255&amp;hs=1"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10410820" y="2795872"/>
            <a:ext cx="1261872" cy="740664"/>
          </a:xfrm>
          <a:prstGeom prst="rect">
            <a:avLst/>
          </a:prstGeom>
          <a:noFill/>
          <a:extLst>
            <a:ext uri="{909E8E84-426E-40DD-AFC4-6F175D3DCCD1}">
              <a14:hiddenFill xmlns:a14="http://schemas.microsoft.com/office/drawing/2010/main">
                <a:solidFill>
                  <a:schemeClr val="accent1">
                    <a:alpha val="0"/>
                  </a:schemeClr>
                </a:solidFill>
              </a14:hiddenFill>
            </a:ext>
          </a:extLst>
        </p:spPr>
      </p:pic>
      <p:sp>
        <p:nvSpPr>
          <p:cNvPr id="5" name="QC_4_BD.22_3#1f2f160f4.choices?htil=5&amp;vcp=1&amp;pid=a6a02b6c9&amp;color=0,0,0&amp;bbb=1&amp;hs=1"/>
          <p:cNvSpPr/>
          <p:nvPr/>
        </p:nvSpPr>
        <p:spPr>
          <a:xfrm>
            <a:off x="393192" y="2783172"/>
            <a:ext cx="10049256" cy="872427"/>
          </a:xfrm>
          <a:prstGeom prst="rect">
            <a:avLst/>
          </a:prstGeom>
          <a:noFill/>
          <a:ln/>
        </p:spPr>
        <p:txBody>
          <a:bodyPr wrap="none" lIns="0" tIns="0" rIns="0" bIns="0" rtlCol="0" anchor="t"/>
          <a:lstStyle/>
          <a:p>
            <a:pPr latinLnBrk="1">
              <a:lnSpc>
                <a:spcPts val="7800"/>
              </a:lnSpc>
              <a:tabLst>
                <a:tab pos="2547239" algn="l"/>
                <a:tab pos="5132578" algn="l"/>
                <a:tab pos="7654418" algn="l"/>
              </a:tabLst>
            </a:pPr>
            <a:r>
              <a:rPr lang="en-US" altLang="zh-CN" sz="2400" b="0" i="0">
                <a:solidFill>
                  <a:srgbClr val="000000"/>
                </a:solidFill>
                <a:latin typeface="Times New Roman" pitchFamily="34" charset="0"/>
                <a:ea typeface="微软雅黑" pitchFamily="34" charset="-122"/>
                <a:cs typeface="Times New Roman" pitchFamily="34" charset="-120"/>
              </a:rPr>
              <a:t>A.</a:t>
            </a:r>
            <a:r>
              <a:rPr lang="en-US" altLang="zh-CN" sz="41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41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435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kern="0" spc="-99900">
                <a:solidFill>
                  <a:srgbClr val="FFFFFF"/>
                </a:solidFill>
                <a:latin typeface="Times New Roman" pitchFamily="34" charset="0"/>
                <a:ea typeface="微软雅黑" pitchFamily="34" charset="-122"/>
                <a:cs typeface="Times New Roman" pitchFamily="34" charset="-120"/>
              </a:rPr>
              <a:t> </a:t>
            </a:r>
            <a:r>
              <a:rPr lang="en-US" altLang="zh-CN" sz="900" b="0" i="0" kern="0">
                <a:solidFill>
                  <a:srgbClr val="FFFFFF"/>
                </a:solidFill>
                <a:latin typeface="SimSun" panose="02010600030101010101" pitchFamily="2" charset="-122"/>
                <a:ea typeface="微软雅黑" pitchFamily="34" charset="-122"/>
                <a:cs typeface="Times New Roman" pitchFamily="34" charset="-120"/>
              </a:rPr>
              <a:t>                                  </a:t>
            </a:r>
            <a:endParaRPr lang="en-US" altLang="zh-CN" sz="900" dirty="0">
              <a:latin typeface="SimSun" panose="02010600030101010101" pitchFamily="2" charset="-122"/>
            </a:endParaRPr>
          </a:p>
        </p:txBody>
      </p:sp>
      <p:pic>
        <p:nvPicPr>
          <p:cNvPr id="6" name="QC_4_BD.22_3#1f2f160f4.choice_image?htil=5&amp;vcp=1&amp;pid=a6a02b6c9&amp;color=0,0,0&amp;tib=255,255,255&amp;iip=1" descr="preencoded.png"/>
          <p:cNvPicPr>
            <a:picLocks noChangeAspect="1"/>
          </p:cNvPicPr>
          <p:nvPr/>
        </p:nvPicPr>
        <p:blipFill>
          <a:blip r:embed="rId5">
            <a:clrChange>
              <a:clrFrom>
                <a:srgbClr val="FFFFFF"/>
              </a:clrFrom>
              <a:clrTo>
                <a:srgbClr val="FFFFFF">
                  <a:alpha val="0"/>
                </a:srgbClr>
              </a:clrTo>
            </a:clrChange>
          </a:blip>
          <a:stretch>
            <a:fillRect/>
          </a:stretch>
        </p:blipFill>
        <p:spPr>
          <a:xfrm>
            <a:off x="700373" y="2835496"/>
            <a:ext cx="1865376" cy="82296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7" name="QC_4_BD.22_3#1f2f160f4.choice_image?htil=5&amp;vcp=1&amp;pid=a6a02b6c9&amp;color=0,0,0&amp;tib=255,255,255&amp;iip=2" descr="preencoded.png"/>
          <p:cNvPicPr>
            <a:picLocks noChangeAspect="1"/>
          </p:cNvPicPr>
          <p:nvPr/>
        </p:nvPicPr>
        <p:blipFill>
          <a:blip r:embed="rId6">
            <a:clrChange>
              <a:clrFrom>
                <a:srgbClr val="FFFFFF"/>
              </a:clrFrom>
              <a:clrTo>
                <a:srgbClr val="FFFFFF">
                  <a:alpha val="0"/>
                </a:srgbClr>
              </a:clrTo>
            </a:clrChange>
          </a:blip>
          <a:stretch>
            <a:fillRect/>
          </a:stretch>
        </p:blipFill>
        <p:spPr>
          <a:xfrm>
            <a:off x="3235611" y="2835496"/>
            <a:ext cx="1911096" cy="822960"/>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8" name="QC_4_BD.22_3#1f2f160f4.choice_image?htil=5&amp;vcp=1&amp;pid=a6a02b6c9&amp;color=0,0,0&amp;tib=255,255,255&amp;iip=3" descr="preencoded.png"/>
          <p:cNvPicPr>
            <a:picLocks noChangeAspect="1"/>
          </p:cNvPicPr>
          <p:nvPr/>
        </p:nvPicPr>
        <p:blipFill>
          <a:blip r:embed="rId7">
            <a:clrChange>
              <a:clrFrom>
                <a:srgbClr val="FFFFFF"/>
              </a:clrFrom>
              <a:clrTo>
                <a:srgbClr val="FFFFFF">
                  <a:alpha val="0"/>
                </a:srgbClr>
              </a:clrTo>
            </a:clrChange>
          </a:blip>
          <a:stretch>
            <a:fillRect/>
          </a:stretch>
        </p:blipFill>
        <p:spPr>
          <a:xfrm>
            <a:off x="5815616" y="2780632"/>
            <a:ext cx="1865376" cy="877824"/>
          </a:xfrm>
          <a:prstGeom prst="rect">
            <a:avLst/>
          </a:prstGeom>
          <a:noFill/>
          <a:extLst>
            <a:ext uri="{909E8E84-426E-40DD-AFC4-6F175D3DCCD1}">
              <a14:hiddenFill xmlns:a14="http://schemas.microsoft.com/office/drawing/2010/main">
                <a:solidFill>
                  <a:schemeClr val="accent1">
                    <a:alpha val="0"/>
                  </a:schemeClr>
                </a:solidFill>
              </a14:hiddenFill>
            </a:ext>
          </a:extLst>
        </p:spPr>
      </p:pic>
      <p:pic>
        <p:nvPicPr>
          <p:cNvPr id="9" name="QC_4_BD.22_3#1f2f160f4.choice_image?htil=5&amp;vcp=1&amp;pid=a6a02b6c9&amp;color=0,0,0&amp;tib=255,255,255&amp;iip=4" descr="preencoded.png"/>
          <p:cNvPicPr>
            <a:picLocks noChangeAspect="1"/>
          </p:cNvPicPr>
          <p:nvPr/>
        </p:nvPicPr>
        <p:blipFill>
          <a:blip r:embed="rId8">
            <a:clrChange>
              <a:clrFrom>
                <a:srgbClr val="FFFFFF"/>
              </a:clrFrom>
              <a:clrTo>
                <a:srgbClr val="FFFFFF">
                  <a:alpha val="0"/>
                </a:srgbClr>
              </a:clrTo>
            </a:clrChange>
          </a:blip>
          <a:stretch>
            <a:fillRect/>
          </a:stretch>
        </p:blipFill>
        <p:spPr>
          <a:xfrm>
            <a:off x="8360378" y="2780632"/>
            <a:ext cx="1911096" cy="87782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10" name="QC_4_AS.24_1#1f2f160f4?vcp=1&amp;pid=a6a02b6c9&amp;color=0,0,0&amp;bbb=1&amp;hb=1&amp;hs=1"/>
              <p:cNvSpPr/>
              <p:nvPr/>
            </p:nvSpPr>
            <p:spPr>
              <a:xfrm>
                <a:off x="393192" y="3656615"/>
                <a:ext cx="11402568" cy="2155000"/>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由题图可知，第三条轮胎与地面之间的最大静摩擦力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𝒇</m:t>
                        </m:r>
                      </m:e>
                      <m:sub>
                        <m:r>
                          <a:rPr lang="en-US" altLang="zh-CN" sz="2400" b="1" i="1">
                            <a:solidFill>
                              <a:srgbClr val="FF0000"/>
                            </a:solidFill>
                            <a:latin typeface="Cambria Math" pitchFamily="34" charset="0"/>
                            <a:ea typeface="Cambria Math" pitchFamily="34" charset="-122"/>
                            <a:cs typeface="Cambria Math" pitchFamily="34" charset="-120"/>
                          </a:rPr>
                          <m:t>𝟑</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𝟑</m:t>
                    </m:r>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，第二条轮胎</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与第三条轮胎之间的最大静摩擦力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𝒇</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，由此可发现</a:t>
                </a:r>
                <a:r>
                  <a:rPr lang="en-US" altLang="zh-CN" sz="2400" b="1" i="0">
                    <a:solidFill>
                      <a:srgbClr val="FF0000"/>
                    </a:solidFill>
                    <a:latin typeface="Times New Roman" pitchFamily="34" charset="0"/>
                    <a:ea typeface="微软雅黑" pitchFamily="34" charset="-122"/>
                    <a:cs typeface="Times New Roman" pitchFamily="34" charset="-120"/>
                  </a:rPr>
                  <a:t>，第三条轮胎不可能对地</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发生位移</a:t>
                </a:r>
                <a:r>
                  <a:rPr lang="en-US" altLang="zh-CN" sz="2400" b="1" i="0" dirty="0">
                    <a:solidFill>
                      <a:srgbClr val="FF0000"/>
                    </a:solidFill>
                    <a:latin typeface="Times New Roman" pitchFamily="34" charset="0"/>
                    <a:ea typeface="微软雅黑" pitchFamily="34" charset="-122"/>
                    <a:cs typeface="Times New Roman" pitchFamily="34" charset="-120"/>
                  </a:rPr>
                  <a:t>，当拉力足够大时，第二条轮胎可以带动第一条轮胎运动</a:t>
                </a:r>
                <a:r>
                  <a:rPr lang="en-US" altLang="zh-CN" sz="2400" b="1" i="0">
                    <a:solidFill>
                      <a:srgbClr val="FF0000"/>
                    </a:solidFill>
                    <a:latin typeface="Times New Roman" pitchFamily="34" charset="0"/>
                    <a:ea typeface="微软雅黑" pitchFamily="34" charset="-122"/>
                    <a:cs typeface="Times New Roman" pitchFamily="34" charset="-120"/>
                  </a:rPr>
                  <a:t>，同时与第一条轮</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胎产生相对位移</a:t>
                </a:r>
                <a:r>
                  <a:rPr lang="en-US" altLang="zh-CN" sz="2400" b="1" i="0" dirty="0">
                    <a:solidFill>
                      <a:srgbClr val="FF0000"/>
                    </a:solidFill>
                    <a:latin typeface="Times New Roman" pitchFamily="34" charset="0"/>
                    <a:ea typeface="微软雅黑" pitchFamily="34" charset="-122"/>
                    <a:cs typeface="Times New Roman" pitchFamily="34" charset="-120"/>
                  </a:rPr>
                  <a:t>，故A正确，B、C、D错误.</a:t>
                </a:r>
                <a:endParaRPr lang="en-US" altLang="zh-CN" sz="2400" dirty="0"/>
              </a:p>
            </p:txBody>
          </p:sp>
        </mc:Choice>
        <mc:Fallback>
          <p:sp>
            <p:nvSpPr>
              <p:cNvPr id="10" name="QC_4_AS.24_1#1f2f160f4?vcp=1&amp;pid=a6a02b6c9&amp;color=0,0,0&amp;bbb=1&amp;hb=1&amp;hs=1"/>
              <p:cNvSpPr>
                <a:spLocks noRot="1" noChangeAspect="1" noMove="1" noResize="1" noEditPoints="1" noAdjustHandles="1" noChangeArrowheads="1" noChangeShapeType="1" noTextEdit="1"/>
              </p:cNvSpPr>
              <p:nvPr/>
            </p:nvSpPr>
            <p:spPr>
              <a:xfrm>
                <a:off x="393192" y="3656615"/>
                <a:ext cx="11402568" cy="2155000"/>
              </a:xfrm>
              <a:prstGeom prst="rect">
                <a:avLst/>
              </a:prstGeom>
              <a:blipFill>
                <a:blip r:embed="rId9"/>
                <a:stretch>
                  <a:fillRect l="-1658" r="-1444" b="-8499"/>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0">
                                            <p:bg/>
                                          </p:spTgt>
                                        </p:tgtEl>
                                        <p:attrNameLst>
                                          <p:attrName>style.visibility</p:attrName>
                                        </p:attrNameLst>
                                      </p:cBhvr>
                                      <p:to>
                                        <p:strVal val="visible"/>
                                      </p:to>
                                    </p:set>
                                    <p:animEffect transition="in" filter="wipe(left)">
                                      <p:cBhvr>
                                        <p:cTn id="15" dur="500"/>
                                        <p:tgtEl>
                                          <p:spTgt spid="10">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0">
                                            <p:txEl>
                                              <p:pRg st="0" end="0"/>
                                            </p:txEl>
                                          </p:spTgt>
                                        </p:tgtEl>
                                        <p:attrNameLst>
                                          <p:attrName>style.visibility</p:attrName>
                                        </p:attrNameLst>
                                      </p:cBhvr>
                                      <p:to>
                                        <p:strVal val="visible"/>
                                      </p:to>
                                    </p:set>
                                    <p:animEffect transition="in" filter="wipe(left)">
                                      <p:cBhvr>
                                        <p:cTn id="18" dur="500"/>
                                        <p:tgtEl>
                                          <p:spTgt spid="10">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wipe(left)">
                                      <p:cBhvr>
                                        <p:cTn id="21" dur="500"/>
                                        <p:tgtEl>
                                          <p:spTgt spid="10">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0">
                                            <p:txEl>
                                              <p:pRg st="2" end="2"/>
                                            </p:txEl>
                                          </p:spTgt>
                                        </p:tgtEl>
                                        <p:attrNameLst>
                                          <p:attrName>style.visibility</p:attrName>
                                        </p:attrNameLst>
                                      </p:cBhvr>
                                      <p:to>
                                        <p:strVal val="visible"/>
                                      </p:to>
                                    </p:set>
                                    <p:animEffect transition="in" filter="wipe(left)">
                                      <p:cBhvr>
                                        <p:cTn id="24" dur="500"/>
                                        <p:tgtEl>
                                          <p:spTgt spid="10">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0">
                                            <p:txEl>
                                              <p:pRg st="3" end="3"/>
                                            </p:txEl>
                                          </p:spTgt>
                                        </p:tgtEl>
                                        <p:attrNameLst>
                                          <p:attrName>style.visibility</p:attrName>
                                        </p:attrNameLst>
                                      </p:cBhvr>
                                      <p:to>
                                        <p:strVal val="visible"/>
                                      </p:to>
                                    </p:set>
                                    <p:animEffect transition="in" filter="wipe(left)">
                                      <p:cBhvr>
                                        <p:cTn id="27"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10" grpId="0" build="p"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amp;si=12">
    <p:spTree>
      <p:nvGrpSpPr>
        <p:cNvPr id="1" name=""/>
        <p:cNvGrpSpPr/>
        <p:nvPr/>
      </p:nvGrpSpPr>
      <p:grpSpPr>
        <a:xfrm>
          <a:off x="0" y="0"/>
          <a:ext cx="0" cy="0"/>
          <a:chOff x="0" y="0"/>
          <a:chExt cx="0" cy="0"/>
        </a:xfrm>
      </p:grpSpPr>
      <p:pic>
        <p:nvPicPr>
          <p:cNvPr id="2" name="QC_4_BD.25_1#cc49b43d8?htil=6&amp;vcp=1&amp;pid=a6a02b6c9&amp;color=0,0,0&amp;tib=255,255,255&amp;hs=1&amp;hs=1" descr="preencoded.png"/>
          <p:cNvPicPr>
            <a:picLocks noChangeAspect="1"/>
          </p:cNvPicPr>
          <p:nvPr/>
        </p:nvPicPr>
        <p:blipFill>
          <a:blip r:embed="rId3">
            <a:clrChange>
              <a:clrFrom>
                <a:srgbClr val="FFFFFF"/>
              </a:clrFrom>
              <a:clrTo>
                <a:srgbClr val="FFFFFF">
                  <a:alpha val="0"/>
                </a:srgbClr>
              </a:clrTo>
            </a:clrChange>
          </a:blip>
          <a:stretch>
            <a:fillRect/>
          </a:stretch>
        </p:blipFill>
        <p:spPr>
          <a:xfrm>
            <a:off x="10042075" y="826738"/>
            <a:ext cx="1645920" cy="804672"/>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3" name="QC_4_BD.25_2#cc49b43d8?htil=6&amp;vcp=1&amp;pid=a6a02b6c9&amp;color=0,0,0&amp;bt=1&amp;bbb=1&amp;hb=1&amp;hs=1"/>
              <p:cNvSpPr/>
              <p:nvPr/>
            </p:nvSpPr>
            <p:spPr>
              <a:xfrm>
                <a:off x="393192" y="781019"/>
                <a:ext cx="9656064" cy="1037590"/>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5.</a:t>
                </a:r>
                <a:r>
                  <a:rPr lang="en-US" altLang="zh-CN" sz="2400" b="1" i="0" dirty="0">
                    <a:solidFill>
                      <a:srgbClr val="000000"/>
                    </a:solidFill>
                    <a:latin typeface="Times New Roman" pitchFamily="34" charset="0"/>
                    <a:ea typeface="微软雅黑" pitchFamily="34" charset="-122"/>
                    <a:cs typeface="Times New Roman" pitchFamily="34" charset="-120"/>
                  </a:rPr>
                  <a:t>考点1、2、3</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如图所示，滑块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置于水平地面上，滑块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在一水平力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100" b="0" i="0" kern="0" spc="-99900">
                  <a:solidFill>
                    <a:srgbClr val="FFFFFF"/>
                  </a:solidFill>
                  <a:latin typeface="Times New Roman" pitchFamily="34" charset="0"/>
                  <a:ea typeface="微软雅黑" pitchFamily="34" charset="-122"/>
                  <a:cs typeface="Times New Roman" pitchFamily="34" charset="-120"/>
                </a:endParaRP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作用下紧靠滑块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接触面竖直），此时</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恰好不滑动，</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刚好不下</a:t>
                </a:r>
                <a:endParaRPr lang="en-US" altLang="zh-CN" sz="2400" dirty="0"/>
              </a:p>
            </p:txBody>
          </p:sp>
        </mc:Choice>
        <mc:Fallback>
          <p:sp>
            <p:nvSpPr>
              <p:cNvPr id="3" name="QC_4_BD.25_2#cc49b43d8?htil=6&amp;vcp=1&amp;pid=a6a02b6c9&amp;color=0,0,0&amp;bt=1&amp;bbb=1&amp;hb=1&amp;hs=1"/>
              <p:cNvSpPr>
                <a:spLocks noRot="1" noChangeAspect="1" noMove="1" noResize="1" noEditPoints="1" noAdjustHandles="1" noChangeArrowheads="1" noChangeShapeType="1" noTextEdit="1"/>
              </p:cNvSpPr>
              <p:nvPr/>
            </p:nvSpPr>
            <p:spPr>
              <a:xfrm>
                <a:off x="393192" y="781019"/>
                <a:ext cx="9656064" cy="1037590"/>
              </a:xfrm>
              <a:prstGeom prst="rect">
                <a:avLst/>
              </a:prstGeom>
              <a:blipFill>
                <a:blip r:embed="rId4"/>
                <a:stretch>
                  <a:fillRect l="-1957" r="-631" b="-17647"/>
                </a:stretch>
              </a:blipFill>
              <a:ln/>
            </p:spPr>
            <p:txBody>
              <a:bodyPr/>
              <a:lstStyle/>
              <a:p>
                <a:r>
                  <a:rPr lang="zh-CN" altLang="en-US">
                    <a:noFill/>
                  </a:rPr>
                  <a:t> </a:t>
                </a:r>
              </a:p>
            </p:txBody>
          </p:sp>
        </mc:Fallback>
      </mc:AlternateContent>
      <p:sp>
        <p:nvSpPr>
          <p:cNvPr id="4" name="QC_4_AN.26_1#cc49b43d8.bracket?vcp=1&amp;pid=a6a02b6c9&amp;color=0,0,0&amp;vpa=10"/>
          <p:cNvSpPr/>
          <p:nvPr/>
        </p:nvSpPr>
        <p:spPr>
          <a:xfrm>
            <a:off x="5313340" y="2374614"/>
            <a:ext cx="423863"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B</a:t>
            </a:r>
            <a:endParaRPr lang="en-US" altLang="zh-CN" sz="2400" dirty="0"/>
          </a:p>
        </p:txBody>
      </p:sp>
      <mc:AlternateContent xmlns:mc="http://schemas.openxmlformats.org/markup-compatibility/2006">
        <mc:Choice xmlns:a14="http://schemas.microsoft.com/office/drawing/2010/main" Requires="a14">
          <p:sp>
            <p:nvSpPr>
              <p:cNvPr id="5" name="QC_4_BD.25_3#cc49b43d8.choices?vcp=1&amp;pid=a6a02b6c9&amp;color=0,0,0&amp;bbb=1"/>
              <p:cNvSpPr/>
              <p:nvPr/>
            </p:nvSpPr>
            <p:spPr>
              <a:xfrm>
                <a:off x="393192" y="2867374"/>
                <a:ext cx="11402568" cy="774700"/>
              </a:xfrm>
              <a:prstGeom prst="rect">
                <a:avLst/>
              </a:prstGeom>
              <a:noFill/>
              <a:ln/>
            </p:spPr>
            <p:txBody>
              <a:bodyPr wrap="none" lIns="0" tIns="0" rIns="0" bIns="0" rtlCol="0" anchor="t"/>
              <a:lstStyle/>
              <a:p>
                <a:pPr latinLnBrk="1">
                  <a:lnSpc>
                    <a:spcPts val="6100"/>
                  </a:lnSpc>
                  <a:tabLst>
                    <a:tab pos="2697602" algn="l"/>
                    <a:tab pos="5661904" algn="l"/>
                    <a:tab pos="862620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1+</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den>
                    </m:f>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f>
                      <m:f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fPr>
                      <m:num>
                        <m:r>
                          <a:rPr lang="en-US" altLang="zh-CN" sz="2400" b="0" i="0">
                            <a:solidFill>
                              <a:srgbClr val="000000"/>
                            </a:solidFill>
                            <a:latin typeface="Cambria Math" pitchFamily="34" charset="0"/>
                            <a:ea typeface="Cambria Math" pitchFamily="34" charset="-122"/>
                            <a:cs typeface="Cambria Math" pitchFamily="34" charset="-120"/>
                          </a:rPr>
                          <m:t>2+</m:t>
                        </m:r>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num>
                      <m:den>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den>
                    </m:f>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25_3#cc49b43d8.choices?vcp=1&amp;pid=a6a02b6c9&amp;color=0,0,0&amp;bbb=1"/>
              <p:cNvSpPr>
                <a:spLocks noRot="1" noChangeAspect="1" noMove="1" noResize="1" noEditPoints="1" noAdjustHandles="1" noChangeArrowheads="1" noChangeShapeType="1" noTextEdit="1"/>
              </p:cNvSpPr>
              <p:nvPr/>
            </p:nvSpPr>
            <p:spPr>
              <a:xfrm>
                <a:off x="393192" y="2867374"/>
                <a:ext cx="11402568" cy="774700"/>
              </a:xfrm>
              <a:prstGeom prst="rect">
                <a:avLst/>
              </a:prstGeom>
              <a:blipFill>
                <a:blip r:embed="rId5"/>
                <a:stretch>
                  <a:fillRect l="-1658" b="-7874"/>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QC_4_AS.27_1#cc49b43d8?vcp=1&amp;pid=a6a02b6c9&amp;color=0,0,0&amp;bbb=1&amp;hb=1"/>
              <p:cNvSpPr/>
              <p:nvPr/>
            </p:nvSpPr>
            <p:spPr>
              <a:xfrm>
                <a:off x="393192" y="3642074"/>
                <a:ext cx="11402568" cy="2228914"/>
              </a:xfrm>
              <a:prstGeom prst="rect">
                <a:avLst/>
              </a:prstGeom>
              <a:noFill/>
              <a:ln/>
            </p:spPr>
            <p:txBody>
              <a:bodyPr wrap="none" lIns="0" tIns="0" rIns="0" bIns="0" rtlCol="0" anchor="t"/>
              <a:lstStyle/>
              <a:p>
                <a:pPr algn="l" latinLnBrk="1">
                  <a:lnSpc>
                    <a:spcPts val="44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滑块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刚好不下滑，则在竖直方向滑块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的重力恰好等于</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的最大静摩擦力，</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即有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1">
                        <a:solidFill>
                          <a:srgbClr val="FF0000"/>
                        </a:solidFill>
                        <a:latin typeface="Cambria Math" pitchFamily="34" charset="0"/>
                        <a:ea typeface="Cambria Math" pitchFamily="34" charset="-122"/>
                        <a:cs typeface="Cambria Math" pitchFamily="34" charset="-120"/>
                      </a:rPr>
                      <m:t>𝒈</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1">
                        <a:solidFill>
                          <a:srgbClr val="FF0000"/>
                        </a:solidFill>
                        <a:latin typeface="Cambria Math" pitchFamily="34" charset="0"/>
                        <a:ea typeface="Cambria Math" pitchFamily="34" charset="-122"/>
                        <a:cs typeface="Cambria Math" pitchFamily="34" charset="-120"/>
                      </a:rPr>
                      <m:t>𝑵</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；滑块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恰好不滑动，则滑块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与地面之间的摩擦力等于最大</a:t>
                </a:r>
              </a:p>
              <a:p>
                <a:pPr latinLnBrk="1">
                  <a:lnSpc>
                    <a:spcPts val="4400"/>
                  </a:lnSpc>
                </a:pPr>
                <a:r>
                  <a:rPr lang="en-US" altLang="zh-CN" sz="2400" b="1" i="0">
                    <a:solidFill>
                      <a:srgbClr val="FF0000"/>
                    </a:solidFill>
                    <a:latin typeface="Times New Roman" pitchFamily="34" charset="0"/>
                    <a:ea typeface="微软雅黑" pitchFamily="34" charset="-122"/>
                    <a:cs typeface="Times New Roman" pitchFamily="34" charset="-120"/>
                  </a:rPr>
                  <a:t>静摩擦力</a:t>
                </a:r>
                <a:r>
                  <a:rPr lang="en-US" altLang="zh-CN" sz="2400" b="1" i="0" dirty="0">
                    <a:solidFill>
                      <a:srgbClr val="FF0000"/>
                    </a:solidFill>
                    <a:latin typeface="Times New Roman" pitchFamily="34" charset="0"/>
                    <a:ea typeface="微软雅黑" pitchFamily="34" charset="-122"/>
                    <a:cs typeface="Times New Roman" pitchFamily="34" charset="-120"/>
                  </a:rPr>
                  <a:t>，把</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𝑨</m:t>
                    </m:r>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𝑩</m:t>
                    </m:r>
                  </m:oMath>
                </a14:m>
                <a:r>
                  <a:rPr lang="en-US" altLang="zh-CN" sz="2400" b="1" i="0" dirty="0">
                    <a:solidFill>
                      <a:srgbClr val="FF0000"/>
                    </a:solidFill>
                    <a:latin typeface="Times New Roman" pitchFamily="34" charset="0"/>
                    <a:ea typeface="微软雅黑" pitchFamily="34" charset="-122"/>
                    <a:cs typeface="Times New Roman" pitchFamily="34" charset="-120"/>
                  </a:rPr>
                  <a:t>看成一个整体，根据水平方向受力平衡，有</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𝑨</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𝑩</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300"/>
                  </a:lnSpc>
                </a:pPr>
                <a:r>
                  <a:rPr lang="en-US" altLang="zh-CN" sz="2400" b="1" i="0">
                    <a:solidFill>
                      <a:srgbClr val="FF0000"/>
                    </a:solidFill>
                    <a:latin typeface="Times New Roman" pitchFamily="34" charset="0"/>
                    <a:ea typeface="微软雅黑" pitchFamily="34" charset="-122"/>
                    <a:cs typeface="Times New Roman" pitchFamily="34" charset="-120"/>
                  </a:rPr>
                  <a:t>联立解得</a:t>
                </a:r>
                <a14:m>
                  <m:oMath xmlns:m="http://schemas.openxmlformats.org/officeDocument/2006/math">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𝑨</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𝒎</m:t>
                            </m:r>
                          </m:e>
                          <m:sub>
                            <m:r>
                              <a:rPr lang="en-US" altLang="zh-CN" sz="2400" b="1" i="1">
                                <a:solidFill>
                                  <a:srgbClr val="FF0000"/>
                                </a:solidFill>
                                <a:latin typeface="Cambria Math" pitchFamily="34" charset="0"/>
                                <a:ea typeface="Cambria Math" pitchFamily="34" charset="-122"/>
                                <a:cs typeface="Cambria Math" pitchFamily="34" charset="-120"/>
                              </a:rPr>
                              <m:t>𝑩</m:t>
                            </m:r>
                          </m:sub>
                        </m:sSub>
                      </m:den>
                    </m:f>
                    <m:r>
                      <a:rPr lang="en-US" altLang="zh-CN" sz="2400" b="1" i="0">
                        <a:solidFill>
                          <a:srgbClr val="FF0000"/>
                        </a:solidFill>
                        <a:latin typeface="Cambria Math" pitchFamily="34" charset="0"/>
                        <a:ea typeface="Cambria Math" pitchFamily="34" charset="-122"/>
                        <a:cs typeface="Cambria Math" pitchFamily="34" charset="-120"/>
                      </a:rPr>
                      <m:t>=</m:t>
                    </m:r>
                    <m:f>
                      <m:f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fPr>
                      <m:num>
                        <m:r>
                          <a:rPr lang="en-US" altLang="zh-CN" sz="2400" b="1" i="1">
                            <a:solidFill>
                              <a:srgbClr val="FF0000"/>
                            </a:solidFill>
                            <a:latin typeface="Cambria Math" pitchFamily="34" charset="0"/>
                            <a:ea typeface="Cambria Math" pitchFamily="34" charset="-122"/>
                            <a:cs typeface="Cambria Math" pitchFamily="34" charset="-120"/>
                          </a:rPr>
                          <m:t>𝟏</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𝟏</m:t>
                            </m:r>
                          </m:sub>
                        </m:sSub>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𝟐</m:t>
                            </m:r>
                          </m:sub>
                        </m:sSub>
                      </m:num>
                      <m:den>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𝟏</m:t>
                            </m:r>
                          </m:sub>
                        </m:sSub>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𝛍</m:t>
                            </m:r>
                          </m:e>
                          <m:sub>
                            <m:r>
                              <a:rPr lang="en-US" altLang="zh-CN" sz="2400" b="1" i="1">
                                <a:solidFill>
                                  <a:srgbClr val="FF0000"/>
                                </a:solidFill>
                                <a:latin typeface="Cambria Math" pitchFamily="34" charset="0"/>
                                <a:ea typeface="Cambria Math" pitchFamily="34" charset="-122"/>
                                <a:cs typeface="Cambria Math" pitchFamily="34" charset="-120"/>
                              </a:rPr>
                              <m:t>𝟐</m:t>
                            </m:r>
                          </m:sub>
                        </m:sSub>
                      </m:den>
                    </m:f>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，故选B.</a:t>
                </a:r>
                <a:endParaRPr lang="en-US" altLang="zh-CN" sz="2400" dirty="0"/>
              </a:p>
            </p:txBody>
          </p:sp>
        </mc:Choice>
        <mc:Fallback>
          <p:sp>
            <p:nvSpPr>
              <p:cNvPr id="6" name="QC_4_AS.27_1#cc49b43d8?vcp=1&amp;pid=a6a02b6c9&amp;color=0,0,0&amp;bbb=1&amp;hb=1"/>
              <p:cNvSpPr>
                <a:spLocks noRot="1" noChangeAspect="1" noMove="1" noResize="1" noEditPoints="1" noAdjustHandles="1" noChangeArrowheads="1" noChangeShapeType="1" noTextEdit="1"/>
              </p:cNvSpPr>
              <p:nvPr/>
            </p:nvSpPr>
            <p:spPr>
              <a:xfrm>
                <a:off x="393192" y="3642074"/>
                <a:ext cx="11402568" cy="2228914"/>
              </a:xfrm>
              <a:prstGeom prst="rect">
                <a:avLst/>
              </a:prstGeom>
              <a:blipFill>
                <a:blip r:embed="rId6"/>
                <a:stretch>
                  <a:fillRect l="-1658" r="-3209" b="-2732"/>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QC_4_BD.25_2#cc49b43d8?htil=6&amp;vcp=1&amp;pid=a6a02b6c9&amp;color=0,0,0&amp;bt=1&amp;bbb=1&amp;hb=1&amp;hs=1">
                <a:extLst>
                  <a:ext uri="{FF2B5EF4-FFF2-40B4-BE49-F238E27FC236}">
                    <a16:creationId xmlns:a16="http://schemas.microsoft.com/office/drawing/2014/main" id="{021B1953-A0FC-BA99-D750-DBC671978B11}"/>
                  </a:ext>
                </a:extLst>
              </p:cNvPr>
              <p:cNvSpPr/>
              <p:nvPr/>
            </p:nvSpPr>
            <p:spPr>
              <a:xfrm>
                <a:off x="395996" y="1827244"/>
                <a:ext cx="11400008" cy="1033399"/>
              </a:xfrm>
              <a:prstGeom prst="rect">
                <a:avLst/>
              </a:prstGeom>
              <a:noFill/>
              <a:ln/>
            </p:spPr>
            <p:txBody>
              <a:bodyPr wrap="none" lIns="0" tIns="0" rIns="0" bIns="0" rtlCol="0" anchor="t"/>
              <a:lstStyle/>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滑</a:t>
                </a:r>
                <a:r>
                  <a:rPr lang="en-US" altLang="zh-CN" sz="2400" b="0" i="0" dirty="0">
                    <a:solidFill>
                      <a:srgbClr val="000000"/>
                    </a:solidFill>
                    <a:latin typeface="Times New Roman" pitchFamily="34" charset="0"/>
                    <a:ea typeface="微软雅黑" pitchFamily="34" charset="-122"/>
                    <a:cs typeface="Times New Roman" pitchFamily="34" charset="-120"/>
                  </a:rPr>
                  <a:t>.已知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2400" b="0" i="0" dirty="0">
                    <a:solidFill>
                      <a:srgbClr val="000000"/>
                    </a:solidFill>
                    <a:latin typeface="Times New Roman" pitchFamily="34" charset="0"/>
                    <a:ea typeface="微软雅黑" pitchFamily="34" charset="-122"/>
                    <a:cs typeface="Times New Roman" pitchFamily="34" charset="-120"/>
                  </a:rPr>
                  <a:t>间的动摩擦因数为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1</m:t>
                        </m:r>
                      </m:sub>
                    </m:sSub>
                  </m:oMath>
                </a14:m>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与地面间的动摩擦因数为</a:t>
                </a:r>
                <a14:m>
                  <m:oMath xmlns:m="http://schemas.openxmlformats.org/officeDocument/2006/math">
                    <m:sSub>
                      <m:sSubPr>
                        <m:ctrlPr>
                          <a:rPr lang="en-US" altLang="zh-CN" sz="2400" b="0" i="1" dirty="0">
                            <a:solidFill>
                              <a:srgbClr val="000000"/>
                            </a:solidFill>
                            <a:latin typeface="Cambria Math" panose="02040503050406030204" pitchFamily="18" charset="0"/>
                            <a:ea typeface="微软雅黑" pitchFamily="34" charset="-122"/>
                            <a:cs typeface="Times New Roman" pitchFamily="34" charset="-120"/>
                          </a:rPr>
                        </m:ctrlPr>
                      </m:sSubPr>
                      <m:e>
                        <m:r>
                          <m:rPr>
                            <m:sty m:val="p"/>
                          </m:rPr>
                          <a:rPr lang="en-US" altLang="zh-CN" sz="2400" b="0" i="0">
                            <a:solidFill>
                              <a:srgbClr val="000000"/>
                            </a:solidFill>
                            <a:latin typeface="Cambria Math" pitchFamily="34" charset="0"/>
                            <a:ea typeface="Cambria Math" pitchFamily="34" charset="-122"/>
                            <a:cs typeface="Cambria Math" pitchFamily="34" charset="-120"/>
                          </a:rPr>
                          <m:t>μ</m:t>
                        </m:r>
                      </m:e>
                      <m:sub>
                        <m:r>
                          <a:rPr lang="en-US" altLang="zh-CN" sz="2400" b="0" i="0">
                            <a:solidFill>
                              <a:srgbClr val="000000"/>
                            </a:solidFill>
                            <a:latin typeface="Cambria Math" pitchFamily="34" charset="0"/>
                            <a:ea typeface="Cambria Math" pitchFamily="34" charset="-122"/>
                            <a:cs typeface="Cambria Math" pitchFamily="34" charset="-120"/>
                          </a:rPr>
                          <m:t>2</m:t>
                        </m:r>
                      </m:sub>
                    </m:sSub>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，最大静摩擦力等于</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滑动摩擦力</a:t>
                </a:r>
                <a:r>
                  <a:rPr lang="en-US" altLang="zh-CN" sz="2400" b="0" i="0" dirty="0">
                    <a:solidFill>
                      <a:srgbClr val="000000"/>
                    </a:solidFill>
                    <a:latin typeface="Times New Roman" pitchFamily="34" charset="0"/>
                    <a:ea typeface="微软雅黑" pitchFamily="34" charset="-122"/>
                    <a:cs typeface="Times New Roman" pitchFamily="34" charset="-120"/>
                  </a:rPr>
                  <a:t>，则</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𝐴</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𝐵</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的质量之比为(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7" name="QC_4_BD.25_2#cc49b43d8?htil=6&amp;vcp=1&amp;pid=a6a02b6c9&amp;color=0,0,0&amp;bt=1&amp;bbb=1&amp;hb=1&amp;hs=1">
                <a:extLst>
                  <a:ext uri="{FF2B5EF4-FFF2-40B4-BE49-F238E27FC236}">
                    <a16:creationId xmlns:a16="http://schemas.microsoft.com/office/drawing/2014/main" id="{021B1953-A0FC-BA99-D750-DBC671978B11}"/>
                  </a:ext>
                </a:extLst>
              </p:cNvPr>
              <p:cNvSpPr>
                <a:spLocks noRot="1" noChangeAspect="1" noMove="1" noResize="1" noEditPoints="1" noAdjustHandles="1" noChangeArrowheads="1" noChangeShapeType="1" noTextEdit="1"/>
              </p:cNvSpPr>
              <p:nvPr/>
            </p:nvSpPr>
            <p:spPr>
              <a:xfrm>
                <a:off x="395996" y="1827244"/>
                <a:ext cx="11400008" cy="1033399"/>
              </a:xfrm>
              <a:prstGeom prst="rect">
                <a:avLst/>
              </a:prstGeom>
              <a:blipFill>
                <a:blip r:embed="rId7"/>
                <a:stretch>
                  <a:fillRect l="-1658" b="-17751"/>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left)">
                                      <p:cBhvr>
                                        <p:cTn id="7" dur="500"/>
                                        <p:tgtEl>
                                          <p:spTgt spid="4">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left)">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6">
                                            <p:bg/>
                                          </p:spTgt>
                                        </p:tgtEl>
                                        <p:attrNameLst>
                                          <p:attrName>style.visibility</p:attrName>
                                        </p:attrNameLst>
                                      </p:cBhvr>
                                      <p:to>
                                        <p:strVal val="visible"/>
                                      </p:to>
                                    </p:set>
                                    <p:animEffect transition="in" filter="wipe(left)">
                                      <p:cBhvr>
                                        <p:cTn id="15" dur="500"/>
                                        <p:tgtEl>
                                          <p:spTgt spid="6">
                                            <p:bg/>
                                          </p:spTgt>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6">
                                            <p:txEl>
                                              <p:pRg st="0" end="0"/>
                                            </p:txEl>
                                          </p:spTgt>
                                        </p:tgtEl>
                                        <p:attrNameLst>
                                          <p:attrName>style.visibility</p:attrName>
                                        </p:attrNameLst>
                                      </p:cBhvr>
                                      <p:to>
                                        <p:strVal val="visible"/>
                                      </p:to>
                                    </p:set>
                                    <p:animEffect transition="in" filter="wipe(left)">
                                      <p:cBhvr>
                                        <p:cTn id="18" dur="500"/>
                                        <p:tgtEl>
                                          <p:spTgt spid="6">
                                            <p:txEl>
                                              <p:pRg st="0" end="0"/>
                                            </p:txEl>
                                          </p:spTgt>
                                        </p:tgtEl>
                                      </p:cBhvr>
                                    </p:animEffect>
                                  </p:childTnLst>
                                </p:cTn>
                              </p:par>
                              <p:par>
                                <p:cTn id="19" presetID="22" presetClass="entr" presetSubtype="8" fill="hold" grpId="0" nodeType="withEffect">
                                  <p:stCondLst>
                                    <p:cond delay="0"/>
                                  </p:stCondLst>
                                  <p:childTnLst>
                                    <p:set>
                                      <p:cBhvr>
                                        <p:cTn id="20" dur="1" fill="hold">
                                          <p:stCondLst>
                                            <p:cond delay="0"/>
                                          </p:stCondLst>
                                        </p:cTn>
                                        <p:tgtEl>
                                          <p:spTgt spid="6">
                                            <p:txEl>
                                              <p:pRg st="1" end="1"/>
                                            </p:txEl>
                                          </p:spTgt>
                                        </p:tgtEl>
                                        <p:attrNameLst>
                                          <p:attrName>style.visibility</p:attrName>
                                        </p:attrNameLst>
                                      </p:cBhvr>
                                      <p:to>
                                        <p:strVal val="visible"/>
                                      </p:to>
                                    </p:set>
                                    <p:animEffect transition="in" filter="wipe(left)">
                                      <p:cBhvr>
                                        <p:cTn id="21" dur="500"/>
                                        <p:tgtEl>
                                          <p:spTgt spid="6">
                                            <p:txEl>
                                              <p:pRg st="1" end="1"/>
                                            </p:txEl>
                                          </p:spTgt>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6">
                                            <p:txEl>
                                              <p:pRg st="2" end="2"/>
                                            </p:txEl>
                                          </p:spTgt>
                                        </p:tgtEl>
                                        <p:attrNameLst>
                                          <p:attrName>style.visibility</p:attrName>
                                        </p:attrNameLst>
                                      </p:cBhvr>
                                      <p:to>
                                        <p:strVal val="visible"/>
                                      </p:to>
                                    </p:set>
                                    <p:animEffect transition="in" filter="wipe(left)">
                                      <p:cBhvr>
                                        <p:cTn id="24" dur="500"/>
                                        <p:tgtEl>
                                          <p:spTgt spid="6">
                                            <p:txEl>
                                              <p:pRg st="2" end="2"/>
                                            </p:txEl>
                                          </p:spTgt>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wipe(left)">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6" grpId="0" build="p"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amp;si=13">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BD.28_1#4c4a40064?vcp=1&amp;pid=a6a02b6c9&amp;color=0,0,0&amp;bt=1&amp;bbb=1&amp;hb=1"/>
              <p:cNvSpPr/>
              <p:nvPr/>
            </p:nvSpPr>
            <p:spPr>
              <a:xfrm>
                <a:off x="393192" y="1598835"/>
                <a:ext cx="11402568" cy="2150999"/>
              </a:xfrm>
              <a:prstGeom prst="rect">
                <a:avLst/>
              </a:prstGeom>
              <a:noFill/>
              <a:ln/>
            </p:spPr>
            <p:txBody>
              <a:bodyPr wrap="none" lIns="0" tIns="0" rIns="0" bIns="0" rtlCol="0" anchor="t"/>
              <a:lstStyle/>
              <a:p>
                <a:pPr algn="l" latinLnBrk="1">
                  <a:lnSpc>
                    <a:spcPts val="4400"/>
                  </a:lnSpc>
                </a:pPr>
                <a:r>
                  <a:rPr lang="en-US" altLang="zh-CN" sz="2400" b="0" i="0" dirty="0">
                    <a:solidFill>
                      <a:srgbClr val="000000"/>
                    </a:solidFill>
                    <a:latin typeface="Times New Roman" pitchFamily="34" charset="0"/>
                    <a:ea typeface="微软雅黑" pitchFamily="34" charset="-122"/>
                    <a:cs typeface="Times New Roman" pitchFamily="34" charset="-120"/>
                  </a:rPr>
                  <a:t>6.</a:t>
                </a:r>
                <a:r>
                  <a:rPr lang="en-US" altLang="zh-CN" sz="2400" b="1" i="0" dirty="0">
                    <a:solidFill>
                      <a:srgbClr val="000000"/>
                    </a:solidFill>
                    <a:latin typeface="Times New Roman" pitchFamily="34" charset="0"/>
                    <a:ea typeface="微软雅黑" pitchFamily="34" charset="-122"/>
                    <a:cs typeface="Times New Roman" pitchFamily="34" charset="-120"/>
                  </a:rPr>
                  <a:t>考点2</a:t>
                </a:r>
                <a:r>
                  <a:rPr lang="en-US" altLang="zh-CN" sz="2400" b="1"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［经典高考题改编］如图所示，位于水平桌面上的物块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，由跨过定滑轮的</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轻绳与物块</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𝑄</m:t>
                    </m:r>
                  </m:oMath>
                </a14:m>
                <a:r>
                  <a:rPr lang="en-US" altLang="zh-CN" sz="2400" b="0" i="0" dirty="0">
                    <a:solidFill>
                      <a:srgbClr val="000000"/>
                    </a:solidFill>
                    <a:latin typeface="Times New Roman" pitchFamily="34" charset="0"/>
                    <a:ea typeface="微软雅黑" pitchFamily="34" charset="-122"/>
                    <a:cs typeface="Times New Roman" pitchFamily="34" charset="-120"/>
                  </a:rPr>
                  <a:t>相连，从滑轮到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𝑃</m:t>
                    </m:r>
                  </m:oMath>
                </a14:m>
                <a:r>
                  <a:rPr lang="en-US" altLang="zh-CN" sz="2400" b="0" i="0" dirty="0">
                    <a:solidFill>
                      <a:srgbClr val="000000"/>
                    </a:solidFill>
                    <a:latin typeface="Times New Roman" pitchFamily="34" charset="0"/>
                    <a:ea typeface="微软雅黑" pitchFamily="34" charset="-122"/>
                    <a:cs typeface="Times New Roman" pitchFamily="34" charset="-120"/>
                  </a:rPr>
                  <a:t>和到</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𝑄</m:t>
                    </m:r>
                  </m:oMath>
                </a14:m>
                <a:r>
                  <a:rPr lang="en-US" altLang="zh-CN" sz="2400" b="0" i="0" dirty="0">
                    <a:solidFill>
                      <a:srgbClr val="000000"/>
                    </a:solidFill>
                    <a:latin typeface="Times New Roman" pitchFamily="34" charset="0"/>
                    <a:ea typeface="微软雅黑" pitchFamily="34" charset="-122"/>
                    <a:cs typeface="Times New Roman" pitchFamily="34" charset="-120"/>
                  </a:rPr>
                  <a:t>的两段轻绳都是水平的，已知</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𝑄</m:t>
                    </m:r>
                  </m:oMath>
                </a14:m>
                <a:r>
                  <a:rPr lang="en-US" altLang="zh-CN" sz="2400" b="0" i="0" dirty="0">
                    <a:solidFill>
                      <a:srgbClr val="000000"/>
                    </a:solidFill>
                    <a:latin typeface="Times New Roman" pitchFamily="34" charset="0"/>
                    <a:ea typeface="微软雅黑" pitchFamily="34" charset="-122"/>
                    <a:cs typeface="Times New Roman" pitchFamily="34" charset="-120"/>
                  </a:rPr>
                  <a:t>与</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𝑃</m:t>
                    </m:r>
                  </m:oMath>
                </a14:m>
                <a:r>
                  <a:rPr lang="en-US" altLang="zh-CN" sz="2400" b="0" i="0" dirty="0">
                    <a:solidFill>
                      <a:srgbClr val="000000"/>
                    </a:solidFill>
                    <a:latin typeface="Times New Roman" pitchFamily="34" charset="0"/>
                    <a:ea typeface="微软雅黑" pitchFamily="34" charset="-122"/>
                    <a:cs typeface="Times New Roman" pitchFamily="34" charset="-120"/>
                  </a:rPr>
                  <a:t>之间以及</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𝑃</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与</a:t>
                </a:r>
              </a:p>
              <a:p>
                <a:pPr latinLnBrk="1">
                  <a:lnSpc>
                    <a:spcPts val="4400"/>
                  </a:lnSpc>
                </a:pPr>
                <a:r>
                  <a:rPr lang="en-US" altLang="zh-CN" sz="2400" b="0" i="0">
                    <a:solidFill>
                      <a:srgbClr val="000000"/>
                    </a:solidFill>
                    <a:latin typeface="Times New Roman" pitchFamily="34" charset="0"/>
                    <a:ea typeface="微软雅黑" pitchFamily="34" charset="-122"/>
                    <a:cs typeface="Times New Roman" pitchFamily="34" charset="-120"/>
                  </a:rPr>
                  <a:t>桌面之间的动摩擦因数都为</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μ</m:t>
                    </m:r>
                  </m:oMath>
                </a14:m>
                <a:r>
                  <a:rPr lang="en-US" altLang="zh-CN" sz="2400" b="0" i="0" dirty="0">
                    <a:solidFill>
                      <a:srgbClr val="000000"/>
                    </a:solidFill>
                    <a:latin typeface="SimSun" pitchFamily="34" charset="0"/>
                    <a:ea typeface="SimSun" pitchFamily="34" charset="-122"/>
                    <a:cs typeface="SimSu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,两物块的质量都是</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𝑚</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dirty="0">
                    <a:solidFill>
                      <a:srgbClr val="000000"/>
                    </a:solidFill>
                    <a:latin typeface="Times New Roman" pitchFamily="34" charset="0"/>
                    <a:ea typeface="微软雅黑" pitchFamily="34" charset="-122"/>
                    <a:cs typeface="Times New Roman" pitchFamily="34" charset="-120"/>
                  </a:rPr>
                  <a:t>,滑轮轴上的摩擦不计</a:t>
                </a:r>
                <a:r>
                  <a:rPr lang="en-US" altLang="zh-CN" sz="2400" b="0" i="0">
                    <a:solidFill>
                      <a:srgbClr val="000000"/>
                    </a:solidFill>
                    <a:latin typeface="Times New Roman" pitchFamily="34" charset="0"/>
                    <a:ea typeface="微软雅黑" pitchFamily="34" charset="-122"/>
                    <a:cs typeface="Times New Roman" pitchFamily="34" charset="-120"/>
                  </a:rPr>
                  <a:t>，若用一水平</a:t>
                </a:r>
              </a:p>
              <a:p>
                <a:pPr latinLnBrk="1">
                  <a:lnSpc>
                    <a:spcPts val="4200"/>
                  </a:lnSpc>
                </a:pPr>
                <a:r>
                  <a:rPr lang="en-US" altLang="zh-CN" sz="2400" b="0" i="0">
                    <a:solidFill>
                      <a:srgbClr val="000000"/>
                    </a:solidFill>
                    <a:latin typeface="Times New Roman" pitchFamily="34" charset="0"/>
                    <a:ea typeface="微软雅黑" pitchFamily="34" charset="-122"/>
                    <a:cs typeface="Times New Roman" pitchFamily="34" charset="-120"/>
                  </a:rPr>
                  <a:t>向右的力</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2400" b="0" i="0" dirty="0">
                    <a:solidFill>
                      <a:srgbClr val="000000"/>
                    </a:solidFill>
                    <a:latin typeface="Times New Roman" pitchFamily="34" charset="0"/>
                    <a:ea typeface="微软雅黑" pitchFamily="34" charset="-122"/>
                    <a:cs typeface="Times New Roman" pitchFamily="34" charset="-120"/>
                  </a:rPr>
                  <a:t>拉</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𝑃</m:t>
                    </m:r>
                  </m:oMath>
                </a14:m>
                <a:r>
                  <a:rPr lang="en-US" altLang="zh-CN" sz="2400" b="0" i="0" dirty="0">
                    <a:solidFill>
                      <a:srgbClr val="000000"/>
                    </a:solidFill>
                    <a:latin typeface="Times New Roman" pitchFamily="34" charset="0"/>
                    <a:ea typeface="微软雅黑" pitchFamily="34" charset="-122"/>
                    <a:cs typeface="Times New Roman" pitchFamily="34" charset="-120"/>
                  </a:rPr>
                  <a:t>使其做匀速运动，则</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𝐹</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的大小为(</a:t>
                </a:r>
                <a:r>
                  <a:rPr lang="en-US" altLang="zh-CN" sz="2400" b="0" i="0">
                    <a:solidFill>
                      <a:srgbClr val="000000"/>
                    </a:solidFill>
                    <a:latin typeface="SimSun" pitchFamily="34" charset="0"/>
                    <a:ea typeface="SimSun" pitchFamily="34" charset="-122"/>
                    <a:cs typeface="SimSun" pitchFamily="34" charset="-120"/>
                  </a:rPr>
                  <a:t> </a:t>
                </a:r>
                <a:r>
                  <a:rPr lang="en-US" altLang="zh-CN" sz="2400" b="1" i="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BD.28_1#4c4a40064?vcp=1&amp;pid=a6a02b6c9&amp;color=0,0,0&amp;bt=1&amp;bbb=1&amp;hb=1"/>
              <p:cNvSpPr>
                <a:spLocks noRot="1" noChangeAspect="1" noMove="1" noResize="1" noEditPoints="1" noAdjustHandles="1" noChangeArrowheads="1" noChangeShapeType="1" noTextEdit="1"/>
              </p:cNvSpPr>
              <p:nvPr/>
            </p:nvSpPr>
            <p:spPr>
              <a:xfrm>
                <a:off x="393192" y="1598835"/>
                <a:ext cx="11402568" cy="2150999"/>
              </a:xfrm>
              <a:prstGeom prst="rect">
                <a:avLst/>
              </a:prstGeom>
              <a:blipFill>
                <a:blip r:embed="rId3"/>
                <a:stretch>
                  <a:fillRect l="-1658" r="-1658" b="-8782"/>
                </a:stretch>
              </a:blipFill>
              <a:ln/>
            </p:spPr>
            <p:txBody>
              <a:bodyPr/>
              <a:lstStyle/>
              <a:p>
                <a:r>
                  <a:rPr lang="zh-CN" altLang="en-US">
                    <a:noFill/>
                  </a:rPr>
                  <a:t> </a:t>
                </a:r>
              </a:p>
            </p:txBody>
          </p:sp>
        </mc:Fallback>
      </mc:AlternateContent>
      <p:sp>
        <p:nvSpPr>
          <p:cNvPr id="3" name="QC_4_AN.29_1#4c4a40064.bracket?vcp=1&amp;pid=a6a02b6c9&amp;color=0,0,0&amp;vpa=11"/>
          <p:cNvSpPr/>
          <p:nvPr/>
        </p:nvSpPr>
        <p:spPr>
          <a:xfrm>
            <a:off x="6703853" y="3263805"/>
            <a:ext cx="441325" cy="478600"/>
          </a:xfrm>
          <a:prstGeom prst="rect">
            <a:avLst/>
          </a:prstGeom>
          <a:noFill/>
          <a:ln/>
        </p:spPr>
        <p:txBody>
          <a:bodyPr wrap="none" lIns="0" tIns="0" rIns="0" bIns="0" rtlCol="0" anchor="t"/>
          <a:lstStyle/>
          <a:p>
            <a:pPr algn="ctr" latinLnBrk="1">
              <a:lnSpc>
                <a:spcPts val="4200"/>
              </a:lnSpc>
            </a:pPr>
            <a:r>
              <a:rPr lang="en-US" altLang="zh-CN" sz="2400" b="1" i="0" dirty="0">
                <a:solidFill>
                  <a:srgbClr val="FF0000"/>
                </a:solidFill>
                <a:latin typeface="Times New Roman" pitchFamily="34" charset="0"/>
                <a:ea typeface="微软雅黑" pitchFamily="34" charset="-122"/>
                <a:cs typeface="Times New Roman" pitchFamily="34" charset="-120"/>
              </a:rPr>
              <a:t>A</a:t>
            </a:r>
            <a:endParaRPr lang="en-US" altLang="zh-CN" sz="2400" dirty="0"/>
          </a:p>
        </p:txBody>
      </p:sp>
      <p:pic>
        <p:nvPicPr>
          <p:cNvPr id="4" name="QC_4_BD.28_2#4c4a40064?vcp=1&amp;pid=a6a02b6c9&amp;color=0,0,0&amp;tib=255,255,255" descr="preencoded.png"/>
          <p:cNvPicPr>
            <a:picLocks noChangeAspect="1"/>
          </p:cNvPicPr>
          <p:nvPr/>
        </p:nvPicPr>
        <p:blipFill>
          <a:blip r:embed="rId4">
            <a:clrChange>
              <a:clrFrom>
                <a:srgbClr val="FFFFFF"/>
              </a:clrFrom>
              <a:clrTo>
                <a:srgbClr val="FFFFFF">
                  <a:alpha val="0"/>
                </a:srgbClr>
              </a:clrTo>
            </a:clrChange>
          </a:blip>
          <a:stretch>
            <a:fillRect/>
          </a:stretch>
        </p:blipFill>
        <p:spPr>
          <a:xfrm>
            <a:off x="4379976" y="3865530"/>
            <a:ext cx="3429000" cy="786384"/>
          </a:xfrm>
          <a:prstGeom prst="rect">
            <a:avLst/>
          </a:prstGeom>
          <a:noFill/>
          <a:extLst>
            <a:ext uri="{909E8E84-426E-40DD-AFC4-6F175D3DCCD1}">
              <a14:hiddenFill xmlns:a14="http://schemas.microsoft.com/office/drawing/2010/main">
                <a:solidFill>
                  <a:schemeClr val="accent1">
                    <a:alpha val="0"/>
                  </a:schemeClr>
                </a:solidFill>
              </a14:hiddenFill>
            </a:ext>
          </a:extLst>
        </p:spPr>
      </p:pic>
      <mc:AlternateContent xmlns:mc="http://schemas.openxmlformats.org/markup-compatibility/2006">
        <mc:Choice xmlns:a14="http://schemas.microsoft.com/office/drawing/2010/main" Requires="a14">
          <p:sp>
            <p:nvSpPr>
              <p:cNvPr id="5" name="QC_4_BD.28_3#4c4a40064.choices?vcp=1&amp;pid=a6a02b6c9&amp;color=0,0,0&amp;bbb=1"/>
              <p:cNvSpPr/>
              <p:nvPr/>
            </p:nvSpPr>
            <p:spPr>
              <a:xfrm>
                <a:off x="393192" y="4779930"/>
                <a:ext cx="11402568" cy="477330"/>
              </a:xfrm>
              <a:prstGeom prst="rect">
                <a:avLst/>
              </a:prstGeom>
              <a:noFill/>
              <a:ln/>
            </p:spPr>
            <p:txBody>
              <a:bodyPr wrap="none" lIns="0" tIns="0" rIns="0" bIns="0" rtlCol="0" anchor="t"/>
              <a:lstStyle/>
              <a:p>
                <a:pPr latinLnBrk="1">
                  <a:lnSpc>
                    <a:spcPts val="4300"/>
                  </a:lnSpc>
                  <a:tabLst>
                    <a:tab pos="2957952" algn="l"/>
                    <a:tab pos="5890504" algn="l"/>
                    <a:tab pos="8823056" algn="l"/>
                  </a:tabLst>
                </a:pPr>
                <a:r>
                  <a:rPr lang="en-US" altLang="zh-CN" sz="2400" b="0" i="0" dirty="0">
                    <a:solidFill>
                      <a:srgbClr val="000000"/>
                    </a:solidFill>
                    <a:latin typeface="Times New Roman" pitchFamily="34" charset="0"/>
                    <a:ea typeface="微软雅黑" pitchFamily="34" charset="-122"/>
                    <a:cs typeface="Times New Roman" pitchFamily="34" charset="-120"/>
                  </a:rPr>
                  <a:t>A.</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4</m:t>
                    </m:r>
                    <m:r>
                      <m:rPr>
                        <m:sty m:val="p"/>
                      </m:rPr>
                      <a:rPr lang="en-US" altLang="zh-CN" sz="2400" b="0" i="0">
                        <a:solidFill>
                          <a:srgbClr val="000000"/>
                        </a:solidFill>
                        <a:latin typeface="Cambria Math" pitchFamily="34" charset="0"/>
                        <a:ea typeface="Cambria Math" pitchFamily="34" charset="-122"/>
                        <a:cs typeface="Cambria Math" pitchFamily="34" charset="-120"/>
                      </a:rPr>
                      <m:t>μ</m:t>
                    </m:r>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B</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3</m:t>
                    </m:r>
                    <m:r>
                      <m:rPr>
                        <m:sty m:val="p"/>
                      </m:rPr>
                      <a:rPr lang="en-US" altLang="zh-CN" sz="2400" b="0" i="0">
                        <a:solidFill>
                          <a:srgbClr val="000000"/>
                        </a:solidFill>
                        <a:latin typeface="Cambria Math" pitchFamily="34" charset="0"/>
                        <a:ea typeface="Cambria Math" pitchFamily="34" charset="-122"/>
                        <a:cs typeface="Cambria Math" pitchFamily="34" charset="-120"/>
                      </a:rPr>
                      <m:t>μ</m:t>
                    </m:r>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C</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0" i="0">
                        <a:solidFill>
                          <a:srgbClr val="000000"/>
                        </a:solidFill>
                        <a:latin typeface="Cambria Math" pitchFamily="34" charset="0"/>
                        <a:ea typeface="Cambria Math" pitchFamily="34" charset="-122"/>
                        <a:cs typeface="Cambria Math" pitchFamily="34" charset="-120"/>
                      </a:rPr>
                      <m:t>2</m:t>
                    </m:r>
                    <m:r>
                      <m:rPr>
                        <m:sty m:val="p"/>
                      </m:rPr>
                      <a:rPr lang="en-US" altLang="zh-CN" sz="2400" b="0" i="0">
                        <a:solidFill>
                          <a:srgbClr val="000000"/>
                        </a:solidFill>
                        <a:latin typeface="Cambria Math" pitchFamily="34" charset="0"/>
                        <a:ea typeface="Cambria Math" pitchFamily="34" charset="-122"/>
                        <a:cs typeface="Cambria Math" pitchFamily="34" charset="-120"/>
                      </a:rPr>
                      <m:t>μ</m:t>
                    </m:r>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2400" b="0" i="0" spc="-10300">
                    <a:solidFill>
                      <a:srgbClr val="000000"/>
                    </a:solidFill>
                    <a:latin typeface="SimSun" pitchFamily="34" charset="0"/>
                    <a:ea typeface="SimSun" pitchFamily="34" charset="-122"/>
                    <a:cs typeface="SimSun" pitchFamily="34" charset="-120"/>
                  </a:rPr>
                  <a:t>	</a:t>
                </a:r>
                <a:r>
                  <a:rPr lang="en-US" altLang="zh-CN" sz="2400" b="0" i="0">
                    <a:solidFill>
                      <a:srgbClr val="000000"/>
                    </a:solidFill>
                    <a:latin typeface="Times New Roman" pitchFamily="34" charset="0"/>
                    <a:ea typeface="微软雅黑" pitchFamily="34" charset="-122"/>
                    <a:cs typeface="Times New Roman" pitchFamily="34" charset="-120"/>
                  </a:rPr>
                  <a:t>D</a:t>
                </a:r>
                <a:r>
                  <a:rPr lang="en-US" altLang="zh-CN" sz="2400" b="0" i="0" dirty="0">
                    <a:solidFill>
                      <a:srgbClr val="000000"/>
                    </a:solidFill>
                    <a:latin typeface="Times New Roman" pitchFamily="34" charset="0"/>
                    <a:ea typeface="微软雅黑" pitchFamily="34" charset="-122"/>
                    <a:cs typeface="Times New Roman" pitchFamily="34" charset="-120"/>
                  </a:rPr>
                  <a:t>.</a:t>
                </a:r>
                <a14:m>
                  <m:oMath xmlns:m="http://schemas.openxmlformats.org/officeDocument/2006/math">
                    <m:r>
                      <m:rPr>
                        <m:sty m:val="p"/>
                      </m:rPr>
                      <a:rPr lang="en-US" altLang="zh-CN" sz="2400" b="0" i="0">
                        <a:solidFill>
                          <a:srgbClr val="000000"/>
                        </a:solidFill>
                        <a:latin typeface="Cambria Math" pitchFamily="34" charset="0"/>
                        <a:ea typeface="Cambria Math" pitchFamily="34" charset="-122"/>
                        <a:cs typeface="Cambria Math" pitchFamily="34" charset="-120"/>
                      </a:rPr>
                      <m:t>μ</m:t>
                    </m:r>
                    <m:r>
                      <a:rPr lang="en-US" altLang="zh-CN" sz="2400" b="0" i="0">
                        <a:solidFill>
                          <a:srgbClr val="000000"/>
                        </a:solidFill>
                        <a:latin typeface="Cambria Math" pitchFamily="34" charset="0"/>
                        <a:ea typeface="Cambria Math" pitchFamily="34" charset="-122"/>
                        <a:cs typeface="Cambria Math" pitchFamily="34" charset="-120"/>
                      </a:rPr>
                      <m:t>𝑚𝑔</m:t>
                    </m:r>
                  </m:oMath>
                </a14:m>
                <a:r>
                  <a:rPr lang="en-US" altLang="zh-CN" sz="100" b="0" i="0" kern="0" spc="-99900" dirty="0">
                    <a:solidFill>
                      <a:srgbClr val="FFFFFF"/>
                    </a:solidFill>
                    <a:latin typeface="Times New Roman" pitchFamily="34" charset="0"/>
                    <a:ea typeface="微软雅黑" pitchFamily="34" charset="-122"/>
                    <a:cs typeface="Times New Roman" pitchFamily="34" charset="-120"/>
                  </a:rPr>
                  <a:t> </a:t>
                </a:r>
                <a:endParaRPr lang="en-US" altLang="zh-CN" sz="2400" dirty="0"/>
              </a:p>
            </p:txBody>
          </p:sp>
        </mc:Choice>
        <mc:Fallback>
          <p:sp>
            <p:nvSpPr>
              <p:cNvPr id="5" name="QC_4_BD.28_3#4c4a40064.choices?vcp=1&amp;pid=a6a02b6c9&amp;color=0,0,0&amp;bbb=1"/>
              <p:cNvSpPr>
                <a:spLocks noRot="1" noChangeAspect="1" noMove="1" noResize="1" noEditPoints="1" noAdjustHandles="1" noChangeArrowheads="1" noChangeShapeType="1" noTextEdit="1"/>
              </p:cNvSpPr>
              <p:nvPr/>
            </p:nvSpPr>
            <p:spPr>
              <a:xfrm>
                <a:off x="393192" y="4779930"/>
                <a:ext cx="11402568" cy="477330"/>
              </a:xfrm>
              <a:prstGeom prst="rect">
                <a:avLst/>
              </a:prstGeom>
              <a:blipFill>
                <a:blip r:embed="rId5"/>
                <a:stretch>
                  <a:fillRect l="-1658" b="-41026"/>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wipe(left)">
                                      <p:cBhvr>
                                        <p:cTn id="7" dur="500"/>
                                        <p:tgtEl>
                                          <p:spTgt spid="3">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wipe(left)">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amp;si=14">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QC_4_AS.30_1#4c4a40064?vcp=1&amp;pid=a6a02b6c9&amp;color=0,0,0&amp;bt=1&amp;bbb=1&amp;hb=1"/>
              <p:cNvSpPr/>
              <p:nvPr/>
            </p:nvSpPr>
            <p:spPr>
              <a:xfrm>
                <a:off x="393192" y="1997678"/>
                <a:ext cx="11402568" cy="2866200"/>
              </a:xfrm>
              <a:prstGeom prst="rect">
                <a:avLst/>
              </a:prstGeom>
              <a:noFill/>
              <a:ln/>
            </p:spPr>
            <p:txBody>
              <a:bodyPr wrap="none" lIns="0" tIns="0" rIns="0" bIns="0" rtlCol="0" anchor="t"/>
              <a:lstStyle/>
              <a:p>
                <a:pPr algn="l" latinLnBrk="1">
                  <a:lnSpc>
                    <a:spcPts val="4700"/>
                  </a:lnSpc>
                </a:pPr>
                <a:r>
                  <a:rPr lang="en-US" altLang="zh-CN" sz="2400" b="1" i="0" dirty="0">
                    <a:solidFill>
                      <a:srgbClr val="FF0000"/>
                    </a:solidFill>
                    <a:latin typeface="Times New Roman" pitchFamily="34" charset="0"/>
                    <a:ea typeface="微软雅黑" pitchFamily="34" charset="-122"/>
                    <a:cs typeface="Times New Roman" pitchFamily="34" charset="-120"/>
                  </a:rPr>
                  <a:t>[解析]</a:t>
                </a:r>
                <a:r>
                  <a:rPr lang="en-US" altLang="zh-CN" sz="2400" b="1" i="0" dirty="0">
                    <a:solidFill>
                      <a:srgbClr val="FF0000"/>
                    </a:solidFill>
                    <a:latin typeface="SimSun" pitchFamily="34" charset="0"/>
                    <a:ea typeface="SimSun" pitchFamily="34" charset="-122"/>
                    <a:cs typeface="SimSu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𝑸</m:t>
                    </m:r>
                  </m:oMath>
                </a14:m>
                <a:r>
                  <a:rPr lang="en-US" altLang="zh-CN" sz="2400" b="1" i="0" dirty="0">
                    <a:solidFill>
                      <a:srgbClr val="FF0000"/>
                    </a:solidFill>
                    <a:latin typeface="Times New Roman" pitchFamily="34" charset="0"/>
                    <a:ea typeface="微软雅黑" pitchFamily="34" charset="-122"/>
                    <a:cs typeface="Times New Roman" pitchFamily="34" charset="-120"/>
                  </a:rPr>
                  <a:t>为研究对象，</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𝑸</m:t>
                    </m:r>
                  </m:oMath>
                </a14:m>
                <a:r>
                  <a:rPr lang="en-US" altLang="zh-CN" sz="2400" b="1" i="0" dirty="0">
                    <a:solidFill>
                      <a:srgbClr val="FF0000"/>
                    </a:solidFill>
                    <a:latin typeface="Times New Roman" pitchFamily="34" charset="0"/>
                    <a:ea typeface="微软雅黑" pitchFamily="34" charset="-122"/>
                    <a:cs typeface="Times New Roman" pitchFamily="34" charset="-120"/>
                  </a:rPr>
                  <a:t>在水平方向受绳的拉力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和</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dirty="0">
                    <a:solidFill>
                      <a:srgbClr val="FF0000"/>
                    </a:solidFill>
                    <a:latin typeface="Times New Roman" pitchFamily="34" charset="0"/>
                    <a:ea typeface="微软雅黑" pitchFamily="34" charset="-122"/>
                    <a:cs typeface="Times New Roman" pitchFamily="34" charset="-120"/>
                  </a:rPr>
                  <a:t>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𝑸</m:t>
                    </m:r>
                  </m:oMath>
                </a14:m>
                <a:r>
                  <a:rPr lang="en-US" altLang="zh-CN" sz="2400" b="1" i="0" dirty="0">
                    <a:solidFill>
                      <a:srgbClr val="FF0000"/>
                    </a:solidFill>
                    <a:latin typeface="Times New Roman" pitchFamily="34" charset="0"/>
                    <a:ea typeface="微软雅黑" pitchFamily="34" charset="-122"/>
                    <a:cs typeface="Times New Roman" pitchFamily="34" charset="-120"/>
                  </a:rPr>
                  <a:t>的摩擦力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作用</a:t>
                </a:r>
                <a:r>
                  <a:rPr lang="en-US" altLang="zh-CN" sz="2400" b="1" i="0">
                    <a:solidFill>
                      <a:srgbClr val="FF0000"/>
                    </a:solidFill>
                    <a:latin typeface="Times New Roman" pitchFamily="34" charset="0"/>
                    <a:ea typeface="微软雅黑" pitchFamily="34" charset="-122"/>
                    <a:cs typeface="Times New Roman" pitchFamily="34" charset="-120"/>
                  </a:rPr>
                  <a:t>，由平</a:t>
                </a:r>
              </a:p>
              <a:p>
                <a:pPr latinLnBrk="1">
                  <a:lnSpc>
                    <a:spcPts val="4700"/>
                  </a:lnSpc>
                </a:pPr>
                <a:r>
                  <a:rPr lang="en-US" altLang="zh-CN" sz="2400" b="1" i="0">
                    <a:solidFill>
                      <a:srgbClr val="FF0000"/>
                    </a:solidFill>
                    <a:latin typeface="Times New Roman" pitchFamily="34" charset="0"/>
                    <a:ea typeface="微软雅黑" pitchFamily="34" charset="-122"/>
                    <a:cs typeface="Times New Roman" pitchFamily="34" charset="-120"/>
                  </a:rPr>
                  <a:t>衡条件可知</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2400" b="1" i="0" dirty="0">
                    <a:solidFill>
                      <a:srgbClr val="FF0000"/>
                    </a:solidFill>
                    <a:latin typeface="Times New Roman" pitchFamily="34" charset="0"/>
                    <a:ea typeface="微软雅黑" pitchFamily="34" charset="-122"/>
                    <a:cs typeface="Times New Roman" pitchFamily="34" charset="-120"/>
                  </a:rPr>
                  <a:t>；以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dirty="0">
                    <a:solidFill>
                      <a:srgbClr val="FF0000"/>
                    </a:solidFill>
                    <a:latin typeface="Times New Roman" pitchFamily="34" charset="0"/>
                    <a:ea typeface="微软雅黑" pitchFamily="34" charset="-122"/>
                    <a:cs typeface="Times New Roman" pitchFamily="34" charset="-120"/>
                  </a:rPr>
                  <a:t>为研究对象，</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dirty="0">
                    <a:solidFill>
                      <a:srgbClr val="FF0000"/>
                    </a:solidFill>
                    <a:latin typeface="Times New Roman" pitchFamily="34" charset="0"/>
                    <a:ea typeface="微软雅黑" pitchFamily="34" charset="-122"/>
                    <a:cs typeface="Times New Roman" pitchFamily="34" charset="-120"/>
                  </a:rPr>
                  <a:t>受到水平拉力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oMath>
                </a14:m>
                <a:r>
                  <a:rPr lang="en-US" altLang="zh-CN" sz="2400" b="1" i="0" dirty="0">
                    <a:solidFill>
                      <a:srgbClr val="FF0000"/>
                    </a:solidFill>
                    <a:latin typeface="Times New Roman" pitchFamily="34" charset="0"/>
                    <a:ea typeface="微软雅黑" pitchFamily="34" charset="-122"/>
                    <a:cs typeface="Times New Roman" pitchFamily="34" charset="-120"/>
                  </a:rPr>
                  <a:t>、绳的拉力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𝑸</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对</a:t>
                </a:r>
              </a:p>
              <a:p>
                <a:pPr latinLnBrk="1">
                  <a:lnSpc>
                    <a:spcPts val="4700"/>
                  </a:lnSpc>
                </a:pP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dirty="0">
                    <a:solidFill>
                      <a:srgbClr val="FF0000"/>
                    </a:solidFill>
                    <a:latin typeface="Times New Roman" pitchFamily="34" charset="0"/>
                    <a:ea typeface="微软雅黑" pitchFamily="34" charset="-122"/>
                    <a:cs typeface="Times New Roman" pitchFamily="34" charset="-120"/>
                  </a:rPr>
                  <a:t>的摩擦力</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和桌面对</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𝑷</m:t>
                    </m:r>
                  </m:oMath>
                </a14:m>
                <a:r>
                  <a:rPr lang="en-US" altLang="zh-CN" sz="2400" b="1" i="0" dirty="0">
                    <a:solidFill>
                      <a:srgbClr val="FF0000"/>
                    </a:solidFill>
                    <a:latin typeface="Times New Roman" pitchFamily="34" charset="0"/>
                    <a:ea typeface="微软雅黑" pitchFamily="34" charset="-122"/>
                    <a:cs typeface="Times New Roman" pitchFamily="34" charset="-120"/>
                  </a:rPr>
                  <a:t>的摩擦力</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，由平衡条件可知</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𝑭</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a:solidFill>
                      <a:srgbClr val="FF0000"/>
                    </a:solidFill>
                    <a:latin typeface="Times New Roman" pitchFamily="34" charset="0"/>
                    <a:ea typeface="微软雅黑" pitchFamily="34" charset="-122"/>
                    <a:cs typeface="Times New Roman" pitchFamily="34" charset="-120"/>
                  </a:rPr>
                  <a:t>，</a:t>
                </a:r>
              </a:p>
              <a:p>
                <a:pPr latinLnBrk="1">
                  <a:lnSpc>
                    <a:spcPts val="4700"/>
                  </a:lnSpc>
                </a:pP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𝟐</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0">
                        <a:solidFill>
                          <a:srgbClr val="FF0000"/>
                        </a:solidFill>
                        <a:latin typeface="Cambria Math" pitchFamily="34" charset="0"/>
                        <a:ea typeface="Cambria Math" pitchFamily="34" charset="-122"/>
                        <a:cs typeface="Cambria Math" pitchFamily="34" charset="-120"/>
                      </a:rPr>
                      <m:t>𝛍</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𝐍</m:t>
                        </m:r>
                      </m:sub>
                    </m:sSub>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𝟐</m:t>
                    </m:r>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2400" b="1" i="0" dirty="0">
                    <a:solidFill>
                      <a:srgbClr val="FF0000"/>
                    </a:solidFill>
                    <a:latin typeface="Times New Roman" pitchFamily="34" charset="0"/>
                    <a:ea typeface="微软雅黑" pitchFamily="34" charset="-122"/>
                    <a:cs typeface="Times New Roman" pitchFamily="34" charset="-120"/>
                  </a:rPr>
                  <a:t>，又有</a:t>
                </a:r>
                <a14:m>
                  <m:oMath xmlns:m="http://schemas.openxmlformats.org/officeDocument/2006/math">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1">
                            <a:solidFill>
                              <a:srgbClr val="FF0000"/>
                            </a:solidFill>
                            <a:latin typeface="Cambria Math" pitchFamily="34" charset="0"/>
                            <a:ea typeface="Cambria Math" pitchFamily="34" charset="-122"/>
                            <a:cs typeface="Cambria Math" pitchFamily="34" charset="-120"/>
                          </a:rPr>
                          <m:t>𝟐</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0">
                            <a:solidFill>
                              <a:srgbClr val="FF0000"/>
                            </a:solidFill>
                            <a:latin typeface="Cambria Math" pitchFamily="34" charset="0"/>
                            <a:ea typeface="Cambria Math" pitchFamily="34" charset="-122"/>
                            <a:cs typeface="Cambria Math" pitchFamily="34" charset="-120"/>
                          </a:rPr>
                          <m:t>′</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𝟏</m:t>
                        </m:r>
                      </m:sub>
                    </m:sSub>
                    <m:r>
                      <a:rPr lang="en-US" altLang="zh-CN" sz="2400" b="1" i="0">
                        <a:solidFill>
                          <a:srgbClr val="FF0000"/>
                        </a:solidFill>
                        <a:latin typeface="Cambria Math" pitchFamily="34" charset="0"/>
                        <a:ea typeface="Cambria Math" pitchFamily="34" charset="-122"/>
                        <a:cs typeface="Cambria Math" pitchFamily="34" charset="-120"/>
                      </a:rPr>
                      <m:t>=</m:t>
                    </m:r>
                    <m:sSub>
                      <m:sSubPr>
                        <m:ctrlPr>
                          <a:rPr lang="en-US" altLang="zh-CN" sz="2400" b="1" i="1" dirty="0">
                            <a:solidFill>
                              <a:srgbClr val="FF0000"/>
                            </a:solidFill>
                            <a:latin typeface="Cambria Math" panose="02040503050406030204" pitchFamily="18" charset="0"/>
                            <a:ea typeface="微软雅黑" pitchFamily="34" charset="-122"/>
                            <a:cs typeface="Times New Roman" pitchFamily="34" charset="-120"/>
                          </a:rPr>
                        </m:ctrlPr>
                      </m:sSubPr>
                      <m:e>
                        <m:r>
                          <a:rPr lang="en-US" altLang="zh-CN" sz="2400" b="1" i="1">
                            <a:solidFill>
                              <a:srgbClr val="FF0000"/>
                            </a:solidFill>
                            <a:latin typeface="Cambria Math" pitchFamily="34" charset="0"/>
                            <a:ea typeface="Cambria Math" pitchFamily="34" charset="-122"/>
                            <a:cs typeface="Cambria Math" pitchFamily="34" charset="-120"/>
                          </a:rPr>
                          <m:t>𝑭</m:t>
                        </m:r>
                      </m:e>
                      <m:sub>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𝟏</m:t>
                        </m:r>
                      </m:sub>
                    </m:sSub>
                  </m:oMath>
                </a14:m>
                <a:r>
                  <a:rPr lang="en-US" altLang="zh-CN" sz="2400" b="1" i="0" dirty="0">
                    <a:solidFill>
                      <a:srgbClr val="FF0000"/>
                    </a:solidFill>
                    <a:latin typeface="Times New Roman" pitchFamily="34" charset="0"/>
                    <a:ea typeface="微软雅黑" pitchFamily="34" charset="-122"/>
                    <a:cs typeface="Times New Roman" pitchFamily="34" charset="-120"/>
                  </a:rPr>
                  <a:t>，代入解得</a:t>
                </a:r>
                <a14:m>
                  <m:oMath xmlns:m="http://schemas.openxmlformats.org/officeDocument/2006/math">
                    <m:r>
                      <a:rPr lang="en-US" altLang="zh-CN" sz="2400" b="1" i="1">
                        <a:solidFill>
                          <a:srgbClr val="FF0000"/>
                        </a:solidFill>
                        <a:latin typeface="Cambria Math" pitchFamily="34" charset="0"/>
                        <a:ea typeface="Cambria Math" pitchFamily="34" charset="-122"/>
                        <a:cs typeface="Cambria Math" pitchFamily="34" charset="-120"/>
                      </a:rPr>
                      <m:t>𝑭</m:t>
                    </m:r>
                    <m:r>
                      <a:rPr lang="en-US" altLang="zh-CN" sz="2400" b="1" i="0">
                        <a:solidFill>
                          <a:srgbClr val="FF0000"/>
                        </a:solidFill>
                        <a:latin typeface="Cambria Math" pitchFamily="34" charset="0"/>
                        <a:ea typeface="Cambria Math" pitchFamily="34" charset="-122"/>
                        <a:cs typeface="Cambria Math" pitchFamily="34" charset="-120"/>
                      </a:rPr>
                      <m:t>=</m:t>
                    </m:r>
                    <m:r>
                      <a:rPr lang="en-US" altLang="zh-CN" sz="2400" b="1" i="1">
                        <a:solidFill>
                          <a:srgbClr val="FF0000"/>
                        </a:solidFill>
                        <a:latin typeface="Cambria Math" pitchFamily="34" charset="0"/>
                        <a:ea typeface="Cambria Math" pitchFamily="34" charset="-122"/>
                        <a:cs typeface="Cambria Math" pitchFamily="34" charset="-120"/>
                      </a:rPr>
                      <m:t>𝟒</m:t>
                    </m:r>
                    <m:r>
                      <a:rPr lang="en-US" altLang="zh-CN" sz="2400" b="1" i="0">
                        <a:solidFill>
                          <a:srgbClr val="FF0000"/>
                        </a:solidFill>
                        <a:latin typeface="Cambria Math" pitchFamily="34" charset="0"/>
                        <a:ea typeface="Cambria Math" pitchFamily="34" charset="-122"/>
                        <a:cs typeface="Cambria Math" pitchFamily="34" charset="-120"/>
                      </a:rPr>
                      <m:t>𝛍</m:t>
                    </m:r>
                    <m:r>
                      <a:rPr lang="en-US" altLang="zh-CN" sz="2400" b="1" i="1">
                        <a:solidFill>
                          <a:srgbClr val="FF0000"/>
                        </a:solidFill>
                        <a:latin typeface="Cambria Math" pitchFamily="34" charset="0"/>
                        <a:ea typeface="Cambria Math" pitchFamily="34" charset="-122"/>
                        <a:cs typeface="Cambria Math" pitchFamily="34" charset="-120"/>
                      </a:rPr>
                      <m:t>𝒎𝒈</m:t>
                    </m:r>
                  </m:oMath>
                </a14:m>
                <a:r>
                  <a:rPr lang="en-US" altLang="zh-CN" sz="100" b="1" i="0" kern="0" spc="-99900" dirty="0">
                    <a:solidFill>
                      <a:srgbClr val="FFFFFF"/>
                    </a:solidFill>
                    <a:latin typeface="Times New Roman" pitchFamily="34" charset="0"/>
                    <a:ea typeface="微软雅黑" pitchFamily="34" charset="-122"/>
                    <a:cs typeface="Times New Roman" pitchFamily="34" charset="-120"/>
                  </a:rPr>
                  <a:t> </a:t>
                </a:r>
                <a:r>
                  <a:rPr lang="en-US" altLang="zh-CN" sz="2400" b="1" i="0" dirty="0">
                    <a:solidFill>
                      <a:srgbClr val="FF0000"/>
                    </a:solidFill>
                    <a:latin typeface="Times New Roman" pitchFamily="34" charset="0"/>
                    <a:ea typeface="微软雅黑" pitchFamily="34" charset="-122"/>
                    <a:cs typeface="Times New Roman" pitchFamily="34" charset="-120"/>
                  </a:rPr>
                  <a:t>，</a:t>
                </a:r>
                <a:r>
                  <a:rPr lang="en-US" altLang="zh-CN" sz="2400" b="1" i="0">
                    <a:solidFill>
                      <a:srgbClr val="FF0000"/>
                    </a:solidFill>
                    <a:latin typeface="Times New Roman" pitchFamily="34" charset="0"/>
                    <a:ea typeface="微软雅黑" pitchFamily="34" charset="-122"/>
                    <a:cs typeface="Times New Roman" pitchFamily="34" charset="-120"/>
                  </a:rPr>
                  <a:t>所以选项A</a:t>
                </a:r>
              </a:p>
              <a:p>
                <a:pPr latinLnBrk="1">
                  <a:lnSpc>
                    <a:spcPts val="4200"/>
                  </a:lnSpc>
                </a:pPr>
                <a:r>
                  <a:rPr lang="en-US" altLang="zh-CN" sz="2400" b="1" i="0">
                    <a:solidFill>
                      <a:srgbClr val="FF0000"/>
                    </a:solidFill>
                    <a:latin typeface="Times New Roman" pitchFamily="34" charset="0"/>
                    <a:ea typeface="微软雅黑" pitchFamily="34" charset="-122"/>
                    <a:cs typeface="Times New Roman" pitchFamily="34" charset="-120"/>
                  </a:rPr>
                  <a:t>正确</a:t>
                </a:r>
                <a:r>
                  <a:rPr lang="en-US" altLang="zh-CN" sz="2400" b="1" i="0" dirty="0">
                    <a:solidFill>
                      <a:srgbClr val="FF0000"/>
                    </a:solidFill>
                    <a:latin typeface="Times New Roman" pitchFamily="34" charset="0"/>
                    <a:ea typeface="微软雅黑" pitchFamily="34" charset="-122"/>
                    <a:cs typeface="Times New Roman" pitchFamily="34" charset="-120"/>
                  </a:rPr>
                  <a:t>.</a:t>
                </a:r>
                <a:endParaRPr lang="en-US" altLang="zh-CN" sz="2400" dirty="0"/>
              </a:p>
            </p:txBody>
          </p:sp>
        </mc:Choice>
        <mc:Fallback>
          <p:sp>
            <p:nvSpPr>
              <p:cNvPr id="2" name="QC_4_AS.30_1#4c4a40064?vcp=1&amp;pid=a6a02b6c9&amp;color=0,0,0&amp;bt=1&amp;bbb=1&amp;hb=1"/>
              <p:cNvSpPr>
                <a:spLocks noRot="1" noChangeAspect="1" noMove="1" noResize="1" noEditPoints="1" noAdjustHandles="1" noChangeArrowheads="1" noChangeShapeType="1" noTextEdit="1"/>
              </p:cNvSpPr>
              <p:nvPr/>
            </p:nvSpPr>
            <p:spPr>
              <a:xfrm>
                <a:off x="393192" y="1997678"/>
                <a:ext cx="11402568" cy="2866200"/>
              </a:xfrm>
              <a:prstGeom prst="rect">
                <a:avLst/>
              </a:prstGeom>
              <a:blipFill>
                <a:blip r:embed="rId3"/>
                <a:stretch>
                  <a:fillRect l="-1658" r="-1551" b="-6170"/>
                </a:stretch>
              </a:blipFill>
              <a:ln/>
            </p:spPr>
            <p:txBody>
              <a:bodyPr/>
              <a:lstStyle/>
              <a:p>
                <a:r>
                  <a:rPr lang="zh-CN" altLang="en-US">
                    <a:noFill/>
                  </a:rPr>
                  <a:t> </a:t>
                </a:r>
              </a:p>
            </p:txBody>
          </p:sp>
        </mc:Fallback>
      </mc:AlternateContent>
    </p:spTree>
  </p:cSld>
  <p:clrMapOvr>
    <a:masterClrMapping/>
  </p:clrMapOvr>
  <p:transition>
    <p:split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2">
                                            <p:bg/>
                                          </p:spTgt>
                                        </p:tgtEl>
                                        <p:attrNameLst>
                                          <p:attrName>style.visibility</p:attrName>
                                        </p:attrNameLst>
                                      </p:cBhvr>
                                      <p:to>
                                        <p:strVal val="visible"/>
                                      </p:to>
                                    </p:set>
                                    <p:animEffect transition="in" filter="wipe(left)">
                                      <p:cBhvr>
                                        <p:cTn id="7" dur="500"/>
                                        <p:tgtEl>
                                          <p:spTgt spid="2">
                                            <p:bg/>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wipe(left)">
                                      <p:cBhvr>
                                        <p:cTn id="10" dur="500"/>
                                        <p:tgtEl>
                                          <p:spTgt spid="2">
                                            <p:txEl>
                                              <p:pRg st="0" end="0"/>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wipe(left)">
                                      <p:cBhvr>
                                        <p:cTn id="13" dur="500"/>
                                        <p:tgtEl>
                                          <p:spTgt spid="2">
                                            <p:txEl>
                                              <p:pRg st="1" end="1"/>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left)">
                                      <p:cBhvr>
                                        <p:cTn id="16" dur="500"/>
                                        <p:tgtEl>
                                          <p:spTgt spid="2">
                                            <p:txEl>
                                              <p:pRg st="2" end="2"/>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animEffect transition="in" filter="wipe(left)">
                                      <p:cBhvr>
                                        <p:cTn id="19" dur="500"/>
                                        <p:tgtEl>
                                          <p:spTgt spid="2">
                                            <p:txEl>
                                              <p:pRg st="3" end="3"/>
                                            </p:txEl>
                                          </p:spTgt>
                                        </p:tgtEl>
                                      </p:cBhvr>
                                    </p:animEffect>
                                  </p:childTnLst>
                                </p:cTn>
                              </p:par>
                              <p:par>
                                <p:cTn id="20" presetID="22" presetClass="entr" presetSubtype="8" fill="hold" grpId="0" nodeType="with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wipe(left)">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amp;si=15">
    <p:spTree>
      <p:nvGrpSpPr>
        <p:cNvPr id="1" name=""/>
        <p:cNvGrpSpPr/>
        <p:nvPr/>
      </p:nvGrpSpPr>
      <p:grpSpPr>
        <a:xfrm>
          <a:off x="0" y="0"/>
          <a:ext cx="0" cy="0"/>
          <a:chOff x="0" y="0"/>
          <a:chExt cx="0" cy="0"/>
        </a:xfrm>
      </p:grpSpPr>
    </p:spTree>
  </p:cSld>
  <p:clrMapOvr>
    <a:masterClrMapping/>
  </p:clrMapOvr>
  <p:transition>
    <p:split dir="in"/>
  </p:transition>
</p:sld>
</file>

<file path=ppt/theme/theme1.xml><?xml version="1.0" encoding="utf-8"?>
<a:theme xmlns:a="http://schemas.openxmlformats.org/drawingml/2006/mai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933</Words>
  <Application>Microsoft Office PowerPoint</Application>
  <PresentationFormat>宽屏</PresentationFormat>
  <Paragraphs>125</Paragraphs>
  <Slides>15</Slides>
  <Notes>15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15</vt:i4>
      </vt:variant>
    </vt:vector>
  </HeadingPairs>
  <TitlesOfParts>
    <vt:vector size="22" baseType="lpstr">
      <vt:lpstr>KaiTi</vt:lpstr>
      <vt:lpstr>SimSun</vt:lpstr>
      <vt:lpstr>微软雅黑</vt:lpstr>
      <vt:lpstr>Arial</vt:lpstr>
      <vt:lpstr>Cambria Math</vt:lpstr>
      <vt:lpstr>Times New Roman</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Administrator</cp:lastModifiedBy>
  <cp:revision>2</cp:revision>
  <dcterms:created xsi:type="dcterms:W3CDTF">2026-05-25T07:15:54Z</dcterms:created>
  <dcterms:modified xsi:type="dcterms:W3CDTF">2026-05-25T07:21:46Z</dcterms:modified>
  <cp:category/>
  <cp:contentStatus/>
</cp:coreProperties>
</file>