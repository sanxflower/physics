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6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9.xml"/><Relationship Id="rId3" Type="http://schemas.openxmlformats.org/officeDocument/2006/relationships/slide" Target="../slides/slide8.xml"/><Relationship Id="rId7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9.xml"/><Relationship Id="rId3" Type="http://schemas.openxmlformats.org/officeDocument/2006/relationships/slide" Target="../slides/slide8.xml"/><Relationship Id="rId7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4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b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1dddb094b,119e12a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09547e48e&amp;amp;cid=09547e48e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27e011fe5&amp;amp;cid=27e011fe5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b89a00a25&amp;amp;cid=b89a00a25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5e7712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1db92cc97&amp;amp;cid=1db92cc97&amp;amp;vtp=1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6ca6a7f16&amp;amp;cid=6ca6a7f16&amp;amp;vtp=1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b55addffb&amp;amp;cid=b55addffb&amp;amp;vtp=1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066b90604&amp;amp;cid=066b90604&amp;amp;vtp=1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7ae7b3293&amp;amp;cid=7ae7b3293&amp;amp;vtp=1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4?lid=01157dd2d&amp;amp;cid=01157dd2d&amp;amp;vtp=1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1dddb09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疑难专题6 整体法与隔离法的综合应用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1dddb094b,119e12a35#df=1dddb09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疑难专题6 整体法与隔离法的综合应用</a:t>
            </a:r>
            <a:endParaRPr lang="en-US" sz="1800" dirty="0"/>
          </a:p>
        </p:txBody>
      </p:sp>
      <p:sp>
        <p:nvSpPr>
          <p:cNvPr id="5" name="C_0#auto_editor_catalog_0?lid=09547e48e&amp;amp;cid=09547e48e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27e011fe5&amp;amp;cid=27e011fe5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b89a00a25&amp;amp;cid=b89a00a25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55e771214#df=1dddb094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疑难专题6 整体法与隔离法的综合应用</a:t>
            </a:r>
            <a:endParaRPr lang="en-US" sz="1800" dirty="0"/>
          </a:p>
        </p:txBody>
      </p:sp>
      <p:sp>
        <p:nvSpPr>
          <p:cNvPr id="5" name="C_0#auto_editor_catalog_4?lid=1db92cc97&amp;amp;cid=1db92cc97&amp;amp;vtp=1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6ca6a7f16&amp;amp;cid=6ca6a7f16&amp;amp;vtp=1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b55addffb&amp;amp;cid=b55addffb&amp;amp;vtp=1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066b90604&amp;amp;cid=066b90604&amp;amp;vtp=1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7ae7b3293&amp;amp;cid=7ae7b3293&amp;amp;vtp=1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4?lid=01157dd2d&amp;amp;cid=01157dd2d&amp;amp;vtp=1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1dddb094b.fixed?vcp=1&amp;pid=1273f42b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1dddb094b.fixed?vcp=1&amp;pid=1273f42b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疑难专题6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整体法与隔离法的综合应用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119e12a35?vcp=1&amp;pid=1dddb094b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fe7cbd895?vcp=1&amp;pid=119e12a35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09547e48e?vcp=1&amp;pid=119e12a35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如图所示，两楔形物体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叠放在一起保持静止，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的上端与一竖直细线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，细线的另一端固定在天花板上的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放在水平地面上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09547e48e?vcp=1&amp;pid=119e12a3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09547e48e.bracket?vcp=1&amp;pid=119e12a35&amp;color=0,0,0&amp;vpa=1&amp;vtp=1"/>
          <p:cNvSpPr/>
          <p:nvPr/>
        </p:nvSpPr>
        <p:spPr>
          <a:xfrm>
            <a:off x="625760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1_2#09547e48e?htil=1&amp;vcp=1&amp;pid=119e12a3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9921" y="3223895"/>
            <a:ext cx="1152144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09547e48e.choices?htil=1&amp;vcp=1&amp;pid=119e12a35&amp;color=0,0,0&amp;vtp=1&amp;bbb=1"/>
              <p:cNvSpPr/>
              <p:nvPr/>
            </p:nvSpPr>
            <p:spPr>
              <a:xfrm>
                <a:off x="393192" y="3178175"/>
                <a:ext cx="1011326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一定不受地面的摩擦力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不可能只受两个力作用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所受地面的支持力一定小于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的重力之和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受到的摩擦力可能沿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接触面斜向下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09547e48e.choices?htil=1&amp;vcp=1&amp;pid=119e12a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10113264" cy="2155000"/>
              </a:xfrm>
              <a:prstGeom prst="rect">
                <a:avLst/>
              </a:prstGeom>
              <a:blipFill>
                <a:blip r:embed="rId5"/>
                <a:stretch>
                  <a:fillRect l="-1869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09547e48e?vcp=1&amp;pid=119e12a35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视为整体，对整体受力分析，可能受到竖直方向的拉力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、支持力和重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不可能受到地面的摩擦力，故A正确；当细线中没有拉力时，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整体所受地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面的支持力等于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的重力之和，故C错误；对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受力分析，若细线对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的拉力大小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恰好等于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只受重力和拉力两个力作用，故B错误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；静摩擦力的方向与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物体相对运动趋势的方向相反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受到的摩擦力不可能沿接触面斜向下，故D错误.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09547e48e?vcp=1&amp;pid=119e12a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17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4_1#27e011fe5?htil=2&amp;vcp=1&amp;pid=119e12a35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25918" y="2137283"/>
            <a:ext cx="3163824" cy="23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4_2#27e011fe5?htil=2&amp;vcp=1&amp;pid=119e12a35&amp;color=0,0,0&amp;vtp=1&amp;bt=1&amp;bbb=1&amp;hb=1"/>
              <p:cNvSpPr/>
              <p:nvPr/>
            </p:nvSpPr>
            <p:spPr>
              <a:xfrm>
                <a:off x="393192" y="2091564"/>
                <a:ext cx="8101584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两相同的楔形木块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叠放后分别以图甲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两种方式在水平外力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和竖直外力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，挨着竖直墙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面保持静止状态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，则在这两种方式中，木块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受力个数之比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4_2#27e011fe5?htil=2&amp;vcp=1&amp;pid=119e12a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91564"/>
                <a:ext cx="8101584" cy="2150999"/>
              </a:xfrm>
              <a:prstGeom prst="rect">
                <a:avLst/>
              </a:prstGeom>
              <a:blipFill>
                <a:blip r:embed="rId4"/>
                <a:stretch>
                  <a:fillRect l="-2333" r="-376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5_1#27e011fe5.bracket?vcp=1&amp;pid=119e12a35&amp;color=0,0,0&amp;vpa=2&amp;vtp=1"/>
          <p:cNvSpPr/>
          <p:nvPr/>
        </p:nvSpPr>
        <p:spPr>
          <a:xfrm>
            <a:off x="930560" y="375653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27e011fe5.choices?htil=2&amp;vcp=1&amp;pid=119e12a35&amp;color=0,0,0&amp;vtp=1&amp;bbb=1"/>
              <p:cNvSpPr/>
              <p:nvPr/>
            </p:nvSpPr>
            <p:spPr>
              <a:xfrm>
                <a:off x="393192" y="4287201"/>
                <a:ext cx="8101584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098421" algn="l"/>
                    <a:tab pos="4158742" algn="l"/>
                    <a:tab pos="6219063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1:1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4:3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5:3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5:4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27e011fe5.choices?htil=2&amp;vcp=1&amp;pid=119e12a3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87201"/>
                <a:ext cx="8101584" cy="477330"/>
              </a:xfrm>
              <a:prstGeom prst="rect">
                <a:avLst/>
              </a:prstGeom>
              <a:blipFill>
                <a:blip r:embed="rId5"/>
                <a:stretch>
                  <a:fillRect l="-2333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27e011fe5?vcp=1&amp;pid=119e12a35&amp;color=0,0,0&amp;vtp=1&amp;bt=1&amp;bbb=1&amp;hb=1"/>
              <p:cNvSpPr/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题图甲中，根据整体法可知，木块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除了受重力外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，一定受到墙面水平向右的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弹力和竖直向上的静摩擦力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，隔离分析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，其一定还受到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的弹力，隔离分析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、水平向左的推力、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对其垂直于接触面斜向右下的弹力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，这样的三个力不可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能使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平衡，所以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一定还要受到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对其沿接触面斜向右上的静摩擦力才能平衡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一定受到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沿接触面斜向左下的静摩擦力，故B共受5个力的作用；题图乙中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整体法可知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与墙面间既无弹力也无摩擦力，所以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受重力和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的弹力及摩擦力这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3个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力的作用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.则在这两种方式中，木块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受力个数之比为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27e011fe5?vcp=1&amp;pid=119e12a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642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b89a00a25?vcp=1&amp;pid=119e12a35&amp;color=0,0,0&amp;vtp=1&amp;bt=1&amp;bbb=1&amp;hb=1"/>
              <p:cNvSpPr/>
              <p:nvPr/>
            </p:nvSpPr>
            <p:spPr>
              <a:xfrm>
                <a:off x="393192" y="751079"/>
                <a:ext cx="11402568" cy="9000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如图所示，物块在水平向左的外力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的作用下静止在斜面上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，斜面始终静</a:t>
                </a:r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止在水平地面上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b89a00a25?vcp=1&amp;pid=119e12a3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1079"/>
                <a:ext cx="11402568" cy="900049"/>
              </a:xfrm>
              <a:prstGeom prst="rect">
                <a:avLst/>
              </a:prstGeom>
              <a:blipFill>
                <a:blip r:embed="rId3"/>
                <a:stretch>
                  <a:fillRect l="-1658" t="-2703" r="-1604" b="-202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b89a00a25.bracket?vcp=1&amp;pid=119e12a35&amp;color=0,0,0&amp;vpa=3&amp;vtp=1"/>
          <p:cNvSpPr/>
          <p:nvPr/>
        </p:nvSpPr>
        <p:spPr>
          <a:xfrm>
            <a:off x="5502560" y="1219963"/>
            <a:ext cx="441325" cy="42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6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7_2#b89a00a25?htil=3&amp;vcp=1&amp;pid=119e12a35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10344" y="1284732"/>
            <a:ext cx="2167128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7_3#b89a00a25.choices?htil=3&amp;vcp=1&amp;pid=119e12a35&amp;color=0,0,0&amp;vtp=1&amp;bbb=1&amp;hs=1"/>
          <p:cNvSpPr/>
          <p:nvPr/>
        </p:nvSpPr>
        <p:spPr>
          <a:xfrm>
            <a:off x="393192" y="1696592"/>
            <a:ext cx="9098280" cy="187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A.斜面对地面的摩擦力水平向左</a:t>
            </a:r>
            <a:endParaRPr lang="en-US" altLang="zh-CN" sz="2400" dirty="0"/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.地面对斜面的支持力大于物块与斜面所受重力之和</a:t>
            </a:r>
            <a:endParaRPr lang="en-US" altLang="zh-CN" sz="2400" dirty="0"/>
          </a:p>
          <a:p>
            <a:pPr latinLnBrk="1">
              <a:lnSpc>
                <a:spcPts val="38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.斜面给物块的力可能小于物块的重力</a:t>
            </a:r>
            <a:endParaRPr lang="en-US" altLang="zh-CN" sz="2400" dirty="0"/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.物块一定受到沿斜面向下的摩擦力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9_1#b89a00a25?vcp=1&amp;pid=119e12a35&amp;color=0,0,0&amp;vtp=1&amp;bbb=1&amp;hb=1&amp;hs=1"/>
              <p:cNvSpPr/>
              <p:nvPr/>
            </p:nvSpPr>
            <p:spPr>
              <a:xfrm>
                <a:off x="393192" y="3610292"/>
                <a:ext cx="11402568" cy="23613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物块静止在斜面上，系统整体受力平衡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，由整体法判断地面对斜面的摩擦力向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，根据牛顿第三定律可知，斜面对地面的摩擦力水平向左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，地面对斜面的支持力等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于物块与斜面所受重力之和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，故A正确，B错误；根据力的合成可知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，斜面给物块的力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合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，则斜面给物块的力大于物块的重力，故C错误；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物块只受重力、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支持力和外力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时可以处于静止状态，斜面与物块间不一定有摩擦力，故D错误.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9_1#b89a00a25?vcp=1&amp;pid=119e12a3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10292"/>
                <a:ext cx="11402568" cy="2361375"/>
              </a:xfrm>
              <a:prstGeom prst="rect">
                <a:avLst/>
              </a:prstGeom>
              <a:blipFill>
                <a:blip r:embed="rId5"/>
                <a:stretch>
                  <a:fillRect l="-1658" t="-1031" r="-4118" b="-747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55e771214?vcp=1&amp;pid=1dddb094b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54b7bce13?vcp=1&amp;pid=55e771214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限时30分钟</a:t>
            </a:r>
            <a:endParaRPr lang="en-US" altLang="zh-CN" sz="2400" dirty="0"/>
          </a:p>
        </p:txBody>
      </p:sp>
      <p:pic>
        <p:nvPicPr>
          <p:cNvPr id="4" name="QC_4_BD.10_1#1db92cc97?htil=4&amp;vcp=1&amp;pid=55e77121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26985" y="1704149"/>
            <a:ext cx="2834640" cy="18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2#1db92cc97?htil=4&amp;vcp=1&amp;pid=55e771214&amp;color=0,0,0&amp;vtp=1&amp;bbb=1&amp;hb=1&amp;hs=1"/>
              <p:cNvSpPr/>
              <p:nvPr/>
            </p:nvSpPr>
            <p:spPr>
              <a:xfrm>
                <a:off x="393192" y="1649285"/>
                <a:ext cx="843991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（2026·浙江宁波效实中学检测）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三根细线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将两个小球1和2连接并悬挂，如图所示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球处于静止状态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与竖直方向的夹角为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1和2的重力分别为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，关于细线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1的拉力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2#1db92cc97?htil=4&amp;vcp=1&amp;pid=55e771214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8439912" cy="2155000"/>
              </a:xfrm>
              <a:prstGeom prst="rect">
                <a:avLst/>
              </a:prstGeom>
              <a:blipFill>
                <a:blip r:embed="rId4"/>
                <a:stretch>
                  <a:fillRect l="-2240" r="-202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11_1#1db92cc97.bracket?vcp=1&amp;pid=55e771214&amp;color=0,0,0&amp;vpa=4&amp;vtp=1&amp;bbb=1"/>
          <p:cNvSpPr/>
          <p:nvPr/>
        </p:nvSpPr>
        <p:spPr>
          <a:xfrm>
            <a:off x="8725641" y="3841813"/>
            <a:ext cx="644525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0_3#1db92cc97.choices?htil=4&amp;vcp=1&amp;pid=55e771214&amp;color=0,0,0&amp;vtp=1&amp;bbb=1"/>
              <p:cNvSpPr/>
              <p:nvPr/>
            </p:nvSpPr>
            <p:spPr>
              <a:xfrm>
                <a:off x="393192" y="4331970"/>
                <a:ext cx="11402568" cy="62242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3069077" algn="l"/>
                    <a:tab pos="5744454" algn="l"/>
                    <a:tab pos="87119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0_3#1db92cc97.choices?htil=4&amp;vcp=1&amp;pid=55e771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31970"/>
                <a:ext cx="11402568" cy="622427"/>
              </a:xfrm>
              <a:prstGeom prst="rect">
                <a:avLst/>
              </a:prstGeom>
              <a:blipFill>
                <a:blip r:embed="rId5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10_2#1db92cc97?htil=4&amp;vcp=1&amp;pid=55e771214&amp;color=0,0,0&amp;vtp=1&amp;bbb=1&amp;hb=1&amp;hs=1">
                <a:extLst>
                  <a:ext uri="{FF2B5EF4-FFF2-40B4-BE49-F238E27FC236}">
                    <a16:creationId xmlns:a16="http://schemas.microsoft.com/office/drawing/2014/main" id="{35F31B87-16E9-996E-7BBB-E2DAA2B73DF6}"/>
                  </a:ext>
                </a:extLst>
              </p:cNvPr>
              <p:cNvSpPr/>
              <p:nvPr/>
            </p:nvSpPr>
            <p:spPr>
              <a:xfrm>
                <a:off x="395996" y="3843718"/>
                <a:ext cx="1140000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及细线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𝑐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对小球2的拉力大小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,下列说法正确的是 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10_2#1db92cc97?htil=4&amp;vcp=1&amp;pid=55e771214&amp;color=0,0,0&amp;vtp=1&amp;bbb=1&amp;hb=1&amp;hs=1">
                <a:extLst>
                  <a:ext uri="{FF2B5EF4-FFF2-40B4-BE49-F238E27FC236}">
                    <a16:creationId xmlns:a16="http://schemas.microsoft.com/office/drawing/2014/main" id="{35F31B87-16E9-996E-7BBB-E2DAA2B73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843718"/>
                <a:ext cx="11400008" cy="484124"/>
              </a:xfrm>
              <a:prstGeom prst="rect">
                <a:avLst/>
              </a:prstGeom>
              <a:blipFill>
                <a:blip r:embed="rId6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2_1#1db92cc97?htil=5&amp;vcp=1&amp;pid=55e771214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99047" y="1925955"/>
            <a:ext cx="4233672" cy="187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2_2#1db92cc97?htil=5&amp;vcp=1&amp;pid=55e771214&amp;color=0,0,0&amp;vtp=1&amp;bt=1&amp;bbb=1&amp;hb=1"/>
              <p:cNvSpPr/>
              <p:nvPr/>
            </p:nvSpPr>
            <p:spPr>
              <a:xfrm>
                <a:off x="393192" y="1880235"/>
                <a:ext cx="7031736" cy="3086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把两个小球1和2看作整体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，如图甲所示受力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，A错误，D正确；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对小球2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，如图乙所示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，由平衡条件得</a:t>
                </a:r>
              </a:p>
              <a:p>
                <a:pPr latinLnBrk="1">
                  <a:lnSpc>
                    <a:spcPts val="6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𝑮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，B正确，C错误.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2_2#1db92cc97?htil=5&amp;vcp=1&amp;pid=55e771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80235"/>
                <a:ext cx="7031736" cy="3086100"/>
              </a:xfrm>
              <a:prstGeom prst="rect">
                <a:avLst/>
              </a:prstGeom>
              <a:blipFill>
                <a:blip r:embed="rId4"/>
                <a:stretch>
                  <a:fillRect l="-2689" b="-78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3_1#6ca6a7f16?htil=6&amp;vcp=1&amp;pid=55e771214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51534" y="1801686"/>
            <a:ext cx="1477320" cy="210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3_2#6ca6a7f16?htil=6&amp;vcp=1&amp;pid=55e771214&amp;color=0,0,0&amp;vtp=1&amp;bt=1&amp;bbb=1&amp;hb=1&amp;hs=1"/>
              <p:cNvSpPr/>
              <p:nvPr/>
            </p:nvSpPr>
            <p:spPr>
              <a:xfrm>
                <a:off x="393192" y="1814385"/>
                <a:ext cx="9784080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的氢气球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通过细绳与地面上一块质量为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的砖块绑在一起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，氢气球由于受水平风力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作用而使拉住它的细绳与地面的夹角为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,两物体始终处于静止状态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气球受到的水平风力增大时(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3_2#6ca6a7f16?htil=6&amp;vcp=1&amp;pid=55e77121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4385"/>
                <a:ext cx="9784080" cy="2150999"/>
              </a:xfrm>
              <a:prstGeom prst="rect">
                <a:avLst/>
              </a:prstGeom>
              <a:blipFill>
                <a:blip r:embed="rId4"/>
                <a:stretch>
                  <a:fillRect l="-1931" r="-1184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4_1#6ca6a7f16.bracket?vcp=1&amp;pid=55e771214&amp;color=0,0,0&amp;vpa=5&amp;vtp=1"/>
          <p:cNvSpPr/>
          <p:nvPr/>
        </p:nvSpPr>
        <p:spPr>
          <a:xfrm>
            <a:off x="4283360" y="34793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5" name="QC_4_BD.13_3#6ca6a7f16.choices?htil=6&amp;vcp=1&amp;pid=55e771214&amp;color=0,0,0&amp;vtp=1&amp;bbb=1&amp;hs=1"/>
          <p:cNvSpPr/>
          <p:nvPr/>
        </p:nvSpPr>
        <p:spPr>
          <a:xfrm>
            <a:off x="395996" y="4008945"/>
            <a:ext cx="1140000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4999990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.砖块对地面的压力变大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.地面对砖块的支持力变小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4999990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C.砖块受到地面的摩擦力变大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.细绳对氢气球的拉力大小不变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5_1#6ca6a7f16?htil=7&amp;vcp=1&amp;pid=55e77121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53138" y="986473"/>
            <a:ext cx="2103120" cy="197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AS.15_2#6ca6a7f16?htil=7&amp;vcp=1&amp;pid=55e771214&amp;color=0,0,0&amp;vtp=1&amp;bt=1&amp;bbb=1&amp;hb=1&amp;hs=1"/>
          <p:cNvSpPr/>
          <p:nvPr/>
        </p:nvSpPr>
        <p:spPr>
          <a:xfrm>
            <a:off x="393192" y="940753"/>
            <a:ext cx="9162288" cy="215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水平方向的风力不影响竖直方向的受力情况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，所以风力增大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，地面对砖块的支持力不变，根据牛顿第三定律可知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，砖块对地面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的压力也不变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，故A、B错误；以整体为研究对象，水平方向上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，根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据平衡条件可知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，砖块受到地面的摩擦力与风力等大、反向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，风力增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5_2#6ca6a7f16?htil=7&amp;vcp=1&amp;pid=55e771214&amp;color=0,0,0&amp;vtp=1&amp;bt=1&amp;bbb=1&amp;hb=1&amp;hs=1">
                <a:extLst>
                  <a:ext uri="{FF2B5EF4-FFF2-40B4-BE49-F238E27FC236}">
                    <a16:creationId xmlns:a16="http://schemas.microsoft.com/office/drawing/2014/main" id="{E130288E-59F2-A865-D3CC-E4BD6536D6D7}"/>
                  </a:ext>
                </a:extLst>
              </p:cNvPr>
              <p:cNvSpPr/>
              <p:nvPr/>
            </p:nvSpPr>
            <p:spPr>
              <a:xfrm>
                <a:off x="393192" y="3138869"/>
                <a:ext cx="11400008" cy="2777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，则砖块受到地面的摩擦力变大，故C正确；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对氢气球受力分析，受到重力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浮力、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细绳的拉力和水平风力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竖直方向上，根据平衡条件得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浮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</a:p>
              <a:p>
                <a:pPr latinLnBrk="1">
                  <a:lnSpc>
                    <a:spcPts val="49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浮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浮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𝐭𝐚𝐧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风力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增大时，浮力和重力不变，则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，细绳对氢气球的拉力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增大，故D错误.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5_2#6ca6a7f16?htil=7&amp;vcp=1&amp;pid=55e771214&amp;color=0,0,0&amp;vtp=1&amp;bt=1&amp;bbb=1&amp;hb=1&amp;hs=1">
                <a:extLst>
                  <a:ext uri="{FF2B5EF4-FFF2-40B4-BE49-F238E27FC236}">
                    <a16:creationId xmlns:a16="http://schemas.microsoft.com/office/drawing/2014/main" id="{E130288E-59F2-A865-D3CC-E4BD6536D6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869"/>
                <a:ext cx="11400008" cy="2777300"/>
              </a:xfrm>
              <a:prstGeom prst="rect">
                <a:avLst/>
              </a:prstGeom>
              <a:blipFill>
                <a:blip r:embed="rId4"/>
                <a:stretch>
                  <a:fillRect l="-1658" r="-2460" b="-636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b55addffb?vcp=1&amp;pid=55e771214&amp;color=0,0,0&amp;vtp=1&amp;bt=1&amp;bbb=1&amp;hb=1"/>
              <p:cNvSpPr/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（2026·江西吉安一中期末）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（多选题）如图所示，三个木块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,在水平推力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的作用下静止靠在竖直的墙面上.已知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的左侧是光滑的，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其余所有接触面均粗糙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，动摩擦因数均为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b55addffb?vcp=1&amp;pid=55e771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b55addffb.bracket?vcp=1&amp;pid=55e771214&amp;color=0,0,0&amp;vpa=6&amp;vtp=1&amp;bbb=1"/>
          <p:cNvSpPr/>
          <p:nvPr/>
        </p:nvSpPr>
        <p:spPr>
          <a:xfrm>
            <a:off x="676560" y="2940209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p:pic>
        <p:nvPicPr>
          <p:cNvPr id="4" name="QC_4_BD.16_2#b55addffb?htil=8&amp;vcp=1&amp;pid=55e77121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00112" y="3460655"/>
            <a:ext cx="2121408" cy="131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b55addffb.choices?htil=8&amp;vcp=1&amp;pid=55e771214&amp;color=0,0,0&amp;vtp=1&amp;bbb=1"/>
              <p:cNvSpPr/>
              <p:nvPr/>
            </p:nvSpPr>
            <p:spPr>
              <a:xfrm>
                <a:off x="393192" y="3414935"/>
                <a:ext cx="9153144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三个木块所受的摩擦力均为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的摩擦力竖直向上，大小是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的摩擦力竖直向下，大小是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.墙对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的摩擦力竖直向上，大小是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b55addffb.choices?htil=8&amp;vcp=1&amp;pid=55e771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5"/>
                <a:ext cx="9153144" cy="2158302"/>
              </a:xfrm>
              <a:prstGeom prst="rect">
                <a:avLst/>
              </a:prstGeom>
              <a:blipFill>
                <a:blip r:embed="rId5"/>
                <a:stretch>
                  <a:fillRect l="-2065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8_1#b55addffb?htil=9&amp;vcp=1&amp;pid=55e77121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71049" y="1561020"/>
            <a:ext cx="1100761" cy="21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8_2#b55addffb?htil=9&amp;vcp=1&amp;pid=55e771214&amp;color=0,0,0&amp;vtp=1&amp;bt=1&amp;bbb=1&amp;hb=1&amp;hs=1"/>
              <p:cNvSpPr/>
              <p:nvPr/>
            </p:nvSpPr>
            <p:spPr>
              <a:xfrm>
                <a:off x="393192" y="1573720"/>
                <a:ext cx="1015898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根据题意可知，三个木块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均静止，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分别对三个木块受力分析，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由平衡条件可知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三个木块所受的合摩擦力均为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，不等于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向竖直向上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三个木块整体受力分析，由平衡条件可知，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竖直向上的静摩擦力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，故A错误，D正确；根据题意，对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8_2#b55addffb?htil=9&amp;vcp=1&amp;pid=55e77121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3720"/>
                <a:ext cx="10158984" cy="2155000"/>
              </a:xfrm>
              <a:prstGeom prst="rect">
                <a:avLst/>
              </a:prstGeom>
              <a:blipFill>
                <a:blip r:embed="rId4"/>
                <a:stretch>
                  <a:fillRect l="-1861" r="-4382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8_2#b55addffb?htil=9&amp;vcp=1&amp;pid=55e771214&amp;color=0,0,0&amp;vtp=1&amp;bt=1&amp;bbb=1&amp;hb=1&amp;hs=1">
                <a:extLst>
                  <a:ext uri="{FF2B5EF4-FFF2-40B4-BE49-F238E27FC236}">
                    <a16:creationId xmlns:a16="http://schemas.microsoft.com/office/drawing/2014/main" id="{FEE773A7-2D8F-F8B4-2150-C1DB7512378E}"/>
                  </a:ext>
                </a:extLst>
              </p:cNvPr>
              <p:cNvSpPr/>
              <p:nvPr/>
            </p:nvSpPr>
            <p:spPr>
              <a:xfrm>
                <a:off x="393192" y="3709670"/>
                <a:ext cx="114000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，受竖直向下的重力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、竖直向上的静摩擦力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，由平衡条件可知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摩擦力竖直向下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，故C正确；同理对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整体受力分析可得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摩擦力竖直向下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,故B错误.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8_2#b55addffb?htil=9&amp;vcp=1&amp;pid=55e771214&amp;color=0,0,0&amp;vtp=1&amp;bt=1&amp;bbb=1&amp;hb=1&amp;hs=1">
                <a:extLst>
                  <a:ext uri="{FF2B5EF4-FFF2-40B4-BE49-F238E27FC236}">
                    <a16:creationId xmlns:a16="http://schemas.microsoft.com/office/drawing/2014/main" id="{FEE773A7-2D8F-F8B4-2150-C1DB75123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09670"/>
                <a:ext cx="11400008" cy="1596200"/>
              </a:xfrm>
              <a:prstGeom prst="rect">
                <a:avLst/>
              </a:prstGeom>
              <a:blipFill>
                <a:blip r:embed="rId5"/>
                <a:stretch>
                  <a:fillRect l="-1658" r="-909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066b90604?vcp=1&amp;pid=55e771214&amp;color=0,0,0&amp;vtp=1&amp;bt=1&amp;bbb=1&amp;hb=1"/>
              <p:cNvSpPr/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的小物体静止在一个半球体上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，半球体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的质量是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，小物体与半球体间的动摩擦因数为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,小物体与球心连线与水平地面的夹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066b90604?vcp=1&amp;pid=55e771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01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066b90604.bracket?vcp=1&amp;pid=55e771214&amp;color=0,0,0&amp;vpa=7&amp;vtp=1&amp;bbb=1"/>
          <p:cNvSpPr/>
          <p:nvPr/>
        </p:nvSpPr>
        <p:spPr>
          <a:xfrm>
            <a:off x="6534309" y="265134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pic>
        <p:nvPicPr>
          <p:cNvPr id="4" name="QC_4_BD.19_2#066b90604?htil=10&amp;vcp=1&amp;pid=55e77121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60480" y="3184492"/>
            <a:ext cx="1965960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066b90604.choices?htil=10&amp;vcp=1&amp;pid=55e771214&amp;color=0,0,0&amp;vtp=1&amp;bbb=1"/>
              <p:cNvSpPr/>
              <p:nvPr/>
            </p:nvSpPr>
            <p:spPr>
              <a:xfrm>
                <a:off x="393192" y="3138772"/>
                <a:ext cx="929944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A.地面对半球体的支持力等于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.小物体对半球体的摩擦力大小为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.地面与半球体之间没有摩擦力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.增加小物体的质量，地面与半球体的摩擦力增加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066b90604.choices?htil=10&amp;vcp=1&amp;pid=55e771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9299448" cy="2155000"/>
              </a:xfrm>
              <a:prstGeom prst="rect">
                <a:avLst/>
              </a:prstGeom>
              <a:blipFill>
                <a:blip r:embed="rId5"/>
                <a:stretch>
                  <a:fillRect l="-203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066b90604?vcp=1&amp;pid=55e771214&amp;color=0,0,0&amp;vtp=1&amp;bt=1&amp;bbb=1&amp;hb=1"/>
              <p:cNvSpPr/>
              <p:nvPr/>
            </p:nvSpPr>
            <p:spPr>
              <a:xfrm>
                <a:off x="393192" y="1999773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小物体静止说明处于平衡状态，以小物体和半球体作为整体来研究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，受到重力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和地面对半球体的支持力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，地面对半球体没有摩擦力，由平衡条件可得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，地面对半球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体的支持力为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，故D错误，A、C正确；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对小物体进行受力分析如图，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由几何关系可知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，摩擦力为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由牛顿第三定律知小物体对半球体的摩擦力大小为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066b90604?vcp=1&amp;pid=55e771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99773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123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2_1#7ae7b3293?vcp=1&amp;pid=55e771214&amp;color=0,0,0&amp;vtp=1&amp;bt=1&amp;bbb=1&amp;hb=1"/>
              <p:cNvSpPr/>
              <p:nvPr/>
            </p:nvSpPr>
            <p:spPr>
              <a:xfrm>
                <a:off x="393192" y="115792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图甲为我国传统古建筑中常见花窗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，其镂空的结构均由图乙中单片青瓦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排列堆叠而成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.现瓦匠师傅用质量均为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的相同青瓦片紧靠在一起静止竖直叠放在水平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，如图丙所示，下方瓦片的受力点均在其顶端.下列说法正确的是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（重力加速度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2_1#7ae7b3293?vcp=1&amp;pid=55e771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5792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3_1#7ae7b3293.bracket?vcp=1&amp;pid=55e771214&amp;color=0,0,0&amp;vpa=8&amp;vtp=1"/>
          <p:cNvSpPr/>
          <p:nvPr/>
        </p:nvSpPr>
        <p:spPr>
          <a:xfrm>
            <a:off x="1426306" y="282289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22_2#7ae7b3293?htil=11&amp;vcp=1&amp;pid=55e77121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6109" y="3343338"/>
            <a:ext cx="466344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2_3#7ae7b3293.choices?htil=11&amp;vcp=1&amp;pid=55e771214&amp;color=0,0,0&amp;vtp=1&amp;bbb=1"/>
              <p:cNvSpPr/>
              <p:nvPr/>
            </p:nvSpPr>
            <p:spPr>
              <a:xfrm>
                <a:off x="393192" y="3297618"/>
                <a:ext cx="66019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A.瓦片1左端给2的压力大小为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.瓦片2右端对5的压力比其左端对4的压力大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.瓦片4顶端受到的压力大小为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.瓦片5右端对地面的压力大小为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2_3#7ae7b3293.choices?htil=11&amp;vcp=1&amp;pid=55e771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97618"/>
                <a:ext cx="6601968" cy="2235200"/>
              </a:xfrm>
              <a:prstGeom prst="rect">
                <a:avLst/>
              </a:prstGeom>
              <a:blipFill>
                <a:blip r:embed="rId5"/>
                <a:stretch>
                  <a:fillRect l="-2862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24_1#7ae7b3293?vcp=1&amp;pid=55e771214&amp;color=0,0,0&amp;vtp=1&amp;bt=1&amp;bbb=1"/>
          <p:cNvSpPr/>
          <p:nvPr/>
        </p:nvSpPr>
        <p:spPr>
          <a:xfrm>
            <a:off x="393192" y="887222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如图所示,对瓦片1受力分析.</a:t>
            </a:r>
            <a:endParaRPr lang="en-US" altLang="zh-CN" sz="2400" dirty="0"/>
          </a:p>
        </p:txBody>
      </p:sp>
      <p:pic>
        <p:nvPicPr>
          <p:cNvPr id="3" name="QC_4_AS.24_2#7ae7b3293?vcp=1&amp;pid=55e771214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5464" y="1501013"/>
            <a:ext cx="2478024" cy="117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24_3#7ae7b3293?vcp=1&amp;pid=55e771214&amp;color=0,0,0&amp;vtp=1&amp;bbb=1&amp;hb=1"/>
              <p:cNvSpPr/>
              <p:nvPr/>
            </p:nvSpPr>
            <p:spPr>
              <a:xfrm>
                <a:off x="393192" y="2809113"/>
                <a:ext cx="11402568" cy="2336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由平衡条件得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，根据牛顿第三定律可知，瓦片1左端对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2的压力大小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，A错误.对瓦片2进行受力分析，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由对称性可知，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，根据牛顿第三定律可知，瓦片2右端对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5的压力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与其左端对4的压力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𝟐𝟒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,B、C错误.对瓦片5受力分析可知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地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左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4" name="QC_4_AS.24_3#7ae7b3293?vcp=1&amp;pid=55e771214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09113"/>
                <a:ext cx="11402568" cy="2336800"/>
              </a:xfrm>
              <a:prstGeom prst="rect">
                <a:avLst/>
              </a:prstGeom>
              <a:blipFill>
                <a:blip r:embed="rId4"/>
                <a:stretch>
                  <a:fillRect l="-1658" r="-321" b="-44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4_3#7ae7b3293?vcp=1&amp;pid=55e771214&amp;color=0,0,0&amp;vtp=1&amp;bbb=1&amp;hb=1">
                <a:extLst>
                  <a:ext uri="{FF2B5EF4-FFF2-40B4-BE49-F238E27FC236}">
                    <a16:creationId xmlns:a16="http://schemas.microsoft.com/office/drawing/2014/main" id="{95DB2B5A-4A43-E042-2C6E-0F4143F3F941}"/>
                  </a:ext>
                </a:extLst>
              </p:cNvPr>
              <p:cNvSpPr/>
              <p:nvPr/>
            </p:nvSpPr>
            <p:spPr>
              <a:xfrm>
                <a:off x="393192" y="2375662"/>
                <a:ext cx="11402568" cy="177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地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右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𝟑𝟓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,由B、C两项分析可知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,同理可得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地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右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，根据牛顿第三定律可知，瓦片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5右端对地面的压力大小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4_3#7ae7b3293?vcp=1&amp;pid=55e771214&amp;color=0,0,0&amp;vtp=1&amp;bbb=1&amp;hb=1">
                <a:extLst>
                  <a:ext uri="{FF2B5EF4-FFF2-40B4-BE49-F238E27FC236}">
                    <a16:creationId xmlns:a16="http://schemas.microsoft.com/office/drawing/2014/main" id="{95DB2B5A-4A43-E042-2C6E-0F4143F3F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75662"/>
                <a:ext cx="11402568" cy="1778000"/>
              </a:xfrm>
              <a:prstGeom prst="rect">
                <a:avLst/>
              </a:prstGeom>
              <a:blipFill>
                <a:blip r:embed="rId2"/>
                <a:stretch>
                  <a:fillRect l="-1658" r="-1925" b="-61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94803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5_1#01157dd2d?vcp=1&amp;pid=55e771214&amp;color=0,0,0&amp;vtp=1&amp;bt=1&amp;bbb=1&amp;hb=1"/>
              <p:cNvSpPr/>
              <p:nvPr/>
            </p:nvSpPr>
            <p:spPr>
              <a:xfrm>
                <a:off x="393192" y="999077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（2026·华科附中检测）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用硬质包装盒收纳易拉罐，其简化模型为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：盒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口侧开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，3个完全相同的圆柱形易拉罐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对齐后横放其中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，三者的位置关系如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，左右两侧面保持竖直，侧面对易拉罐的弹力大小分别为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，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，水平底面对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不计一切摩擦，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5_1#01157dd2d?vcp=1&amp;pid=55e771214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99077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2834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6_1#01157dd2d.bracket?vcp=1&amp;pid=55e771214&amp;color=0,0,0&amp;vpa=9&amp;vtp=1"/>
          <p:cNvSpPr/>
          <p:nvPr/>
        </p:nvSpPr>
        <p:spPr>
          <a:xfrm>
            <a:off x="3076861" y="322284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25_2#01157dd2d?htil=12&amp;vcp=1&amp;pid=55e771214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1762" y="3739736"/>
            <a:ext cx="1280160" cy="18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5_3#01157dd2d.choices?htil=12&amp;vcp=1&amp;pid=55e771214&amp;color=0,0,0&amp;vtp=1&amp;bbb=1"/>
              <p:cNvSpPr/>
              <p:nvPr/>
            </p:nvSpPr>
            <p:spPr>
              <a:xfrm>
                <a:off x="393192" y="3684872"/>
                <a:ext cx="998524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𝐴𝐵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.盒宽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稍增大一些（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仍未接触），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.盒宽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稍增大一些（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仍未接触），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5_3#01157dd2d.choices?htil=12&amp;vcp=1&amp;pid=55e771214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4872"/>
                <a:ext cx="9985248" cy="2155000"/>
              </a:xfrm>
              <a:prstGeom prst="rect">
                <a:avLst/>
              </a:prstGeom>
              <a:blipFill>
                <a:blip r:embed="rId5"/>
                <a:stretch>
                  <a:fillRect l="-189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27_1#01157dd2d?htil=13&amp;vcp=1&amp;pid=55e771214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05080" y="789526"/>
            <a:ext cx="1527048" cy="230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27_2#01157dd2d?htil=13&amp;vcp=1&amp;pid=55e771214&amp;color=0,0,0&amp;vtp=1&amp;bt=1&amp;bbb=1&amp;hb=1&amp;hs=1"/>
              <p:cNvSpPr/>
              <p:nvPr/>
            </p:nvSpPr>
            <p:spPr>
              <a:xfrm>
                <a:off x="393192" y="743808"/>
                <a:ext cx="9738360" cy="271729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对易拉罐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分别受力分析如图所示，由平衡条件可知，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在水平方向上分力的合力，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平方向上分力的大小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，由牛顿第三定律得知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 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错误；单独对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圆心在一条竖直线上，则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与水平方向的夹角相同，由平衡条件可知，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的竖直分量等于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27_2#01157dd2d?htil=13&amp;vcp=1&amp;pid=55e771214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43808"/>
                <a:ext cx="9738360" cy="2717292"/>
              </a:xfrm>
              <a:prstGeom prst="rect">
                <a:avLst/>
              </a:prstGeom>
              <a:blipFill>
                <a:blip r:embed="rId4"/>
                <a:stretch>
                  <a:fillRect l="-1941" r="-501" b="-69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27_2#01157dd2d?htil=13&amp;vcp=1&amp;pid=55e771214&amp;color=0,0,0&amp;vtp=1&amp;bt=1&amp;bbb=1&amp;hb=1&amp;hs=1">
                <a:extLst>
                  <a:ext uri="{FF2B5EF4-FFF2-40B4-BE49-F238E27FC236}">
                    <a16:creationId xmlns:a16="http://schemas.microsoft.com/office/drawing/2014/main" id="{478701CF-F978-9B22-1A5F-D2990280C205}"/>
                  </a:ext>
                </a:extLst>
              </p:cNvPr>
              <p:cNvSpPr/>
              <p:nvPr/>
            </p:nvSpPr>
            <p:spPr>
              <a:xfrm>
                <a:off x="395996" y="3429602"/>
                <a:ext cx="1140000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的竖直分量与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之和，则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一定大于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,B正确；当盒宽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稍增大一些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力分析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不改变，故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在竖直方向上的分量不变，但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与水平方向的夹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变小，则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将增大，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的水平分量增大，故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将增大，C错误；对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整体受力分析，由平衡条件可知竖直方向有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，可知当盒宽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27_2#01157dd2d?htil=13&amp;vcp=1&amp;pid=55e771214&amp;color=0,0,0&amp;vtp=1&amp;bt=1&amp;bbb=1&amp;hb=1&amp;hs=1">
                <a:extLst>
                  <a:ext uri="{FF2B5EF4-FFF2-40B4-BE49-F238E27FC236}">
                    <a16:creationId xmlns:a16="http://schemas.microsoft.com/office/drawing/2014/main" id="{478701CF-F978-9B22-1A5F-D2990280C2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429602"/>
                <a:ext cx="11400008" cy="2713800"/>
              </a:xfrm>
              <a:prstGeom prst="rect">
                <a:avLst/>
              </a:prstGeom>
              <a:blipFill>
                <a:blip r:embed="rId5"/>
                <a:stretch>
                  <a:fillRect l="-165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1237</Words>
  <Application>Microsoft Office PowerPoint</Application>
  <PresentationFormat>宽屏</PresentationFormat>
  <Paragraphs>158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2026-05-25T07:57:15Z</dcterms:created>
  <dcterms:modified xsi:type="dcterms:W3CDTF">2026-05-25T08:05:30Z</dcterms:modified>
  <cp:category/>
  <cp:contentStatus/>
</cp:coreProperties>
</file>