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8" r:id="rId19"/>
    <p:sldId id="273" r:id="rId20"/>
    <p:sldId id="274" r:id="rId21"/>
    <p:sldId id="275" r:id="rId22"/>
    <p:sldId id="279" r:id="rId23"/>
    <p:sldId id="276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5288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7.xml"/><Relationship Id="rId4" Type="http://schemas.openxmlformats.org/officeDocument/2006/relationships/slide" Target="../slides/slide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5.xml"/><Relationship Id="rId5" Type="http://schemas.openxmlformats.org/officeDocument/2006/relationships/slide" Target="../slides/slide13.xml"/><Relationship Id="rId4" Type="http://schemas.openxmlformats.org/officeDocument/2006/relationships/slide" Target="../slides/slide1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7.xml"/><Relationship Id="rId4" Type="http://schemas.openxmlformats.org/officeDocument/2006/relationships/slide" Target="../slides/slide5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5.xml"/><Relationship Id="rId5" Type="http://schemas.openxmlformats.org/officeDocument/2006/relationships/slide" Target="../slides/slide13.xml"/><Relationship Id="rId4" Type="http://schemas.openxmlformats.org/officeDocument/2006/relationships/slide" Target="../slides/slide1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65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a1f4ab335,7bdc2cad2,b5207db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4d29b4ad9&amp;amp;cid=4d29b4ad9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f5e1d3f4d&amp;amp;cid=f5e1d3f4d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a56bd48e1&amp;amp;cid=a56bd48e1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12e60b05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4?lid=12f882a72&amp;amp;cid=12f882a72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4089815f1&amp;amp;cid=4089815f1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2205a79fe&amp;amp;cid=2205a79fe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4?lid=c94191d51&amp;amp;cid=c94191d51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2f4509b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9?lid=c9a35b2d6&amp;amp;cid=c9a35b2d6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7bdc2ca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疑难专题11 动力学中的滑块—滑板模型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a1f4ab335,7bdc2cad2,b5207dbbe#df=7bdc2ca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疑难专题11 动力学中的滑块—滑板模型</a:t>
            </a:r>
            <a:endParaRPr lang="en-US" sz="1800" dirty="0"/>
          </a:p>
        </p:txBody>
      </p:sp>
      <p:sp>
        <p:nvSpPr>
          <p:cNvPr id="5" name="C_0#auto_editor_catalog_0?lid=4d29b4ad9&amp;amp;cid=4d29b4ad9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f5e1d3f4d&amp;amp;cid=f5e1d3f4d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a56bd48e1&amp;amp;cid=a56bd48e1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12e60b05b#df=7bdc2ca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疑难专题11 动力学中的滑块—滑板模型</a:t>
            </a:r>
            <a:endParaRPr lang="en-US" sz="1800" dirty="0"/>
          </a:p>
        </p:txBody>
      </p:sp>
      <p:sp>
        <p:nvSpPr>
          <p:cNvPr id="5" name="C_0#auto_editor_catalog_4?lid=12f882a72&amp;amp;cid=12f882a72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4089815f1&amp;amp;cid=4089815f1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2205a79fe&amp;amp;cid=2205a79fe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4?lid=c94191d51&amp;amp;cid=c94191d51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2f4509b36#df=7bdc2ca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疑难专题11 动力学中的滑块—滑板模型</a:t>
            </a:r>
            <a:endParaRPr lang="en-US" sz="1800" dirty="0"/>
          </a:p>
        </p:txBody>
      </p:sp>
      <p:sp>
        <p:nvSpPr>
          <p:cNvPr id="5" name="C_0#auto_editor_catalog_9?lid=c9a35b2d6&amp;amp;cid=c9a35b2d6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7bdc2cad2.fixed?vcp=1&amp;pid=a1f4ab335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运动和力的关系</a:t>
            </a:r>
            <a:endParaRPr lang="en-US" altLang="zh-CN" sz="4800" dirty="0"/>
          </a:p>
        </p:txBody>
      </p:sp>
      <p:sp>
        <p:nvSpPr>
          <p:cNvPr id="3" name="C_2_BD#7bdc2cad2.fixed?vcp=1&amp;pid=a1f4ab335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疑难专题11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动力学中的滑块—滑板模型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b5207dbbe?vcp=1&amp;pid=7bdc2cad2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512711d30?vcp=1&amp;pid=b5207dbbe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限时15分钟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_1#4d29b4ad9?vcp=1&amp;pid=b5207dbbe&amp;color=0,0,0&amp;vtp=1&amp;bbb=1&amp;hb=1"/>
              <p:cNvSpPr/>
              <p:nvPr/>
            </p:nvSpPr>
            <p:spPr>
              <a:xfrm>
                <a:off x="393192" y="1590675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（2026·湖北宜昌一中阶段性测试）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的薄木板静置在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足够大的水平地面上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、可视为质点的物块以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的速度从左端滑上木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板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，恰好能到达木板的右端.已知物块与木板间的动摩擦因数为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，木板与地面间的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动摩擦因数为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0.1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，取重力加速度大小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_1#4d29b4ad9?vcp=1&amp;pid=b5207dbbe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390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QC_4_BD.1_2#4d29b4ad9?vcp=1&amp;pid=b5207dbbe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53128" y="3851275"/>
            <a:ext cx="3282696" cy="530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6" name="QC_4_AN.2_1#4d29b4ad9.bracket?vcp=1&amp;pid=b5207dbbe&amp;color=0,0,0&amp;vpa=1&amp;vtp=1"/>
          <p:cNvSpPr/>
          <p:nvPr/>
        </p:nvSpPr>
        <p:spPr>
          <a:xfrm>
            <a:off x="10015760" y="32556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_3#4d29b4ad9.choices?vcp=1&amp;pid=b5207dbbe&amp;color=0,0,0&amp;vtp=1&amp;bbb=1"/>
              <p:cNvSpPr/>
              <p:nvPr/>
            </p:nvSpPr>
            <p:spPr>
              <a:xfrm>
                <a:off x="393192" y="4511675"/>
                <a:ext cx="11402568" cy="10274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A.木板的长度为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.木板的最大速度为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.物块向右运动的最大距离为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.木板沿地面运动的最大距离为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_3#4d29b4ad9.choices?vcp=1&amp;pid=b5207dbbe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511675"/>
                <a:ext cx="11402568" cy="1027430"/>
              </a:xfrm>
              <a:prstGeom prst="rect">
                <a:avLst/>
              </a:prstGeom>
              <a:blipFill>
                <a:blip r:embed="rId5"/>
                <a:stretch>
                  <a:fillRect l="-1658" b="-1834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_1#4d29b4ad9?vcp=1&amp;pid=b5207dbbe&amp;color=0,0,0&amp;vtp=1&amp;bt=1&amp;bbb=1&amp;hb=1"/>
              <p:cNvSpPr/>
              <p:nvPr/>
            </p:nvSpPr>
            <p:spPr>
              <a:xfrm>
                <a:off x="393192" y="671068"/>
                <a:ext cx="11402568" cy="3399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物块做减速运动的加速度大小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，木板的加速度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𝛍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𝛍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,共速时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时物块位移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,木板位移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,则木板长度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,木板的最大速度为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,A、B错误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.共速后整体的加速度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,运动的距离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，物块向右运动的最大距离为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，木板沿地面运动的最大距离为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,C错误，D正确.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3_1#4d29b4ad9?vcp=1&amp;pid=b5207dbb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71068"/>
                <a:ext cx="11402568" cy="3399600"/>
              </a:xfrm>
              <a:prstGeom prst="rect">
                <a:avLst/>
              </a:prstGeom>
              <a:blipFill>
                <a:blip r:embed="rId3"/>
                <a:stretch>
                  <a:fillRect l="-1658" r="-909" b="-537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3_2#4d29b4ad9?vcp=1&amp;pid=b5207dbbe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37760" y="4198811"/>
            <a:ext cx="2322576" cy="180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4_1#f5e1d3f4d?vcp=1&amp;pid=b5207dbbe&amp;color=0,0,0&amp;vtp=1&amp;bt=1&amp;bbb=1&amp;hb=1"/>
              <p:cNvSpPr/>
              <p:nvPr/>
            </p:nvSpPr>
            <p:spPr>
              <a:xfrm>
                <a:off x="393192" y="585502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（多选题）如图甲所示，光滑水平面上静置一个薄长木板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，长木板上表面粗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糙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的物块以水平速度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滑上长木板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，此后木板与物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块运动的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图像如图乙所示，重力加速度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，则下列说法正确的是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4_1#f5e1d3f4d?vcp=1&amp;pid=b5207dbb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85502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230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5_1#f5e1d3f4d.bracket?vcp=1&amp;pid=b5207dbbe&amp;color=0,0,0&amp;vpa=2&amp;vtp=1&amp;bbb=1"/>
          <p:cNvSpPr/>
          <p:nvPr/>
        </p:nvSpPr>
        <p:spPr>
          <a:xfrm>
            <a:off x="689260" y="2250472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p:pic>
        <p:nvPicPr>
          <p:cNvPr id="4" name="QC_4_BD.4_2#f5e1d3f4d?vcp=1&amp;pid=b5207dbbe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60558" y="2852199"/>
            <a:ext cx="4467836" cy="223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4_3#f5e1d3f4d.choices?vcp=1&amp;pid=b5207dbbe&amp;color=0,0,0&amp;vtp=1&amp;bbb=1"/>
              <p:cNvSpPr/>
              <p:nvPr/>
            </p:nvSpPr>
            <p:spPr>
              <a:xfrm>
                <a:off x="393192" y="5225130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.木板的长度为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.木板与物块间的动摩擦因数为0.1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4_3#f5e1d3f4d.choices?vcp=1&amp;pid=b5207dbbe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225130"/>
                <a:ext cx="11402568" cy="1033399"/>
              </a:xfrm>
              <a:prstGeom prst="rect">
                <a:avLst/>
              </a:prstGeom>
              <a:blipFill>
                <a:blip r:embed="rId5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6_1#f5e1d3f4d?vcp=1&amp;pid=b5207dbbe&amp;color=0,0,0&amp;vtp=1&amp;bt=1&amp;bbb=1&amp;hb=1"/>
              <p:cNvSpPr/>
              <p:nvPr/>
            </p:nvSpPr>
            <p:spPr>
              <a:xfrm>
                <a:off x="393192" y="1728343"/>
                <a:ext cx="11402568" cy="30082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物块在木板上运动的过程中，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图像的斜率表示加速度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，D错误；对木板受力分析可知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 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由题图乙可知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，A错误，B正确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；由题图乙可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时物块和木板分离，则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内，两者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图线与坐标轴围成的面积之差等</a:t>
                </a:r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于木板的长度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6_1#f5e1d3f4d?vcp=1&amp;pid=b5207dbb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28343"/>
                <a:ext cx="11402568" cy="3008249"/>
              </a:xfrm>
              <a:prstGeom prst="rect">
                <a:avLst/>
              </a:prstGeom>
              <a:blipFill>
                <a:blip r:embed="rId3"/>
                <a:stretch>
                  <a:fillRect l="-1658" r="-1658" b="-344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7_1#a56bd48e1?vcp=1&amp;pid=b5207dbbe&amp;color=0,0,0&amp;vtp=1&amp;bt=1&amp;bbb=1&amp;hb=1"/>
              <p:cNvSpPr/>
              <p:nvPr/>
            </p:nvSpPr>
            <p:spPr>
              <a:xfrm>
                <a:off x="393192" y="1054418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（2026·江西余江一中模拟）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）一小物块向左冲上水平向右运动的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木板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，二者速度大小分别为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，此后木板的速度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变化的图像如图所示.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设最大静摩擦力等于滑动摩擦力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，木板足够长.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整个运动过程中(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7_1#a56bd48e1?vcp=1&amp;pid=b5207dbb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54418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230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8_1#a56bd48e1.bracket?vcp=1&amp;pid=b5207dbbe&amp;color=0,0,0&amp;vpa=3&amp;vtp=1&amp;bbb=1"/>
          <p:cNvSpPr/>
          <p:nvPr/>
        </p:nvSpPr>
        <p:spPr>
          <a:xfrm>
            <a:off x="8982361" y="2160588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CD</a:t>
            </a:r>
            <a:endParaRPr lang="en-US" altLang="zh-CN" sz="2400" dirty="0"/>
          </a:p>
        </p:txBody>
      </p:sp>
      <p:pic>
        <p:nvPicPr>
          <p:cNvPr id="4" name="QC_4_BD.7_2#a56bd48e1?vcp=1&amp;pid=b5207dbbe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5192" y="2775013"/>
            <a:ext cx="2267712" cy="184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7_3#a56bd48e1.choices?vcp=1&amp;pid=b5207dbbe&amp;color=0,0,0&amp;vtp=1&amp;bbb=1"/>
          <p:cNvSpPr/>
          <p:nvPr/>
        </p:nvSpPr>
        <p:spPr>
          <a:xfrm>
            <a:off x="393192" y="4756213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  <a:tabLst>
                <a:tab pos="5807954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.物块的运动方向不变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.物块的加速度方向不变</a:t>
            </a:r>
            <a:endParaRPr lang="en-US" altLang="zh-CN" sz="2400" dirty="0"/>
          </a:p>
          <a:p>
            <a:pPr latinLnBrk="1">
              <a:lnSpc>
                <a:spcPts val="4200"/>
              </a:lnSpc>
              <a:tabLst>
                <a:tab pos="5807954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C.物块相对木板的运动方向不变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.物块与木板的加速度大小相等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9_1#a56bd48e1?vcp=1&amp;pid=b5207dbbe&amp;color=0,0,0&amp;vtp=1&amp;bt=1&amp;bbb=1&amp;hb=1"/>
              <p:cNvSpPr/>
              <p:nvPr/>
            </p:nvSpPr>
            <p:spPr>
              <a:xfrm>
                <a:off x="393192" y="892207"/>
                <a:ext cx="11402568" cy="4898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根据图像可知木板的速度方向没有发生改变，木板和物块达到共同速度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然后一起减速到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0，所以物块的运动方向先向左再向右，故A错误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；物块在向左减速和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向右加速阶段加速度方向水平向右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和木板一起共同减速阶段加速度方向水平向左，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方向改变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，故B错误；物块在向左减速和向右加速阶段都相对木板向左运动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，共同减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速阶段无相对运动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，即物块相对木板运动方向不变，故C正确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；设从物块冲上木板到</a:t>
                </a:r>
              </a:p>
              <a:p>
                <a:pPr latinLnBrk="1">
                  <a:lnSpc>
                    <a:spcPts val="6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二者共速用时为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，则在有相对运动阶段木板的加速度大小为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</a:t>
                </a:r>
              </a:p>
              <a:p>
                <a:pPr latinLnBrk="1">
                  <a:lnSpc>
                    <a:spcPts val="6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块的加速度大小为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，即木板和物块加速度大小相等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，在共同减速阶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段加速度大小也相等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9_1#a56bd48e1?vcp=1&amp;pid=b5207dbb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92207"/>
                <a:ext cx="11402568" cy="4898200"/>
              </a:xfrm>
              <a:prstGeom prst="rect">
                <a:avLst/>
              </a:prstGeom>
              <a:blipFill>
                <a:blip r:embed="rId3"/>
                <a:stretch>
                  <a:fillRect l="-1658" r="-1123" b="-373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12e60b05b?vcp=1&amp;pid=7bdc2cad2&amp;color=0,0,0&amp;vtp=1&amp;bt=1&amp;bbb=1"/>
          <p:cNvSpPr/>
          <p:nvPr/>
        </p:nvSpPr>
        <p:spPr>
          <a:xfrm>
            <a:off x="393192" y="502920"/>
            <a:ext cx="11402568" cy="526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6c08a6b9f?vcp=1&amp;pid=12e60b05b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p:pic>
        <p:nvPicPr>
          <p:cNvPr id="4" name="QC_4_BD.10_1#12f882a72?htil=1&amp;vcp=1&amp;pid=12e60b05b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06245" y="1691258"/>
            <a:ext cx="3154680" cy="255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0_2#12f882a72?htil=1&amp;vcp=1&amp;pid=12e60b05b&amp;color=0,0,0&amp;vtp=1&amp;bbb=1&amp;hb=1&amp;hs=1"/>
              <p:cNvSpPr/>
              <p:nvPr/>
            </p:nvSpPr>
            <p:spPr>
              <a:xfrm>
                <a:off x="393192" y="1590675"/>
                <a:ext cx="8110728" cy="35003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5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［经典高考题改编］（多选题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）水平地面上有一质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的长木板，木板的左端上有一质量为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的物块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a）所示.用水平向右的拉力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作用在物块上，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的变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化关系如图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（b）所示，其中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.木板的加速度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的变化关系如图（c）所示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.已知木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板与地面间的动摩擦因数为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，物块与木板间的动摩擦因数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，假设最大静摩擦力均与相应的滑动摩擦力相等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</a:t>
                </a:r>
              </a:p>
              <a:p>
                <a:pPr latinLnBrk="1">
                  <a:lnSpc>
                    <a:spcPts val="3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0_2#12f882a72?htil=1&amp;vcp=1&amp;pid=12e60b05b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8110728" cy="3500374"/>
              </a:xfrm>
              <a:prstGeom prst="rect">
                <a:avLst/>
              </a:prstGeom>
              <a:blipFill>
                <a:blip r:embed="rId4"/>
                <a:stretch>
                  <a:fillRect l="-2331" t="-1568" r="-2180" b="-522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4_AN.11_1#12f882a72.bracket?vcp=1&amp;pid=12e60b05b&amp;color=0,0,0&amp;vpa=4&amp;vtp=1&amp;bbb=1"/>
          <p:cNvSpPr/>
          <p:nvPr/>
        </p:nvSpPr>
        <p:spPr>
          <a:xfrm>
            <a:off x="3509105" y="4687316"/>
            <a:ext cx="865188" cy="39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4_BD.10_3#12f882a72.choices?vcp=1&amp;pid=12e60b05b&amp;color=0,0,0&amp;vtp=1&amp;bbb=1&amp;hs=1">
                <a:extLst>
                  <a:ext uri="{FF2B5EF4-FFF2-40B4-BE49-F238E27FC236}">
                    <a16:creationId xmlns:a16="http://schemas.microsoft.com/office/drawing/2014/main" id="{0F4C27F1-8DEE-B292-C85D-29ECCB2674CA}"/>
                  </a:ext>
                </a:extLst>
              </p:cNvPr>
              <p:cNvSpPr/>
              <p:nvPr/>
            </p:nvSpPr>
            <p:spPr>
              <a:xfrm>
                <a:off x="393192" y="5070475"/>
                <a:ext cx="11402568" cy="1295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1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时间段物块与木板加速度相等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4_BD.10_3#12f882a72.choices?vcp=1&amp;pid=12e60b05b&amp;color=0,0,0&amp;vtp=1&amp;bbb=1&amp;hs=1">
                <a:extLst>
                  <a:ext uri="{FF2B5EF4-FFF2-40B4-BE49-F238E27FC236}">
                    <a16:creationId xmlns:a16="http://schemas.microsoft.com/office/drawing/2014/main" id="{0F4C27F1-8DEE-B292-C85D-29ECCB2674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70475"/>
                <a:ext cx="11402568" cy="1295400"/>
              </a:xfrm>
              <a:prstGeom prst="rect">
                <a:avLst/>
              </a:prstGeom>
              <a:blipFill>
                <a:blip r:embed="rId5"/>
                <a:stretch>
                  <a:fillRect l="-1658" b="-47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2_1#12f882a72?vcp=1&amp;pid=12e60b05b&amp;color=0,0,0&amp;vtp=1&amp;bt=1&amp;bbb=1&amp;hb=1"/>
              <p:cNvSpPr/>
              <p:nvPr/>
            </p:nvSpPr>
            <p:spPr>
              <a:xfrm>
                <a:off x="393192" y="1465263"/>
                <a:ext cx="11402568" cy="3971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由题图（c）可知，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时刻物块、木板刚要一起在水平地面上滑动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，物块与木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板相对静止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，此时以整体为研究对象有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,A错误；由题图（c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时刻物块与木板刚要发生相对滑动，以整体为研究对象，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根据牛顿第二定律，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，以木板为研究对象，根据牛顿第二定律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，B、C正确；由题图（c）可知，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时间段物块与木板相对静止，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所以有相同的加速度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2_1#12f882a72?vcp=1&amp;pid=12e60b05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65263"/>
                <a:ext cx="11402568" cy="3971100"/>
              </a:xfrm>
              <a:prstGeom prst="rect">
                <a:avLst/>
              </a:prstGeom>
              <a:blipFill>
                <a:blip r:embed="rId3"/>
                <a:stretch>
                  <a:fillRect l="-1658" r="-374" b="-460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3_1#4089815f1?vcp=1&amp;pid=12e60b05b&amp;color=0,0,0&amp;vtp=1&amp;bt=1&amp;bbb=1&amp;hb=1"/>
              <p:cNvSpPr/>
              <p:nvPr/>
            </p:nvSpPr>
            <p:spPr>
              <a:xfrm>
                <a:off x="393192" y="1571498"/>
                <a:ext cx="11402568" cy="22009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如图所示，足够长的轻质丝绸置于光滑水平面上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，在丝绸上放有质量分别为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的两物块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，它们与丝绸间的动摩擦因数分别为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.已知最大静摩擦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力等于滑动摩擦力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，现用水平力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向右拉丝绸，设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则下列结论正确的是(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3_1#4089815f1?vcp=1&amp;pid=12e60b05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71498"/>
                <a:ext cx="11402568" cy="2200974"/>
              </a:xfrm>
              <a:prstGeom prst="rect">
                <a:avLst/>
              </a:prstGeom>
              <a:blipFill>
                <a:blip r:embed="rId3"/>
                <a:stretch>
                  <a:fillRect l="-1658" r="-1230" b="-720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4_1#4089815f1.bracket?vcp=1&amp;pid=12e60b05b&amp;color=0,0,0&amp;vpa=5&amp;vtp=1"/>
          <p:cNvSpPr/>
          <p:nvPr/>
        </p:nvSpPr>
        <p:spPr>
          <a:xfrm>
            <a:off x="6483572" y="3235897"/>
            <a:ext cx="441325" cy="50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5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4_BD.13_2#4089815f1?vcp=1&amp;pid=12e60b05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18888" y="3888994"/>
            <a:ext cx="2551176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3_3#4089815f1.choices?vcp=1&amp;pid=12e60b05b&amp;color=0,0,0&amp;vtp=1&amp;bbb=1"/>
              <p:cNvSpPr/>
              <p:nvPr/>
            </p:nvSpPr>
            <p:spPr>
              <a:xfrm>
                <a:off x="393192" y="4574794"/>
                <a:ext cx="11402568" cy="71043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100"/>
                  </a:lnSpc>
                  <a:tabLst>
                    <a:tab pos="2637277" algn="l"/>
                    <a:tab pos="5604754" algn="l"/>
                    <a:tab pos="85976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𝑃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𝑃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𝑄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𝑄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3_3#4089815f1.choices?vcp=1&amp;pid=12e60b05b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574794"/>
                <a:ext cx="11402568" cy="710438"/>
              </a:xfrm>
              <a:prstGeom prst="rect">
                <a:avLst/>
              </a:prstGeom>
              <a:blipFill>
                <a:blip r:embed="rId5"/>
                <a:stretch>
                  <a:fillRect l="-1658" b="-1453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5_1#4089815f1?vcp=1&amp;pid=12e60b05b&amp;color=0,0,0&amp;vtp=1&amp;bt=1&amp;bbb=1&amp;hb=1"/>
              <p:cNvSpPr/>
              <p:nvPr/>
            </p:nvSpPr>
            <p:spPr>
              <a:xfrm>
                <a:off x="393192" y="1292447"/>
                <a:ext cx="11402568" cy="3937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与丝绸之间的动摩擦因数较小，可知当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与丝绸不产生相对滑动时的最大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与丝绸不产生相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对滑动时的最大加速度为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与丝绸相对运动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向右拉丝绸，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与丝绸相对运动，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与丝绸相对静止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𝑷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,故A、B错误；对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由牛顿第二定律得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𝑸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𝑸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，故C正确，D错误.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5_1#4089815f1?vcp=1&amp;pid=12e60b05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92447"/>
                <a:ext cx="11402568" cy="3937000"/>
              </a:xfrm>
              <a:prstGeom prst="rect">
                <a:avLst/>
              </a:prstGeom>
              <a:blipFill>
                <a:blip r:embed="rId3"/>
                <a:stretch>
                  <a:fillRect l="-1658" r="-428" b="-278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6_1#2205a79fe?vcp=1&amp;pid=12e60b05b&amp;color=0,0,0&amp;vtp=1&amp;bt=1&amp;bbb=1&amp;hb=1"/>
              <p:cNvSpPr/>
              <p:nvPr/>
            </p:nvSpPr>
            <p:spPr>
              <a:xfrm>
                <a:off x="393192" y="726281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（多选题）滑沙运动是一项比较刺激的娱乐活动，深受青少年的喜爱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.如图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所示是滑沙运动的简化图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，小孩（可视为质点）坐在长为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的滑板上端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，与滑板一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起由静止从倾角为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的斜面上滑下，已知小孩与滑板间的动摩擦因数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=0.5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板与斜面间的动摩擦因数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19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32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，小孩的质量与滑板的质量相等，斜面足够长，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=0.6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=0.8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则以下判断正确的是(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6_1#2205a79fe?vcp=1&amp;pid=12e60b05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26281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7_1#2205a79fe.bracket?vcp=1&amp;pid=12e60b05b&amp;color=0,0,0&amp;vpa=6&amp;vtp=1&amp;bbb=1"/>
          <p:cNvSpPr/>
          <p:nvPr/>
        </p:nvSpPr>
        <p:spPr>
          <a:xfrm>
            <a:off x="8817642" y="2950051"/>
            <a:ext cx="882650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ACD</a:t>
            </a:r>
            <a:endParaRPr lang="en-US" altLang="zh-CN" sz="2400" dirty="0"/>
          </a:p>
        </p:txBody>
      </p:sp>
      <p:pic>
        <p:nvPicPr>
          <p:cNvPr id="4" name="QC_4_BD.16_2#2205a79fe?htil=2&amp;vcp=1&amp;pid=12e60b05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84910" y="3485546"/>
            <a:ext cx="1956816" cy="149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6_3#2205a79fe.choices?htil=2&amp;vcp=1&amp;pid=12e60b05b&amp;color=0,0,0&amp;vtp=1&amp;bbb=1"/>
              <p:cNvSpPr/>
              <p:nvPr/>
            </p:nvSpPr>
            <p:spPr>
              <a:xfrm>
                <a:off x="393192" y="3439826"/>
                <a:ext cx="9308592" cy="2324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A.小孩和滑板脱离前，滑板的加速度大小为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.小孩在滑板上下滑的加速度大小为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.经过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，小孩离开滑板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.小孩刚离开滑板时，滑板下滑的距离为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6_3#2205a79fe.choices?htil=2&amp;vcp=1&amp;pid=12e60b05b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39826"/>
                <a:ext cx="9308592" cy="2324100"/>
              </a:xfrm>
              <a:prstGeom prst="rect">
                <a:avLst/>
              </a:prstGeom>
              <a:blipFill>
                <a:blip r:embed="rId5"/>
                <a:stretch>
                  <a:fillRect l="-2030" b="-4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8_1#2205a79fe?vcp=1&amp;pid=12e60b05b&amp;color=0,0,0&amp;vtp=1&amp;bt=1&amp;bbb=1&amp;hb=1"/>
              <p:cNvSpPr/>
              <p:nvPr/>
            </p:nvSpPr>
            <p:spPr>
              <a:xfrm>
                <a:off x="393192" y="1358202"/>
                <a:ext cx="11402568" cy="4000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规定沿斜面向下为正方向，对小孩受力分析，小孩受到重力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、支持力和滑板对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小孩沿板向上的摩擦力作用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，设小孩的质量为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，根据牛顿第二定律有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,故B错误；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小孩和滑板脱离前，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对滑板由牛顿第二定律可得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代入数据解得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,故A正确；设经过时间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，小孩离开滑板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𝟔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，故C正确；小孩离开滑板时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，滑板下滑的距离为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8_1#2205a79fe?vcp=1&amp;pid=12e60b05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58202"/>
                <a:ext cx="11402568" cy="4000500"/>
              </a:xfrm>
              <a:prstGeom prst="rect">
                <a:avLst/>
              </a:prstGeom>
              <a:blipFill>
                <a:blip r:embed="rId3"/>
                <a:stretch>
                  <a:fillRect l="-1658" r="-1016" b="-259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4_BD.19_1#c94191d51?htil=3&amp;vcp=1&amp;pid=12e60b05b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56736" y="1059053"/>
            <a:ext cx="4270248" cy="2935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4_BD.19_2#c94191d51?htil=3&amp;vcp=1&amp;pid=12e60b05b&amp;color=0,0,0&amp;vtp=1&amp;bt=1&amp;bbb=1&amp;hb=1&amp;hs=1"/>
              <p:cNvSpPr/>
              <p:nvPr/>
            </p:nvSpPr>
            <p:spPr>
              <a:xfrm>
                <a:off x="393192" y="1013333"/>
                <a:ext cx="6995160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（2026·江西师大附中检测）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如图（a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，水平地面上有一质量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的长木板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上表面紧靠着放置质量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和质量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，初始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均静止，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刻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同时开始反向运动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，已知它们的初速度大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都恰好不从长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4_BD.19_2#c94191d51?htil=3&amp;vcp=1&amp;pid=12e60b05b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13333"/>
                <a:ext cx="6995160" cy="3272600"/>
              </a:xfrm>
              <a:prstGeom prst="rect">
                <a:avLst/>
              </a:prstGeom>
              <a:blipFill>
                <a:blip r:embed="rId4"/>
                <a:stretch>
                  <a:fillRect l="-2703" r="-1569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4_BD.19_2#c94191d51?htil=3&amp;vcp=1&amp;pid=12e60b05b&amp;color=0,0,0&amp;vtp=1&amp;bt=1&amp;bbb=1&amp;hb=1&amp;hs=1">
                <a:extLst>
                  <a:ext uri="{FF2B5EF4-FFF2-40B4-BE49-F238E27FC236}">
                    <a16:creationId xmlns:a16="http://schemas.microsoft.com/office/drawing/2014/main" id="{E4ADB546-AE79-642E-8CCA-A0B7CD6922A7}"/>
                  </a:ext>
                </a:extLst>
              </p:cNvPr>
              <p:cNvSpPr/>
              <p:nvPr/>
            </p:nvSpPr>
            <p:spPr>
              <a:xfrm>
                <a:off x="393192" y="4257929"/>
                <a:ext cx="11400008" cy="15956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木板上滑落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与长木板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之间的动摩擦因数均为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，长木板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与地面之间的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动摩擦因数为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与长木板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图像如图（b）所示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，重力加速度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.求：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4_BD.19_2#c94191d51?htil=3&amp;vcp=1&amp;pid=12e60b05b&amp;color=0,0,0&amp;vtp=1&amp;bt=1&amp;bbb=1&amp;hb=1&amp;hs=1">
                <a:extLst>
                  <a:ext uri="{FF2B5EF4-FFF2-40B4-BE49-F238E27FC236}">
                    <a16:creationId xmlns:a16="http://schemas.microsoft.com/office/drawing/2014/main" id="{E4ADB546-AE79-642E-8CCA-A0B7CD6922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57929"/>
                <a:ext cx="11400008" cy="1595628"/>
              </a:xfrm>
              <a:prstGeom prst="rect">
                <a:avLst/>
              </a:prstGeom>
              <a:blipFill>
                <a:blip r:embed="rId5"/>
                <a:stretch>
                  <a:fillRect l="-1658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0_1#73d7d9ddb?vcp=1&amp;pid=c94191d51&amp;color=0,0,0&amp;vtp=1&amp;bt=1&amp;bbb=1"/>
              <p:cNvSpPr/>
              <p:nvPr/>
            </p:nvSpPr>
            <p:spPr>
              <a:xfrm>
                <a:off x="393192" y="1517555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（1）动摩擦因数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的大小；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0_1#73d7d9ddb?vcp=1&amp;pid=c94191d51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17555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1_1#73d7d9ddb?vcp=1&amp;pid=c94191d51&amp;color=0,0,0&amp;vtp=1&amp;bbb=1"/>
              <p:cNvSpPr/>
              <p:nvPr/>
            </p:nvSpPr>
            <p:spPr>
              <a:xfrm>
                <a:off x="393192" y="2017046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由题图（b）可知,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时,B、C共速，共同速度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,方向水平向右，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，方向水平向右.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过程，由牛顿第二定律，对B分析有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C分析有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21_1#73d7d9ddb?vcp=1&amp;pid=c94191d51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17046"/>
                <a:ext cx="11402568" cy="3272600"/>
              </a:xfrm>
              <a:prstGeom prst="rect">
                <a:avLst/>
              </a:prstGeom>
              <a:blipFill>
                <a:blip r:embed="rId4"/>
                <a:stretch>
                  <a:fillRect l="-1658" b="-54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2_1#799c21915?vcp=1&amp;pid=c94191d51&amp;color=0,0,0&amp;vtp=1&amp;bt=1&amp;bbb=1"/>
              <p:cNvSpPr/>
              <p:nvPr/>
            </p:nvSpPr>
            <p:spPr>
              <a:xfrm>
                <a:off x="393192" y="627380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停止运动的时间；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2_1#799c21915?vcp=1&amp;pid=c94191d51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27380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3_1#799c21915?vcp=1&amp;pid=c94191d51&amp;color=0,0,0&amp;vtp=1&amp;bbb=1&amp;hb=1"/>
              <p:cNvSpPr/>
              <p:nvPr/>
            </p:nvSpPr>
            <p:spPr>
              <a:xfrm>
                <a:off x="393192" y="1126871"/>
                <a:ext cx="11402568" cy="5054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设从B、C共速到A、B、C共速所用的时间为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，B、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C一起运动的加速度大小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,方向水平向右，A、B、C共速时的速度大小为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，方向水平向右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.根据牛顿第二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定律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，对B、C有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至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A、B、C共速时有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A、B、C共同减速时的加速度大小为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，方向水平向左，则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ct val="150000"/>
                  </a:lnSpc>
                </a:pPr>
                <a:endParaRPr lang="en-US" altLang="zh-CN" sz="2400" dirty="0"/>
              </a:p>
            </p:txBody>
          </p:sp>
        </mc:Choice>
        <mc:Fallback>
          <p:sp>
            <p:nvSpPr>
              <p:cNvPr id="3" name="QO_5_AN.23_1#799c21915?vcp=1&amp;pid=c94191d51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26871"/>
                <a:ext cx="11402568" cy="5054600"/>
              </a:xfrm>
              <a:prstGeom prst="rect">
                <a:avLst/>
              </a:prstGeom>
              <a:blipFill>
                <a:blip r:embed="rId4"/>
                <a:stretch>
                  <a:fillRect l="-1658" r="-535" b="-229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AN.23_1#799c21915?vcp=1&amp;pid=c94191d51&amp;color=0,0,0&amp;vtp=1&amp;bbb=1&amp;hb=1">
                <a:extLst>
                  <a:ext uri="{FF2B5EF4-FFF2-40B4-BE49-F238E27FC236}">
                    <a16:creationId xmlns:a16="http://schemas.microsoft.com/office/drawing/2014/main" id="{7786C0DB-26DC-7693-091D-A2EB0794B7F5}"/>
                  </a:ext>
                </a:extLst>
              </p:cNvPr>
              <p:cNvSpPr/>
              <p:nvPr/>
            </p:nvSpPr>
            <p:spPr>
              <a:xfrm>
                <a:off x="393192" y="2499423"/>
                <a:ext cx="11402568" cy="1621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A、B、C共速至停止所用时间为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则木板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C停止运动的时间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AN.23_1#799c21915?vcp=1&amp;pid=c94191d51&amp;color=0,0,0&amp;vtp=1&amp;bbb=1&amp;hb=1">
                <a:extLst>
                  <a:ext uri="{FF2B5EF4-FFF2-40B4-BE49-F238E27FC236}">
                    <a16:creationId xmlns:a16="http://schemas.microsoft.com/office/drawing/2014/main" id="{7786C0DB-26DC-7693-091D-A2EB0794B7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499423"/>
                <a:ext cx="11402568" cy="1621600"/>
              </a:xfrm>
              <a:prstGeom prst="rect">
                <a:avLst/>
              </a:prstGeom>
              <a:blipFill>
                <a:blip r:embed="rId2"/>
                <a:stretch>
                  <a:fillRect l="-1658" b="-1127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9754593"/>
      </p:ext>
    </p:extLst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4_1#a3323812c?vcp=1&amp;pid=c94191d51&amp;color=0,0,0&amp;vtp=1&amp;bt=1&amp;bbb=1"/>
              <p:cNvSpPr/>
              <p:nvPr/>
            </p:nvSpPr>
            <p:spPr>
              <a:xfrm>
                <a:off x="393192" y="1561846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的长度.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4_1#a3323812c?vcp=1&amp;pid=c94191d51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61846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5_1#a3323812c?vcp=1&amp;pid=c94191d51&amp;color=0,0,0&amp;vtp=1&amp;bbb=1&amp;hb=1"/>
              <p:cNvSpPr/>
              <p:nvPr/>
            </p:nvSpPr>
            <p:spPr>
              <a:xfrm>
                <a:off x="393192" y="2061337"/>
                <a:ext cx="11402568" cy="2844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B相对C的位移大小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−(−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C的位移大小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−(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𝟏𝟔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则木板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C长度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𝟏𝟔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25_1#a3323812c?vcp=1&amp;pid=c94191d51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61337"/>
                <a:ext cx="11402568" cy="2844800"/>
              </a:xfrm>
              <a:prstGeom prst="rect">
                <a:avLst/>
              </a:prstGeom>
              <a:blipFill>
                <a:blip r:embed="rId4"/>
                <a:stretch>
                  <a:fillRect l="-1658" b="-364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2f4509b36?vcp=1&amp;pid=7bdc2cad2&amp;color=0,0,0&amp;vtp=1&amp;bt=1&amp;bbb=1"/>
          <p:cNvSpPr/>
          <p:nvPr/>
        </p:nvSpPr>
        <p:spPr>
          <a:xfrm>
            <a:off x="393192" y="502921"/>
            <a:ext cx="11402568" cy="517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5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4_BD#621f8ffe5?vcp=1&amp;pid=2f4509b36&amp;color=0,0,0&amp;vtp=1&amp;bbb=1"/>
          <p:cNvSpPr/>
          <p:nvPr/>
        </p:nvSpPr>
        <p:spPr>
          <a:xfrm>
            <a:off x="393192" y="1080539"/>
            <a:ext cx="1140256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26_1#c9a35b2d6?vcp=1&amp;pid=2f4509b36&amp;color=0,0,0&amp;vtp=1&amp;bbb=1&amp;hb=1"/>
              <p:cNvSpPr/>
              <p:nvPr/>
            </p:nvSpPr>
            <p:spPr>
              <a:xfrm>
                <a:off x="393192" y="1619124"/>
                <a:ext cx="11402568" cy="26494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（清华大学自主招生）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（多选题）如图，光滑水平面上放置两长度相同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、质量分别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，在木板的左端各有一大小、形状、质量完全相同的物块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木板和物块均处于静止状态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，现对物块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分别施加水平恒力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使它们向右运动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至物块与木板分离时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相对地面的位移分别为</a:t>
                </a:r>
              </a:p>
              <a:p>
                <a:pPr latinLnBrk="1">
                  <a:lnSpc>
                    <a:spcPts val="41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.已知两物块与木板间的动摩擦因数相同，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则下列判断正确的是(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26_1#c9a35b2d6?vcp=1&amp;pid=2f4509b36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19124"/>
                <a:ext cx="11402568" cy="2649474"/>
              </a:xfrm>
              <a:prstGeom prst="rect">
                <a:avLst/>
              </a:prstGeom>
              <a:blipFill>
                <a:blip r:embed="rId3"/>
                <a:stretch>
                  <a:fillRect l="-1658" t="-230" r="-3155" b="-691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7_1#c9a35b2d6.bracket?vcp=1&amp;pid=2f4509b36&amp;color=0,0,0&amp;vpa=7&amp;vtp=1&amp;bbb=1"/>
          <p:cNvSpPr/>
          <p:nvPr/>
        </p:nvSpPr>
        <p:spPr>
          <a:xfrm>
            <a:off x="9842977" y="3790760"/>
            <a:ext cx="644525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pic>
        <p:nvPicPr>
          <p:cNvPr id="6" name="QC_4_BD.26_2#c9a35b2d6?htil=4&amp;vcp=1&amp;pid=2f4509b36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43623" y="4310571"/>
            <a:ext cx="219456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26_3#c9a35b2d6.choices?htil=4&amp;vcp=1&amp;pid=2f4509b36&amp;color=0,0,0&amp;vtp=1&amp;bbb=1"/>
              <p:cNvSpPr/>
              <p:nvPr/>
            </p:nvSpPr>
            <p:spPr>
              <a:xfrm>
                <a:off x="393192" y="4255707"/>
                <a:ext cx="9070848" cy="210115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26_3#c9a35b2d6.choices?htil=4&amp;vcp=1&amp;pid=2f4509b36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55707"/>
                <a:ext cx="9070848" cy="2101152"/>
              </a:xfrm>
              <a:prstGeom prst="rect">
                <a:avLst/>
              </a:prstGeom>
              <a:blipFill>
                <a:blip r:embed="rId5"/>
                <a:stretch>
                  <a:fillRect l="-2083" b="-898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8_1#c9a35b2d6?vcp=1&amp;pid=2f4509b36&amp;color=0,0,0&amp;vtp=1&amp;bt=1&amp;bbb=1&amp;hb=1"/>
              <p:cNvSpPr/>
              <p:nvPr/>
            </p:nvSpPr>
            <p:spPr>
              <a:xfrm>
                <a:off x="393192" y="870077"/>
                <a:ext cx="11402568" cy="4673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设物块质量为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,作用力为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，板长为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，则物块相对于地面的加速度为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,木板相对于地面的加速度为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物块相对于木板的加速度为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相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9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物块在木板上的运动时间为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</m:num>
                          <m:den>
                            <m:f>
                              <m:f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𝑭</m:t>
                                </m:r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−</m:t>
                                </m:r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𝛍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𝒎𝒈</m:t>
                                </m:r>
                              </m:num>
                              <m:den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𝒎</m:t>
                                </m:r>
                              </m:den>
                            </m:f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𝛍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𝒎𝒈</m:t>
                                </m:r>
                              </m:num>
                              <m:den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𝑴</m:t>
                                </m:r>
                              </m:den>
                            </m:f>
                          </m:den>
                        </m:f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物块相对于地面的速度为</a:t>
                </a:r>
                <a:endParaRPr lang="en-US" altLang="zh-CN" sz="2400" dirty="0"/>
              </a:p>
              <a:p>
                <a:pPr latinLnBrk="1">
                  <a:lnSpc>
                    <a:spcPts val="9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</m:num>
                          <m:den>
                            <m:f>
                              <m:f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𝑭</m:t>
                                </m:r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−</m:t>
                                </m:r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𝛍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𝒎𝒈</m:t>
                                </m:r>
                              </m:num>
                              <m:den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𝒎</m:t>
                                </m:r>
                              </m:den>
                            </m:f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𝛍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𝒎𝒈</m:t>
                                </m:r>
                              </m:num>
                              <m:den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𝑴</m:t>
                                </m:r>
                              </m:den>
                            </m:f>
                          </m:den>
                        </m:f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ct val="110000"/>
                  </a:lnSpc>
                </a:pPr>
                <a:endParaRPr lang="en-US" altLang="zh-CN" sz="2400" dirty="0"/>
              </a:p>
            </p:txBody>
          </p:sp>
        </mc:Choice>
        <mc:Fallback>
          <p:sp>
            <p:nvSpPr>
              <p:cNvPr id="2" name="QC_4_AS.28_1#c9a35b2d6?vcp=1&amp;pid=2f4509b36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70077"/>
                <a:ext cx="11402568" cy="4673600"/>
              </a:xfrm>
              <a:prstGeom prst="rect">
                <a:avLst/>
              </a:prstGeom>
              <a:blipFill>
                <a:blip r:embed="rId3"/>
                <a:stretch>
                  <a:fillRect l="-1658" b="-13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8_1#c9a35b2d6?vcp=1&amp;pid=2f4509b36&amp;color=0,0,0&amp;vtp=1&amp;bt=1&amp;bbb=1&amp;hb=1">
                <a:extLst>
                  <a:ext uri="{FF2B5EF4-FFF2-40B4-BE49-F238E27FC236}">
                    <a16:creationId xmlns:a16="http://schemas.microsoft.com/office/drawing/2014/main" id="{CDDFCD5C-1457-930A-0145-61DAC8F72D60}"/>
                  </a:ext>
                </a:extLst>
              </p:cNvPr>
              <p:cNvSpPr/>
              <p:nvPr/>
            </p:nvSpPr>
            <p:spPr>
              <a:xfrm>
                <a:off x="393192" y="1913922"/>
                <a:ext cx="11402568" cy="2993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9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木板的速度为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</m:num>
                          <m:den>
                            <m:f>
                              <m:f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𝑭</m:t>
                                </m:r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−</m:t>
                                </m:r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𝛍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𝒎𝒈</m:t>
                                </m:r>
                              </m:num>
                              <m:den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𝒎</m:t>
                                </m:r>
                              </m:den>
                            </m:f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𝛍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𝒎𝒈</m:t>
                                </m:r>
                              </m:num>
                              <m:den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𝑴</m:t>
                                </m:r>
                              </m:den>
                            </m:f>
                          </m:den>
                        </m:f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物块相对于地面的位移为</a:t>
                </a:r>
                <a:endParaRPr lang="en-US" altLang="zh-CN" sz="2400" dirty="0"/>
              </a:p>
              <a:p>
                <a:pPr latinLnBrk="1">
                  <a:lnSpc>
                    <a:spcPts val="6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𝛍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𝒎𝒈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den>
                        </m:f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𝛍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𝒎𝒈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𝑴</m:t>
                            </m:r>
                          </m:den>
                        </m:f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综合分析可知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，答案为BD.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8_1#c9a35b2d6?vcp=1&amp;pid=2f4509b36&amp;color=0,0,0&amp;vtp=1&amp;bt=1&amp;bbb=1&amp;hb=1">
                <a:extLst>
                  <a:ext uri="{FF2B5EF4-FFF2-40B4-BE49-F238E27FC236}">
                    <a16:creationId xmlns:a16="http://schemas.microsoft.com/office/drawing/2014/main" id="{CDDFCD5C-1457-930A-0145-61DAC8F72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13922"/>
                <a:ext cx="11402568" cy="2993200"/>
              </a:xfrm>
              <a:prstGeom prst="rect">
                <a:avLst/>
              </a:prstGeom>
              <a:blipFill>
                <a:blip r:embed="rId2"/>
                <a:stretch>
                  <a:fillRect l="-1658" b="-590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1028813"/>
      </p:ext>
    </p:extLst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1808</Words>
  <Application>Microsoft Office PowerPoint</Application>
  <PresentationFormat>宽屏</PresentationFormat>
  <Paragraphs>171</Paragraphs>
  <Slides>23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2026-05-25T08:24:20Z</dcterms:created>
  <dcterms:modified xsi:type="dcterms:W3CDTF">2026-05-25T08:26:19Z</dcterms:modified>
  <cp:category/>
  <cp:contentStatus/>
</cp:coreProperties>
</file>