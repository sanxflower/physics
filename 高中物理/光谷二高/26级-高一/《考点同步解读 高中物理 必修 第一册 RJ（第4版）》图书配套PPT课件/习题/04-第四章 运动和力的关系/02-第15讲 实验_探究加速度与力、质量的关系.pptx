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695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1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13.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11.xml"/></Relationships>
</file>

<file path=ppt/slideLayouts/_rels/slideLayout1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3a58ca644f0d6f43#tid=6a13f52f736a60ac3496b260#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mc=目录配置1#a1f4ab335,a1f4ab335,132427a3d,3912b75ec">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0?lid=747974df6&amp;amp;cid=747974df6&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7ac19de82&amp;amp;cid=7ac19de82&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内容#mc=目录配置1#a1f4ab335,799615855">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3?lid=486666a06&amp;amp;cid=486666a06&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3?lid=9444ae819&amp;amp;cid=9444ae819&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mc=目录配置1#a1f4ab335,7b0f74cd3">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6?lid=e6d04eb90&amp;amp;cid=e6d04eb90&amp;amp;vtp=1">
            <a:hlinkClick r:id="rId3"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内容#df=132427a3d">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第15讲 实验：探究加速度与力、质量的关系</a:t>
            </a:r>
            <a:endParaRPr lang="en-US" sz="18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内容#mc=目录配置1#a1f4ab335,a1f4ab335,132427a3d,3912b75ec#df=132427a3d">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第15讲 实验：探究加速度与力、质量的关系</a:t>
            </a:r>
            <a:endParaRPr lang="en-US" sz="1800" dirty="0"/>
          </a:p>
        </p:txBody>
      </p:sp>
      <p:sp>
        <p:nvSpPr>
          <p:cNvPr id="5" name="C_0#auto_editor_catalog_0?lid=747974df6&amp;amp;cid=747974df6&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7ac19de82&amp;amp;cid=7ac19de82&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内容#mc=目录配置1#a1f4ab335,799615855#df=132427a3d">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第15讲 实验：探究加速度与力、质量的关系</a:t>
            </a:r>
            <a:endParaRPr lang="en-US" sz="1800" dirty="0"/>
          </a:p>
        </p:txBody>
      </p:sp>
      <p:sp>
        <p:nvSpPr>
          <p:cNvPr id="5" name="C_0#auto_editor_catalog_3?lid=486666a06&amp;amp;cid=486666a06&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3?lid=9444ae819&amp;amp;cid=9444ae819&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内容#mc=目录配置1#a1f4ab335,7b0f74cd3#df=132427a3d">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第15讲 实验：探究加速度与力、质量的关系</a:t>
            </a:r>
            <a:endParaRPr lang="en-US" sz="1800" dirty="0"/>
          </a:p>
        </p:txBody>
      </p:sp>
      <p:sp>
        <p:nvSpPr>
          <p:cNvPr id="5" name="C_0#auto_editor_catalog_6?lid=e6d04eb90&amp;amp;cid=e6d04eb90&amp;amp;vtp=1">
            <a:hlinkClick r:id="rId3"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132427a3d.fixed?vcp=1&amp;pid=a1f4ab335&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第四章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运动和力的关系</a:t>
            </a:r>
            <a:endParaRPr lang="en-US" altLang="zh-CN" sz="4800" dirty="0"/>
          </a:p>
        </p:txBody>
      </p:sp>
      <p:sp>
        <p:nvSpPr>
          <p:cNvPr id="3" name="C_2_BD#132427a3d.fixed?vcp=1&amp;pid=a1f4ab335&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第15讲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实验：探究加速度与力、质量的关系</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3_BD#3912b75ec?vcp=1&amp;pid=132427a3d&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基础考点过关练</a:t>
            </a:r>
            <a:endParaRPr lang="en-US" altLang="zh-CN" sz="2600" dirty="0"/>
          </a:p>
        </p:txBody>
      </p:sp>
      <p:sp>
        <p:nvSpPr>
          <p:cNvPr id="3" name="P_4_BD#5da51c61b?vcp=1&amp;pid=3912b75ec&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限时5分钟</a:t>
            </a:r>
            <a:endParaRPr lang="en-US" altLang="zh-CN" sz="2400" dirty="0"/>
          </a:p>
        </p:txBody>
      </p:sp>
      <mc:AlternateContent xmlns:mc="http://schemas.openxmlformats.org/markup-compatibility/2006">
        <mc:Choice xmlns:a14="http://schemas.microsoft.com/office/drawing/2010/main" Requires="a14">
          <p:sp>
            <p:nvSpPr>
              <p:cNvPr id="4" name="QC_4_BD.1_1#747974df6?vcp=1&amp;pid=3912b75ec&amp;color=0,0,0&amp;vtp=1&amp;bbb=1&amp;hb=1"/>
              <p:cNvSpPr/>
              <p:nvPr/>
            </p:nvSpPr>
            <p:spPr>
              <a:xfrm>
                <a:off x="393192" y="1649285"/>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考点1</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如图所示，在研究牛顿第二定律的演示实验中，若</a:t>
                </a:r>
                <a:r>
                  <a:rPr lang="en-US" altLang="zh-CN" sz="2400" b="0" i="0">
                    <a:solidFill>
                      <a:srgbClr val="000000"/>
                    </a:solidFill>
                    <a:latin typeface="Times New Roman" pitchFamily="34" charset="0"/>
                    <a:ea typeface="微软雅黑" pitchFamily="34" charset="-122"/>
                    <a:cs typeface="Times New Roman" pitchFamily="34" charset="-120"/>
                  </a:rPr>
                  <a:t>1、2两个相同的小车所受</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的拉力分别为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,车中所放砝码的质量分别为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,打开夹子后经过相同的时间</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两车的位移分别为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,则在实验误差允许的范围内，</a:t>
                </a:r>
                <a:r>
                  <a:rPr lang="en-US" altLang="zh-CN" sz="2400" b="0" i="0">
                    <a:solidFill>
                      <a:srgbClr val="000000"/>
                    </a:solidFill>
                    <a:latin typeface="Times New Roman" pitchFamily="34" charset="0"/>
                    <a:ea typeface="微软雅黑" pitchFamily="34" charset="-122"/>
                    <a:cs typeface="Times New Roman" pitchFamily="34" charset="-120"/>
                  </a:rPr>
                  <a:t>有(</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C_4_BD.1_1#747974df6?vcp=1&amp;pid=3912b75ec&amp;color=0,0,0&amp;vtp=1&amp;bbb=1&amp;hb=1"/>
              <p:cNvSpPr>
                <a:spLocks noRot="1" noChangeAspect="1" noMove="1" noResize="1" noEditPoints="1" noAdjustHandles="1" noChangeArrowheads="1" noChangeShapeType="1" noTextEdit="1"/>
              </p:cNvSpPr>
              <p:nvPr/>
            </p:nvSpPr>
            <p:spPr>
              <a:xfrm>
                <a:off x="393192" y="1649285"/>
                <a:ext cx="11402568" cy="1592199"/>
              </a:xfrm>
              <a:prstGeom prst="rect">
                <a:avLst/>
              </a:prstGeom>
              <a:blipFill>
                <a:blip r:embed="rId3"/>
                <a:stretch>
                  <a:fillRect l="-1658" r="-1230" b="-11494"/>
                </a:stretch>
              </a:blipFill>
              <a:ln/>
            </p:spPr>
            <p:txBody>
              <a:bodyPr/>
              <a:lstStyle/>
              <a:p>
                <a:r>
                  <a:rPr lang="zh-CN" altLang="en-US">
                    <a:noFill/>
                  </a:rPr>
                  <a:t> </a:t>
                </a:r>
              </a:p>
            </p:txBody>
          </p:sp>
        </mc:Fallback>
      </mc:AlternateContent>
      <p:sp>
        <p:nvSpPr>
          <p:cNvPr id="5" name="QC_4_AN.2_1#747974df6.bracket?vcp=1&amp;pid=3912b75ec&amp;color=0,0,0&amp;vpa=1&amp;vtp=1"/>
          <p:cNvSpPr/>
          <p:nvPr/>
        </p:nvSpPr>
        <p:spPr>
          <a:xfrm>
            <a:off x="8305642" y="275545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6" name="QC_4_BD.1_2#747974df6?vcp=1&amp;pid=3912b75ec&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956048" y="3368675"/>
            <a:ext cx="2286000" cy="129844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7" name="QC_4_BD.1_3#747974df6.choices?vcp=1&amp;pid=3912b75ec&amp;color=0,0,0&amp;vtp=1&amp;bbb=1"/>
              <p:cNvSpPr/>
              <p:nvPr/>
            </p:nvSpPr>
            <p:spPr>
              <a:xfrm>
                <a:off x="393192" y="4803775"/>
                <a:ext cx="11402568" cy="1027430"/>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A.当</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时，</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时，</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时，</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时，</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7" name="QC_4_BD.1_3#747974df6.choices?vcp=1&amp;pid=3912b75ec&amp;color=0,0,0&amp;vtp=1&amp;bbb=1"/>
              <p:cNvSpPr>
                <a:spLocks noRot="1" noChangeAspect="1" noMove="1" noResize="1" noEditPoints="1" noAdjustHandles="1" noChangeArrowheads="1" noChangeShapeType="1" noTextEdit="1"/>
              </p:cNvSpPr>
              <p:nvPr/>
            </p:nvSpPr>
            <p:spPr>
              <a:xfrm>
                <a:off x="393192" y="4803775"/>
                <a:ext cx="11402568" cy="1027430"/>
              </a:xfrm>
              <a:prstGeom prst="rect">
                <a:avLst/>
              </a:prstGeom>
              <a:blipFill>
                <a:blip r:embed="rId5"/>
                <a:stretch>
                  <a:fillRect l="-1658" b="-18343"/>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3_1#747974df6?vcp=1&amp;pid=3912b75ec&amp;color=0,0,0&amp;vtp=1&amp;bt=1&amp;bbb=1&amp;hb=1"/>
              <p:cNvSpPr/>
              <p:nvPr/>
            </p:nvSpPr>
            <p:spPr>
              <a:xfrm>
                <a:off x="393192" y="2240375"/>
                <a:ext cx="11402568" cy="2180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本题中只说明了两小车是相同的，并未告诉小车的质量是多少.当</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时，</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两车总质量仍相等</a:t>
                </a:r>
                <a:r>
                  <a:rPr lang="en-US" altLang="zh-CN" sz="2400" b="1" i="0" dirty="0">
                    <a:solidFill>
                      <a:srgbClr val="FF0000"/>
                    </a:solidFill>
                    <a:latin typeface="Times New Roman" pitchFamily="34" charset="0"/>
                    <a:ea typeface="微软雅黑" pitchFamily="34" charset="-122"/>
                    <a:cs typeface="Times New Roman" pitchFamily="34" charset="-120"/>
                  </a:rPr>
                  <a:t>，若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𝒂</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𝒂</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可知A正确;当</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时，</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无法确定两车加砝码后的质量关系</a:t>
                </a:r>
                <a:r>
                  <a:rPr lang="en-US" altLang="zh-CN" sz="2400" b="1" i="0" dirty="0">
                    <a:solidFill>
                      <a:srgbClr val="FF0000"/>
                    </a:solidFill>
                    <a:latin typeface="Times New Roman" pitchFamily="34" charset="0"/>
                    <a:ea typeface="微软雅黑" pitchFamily="34" charset="-122"/>
                    <a:cs typeface="Times New Roman" pitchFamily="34" charset="-120"/>
                  </a:rPr>
                  <a:t>，两小车的加速度关系也就不明确</a:t>
                </a:r>
                <a:r>
                  <a:rPr lang="en-US" altLang="zh-CN" sz="2400" b="1" i="0">
                    <a:solidFill>
                      <a:srgbClr val="FF0000"/>
                    </a:solidFill>
                    <a:latin typeface="Times New Roman" pitchFamily="34" charset="0"/>
                    <a:ea typeface="微软雅黑" pitchFamily="34" charset="-122"/>
                    <a:cs typeface="Times New Roman" pitchFamily="34" charset="-120"/>
                  </a:rPr>
                  <a:t>，故无法判定两</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车的位移关系</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AS.3_1#747974df6?vcp=1&amp;pid=3912b75ec&amp;color=0,0,0&amp;vtp=1&amp;bt=1&amp;bbb=1&amp;hb=1"/>
              <p:cNvSpPr>
                <a:spLocks noRot="1" noChangeAspect="1" noMove="1" noResize="1" noEditPoints="1" noAdjustHandles="1" noChangeArrowheads="1" noChangeShapeType="1" noTextEdit="1"/>
              </p:cNvSpPr>
              <p:nvPr/>
            </p:nvSpPr>
            <p:spPr>
              <a:xfrm>
                <a:off x="393192" y="2240375"/>
                <a:ext cx="11402568" cy="2180400"/>
              </a:xfrm>
              <a:prstGeom prst="rect">
                <a:avLst/>
              </a:prstGeom>
              <a:blipFill>
                <a:blip r:embed="rId3"/>
                <a:stretch>
                  <a:fillRect l="-1658" r="-3957" b="-8403"/>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sp>
        <p:nvSpPr>
          <p:cNvPr id="2" name="QC_4_BD.4_1#7ac19de82?vcp=1&amp;pid=3912b75ec&amp;color=0,0,0&amp;vtp=1&amp;bt=1&amp;bbb=1&amp;hb=1"/>
          <p:cNvSpPr/>
          <p:nvPr/>
        </p:nvSpPr>
        <p:spPr>
          <a:xfrm>
            <a:off x="393192" y="1244537"/>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考点1</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（多选题）在“探究加速度与力、质量的关系”的实验中</a:t>
            </a:r>
            <a:r>
              <a:rPr lang="en-US" altLang="zh-CN" sz="2400" b="0" i="0">
                <a:solidFill>
                  <a:srgbClr val="000000"/>
                </a:solidFill>
                <a:latin typeface="Times New Roman" pitchFamily="34" charset="0"/>
                <a:ea typeface="微软雅黑" pitchFamily="34" charset="-122"/>
                <a:cs typeface="Times New Roman" pitchFamily="34" charset="-120"/>
              </a:rPr>
              <a:t>，下列关于平衡摩擦</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力的说法中正确的是(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5_1#7ac19de82.bracket?vcp=1&amp;pid=3912b75ec&amp;color=0,0,0&amp;vpa=2&amp;vtp=1&amp;bbb=1"/>
          <p:cNvSpPr/>
          <p:nvPr/>
        </p:nvSpPr>
        <p:spPr>
          <a:xfrm>
            <a:off x="3394360" y="1791907"/>
            <a:ext cx="8651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BCD</a:t>
            </a:r>
            <a:endParaRPr lang="en-US" altLang="zh-CN" sz="2400" dirty="0"/>
          </a:p>
        </p:txBody>
      </p:sp>
      <p:sp>
        <p:nvSpPr>
          <p:cNvPr id="4" name="QC_4_BD.4_2#7ac19de82.choices?vcp=1&amp;pid=3912b75ec&amp;color=0,0,0&amp;vtp=1&amp;bbb=1&amp;hb=1"/>
          <p:cNvSpPr/>
          <p:nvPr/>
        </p:nvSpPr>
        <p:spPr>
          <a:xfrm>
            <a:off x="393192" y="2340673"/>
            <a:ext cx="11402568" cy="32727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A.“平衡摩擦力”的本质就是使小车受到的摩擦力为0</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.“平衡摩擦力</a:t>
            </a:r>
            <a:r>
              <a:rPr lang="en-US" altLang="zh-CN" sz="2400" b="0" i="0">
                <a:solidFill>
                  <a:srgbClr val="000000"/>
                </a:solidFill>
                <a:latin typeface="Times New Roman" pitchFamily="34" charset="0"/>
                <a:ea typeface="微软雅黑" pitchFamily="34" charset="-122"/>
                <a:cs typeface="Times New Roman" pitchFamily="34" charset="-120"/>
              </a:rPr>
              <a:t>”的本质就是使小车所受的重力沿斜面方向的分力与所受到的摩擦阻力</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相平衡</a:t>
            </a:r>
            <a:endParaRPr lang="en-US" altLang="zh-CN" sz="2400" dirty="0"/>
          </a:p>
          <a:p>
            <a:pPr latinLnBrk="1">
              <a:lnSpc>
                <a:spcPts val="4400"/>
              </a:lnSpc>
            </a:pPr>
            <a:r>
              <a:rPr lang="en-US" altLang="zh-CN" sz="2400" b="0" i="0" spc="-100">
                <a:solidFill>
                  <a:srgbClr val="000000"/>
                </a:solidFill>
                <a:latin typeface="Times New Roman" pitchFamily="34" charset="0"/>
                <a:ea typeface="微软雅黑" pitchFamily="34" charset="-122"/>
                <a:cs typeface="Times New Roman" pitchFamily="34" charset="-120"/>
              </a:rPr>
              <a:t>C</a:t>
            </a:r>
            <a:r>
              <a:rPr lang="en-US" altLang="zh-CN" sz="2400" b="0" i="0" spc="-100" dirty="0">
                <a:solidFill>
                  <a:srgbClr val="000000"/>
                </a:solidFill>
                <a:latin typeface="Times New Roman" pitchFamily="34" charset="0"/>
                <a:ea typeface="微软雅黑" pitchFamily="34" charset="-122"/>
                <a:cs typeface="Times New Roman" pitchFamily="34" charset="-120"/>
              </a:rPr>
              <a:t>.“平衡摩擦力”的目的就是要使小车所受的合力等于所挂槽码通过细绳对小车施加的拉力</a:t>
            </a:r>
            <a:endParaRPr lang="en-US" altLang="zh-CN" sz="2400" spc="-1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.“平衡摩擦力”是否成功</a:t>
            </a:r>
            <a:r>
              <a:rPr lang="en-US" altLang="zh-CN" sz="2400" b="0" i="0">
                <a:solidFill>
                  <a:srgbClr val="000000"/>
                </a:solidFill>
                <a:latin typeface="Times New Roman" pitchFamily="34" charset="0"/>
                <a:ea typeface="微软雅黑" pitchFamily="34" charset="-122"/>
                <a:cs typeface="Times New Roman" pitchFamily="34" charset="-120"/>
              </a:rPr>
              <a:t>，可由小车拖动打点计时器打出的纸带上的点迹间距是否均</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匀而确定</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sp>
        <p:nvSpPr>
          <p:cNvPr id="2" name="QC_4_AS.6_1#7ac19de82?vcp=1&amp;pid=3912b75ec&amp;color=0,0,0&amp;vtp=1&amp;bt=1&amp;bbb=1&amp;hb=1"/>
          <p:cNvSpPr/>
          <p:nvPr/>
        </p:nvSpPr>
        <p:spPr>
          <a:xfrm>
            <a:off x="393192" y="208670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小车所受的摩擦力不可避免</a:t>
            </a:r>
            <a:r>
              <a:rPr lang="en-US" altLang="zh-CN" sz="2400" b="1" i="0">
                <a:solidFill>
                  <a:srgbClr val="FF0000"/>
                </a:solidFill>
                <a:latin typeface="Times New Roman" pitchFamily="34" charset="0"/>
                <a:ea typeface="微软雅黑" pitchFamily="34" charset="-122"/>
                <a:cs typeface="Times New Roman" pitchFamily="34" charset="-120"/>
              </a:rPr>
              <a:t>，平衡摩擦力的本质就是使小车的重力沿斜面方向</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的分力与小车所受的摩擦阻力相平衡</a:t>
            </a:r>
            <a:r>
              <a:rPr lang="en-US" altLang="zh-CN" sz="2400" b="1" i="0" dirty="0">
                <a:solidFill>
                  <a:srgbClr val="FF0000"/>
                </a:solidFill>
                <a:latin typeface="Times New Roman" pitchFamily="34" charset="0"/>
                <a:ea typeface="微软雅黑" pitchFamily="34" charset="-122"/>
                <a:cs typeface="Times New Roman" pitchFamily="34" charset="-120"/>
              </a:rPr>
              <a:t>，A错误，B正确</a:t>
            </a:r>
            <a:r>
              <a:rPr lang="en-US" altLang="zh-CN" sz="2400" b="1" i="0">
                <a:solidFill>
                  <a:srgbClr val="FF0000"/>
                </a:solidFill>
                <a:latin typeface="Times New Roman" pitchFamily="34" charset="0"/>
                <a:ea typeface="微软雅黑" pitchFamily="34" charset="-122"/>
                <a:cs typeface="Times New Roman" pitchFamily="34" charset="-120"/>
              </a:rPr>
              <a:t>；其目的是使小车所受的合力等</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于细绳对小车的拉力</a:t>
            </a:r>
            <a:r>
              <a:rPr lang="en-US" altLang="zh-CN" sz="2400" b="1" i="0" dirty="0">
                <a:solidFill>
                  <a:srgbClr val="FF0000"/>
                </a:solidFill>
                <a:latin typeface="Times New Roman" pitchFamily="34" charset="0"/>
                <a:ea typeface="微软雅黑" pitchFamily="34" charset="-122"/>
                <a:cs typeface="Times New Roman" pitchFamily="34" charset="-120"/>
              </a:rPr>
              <a:t>，C正确；恰好平衡摩擦力时，小车拖动纸带</a:t>
            </a:r>
            <a:r>
              <a:rPr lang="en-US" altLang="zh-CN" sz="2400" b="1" i="0">
                <a:solidFill>
                  <a:srgbClr val="FF0000"/>
                </a:solidFill>
                <a:latin typeface="Times New Roman" pitchFamily="34" charset="0"/>
                <a:ea typeface="微软雅黑" pitchFamily="34" charset="-122"/>
                <a:cs typeface="Times New Roman" pitchFamily="34" charset="-120"/>
              </a:rPr>
              <a:t>，不给小车提供拉</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力</a:t>
            </a:r>
            <a:r>
              <a:rPr lang="en-US" altLang="zh-CN" sz="2400" b="1" i="0" dirty="0">
                <a:solidFill>
                  <a:srgbClr val="FF0000"/>
                </a:solidFill>
                <a:latin typeface="Times New Roman" pitchFamily="34" charset="0"/>
                <a:ea typeface="微软雅黑" pitchFamily="34" charset="-122"/>
                <a:cs typeface="Times New Roman" pitchFamily="34" charset="-120"/>
              </a:rPr>
              <a:t>，给小车一个初速度，小车做匀速直线运动</a:t>
            </a:r>
            <a:r>
              <a:rPr lang="en-US" altLang="zh-CN" sz="2400" b="1" i="0">
                <a:solidFill>
                  <a:srgbClr val="FF0000"/>
                </a:solidFill>
                <a:latin typeface="Times New Roman" pitchFamily="34" charset="0"/>
                <a:ea typeface="微软雅黑" pitchFamily="34" charset="-122"/>
                <a:cs typeface="Times New Roman" pitchFamily="34" charset="-120"/>
              </a:rPr>
              <a:t>，由打点计时器打出的纸带点迹间距应</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该是均匀的</a:t>
            </a:r>
            <a:r>
              <a:rPr lang="en-US" altLang="zh-CN" sz="2400" b="1" i="0" dirty="0">
                <a:solidFill>
                  <a:srgbClr val="FF0000"/>
                </a:solidFill>
                <a:latin typeface="Times New Roman" pitchFamily="34" charset="0"/>
                <a:ea typeface="微软雅黑" pitchFamily="34" charset="-122"/>
                <a:cs typeface="Times New Roman" pitchFamily="34" charset="-120"/>
              </a:rPr>
              <a:t>，D正确.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sp>
        <p:nvSpPr>
          <p:cNvPr id="2" name="C_3_BD#799615855?vcp=1&amp;pid=132427a3d&amp;color=0,0,0&amp;vtp=1&amp;bt=1&amp;bbb=1"/>
          <p:cNvSpPr/>
          <p:nvPr/>
        </p:nvSpPr>
        <p:spPr>
          <a:xfrm>
            <a:off x="393192" y="502920"/>
            <a:ext cx="11402568" cy="526479"/>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能力考点提升练</a:t>
            </a:r>
            <a:endParaRPr lang="en-US" altLang="zh-CN" sz="2600" dirty="0"/>
          </a:p>
        </p:txBody>
      </p:sp>
      <p:sp>
        <p:nvSpPr>
          <p:cNvPr id="3" name="P_4_BD#26febaf95?vcp=1&amp;pid=799615855&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限时15分钟</a:t>
            </a:r>
            <a:endParaRPr lang="en-US" altLang="zh-CN" sz="2400" dirty="0"/>
          </a:p>
        </p:txBody>
      </p:sp>
      <p:pic>
        <p:nvPicPr>
          <p:cNvPr id="4" name="QO_4_BD.7_1#486666a06?htil=1&amp;vcp=1&amp;pid=799615855&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265568" y="1704149"/>
            <a:ext cx="3397125" cy="330276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O_4_BD.7_2#486666a06?htil=1&amp;vcp=1&amp;pid=799615855&amp;color=0,0,0&amp;vtp=1&amp;bbb=1&amp;hb=1&amp;hs=1"/>
              <p:cNvSpPr/>
              <p:nvPr/>
            </p:nvSpPr>
            <p:spPr>
              <a:xfrm>
                <a:off x="393192" y="1649285"/>
                <a:ext cx="7644384" cy="38315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在做“探究加速度与力、质量的关系”</a:t>
                </a:r>
                <a:r>
                  <a:rPr lang="en-US" altLang="zh-CN" sz="2400" b="0" i="0">
                    <a:solidFill>
                      <a:srgbClr val="000000"/>
                    </a:solidFill>
                    <a:latin typeface="Times New Roman" pitchFamily="34" charset="0"/>
                    <a:ea typeface="微软雅黑" pitchFamily="34" charset="-122"/>
                    <a:cs typeface="Times New Roman" pitchFamily="34" charset="-120"/>
                  </a:rPr>
                  <a:t>的实验时，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图</a:t>
                </a:r>
                <a:r>
                  <a:rPr lang="en-US" altLang="zh-CN" sz="2400" b="0" i="0" dirty="0">
                    <a:solidFill>
                      <a:srgbClr val="000000"/>
                    </a:solidFill>
                    <a:latin typeface="Times New Roman" pitchFamily="34" charset="0"/>
                    <a:ea typeface="微软雅黑" pitchFamily="34" charset="-122"/>
                    <a:cs typeface="Times New Roman" pitchFamily="34" charset="-120"/>
                  </a:rPr>
                  <a:t>1甲是教材中的实验方案；图1乙是拓展方案</a:t>
                </a:r>
                <a:r>
                  <a:rPr lang="en-US" altLang="zh-CN" sz="2400" b="0" i="0">
                    <a:solidFill>
                      <a:srgbClr val="000000"/>
                    </a:solidFill>
                    <a:latin typeface="Times New Roman" pitchFamily="34" charset="0"/>
                    <a:ea typeface="微软雅黑" pitchFamily="34" charset="-122"/>
                    <a:cs typeface="Times New Roman" pitchFamily="34" charset="-120"/>
                  </a:rPr>
                  <a:t>，其实验操</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作步骤如下</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ⅰ）挂上托盘和砝码，改变木板的倾角，使质量为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小车拖着纸带沿木板匀速下滑</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ⅱ）取下托盘和砝码，测出其总质量为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，让小车沿木</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板下滑</a:t>
                </a:r>
                <a:r>
                  <a:rPr lang="en-US" altLang="zh-CN" sz="2400" b="0" i="0" dirty="0">
                    <a:solidFill>
                      <a:srgbClr val="000000"/>
                    </a:solidFill>
                    <a:latin typeface="Times New Roman" pitchFamily="34" charset="0"/>
                    <a:ea typeface="微软雅黑" pitchFamily="34" charset="-122"/>
                    <a:cs typeface="Times New Roman" pitchFamily="34" charset="-120"/>
                  </a:rPr>
                  <a:t>，测出加速度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O_4_BD.7_2#486666a06?htil=1&amp;vcp=1&amp;pid=799615855&amp;color=0,0,0&amp;vtp=1&amp;bbb=1&amp;hb=1&amp;hs=1"/>
              <p:cNvSpPr>
                <a:spLocks noRot="1" noChangeAspect="1" noMove="1" noResize="1" noEditPoints="1" noAdjustHandles="1" noChangeArrowheads="1" noChangeShapeType="1" noTextEdit="1"/>
              </p:cNvSpPr>
              <p:nvPr/>
            </p:nvSpPr>
            <p:spPr>
              <a:xfrm>
                <a:off x="393192" y="1649285"/>
                <a:ext cx="7644384" cy="3831590"/>
              </a:xfrm>
              <a:prstGeom prst="rect">
                <a:avLst/>
              </a:prstGeom>
              <a:blipFill>
                <a:blip r:embed="rId4"/>
                <a:stretch>
                  <a:fillRect l="-2472" r="-2552" b="-4777"/>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O_4_BD.7_2#486666a06?htil=1&amp;vcp=1&amp;pid=799615855&amp;color=0,0,0&amp;vtp=1&amp;bbb=1&amp;hb=1&amp;hs=1">
                <a:extLst>
                  <a:ext uri="{FF2B5EF4-FFF2-40B4-BE49-F238E27FC236}">
                    <a16:creationId xmlns:a16="http://schemas.microsoft.com/office/drawing/2014/main" id="{F26AD993-8EB4-31D0-C88B-94E56910E389}"/>
                  </a:ext>
                </a:extLst>
              </p:cNvPr>
              <p:cNvSpPr/>
              <p:nvPr/>
            </p:nvSpPr>
            <p:spPr>
              <a:xfrm>
                <a:off x="395996" y="5461825"/>
                <a:ext cx="11400008" cy="1037400"/>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ⅲ）改变砝码的质量和木板倾角，多次测量</a:t>
                </a:r>
                <a:r>
                  <a:rPr lang="en-US" altLang="zh-CN" sz="2400" b="0" i="0">
                    <a:solidFill>
                      <a:srgbClr val="000000"/>
                    </a:solidFill>
                    <a:latin typeface="Times New Roman" pitchFamily="34" charset="0"/>
                    <a:ea typeface="微软雅黑" pitchFamily="34" charset="-122"/>
                    <a:cs typeface="Times New Roman" pitchFamily="34" charset="-120"/>
                  </a:rPr>
                  <a:t>，通过作图</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可得到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的关系.</a:t>
                </a:r>
                <a:endParaRPr lang="en-US" altLang="zh-CN" sz="2400" dirty="0"/>
              </a:p>
            </p:txBody>
          </p:sp>
        </mc:Choice>
        <mc:Fallback>
          <p:sp>
            <p:nvSpPr>
              <p:cNvPr id="6" name="QO_4_BD.7_2#486666a06?htil=1&amp;vcp=1&amp;pid=799615855&amp;color=0,0,0&amp;vtp=1&amp;bbb=1&amp;hb=1&amp;hs=1">
                <a:extLst>
                  <a:ext uri="{FF2B5EF4-FFF2-40B4-BE49-F238E27FC236}">
                    <a16:creationId xmlns:a16="http://schemas.microsoft.com/office/drawing/2014/main" id="{F26AD993-8EB4-31D0-C88B-94E56910E389}"/>
                  </a:ext>
                </a:extLst>
              </p:cNvPr>
              <p:cNvSpPr>
                <a:spLocks noRot="1" noChangeAspect="1" noMove="1" noResize="1" noEditPoints="1" noAdjustHandles="1" noChangeArrowheads="1" noChangeShapeType="1" noTextEdit="1"/>
              </p:cNvSpPr>
              <p:nvPr/>
            </p:nvSpPr>
            <p:spPr>
              <a:xfrm>
                <a:off x="395996" y="5461825"/>
                <a:ext cx="11400008" cy="1037400"/>
              </a:xfrm>
              <a:prstGeom prst="rect">
                <a:avLst/>
              </a:prstGeom>
              <a:blipFill>
                <a:blip r:embed="rId5"/>
                <a:stretch>
                  <a:fillRect l="-1658" b="-1705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8_1#98ac51c0d?vcp=1&amp;pid=486666a06&amp;color=0,0,0&amp;vtp=1&amp;bt=1&amp;bbb=1&amp;hb=1"/>
              <p:cNvSpPr/>
              <p:nvPr/>
            </p:nvSpPr>
            <p:spPr>
              <a:xfrm>
                <a:off x="393192" y="1212724"/>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（1）实验获得如图2所示的纸带，计数点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𝑏</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𝑐</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𝑑</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𝑒</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𝑓</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间均有四个点未画出</a:t>
                </a:r>
                <a:r>
                  <a:rPr lang="en-US" altLang="zh-CN" sz="2400" b="0" i="0">
                    <a:solidFill>
                      <a:srgbClr val="000000"/>
                    </a:solidFill>
                    <a:latin typeface="Times New Roman" pitchFamily="34" charset="0"/>
                    <a:ea typeface="微软雅黑" pitchFamily="34" charset="-122"/>
                    <a:cs typeface="Times New Roman" pitchFamily="34" charset="-120"/>
                  </a:rPr>
                  <a:t>，则</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在打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𝑑</m:t>
                    </m:r>
                  </m:oMath>
                </a14:m>
                <a:r>
                  <a:rPr lang="en-US" altLang="zh-CN" sz="2400" b="0" i="0" dirty="0">
                    <a:solidFill>
                      <a:srgbClr val="000000"/>
                    </a:solidFill>
                    <a:latin typeface="Times New Roman" pitchFamily="34" charset="0"/>
                    <a:ea typeface="微软雅黑" pitchFamily="34" charset="-122"/>
                    <a:cs typeface="Times New Roman" pitchFamily="34" charset="-120"/>
                  </a:rPr>
                  <a:t>点时小车的速度大小</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𝑑</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（结果保留两位有效数字）.</a:t>
                </a:r>
                <a:endParaRPr lang="en-US" altLang="zh-CN" sz="2400" dirty="0"/>
              </a:p>
            </p:txBody>
          </p:sp>
        </mc:Choice>
        <mc:Fallback>
          <p:sp>
            <p:nvSpPr>
              <p:cNvPr id="2" name="QB_5_BD.8_1#98ac51c0d?vcp=1&amp;pid=486666a06&amp;color=0,0,0&amp;vtp=1&amp;bt=1&amp;bbb=1&amp;hb=1"/>
              <p:cNvSpPr>
                <a:spLocks noRot="1" noChangeAspect="1" noMove="1" noResize="1" noEditPoints="1" noAdjustHandles="1" noChangeArrowheads="1" noChangeShapeType="1" noTextEdit="1"/>
              </p:cNvSpPr>
              <p:nvPr/>
            </p:nvSpPr>
            <p:spPr>
              <a:xfrm>
                <a:off x="393192" y="1212724"/>
                <a:ext cx="11402568" cy="1033399"/>
              </a:xfrm>
              <a:prstGeom prst="rect">
                <a:avLst/>
              </a:prstGeom>
              <a:blipFill>
                <a:blip r:embed="rId3"/>
                <a:stretch>
                  <a:fillRect l="-1658" r="-1444" b="-17751"/>
                </a:stretch>
              </a:blipFill>
              <a:ln/>
            </p:spPr>
            <p:txBody>
              <a:bodyPr/>
              <a:lstStyle/>
              <a:p>
                <a:r>
                  <a:rPr lang="zh-CN" altLang="en-US">
                    <a:noFill/>
                  </a:rPr>
                  <a:t> </a:t>
                </a:r>
              </a:p>
            </p:txBody>
          </p:sp>
        </mc:Fallback>
      </mc:AlternateContent>
      <p:sp>
        <p:nvSpPr>
          <p:cNvPr id="3" name="QB_5_AN.9_1#98ac51c0d.blank?vcp=1&amp;pid=486666a06&amp;color=0,0,0&amp;vpa=3&amp;vtp=1&amp;bbb=1"/>
          <p:cNvSpPr/>
          <p:nvPr/>
        </p:nvSpPr>
        <p:spPr>
          <a:xfrm>
            <a:off x="4546759" y="1721994"/>
            <a:ext cx="7540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0.19</a:t>
            </a:r>
            <a:endParaRPr lang="en-US" altLang="zh-CN" sz="2400" dirty="0"/>
          </a:p>
        </p:txBody>
      </p:sp>
      <p:pic>
        <p:nvPicPr>
          <p:cNvPr id="4" name="QB_5_BD.8_2#98ac51c0d?vcp=1&amp;pid=486666a06&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3822192" y="2373249"/>
            <a:ext cx="4553712" cy="114300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B_5_AS.10_1#98ac51c0d?vcp=1&amp;pid=486666a06&amp;color=0,0,0&amp;vtp=1&amp;bbb=1"/>
              <p:cNvSpPr/>
              <p:nvPr/>
            </p:nvSpPr>
            <p:spPr>
              <a:xfrm>
                <a:off x="393192" y="3655949"/>
                <a:ext cx="11402568" cy="1749171"/>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𝒅</m:t>
                    </m:r>
                  </m:oMath>
                </a14:m>
                <a:r>
                  <a:rPr lang="en-US" altLang="zh-CN" sz="2400" b="1" i="0" dirty="0">
                    <a:solidFill>
                      <a:srgbClr val="FF0000"/>
                    </a:solidFill>
                    <a:latin typeface="Times New Roman" pitchFamily="34" charset="0"/>
                    <a:ea typeface="微软雅黑" pitchFamily="34" charset="-122"/>
                    <a:cs typeface="Times New Roman" pitchFamily="34" charset="-120"/>
                  </a:rPr>
                  <a:t>点为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𝒄</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𝒆</m:t>
                    </m:r>
                  </m:oMath>
                </a14:m>
                <a:r>
                  <a:rPr lang="en-US" altLang="zh-CN" sz="2400" b="1" i="0" dirty="0">
                    <a:solidFill>
                      <a:srgbClr val="FF0000"/>
                    </a:solidFill>
                    <a:latin typeface="Times New Roman" pitchFamily="34" charset="0"/>
                    <a:ea typeface="微软雅黑" pitchFamily="34" charset="-122"/>
                    <a:cs typeface="Times New Roman" pitchFamily="34" charset="-120"/>
                  </a:rPr>
                  <a:t>两点中间时刻点，故</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𝒅</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𝑳</m:t>
                            </m:r>
                          </m:e>
                          <m:sub>
                            <m:r>
                              <a:rPr lang="en-US" altLang="zh-CN" sz="2400" b="1" i="1">
                                <a:solidFill>
                                  <a:srgbClr val="FF0000"/>
                                </a:solidFill>
                                <a:latin typeface="Cambria Math" pitchFamily="34" charset="0"/>
                                <a:ea typeface="Cambria Math" pitchFamily="34" charset="-122"/>
                                <a:cs typeface="Cambria Math" pitchFamily="34" charset="-120"/>
                              </a:rPr>
                              <m:t>𝒄𝒆</m:t>
                            </m:r>
                          </m:sub>
                        </m:sSub>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其中</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𝑳</m:t>
                        </m:r>
                      </m:e>
                      <m:sub>
                        <m:r>
                          <a:rPr lang="en-US" altLang="zh-CN" sz="2400" b="1" i="1">
                            <a:solidFill>
                              <a:srgbClr val="FF0000"/>
                            </a:solidFill>
                            <a:latin typeface="Cambria Math" pitchFamily="34" charset="0"/>
                            <a:ea typeface="Cambria Math" pitchFamily="34" charset="-122"/>
                            <a:cs typeface="Cambria Math" pitchFamily="34" charset="-120"/>
                          </a:rPr>
                          <m:t>𝒄𝒆</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5100"/>
                  </a:lnSpc>
                </a:pPr>
                <a:r>
                  <a:rPr lang="en-US" altLang="zh-CN" sz="2400" b="1" i="0">
                    <a:solidFill>
                      <a:srgbClr val="FF0000"/>
                    </a:solidFill>
                    <a:latin typeface="Times New Roman" pitchFamily="34" charset="0"/>
                    <a:ea typeface="微软雅黑" pitchFamily="34" charset="-122"/>
                    <a:cs typeface="Times New Roman" pitchFamily="34" charset="-120"/>
                  </a:rPr>
                  <a:t>故</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𝒅</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𝟕𝟎</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B_5_AS.10_1#98ac51c0d?vcp=1&amp;pid=486666a06&amp;color=0,0,0&amp;vtp=1&amp;bbb=1"/>
              <p:cNvSpPr>
                <a:spLocks noRot="1" noChangeAspect="1" noMove="1" noResize="1" noEditPoints="1" noAdjustHandles="1" noChangeArrowheads="1" noChangeShapeType="1" noTextEdit="1"/>
              </p:cNvSpPr>
              <p:nvPr/>
            </p:nvSpPr>
            <p:spPr>
              <a:xfrm>
                <a:off x="393192" y="3655949"/>
                <a:ext cx="11402568" cy="1749171"/>
              </a:xfrm>
              <a:prstGeom prst="rect">
                <a:avLst/>
              </a:prstGeom>
              <a:blipFill>
                <a:blip r:embed="rId5"/>
                <a:stretch>
                  <a:fillRect l="-1658" b="-5923"/>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11_1#cb429b0d7?vcp=1&amp;pid=486666a06&amp;color=0,0,0&amp;vtp=1&amp;bt=1&amp;bbb=1&amp;hb=1"/>
              <p:cNvSpPr/>
              <p:nvPr/>
            </p:nvSpPr>
            <p:spPr>
              <a:xfrm>
                <a:off x="393192" y="2930715"/>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（2）需要满足条件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2400" b="0" i="0">
                    <a:solidFill>
                      <a:srgbClr val="000000"/>
                    </a:solidFill>
                    <a:latin typeface="Times New Roman" pitchFamily="34" charset="0"/>
                    <a:ea typeface="微软雅黑" pitchFamily="34" charset="-122"/>
                    <a:cs typeface="Times New Roman" pitchFamily="34" charset="-120"/>
                  </a:rPr>
                  <a:t>的方案是</a:t>
                </a:r>
                <a:r>
                  <a:rPr lang="en-US" altLang="zh-CN" sz="2400" i="0">
                    <a:solidFill>
                      <a:srgbClr val="000000"/>
                    </a:solidFill>
                    <a:latin typeface="SimSun" pitchFamily="34" charset="0"/>
                    <a:ea typeface="SimSun" pitchFamily="34" charset="-122"/>
                    <a:cs typeface="SimSun" pitchFamily="34" charset="-120"/>
                  </a:rPr>
                  <a:t>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填“甲”“乙”或“甲和乙”）；在作</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图像</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时</a:t>
                </a:r>
                <a:r>
                  <a:rPr lang="en-US" altLang="zh-CN" sz="2400" b="0" i="0" dirty="0">
                    <a:solidFill>
                      <a:srgbClr val="000000"/>
                    </a:solidFill>
                    <a:latin typeface="Times New Roman" pitchFamily="34" charset="0"/>
                    <a:ea typeface="微软雅黑" pitchFamily="34" charset="-122"/>
                    <a:cs typeface="Times New Roman" pitchFamily="34" charset="-120"/>
                  </a:rPr>
                  <a:t>，把</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2400" b="0" i="0" dirty="0">
                    <a:solidFill>
                      <a:srgbClr val="000000"/>
                    </a:solidFill>
                    <a:latin typeface="Times New Roman" pitchFamily="34" charset="0"/>
                    <a:ea typeface="微软雅黑" pitchFamily="34" charset="-122"/>
                    <a:cs typeface="Times New Roman" pitchFamily="34" charset="-120"/>
                  </a:rPr>
                  <a:t>作为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值的是</a:t>
                </a:r>
                <a:r>
                  <a:rPr lang="en-US" altLang="zh-CN" sz="2400" i="0">
                    <a:solidFill>
                      <a:srgbClr val="000000"/>
                    </a:solidFill>
                    <a:latin typeface="SimSun" pitchFamily="34" charset="0"/>
                    <a:ea typeface="SimSun" pitchFamily="34" charset="-122"/>
                    <a:cs typeface="SimSun" pitchFamily="34" charset="-120"/>
                  </a:rPr>
                  <a:t>________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填“甲”“乙”或“甲和乙”）.</a:t>
                </a:r>
                <a:endParaRPr lang="en-US" altLang="zh-CN" sz="2400" dirty="0"/>
              </a:p>
            </p:txBody>
          </p:sp>
        </mc:Choice>
        <mc:Fallback>
          <p:sp>
            <p:nvSpPr>
              <p:cNvPr id="2" name="QB_5_BD.11_1#cb429b0d7?vcp=1&amp;pid=486666a06&amp;color=0,0,0&amp;vtp=1&amp;bt=1&amp;bbb=1&amp;hb=1"/>
              <p:cNvSpPr>
                <a:spLocks noRot="1" noChangeAspect="1" noMove="1" noResize="1" noEditPoints="1" noAdjustHandles="1" noChangeArrowheads="1" noChangeShapeType="1" noTextEdit="1"/>
              </p:cNvSpPr>
              <p:nvPr/>
            </p:nvSpPr>
            <p:spPr>
              <a:xfrm>
                <a:off x="393192" y="2930715"/>
                <a:ext cx="11402568" cy="1033399"/>
              </a:xfrm>
              <a:prstGeom prst="rect">
                <a:avLst/>
              </a:prstGeom>
              <a:blipFill>
                <a:blip r:embed="rId3"/>
                <a:stretch>
                  <a:fillRect l="-1658" b="-17751"/>
                </a:stretch>
              </a:blipFill>
              <a:ln/>
            </p:spPr>
            <p:txBody>
              <a:bodyPr/>
              <a:lstStyle/>
              <a:p>
                <a:r>
                  <a:rPr lang="zh-CN" altLang="en-US">
                    <a:noFill/>
                  </a:rPr>
                  <a:t> </a:t>
                </a:r>
              </a:p>
            </p:txBody>
          </p:sp>
        </mc:Fallback>
      </mc:AlternateContent>
      <p:sp>
        <p:nvSpPr>
          <p:cNvPr id="3" name="QB_5_AN.12_1#cb429b0d7.blank?vcp=1&amp;pid=486666a06&amp;color=0,0,0&amp;vpa=4&amp;vtp=1"/>
          <p:cNvSpPr/>
          <p:nvPr/>
        </p:nvSpPr>
        <p:spPr>
          <a:xfrm>
            <a:off x="5187600" y="2902775"/>
            <a:ext cx="525463" cy="49784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甲</a:t>
            </a:r>
            <a:endParaRPr lang="en-US" altLang="zh-CN" sz="2400" dirty="0"/>
          </a:p>
        </p:txBody>
      </p:sp>
      <p:sp>
        <p:nvSpPr>
          <p:cNvPr id="4" name="QB_5_AN.13_1#cb429b0d7.blank?vcp=1&amp;pid=486666a06&amp;color=0,0,0&amp;vpa=5&amp;vtp=1&amp;bbb=1"/>
          <p:cNvSpPr/>
          <p:nvPr/>
        </p:nvSpPr>
        <p:spPr>
          <a:xfrm>
            <a:off x="3492468" y="3439985"/>
            <a:ext cx="1135063" cy="47879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甲和乙</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AS.14_1#cb429b0d7?vcp=1&amp;pid=486666a06&amp;color=0,0,0&amp;vtp=1&amp;bt=1&amp;bbb=1&amp;hb=1"/>
              <p:cNvSpPr/>
              <p:nvPr/>
            </p:nvSpPr>
            <p:spPr>
              <a:xfrm>
                <a:off x="393192" y="504000"/>
                <a:ext cx="11402568" cy="5714175"/>
              </a:xfrm>
              <a:prstGeom prst="rect">
                <a:avLst/>
              </a:prstGeom>
              <a:noFill/>
              <a:ln/>
            </p:spPr>
            <p:txBody>
              <a:bodyPr wrap="none" lIns="0" tIns="0" rIns="0" bIns="0" rtlCol="0" anchor="t"/>
              <a:lstStyle/>
              <a:p>
                <a:pPr algn="l" latinLnBrk="1">
                  <a:lnSpc>
                    <a:spcPts val="38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采用方案甲时，要补偿阻力，用托盘和砝码的总重力代替绳子的拉力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38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𝑴𝒂</m:t>
                    </m:r>
                  </m:oMath>
                </a14:m>
                <a:r>
                  <a:rPr lang="en-US" altLang="zh-CN" sz="2400" b="1" i="0" dirty="0">
                    <a:solidFill>
                      <a:srgbClr val="FF0000"/>
                    </a:solidFill>
                    <a:latin typeface="Times New Roman" pitchFamily="34" charset="0"/>
                    <a:ea typeface="微软雅黑" pitchFamily="34" charset="-122"/>
                    <a:cs typeface="Times New Roman" pitchFamily="34" charset="-120"/>
                  </a:rPr>
                  <a:t>,而</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5000"/>
                  </a:lnSpc>
                </a:pPr>
                <a:r>
                  <a:rPr lang="en-US" altLang="zh-CN" sz="2400" b="1" i="0">
                    <a:solidFill>
                      <a:srgbClr val="FF0000"/>
                    </a:solidFill>
                    <a:latin typeface="Times New Roman" pitchFamily="34" charset="0"/>
                    <a:ea typeface="微软雅黑" pitchFamily="34" charset="-122"/>
                    <a:cs typeface="Times New Roman" pitchFamily="34" charset="-120"/>
                  </a:rPr>
                  <a:t>两式联立得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𝑴𝒂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𝒎𝒂</m:t>
                    </m:r>
                  </m:oMath>
                </a14:m>
                <a:r>
                  <a:rPr lang="en-US" altLang="zh-CN" sz="2400" b="1" i="0" dirty="0">
                    <a:solidFill>
                      <a:srgbClr val="FF0000"/>
                    </a:solidFill>
                    <a:latin typeface="Times New Roman" pitchFamily="34" charset="0"/>
                    <a:ea typeface="微软雅黑" pitchFamily="34" charset="-122"/>
                    <a:cs typeface="Times New Roman" pitchFamily="34" charset="-120"/>
                  </a:rPr>
                  <a:t>,得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5000"/>
                  </a:lnSpc>
                </a:pPr>
                <a:r>
                  <a:rPr lang="en-US" altLang="zh-CN" sz="2400" b="1" i="0">
                    <a:solidFill>
                      <a:srgbClr val="FF0000"/>
                    </a:solidFill>
                    <a:latin typeface="Times New Roman" pitchFamily="34" charset="0"/>
                    <a:ea typeface="微软雅黑" pitchFamily="34" charset="-122"/>
                    <a:cs typeface="Times New Roman" pitchFamily="34" charset="-120"/>
                  </a:rPr>
                  <a:t>当</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oMath>
                </a14:m>
                <a:r>
                  <a:rPr lang="en-US" altLang="zh-CN" sz="2400" b="1" i="0" dirty="0">
                    <a:solidFill>
                      <a:srgbClr val="FF0000"/>
                    </a:solidFill>
                    <a:latin typeface="Times New Roman" pitchFamily="34" charset="0"/>
                    <a:ea typeface="微软雅黑" pitchFamily="34" charset="-122"/>
                    <a:cs typeface="Times New Roman" pitchFamily="34" charset="-120"/>
                  </a:rPr>
                  <a:t>时，</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𝑴</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故方案甲需要满足条件</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采用方案乙时</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挂上托盘和砝码后应有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𝑴𝒈</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取下托盘和砝码后应有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𝑴𝒈</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𝑴𝒂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3800"/>
                  </a:lnSpc>
                </a:pPr>
                <a:r>
                  <a:rPr lang="en-US" altLang="zh-CN" sz="2400" b="1" i="0">
                    <a:solidFill>
                      <a:srgbClr val="FF0000"/>
                    </a:solidFill>
                    <a:latin typeface="Times New Roman" pitchFamily="34" charset="0"/>
                    <a:ea typeface="微软雅黑" pitchFamily="34" charset="-122"/>
                    <a:cs typeface="Times New Roman" pitchFamily="34" charset="-120"/>
                  </a:rPr>
                  <a:t>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𝑴𝒂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5000"/>
                  </a:lnSpc>
                </a:pPr>
                <a:r>
                  <a:rPr lang="en-US" altLang="zh-CN" sz="2400" b="1" i="0">
                    <a:solidFill>
                      <a:srgbClr val="FF0000"/>
                    </a:solidFill>
                    <a:latin typeface="Times New Roman" pitchFamily="34" charset="0"/>
                    <a:ea typeface="微软雅黑" pitchFamily="34" charset="-122"/>
                    <a:cs typeface="Times New Roman" pitchFamily="34" charset="-120"/>
                  </a:rPr>
                  <a:t>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𝑴</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,故不需要满足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3700"/>
                  </a:lnSpc>
                </a:pPr>
                <a:r>
                  <a:rPr lang="en-US" altLang="zh-CN" sz="2400" b="1" i="0">
                    <a:solidFill>
                      <a:srgbClr val="FF0000"/>
                    </a:solidFill>
                    <a:latin typeface="Times New Roman" pitchFamily="34" charset="0"/>
                    <a:ea typeface="微软雅黑" pitchFamily="34" charset="-122"/>
                    <a:cs typeface="Times New Roman" pitchFamily="34" charset="-120"/>
                  </a:rPr>
                  <a:t>因此在作</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图像时把</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2400" b="1" i="0" dirty="0">
                    <a:solidFill>
                      <a:srgbClr val="FF0000"/>
                    </a:solidFill>
                    <a:latin typeface="Times New Roman" pitchFamily="34" charset="0"/>
                    <a:ea typeface="微软雅黑" pitchFamily="34" charset="-122"/>
                    <a:cs typeface="Times New Roman" pitchFamily="34" charset="-120"/>
                  </a:rPr>
                  <a:t>作为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值的是甲和乙.</a:t>
                </a:r>
                <a:endParaRPr lang="en-US" altLang="zh-CN" sz="2400" dirty="0"/>
              </a:p>
            </p:txBody>
          </p:sp>
        </mc:Choice>
        <mc:Fallback>
          <p:sp>
            <p:nvSpPr>
              <p:cNvPr id="2" name="QB_5_AS.14_1#cb429b0d7?vcp=1&amp;pid=486666a06&amp;color=0,0,0&amp;vtp=1&amp;bt=1&amp;bbb=1&amp;hb=1"/>
              <p:cNvSpPr>
                <a:spLocks noRot="1" noChangeAspect="1" noMove="1" noResize="1" noEditPoints="1" noAdjustHandles="1" noChangeArrowheads="1" noChangeShapeType="1" noTextEdit="1"/>
              </p:cNvSpPr>
              <p:nvPr/>
            </p:nvSpPr>
            <p:spPr>
              <a:xfrm>
                <a:off x="393192" y="504000"/>
                <a:ext cx="11402568" cy="5714175"/>
              </a:xfrm>
              <a:prstGeom prst="rect">
                <a:avLst/>
              </a:prstGeom>
              <a:blipFill>
                <a:blip r:embed="rId3"/>
                <a:stretch>
                  <a:fillRect l="-1658" t="-534" b="-309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wipe(left)">
                                      <p:cBhvr>
                                        <p:cTn id="31" dur="500"/>
                                        <p:tgtEl>
                                          <p:spTgt spid="2">
                                            <p:txEl>
                                              <p:pRg st="7" end="7"/>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wipe(left)">
                                      <p:cBhvr>
                                        <p:cTn id="34" dur="500"/>
                                        <p:tgtEl>
                                          <p:spTgt spid="2">
                                            <p:txEl>
                                              <p:pRg st="8" end="8"/>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wipe(left)">
                                      <p:cBhvr>
                                        <p:cTn id="37" dur="500"/>
                                        <p:tgtEl>
                                          <p:spTgt spid="2">
                                            <p:txEl>
                                              <p:pRg st="9" end="9"/>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
                                            <p:txEl>
                                              <p:pRg st="10" end="10"/>
                                            </p:txEl>
                                          </p:spTgt>
                                        </p:tgtEl>
                                        <p:attrNameLst>
                                          <p:attrName>style.visibility</p:attrName>
                                        </p:attrNameLst>
                                      </p:cBhvr>
                                      <p:to>
                                        <p:strVal val="visible"/>
                                      </p:to>
                                    </p:set>
                                    <p:animEffect transition="in" filter="wipe(left)">
                                      <p:cBhvr>
                                        <p:cTn id="4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sp>
        <p:nvSpPr>
          <p:cNvPr id="2" name="QO_4_BD.15_1#9444ae819?vcp=1&amp;pid=799615855&amp;color=0,0,0&amp;vtp=1&amp;bt=1&amp;bbb=1&amp;hb=1"/>
          <p:cNvSpPr/>
          <p:nvPr/>
        </p:nvSpPr>
        <p:spPr>
          <a:xfrm>
            <a:off x="393192" y="1589024"/>
            <a:ext cx="11402568" cy="1037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（2026·湖北黄冈中学检测）</a:t>
            </a:r>
            <a:r>
              <a:rPr lang="en-US" altLang="zh-CN" sz="2400" b="0" i="0" dirty="0">
                <a:solidFill>
                  <a:srgbClr val="000000"/>
                </a:solidFill>
                <a:latin typeface="Times New Roman" pitchFamily="34" charset="0"/>
                <a:ea typeface="微软雅黑" pitchFamily="34" charset="-122"/>
                <a:cs typeface="Times New Roman" pitchFamily="34" charset="-120"/>
              </a:rPr>
              <a:t>实验小组在“探究加速度与力、质量的关系”</a:t>
            </a:r>
            <a:r>
              <a:rPr lang="en-US" altLang="zh-CN" sz="2400" b="0" i="0">
                <a:solidFill>
                  <a:srgbClr val="000000"/>
                </a:solidFill>
                <a:latin typeface="Times New Roman" pitchFamily="34" charset="0"/>
                <a:ea typeface="微软雅黑" pitchFamily="34" charset="-122"/>
                <a:cs typeface="Times New Roman" pitchFamily="34" charset="-120"/>
              </a:rPr>
              <a:t>时，</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用图甲所示的装置进行实验</a:t>
            </a:r>
            <a:r>
              <a:rPr lang="en-US" altLang="zh-CN" sz="2400" b="0" i="0" dirty="0">
                <a:solidFill>
                  <a:srgbClr val="000000"/>
                </a:solidFill>
                <a:latin typeface="Times New Roman" pitchFamily="34" charset="0"/>
                <a:ea typeface="微软雅黑" pitchFamily="34" charset="-122"/>
                <a:cs typeface="Times New Roman" pitchFamily="34" charset="-120"/>
              </a:rPr>
              <a:t>，实验中，用槽码的重力大小代替细线的拉力大小.</a:t>
            </a:r>
            <a:endParaRPr lang="en-US" altLang="zh-CN" sz="2400" dirty="0"/>
          </a:p>
        </p:txBody>
      </p:sp>
      <p:pic>
        <p:nvPicPr>
          <p:cNvPr id="3" name="QO_4_BD.15_2#9444ae819?vcp=1&amp;pid=799615855&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3593592" y="2762250"/>
            <a:ext cx="4992624" cy="250545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QC_5_BD.16_1#6c732f945?vcp=1&amp;pid=9444ae819&amp;color=0,0,0&amp;vtp=1&amp;bt=1&amp;bbb=1"/>
          <p:cNvSpPr/>
          <p:nvPr/>
        </p:nvSpPr>
        <p:spPr>
          <a:xfrm>
            <a:off x="393192" y="1268731"/>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0" i="0">
                <a:solidFill>
                  <a:srgbClr val="000000"/>
                </a:solidFill>
                <a:latin typeface="Times New Roman" pitchFamily="34" charset="0"/>
                <a:ea typeface="微软雅黑" pitchFamily="34" charset="-122"/>
                <a:cs typeface="Times New Roman" pitchFamily="34" charset="-120"/>
              </a:rPr>
              <a:t>）下列说法中正确的是</a:t>
            </a:r>
            <a:r>
              <a:rPr lang="en-US" altLang="zh-CN" sz="2400" i="0">
                <a:solidFill>
                  <a:srgbClr val="000000"/>
                </a:solidFill>
                <a:latin typeface="SimSun" pitchFamily="34" charset="0"/>
                <a:ea typeface="SimSun" pitchFamily="34" charset="-122"/>
                <a:cs typeface="SimSun" pitchFamily="34" charset="-120"/>
              </a:rPr>
              <a:t>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BD.16_2#6c732f945.choices?vcp=1&amp;pid=9444ae819&amp;color=0,0,0&amp;vtp=1&amp;bbb=1"/>
          <p:cNvSpPr/>
          <p:nvPr/>
        </p:nvSpPr>
        <p:spPr>
          <a:xfrm>
            <a:off x="393192" y="1817116"/>
            <a:ext cx="11402568" cy="15962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A.槽码的质量应远小于滑块的质量</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.气垫导轨右端应比左端高</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.先释放滑块再打开气垫导轨的气源</a:t>
            </a:r>
            <a:endParaRPr lang="en-US" altLang="zh-CN" sz="2400" dirty="0"/>
          </a:p>
        </p:txBody>
      </p:sp>
      <p:sp>
        <p:nvSpPr>
          <p:cNvPr id="4" name="QC_5_AN.17_1#6c732f945.blank?vcp=1&amp;pid=9444ae819&amp;color=0,0,0&amp;vpa=6&amp;vtp=1"/>
          <p:cNvSpPr/>
          <p:nvPr/>
        </p:nvSpPr>
        <p:spPr>
          <a:xfrm>
            <a:off x="3876960" y="1228726"/>
            <a:ext cx="4413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sp>
        <p:nvSpPr>
          <p:cNvPr id="5" name="QC_5_AS.18_1#6c732f945?vcp=1&amp;pid=9444ae819&amp;color=0,0,0&amp;vtp=1&amp;bbb=1&amp;hb=1"/>
          <p:cNvSpPr/>
          <p:nvPr/>
        </p:nvSpPr>
        <p:spPr>
          <a:xfrm>
            <a:off x="393192" y="3464114"/>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实验中，用槽码的重力大小代替细线的拉力大小</a:t>
            </a:r>
            <a:r>
              <a:rPr lang="en-US" altLang="zh-CN" sz="2400" b="1" i="0">
                <a:solidFill>
                  <a:srgbClr val="FF0000"/>
                </a:solidFill>
                <a:latin typeface="Times New Roman" pitchFamily="34" charset="0"/>
                <a:ea typeface="微软雅黑" pitchFamily="34" charset="-122"/>
                <a:cs typeface="Times New Roman" pitchFamily="34" charset="-120"/>
              </a:rPr>
              <a:t>，所以槽码的质量应远小于滑</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块的质量</a:t>
            </a:r>
            <a:r>
              <a:rPr lang="en-US" altLang="zh-CN" sz="2400" b="1" i="0" dirty="0">
                <a:solidFill>
                  <a:srgbClr val="FF0000"/>
                </a:solidFill>
                <a:latin typeface="Times New Roman" pitchFamily="34" charset="0"/>
                <a:ea typeface="微软雅黑" pitchFamily="34" charset="-122"/>
                <a:cs typeface="Times New Roman" pitchFamily="34" charset="-120"/>
              </a:rPr>
              <a:t>，A正确；由于滑块在气垫导轨上不受摩擦力作用</a:t>
            </a:r>
            <a:r>
              <a:rPr lang="en-US" altLang="zh-CN" sz="2400" b="1" i="0">
                <a:solidFill>
                  <a:srgbClr val="FF0000"/>
                </a:solidFill>
                <a:latin typeface="Times New Roman" pitchFamily="34" charset="0"/>
                <a:ea typeface="微软雅黑" pitchFamily="34" charset="-122"/>
                <a:cs typeface="Times New Roman" pitchFamily="34" charset="-120"/>
              </a:rPr>
              <a:t>，细线的拉力即为滑块所</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受的合力</a:t>
            </a:r>
            <a:r>
              <a:rPr lang="en-US" altLang="zh-CN" sz="2400" b="1" i="0" dirty="0">
                <a:solidFill>
                  <a:srgbClr val="FF0000"/>
                </a:solidFill>
                <a:latin typeface="Times New Roman" pitchFamily="34" charset="0"/>
                <a:ea typeface="微软雅黑" pitchFamily="34" charset="-122"/>
                <a:cs typeface="Times New Roman" pitchFamily="34" charset="-120"/>
              </a:rPr>
              <a:t>，所以气垫导轨应保持水平，B错误</a:t>
            </a:r>
            <a:r>
              <a:rPr lang="en-US" altLang="zh-CN" sz="2400" b="1" i="0">
                <a:solidFill>
                  <a:srgbClr val="FF0000"/>
                </a:solidFill>
                <a:latin typeface="Times New Roman" pitchFamily="34" charset="0"/>
                <a:ea typeface="微软雅黑" pitchFamily="34" charset="-122"/>
                <a:cs typeface="Times New Roman" pitchFamily="34" charset="-120"/>
              </a:rPr>
              <a:t>；实验中先打开气垫导轨的气源再释放</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滑块</a:t>
            </a:r>
            <a:r>
              <a:rPr lang="en-US" altLang="zh-CN" sz="2400" b="1" i="0" dirty="0">
                <a:solidFill>
                  <a:srgbClr val="FF0000"/>
                </a:solidFill>
                <a:latin typeface="Times New Roman" pitchFamily="34" charset="0"/>
                <a:ea typeface="微软雅黑" pitchFamily="34" charset="-122"/>
                <a:cs typeface="Times New Roman" pitchFamily="34" charset="-120"/>
              </a:rPr>
              <a:t>，C错误.</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pic>
        <p:nvPicPr>
          <p:cNvPr id="2" name="QB_5_BD.19_1#a660c2ed3?htil=2&amp;vcp=1&amp;pid=9444ae819&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692640" y="963009"/>
            <a:ext cx="2084832" cy="230428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B_5_BD.19_2#a660c2ed3?htil=2&amp;vcp=1&amp;pid=9444ae819&amp;color=0,0,0&amp;vtp=1&amp;bt=1&amp;bbb=1&amp;hb=1&amp;hs=1"/>
              <p:cNvSpPr/>
              <p:nvPr/>
            </p:nvSpPr>
            <p:spPr>
              <a:xfrm>
                <a:off x="393192" y="917289"/>
                <a:ext cx="9180576" cy="2434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（2）实验小组用如下方法测量滑块的加速度</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𝑎</m:t>
                    </m:r>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将滑块从图甲所示位</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置由静止释放</a:t>
                </a:r>
                <a:r>
                  <a:rPr lang="en-US" altLang="zh-CN" sz="2400" b="0" i="0" dirty="0">
                    <a:solidFill>
                      <a:srgbClr val="000000"/>
                    </a:solidFill>
                    <a:latin typeface="Times New Roman" pitchFamily="34" charset="0"/>
                    <a:ea typeface="微软雅黑" pitchFamily="34" charset="-122"/>
                    <a:cs typeface="Times New Roman" pitchFamily="34" charset="-120"/>
                  </a:rPr>
                  <a:t>，测得遮光条的宽度为</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𝑑</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,通过光电门</a:t>
                </a:r>
                <a:r>
                  <a:rPr lang="en-US" altLang="zh-CN" sz="2400" b="0" i="0">
                    <a:solidFill>
                      <a:srgbClr val="000000"/>
                    </a:solidFill>
                    <a:latin typeface="Times New Roman" pitchFamily="34" charset="0"/>
                    <a:ea typeface="微软雅黑" pitchFamily="34" charset="-122"/>
                    <a:cs typeface="Times New Roman" pitchFamily="34" charset="-120"/>
                  </a:rPr>
                  <a:t>1、2的时间分别为</a:t>
                </a:r>
              </a:p>
              <a:p>
                <a:pPr latinLnBrk="1">
                  <a:lnSpc>
                    <a:spcPts val="6600"/>
                  </a:lnSpc>
                </a:pP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,两个光电门间的距离为</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𝐿</m:t>
                    </m:r>
                  </m:oMath>
                </a14:m>
                <a:r>
                  <a:rPr lang="en-US" altLang="zh-CN" sz="2400" b="0" i="0" dirty="0">
                    <a:solidFill>
                      <a:srgbClr val="000000"/>
                    </a:solidFill>
                    <a:latin typeface="Times New Roman" pitchFamily="34" charset="0"/>
                    <a:ea typeface="微软雅黑" pitchFamily="34" charset="-122"/>
                    <a:cs typeface="Times New Roman" pitchFamily="34" charset="-120"/>
                  </a:rPr>
                  <a:t>，则滑块的加速度大小</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𝑎</m:t>
                    </m:r>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i="0" dirty="0">
                    <a:solidFill>
                      <a:srgbClr val="000000"/>
                    </a:solidFill>
                    <a:latin typeface="SimSun" pitchFamily="34" charset="0"/>
                    <a:ea typeface="SimSun" pitchFamily="34" charset="-122"/>
                    <a:cs typeface="SimSun" pitchFamily="34" charset="-120"/>
                  </a:rPr>
                  <a:t>_</a:t>
                </a:r>
                <a:r>
                  <a:rPr lang="en-US" altLang="zh-CN" sz="3650" b="1" i="0" u="sng" kern="0" spc="-99900">
                    <a:solidFill>
                      <a:srgbClr val="FF00FF"/>
                    </a:solidFill>
                    <a:latin typeface="SimSun" panose="02010600030101010101" pitchFamily="2" charset="-122"/>
                    <a:ea typeface="微软雅黑" pitchFamily="34" charset="-122"/>
                    <a:cs typeface="Times New Roman" pitchFamily="34" charset="-120"/>
                  </a:rPr>
                  <a:t> </a:t>
                </a:r>
                <a:r>
                  <a:rPr lang="en-US" altLang="zh-CN" sz="2400" i="0">
                    <a:solidFill>
                      <a:srgbClr val="000000"/>
                    </a:solidFill>
                    <a:latin typeface="SimSun" pitchFamily="34" charset="0"/>
                    <a:ea typeface="SimSun" pitchFamily="34" charset="-122"/>
                    <a:cs typeface="SimSun" pitchFamily="34" charset="-120"/>
                  </a:rPr>
                  <a:t>_________</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用字母</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𝐿</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𝑑</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表示）.</a:t>
                </a:r>
                <a:endParaRPr lang="en-US" altLang="zh-CN" sz="2400" dirty="0">
                  <a:solidFill>
                    <a:srgbClr val="000000"/>
                  </a:solidFill>
                </a:endParaRPr>
              </a:p>
            </p:txBody>
          </p:sp>
        </mc:Choice>
        <mc:Fallback>
          <p:sp>
            <p:nvSpPr>
              <p:cNvPr id="3" name="QB_5_BD.19_2#a660c2ed3?htil=2&amp;vcp=1&amp;pid=9444ae819&amp;color=0,0,0&amp;vtp=1&amp;bt=1&amp;bbb=1&amp;hb=1&amp;hs=1"/>
              <p:cNvSpPr>
                <a:spLocks noRot="1" noChangeAspect="1" noMove="1" noResize="1" noEditPoints="1" noAdjustHandles="1" noChangeArrowheads="1" noChangeShapeType="1" noTextEdit="1"/>
              </p:cNvSpPr>
              <p:nvPr/>
            </p:nvSpPr>
            <p:spPr>
              <a:xfrm>
                <a:off x="393192" y="917289"/>
                <a:ext cx="9180576" cy="2434400"/>
              </a:xfrm>
              <a:prstGeom prst="rect">
                <a:avLst/>
              </a:prstGeom>
              <a:blipFill>
                <a:blip r:embed="rId4"/>
                <a:stretch>
                  <a:fillRect l="-2058" r="-1859" b="-7250"/>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B_5_AN.20_1#a660c2ed3.blank?vcp=1&amp;pid=9444ae819&amp;color=0,0,0&amp;vpa=7&amp;vtp=1&amp;bbb=1&amp;rh=51.17"/>
              <p:cNvSpPr/>
              <p:nvPr/>
            </p:nvSpPr>
            <p:spPr>
              <a:xfrm>
                <a:off x="8046213" y="2034508"/>
                <a:ext cx="1509332" cy="649859"/>
              </a:xfrm>
              <a:prstGeom prst="rect">
                <a:avLst/>
              </a:prstGeom>
              <a:noFill/>
              <a:ln/>
            </p:spPr>
            <p:txBody>
              <a:bodyPr wrap="none" lIns="0" tIns="0" rIns="0" bIns="0" rtlCol="0" anchor="t"/>
              <a:lstStyle/>
              <a:p>
                <a:pPr algn="ctr" latinLnBrk="1">
                  <a:lnSpc>
                    <a:spcPts val="5200"/>
                  </a:lnSpc>
                </a:pPr>
                <a14:m>
                  <m:oMath xmlns:m="http://schemas.openxmlformats.org/officeDocument/2006/math">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𝒅</m:t>
                            </m:r>
                          </m:e>
                          <m:sup>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𝑳</m:t>
                        </m:r>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den>
                    </m:f>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p:sp>
            <p:nvSpPr>
              <p:cNvPr id="4" name="QB_5_AN.20_1#a660c2ed3.blank?vcp=1&amp;pid=9444ae819&amp;color=0,0,0&amp;vpa=7&amp;vtp=1&amp;bbb=1&amp;rh=51.17"/>
              <p:cNvSpPr>
                <a:spLocks noRot="1" noChangeAspect="1" noMove="1" noResize="1" noEditPoints="1" noAdjustHandles="1" noChangeArrowheads="1" noChangeShapeType="1" noTextEdit="1"/>
              </p:cNvSpPr>
              <p:nvPr/>
            </p:nvSpPr>
            <p:spPr>
              <a:xfrm>
                <a:off x="8046213" y="2034508"/>
                <a:ext cx="1509332" cy="649859"/>
              </a:xfrm>
              <a:prstGeom prst="rect">
                <a:avLst/>
              </a:prstGeom>
              <a:blipFill>
                <a:blip r:embed="rId5"/>
                <a:stretch>
                  <a:fillRect b="-1887"/>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B_5_AS.21_1#a660c2ed3?htil=2&amp;vcp=1&amp;pid=9444ae819&amp;color=0,0,0&amp;vtp=1&amp;bbb=1&amp;hb=1&amp;hs=1"/>
              <p:cNvSpPr/>
              <p:nvPr/>
            </p:nvSpPr>
            <p:spPr>
              <a:xfrm>
                <a:off x="395996" y="3338989"/>
                <a:ext cx="11400008" cy="26416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由题意可知，滑块上的遮光条通过光电门</a:t>
                </a:r>
                <a:r>
                  <a:rPr lang="en-US" altLang="zh-CN" sz="2400" b="1" i="0">
                    <a:solidFill>
                      <a:srgbClr val="FF0000"/>
                    </a:solidFill>
                    <a:latin typeface="Times New Roman" pitchFamily="34" charset="0"/>
                    <a:ea typeface="微软雅黑" pitchFamily="34" charset="-122"/>
                    <a:cs typeface="Times New Roman" pitchFamily="34" charset="-120"/>
                  </a:rPr>
                  <a:t>1、2的时间分别为</a:t>
                </a:r>
              </a:p>
              <a:p>
                <a:pPr latinLnBrk="1">
                  <a:lnSpc>
                    <a:spcPts val="5100"/>
                  </a:lnSpc>
                </a:pP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zh-CN" altLang="en-US" sz="2400" b="1" i="0" kern="0" dirty="0">
                    <a:solidFill>
                      <a:srgbClr val="FFFFFF"/>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，则瞬时速度分别为</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𝒅</m:t>
                        </m:r>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den>
                    </m:f>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𝒅</m:t>
                        </m:r>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,滑块在光电门1与</a:t>
                </a:r>
                <a:r>
                  <a:rPr lang="en-US" altLang="zh-CN" sz="2400" b="1" i="0">
                    <a:solidFill>
                      <a:srgbClr val="FF0000"/>
                    </a:solidFill>
                    <a:latin typeface="Times New Roman" pitchFamily="34" charset="0"/>
                    <a:ea typeface="微软雅黑" pitchFamily="34" charset="-122"/>
                    <a:cs typeface="Times New Roman" pitchFamily="34" charset="-120"/>
                  </a:rPr>
                  <a:t>2间做</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匀加速直线运动</a:t>
                </a:r>
                <a:r>
                  <a:rPr lang="en-US" altLang="zh-CN" sz="2400" b="1" i="0" dirty="0">
                    <a:solidFill>
                      <a:srgbClr val="FF0000"/>
                    </a:solidFill>
                    <a:latin typeface="Times New Roman" pitchFamily="34" charset="0"/>
                    <a:ea typeface="微软雅黑" pitchFamily="34" charset="-122"/>
                    <a:cs typeface="Times New Roman" pitchFamily="34" charset="-120"/>
                  </a:rPr>
                  <a:t>，由速度</a:t>
                </a:r>
                <a:r>
                  <a:rPr lang="en-US" altLang="zh-CN" sz="2400" b="1" i="0">
                    <a:solidFill>
                      <a:srgbClr val="FF0000"/>
                    </a:solidFill>
                    <a:latin typeface="Times New Roman" pitchFamily="34" charset="0"/>
                    <a:ea typeface="微软雅黑" pitchFamily="34" charset="-122"/>
                    <a:cs typeface="Times New Roman" pitchFamily="34" charset="-120"/>
                  </a:rPr>
                  <a:t>-位移公式可得加速度大小</a:t>
                </a:r>
              </a:p>
              <a:p>
                <a:pPr latinLnBrk="1">
                  <a:lnSpc>
                    <a:spcPts val="6900"/>
                  </a:lnSpc>
                </a:pP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𝒂</m:t>
                    </m:r>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sSubSup>
                          <m:sSub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r>
                          <a:rPr lang="en-US" altLang="zh-CN" sz="2400" b="1" i="0">
                            <a:solidFill>
                              <a:srgbClr val="FF0000"/>
                            </a:solidFill>
                            <a:latin typeface="Cambria Math" pitchFamily="34" charset="0"/>
                            <a:ea typeface="Cambria Math" pitchFamily="34" charset="-122"/>
                            <a:cs typeface="Cambria Math" pitchFamily="34" charset="-120"/>
                          </a:rPr>
                          <m:t>−</m:t>
                        </m:r>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𝟏</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𝑳</m:t>
                        </m:r>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𝒅</m:t>
                                </m:r>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den>
                            </m:f>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𝒅</m:t>
                                </m:r>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den>
                            </m:f>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𝑳</m:t>
                        </m:r>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𝒅</m:t>
                            </m:r>
                          </m:e>
                          <m:sup>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𝑳</m:t>
                        </m:r>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sSubSup>
                          <m:sSubSupPr>
                            <m:ctrlPr>
                              <a:rPr lang="en-US" altLang="zh-CN" sz="2400" b="1" i="1">
                                <a:solidFill>
                                  <a:srgbClr val="FF0000"/>
                                </a:solidFill>
                                <a:latin typeface="Cambria Math" panose="02040503050406030204" pitchFamily="18" charset="0"/>
                                <a:ea typeface="Cambria Math" pitchFamily="34" charset="-122"/>
                                <a:cs typeface="Cambria Math" pitchFamily="34" charset="-120"/>
                              </a:rPr>
                            </m:ctrlPr>
                          </m:sSubSup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up>
                            <m:r>
                              <a:rPr lang="en-US" altLang="zh-CN" sz="2400" b="1" i="1">
                                <a:solidFill>
                                  <a:srgbClr val="FF0000"/>
                                </a:solidFill>
                                <a:latin typeface="Cambria Math" pitchFamily="34" charset="0"/>
                                <a:ea typeface="Cambria Math" pitchFamily="34" charset="-122"/>
                                <a:cs typeface="Cambria Math" pitchFamily="34" charset="-120"/>
                              </a:rPr>
                              <m:t>𝟐</m:t>
                            </m:r>
                          </m:sup>
                        </m:sSubSup>
                      </m:den>
                    </m:f>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solidFill>
                    <a:srgbClr val="FF0000"/>
                  </a:solidFill>
                </a:endParaRPr>
              </a:p>
            </p:txBody>
          </p:sp>
        </mc:Choice>
        <mc:Fallback>
          <p:sp>
            <p:nvSpPr>
              <p:cNvPr id="5" name="QB_5_AS.21_1#a660c2ed3?htil=2&amp;vcp=1&amp;pid=9444ae819&amp;color=0,0,0&amp;vtp=1&amp;bbb=1&amp;hb=1&amp;hs=1"/>
              <p:cNvSpPr>
                <a:spLocks noRot="1" noChangeAspect="1" noMove="1" noResize="1" noEditPoints="1" noAdjustHandles="1" noChangeArrowheads="1" noChangeShapeType="1" noTextEdit="1"/>
              </p:cNvSpPr>
              <p:nvPr/>
            </p:nvSpPr>
            <p:spPr>
              <a:xfrm>
                <a:off x="395996" y="3338989"/>
                <a:ext cx="11400008" cy="2641600"/>
              </a:xfrm>
              <a:prstGeom prst="rect">
                <a:avLst/>
              </a:prstGeom>
              <a:blipFill>
                <a:blip r:embed="rId6"/>
                <a:stretch>
                  <a:fillRect l="-1658" b="-1386"/>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22_1#0cd1f8b7c?vcp=1&amp;pid=9444ae819&amp;color=0,0,0&amp;vtp=1&amp;bt=1&amp;bbb=1&amp;hb=1"/>
              <p:cNvSpPr/>
              <p:nvPr/>
            </p:nvSpPr>
            <p:spPr>
              <a:xfrm>
                <a:off x="393192" y="504000"/>
                <a:ext cx="11402568" cy="2915666"/>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（3）为了减小偶然误差，该小组同学设计了另一种方案：测得遮光条从光电门1</a:t>
                </a:r>
                <a:r>
                  <a:rPr lang="en-US" altLang="zh-CN" sz="2400" b="0" i="0">
                    <a:solidFill>
                      <a:srgbClr val="000000"/>
                    </a:solidFill>
                    <a:latin typeface="Times New Roman" pitchFamily="34" charset="0"/>
                    <a:ea typeface="微软雅黑" pitchFamily="34" charset="-122"/>
                    <a:cs typeface="Times New Roman" pitchFamily="34" charset="-120"/>
                  </a:rPr>
                  <a:t>到2</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的时间为</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𝑡</m:t>
                    </m:r>
                  </m:oMath>
                </a14:m>
                <a:r>
                  <a:rPr lang="en-US" altLang="zh-CN" sz="2400" b="0" i="0" dirty="0">
                    <a:solidFill>
                      <a:srgbClr val="000000"/>
                    </a:solidFill>
                    <a:latin typeface="Times New Roman" pitchFamily="34" charset="0"/>
                    <a:ea typeface="微软雅黑" pitchFamily="34" charset="-122"/>
                    <a:cs typeface="Times New Roman" pitchFamily="34" charset="-120"/>
                  </a:rPr>
                  <a:t>,两个光电门间的距离为</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𝐿</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，保持光电门</a:t>
                </a:r>
                <a:r>
                  <a:rPr lang="en-US" altLang="zh-CN" sz="2400" b="0" i="0">
                    <a:solidFill>
                      <a:srgbClr val="000000"/>
                    </a:solidFill>
                    <a:latin typeface="Times New Roman" pitchFamily="34" charset="0"/>
                    <a:ea typeface="微软雅黑" pitchFamily="34" charset="-122"/>
                    <a:cs typeface="Times New Roman" pitchFamily="34" charset="-120"/>
                  </a:rPr>
                  <a:t>2的位置及滑块在导轨上释放的位置</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不变</a:t>
                </a:r>
                <a:r>
                  <a:rPr lang="en-US" altLang="zh-CN" sz="2400" b="0" i="0" dirty="0">
                    <a:solidFill>
                      <a:srgbClr val="000000"/>
                    </a:solidFill>
                    <a:latin typeface="Times New Roman" pitchFamily="34" charset="0"/>
                    <a:ea typeface="微软雅黑" pitchFamily="34" charset="-122"/>
                    <a:cs typeface="Times New Roman" pitchFamily="34" charset="-120"/>
                  </a:rPr>
                  <a:t>，改变光电门1的位置进行多次测量，测得多组</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𝐿</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𝑡</m:t>
                    </m:r>
                  </m:oMath>
                </a14:m>
                <a:r>
                  <a:rPr lang="en-US" altLang="zh-CN" sz="2400" b="0" i="0" dirty="0">
                    <a:solidFill>
                      <a:srgbClr val="000000"/>
                    </a:solidFill>
                    <a:latin typeface="Times New Roman" pitchFamily="34" charset="0"/>
                    <a:ea typeface="微软雅黑" pitchFamily="34" charset="-122"/>
                    <a:cs typeface="Times New Roman" pitchFamily="34" charset="-120"/>
                  </a:rPr>
                  <a:t>的数据，作出了</a:t>
                </a:r>
                <a14:m>
                  <m:oMath xmlns:m="http://schemas.openxmlformats.org/officeDocument/2006/math">
                    <m:f>
                      <m:f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𝐿</m:t>
                        </m:r>
                      </m:num>
                      <m:den>
                        <m:r>
                          <a:rPr lang="en-US" altLang="zh-CN" sz="2400" b="0" i="0">
                            <a:solidFill>
                              <a:srgbClr val="000000"/>
                            </a:solidFill>
                            <a:latin typeface="Cambria Math" pitchFamily="34" charset="0"/>
                            <a:ea typeface="Cambria Math" pitchFamily="34" charset="-122"/>
                            <a:cs typeface="Cambria Math" pitchFamily="34" charset="-120"/>
                          </a:rPr>
                          <m:t>𝑡</m:t>
                        </m:r>
                      </m:den>
                    </m:f>
                    <m:r>
                      <a:rPr lang="en-US" altLang="zh-CN" sz="2400" b="0" i="0" smtClean="0">
                        <a:solidFill>
                          <a:srgbClr val="000000"/>
                        </a:solidFill>
                        <a:latin typeface="Cambria Math" pitchFamily="34" charset="0"/>
                        <a:ea typeface="Cambria Math" pitchFamily="34" charset="-122"/>
                        <a:cs typeface="Cambria Math" pitchFamily="34" charset="-120"/>
                      </a:rPr>
                      <m:t>−</m:t>
                    </m:r>
                    <m:r>
                      <a:rPr lang="en-US" altLang="zh-CN" sz="2400" b="0" i="0" smtClean="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图像如</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图乙所示</a:t>
                </a:r>
                <a:r>
                  <a:rPr lang="en-US" altLang="zh-CN" sz="2400" b="0" i="0" dirty="0" err="1">
                    <a:solidFill>
                      <a:srgbClr val="000000"/>
                    </a:solidFill>
                    <a:latin typeface="Times New Roman" pitchFamily="34" charset="0"/>
                    <a:ea typeface="微软雅黑" pitchFamily="34" charset="-122"/>
                    <a:cs typeface="Times New Roman" pitchFamily="34" charset="-120"/>
                  </a:rPr>
                  <a:t>，已知纵轴截距为</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,横轴截距为</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,则</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表示遮光条通过光电门</a:t>
                </a:r>
                <a:r>
                  <a:rPr lang="en-US" altLang="zh-CN" sz="2400" i="0">
                    <a:solidFill>
                      <a:srgbClr val="000000"/>
                    </a:solidFill>
                    <a:latin typeface="SimSun" pitchFamily="34" charset="0"/>
                    <a:ea typeface="SimSun" pitchFamily="34" charset="-122"/>
                    <a:cs typeface="SimSun" pitchFamily="34" charset="-120"/>
                  </a:rPr>
                  <a:t>___</a:t>
                </a:r>
              </a:p>
              <a:p>
                <a:pPr latinLnBrk="1">
                  <a:lnSpc>
                    <a:spcPts val="68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填“1”或“2”）时的速度大小，滑块的加速度大小</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𝑎</m:t>
                    </m:r>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i="0" dirty="0">
                    <a:solidFill>
                      <a:srgbClr val="000000"/>
                    </a:solidFill>
                    <a:latin typeface="SimSun" pitchFamily="34" charset="0"/>
                    <a:ea typeface="SimSun" pitchFamily="34" charset="-122"/>
                    <a:cs typeface="SimSun" pitchFamily="34" charset="-120"/>
                  </a:rPr>
                  <a:t>_</a:t>
                </a:r>
                <a:r>
                  <a:rPr lang="en-US" altLang="zh-CN" sz="3900" b="1" i="0" u="sng" kern="0" spc="-99900" dirty="0">
                    <a:solidFill>
                      <a:srgbClr val="FF00FF"/>
                    </a:solidFill>
                    <a:latin typeface="SimSun" panose="02010600030101010101" pitchFamily="2" charset="-122"/>
                    <a:ea typeface="微软雅黑" pitchFamily="34" charset="-122"/>
                    <a:cs typeface="Times New Roman" pitchFamily="34" charset="-120"/>
                  </a:rPr>
                  <a:t> </a:t>
                </a:r>
                <a:r>
                  <a:rPr lang="en-US" altLang="zh-CN" sz="2400" i="0" dirty="0">
                    <a:solidFill>
                      <a:srgbClr val="000000"/>
                    </a:solidFill>
                    <a:latin typeface="SimSun" pitchFamily="34" charset="0"/>
                    <a:ea typeface="SimSun" pitchFamily="34" charset="-122"/>
                    <a:cs typeface="SimSun" pitchFamily="34" charset="-120"/>
                  </a:rPr>
                  <a:t>___</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solidFill>
                    <a:srgbClr val="000000"/>
                  </a:solidFill>
                </a:endParaRPr>
              </a:p>
            </p:txBody>
          </p:sp>
        </mc:Choice>
        <mc:Fallback>
          <p:sp>
            <p:nvSpPr>
              <p:cNvPr id="2" name="QB_5_BD.22_1#0cd1f8b7c?vcp=1&amp;pid=9444ae819&amp;color=0,0,0&amp;vtp=1&amp;bt=1&amp;bbb=1&amp;hb=1"/>
              <p:cNvSpPr>
                <a:spLocks noRot="1" noChangeAspect="1" noMove="1" noResize="1" noEditPoints="1" noAdjustHandles="1" noChangeArrowheads="1" noChangeShapeType="1" noTextEdit="1"/>
              </p:cNvSpPr>
              <p:nvPr/>
            </p:nvSpPr>
            <p:spPr>
              <a:xfrm>
                <a:off x="393192" y="504000"/>
                <a:ext cx="11402568" cy="2915666"/>
              </a:xfrm>
              <a:prstGeom prst="rect">
                <a:avLst/>
              </a:prstGeom>
              <a:blipFill>
                <a:blip r:embed="rId3"/>
                <a:stretch>
                  <a:fillRect l="-1658" b="-6067"/>
                </a:stretch>
              </a:blipFill>
              <a:ln/>
            </p:spPr>
            <p:txBody>
              <a:bodyPr/>
              <a:lstStyle/>
              <a:p>
                <a:r>
                  <a:rPr lang="zh-CN" altLang="en-US">
                    <a:noFill/>
                  </a:rPr>
                  <a:t> </a:t>
                </a:r>
              </a:p>
            </p:txBody>
          </p:sp>
        </mc:Fallback>
      </mc:AlternateContent>
      <p:sp>
        <p:nvSpPr>
          <p:cNvPr id="3" name="QB_5_AN.23_1#0cd1f8b7c.blank?vcp=1&amp;pid=9444ae819&amp;color=0,0,0&amp;vpa=8&amp;vtp=1"/>
          <p:cNvSpPr/>
          <p:nvPr/>
        </p:nvSpPr>
        <p:spPr>
          <a:xfrm>
            <a:off x="9960769" y="2105343"/>
            <a:ext cx="373063"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2</a:t>
            </a:r>
            <a:endParaRPr lang="en-US" altLang="zh-CN" sz="2400" dirty="0">
              <a:solidFill>
                <a:srgbClr val="FF0000"/>
              </a:solidFill>
            </a:endParaRPr>
          </a:p>
        </p:txBody>
      </p:sp>
      <mc:AlternateContent xmlns:mc="http://schemas.openxmlformats.org/markup-compatibility/2006">
        <mc:Choice xmlns:a14="http://schemas.microsoft.com/office/drawing/2010/main" Requires="a14">
          <p:sp>
            <p:nvSpPr>
              <p:cNvPr id="4" name="QB_5_AN.24_1#0cd1f8b7c.blank?vcp=1&amp;pid=9444ae819&amp;color=0,0,0&amp;vpa=9&amp;vtp=1&amp;bbb=1&amp;rh=45.15"/>
              <p:cNvSpPr/>
              <p:nvPr/>
            </p:nvSpPr>
            <p:spPr>
              <a:xfrm>
                <a:off x="7554405" y="2783713"/>
                <a:ext cx="541020" cy="573405"/>
              </a:xfrm>
              <a:prstGeom prst="rect">
                <a:avLst/>
              </a:prstGeom>
              <a:noFill/>
              <a:ln/>
            </p:spPr>
            <p:txBody>
              <a:bodyPr wrap="none" lIns="0" tIns="0" rIns="0" bIns="0" rtlCol="0" anchor="t"/>
              <a:lstStyle/>
              <a:p>
                <a:pPr algn="ctr" latinLnBrk="1">
                  <a:lnSpc>
                    <a:spcPts val="4600"/>
                  </a:lnSpc>
                </a:pPr>
                <a14:m>
                  <m:oMath xmlns:m="http://schemas.openxmlformats.org/officeDocument/2006/math">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𝟎</m:t>
                            </m:r>
                          </m:sub>
                        </m:sSub>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p:sp>
            <p:nvSpPr>
              <p:cNvPr id="4" name="QB_5_AN.24_1#0cd1f8b7c.blank?vcp=1&amp;pid=9444ae819&amp;color=0,0,0&amp;vpa=9&amp;vtp=1&amp;bbb=1&amp;rh=45.15"/>
              <p:cNvSpPr>
                <a:spLocks noRot="1" noChangeAspect="1" noMove="1" noResize="1" noEditPoints="1" noAdjustHandles="1" noChangeArrowheads="1" noChangeShapeType="1" noTextEdit="1"/>
              </p:cNvSpPr>
              <p:nvPr/>
            </p:nvSpPr>
            <p:spPr>
              <a:xfrm>
                <a:off x="7554405" y="2783713"/>
                <a:ext cx="541020" cy="573405"/>
              </a:xfrm>
              <a:prstGeom prst="rect">
                <a:avLst/>
              </a:prstGeom>
              <a:blipFill>
                <a:blip r:embed="rId4"/>
                <a:stretch>
                  <a:fillRect b="-106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B_5_AS.25_1#0cd1f8b7c?vcp=1&amp;pid=9444ae819&amp;color=0,0,0&amp;vtp=1&amp;bbb=1&amp;hb=1"/>
              <p:cNvSpPr/>
              <p:nvPr/>
            </p:nvSpPr>
            <p:spPr>
              <a:xfrm>
                <a:off x="393192" y="3431540"/>
                <a:ext cx="11402568" cy="2654300"/>
              </a:xfrm>
              <a:prstGeom prst="rect">
                <a:avLst/>
              </a:prstGeom>
              <a:noFill/>
              <a:ln/>
            </p:spPr>
            <p:txBody>
              <a:bodyPr wrap="none" lIns="0" tIns="0" rIns="0" bIns="0" rtlCol="0" anchor="t"/>
              <a:lstStyle/>
              <a:p>
                <a:pPr algn="l"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保持光电门2的位置及滑块在导轨上释放的位置不变，滑块从光电门</a:t>
                </a:r>
                <a:r>
                  <a:rPr lang="en-US" altLang="zh-CN" sz="2400" b="1" i="0">
                    <a:solidFill>
                      <a:srgbClr val="FF0000"/>
                    </a:solidFill>
                    <a:latin typeface="Times New Roman" pitchFamily="34" charset="0"/>
                    <a:ea typeface="微软雅黑" pitchFamily="34" charset="-122"/>
                    <a:cs typeface="Times New Roman" pitchFamily="34" charset="-120"/>
                  </a:rPr>
                  <a:t>1到光电门</a:t>
                </a:r>
              </a:p>
              <a:p>
                <a:pPr latinLnBrk="1">
                  <a:lnSpc>
                    <a:spcPts val="6200"/>
                  </a:lnSpc>
                </a:pPr>
                <a:r>
                  <a:rPr lang="en-US" altLang="zh-CN" sz="2400" b="1" i="0">
                    <a:solidFill>
                      <a:srgbClr val="FF0000"/>
                    </a:solidFill>
                    <a:latin typeface="Times New Roman" pitchFamily="34" charset="0"/>
                    <a:ea typeface="微软雅黑" pitchFamily="34" charset="-122"/>
                    <a:cs typeface="Times New Roman" pitchFamily="34" charset="-120"/>
                  </a:rPr>
                  <a:t>2</a:t>
                </a:r>
                <a:r>
                  <a:rPr lang="en-US" altLang="zh-CN" sz="2400" b="1" i="0" dirty="0">
                    <a:solidFill>
                      <a:srgbClr val="FF0000"/>
                    </a:solidFill>
                    <a:latin typeface="Times New Roman" pitchFamily="34" charset="0"/>
                    <a:ea typeface="微软雅黑" pitchFamily="34" charset="-122"/>
                    <a:cs typeface="Times New Roman" pitchFamily="34" charset="-120"/>
                  </a:rPr>
                  <a:t>做匀加速直线运动，反向可看成匀减速直线运动，有</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𝑳</m:t>
                    </m:r>
                    <m:r>
                      <a:rPr lang="en-US" altLang="zh-CN" sz="2400" b="1" i="0" smtClean="0">
                        <a:solidFill>
                          <a:srgbClr val="FF0000"/>
                        </a:solidFill>
                        <a:latin typeface="Cambria Math" pitchFamily="34" charset="0"/>
                        <a:ea typeface="Cambria Math" pitchFamily="34" charset="-122"/>
                        <a:cs typeface="Cambria Math" pitchFamily="34" charset="-120"/>
                      </a:rPr>
                      <m:t>=</m:t>
                    </m:r>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1" smtClean="0">
                        <a:solidFill>
                          <a:srgbClr val="FF0000"/>
                        </a:solidFill>
                        <a:latin typeface="Cambria Math" pitchFamily="34" charset="0"/>
                        <a:ea typeface="Cambria Math" pitchFamily="34" charset="-122"/>
                        <a:cs typeface="Cambria Math" pitchFamily="34" charset="-120"/>
                      </a:rPr>
                      <m:t>𝒕</m:t>
                    </m:r>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smtClean="0">
                        <a:solidFill>
                          <a:srgbClr val="FF0000"/>
                        </a:solidFill>
                        <a:latin typeface="Cambria Math" pitchFamily="34" charset="0"/>
                        <a:ea typeface="Cambria Math" pitchFamily="34" charset="-122"/>
                        <a:cs typeface="Cambria Math" pitchFamily="34" charset="-120"/>
                      </a:rPr>
                      <m:t>𝒂</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,整理得</a:t>
                </a:r>
              </a:p>
              <a:p>
                <a:pPr latinLnBrk="1">
                  <a:lnSpc>
                    <a:spcPts val="4200"/>
                  </a:lnSpc>
                </a:pPr>
                <a14:m>
                  <m:oMath xmlns:m="http://schemas.openxmlformats.org/officeDocument/2006/math">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𝑳</m:t>
                        </m:r>
                      </m:num>
                      <m:den>
                        <m:r>
                          <a:rPr lang="en-US" altLang="zh-CN" sz="2400" b="1" i="1">
                            <a:solidFill>
                              <a:srgbClr val="FF0000"/>
                            </a:solidFill>
                            <a:latin typeface="Cambria Math" pitchFamily="34" charset="0"/>
                            <a:ea typeface="Cambria Math" pitchFamily="34" charset="-122"/>
                            <a:cs typeface="Cambria Math" pitchFamily="34" charset="-120"/>
                          </a:rPr>
                          <m:t>𝒕</m:t>
                        </m:r>
                      </m:den>
                    </m:f>
                    <m:r>
                      <a:rPr lang="en-US" altLang="zh-CN" sz="2400" b="1" i="0" smtClean="0">
                        <a:solidFill>
                          <a:srgbClr val="FF0000"/>
                        </a:solidFill>
                        <a:latin typeface="Cambria Math" pitchFamily="34" charset="0"/>
                        <a:ea typeface="Cambria Math" pitchFamily="34" charset="-122"/>
                        <a:cs typeface="Cambria Math" pitchFamily="34" charset="-120"/>
                      </a:rPr>
                      <m:t>=</m:t>
                    </m:r>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smtClean="0">
                        <a:solidFill>
                          <a:srgbClr val="FF0000"/>
                        </a:solidFill>
                        <a:latin typeface="Cambria Math" pitchFamily="34" charset="0"/>
                        <a:ea typeface="Cambria Math" pitchFamily="34" charset="-122"/>
                        <a:cs typeface="Cambria Math" pitchFamily="34" charset="-120"/>
                      </a:rPr>
                      <m:t>𝒂𝒕</m:t>
                    </m:r>
                  </m:oMath>
                </a14:m>
                <a:r>
                  <a:rPr lang="en-US" altLang="zh-CN" sz="2400" b="1" i="0" dirty="0">
                    <a:solidFill>
                      <a:srgbClr val="FF0000"/>
                    </a:solidFill>
                    <a:latin typeface="Times New Roman" pitchFamily="34" charset="0"/>
                    <a:ea typeface="微软雅黑" pitchFamily="34" charset="-122"/>
                    <a:cs typeface="Times New Roman" pitchFamily="34" charset="-120"/>
                  </a:rPr>
                  <a:t>,对比题图乙中</a:t>
                </a:r>
                <a14:m>
                  <m:oMath xmlns:m="http://schemas.openxmlformats.org/officeDocument/2006/math">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𝑳</m:t>
                        </m:r>
                      </m:num>
                      <m:den>
                        <m:r>
                          <a:rPr lang="en-US" altLang="zh-CN" sz="2400" b="1" i="1">
                            <a:solidFill>
                              <a:srgbClr val="FF0000"/>
                            </a:solidFill>
                            <a:latin typeface="Cambria Math" pitchFamily="34" charset="0"/>
                            <a:ea typeface="Cambria Math" pitchFamily="34" charset="-122"/>
                            <a:cs typeface="Cambria Math" pitchFamily="34" charset="-120"/>
                          </a:rPr>
                          <m:t>𝒕</m:t>
                        </m:r>
                      </m:den>
                    </m:f>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𝒕</m:t>
                    </m:r>
                  </m:oMath>
                </a14:m>
                <a:r>
                  <a:rPr lang="en-US" altLang="zh-CN" sz="2400" b="1" i="0" dirty="0">
                    <a:solidFill>
                      <a:srgbClr val="FF0000"/>
                    </a:solidFill>
                    <a:latin typeface="Times New Roman" pitchFamily="34" charset="0"/>
                    <a:ea typeface="微软雅黑" pitchFamily="34" charset="-122"/>
                    <a:cs typeface="Times New Roman" pitchFamily="34" charset="-120"/>
                  </a:rPr>
                  <a:t>图像的斜率和纵轴截距，可知</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表示遮光条通过光电</a:t>
                </a:r>
              </a:p>
              <a:p>
                <a:pPr latinLnBrk="1">
                  <a:lnSpc>
                    <a:spcPts val="6200"/>
                  </a:lnSpc>
                </a:pPr>
                <a:r>
                  <a:rPr lang="en-US" altLang="zh-CN" sz="2400" b="1" i="0">
                    <a:solidFill>
                      <a:srgbClr val="FF0000"/>
                    </a:solidFill>
                    <a:latin typeface="Times New Roman" pitchFamily="34" charset="0"/>
                    <a:ea typeface="微软雅黑" pitchFamily="34" charset="-122"/>
                    <a:cs typeface="Times New Roman" pitchFamily="34" charset="-120"/>
                  </a:rPr>
                  <a:t>门</a:t>
                </a:r>
                <a:r>
                  <a:rPr lang="en-US" altLang="zh-CN" sz="2400" b="1" i="0" dirty="0">
                    <a:solidFill>
                      <a:srgbClr val="FF0000"/>
                    </a:solidFill>
                    <a:latin typeface="Times New Roman" pitchFamily="34" charset="0"/>
                    <a:ea typeface="微软雅黑" pitchFamily="34" charset="-122"/>
                    <a:cs typeface="Times New Roman" pitchFamily="34" charset="-120"/>
                  </a:rPr>
                  <a:t>2的速度，且</a:t>
                </a:r>
                <a14:m>
                  <m:oMath xmlns:m="http://schemas.openxmlformats.org/officeDocument/2006/math">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smtClean="0">
                        <a:solidFill>
                          <a:srgbClr val="FF0000"/>
                        </a:solidFill>
                        <a:latin typeface="Cambria Math" pitchFamily="34" charset="0"/>
                        <a:ea typeface="Cambria Math" pitchFamily="34" charset="-122"/>
                        <a:cs typeface="Cambria Math" pitchFamily="34" charset="-120"/>
                      </a:rPr>
                      <m:t>𝒂</m:t>
                    </m:r>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𝟎</m:t>
                            </m:r>
                          </m:sub>
                        </m:sSub>
                      </m:den>
                    </m:f>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𝒂</m:t>
                    </m:r>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𝟎</m:t>
                            </m:r>
                          </m:sub>
                        </m:sSub>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solidFill>
                    <a:srgbClr val="FF0000"/>
                  </a:solidFill>
                </a:endParaRPr>
              </a:p>
            </p:txBody>
          </p:sp>
        </mc:Choice>
        <mc:Fallback>
          <p:sp>
            <p:nvSpPr>
              <p:cNvPr id="5" name="QB_5_AS.25_1#0cd1f8b7c?vcp=1&amp;pid=9444ae819&amp;color=0,0,0&amp;vtp=1&amp;bbb=1&amp;hb=1"/>
              <p:cNvSpPr>
                <a:spLocks noRot="1" noChangeAspect="1" noMove="1" noResize="1" noEditPoints="1" noAdjustHandles="1" noChangeArrowheads="1" noChangeShapeType="1" noTextEdit="1"/>
              </p:cNvSpPr>
              <p:nvPr/>
            </p:nvSpPr>
            <p:spPr>
              <a:xfrm>
                <a:off x="393192" y="3431540"/>
                <a:ext cx="11402568" cy="2654300"/>
              </a:xfrm>
              <a:prstGeom prst="rect">
                <a:avLst/>
              </a:prstGeom>
              <a:blipFill>
                <a:blip r:embed="rId5"/>
                <a:stretch>
                  <a:fillRect l="-1658" r="-1016" b="-22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bg/>
                                          </p:spTgt>
                                        </p:tgtEl>
                                        <p:attrNameLst>
                                          <p:attrName>style.visibility</p:attrName>
                                        </p:attrNameLst>
                                      </p:cBhvr>
                                      <p:to>
                                        <p:strVal val="visible"/>
                                      </p:to>
                                    </p:set>
                                    <p:animEffect transition="in" filter="wipe(left)">
                                      <p:cBhvr>
                                        <p:cTn id="23" dur="500"/>
                                        <p:tgtEl>
                                          <p:spTgt spid="5">
                                            <p:bg/>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500"/>
                                        <p:tgtEl>
                                          <p:spTgt spid="5">
                                            <p:txEl>
                                              <p:pRg st="0" end="0"/>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wipe(left)">
                                      <p:cBhvr>
                                        <p:cTn id="29" dur="500"/>
                                        <p:tgtEl>
                                          <p:spTgt spid="5">
                                            <p:txEl>
                                              <p:pRg st="1" end="1"/>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left)">
                                      <p:cBhvr>
                                        <p:cTn id="32" dur="500"/>
                                        <p:tgtEl>
                                          <p:spTgt spid="5">
                                            <p:txEl>
                                              <p:pRg st="2" end="2"/>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wipe(left)">
                                      <p:cBhvr>
                                        <p:cTn id="3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sp>
        <p:nvSpPr>
          <p:cNvPr id="2" name="C_3_BD#7b0f74cd3?vcp=1&amp;pid=132427a3d&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拓展考点突破练</a:t>
            </a:r>
            <a:endParaRPr lang="en-US" altLang="zh-CN" sz="2600" dirty="0"/>
          </a:p>
        </p:txBody>
      </p:sp>
      <p:sp>
        <p:nvSpPr>
          <p:cNvPr id="3" name="P_4_BD#db0471441?vcp=1&amp;pid=7b0f74cd3&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mc:AlternateContent xmlns:mc="http://schemas.openxmlformats.org/markup-compatibility/2006">
        <mc:Choice xmlns:a14="http://schemas.microsoft.com/office/drawing/2010/main" Requires="a14">
          <p:sp>
            <p:nvSpPr>
              <p:cNvPr id="4" name="QO_4_BD.26_1#e6d04eb90?vcp=1&amp;pid=7b0f74cd3&amp;color=0,0,0&amp;vtp=1&amp;bbb=1&amp;hb=1"/>
              <p:cNvSpPr/>
              <p:nvPr/>
            </p:nvSpPr>
            <p:spPr>
              <a:xfrm>
                <a:off x="393192" y="1649285"/>
                <a:ext cx="11402568" cy="15962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1E5A99"/>
                    </a:solidFill>
                    <a:latin typeface="KaiTi" pitchFamily="34" charset="0"/>
                    <a:ea typeface="KaiTi" pitchFamily="34" charset="-122"/>
                    <a:cs typeface="KaiTi" pitchFamily="34" charset="-120"/>
                  </a:rPr>
                  <a:t>（卓越联盟自主招生）</a:t>
                </a:r>
                <a:r>
                  <a:rPr lang="en-US" altLang="zh-CN" sz="2400" b="0" i="0" dirty="0">
                    <a:solidFill>
                      <a:srgbClr val="000000"/>
                    </a:solidFill>
                    <a:latin typeface="Times New Roman" pitchFamily="34" charset="0"/>
                    <a:ea typeface="微软雅黑" pitchFamily="34" charset="-122"/>
                    <a:cs typeface="Times New Roman" pitchFamily="34" charset="-120"/>
                  </a:rPr>
                  <a:t>用如图甲所示的装置探究加速度与力的关系</a:t>
                </a:r>
                <a:r>
                  <a:rPr lang="en-US" altLang="zh-CN" sz="2400" b="0" i="0">
                    <a:solidFill>
                      <a:srgbClr val="000000"/>
                    </a:solidFill>
                    <a:latin typeface="Times New Roman" pitchFamily="34" charset="0"/>
                    <a:ea typeface="微软雅黑" pitchFamily="34" charset="-122"/>
                    <a:cs typeface="Times New Roman" pitchFamily="34" charset="-120"/>
                  </a:rPr>
                  <a:t>，采用倾斜木板</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的方法平衡摩擦力</a:t>
                </a:r>
                <a:r>
                  <a:rPr lang="en-US" altLang="zh-CN" sz="2400" b="0" i="0" dirty="0">
                    <a:solidFill>
                      <a:srgbClr val="000000"/>
                    </a:solidFill>
                    <a:latin typeface="Times New Roman" pitchFamily="34" charset="0"/>
                    <a:ea typeface="微软雅黑" pitchFamily="34" charset="-122"/>
                    <a:cs typeface="Times New Roman" pitchFamily="34" charset="-120"/>
                  </a:rPr>
                  <a:t>，通过增减砝码改变小车受到的拉力</a:t>
                </a:r>
                <a:r>
                  <a:rPr lang="en-US" altLang="zh-CN" sz="2400" b="0" i="0">
                    <a:solidFill>
                      <a:srgbClr val="000000"/>
                    </a:solidFill>
                    <a:latin typeface="Times New Roman" pitchFamily="34" charset="0"/>
                    <a:ea typeface="微软雅黑" pitchFamily="34" charset="-122"/>
                    <a:cs typeface="Times New Roman" pitchFamily="34" charset="-120"/>
                  </a:rPr>
                  <a:t>，打点计时器所用电源的频率</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Hz</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O_4_BD.26_1#e6d04eb90?vcp=1&amp;pid=7b0f74cd3&amp;color=0,0,0&amp;vtp=1&amp;bbb=1&amp;hb=1"/>
              <p:cNvSpPr>
                <a:spLocks noRot="1" noChangeAspect="1" noMove="1" noResize="1" noEditPoints="1" noAdjustHandles="1" noChangeArrowheads="1" noChangeShapeType="1" noTextEdit="1"/>
              </p:cNvSpPr>
              <p:nvPr/>
            </p:nvSpPr>
            <p:spPr>
              <a:xfrm>
                <a:off x="393192" y="1649285"/>
                <a:ext cx="11402568" cy="1596200"/>
              </a:xfrm>
              <a:prstGeom prst="rect">
                <a:avLst/>
              </a:prstGeom>
              <a:blipFill>
                <a:blip r:embed="rId3"/>
                <a:stretch>
                  <a:fillRect l="-1658" r="-535" b="-11494"/>
                </a:stretch>
              </a:blipFill>
              <a:ln/>
            </p:spPr>
            <p:txBody>
              <a:bodyPr/>
              <a:lstStyle/>
              <a:p>
                <a:r>
                  <a:rPr lang="zh-CN" altLang="en-US">
                    <a:noFill/>
                  </a:rPr>
                  <a:t> </a:t>
                </a:r>
              </a:p>
            </p:txBody>
          </p:sp>
        </mc:Fallback>
      </mc:AlternateContent>
      <p:pic>
        <p:nvPicPr>
          <p:cNvPr id="5" name="QO_4_BD.26_2#e6d04eb90?vcp=1&amp;pid=7b0f74cd3&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3712464" y="3368675"/>
            <a:ext cx="4764024" cy="2496312"/>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6.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p:pic>
        <p:nvPicPr>
          <p:cNvPr id="2" name="QB_5_BD.27_1#af08cab5e?htil=3&amp;vcp=1&amp;pid=e6d04eb90&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7566782" y="708627"/>
            <a:ext cx="4142232" cy="9692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B_5_BD.27_2#af08cab5e?htil=3&amp;vcp=1&amp;pid=e6d04eb90&amp;color=0,0,0&amp;vtp=1&amp;bt=1&amp;bbb=1&amp;hb=1&amp;hs=1"/>
          <p:cNvSpPr/>
          <p:nvPr/>
        </p:nvSpPr>
        <p:spPr>
          <a:xfrm>
            <a:off x="393192" y="662908"/>
            <a:ext cx="7123176" cy="1037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（1）如图乙所示，在小车带动的纸带上选取</a:t>
            </a:r>
            <a:r>
              <a:rPr lang="en-US" altLang="zh-CN" sz="2400" b="0" i="0">
                <a:solidFill>
                  <a:srgbClr val="000000"/>
                </a:solidFill>
                <a:latin typeface="Times New Roman" pitchFamily="34" charset="0"/>
                <a:ea typeface="微软雅黑" pitchFamily="34" charset="-122"/>
                <a:cs typeface="Times New Roman" pitchFamily="34" charset="-120"/>
              </a:rPr>
              <a:t>6个计数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点</a:t>
            </a:r>
            <a:r>
              <a:rPr lang="en-US" altLang="zh-CN" sz="2400" b="0" i="0" dirty="0">
                <a:solidFill>
                  <a:srgbClr val="000000"/>
                </a:solidFill>
                <a:latin typeface="Times New Roman" pitchFamily="34" charset="0"/>
                <a:ea typeface="微软雅黑" pitchFamily="34" charset="-122"/>
                <a:cs typeface="Times New Roman" pitchFamily="34" charset="-120"/>
              </a:rPr>
              <a:t>，按时间顺序依次编号为0、1、2、3、4、5</a:t>
            </a:r>
            <a:r>
              <a:rPr lang="en-US" altLang="zh-CN" sz="2400" b="0" i="0">
                <a:solidFill>
                  <a:srgbClr val="000000"/>
                </a:solidFill>
                <a:latin typeface="Times New Roman" pitchFamily="34" charset="0"/>
                <a:ea typeface="微软雅黑" pitchFamily="34" charset="-122"/>
                <a:cs typeface="Times New Roman" pitchFamily="34" charset="-120"/>
              </a:rPr>
              <a:t>，在每</a:t>
            </a:r>
            <a:endParaRPr lang="en-US" altLang="zh-CN" sz="2400" dirty="0"/>
          </a:p>
        </p:txBody>
      </p:sp>
      <p:sp>
        <p:nvSpPr>
          <p:cNvPr id="4" name="QB_5_AN.28_1#af08cab5e.blank?vcp=1&amp;pid=e6d04eb90&amp;color=0,0,0&amp;vpa=10&amp;vtp=1&amp;bbb=1"/>
          <p:cNvSpPr/>
          <p:nvPr/>
        </p:nvSpPr>
        <p:spPr>
          <a:xfrm>
            <a:off x="9861836" y="2298603"/>
            <a:ext cx="754063" cy="497650"/>
          </a:xfrm>
          <a:prstGeom prst="rect">
            <a:avLst/>
          </a:prstGeom>
          <a:noFill/>
          <a:ln/>
        </p:spPr>
        <p:txBody>
          <a:bodyPr wrap="none" lIns="0" tIns="0" rIns="0" bIns="0" rtlCol="0" anchor="t"/>
          <a:lstStyle/>
          <a:p>
            <a:pPr algn="ct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1.50</a:t>
            </a:r>
            <a:endParaRPr lang="en-US" altLang="zh-CN" sz="2400" dirty="0"/>
          </a:p>
        </p:txBody>
      </p:sp>
      <mc:AlternateContent xmlns:mc="http://schemas.openxmlformats.org/markup-compatibility/2006">
        <mc:Choice xmlns:a14="http://schemas.microsoft.com/office/drawing/2010/main" Requires="a14">
          <p:sp>
            <p:nvSpPr>
              <p:cNvPr id="5" name="QB_5_AS.29_1#af08cab5e?vcp=1&amp;pid=e6d04eb90&amp;color=0,0,0&amp;vtp=1&amp;bbb=1&amp;hb=1"/>
              <p:cNvSpPr/>
              <p:nvPr/>
            </p:nvSpPr>
            <p:spPr>
              <a:xfrm>
                <a:off x="393192" y="3360133"/>
                <a:ext cx="11402568" cy="2857246"/>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计算相邻计数点间的差值分别为1.39、1.50、1.51、</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𝟒𝟖</m:t>
                    </m:r>
                  </m:oMath>
                </a14:m>
                <a:r>
                  <a:rPr lang="en-US" altLang="zh-CN" sz="2400" b="1" i="0" dirty="0">
                    <a:solidFill>
                      <a:srgbClr val="FF0000"/>
                    </a:solidFill>
                    <a:latin typeface="Times New Roman" pitchFamily="34" charset="0"/>
                    <a:ea typeface="微软雅黑" pitchFamily="34" charset="-122"/>
                    <a:cs typeface="Times New Roman" pitchFamily="34" charset="-120"/>
                  </a:rPr>
                  <a:t>（单位为</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）,因第一</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组数据偏差较大</a:t>
                </a:r>
                <a:r>
                  <a:rPr lang="en-US" altLang="zh-CN" sz="2400" b="1" i="0" dirty="0">
                    <a:solidFill>
                      <a:srgbClr val="FF0000"/>
                    </a:solidFill>
                    <a:latin typeface="Times New Roman" pitchFamily="34" charset="0"/>
                    <a:ea typeface="微软雅黑" pitchFamily="34" charset="-122"/>
                    <a:cs typeface="Times New Roman" pitchFamily="34" charset="-120"/>
                  </a:rPr>
                  <a:t>，故舍去计数点0与1间的距离.将纸带剩余的4段距离分为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Ⅰ</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Ⅱ</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两</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部分</a:t>
                </a:r>
                <a:r>
                  <a:rPr lang="en-US" altLang="zh-CN" sz="2400" b="1" i="0" dirty="0">
                    <a:solidFill>
                      <a:srgbClr val="FF0000"/>
                    </a:solidFill>
                    <a:latin typeface="Times New Roman" pitchFamily="34" charset="0"/>
                    <a:ea typeface="微软雅黑" pitchFamily="34" charset="-122"/>
                    <a:cs typeface="Times New Roman" pitchFamily="34" charset="-120"/>
                  </a:rPr>
                  <a:t>，计数点1到3的距离为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Ⅰ</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,3到5的距离为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Ⅱ</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Ⅰ</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Ⅱ</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是小车在两个相邻的相等</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时间间隔</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里的位移.由</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m:rPr>
                        <m:nor/>
                      </m:rPr>
                      <a:rPr lang="en-US" altLang="zh-CN" sz="2400" b="1" i="0">
                        <a:solidFill>
                          <a:srgbClr val="FF0000"/>
                        </a:solidFill>
                        <a:latin typeface="Cambria Math" pitchFamily="34" charset="0"/>
                        <a:ea typeface="Cambria Math" pitchFamily="34" charset="-122"/>
                        <a:cs typeface="Cambria Math" pitchFamily="34" charset="-120"/>
                      </a:rPr>
                      <m:t> </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m:t>
                        </m:r>
                      </m:e>
                      <m:sub>
                        <m:r>
                          <a:rPr lang="en-US" altLang="zh-CN" sz="2400" b="1" i="0">
                            <a:solidFill>
                              <a:srgbClr val="FF0000"/>
                            </a:solidFill>
                            <a:latin typeface="Cambria Math" pitchFamily="34" charset="0"/>
                            <a:ea typeface="Cambria Math" pitchFamily="34" charset="-122"/>
                            <a:cs typeface="Cambria Math" pitchFamily="34" charset="-120"/>
                          </a:rPr>
                          <m:t>Ⅱ</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𝒙</m:t>
                    </m:r>
                    <m:r>
                      <m:rPr>
                        <m:nor/>
                      </m:rPr>
                      <a:rPr lang="en-US" altLang="zh-CN" sz="2400" b="1" i="0">
                        <a:solidFill>
                          <a:srgbClr val="FF0000"/>
                        </a:solidFill>
                        <a:latin typeface="Cambria Math" pitchFamily="34" charset="0"/>
                        <a:ea typeface="Cambria Math" pitchFamily="34" charset="-122"/>
                        <a:cs typeface="Cambria Math" pitchFamily="34" charset="-120"/>
                      </a:rPr>
                      <m:t> </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m:t>
                        </m:r>
                      </m:e>
                      <m:sub>
                        <m:r>
                          <a:rPr lang="en-US" altLang="zh-CN" sz="2400" b="1" i="0">
                            <a:solidFill>
                              <a:srgbClr val="FF0000"/>
                            </a:solidFill>
                            <a:latin typeface="Cambria Math" pitchFamily="34" charset="0"/>
                            <a:ea typeface="Cambria Math" pitchFamily="34" charset="-122"/>
                            <a:cs typeface="Cambria Math" pitchFamily="34" charset="-120"/>
                          </a:rPr>
                          <m:t>Ⅰ</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得</a:t>
                </a:r>
              </a:p>
              <a:p>
                <a:pPr latinLnBrk="1">
                  <a:lnSpc>
                    <a:spcPts val="5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Ⅱ</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0">
                                <a:solidFill>
                                  <a:srgbClr val="FF0000"/>
                                </a:solidFill>
                                <a:latin typeface="Cambria Math" pitchFamily="34" charset="0"/>
                                <a:ea typeface="Cambria Math" pitchFamily="34" charset="-122"/>
                                <a:cs typeface="Cambria Math" pitchFamily="34" charset="-120"/>
                              </a:rPr>
                              <m:t>Ⅰ</m:t>
                            </m:r>
                          </m:sub>
                        </m:sSub>
                      </m:num>
                      <m:den>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𝟖</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𝟕𝟖</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𝟕𝟗</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B_5_AS.29_1#af08cab5e?vcp=1&amp;pid=e6d04eb90&amp;color=0,0,0&amp;vtp=1&amp;bbb=1&amp;hb=1"/>
              <p:cNvSpPr>
                <a:spLocks noRot="1" noChangeAspect="1" noMove="1" noResize="1" noEditPoints="1" noAdjustHandles="1" noChangeArrowheads="1" noChangeShapeType="1" noTextEdit="1"/>
              </p:cNvSpPr>
              <p:nvPr/>
            </p:nvSpPr>
            <p:spPr>
              <a:xfrm>
                <a:off x="393192" y="3360133"/>
                <a:ext cx="11402568" cy="2857246"/>
              </a:xfrm>
              <a:prstGeom prst="rect">
                <a:avLst/>
              </a:prstGeom>
              <a:blipFill>
                <a:blip r:embed="rId4"/>
                <a:stretch>
                  <a:fillRect l="-1658" r="-1283" b="-362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B_5_BD.27_2#af08cab5e?htil=3&amp;vcp=1&amp;pid=e6d04eb90&amp;color=0,0,0&amp;vtp=1&amp;bt=1&amp;bbb=1&amp;hb=1&amp;hs=1">
                <a:extLst>
                  <a:ext uri="{FF2B5EF4-FFF2-40B4-BE49-F238E27FC236}">
                    <a16:creationId xmlns:a16="http://schemas.microsoft.com/office/drawing/2014/main" id="{4669C6C7-365E-1805-B636-21A57687378C}"/>
                  </a:ext>
                </a:extLst>
              </p:cNvPr>
              <p:cNvSpPr/>
              <p:nvPr/>
            </p:nvSpPr>
            <p:spPr>
              <a:xfrm>
                <a:off x="393192" y="1767743"/>
                <a:ext cx="11400008" cy="1596200"/>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相邻的两计数点中间都有四个点未画出，用刻度尺量出相邻计数点之间的距离分别是</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2.90、4.29、5.79、7.30</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8.78</m:t>
                    </m:r>
                  </m:oMath>
                </a14:m>
                <a:r>
                  <a:rPr lang="en-US" altLang="zh-CN" sz="2400" b="0" i="0" dirty="0">
                    <a:solidFill>
                      <a:srgbClr val="000000"/>
                    </a:solidFill>
                    <a:latin typeface="Times New Roman" pitchFamily="34" charset="0"/>
                    <a:ea typeface="微软雅黑" pitchFamily="34" charset="-122"/>
                    <a:cs typeface="Times New Roman" pitchFamily="34" charset="-120"/>
                  </a:rPr>
                  <a:t>（单位为</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a:solidFill>
                      <a:srgbClr val="000000"/>
                    </a:solidFill>
                    <a:latin typeface="Times New Roman" pitchFamily="34" charset="0"/>
                    <a:ea typeface="微软雅黑" pitchFamily="34" charset="-122"/>
                    <a:cs typeface="Times New Roman" pitchFamily="34" charset="-120"/>
                  </a:rPr>
                  <a:t>），可得小车加速度的大小为</a:t>
                </a:r>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结果保留三位有效数字）.</a:t>
                </a:r>
                <a:endParaRPr lang="en-US" altLang="zh-CN" sz="2400" dirty="0"/>
              </a:p>
            </p:txBody>
          </p:sp>
        </mc:Choice>
        <mc:Fallback>
          <p:sp>
            <p:nvSpPr>
              <p:cNvPr id="6" name="QB_5_BD.27_2#af08cab5e?htil=3&amp;vcp=1&amp;pid=e6d04eb90&amp;color=0,0,0&amp;vtp=1&amp;bt=1&amp;bbb=1&amp;hb=1&amp;hs=1">
                <a:extLst>
                  <a:ext uri="{FF2B5EF4-FFF2-40B4-BE49-F238E27FC236}">
                    <a16:creationId xmlns:a16="http://schemas.microsoft.com/office/drawing/2014/main" id="{4669C6C7-365E-1805-B636-21A57687378C}"/>
                  </a:ext>
                </a:extLst>
              </p:cNvPr>
              <p:cNvSpPr>
                <a:spLocks noRot="1" noChangeAspect="1" noMove="1" noResize="1" noEditPoints="1" noAdjustHandles="1" noChangeArrowheads="1" noChangeShapeType="1" noTextEdit="1"/>
              </p:cNvSpPr>
              <p:nvPr/>
            </p:nvSpPr>
            <p:spPr>
              <a:xfrm>
                <a:off x="393192" y="1767743"/>
                <a:ext cx="11400008" cy="1596200"/>
              </a:xfrm>
              <a:prstGeom prst="rect">
                <a:avLst/>
              </a:prstGeom>
              <a:blipFill>
                <a:blip r:embed="rId5"/>
                <a:stretch>
                  <a:fillRect l="-1658" r="-535" b="-1106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wipe(left)">
                                      <p:cBhvr>
                                        <p:cTn id="3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30_1#7239396af?vcp=1&amp;pid=e6d04eb90&amp;color=0,0,0&amp;vtp=1&amp;bt=1&amp;bbb=1&amp;hb=1"/>
              <p:cNvSpPr/>
              <p:nvPr/>
            </p:nvSpPr>
            <p:spPr>
              <a:xfrm>
                <a:off x="393192" y="728568"/>
                <a:ext cx="11402568"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（2）保持小车的质量不变，逐渐增大砝码的质量</a:t>
                </a:r>
                <a:r>
                  <a:rPr lang="en-US" altLang="zh-CN" sz="2400" b="0" i="0">
                    <a:solidFill>
                      <a:srgbClr val="000000"/>
                    </a:solidFill>
                    <a:latin typeface="Times New Roman" pitchFamily="34" charset="0"/>
                    <a:ea typeface="微软雅黑" pitchFamily="34" charset="-122"/>
                    <a:cs typeface="Times New Roman" pitchFamily="34" charset="-120"/>
                  </a:rPr>
                  <a:t>，探究小车的加速度与所受外力的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关系</a:t>
                </a:r>
                <a:r>
                  <a:rPr lang="en-US" altLang="zh-CN" sz="2400" b="0" i="0" dirty="0">
                    <a:solidFill>
                      <a:srgbClr val="000000"/>
                    </a:solidFill>
                    <a:latin typeface="Times New Roman" pitchFamily="34" charset="0"/>
                    <a:ea typeface="微软雅黑" pitchFamily="34" charset="-122"/>
                    <a:cs typeface="Times New Roman" pitchFamily="34" charset="-120"/>
                  </a:rPr>
                  <a:t>，以托盘和砝码的总重力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为横坐标，小车的加速度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为纵坐标</a:t>
                </a:r>
                <a:r>
                  <a:rPr lang="en-US" altLang="zh-CN" sz="2400" b="0" i="0">
                    <a:solidFill>
                      <a:srgbClr val="000000"/>
                    </a:solidFill>
                    <a:latin typeface="Times New Roman" pitchFamily="34" charset="0"/>
                    <a:ea typeface="微软雅黑" pitchFamily="34" charset="-122"/>
                    <a:cs typeface="Times New Roman" pitchFamily="34" charset="-120"/>
                  </a:rPr>
                  <a:t>，经多次测量并根</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据实验数据得出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图线，如图丙所示，请指出图线不过原点及</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较大时图线发生弯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曲的原因：</a:t>
                </a:r>
                <a:r>
                  <a:rPr lang="en-US" altLang="zh-CN" sz="2400" i="0">
                    <a:solidFill>
                      <a:srgbClr val="000000"/>
                    </a:solidFill>
                    <a:latin typeface="SimSun" pitchFamily="34" charset="0"/>
                    <a:ea typeface="SimSun" pitchFamily="34" charset="-122"/>
                    <a:cs typeface="SimSun" pitchFamily="34" charset="-120"/>
                  </a:rPr>
                  <a:t>________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B_5_BD.30_1#7239396af?vcp=1&amp;pid=e6d04eb90&amp;color=0,0,0&amp;vtp=1&amp;bt=1&amp;bbb=1&amp;hb=1"/>
              <p:cNvSpPr>
                <a:spLocks noRot="1" noChangeAspect="1" noMove="1" noResize="1" noEditPoints="1" noAdjustHandles="1" noChangeArrowheads="1" noChangeShapeType="1" noTextEdit="1"/>
              </p:cNvSpPr>
              <p:nvPr/>
            </p:nvSpPr>
            <p:spPr>
              <a:xfrm>
                <a:off x="393192" y="728568"/>
                <a:ext cx="11402568" cy="2150999"/>
              </a:xfrm>
              <a:prstGeom prst="rect">
                <a:avLst/>
              </a:prstGeom>
              <a:blipFill>
                <a:blip r:embed="rId3"/>
                <a:stretch>
                  <a:fillRect l="-1658" r="-1123" b="-8807"/>
                </a:stretch>
              </a:blipFill>
              <a:ln/>
            </p:spPr>
            <p:txBody>
              <a:bodyPr/>
              <a:lstStyle/>
              <a:p>
                <a:r>
                  <a:rPr lang="zh-CN" altLang="en-US">
                    <a:noFill/>
                  </a:rPr>
                  <a:t> </a:t>
                </a:r>
              </a:p>
            </p:txBody>
          </p:sp>
        </mc:Fallback>
      </mc:AlternateContent>
      <p:sp>
        <p:nvSpPr>
          <p:cNvPr id="3" name="QB_5_AN.31_1#7239396af.blank?vcp=1&amp;pid=e6d04eb90&amp;color=0,0,0&amp;vpa=11&amp;vtp=1&amp;bbb=1"/>
          <p:cNvSpPr/>
          <p:nvPr/>
        </p:nvSpPr>
        <p:spPr>
          <a:xfrm>
            <a:off x="1933861" y="2355437"/>
            <a:ext cx="1135063" cy="47879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见解析</a:t>
            </a:r>
            <a:endParaRPr lang="en-US" altLang="zh-CN" sz="2400" dirty="0"/>
          </a:p>
        </p:txBody>
      </p:sp>
      <p:pic>
        <p:nvPicPr>
          <p:cNvPr id="4" name="QB_5_BD.30_2#7239396af?vcp=1&amp;pid=e6d04eb90&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005072" y="2995263"/>
            <a:ext cx="4178808" cy="195681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B_5_AS.32_1#7239396af?vcp=1&amp;pid=e6d04eb90&amp;color=0,0,0&amp;vtp=1&amp;bbb=1&amp;hb=1"/>
              <p:cNvSpPr/>
              <p:nvPr/>
            </p:nvSpPr>
            <p:spPr>
              <a:xfrm>
                <a:off x="393192" y="5090763"/>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图线不过原点的原因是平衡摩擦力时木板的倾角过大，</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较大时图线发生弯曲</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的原因是不满足砝码和托盘的总质量远小于小车的质量</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B_5_AS.32_1#7239396af?vcp=1&amp;pid=e6d04eb90&amp;color=0,0,0&amp;vtp=1&amp;bbb=1&amp;hb=1"/>
              <p:cNvSpPr>
                <a:spLocks noRot="1" noChangeAspect="1" noMove="1" noResize="1" noEditPoints="1" noAdjustHandles="1" noChangeArrowheads="1" noChangeShapeType="1" noTextEdit="1"/>
              </p:cNvSpPr>
              <p:nvPr/>
            </p:nvSpPr>
            <p:spPr>
              <a:xfrm>
                <a:off x="393192" y="5090763"/>
                <a:ext cx="11402568" cy="1037400"/>
              </a:xfrm>
              <a:prstGeom prst="rect">
                <a:avLst/>
              </a:prstGeom>
              <a:blipFill>
                <a:blip r:embed="rId5"/>
                <a:stretch>
                  <a:fillRect l="-1658" r="-53" b="-1764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5_BD.33_1#45ad4f05a?vcp=1&amp;pid=e6d04eb90&amp;color=0,0,0&amp;vtp=1&amp;bt=1&amp;bbb=1&amp;hb=1"/>
              <p:cNvSpPr/>
              <p:nvPr/>
            </p:nvSpPr>
            <p:spPr>
              <a:xfrm>
                <a:off x="393192" y="705898"/>
                <a:ext cx="11402568" cy="27097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（3）某同学在保持小车所受到的拉力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2400" b="0" i="0" dirty="0">
                    <a:solidFill>
                      <a:srgbClr val="000000"/>
                    </a:solidFill>
                    <a:latin typeface="Times New Roman" pitchFamily="34" charset="0"/>
                    <a:ea typeface="微软雅黑" pitchFamily="34" charset="-122"/>
                    <a:cs typeface="Times New Roman" pitchFamily="34" charset="-120"/>
                  </a:rPr>
                  <a:t>不变的条件下，探究小车的加速度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与</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其质量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oMath>
                </a14:m>
                <a:r>
                  <a:rPr lang="en-US" altLang="zh-CN" sz="2400" b="0" i="0" dirty="0">
                    <a:solidFill>
                      <a:srgbClr val="000000"/>
                    </a:solidFill>
                    <a:latin typeface="Times New Roman" pitchFamily="34" charset="0"/>
                    <a:ea typeface="微软雅黑" pitchFamily="34" charset="-122"/>
                    <a:cs typeface="Times New Roman" pitchFamily="34" charset="-120"/>
                  </a:rPr>
                  <a:t>的关系，他通过给小车中增加砝码来改变小车的质量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oMath>
                </a14:m>
                <a:r>
                  <a:rPr lang="en-US" altLang="zh-CN" sz="2400" b="0" i="0" dirty="0">
                    <a:solidFill>
                      <a:srgbClr val="000000"/>
                    </a:solidFill>
                    <a:latin typeface="Times New Roman" pitchFamily="34" charset="0"/>
                    <a:ea typeface="微软雅黑" pitchFamily="34" charset="-122"/>
                    <a:cs typeface="Times New Roman" pitchFamily="34" charset="-120"/>
                  </a:rPr>
                  <a:t>，得到小车的加速度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与质量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oMath>
                </a14:m>
                <a:r>
                  <a:rPr lang="en-US" altLang="zh-CN" sz="2400" b="0" i="0" dirty="0">
                    <a:solidFill>
                      <a:srgbClr val="000000"/>
                    </a:solidFill>
                    <a:latin typeface="Times New Roman" pitchFamily="34" charset="0"/>
                    <a:ea typeface="微软雅黑" pitchFamily="34" charset="-122"/>
                    <a:cs typeface="Times New Roman" pitchFamily="34" charset="-120"/>
                  </a:rPr>
                  <a:t>的数据，画出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𝑀</m:t>
                        </m:r>
                      </m:den>
                    </m:f>
                  </m:oMath>
                </a14:m>
                <a:r>
                  <a:rPr lang="en-US" altLang="zh-CN" sz="2400" b="0" i="0" dirty="0">
                    <a:solidFill>
                      <a:srgbClr val="000000"/>
                    </a:solidFill>
                    <a:latin typeface="Times New Roman" pitchFamily="34" charset="0"/>
                    <a:ea typeface="微软雅黑" pitchFamily="34" charset="-122"/>
                    <a:cs typeface="Times New Roman" pitchFamily="34" charset="-120"/>
                  </a:rPr>
                  <a:t>图线后，发现当</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𝑀</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较大时图线发生弯曲</a:t>
                </a:r>
                <a:r>
                  <a:rPr lang="en-US" altLang="zh-CN" sz="2400" b="0" i="0">
                    <a:solidFill>
                      <a:srgbClr val="000000"/>
                    </a:solidFill>
                    <a:latin typeface="Times New Roman" pitchFamily="34" charset="0"/>
                    <a:ea typeface="微软雅黑" pitchFamily="34" charset="-122"/>
                    <a:cs typeface="Times New Roman" pitchFamily="34" charset="-120"/>
                  </a:rPr>
                  <a:t>，于是该同学又</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对实验方案进行了进一步的修正</a:t>
                </a:r>
                <a:r>
                  <a:rPr lang="en-US" altLang="zh-CN" sz="2400" b="0" i="0" dirty="0">
                    <a:solidFill>
                      <a:srgbClr val="000000"/>
                    </a:solidFill>
                    <a:latin typeface="Times New Roman" pitchFamily="34" charset="0"/>
                    <a:ea typeface="微软雅黑" pitchFamily="34" charset="-122"/>
                    <a:cs typeface="Times New Roman" pitchFamily="34" charset="-120"/>
                  </a:rPr>
                  <a:t>，避免了图线的末端发生弯曲的现象，那么</a:t>
                </a:r>
                <a:r>
                  <a:rPr lang="en-US" altLang="zh-CN" sz="2400" b="0" i="0">
                    <a:solidFill>
                      <a:srgbClr val="000000"/>
                    </a:solidFill>
                    <a:latin typeface="Times New Roman" pitchFamily="34" charset="0"/>
                    <a:ea typeface="微软雅黑" pitchFamily="34" charset="-122"/>
                    <a:cs typeface="Times New Roman" pitchFamily="34" charset="-120"/>
                  </a:rPr>
                  <a:t>，该同学</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的修正方案可能是</a:t>
                </a:r>
                <a:r>
                  <a:rPr lang="en-US" altLang="zh-CN" sz="2400" i="0">
                    <a:solidFill>
                      <a:srgbClr val="000000"/>
                    </a:solidFill>
                    <a:latin typeface="SimSun" pitchFamily="34" charset="0"/>
                    <a:ea typeface="SimSun" pitchFamily="34" charset="-122"/>
                    <a:cs typeface="SimSun" pitchFamily="34" charset="-120"/>
                  </a:rPr>
                  <a:t>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5_BD.33_1#45ad4f05a?vcp=1&amp;pid=e6d04eb90&amp;color=0,0,0&amp;vtp=1&amp;bt=1&amp;bbb=1&amp;hb=1"/>
              <p:cNvSpPr>
                <a:spLocks noRot="1" noChangeAspect="1" noMove="1" noResize="1" noEditPoints="1" noAdjustHandles="1" noChangeArrowheads="1" noChangeShapeType="1" noTextEdit="1"/>
              </p:cNvSpPr>
              <p:nvPr/>
            </p:nvSpPr>
            <p:spPr>
              <a:xfrm>
                <a:off x="393192" y="705898"/>
                <a:ext cx="11402568" cy="2709799"/>
              </a:xfrm>
              <a:prstGeom prst="rect">
                <a:avLst/>
              </a:prstGeom>
              <a:blipFill>
                <a:blip r:embed="rId3"/>
                <a:stretch>
                  <a:fillRect l="-1658" r="-535" b="-6757"/>
                </a:stretch>
              </a:blipFill>
              <a:ln/>
            </p:spPr>
            <p:txBody>
              <a:bodyPr/>
              <a:lstStyle/>
              <a:p>
                <a:r>
                  <a:rPr lang="zh-CN" altLang="en-US">
                    <a:noFill/>
                  </a:rPr>
                  <a:t> </a:t>
                </a:r>
              </a:p>
            </p:txBody>
          </p:sp>
        </mc:Fallback>
      </mc:AlternateContent>
      <p:sp>
        <p:nvSpPr>
          <p:cNvPr id="3" name="QC_5_AN.34_1#45ad4f05a.blank?vcp=1&amp;pid=e6d04eb90&amp;color=0,0,0&amp;vpa=12&amp;vtp=1"/>
          <p:cNvSpPr/>
          <p:nvPr/>
        </p:nvSpPr>
        <p:spPr>
          <a:xfrm>
            <a:off x="2810161" y="2891568"/>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mc:AlternateContent xmlns:mc="http://schemas.openxmlformats.org/markup-compatibility/2006">
        <mc:Choice xmlns:a14="http://schemas.microsoft.com/office/drawing/2010/main" Requires="a14">
          <p:sp>
            <p:nvSpPr>
              <p:cNvPr id="4" name="QC_5_BD.33_2#45ad4f05a.choices?vcp=1&amp;pid=e6d04eb90&amp;color=0,0,0&amp;vtp=1&amp;bbb=1"/>
              <p:cNvSpPr/>
              <p:nvPr/>
            </p:nvSpPr>
            <p:spPr>
              <a:xfrm>
                <a:off x="393192" y="3423379"/>
                <a:ext cx="11402568" cy="1447292"/>
              </a:xfrm>
              <a:prstGeom prst="rect">
                <a:avLst/>
              </a:prstGeom>
              <a:noFill/>
              <a:ln/>
            </p:spPr>
            <p:txBody>
              <a:bodyPr wrap="none" lIns="0" tIns="0" rIns="0" bIns="0" rtlCol="0" anchor="t"/>
              <a:lstStyle/>
              <a:p>
                <a:pPr latinLnBrk="1">
                  <a:lnSpc>
                    <a:spcPts val="58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A.改画</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2400" b="0" i="0">
                    <a:solidFill>
                      <a:srgbClr val="000000"/>
                    </a:solidFill>
                    <a:latin typeface="Times New Roman" pitchFamily="34" charset="0"/>
                    <a:ea typeface="微软雅黑" pitchFamily="34" charset="-122"/>
                    <a:cs typeface="Times New Roman" pitchFamily="34" charset="-120"/>
                  </a:rPr>
                  <a:t>的关系图线</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.改画</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m:t>
                        </m:r>
                      </m:num>
                      <m:den>
                        <m:r>
                          <a:rPr lang="en-US" altLang="zh-CN" sz="2400" b="0" i="0">
                            <a:solidFill>
                              <a:srgbClr val="000000"/>
                            </a:solidFill>
                            <a:latin typeface="Cambria Math" pitchFamily="34" charset="0"/>
                            <a:ea typeface="Cambria Math" pitchFamily="34" charset="-122"/>
                            <a:cs typeface="Cambria Math" pitchFamily="34" charset="-120"/>
                          </a:rPr>
                          <m:t>𝑀</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的关系图线</a:t>
                </a:r>
                <a:endParaRPr lang="en-US" altLang="zh-CN" sz="2400" dirty="0"/>
              </a:p>
              <a:p>
                <a:pPr latinLnBrk="1">
                  <a:lnSpc>
                    <a:spcPts val="61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.改画</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𝑀</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𝑚</m:t>
                        </m:r>
                      </m:den>
                    </m:f>
                  </m:oMath>
                </a14:m>
                <a:r>
                  <a:rPr lang="en-US" altLang="zh-CN" sz="2400" b="0" i="0">
                    <a:solidFill>
                      <a:srgbClr val="000000"/>
                    </a:solidFill>
                    <a:latin typeface="Times New Roman" pitchFamily="34" charset="0"/>
                    <a:ea typeface="微软雅黑" pitchFamily="34" charset="-122"/>
                    <a:cs typeface="Times New Roman" pitchFamily="34" charset="-120"/>
                  </a:rPr>
                  <a:t>的关系图线</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.改画</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𝑀</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𝑚</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的关系图线</a:t>
                </a:r>
                <a:endParaRPr lang="en-US" altLang="zh-CN" sz="2400" dirty="0"/>
              </a:p>
            </p:txBody>
          </p:sp>
        </mc:Choice>
        <mc:Fallback>
          <p:sp>
            <p:nvSpPr>
              <p:cNvPr id="4" name="QC_5_BD.33_2#45ad4f05a.choices?vcp=1&amp;pid=e6d04eb90&amp;color=0,0,0&amp;vtp=1&amp;bbb=1"/>
              <p:cNvSpPr>
                <a:spLocks noRot="1" noChangeAspect="1" noMove="1" noResize="1" noEditPoints="1" noAdjustHandles="1" noChangeArrowheads="1" noChangeShapeType="1" noTextEdit="1"/>
              </p:cNvSpPr>
              <p:nvPr/>
            </p:nvSpPr>
            <p:spPr>
              <a:xfrm>
                <a:off x="393192" y="3423379"/>
                <a:ext cx="11402568" cy="1447292"/>
              </a:xfrm>
              <a:prstGeom prst="rect">
                <a:avLst/>
              </a:prstGeom>
              <a:blipFill>
                <a:blip r:embed="rId4"/>
                <a:stretch>
                  <a:fillRect l="-1658" b="-7173"/>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C_5_AS.35_1#45ad4f05a?vcp=1&amp;pid=e6d04eb90&amp;color=0,0,0&amp;vtp=1&amp;bbb=1&amp;hb=1"/>
              <p:cNvSpPr/>
              <p:nvPr/>
            </p:nvSpPr>
            <p:spPr>
              <a:xfrm>
                <a:off x="393192" y="4871179"/>
                <a:ext cx="11402568" cy="1062800"/>
              </a:xfrm>
              <a:prstGeom prst="rect">
                <a:avLst/>
              </a:prstGeom>
              <a:noFill/>
              <a:ln/>
            </p:spPr>
            <p:txBody>
              <a:bodyPr wrap="none" lIns="0" tIns="0" rIns="0" bIns="0" rtlCol="0" anchor="t"/>
              <a:lstStyle/>
              <a:p>
                <a:pPr algn="l" latinLnBrk="1">
                  <a:lnSpc>
                    <a:spcPts val="46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根据</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m:t>
                    </m:r>
                  </m:oMath>
                </a14:m>
                <a:r>
                  <a:rPr lang="en-US" altLang="zh-CN" sz="2400" b="1" i="0" dirty="0">
                    <a:solidFill>
                      <a:srgbClr val="FF0000"/>
                    </a:solidFill>
                    <a:latin typeface="Times New Roman" pitchFamily="34" charset="0"/>
                    <a:ea typeface="微软雅黑" pitchFamily="34" charset="-122"/>
                    <a:cs typeface="Times New Roman" pitchFamily="34" charset="-120"/>
                  </a:rPr>
                  <a:t>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,所以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图像是一条斜率为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𝒌</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b="1" i="0" kern="0" spc="-99900">
                  <a:solidFill>
                    <a:srgbClr val="FFFFFF"/>
                  </a:solidFill>
                  <a:latin typeface="Times New Roman" pitchFamily="34" charset="0"/>
                  <a:ea typeface="微软雅黑" pitchFamily="34" charset="-122"/>
                  <a:cs typeface="Times New Roman" pitchFamily="34" charset="-120"/>
                </a:endParaRP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的直线</a:t>
                </a:r>
                <a:r>
                  <a:rPr lang="en-US" altLang="zh-CN" sz="2400" b="1" i="0" dirty="0">
                    <a:solidFill>
                      <a:srgbClr val="FF0000"/>
                    </a:solidFill>
                    <a:latin typeface="Times New Roman" pitchFamily="34" charset="0"/>
                    <a:ea typeface="微软雅黑" pitchFamily="34" charset="-122"/>
                    <a:cs typeface="Times New Roman" pitchFamily="34" charset="-120"/>
                  </a:rPr>
                  <a:t>,不会随着</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的变化而产生弯曲，故选C.</a:t>
                </a:r>
                <a:endParaRPr lang="en-US" altLang="zh-CN" sz="2400" dirty="0"/>
              </a:p>
            </p:txBody>
          </p:sp>
        </mc:Choice>
        <mc:Fallback>
          <p:sp>
            <p:nvSpPr>
              <p:cNvPr id="5" name="QC_5_AS.35_1#45ad4f05a?vcp=1&amp;pid=e6d04eb90&amp;color=0,0,0&amp;vtp=1&amp;bbb=1&amp;hb=1"/>
              <p:cNvSpPr>
                <a:spLocks noRot="1" noChangeAspect="1" noMove="1" noResize="1" noEditPoints="1" noAdjustHandles="1" noChangeArrowheads="1" noChangeShapeType="1" noTextEdit="1"/>
              </p:cNvSpPr>
              <p:nvPr/>
            </p:nvSpPr>
            <p:spPr>
              <a:xfrm>
                <a:off x="393192" y="4871179"/>
                <a:ext cx="11402568" cy="1062800"/>
              </a:xfrm>
              <a:prstGeom prst="rect">
                <a:avLst/>
              </a:prstGeom>
              <a:blipFill>
                <a:blip r:embed="rId5"/>
                <a:stretch>
                  <a:fillRect l="-1658" b="-1724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1047</Words>
  <Application>Microsoft Office PowerPoint</Application>
  <PresentationFormat>宽屏</PresentationFormat>
  <Paragraphs>143</Paragraphs>
  <Slides>19</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2026-05-25T07:57:58Z</dcterms:created>
  <dcterms:modified xsi:type="dcterms:W3CDTF">2026-05-25T08:06:39Z</dcterms:modified>
  <cp:category/>
  <cp:contentStatus/>
</cp:coreProperties>
</file>