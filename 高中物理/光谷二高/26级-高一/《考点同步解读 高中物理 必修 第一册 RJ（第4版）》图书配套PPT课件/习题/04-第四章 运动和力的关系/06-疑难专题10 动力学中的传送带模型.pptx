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7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6318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9.xml"/><Relationship Id="rId5" Type="http://schemas.openxmlformats.org/officeDocument/2006/relationships/slide" Target="../slides/slide7.xml"/><Relationship Id="rId4" Type="http://schemas.openxmlformats.org/officeDocument/2006/relationships/slide" Target="../slides/slide5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2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16.xml"/><Relationship Id="rId4" Type="http://schemas.openxmlformats.org/officeDocument/2006/relationships/slide" Target="../slides/slide14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0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9.xml"/><Relationship Id="rId5" Type="http://schemas.openxmlformats.org/officeDocument/2006/relationships/slide" Target="../slides/slide7.xml"/><Relationship Id="rId4" Type="http://schemas.openxmlformats.org/officeDocument/2006/relationships/slide" Target="../slides/slide5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2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16.xml"/><Relationship Id="rId4" Type="http://schemas.openxmlformats.org/officeDocument/2006/relationships/slide" Target="../slides/slide14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0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3a58ca644f0d6f43#tid=6a13f52f736a60ac3496b264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1f4ab335,a1f4ab335,4ea33987d,78dd78fc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0?lid=fdbb68734&amp;amp;cid=fdbb68734&amp;amp;vtp=1">
            <a:hlinkClick r:id="rId3" action="ppaction://hlinksldjump"/>
          </p:cNvPr>
          <p:cNvSpPr/>
          <p:nvPr/>
        </p:nvSpPr>
        <p:spPr>
          <a:xfrm>
            <a:off x="505663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e2596786d&amp;amp;cid=e2596786d&amp;amp;vtp=1">
            <a:hlinkClick r:id="rId4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cd7c031e0&amp;amp;cid=cd7c031e0&amp;amp;vtp=1">
            <a:hlinkClick r:id="rId5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0?lid=d0e713f3d&amp;amp;cid=d0e713f3d&amp;amp;vtp=1">
            <a:hlinkClick r:id="rId6" action="ppaction://hlinksldjump"/>
          </p:cNvPr>
          <p:cNvSpPr/>
          <p:nvPr/>
        </p:nvSpPr>
        <p:spPr>
          <a:xfrm>
            <a:off x="667512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1f4ab335,6d7c25d4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5?lid=9bd7be68a&amp;amp;cid=9bd7be68a&amp;amp;vtp=1">
            <a:hlinkClick r:id="rId3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5?lid=40ab7f56d&amp;amp;cid=40ab7f56d&amp;amp;vtp=1">
            <a:hlinkClick r:id="rId4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5?lid=5ac7e983f&amp;amp;cid=5ac7e983f&amp;amp;vtp=1">
            <a:hlinkClick r:id="rId5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1f4ab335,4750644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9?lid=4f7a35220&amp;amp;cid=4f7a35220&amp;amp;vtp=1">
            <a:hlinkClick r:id="rId3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4ea33987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疑难专题10 动力学中的传送带模型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1f4ab335,a1f4ab335,4ea33987d,78dd78fc3#df=4ea33987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疑难专题10 动力学中的传送带模型</a:t>
            </a:r>
            <a:endParaRPr lang="en-US" sz="1800" dirty="0"/>
          </a:p>
        </p:txBody>
      </p:sp>
      <p:sp>
        <p:nvSpPr>
          <p:cNvPr id="5" name="C_0#auto_editor_catalog_0?lid=fdbb68734&amp;amp;cid=fdbb68734&amp;amp;vtp=1">
            <a:hlinkClick r:id="rId3" action="ppaction://hlinksldjump"/>
          </p:cNvPr>
          <p:cNvSpPr/>
          <p:nvPr/>
        </p:nvSpPr>
        <p:spPr>
          <a:xfrm>
            <a:off x="505663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e2596786d&amp;amp;cid=e2596786d&amp;amp;vtp=1">
            <a:hlinkClick r:id="rId4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cd7c031e0&amp;amp;cid=cd7c031e0&amp;amp;vtp=1">
            <a:hlinkClick r:id="rId5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0?lid=d0e713f3d&amp;amp;cid=d0e713f3d&amp;amp;vtp=1">
            <a:hlinkClick r:id="rId6" action="ppaction://hlinksldjump"/>
          </p:cNvPr>
          <p:cNvSpPr/>
          <p:nvPr/>
        </p:nvSpPr>
        <p:spPr>
          <a:xfrm>
            <a:off x="667512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1f4ab335,6d7c25d4e#df=4ea33987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疑难专题10 动力学中的传送带模型</a:t>
            </a:r>
            <a:endParaRPr lang="en-US" sz="1800" dirty="0"/>
          </a:p>
        </p:txBody>
      </p:sp>
      <p:sp>
        <p:nvSpPr>
          <p:cNvPr id="5" name="C_0#auto_editor_catalog_5?lid=9bd7be68a&amp;amp;cid=9bd7be68a&amp;amp;vtp=1">
            <a:hlinkClick r:id="rId3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5?lid=40ab7f56d&amp;amp;cid=40ab7f56d&amp;amp;vtp=1">
            <a:hlinkClick r:id="rId4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5?lid=5ac7e983f&amp;amp;cid=5ac7e983f&amp;amp;vtp=1">
            <a:hlinkClick r:id="rId5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1f4ab335,475064479#df=4ea33987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疑难专题10 动力学中的传送带模型</a:t>
            </a:r>
            <a:endParaRPr lang="en-US" sz="1800" dirty="0"/>
          </a:p>
        </p:txBody>
      </p:sp>
      <p:sp>
        <p:nvSpPr>
          <p:cNvPr id="5" name="C_0#auto_editor_catalog_9?lid=4f7a35220&amp;amp;cid=4f7a35220&amp;amp;vtp=1">
            <a:hlinkClick r:id="rId3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2#4ea33987d.fixed?vcp=1&amp;pid=a1f4ab335&amp;color=0,112,192&amp;vtp=1&amp;bbb=1"/>
          <p:cNvSpPr/>
          <p:nvPr/>
        </p:nvSpPr>
        <p:spPr>
          <a:xfrm>
            <a:off x="0" y="2157984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第四章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运动和力的关系</a:t>
            </a:r>
            <a:endParaRPr lang="en-US" altLang="zh-CN" sz="4800" dirty="0"/>
          </a:p>
        </p:txBody>
      </p:sp>
      <p:sp>
        <p:nvSpPr>
          <p:cNvPr id="3" name="C_2_BD#4ea33987d.fixed?vcp=1&amp;pid=a1f4ab335&amp;color=0,0,0&amp;vtp=1&amp;bbb=1"/>
          <p:cNvSpPr/>
          <p:nvPr/>
        </p:nvSpPr>
        <p:spPr>
          <a:xfrm>
            <a:off x="265176" y="3602736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疑难专题10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动力学中的传送带模型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78dd78fc3?vcp=1&amp;pid=4ea33987d&amp;color=0,0,0&amp;vtp=1&amp;bt=1&amp;bbb=1"/>
          <p:cNvSpPr/>
          <p:nvPr/>
        </p:nvSpPr>
        <p:spPr>
          <a:xfrm>
            <a:off x="393192" y="502921"/>
            <a:ext cx="11402568" cy="496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基础考点过关练</a:t>
            </a:r>
            <a:endParaRPr lang="en-US" altLang="zh-CN" sz="2600" dirty="0"/>
          </a:p>
        </p:txBody>
      </p:sp>
      <p:sp>
        <p:nvSpPr>
          <p:cNvPr id="3" name="P_4_BD#1dfd9019a?vcp=1&amp;pid=78dd78fc3&amp;color=0,0,0&amp;vtp=1&amp;bbb=1"/>
          <p:cNvSpPr/>
          <p:nvPr/>
        </p:nvSpPr>
        <p:spPr>
          <a:xfrm>
            <a:off x="393192" y="1056897"/>
            <a:ext cx="11402568" cy="45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0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限时20分钟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1_1#fdbb68734?vcp=1&amp;pid=78dd78fc3&amp;color=0,0,0&amp;vtp=1&amp;bbb=1&amp;hb=1"/>
              <p:cNvSpPr/>
              <p:nvPr/>
            </p:nvSpPr>
            <p:spPr>
              <a:xfrm>
                <a:off x="393192" y="1576641"/>
                <a:ext cx="11402568" cy="201764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1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（2026·江西南昌二中检测）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应用于机场和火车站的安全检查仪，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其传送装置可简化为如图所示的模型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.传送带始终保持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的恒定速率运行，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行李与传送带之间的动摩擦因数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μ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=0.2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间的距离为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取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.旅客把行李</a:t>
                </a:r>
              </a:p>
              <a:p>
                <a:pPr latinLnBrk="1">
                  <a:lnSpc>
                    <a:spcPts val="40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可视为质点）无初速度地放在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1_1#fdbb68734?vcp=1&amp;pid=78dd78fc3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76641"/>
                <a:ext cx="11402568" cy="2017649"/>
              </a:xfrm>
              <a:prstGeom prst="rect">
                <a:avLst/>
              </a:prstGeom>
              <a:blipFill>
                <a:blip r:embed="rId3"/>
                <a:stretch>
                  <a:fillRect l="-1658" t="-1208" r="-3904" b="-906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QC_4_BD.1_2#fdbb68734?vcp=1&amp;pid=78dd78fc3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36592" y="3710685"/>
            <a:ext cx="2706624" cy="521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6" name="QC_4_AN.2_1#fdbb68734.bracket?vcp=1&amp;pid=78dd78fc3&amp;color=0,0,0&amp;vpa=1&amp;vtp=1&amp;bbb=1"/>
          <p:cNvSpPr/>
          <p:nvPr/>
        </p:nvSpPr>
        <p:spPr>
          <a:xfrm>
            <a:off x="8493221" y="3135693"/>
            <a:ext cx="661988" cy="45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0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AC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4_BD.1_3#fdbb68734.choices?vcp=1&amp;pid=78dd78fc3&amp;color=0,0,0&amp;vtp=1&amp;bbb=1"/>
              <p:cNvSpPr/>
              <p:nvPr/>
            </p:nvSpPr>
            <p:spPr>
              <a:xfrm>
                <a:off x="393192" y="4371085"/>
                <a:ext cx="11402568" cy="20059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1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A.开始时行李的加速度大小为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.行李经过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到达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</a:t>
                </a:r>
                <a:endParaRPr lang="en-US" altLang="zh-CN" sz="2400" dirty="0"/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.行李到达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处时速度大小为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.行李在传送带上留下的摩擦痕迹长度为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0.08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4_BD.1_3#fdbb68734.choices?vcp=1&amp;pid=78dd78fc3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371085"/>
                <a:ext cx="11402568" cy="2005902"/>
              </a:xfrm>
              <a:prstGeom prst="rect">
                <a:avLst/>
              </a:prstGeom>
              <a:blipFill>
                <a:blip r:embed="rId5"/>
                <a:stretch>
                  <a:fillRect l="-1658" b="-942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3_1#fdbb68734?vcp=1&amp;pid=78dd78fc3&amp;color=0,0,0&amp;vtp=1&amp;bt=1&amp;bbb=1&amp;hb=1"/>
              <p:cNvSpPr/>
              <p:nvPr/>
            </p:nvSpPr>
            <p:spPr>
              <a:xfrm>
                <a:off x="393192" y="1120648"/>
                <a:ext cx="11402568" cy="4441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开始时，对行李分析，根据牛顿第二定律得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正确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；假设行李到达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处前已与传送带共速，设行李做匀加速运动的时间为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，行李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匀加速运动的末速度为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,根据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,代入数据解得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，匀加速运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动的位移大小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,故假设成立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，则行李匀速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运动的时间为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𝟎𝟒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，可得行李从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处到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处的时间为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，B错误；由以上分析可知行李在到达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处前已经与传送带共速，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所以行李到达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处时速度大小为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,C正确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；行李在传送带上留下的摩擦痕迹长度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即为行李与传送带的相对位移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𝟎𝟒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3_1#fdbb68734?vcp=1&amp;pid=78dd78fc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120648"/>
                <a:ext cx="11402568" cy="4441000"/>
              </a:xfrm>
              <a:prstGeom prst="rect">
                <a:avLst/>
              </a:prstGeom>
              <a:blipFill>
                <a:blip r:embed="rId3"/>
                <a:stretch>
                  <a:fillRect l="-1658" r="-4652" b="-412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4_1#e2596786d?vcp=1&amp;pid=78dd78fc3&amp;color=0,0,0&amp;vtp=1&amp;bt=1&amp;bbb=1&amp;hb=1"/>
              <p:cNvSpPr/>
              <p:nvPr/>
            </p:nvSpPr>
            <p:spPr>
              <a:xfrm>
                <a:off x="393192" y="1270858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如图所示，一水平方向的传送带以恒定的速率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顺时针转动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，传送带右侧有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一与传送带等高的光滑水平面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，一物块以初速度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水平向左滑上传送带后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，经过一段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时间又返回右侧光滑水平面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，此时其速率为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4_1#e2596786d?vcp=1&amp;pid=78dd78fc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70858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1176" b="-11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5_1#e2596786d.bracket?vcp=1&amp;pid=78dd78fc3&amp;color=0,0,0&amp;vpa=2&amp;vtp=1"/>
          <p:cNvSpPr/>
          <p:nvPr/>
        </p:nvSpPr>
        <p:spPr>
          <a:xfrm>
            <a:off x="9552401" y="2377027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p:pic>
        <p:nvPicPr>
          <p:cNvPr id="4" name="QC_4_BD.4_2#e2596786d?htil=1&amp;vcp=1&amp;pid=78dd78fc3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37380" y="2910173"/>
            <a:ext cx="3081528" cy="82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4_3#e2596786d.choices?htil=1&amp;vcp=1&amp;pid=78dd78fc3&amp;color=0,0,0&amp;vtp=1&amp;bbb=1&amp;hb=1"/>
              <p:cNvSpPr/>
              <p:nvPr/>
            </p:nvSpPr>
            <p:spPr>
              <a:xfrm>
                <a:off x="393192" y="2864452"/>
                <a:ext cx="8183880" cy="2713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A.速率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有可能大于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也大于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.速率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只可能等于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或者等于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.如果传送带转动速率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减小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，则物块可能从传送带左端滑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落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.如果传送带不转动，则物块可能从传送带左端滑落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4_3#e2596786d.choices?htil=1&amp;vcp=1&amp;pid=78dd78fc3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864452"/>
                <a:ext cx="8183880" cy="2713800"/>
              </a:xfrm>
              <a:prstGeom prst="rect">
                <a:avLst/>
              </a:prstGeom>
              <a:blipFill>
                <a:blip r:embed="rId5"/>
                <a:stretch>
                  <a:fillRect l="-2310" b="-651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6_1#e2596786d?vcp=1&amp;pid=78dd78fc3&amp;color=0,0,0&amp;vtp=1&amp;bt=1&amp;bbb=1&amp;hb=1"/>
              <p:cNvSpPr/>
              <p:nvPr/>
            </p:nvSpPr>
            <p:spPr>
              <a:xfrm>
                <a:off x="393192" y="909352"/>
                <a:ext cx="11402568" cy="5101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物块滑上传送带后受到向右的滑动摩擦力，根据牛顿第二定律得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物块加速度为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，由于物块经过一段时间又返回到右侧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，则物块先向左做匀减速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直线运动后向右做匀加速直线运动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，设物块返回到右侧水平面时的速度为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，若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，返回过程物块一直匀加速到水平面，则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，返回过程中物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块加速到速度等于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后，匀速运动到右侧水平面，则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，A错误，B正确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.物块受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到向右的滑动摩擦力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，则物块向左做匀减速直线运动，当速度减到0时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，向左运动的</a:t>
                </a:r>
              </a:p>
              <a:p>
                <a:pPr latinLnBrk="1">
                  <a:lnSpc>
                    <a:spcPts val="5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距离最远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，最远距离为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b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𝒈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≤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传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，由此可知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，物块向左运动的距离与传送带的速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率无关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，如果传送带不转动，物块减速到0之后不再受摩擦力，会静止在传送带上，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C、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6_1#e2596786d?vcp=1&amp;pid=78dd78fc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09352"/>
                <a:ext cx="11402568" cy="5101400"/>
              </a:xfrm>
              <a:prstGeom prst="rect">
                <a:avLst/>
              </a:prstGeom>
              <a:blipFill>
                <a:blip r:embed="rId3"/>
                <a:stretch>
                  <a:fillRect l="-1658" r="-3797" b="-358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7_1#cd7c031e0?vcp=1&amp;pid=78dd78fc3&amp;color=0,0,0&amp;vtp=1&amp;bt=1&amp;bbb=1&amp;hb=1"/>
              <p:cNvSpPr/>
              <p:nvPr/>
            </p:nvSpPr>
            <p:spPr>
              <a:xfrm>
                <a:off x="393192" y="927418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（2026·浙江金华一中检测）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如图甲所示，水平传送带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沿顺时针方向运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，零时刻将一个质量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的物块轻放在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末恰好运动到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处，物块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的速度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-时间图像如图乙所示，物块可视为质点，重力加速度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7_1#cd7c031e0?vcp=1&amp;pid=78dd78fc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27418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1283" b="-1187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8_1#cd7c031e0.bracket?vcp=1&amp;pid=78dd78fc3&amp;color=0,0,0&amp;vpa=3&amp;vtp=1"/>
          <p:cNvSpPr/>
          <p:nvPr/>
        </p:nvSpPr>
        <p:spPr>
          <a:xfrm>
            <a:off x="10950797" y="2033588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p:pic>
        <p:nvPicPr>
          <p:cNvPr id="4" name="QC_4_BD.7_2#cd7c031e0?vcp=1&amp;pid=78dd78fc3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86200" y="2648014"/>
            <a:ext cx="4425696" cy="2103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7_3#cd7c031e0.choices?vcp=1&amp;pid=78dd78fc3&amp;color=0,0,0&amp;vtp=1&amp;bbb=1"/>
              <p:cNvSpPr/>
              <p:nvPr/>
            </p:nvSpPr>
            <p:spPr>
              <a:xfrm>
                <a:off x="393192" y="4883214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间的距离为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.物块相对于传送带滑动的距离为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.物块运动的位移大小是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.物块与传送带之间的动摩擦因数为0.2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7_3#cd7c031e0.choices?vcp=1&amp;pid=78dd78fc3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883214"/>
                <a:ext cx="11402568" cy="1033399"/>
              </a:xfrm>
              <a:prstGeom prst="rect">
                <a:avLst/>
              </a:prstGeom>
              <a:blipFill>
                <a:blip r:embed="rId5"/>
                <a:stretch>
                  <a:fillRect l="-1658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9_1#cd7c031e0?vcp=1&amp;pid=78dd78fc3&amp;color=0,0,0&amp;vtp=1&amp;bt=1&amp;bbb=1&amp;hb=1"/>
              <p:cNvSpPr/>
              <p:nvPr/>
            </p:nvSpPr>
            <p:spPr>
              <a:xfrm>
                <a:off x="393192" y="1671923"/>
                <a:ext cx="11402568" cy="33361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图线与横轴围成的面积表示位移，由题图乙可知，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内物块的位移</a:t>
                </a:r>
              </a:p>
              <a:p>
                <a:pPr latinLnBrk="1">
                  <a:lnSpc>
                    <a:spcPts val="4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大小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)×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,而A、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间的距离等于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内物块位移大小，A、C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错误；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由题图乙可知传送带的速度大小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内传送带转过的距离为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𝒔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，物块相对于传送带滑动的距离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𝒔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，B正确；由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1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图线的斜率表示加速度可知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，物块的加速度大小为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由牛顿第二定律，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9_1#cd7c031e0?vcp=1&amp;pid=78dd78fc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71923"/>
                <a:ext cx="11402568" cy="3336100"/>
              </a:xfrm>
              <a:prstGeom prst="rect">
                <a:avLst/>
              </a:prstGeom>
              <a:blipFill>
                <a:blip r:embed="rId3"/>
                <a:stretch>
                  <a:fillRect l="-1658" r="-4064" b="-529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0_1#d0e713f3d?vcp=1&amp;pid=78dd78fc3&amp;color=0,0,0&amp;vtp=1&amp;bt=1&amp;bbb=1&amp;hb=1"/>
              <p:cNvSpPr/>
              <p:nvPr/>
            </p:nvSpPr>
            <p:spPr>
              <a:xfrm>
                <a:off x="393192" y="886841"/>
                <a:ext cx="11402568" cy="27097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4.</a:t>
                </a:r>
                <a:r>
                  <a:rPr lang="en-US" altLang="zh-CN" sz="900" b="0" i="0" kern="0">
                    <a:solidFill>
                      <a:srgbClr val="FFFFFF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            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（2026·安徽淮北一中检测）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（多选题）如图所示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，一倾斜传送带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与水平面的夹角为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37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，以速度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顺时针匀速转动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.一煤块以初速度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自传送带的底端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点沿传送带方向冲上传送带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，一段时间后运动到传送带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顶端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点.已知煤块与传送带之间的动摩擦因数为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0.5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距离为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2.8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37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=0.6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cos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37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=0.8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,重力加速度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取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,则煤块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）.(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0_1#d0e713f3d?vcp=1&amp;pid=78dd78fc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886841"/>
                <a:ext cx="11402568" cy="2709799"/>
              </a:xfrm>
              <a:prstGeom prst="rect">
                <a:avLst/>
              </a:prstGeom>
              <a:blipFill>
                <a:blip r:embed="rId3"/>
                <a:stretch>
                  <a:fillRect l="-1658" b="-67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C_4_BD.10_1#d0e713f3d?vcp=1&amp;pid=78dd78fc3&amp;color=0,0,0&amp;tib=255,255,255&amp;iip=1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7539" y="1014857"/>
            <a:ext cx="960120" cy="292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4" name="QC_4_AN.11_1#d0e713f3d.bracket?vcp=1&amp;pid=78dd78fc3&amp;color=0,0,0&amp;vpa=4&amp;vtp=1&amp;bbb=1"/>
          <p:cNvSpPr/>
          <p:nvPr/>
        </p:nvSpPr>
        <p:spPr>
          <a:xfrm>
            <a:off x="7440771" y="3110611"/>
            <a:ext cx="6445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BD</a:t>
            </a:r>
            <a:endParaRPr lang="en-US" altLang="zh-CN" sz="2400" dirty="0"/>
          </a:p>
        </p:txBody>
      </p:sp>
      <p:pic>
        <p:nvPicPr>
          <p:cNvPr id="5" name="QC_4_BD.10_2#d0e713f3d?htil=2&amp;vcp=1&amp;pid=78dd78fc3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895202" y="3627501"/>
            <a:ext cx="2295144" cy="1490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4_BD.10_3#d0e713f3d.choices?htil=2&amp;vcp=1&amp;pid=78dd78fc3&amp;color=0,0,0&amp;vtp=1&amp;bbb=1"/>
              <p:cNvSpPr/>
              <p:nvPr/>
            </p:nvSpPr>
            <p:spPr>
              <a:xfrm>
                <a:off x="393192" y="3572637"/>
                <a:ext cx="8970264" cy="21583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A.刚冲上传送带时的加速度大小为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.运动到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点时的速度大小为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点运动到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点所用时间为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13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15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点运动到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点的过程中在传送带上留下的痕迹长为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4_BD.10_3#d0e713f3d.choices?htil=2&amp;vcp=1&amp;pid=78dd78fc3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572637"/>
                <a:ext cx="8970264" cy="2158302"/>
              </a:xfrm>
              <a:prstGeom prst="rect">
                <a:avLst/>
              </a:prstGeom>
              <a:blipFill>
                <a:blip r:embed="rId6"/>
                <a:stretch>
                  <a:fillRect l="-2107" b="-87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2_1#d0e713f3d?vcp=1&amp;pid=78dd78fc3&amp;color=0,0,0&amp;vtp=1&amp;bt=1&amp;bbb=1&amp;hb=1"/>
              <p:cNvSpPr/>
              <p:nvPr/>
            </p:nvSpPr>
            <p:spPr>
              <a:xfrm>
                <a:off x="393192" y="689673"/>
                <a:ext cx="11402568" cy="5334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煤块刚冲上传送带时，运动方向沿斜面方向向上，取沿斜面向下为正方向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</a:t>
                </a:r>
              </a:p>
              <a:p>
                <a:pPr latinLnBrk="1">
                  <a:lnSpc>
                    <a:spcPts val="45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据牛顿第二定律列式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，代入数据解得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故A</a:t>
                </a:r>
              </a:p>
              <a:p>
                <a:pPr latinLnBrk="1">
                  <a:lnSpc>
                    <a:spcPts val="5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错误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；煤块和传送带共速时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b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𝟓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×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𝟏𝟎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，煤块匀减速运动的时间为</a:t>
                </a:r>
              </a:p>
              <a:p>
                <a:pPr latinLnBrk="1">
                  <a:lnSpc>
                    <a:spcPts val="47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𝟏𝟎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，当煤块和传送带共速时，由于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所以煤块匀减速上升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，加速度大小为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𝐬𝐢𝐧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𝐜𝐨𝐬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，代入数据解得</a:t>
                </a:r>
              </a:p>
              <a:p>
                <a:pPr latinLnBrk="1">
                  <a:lnSpc>
                    <a:spcPts val="45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/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en-US" sz="2400" b="1" i="0" kern="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匀减速运动的最大距离为</a:t>
                </a:r>
              </a:p>
              <a:p>
                <a:pPr latinLnBrk="1">
                  <a:lnSpc>
                    <a:spcPts val="51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×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，故煤块一直匀减速上升到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点，根据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，代入数据解得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（舍去），运动到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的速度大小为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的运动时间</a:t>
                </a:r>
              </a:p>
              <a:p>
                <a:pPr latinLnBrk="1">
                  <a:lnSpc>
                    <a:spcPct val="150000"/>
                  </a:lnSpc>
                </a:pPr>
                <a:endParaRPr lang="en-US" altLang="zh-CN" sz="2400" dirty="0"/>
              </a:p>
            </p:txBody>
          </p:sp>
        </mc:Choice>
        <mc:Fallback>
          <p:sp>
            <p:nvSpPr>
              <p:cNvPr id="2" name="QC_4_AS.12_1#d0e713f3d?vcp=1&amp;pid=78dd78fc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689673"/>
                <a:ext cx="11402568" cy="5334000"/>
              </a:xfrm>
              <a:prstGeom prst="rect">
                <a:avLst/>
              </a:prstGeom>
              <a:blipFill>
                <a:blip r:embed="rId3"/>
                <a:stretch>
                  <a:fillRect l="-1658" r="-1444" b="-228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2_1#d0e713f3d?vcp=1&amp;pid=78dd78fc3&amp;color=0,0,0&amp;vtp=1&amp;bt=1&amp;bbb=1&amp;hb=1">
                <a:extLst>
                  <a:ext uri="{FF2B5EF4-FFF2-40B4-BE49-F238E27FC236}">
                    <a16:creationId xmlns:a16="http://schemas.microsoft.com/office/drawing/2014/main" id="{29F803B6-6ADD-7B55-7D0D-23D9751A4832}"/>
                  </a:ext>
                </a:extLst>
              </p:cNvPr>
              <p:cNvSpPr/>
              <p:nvPr/>
            </p:nvSpPr>
            <p:spPr>
              <a:xfrm>
                <a:off x="393192" y="1812385"/>
                <a:ext cx="11402568" cy="3272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，故B正确，C错误；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内传送带的位移为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,前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煤块相对于传送带向上运动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，煤块在传送带上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留下的痕迹为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煤块相对于传送带向下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运动，煤块在传送带上留下的痕迹为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，划痕之间相互覆盖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，所以煤块在传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送带上留下的痕迹为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2_1#d0e713f3d?vcp=1&amp;pid=78dd78fc3&amp;color=0,0,0&amp;vtp=1&amp;bt=1&amp;bbb=1&amp;hb=1">
                <a:extLst>
                  <a:ext uri="{FF2B5EF4-FFF2-40B4-BE49-F238E27FC236}">
                    <a16:creationId xmlns:a16="http://schemas.microsoft.com/office/drawing/2014/main" id="{29F803B6-6ADD-7B55-7D0D-23D9751A48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812385"/>
                <a:ext cx="11402568" cy="3272600"/>
              </a:xfrm>
              <a:prstGeom prst="rect">
                <a:avLst/>
              </a:prstGeom>
              <a:blipFill>
                <a:blip r:embed="rId2"/>
                <a:stretch>
                  <a:fillRect l="-1658" r="-1551" b="-558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6840305"/>
      </p:ext>
    </p:extLst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6d7c25d4e?vcp=1&amp;pid=4ea33987d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能力考点提升练</a:t>
            </a:r>
            <a:endParaRPr lang="en-US" altLang="zh-CN" sz="2600" dirty="0"/>
          </a:p>
        </p:txBody>
      </p:sp>
      <p:sp>
        <p:nvSpPr>
          <p:cNvPr id="3" name="P_4_BD#cf4f6ce27?vcp=1&amp;pid=6d7c25d4e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限时20分钟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13_1#9bd7be68a?vcp=1&amp;pid=6d7c25d4e&amp;color=0,0,0&amp;vtp=1&amp;bbb=1&amp;hb=1"/>
              <p:cNvSpPr/>
              <p:nvPr/>
            </p:nvSpPr>
            <p:spPr>
              <a:xfrm>
                <a:off x="393192" y="1649285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（2026·湖北黄石二中检测）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（多选题）如图所示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，飞机场运输行李的传送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带保持恒定的速率运行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，将行李箱无初速度地放在传送带底端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，传送带将它送入飞机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货舱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.滑动摩擦力等于最大静摩擦力，则下列关于此过程中行李箱的速度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摩擦力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𝑓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、位移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随时间变化的图像可能正确的有(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13_1#9bd7be68a?vcp=1&amp;pid=6d7c25d4e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49285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1658" b="-880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QC_4_AN.14_1#9bd7be68a.bracket?vcp=1&amp;pid=6d7c25d4e&amp;color=0,0,0&amp;vpa=5&amp;vtp=1&amp;bbb=1"/>
          <p:cNvSpPr/>
          <p:nvPr/>
        </p:nvSpPr>
        <p:spPr>
          <a:xfrm>
            <a:off x="7120922" y="3314255"/>
            <a:ext cx="661988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AC</a:t>
            </a:r>
            <a:endParaRPr lang="en-US" altLang="zh-CN" sz="2400" dirty="0"/>
          </a:p>
        </p:txBody>
      </p:sp>
      <p:pic>
        <p:nvPicPr>
          <p:cNvPr id="6" name="QC_4_BD.13_2#9bd7be68a?htil=3&amp;vcp=1&amp;pid=6d7c25d4e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30723" y="3960495"/>
            <a:ext cx="2560320" cy="1755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7" name="QC_4_BD.13_3#9bd7be68a.choices?htil=3&amp;vcp=1&amp;pid=6d7c25d4e&amp;color=0,0,0&amp;vtp=1&amp;bbb=1"/>
          <p:cNvSpPr/>
          <p:nvPr/>
        </p:nvSpPr>
        <p:spPr>
          <a:xfrm>
            <a:off x="393192" y="3914775"/>
            <a:ext cx="8705088" cy="1834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atinLnBrk="1">
              <a:lnSpc>
                <a:spcPts val="16400"/>
              </a:lnSpc>
              <a:tabLst>
                <a:tab pos="2242947" algn="l"/>
                <a:tab pos="4460494" algn="l"/>
                <a:tab pos="6678041" algn="l"/>
              </a:tabLst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</a:t>
            </a:r>
            <a:r>
              <a:rPr lang="en-US" altLang="zh-CN" sz="865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    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B.</a:t>
            </a:r>
            <a:r>
              <a:rPr lang="en-US" altLang="zh-CN" sz="865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    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C.</a:t>
            </a:r>
            <a:r>
              <a:rPr lang="en-US" altLang="zh-CN" sz="910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    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D.</a:t>
            </a:r>
            <a:r>
              <a:rPr lang="en-US" altLang="zh-CN" sz="915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    </a:t>
            </a:r>
            <a:endParaRPr lang="en-US" altLang="zh-CN" sz="900" dirty="0">
              <a:latin typeface="SimSun" panose="02010600030101010101" pitchFamily="2" charset="-122"/>
            </a:endParaRPr>
          </a:p>
        </p:txBody>
      </p:sp>
      <p:pic>
        <p:nvPicPr>
          <p:cNvPr id="8" name="QC_4_BD.13_3#9bd7be68a.choice_image?htil=3&amp;vcp=1&amp;pid=6d7c25d4e&amp;color=0,0,0&amp;tib=255,255,255&amp;iip=2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0373" y="4018534"/>
            <a:ext cx="1636776" cy="1737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9" name="QC_4_BD.13_3#9bd7be68a.choice_image?htil=3&amp;vcp=1&amp;pid=6d7c25d4e&amp;color=0,0,0&amp;tib=255,255,255&amp;iip=3&amp;vtp=1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25731" y="4018534"/>
            <a:ext cx="1636776" cy="1737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10" name="QC_4_BD.13_3#9bd7be68a.choice_image?htil=3&amp;vcp=1&amp;pid=6d7c25d4e&amp;color=0,0,0&amp;tib=255,255,255&amp;iip=4&amp;vtp=1" descr="preencoded.png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43151" y="3927094"/>
            <a:ext cx="1636776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11" name="QC_4_BD.13_3#9bd7be68a.choice_image?htil=3&amp;vcp=1&amp;pid=6d7c25d4e&amp;color=0,0,0&amp;tib=255,255,255&amp;iip=5&amp;vtp=1" descr="preencoded.png"/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378669" y="3917950"/>
            <a:ext cx="1636776" cy="1837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5_1#9bd7be68a?vcp=1&amp;pid=6d7c25d4e&amp;color=0,0,0&amp;vtp=1&amp;bt=1&amp;bbb=1&amp;hb=1"/>
              <p:cNvSpPr/>
              <p:nvPr/>
            </p:nvSpPr>
            <p:spPr>
              <a:xfrm>
                <a:off x="393192" y="2086705"/>
                <a:ext cx="11402568" cy="2713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行李箱先沿传送带向上做匀加速运动，此时的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图像是倾斜的直线，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1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图像为曲线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图像是平行于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轴的直线；当行李箱与传送带共速后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，行李箱做匀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速运动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，此时的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图像是平行于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轴的直线，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图像是倾斜的直线，加速度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则选项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A正确，B、D错误.行李箱加速时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，传送带对行李箱的摩擦力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，匀速时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，则C正确.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5_1#9bd7be68a?vcp=1&amp;pid=6d7c25d4e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86705"/>
                <a:ext cx="11402568" cy="2713800"/>
              </a:xfrm>
              <a:prstGeom prst="rect">
                <a:avLst/>
              </a:prstGeom>
              <a:blipFill>
                <a:blip r:embed="rId3"/>
                <a:stretch>
                  <a:fillRect l="-1658" r="-4171" b="-67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&amp;si=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6_1#40ab7f56d?vcp=1&amp;pid=6d7c25d4e&amp;color=0,0,0&amp;vtp=1&amp;bt=1&amp;bbb=1&amp;hb=1"/>
              <p:cNvSpPr/>
              <p:nvPr/>
            </p:nvSpPr>
            <p:spPr>
              <a:xfrm>
                <a:off x="393192" y="1002189"/>
                <a:ext cx="11402568" cy="27097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（2026·华中师大一附中检测）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（多选题）如图所示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，与水平面夹角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37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的传送带正以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的速度沿顺时针方向匀速运行，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两端相距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𝑙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.现每隔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把质量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的工件（可视为质点）轻放在传送带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端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，在传送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带的带动下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，工件向上运动，工件与传送带间的动摩擦因数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μ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=0.8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37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=0.6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取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6_1#40ab7f56d?vcp=1&amp;pid=6d7c25d4e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02189"/>
                <a:ext cx="11402568" cy="2709799"/>
              </a:xfrm>
              <a:prstGeom prst="rect">
                <a:avLst/>
              </a:prstGeom>
              <a:blipFill>
                <a:blip r:embed="rId3"/>
                <a:stretch>
                  <a:fillRect l="-1658" r="-160" b="-67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7_1#40ab7f56d.bracket?vcp=1&amp;pid=6d7c25d4e&amp;color=0,0,0&amp;vpa=6&amp;vtp=1&amp;bbb=1"/>
          <p:cNvSpPr/>
          <p:nvPr/>
        </p:nvSpPr>
        <p:spPr>
          <a:xfrm>
            <a:off x="4292949" y="3225959"/>
            <a:ext cx="6445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BD</a:t>
            </a:r>
            <a:endParaRPr lang="en-US" altLang="zh-CN" sz="2400" dirty="0"/>
          </a:p>
        </p:txBody>
      </p:sp>
      <p:pic>
        <p:nvPicPr>
          <p:cNvPr id="4" name="QC_4_BD.16_2#40ab7f56d?htil=4&amp;vcp=1&amp;pid=6d7c25d4e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377200" y="3742848"/>
            <a:ext cx="2267712" cy="1691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6_3#40ab7f56d.choices?htil=4&amp;vcp=1&amp;pid=6d7c25d4e&amp;color=0,0,0&amp;vtp=1&amp;bbb=1"/>
              <p:cNvSpPr/>
              <p:nvPr/>
            </p:nvSpPr>
            <p:spPr>
              <a:xfrm>
                <a:off x="393192" y="3687984"/>
                <a:ext cx="9006840" cy="21583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A.工件在传送带上时，先受到向上的摩擦力，后不受摩擦力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.两个工件间的最小距离为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.传送带上始终有8个工件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.传送带满载时与空载时相比，电机对传送带的牵引力增大了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6_3#40ab7f56d.choices?htil=4&amp;vcp=1&amp;pid=6d7c25d4e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687984"/>
                <a:ext cx="9006840" cy="2158302"/>
              </a:xfrm>
              <a:prstGeom prst="rect">
                <a:avLst/>
              </a:prstGeom>
              <a:blipFill>
                <a:blip r:embed="rId5"/>
                <a:stretch>
                  <a:fillRect l="-2099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&amp;si=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8_1#40ab7f56d?vcp=1&amp;pid=6d7c25d4e&amp;color=0,0,0&amp;vtp=1&amp;bt=1&amp;bbb=1&amp;hb=1"/>
              <p:cNvSpPr/>
              <p:nvPr/>
            </p:nvSpPr>
            <p:spPr>
              <a:xfrm>
                <a:off x="393192" y="502921"/>
                <a:ext cx="11402568" cy="589762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2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将工件放上传送带后的加速度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𝐜𝐨𝐬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𝐬𝐢𝐧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，假设工件在到</a:t>
                </a:r>
              </a:p>
              <a:p>
                <a:pPr latinLnBrk="1">
                  <a:lnSpc>
                    <a:spcPts val="47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端前已与传送带共速，经过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时间与传送带速度相等，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,运动距离</a:t>
                </a:r>
              </a:p>
              <a:p>
                <a:pPr latinLnBrk="1">
                  <a:lnSpc>
                    <a:spcPts val="47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,假设成立，由于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，所以有</a:t>
                </a:r>
              </a:p>
              <a:p>
                <a:pPr latinLnBrk="1">
                  <a:lnSpc>
                    <a:spcPts val="35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,故工件与传送带共速后与传送带保持相对静止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，在静摩</a:t>
                </a:r>
              </a:p>
              <a:p>
                <a:pPr latinLnBrk="1">
                  <a:lnSpc>
                    <a:spcPts val="35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擦力作用下做匀速直线运动到达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端,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，此时工件受</a:t>
                </a:r>
              </a:p>
              <a:p>
                <a:pPr latinLnBrk="1">
                  <a:lnSpc>
                    <a:spcPts val="35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到的摩擦力为静摩擦力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，A错误；刚放上去时，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工件距前一个工件的距离最小，</a:t>
                </a:r>
              </a:p>
              <a:p>
                <a:pPr latinLnBrk="1">
                  <a:lnSpc>
                    <a:spcPts val="51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,B正确；每个工件在传送带上的运动时间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𝟕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35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当第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𝒏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个工件刚到达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端时，第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个工件已经在传送带上运动了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，下一时刻第</a:t>
                </a:r>
              </a:p>
              <a:p>
                <a:pPr latinLnBrk="1">
                  <a:lnSpc>
                    <a:spcPts val="35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𝒏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个工件从传送带上离开，而第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个工件还未放上传送带，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此刻传送带上就只有7</a:t>
                </a:r>
              </a:p>
              <a:p>
                <a:pPr latinLnBrk="1">
                  <a:lnSpc>
                    <a:spcPts val="35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个工件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，C错误；结合以上分析可知传送带上满载时，有5个工件在传送带上滑动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，有</a:t>
                </a:r>
              </a:p>
              <a:p>
                <a:pPr latinLnBrk="1">
                  <a:lnSpc>
                    <a:spcPts val="35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个工件相对传送带静止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，传送带受到的摩擦力</a:t>
                </a:r>
              </a:p>
              <a:p>
                <a:pPr latinLnBrk="1">
                  <a:lnSpc>
                    <a:spcPts val="3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总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，故电机对传送带的牵引力增大了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8_1#40ab7f56d?vcp=1&amp;pid=6d7c25d4e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2921"/>
                <a:ext cx="11402568" cy="5897626"/>
              </a:xfrm>
              <a:prstGeom prst="rect">
                <a:avLst/>
              </a:prstGeom>
              <a:blipFill>
                <a:blip r:embed="rId3"/>
                <a:stretch>
                  <a:fillRect l="-1658" t="-207" r="-2995" b="-289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&amp;si=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4_BD.19_1#5ac7e983f?vcp=1&amp;pid=6d7c25d4e&amp;color=0,0,0&amp;vtp=1&amp;bt=1&amp;bbb=1&amp;hb=1"/>
              <p:cNvSpPr/>
              <p:nvPr/>
            </p:nvSpPr>
            <p:spPr>
              <a:xfrm>
                <a:off x="393192" y="1093978"/>
                <a:ext cx="11402568" cy="327202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考点1、2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（2026·湖北荆州中学检测）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如图是某输送线的简化示意图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，它由两条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传送带组成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，水平部分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的长度为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𝐿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,倾斜部分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𝐶𝐷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与水平地面的夹角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37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长度为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𝐿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的速率顺时针匀速运转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，将一可视为质点的小物块无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初速度放在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端，经过时间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到达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端后，速度大小不变地到达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端，继续沿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𝐶𝐷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部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分运动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.小物块与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间的动摩擦因数为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𝐶𝐷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间的动摩擦因数为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=0.5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,重力加速度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取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37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=0.6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cos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37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=0.8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4_BD.19_1#5ac7e983f?vcp=1&amp;pid=6d7c25d4e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93978"/>
                <a:ext cx="11402568" cy="3272028"/>
              </a:xfrm>
              <a:prstGeom prst="rect">
                <a:avLst/>
              </a:prstGeom>
              <a:blipFill>
                <a:blip r:embed="rId3"/>
                <a:stretch>
                  <a:fillRect l="-1658" r="-1711" b="-558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O_4_BD.19_2#5ac7e983f?vcp=1&amp;pid=6d7c25d4e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98264" y="4465574"/>
            <a:ext cx="3392424" cy="1298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&amp;si=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5_BD.20_1#b46701182?vcp=1&amp;pid=5ac7e983f&amp;color=0,0,0&amp;vtp=1&amp;bt=1&amp;bbb=1"/>
              <p:cNvSpPr/>
              <p:nvPr/>
            </p:nvSpPr>
            <p:spPr>
              <a:xfrm>
                <a:off x="393192" y="1056322"/>
                <a:ext cx="11402568" cy="488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（1）求小物块与传送带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间的动摩擦因数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5_BD.20_1#b46701182?vcp=1&amp;pid=5ac7e983f&amp;color=0,0,0&amp;vtp=1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56322"/>
                <a:ext cx="11402568" cy="488125"/>
              </a:xfrm>
              <a:prstGeom prst="rect">
                <a:avLst/>
              </a:prstGeom>
              <a:blipFill>
                <a:blip r:embed="rId3"/>
                <a:stretch>
                  <a:fillRect l="-1658" b="-375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5_AN.21_1#b46701182?vcp=1&amp;pid=5ac7e983f&amp;color=0,0,0&amp;vtp=1&amp;bbb=1&amp;hb=1"/>
              <p:cNvSpPr/>
              <p:nvPr/>
            </p:nvSpPr>
            <p:spPr>
              <a:xfrm>
                <a:off x="393192" y="1555813"/>
                <a:ext cx="11402568" cy="38695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[答案]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若物块在水平传送带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上一直匀加速运动，则有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𝒔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加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所以小物块在水平传送带上应是先匀加速后匀速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，设匀加速时间为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，则有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小物块匀加速运动的加速度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根据牛顿第二定律有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5_AN.21_1#b46701182?vcp=1&amp;pid=5ac7e983f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55813"/>
                <a:ext cx="11402568" cy="3869500"/>
              </a:xfrm>
              <a:prstGeom prst="rect">
                <a:avLst/>
              </a:prstGeom>
              <a:blipFill>
                <a:blip r:embed="rId4"/>
                <a:stretch>
                  <a:fillRect l="-1658" b="-472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&amp;si=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5_BD.22_1#50c78253b?vcp=1&amp;pid=5ac7e983f&amp;color=0,0,0&amp;vtp=1&amp;bt=1&amp;bbb=1"/>
              <p:cNvSpPr/>
              <p:nvPr/>
            </p:nvSpPr>
            <p:spPr>
              <a:xfrm>
                <a:off x="393192" y="2281682"/>
                <a:ext cx="11402568" cy="488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（2）求小物块在传送带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上留下的划痕长度.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5_BD.22_1#50c78253b?vcp=1&amp;pid=5ac7e983f&amp;color=0,0,0&amp;vtp=1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281682"/>
                <a:ext cx="11402568" cy="488125"/>
              </a:xfrm>
              <a:prstGeom prst="rect">
                <a:avLst/>
              </a:prstGeom>
              <a:blipFill>
                <a:blip r:embed="rId3"/>
                <a:stretch>
                  <a:fillRect l="-1658" b="-375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5_AN.23_1#50c78253b?vcp=1&amp;pid=5ac7e983f&amp;color=0,0,0&amp;vtp=1&amp;bbb=1"/>
              <p:cNvSpPr/>
              <p:nvPr/>
            </p:nvSpPr>
            <p:spPr>
              <a:xfrm>
                <a:off x="393192" y="2781173"/>
                <a:ext cx="11402568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[答案]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小物块匀加速位移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传送带这段时间位移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则划痕长度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5_AN.23_1#50c78253b?vcp=1&amp;pid=5ac7e983f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781173"/>
                <a:ext cx="11402568" cy="1596200"/>
              </a:xfrm>
              <a:prstGeom prst="rect">
                <a:avLst/>
              </a:prstGeom>
              <a:blipFill>
                <a:blip r:embed="rId4"/>
                <a:stretch>
                  <a:fillRect l="-1658" b="-11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&amp;si=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5_BD.24_1#4ea06586d?vcp=1&amp;pid=5ac7e983f&amp;color=0,0,0&amp;vtp=1&amp;bt=1&amp;bbb=1"/>
              <p:cNvSpPr/>
              <p:nvPr/>
            </p:nvSpPr>
            <p:spPr>
              <a:xfrm>
                <a:off x="393192" y="896778"/>
                <a:ext cx="11402568" cy="488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（3）若要使小物块能被传送到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𝐷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端,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𝐶𝐷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部分顺时针运转的最小速度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为多大？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5_BD.24_1#4ea06586d?vcp=1&amp;pid=5ac7e983f&amp;color=0,0,0&amp;vtp=1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896778"/>
                <a:ext cx="11402568" cy="488125"/>
              </a:xfrm>
              <a:prstGeom prst="rect">
                <a:avLst/>
              </a:prstGeom>
              <a:blipFill>
                <a:blip r:embed="rId3"/>
                <a:stretch>
                  <a:fillRect l="-1658" b="-375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5_AN.25_1#4ea06586d?vcp=1&amp;pid=5ac7e983f&amp;color=0,0,0&amp;vtp=1&amp;bbb=1&amp;hb=1"/>
              <p:cNvSpPr/>
              <p:nvPr/>
            </p:nvSpPr>
            <p:spPr>
              <a:xfrm>
                <a:off x="393192" y="1396269"/>
                <a:ext cx="11402568" cy="4542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[答案]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𝑪𝑫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部分顺时针运转的速度最小时，小物块到达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𝑫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端的速度恰好为0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，所受的摩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擦力沿传送带先向下后向上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，设做匀减速运动的加速度大小先为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后为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,根据牛顿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第二定律有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𝟑𝟕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𝟑𝟕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𝟑𝟕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𝟑𝟕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5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由运动学公式得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b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  <a:cs typeface="Cambria Math" pitchFamily="34" charset="-120"/>
                              </a:rPr>
                            </m:ctrlPr>
                          </m:sSub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b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b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5_AN.25_1#4ea06586d?vcp=1&amp;pid=5ac7e983f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396269"/>
                <a:ext cx="11402568" cy="4542600"/>
              </a:xfrm>
              <a:prstGeom prst="rect">
                <a:avLst/>
              </a:prstGeom>
              <a:blipFill>
                <a:blip r:embed="rId4"/>
                <a:stretch>
                  <a:fillRect l="-1658" r="-53" b="-402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&amp;si=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475064479?vcp=1&amp;pid=4ea33987d&amp;color=0,0,0&amp;vtp=1&amp;bt=1&amp;bbb=1"/>
          <p:cNvSpPr/>
          <p:nvPr/>
        </p:nvSpPr>
        <p:spPr>
          <a:xfrm>
            <a:off x="393192" y="502920"/>
            <a:ext cx="11402568" cy="47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1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拓展考点突破练</a:t>
            </a:r>
            <a:endParaRPr lang="en-US" altLang="zh-CN" sz="2600" dirty="0"/>
          </a:p>
        </p:txBody>
      </p:sp>
      <p:sp>
        <p:nvSpPr>
          <p:cNvPr id="3" name="P_4_BD#5dcffb30d?vcp=1&amp;pid=475064479&amp;color=0,0,0&amp;vtp=1&amp;bbb=1"/>
          <p:cNvSpPr/>
          <p:nvPr/>
        </p:nvSpPr>
        <p:spPr>
          <a:xfrm>
            <a:off x="393192" y="1036168"/>
            <a:ext cx="11402568" cy="44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38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限时10分钟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26_1#4f7a35220?vcp=1&amp;pid=475064479&amp;color=0,0,0&amp;vtp=1&amp;bbb=1&amp;hb=1"/>
              <p:cNvSpPr/>
              <p:nvPr/>
            </p:nvSpPr>
            <p:spPr>
              <a:xfrm>
                <a:off x="393192" y="1526033"/>
                <a:ext cx="11402568" cy="240817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39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1.如图甲所示，一水平的浅色长传送带上放置一煤块（可视为质点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），煤块与传送带</a:t>
                </a:r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之间的动摩擦因数为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μ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=0.2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,初始时，传送带与煤块都是静止的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.现让传送带在变速电</a:t>
                </a:r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机的带动下先加速后减速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，传送带的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图像如图乙所示，假设传送带足够长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,经过</a:t>
                </a:r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一段时间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，煤块在传送带上留下了一段黑色痕迹，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,则下列说法正确的是</a:t>
                </a:r>
              </a:p>
              <a:p>
                <a:pPr latinLnBrk="1">
                  <a:lnSpc>
                    <a:spcPts val="37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26_1#4f7a35220?vcp=1&amp;pid=475064479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26033"/>
                <a:ext cx="11402568" cy="2408174"/>
              </a:xfrm>
              <a:prstGeom prst="rect">
                <a:avLst/>
              </a:prstGeom>
              <a:blipFill>
                <a:blip r:embed="rId3"/>
                <a:stretch>
                  <a:fillRect l="-1658" t="-506" b="-784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QC_4_AN.27_1#4f7a35220.bracket?vcp=1&amp;pid=475064479&amp;color=0,0,0&amp;vpa=7&amp;vtp=1"/>
          <p:cNvSpPr/>
          <p:nvPr/>
        </p:nvSpPr>
        <p:spPr>
          <a:xfrm>
            <a:off x="638460" y="3497517"/>
            <a:ext cx="423863" cy="43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37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p:pic>
        <p:nvPicPr>
          <p:cNvPr id="6" name="QC_4_BD.26_2#4f7a35220?htil=5&amp;vcp=1&amp;pid=475064479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94776" y="3472942"/>
            <a:ext cx="3282696" cy="1225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4_BD.26_3#4f7a35220.choices?htil=5&amp;vcp=1&amp;pid=475064479&amp;color=0,0,0&amp;vtp=1&amp;bbb=1"/>
              <p:cNvSpPr/>
              <p:nvPr/>
            </p:nvSpPr>
            <p:spPr>
              <a:xfrm>
                <a:off x="393192" y="3896932"/>
                <a:ext cx="7982712" cy="191687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39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A.黑色痕迹的长度为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80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.煤块在传送带上的相对位移大小为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.煤块在传送带上先加速，之后与传送带保持相对静止</a:t>
                </a:r>
                <a:endParaRPr lang="en-US" altLang="zh-CN" sz="2400" dirty="0"/>
              </a:p>
              <a:p>
                <a:pPr latinLnBrk="1">
                  <a:lnSpc>
                    <a:spcPts val="37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.煤块的质量越大，黑色痕迹的长度越长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4_BD.26_3#4f7a35220.choices?htil=5&amp;vcp=1&amp;pid=475064479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896932"/>
                <a:ext cx="7982712" cy="1916875"/>
              </a:xfrm>
              <a:prstGeom prst="rect">
                <a:avLst/>
              </a:prstGeom>
              <a:blipFill>
                <a:blip r:embed="rId5"/>
                <a:stretch>
                  <a:fillRect l="-2368" t="-635" b="-952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&amp;si=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AS.28_1#4f7a35220?htil=6&amp;vcp=1&amp;pid=475064479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930603" y="1069181"/>
            <a:ext cx="2688336" cy="161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AS.28_2#4f7a35220?htil=6&amp;vcp=1&amp;pid=475064479&amp;color=0,0,0&amp;vtp=1&amp;bt=1&amp;bbb=1&amp;hb=1&amp;hs=1"/>
              <p:cNvSpPr/>
              <p:nvPr/>
            </p:nvSpPr>
            <p:spPr>
              <a:xfrm>
                <a:off x="393192" y="959453"/>
                <a:ext cx="8577072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煤块的最大加速度为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,在题图乙中作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出煤块的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图像,如图所示,由图可知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,煤块的速度小于传送带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的速度时,煤块在传送带上的相对位移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4_AS.28_2#4f7a35220?htil=6&amp;vcp=1&amp;pid=475064479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59453"/>
                <a:ext cx="8577072" cy="1596200"/>
              </a:xfrm>
              <a:prstGeom prst="rect">
                <a:avLst/>
              </a:prstGeom>
              <a:blipFill>
                <a:blip r:embed="rId4"/>
                <a:stretch>
                  <a:fillRect l="-2203" b="-11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AS.28_2#4f7a35220?htil=6&amp;vcp=1&amp;pid=475064479&amp;color=0,0,0&amp;vtp=1&amp;bt=1&amp;bbb=1&amp;hb=1&amp;hs=1">
                <a:extLst>
                  <a:ext uri="{FF2B5EF4-FFF2-40B4-BE49-F238E27FC236}">
                    <a16:creationId xmlns:a16="http://schemas.microsoft.com/office/drawing/2014/main" id="{FCD4D2E5-3BAF-7324-8D98-203DD01EDF09}"/>
                  </a:ext>
                </a:extLst>
              </p:cNvPr>
              <p:cNvSpPr/>
              <p:nvPr/>
            </p:nvSpPr>
            <p:spPr>
              <a:xfrm>
                <a:off x="393192" y="2731357"/>
                <a:ext cx="11400008" cy="2764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,煤块的速度大于传送带的速度时,煤块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在传送带上的相对位移大小为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𝟏𝟔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,所以煤块在传送带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上的相对位移大小为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,B正确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.煤块在传送带上留下的黑色痕迹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的长度为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,A错误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.煤块在传送带上先做匀加速直线运动,共速后做匀减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速直线运动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,C错误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.煤块的质量变大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,不改变加速度,所以痕迹长度不变,D错误.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AS.28_2#4f7a35220?htil=6&amp;vcp=1&amp;pid=475064479&amp;color=0,0,0&amp;vtp=1&amp;bt=1&amp;bbb=1&amp;hb=1&amp;hs=1">
                <a:extLst>
                  <a:ext uri="{FF2B5EF4-FFF2-40B4-BE49-F238E27FC236}">
                    <a16:creationId xmlns:a16="http://schemas.microsoft.com/office/drawing/2014/main" id="{FCD4D2E5-3BAF-7324-8D98-203DD01EDF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731357"/>
                <a:ext cx="11400008" cy="2764600"/>
              </a:xfrm>
              <a:prstGeom prst="rect">
                <a:avLst/>
              </a:prstGeom>
              <a:blipFill>
                <a:blip r:embed="rId5"/>
                <a:stretch>
                  <a:fillRect l="-1658" r="-1551" b="-660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&amp;si=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1752</Words>
  <Application>Microsoft Office PowerPoint</Application>
  <PresentationFormat>宽屏</PresentationFormat>
  <Paragraphs>179</Paragraphs>
  <Slides>22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9" baseType="lpstr">
      <vt:lpstr>KaiTi</vt:lpstr>
      <vt:lpstr>SimSun</vt:lpstr>
      <vt:lpstr>微软雅黑</vt:lpstr>
      <vt:lpstr>Arial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2</cp:revision>
  <dcterms:created xsi:type="dcterms:W3CDTF">2026-05-25T07:59:22Z</dcterms:created>
  <dcterms:modified xsi:type="dcterms:W3CDTF">2026-05-25T08:07:33Z</dcterms:modified>
  <cp:category/>
  <cp:contentStatus/>
</cp:coreProperties>
</file>