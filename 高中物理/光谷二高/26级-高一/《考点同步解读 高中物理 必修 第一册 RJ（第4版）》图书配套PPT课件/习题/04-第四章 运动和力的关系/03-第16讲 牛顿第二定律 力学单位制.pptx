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7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7072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slide" Target="../slides/slide4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slide" Target="../slides/slide13.xml"/><Relationship Id="rId3" Type="http://schemas.openxmlformats.org/officeDocument/2006/relationships/slide" Target="../slides/slide5.xml"/><Relationship Id="rId7" Type="http://schemas.openxmlformats.org/officeDocument/2006/relationships/slide" Target="../slides/slide12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10.xml"/><Relationship Id="rId5" Type="http://schemas.openxmlformats.org/officeDocument/2006/relationships/slide" Target="../slides/slide8.xml"/><Relationship Id="rId4" Type="http://schemas.openxmlformats.org/officeDocument/2006/relationships/slide" Target="../slides/slide6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5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18.xml"/><Relationship Id="rId4" Type="http://schemas.openxmlformats.org/officeDocument/2006/relationships/slide" Target="../slides/slide17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slide" Target="../slides/slide4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slide" Target="../slides/slide13.xml"/><Relationship Id="rId3" Type="http://schemas.openxmlformats.org/officeDocument/2006/relationships/slide" Target="../slides/slide5.xml"/><Relationship Id="rId7" Type="http://schemas.openxmlformats.org/officeDocument/2006/relationships/slide" Target="../slides/slide12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10.xml"/><Relationship Id="rId5" Type="http://schemas.openxmlformats.org/officeDocument/2006/relationships/slide" Target="../slides/slide8.xml"/><Relationship Id="rId4" Type="http://schemas.openxmlformats.org/officeDocument/2006/relationships/slide" Target="../slides/slide6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5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18.xml"/><Relationship Id="rId4" Type="http://schemas.openxmlformats.org/officeDocument/2006/relationships/slide" Target="../slides/slide1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xin?subject=physics#pid=6a0d1e823a58ca644f0d6f43#tid=6a13f52f736a60ac3496b261#sourcefrom=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1261872" y="1078992"/>
            <a:ext cx="719632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8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8800" dirty="0"/>
          </a:p>
        </p:txBody>
      </p:sp>
      <p:sp>
        <p:nvSpPr>
          <p:cNvPr id="4" name="MasterShapeName"/>
          <p:cNvSpPr/>
          <p:nvPr/>
        </p:nvSpPr>
        <p:spPr>
          <a:xfrm>
            <a:off x="1581912" y="2770632"/>
            <a:ext cx="6839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3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36576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2400" dirty="0"/>
          </a:p>
        </p:txBody>
      </p:sp>
      <p:sp>
        <p:nvSpPr>
          <p:cNvPr id="4" name="MasterShapeName"/>
          <p:cNvSpPr/>
          <p:nvPr/>
        </p:nvSpPr>
        <p:spPr>
          <a:xfrm>
            <a:off x="2340864" y="146304"/>
            <a:ext cx="3602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1f4ab335,a1f4ab335,bf0bbd2e0,bddabb46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0?lid=c83d1cb99&amp;amp;cid=c83d1cb99&amp;amp;vtp=1">
            <a:hlinkClick r:id="rId3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0?lid=d26e108aa&amp;amp;cid=d26e108aa&amp;amp;vtp=1">
            <a:hlinkClick r:id="rId4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1f4ab335,460cb66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3?lid=4d8b4cbbc&amp;amp;cid=4d8b4cbbc&amp;amp;vtp=1">
            <a:hlinkClick r:id="rId3" action="ppaction://hlinksldjump"/>
          </p:cNvPr>
          <p:cNvSpPr/>
          <p:nvPr/>
        </p:nvSpPr>
        <p:spPr>
          <a:xfrm>
            <a:off x="450799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3?lid=8a1fdb4ec&amp;amp;cid=8a1fdb4ec&amp;amp;vtp=1">
            <a:hlinkClick r:id="rId4" action="ppaction://hlinksldjump"/>
          </p:cNvPr>
          <p:cNvSpPr/>
          <p:nvPr/>
        </p:nvSpPr>
        <p:spPr>
          <a:xfrm>
            <a:off x="505663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3?lid=b70fd5d1d&amp;amp;cid=b70fd5d1d&amp;amp;vtp=1">
            <a:hlinkClick r:id="rId5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3?lid=98826cce1&amp;amp;cid=98826cce1&amp;amp;vtp=1">
            <a:hlinkClick r:id="rId6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  <p:sp>
        <p:nvSpPr>
          <p:cNvPr id="9" name="C_0#auto_editor_catalog_3?lid=6548fc8e9&amp;amp;cid=6548fc8e9&amp;amp;vtp=1">
            <a:hlinkClick r:id="rId7" action="ppaction://hlinksldjump"/>
          </p:cNvPr>
          <p:cNvSpPr/>
          <p:nvPr/>
        </p:nvSpPr>
        <p:spPr>
          <a:xfrm>
            <a:off x="667512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5</a:t>
            </a:r>
            <a:endParaRPr lang="en-US" sz="1600" dirty="0"/>
          </a:p>
        </p:txBody>
      </p:sp>
      <p:sp>
        <p:nvSpPr>
          <p:cNvPr id="10" name="C_0#auto_editor_catalog_3?lid=d4f3ac0fa&amp;amp;cid=d4f3ac0fa&amp;amp;vtp=1">
            <a:hlinkClick r:id="rId8" action="ppaction://hlinksldjump"/>
          </p:cNvPr>
          <p:cNvSpPr/>
          <p:nvPr/>
        </p:nvSpPr>
        <p:spPr>
          <a:xfrm>
            <a:off x="7214616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6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1f4ab335,6cec84036,147e795de,695bd52d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10?lid=97dc8463d&amp;amp;cid=97dc8463d&amp;amp;vtp=1">
            <a:hlinkClick r:id="rId3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10?lid=092540744&amp;amp;cid=092540744&amp;amp;vtp=1">
            <a:hlinkClick r:id="rId4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C_0#auto_editor_catalog_10?lid=c0ce43d88&amp;amp;cid=c0ce43d88&amp;amp;vtp=1">
            <a:hlinkClick r:id="rId5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df=bf0bbd2e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第16讲 牛顿第二定律 力学单位制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1f4ab335,a1f4ab335,bf0bbd2e0,bddabb46b#df=bf0bbd2e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第16讲 牛顿第二定律 力学单位制</a:t>
            </a:r>
            <a:endParaRPr lang="en-US" sz="1800" dirty="0"/>
          </a:p>
        </p:txBody>
      </p:sp>
      <p:sp>
        <p:nvSpPr>
          <p:cNvPr id="5" name="C_0#auto_editor_catalog_0?lid=c83d1cb99&amp;amp;cid=c83d1cb99&amp;amp;vtp=1">
            <a:hlinkClick r:id="rId3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0?lid=d26e108aa&amp;amp;cid=d26e108aa&amp;amp;vtp=1">
            <a:hlinkClick r:id="rId4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1f4ab335,460cb6605#df=bf0bbd2e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第16讲 牛顿第二定律 力学单位制</a:t>
            </a:r>
            <a:endParaRPr lang="en-US" sz="1800" dirty="0"/>
          </a:p>
        </p:txBody>
      </p:sp>
      <p:sp>
        <p:nvSpPr>
          <p:cNvPr id="5" name="C_0#auto_editor_catalog_3?lid=4d8b4cbbc&amp;amp;cid=4d8b4cbbc&amp;amp;vtp=1">
            <a:hlinkClick r:id="rId3" action="ppaction://hlinksldjump"/>
          </p:cNvPr>
          <p:cNvSpPr/>
          <p:nvPr/>
        </p:nvSpPr>
        <p:spPr>
          <a:xfrm>
            <a:off x="450799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3?lid=8a1fdb4ec&amp;amp;cid=8a1fdb4ec&amp;amp;vtp=1">
            <a:hlinkClick r:id="rId4" action="ppaction://hlinksldjump"/>
          </p:cNvPr>
          <p:cNvSpPr/>
          <p:nvPr/>
        </p:nvSpPr>
        <p:spPr>
          <a:xfrm>
            <a:off x="505663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3?lid=b70fd5d1d&amp;amp;cid=b70fd5d1d&amp;amp;vtp=1">
            <a:hlinkClick r:id="rId5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3?lid=98826cce1&amp;amp;cid=98826cce1&amp;amp;vtp=1">
            <a:hlinkClick r:id="rId6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  <p:sp>
        <p:nvSpPr>
          <p:cNvPr id="9" name="C_0#auto_editor_catalog_3?lid=6548fc8e9&amp;amp;cid=6548fc8e9&amp;amp;vtp=1">
            <a:hlinkClick r:id="rId7" action="ppaction://hlinksldjump"/>
          </p:cNvPr>
          <p:cNvSpPr/>
          <p:nvPr/>
        </p:nvSpPr>
        <p:spPr>
          <a:xfrm>
            <a:off x="667512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5</a:t>
            </a:r>
            <a:endParaRPr lang="en-US" sz="1600" dirty="0"/>
          </a:p>
        </p:txBody>
      </p:sp>
      <p:sp>
        <p:nvSpPr>
          <p:cNvPr id="10" name="C_0#auto_editor_catalog_3?lid=d4f3ac0fa&amp;amp;cid=d4f3ac0fa&amp;amp;vtp=1">
            <a:hlinkClick r:id="rId8" action="ppaction://hlinksldjump"/>
          </p:cNvPr>
          <p:cNvSpPr/>
          <p:nvPr/>
        </p:nvSpPr>
        <p:spPr>
          <a:xfrm>
            <a:off x="7214616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6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1f4ab335,6cec84036,147e795de,695bd52d4#df=bf0bbd2e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第16讲 牛顿第二定律 力学单位制</a:t>
            </a:r>
            <a:endParaRPr lang="en-US" sz="1800" dirty="0"/>
          </a:p>
        </p:txBody>
      </p:sp>
      <p:sp>
        <p:nvSpPr>
          <p:cNvPr id="5" name="C_0#auto_editor_catalog_10?lid=97dc8463d&amp;amp;cid=97dc8463d&amp;amp;vtp=1">
            <a:hlinkClick r:id="rId3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10?lid=092540744&amp;amp;cid=092540744&amp;amp;vtp=1">
            <a:hlinkClick r:id="rId4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C_0#auto_editor_catalog_10?lid=c0ce43d88&amp;amp;cid=c0ce43d88&amp;amp;vtp=1">
            <a:hlinkClick r:id="rId5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&amp;si=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&amp;si=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2#bf0bbd2e0.fixed?vcp=1&amp;pid=a1f4ab335&amp;color=0,112,192&amp;vtp=1&amp;bbb=1"/>
          <p:cNvSpPr/>
          <p:nvPr/>
        </p:nvSpPr>
        <p:spPr>
          <a:xfrm>
            <a:off x="0" y="2157984"/>
            <a:ext cx="12188952" cy="7955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6000"/>
              </a:lnSpc>
            </a:pP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第四章</a:t>
            </a:r>
            <a:r>
              <a:rPr lang="en-US" altLang="zh-CN" sz="48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运动和力的关系</a:t>
            </a:r>
            <a:endParaRPr lang="en-US" altLang="zh-CN" sz="4800" dirty="0"/>
          </a:p>
        </p:txBody>
      </p:sp>
      <p:sp>
        <p:nvSpPr>
          <p:cNvPr id="3" name="C_2_BD#bf0bbd2e0.fixed?vcp=1&amp;pid=a1f4ab335&amp;color=0,0,0&amp;vtp=1&amp;bbb=1"/>
          <p:cNvSpPr/>
          <p:nvPr/>
        </p:nvSpPr>
        <p:spPr>
          <a:xfrm>
            <a:off x="265176" y="3602736"/>
            <a:ext cx="11521440" cy="1281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5400"/>
              </a:lnSpc>
            </a:pP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第16讲</a:t>
            </a:r>
            <a:r>
              <a:rPr lang="en-US" altLang="zh-CN" sz="4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牛顿第二定律</a:t>
            </a:r>
            <a:r>
              <a:rPr lang="en-US" altLang="zh-CN" sz="4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力学单位制</a:t>
            </a:r>
            <a:endParaRPr lang="en-US" altLang="zh-CN" sz="4400" dirty="0"/>
          </a:p>
        </p:txBody>
      </p:sp>
    </p:spTree>
  </p:cSld>
  <p:clrMapOvr>
    <a:masterClrMapping/>
  </p:clrMapOvr>
  <p:transition>
    <p:split dir="in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&amp;si=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bddabb46b?vcp=1&amp;pid=bf0bbd2e0&amp;color=0,0,0&amp;vtp=1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基础考点过关练</a:t>
            </a:r>
            <a:endParaRPr lang="en-US" altLang="zh-CN" sz="2600" dirty="0"/>
          </a:p>
        </p:txBody>
      </p:sp>
      <p:sp>
        <p:nvSpPr>
          <p:cNvPr id="3" name="P_4_BD#cab2611b1?vcp=1&amp;pid=bddabb46b&amp;color=0,0,0&amp;vtp=1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限时5分钟</a:t>
            </a:r>
            <a:endParaRPr lang="en-US" altLang="zh-CN" sz="2400" dirty="0"/>
          </a:p>
        </p:txBody>
      </p:sp>
      <p:sp>
        <p:nvSpPr>
          <p:cNvPr id="4" name="QC_4_BD.1_1#c83d1cb99?vcp=1&amp;pid=bddabb46b&amp;color=0,0,0&amp;vtp=1&amp;bbb=1&amp;hb=1"/>
          <p:cNvSpPr/>
          <p:nvPr/>
        </p:nvSpPr>
        <p:spPr>
          <a:xfrm>
            <a:off x="393192" y="1649285"/>
            <a:ext cx="11402568" cy="1033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1.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考点3</a:t>
            </a:r>
            <a:r>
              <a:rPr lang="en-US" altLang="zh-CN" sz="2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1E5A99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（2026·浙江杭州学军中学检测）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（多选题）关于速度、加速度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、合力的关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系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下列说法正确的是(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5" name="QC_4_AN.2_1#c83d1cb99.bracket?vcp=1&amp;pid=bddabb46b&amp;color=0,0,0&amp;vpa=1&amp;vtp=1&amp;bbb=1"/>
          <p:cNvSpPr/>
          <p:nvPr/>
        </p:nvSpPr>
        <p:spPr>
          <a:xfrm>
            <a:off x="3699160" y="2196655"/>
            <a:ext cx="865188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ABC</a:t>
            </a:r>
            <a:endParaRPr lang="en-US" altLang="zh-CN" sz="2400" dirty="0"/>
          </a:p>
        </p:txBody>
      </p:sp>
      <p:sp>
        <p:nvSpPr>
          <p:cNvPr id="6" name="QC_4_BD.1_2#c83d1cb99.choices?vcp=1&amp;pid=bddabb46b&amp;color=0,0,0&amp;vtp=1&amp;bbb=1"/>
          <p:cNvSpPr/>
          <p:nvPr/>
        </p:nvSpPr>
        <p:spPr>
          <a:xfrm>
            <a:off x="393192" y="2756916"/>
            <a:ext cx="11402568" cy="215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A.原来静止在光滑水平面上的物体，受到水平推力的瞬间，物体立刻获得加速度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.加速度的方向与合力的方向总是一致的，但与速度的方向可能相同，也可能不同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.在初速度为0的匀加速直线运动中，速度、加速度与合力的方向总是一致的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.合力变小，物体的速度一定变小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&amp;si=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3_1#d26e108aa?vcp=1&amp;pid=bddabb46b&amp;color=0,0,0&amp;vtp=1&amp;bt=1&amp;bbb=1&amp;hb=1"/>
              <p:cNvSpPr/>
              <p:nvPr/>
            </p:nvSpPr>
            <p:spPr>
              <a:xfrm>
                <a:off x="393192" y="1897285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考点2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如图所示是采用动力学方法测量空间站质量的原理图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.若已知飞船的质量为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3.0×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10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sup>
                    </m:sSup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,其推进器的平均推力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900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，在飞船与空间站对接后，推进器工作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0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，测出飞船和空间站的速度变化是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0.05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则空间站的质量为(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3_1#d26e108aa?vcp=1&amp;pid=bddabb46b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897285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b="-1187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4_1#d26e108aa.bracket?vcp=1&amp;pid=bddabb46b&amp;color=0,0,0&amp;vpa=2&amp;vtp=1"/>
          <p:cNvSpPr/>
          <p:nvPr/>
        </p:nvSpPr>
        <p:spPr>
          <a:xfrm>
            <a:off x="9414161" y="3003455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endParaRPr lang="en-US" altLang="zh-CN" sz="2400" dirty="0"/>
          </a:p>
        </p:txBody>
      </p:sp>
      <p:pic>
        <p:nvPicPr>
          <p:cNvPr id="4" name="QC_4_BD.3_2#d26e108aa?vcp=1&amp;pid=bddabb46b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11496" y="3617880"/>
            <a:ext cx="1975104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3_3#d26e108aa.choices?vcp=1&amp;pid=bddabb46b&amp;color=0,0,0&amp;vtp=1&amp;bbb=1"/>
              <p:cNvSpPr/>
              <p:nvPr/>
            </p:nvSpPr>
            <p:spPr>
              <a:xfrm>
                <a:off x="393192" y="4481480"/>
                <a:ext cx="11402568" cy="4773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300"/>
                  </a:lnSpc>
                  <a:tabLst>
                    <a:tab pos="2916677" algn="l"/>
                    <a:tab pos="5807954" algn="l"/>
                    <a:tab pos="8699231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8.7×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10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4</m:t>
                        </m:r>
                      </m:sup>
                    </m:sSup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9.0×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10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4</m:t>
                        </m:r>
                      </m:sup>
                    </m:sSup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6.0×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10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4</m:t>
                        </m:r>
                      </m:sup>
                    </m:sSup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6.0×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10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sup>
                    </m:sSup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3_3#d26e108aa.choices?vcp=1&amp;pid=bddabb46b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481480"/>
                <a:ext cx="11402568" cy="477330"/>
              </a:xfrm>
              <a:prstGeom prst="rect">
                <a:avLst/>
              </a:prstGeom>
              <a:blipFill>
                <a:blip r:embed="rId5"/>
                <a:stretch>
                  <a:fillRect l="-1658" b="-4102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&amp;si=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460cb6605?vcp=1&amp;pid=bf0bbd2e0&amp;color=0,0,0&amp;vtp=1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能力考点提升练</a:t>
            </a:r>
            <a:endParaRPr lang="en-US" altLang="zh-CN" sz="2600" dirty="0"/>
          </a:p>
        </p:txBody>
      </p:sp>
      <p:sp>
        <p:nvSpPr>
          <p:cNvPr id="3" name="P_4_BD#189dbc68e?vcp=1&amp;pid=460cb6605&amp;color=0,0,0&amp;vtp=1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限时20分钟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5_1#4d8b4cbbc?vcp=1&amp;pid=460cb6605&amp;color=0,0,0&amp;vtp=1&amp;bbb=1&amp;hb=1"/>
              <p:cNvSpPr/>
              <p:nvPr/>
            </p:nvSpPr>
            <p:spPr>
              <a:xfrm>
                <a:off x="393192" y="1649285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考点3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雨滴在空气中下落速度比较大时，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受到的空气阻力与其速度的二次方成正比，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与其横截面的半径成正比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，即空气阻力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𝑓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𝑘𝑟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,则关系式中比例系数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𝑘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的单位是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BD.5_1#4d8b4cbbc?vcp=1&amp;pid=460cb6605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649285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r="-3904" b="-114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QC_4_AN.6_1#4d8b4cbbc.bracket?vcp=1&amp;pid=460cb6605&amp;color=0,0,0&amp;vpa=3&amp;vtp=1"/>
          <p:cNvSpPr/>
          <p:nvPr/>
        </p:nvSpPr>
        <p:spPr>
          <a:xfrm>
            <a:off x="625760" y="2755455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QC_4_BD.5_2#4d8b4cbbc.choices?vcp=1&amp;pid=460cb6605&amp;color=0,0,0&amp;vtp=1&amp;bbb=1"/>
              <p:cNvSpPr/>
              <p:nvPr/>
            </p:nvSpPr>
            <p:spPr>
              <a:xfrm>
                <a:off x="393192" y="3297618"/>
                <a:ext cx="11402568" cy="4773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300"/>
                  </a:lnSpc>
                  <a:tabLst>
                    <a:tab pos="2843652" algn="l"/>
                    <a:tab pos="5661904" algn="l"/>
                    <a:tab pos="8619856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⋅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m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⋅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m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⋅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m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⋅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m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C_4_BD.5_2#4d8b4cbbc.choices?vcp=1&amp;pid=460cb6605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297618"/>
                <a:ext cx="11402568" cy="477330"/>
              </a:xfrm>
              <a:prstGeom prst="rect">
                <a:avLst/>
              </a:prstGeom>
              <a:blipFill>
                <a:blip r:embed="rId4"/>
                <a:stretch>
                  <a:fillRect l="-1658" b="-3974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QC_4_AS.7_1#4d8b4cbbc?vcp=1&amp;pid=460cb6605&amp;color=0,0,0&amp;vtp=1&amp;bbb=1&amp;hb=1"/>
              <p:cNvSpPr/>
              <p:nvPr/>
            </p:nvSpPr>
            <p:spPr>
              <a:xfrm>
                <a:off x="393192" y="3785870"/>
                <a:ext cx="11402568" cy="12319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7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结合所给关系式整理得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𝒇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𝒓</m:t>
                        </m:r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,用力的单位和长度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、速度的基本单位分别替换</a:t>
                </a:r>
              </a:p>
              <a:p>
                <a:pPr latinLnBrk="1">
                  <a:lnSpc>
                    <a:spcPts val="50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关系式中力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、半径、速度的符号，得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⋅(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/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,化简得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的单位是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⋅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QC_4_AS.7_1#4d8b4cbbc?vcp=1&amp;pid=460cb6605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785870"/>
                <a:ext cx="11402568" cy="1231900"/>
              </a:xfrm>
              <a:prstGeom prst="rect">
                <a:avLst/>
              </a:prstGeom>
              <a:blipFill>
                <a:blip r:embed="rId5"/>
                <a:stretch>
                  <a:fillRect l="-1658" b="-49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  <p:bldP spid="7" grpId="0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&amp;si=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8_1#8a1fdb4ec?vcp=1&amp;pid=460cb6605&amp;color=0,0,0&amp;vtp=1&amp;bt=1&amp;bbb=1&amp;hb=1"/>
              <p:cNvSpPr/>
              <p:nvPr/>
            </p:nvSpPr>
            <p:spPr>
              <a:xfrm>
                <a:off x="393192" y="1314672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考点4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（上海高考题改编）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（多选题）如图所示，质量为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的小球与弹簧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Ⅰ和水平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细绳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Ⅱ相连，Ⅰ、Ⅱ的另一端分别固定于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𝑄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两点.小球静止时，Ⅰ中拉力的大小为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Ⅱ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中拉力的大小为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，当仅剪断Ⅰ、Ⅱ中一根的瞬间，球的加速度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应是(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8_1#8a1fdb4ec?vcp=1&amp;pid=460cb6605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314672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b="-114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9_1#8a1fdb4ec.bracket?vcp=1&amp;pid=460cb6605&amp;color=0,0,0&amp;vpa=4&amp;vtp=1&amp;bbb=1"/>
          <p:cNvSpPr/>
          <p:nvPr/>
        </p:nvSpPr>
        <p:spPr>
          <a:xfrm>
            <a:off x="9993026" y="2420842"/>
            <a:ext cx="6445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AB</a:t>
            </a:r>
            <a:endParaRPr lang="en-US" altLang="zh-CN" sz="2400" dirty="0"/>
          </a:p>
        </p:txBody>
      </p:sp>
      <p:pic>
        <p:nvPicPr>
          <p:cNvPr id="4" name="QC_4_BD.8_2#8a1fdb4ec?htil=1&amp;vcp=1&amp;pid=460cb6605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89813" y="2953988"/>
            <a:ext cx="2276856" cy="1746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8_3#8a1fdb4ec.choices?htil=1&amp;vcp=1&amp;pid=460cb6605&amp;color=0,0,0&amp;vtp=1&amp;bbb=1"/>
              <p:cNvSpPr/>
              <p:nvPr/>
            </p:nvSpPr>
            <p:spPr>
              <a:xfrm>
                <a:off x="393192" y="2908267"/>
                <a:ext cx="8988552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A.若剪断Ⅰ,则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,方向竖直向下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.若剪断Ⅱ,则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,方向水平向左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.若剪断Ⅰ,则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,方向沿Ⅰ的延长线方向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.若剪断Ⅱ,则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,方向竖直向上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8_3#8a1fdb4ec.choices?htil=1&amp;vcp=1&amp;pid=460cb6605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908267"/>
                <a:ext cx="8988552" cy="2155000"/>
              </a:xfrm>
              <a:prstGeom prst="rect">
                <a:avLst/>
              </a:prstGeom>
              <a:blipFill>
                <a:blip r:embed="rId5"/>
                <a:stretch>
                  <a:fillRect l="-2103" b="-84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&amp;si=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10_1#8a1fdb4ec?vcp=1&amp;pid=460cb6605&amp;color=0,0,0&amp;vtp=1&amp;bt=1&amp;bbb=1&amp;hb=1"/>
              <p:cNvSpPr/>
              <p:nvPr/>
            </p:nvSpPr>
            <p:spPr>
              <a:xfrm>
                <a:off x="393192" y="1137158"/>
                <a:ext cx="11402568" cy="2235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没有剪断Ⅰ、Ⅱ时，小球的受力情况如图所示.在剪断Ⅰ的瞬间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，由于小球的速度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0，绳Ⅱ上的力突变为0，则小球只受重力作用，加速度为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,选项A正确，C错误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；若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剪断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Ⅱ，由于弹簧的弹力不能突变，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与重力的合力大小仍等于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,所以此时加速度为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𝑭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,方向水平向左，选项B正确，D错误.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10_1#8a1fdb4ec?vcp=1&amp;pid=460cb6605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137158"/>
                <a:ext cx="11402568" cy="2235200"/>
              </a:xfrm>
              <a:prstGeom prst="rect">
                <a:avLst/>
              </a:prstGeom>
              <a:blipFill>
                <a:blip r:embed="rId3"/>
                <a:stretch>
                  <a:fillRect l="-1658" r="-1230" b="-464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C_4_AS.10_2#8a1fdb4ec?vcp=1&amp;pid=460cb6605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01768" y="3510407"/>
            <a:ext cx="2185416" cy="2075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&amp;si=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11_1#b70fd5d1d?vcp=1&amp;pid=460cb6605&amp;color=0,0,0&amp;vtp=1&amp;bt=1&amp;bbb=1&amp;hb=1"/>
              <p:cNvSpPr/>
              <p:nvPr/>
            </p:nvSpPr>
            <p:spPr>
              <a:xfrm>
                <a:off x="393192" y="1275239"/>
                <a:ext cx="1140256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考点2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如图所示，细线的一端系一质量为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的小球，另一端固定在倾角为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的光滑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斜面体顶端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，细线与斜面平行.在斜面体以加速度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水平向右做匀加速直线运动的过程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中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，小球始终静止在斜面上，小球受到细线的拉力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𝑇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和斜面的支持力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分别为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重力加速度为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11_1#b70fd5d1d?vcp=1&amp;pid=460cb6605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275239"/>
                <a:ext cx="11402568" cy="2150999"/>
              </a:xfrm>
              <a:prstGeom prst="rect">
                <a:avLst/>
              </a:prstGeom>
              <a:blipFill>
                <a:blip r:embed="rId3"/>
                <a:stretch>
                  <a:fillRect l="-1658" r="-1123" b="-878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12_1#b70fd5d1d.bracket?vcp=1&amp;pid=460cb6605&amp;color=0,0,0&amp;vpa=5&amp;vtp=1"/>
          <p:cNvSpPr/>
          <p:nvPr/>
        </p:nvSpPr>
        <p:spPr>
          <a:xfrm>
            <a:off x="3255105" y="2940209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endParaRPr lang="en-US" altLang="zh-CN" sz="2400" dirty="0"/>
          </a:p>
        </p:txBody>
      </p:sp>
      <p:pic>
        <p:nvPicPr>
          <p:cNvPr id="4" name="QC_4_BD.11_2#b70fd5d1d?htil=2&amp;vcp=1&amp;pid=460cb6605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13930" y="3460654"/>
            <a:ext cx="2962656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1_3#b70fd5d1d.choices?htil=2&amp;vcp=1&amp;pid=460cb6605&amp;color=0,0,0&amp;vtp=1&amp;bbb=1"/>
              <p:cNvSpPr/>
              <p:nvPr/>
            </p:nvSpPr>
            <p:spPr>
              <a:xfrm>
                <a:off x="393192" y="3414934"/>
                <a:ext cx="8302752" cy="215830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𝑇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sin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cos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N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cos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sin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𝑇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cos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sin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N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sin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cos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𝑇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cos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sin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N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cos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sin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𝑇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sin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cos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N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sin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cos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1_3#b70fd5d1d.choices?htil=2&amp;vcp=1&amp;pid=460cb6605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414934"/>
                <a:ext cx="8302752" cy="2158302"/>
              </a:xfrm>
              <a:prstGeom prst="rect">
                <a:avLst/>
              </a:prstGeom>
              <a:blipFill>
                <a:blip r:embed="rId5"/>
                <a:stretch>
                  <a:fillRect l="-2276" b="-875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&amp;si=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13_1#b70fd5d1d?vcp=1&amp;pid=460cb6605&amp;color=0,0,0&amp;vtp=1&amp;bt=1&amp;bbb=1&amp;hb=1"/>
              <p:cNvSpPr/>
              <p:nvPr/>
            </p:nvSpPr>
            <p:spPr>
              <a:xfrm>
                <a:off x="393192" y="1091438"/>
                <a:ext cx="1140256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对小球受力分析如图所示，建立平面直角坐标系.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轴方向上：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𝒚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轴方向上：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.所以选项A正确.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13_1#b70fd5d1d?vcp=1&amp;pid=460cb6605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091438"/>
                <a:ext cx="11402568" cy="2150999"/>
              </a:xfrm>
              <a:prstGeom prst="rect">
                <a:avLst/>
              </a:prstGeom>
              <a:blipFill>
                <a:blip r:embed="rId3"/>
                <a:stretch>
                  <a:fillRect l="-1658" b="-878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C_4_AS.13_2#b70fd5d1d?vcp=1&amp;pid=460cb6605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02936" y="3358134"/>
            <a:ext cx="1783080" cy="239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&amp;si=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14_1#98826cce1?vcp=1&amp;pid=460cb6605&amp;color=0,0,0&amp;vtp=1&amp;bt=1&amp;bbb=1&amp;hb=1"/>
              <p:cNvSpPr/>
              <p:nvPr/>
            </p:nvSpPr>
            <p:spPr>
              <a:xfrm>
                <a:off x="393192" y="1272127"/>
                <a:ext cx="1140256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4.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考点4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如图所示，一轻质弹簧的左端与竖直墙面相连，其右端与物体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相连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，物体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𝑏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间用一段轻绳连接，另一段轻绳左端与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𝑏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连接，右端跨过定滑轮与物体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𝑐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连接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，整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个系统处于静止状态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，物体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𝑏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𝑐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的质量都为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,不计一切阻力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，弹簧始终在弹性限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度内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，重力加速度为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.现将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𝑏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𝑐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间的轻绳烧断，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下列说法正确的是(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14_1#98826cce1?vcp=1&amp;pid=460cb6605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272127"/>
                <a:ext cx="11402568" cy="2150999"/>
              </a:xfrm>
              <a:prstGeom prst="rect">
                <a:avLst/>
              </a:prstGeom>
              <a:blipFill>
                <a:blip r:embed="rId3"/>
                <a:stretch>
                  <a:fillRect l="-1658" r="-1070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15_1#98826cce1.bracket?vcp=1&amp;pid=460cb6605&amp;color=0,0,0&amp;vpa=6&amp;vtp=1"/>
          <p:cNvSpPr/>
          <p:nvPr/>
        </p:nvSpPr>
        <p:spPr>
          <a:xfrm>
            <a:off x="9443625" y="2937097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endParaRPr lang="en-US" altLang="zh-CN" sz="2400" dirty="0"/>
          </a:p>
        </p:txBody>
      </p:sp>
      <p:pic>
        <p:nvPicPr>
          <p:cNvPr id="4" name="QC_4_BD.14_2#98826cce1?htil=3&amp;vcp=1&amp;pid=460cb6605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068084" y="3457542"/>
            <a:ext cx="3557016" cy="1563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4_3#98826cce1.choices?htil=3&amp;vcp=1&amp;pid=460cb6605&amp;color=0,0,0&amp;vtp=1&amp;bbb=1"/>
              <p:cNvSpPr/>
              <p:nvPr/>
            </p:nvSpPr>
            <p:spPr>
              <a:xfrm>
                <a:off x="393192" y="3411822"/>
                <a:ext cx="7708392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A.烧断后瞬间，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𝑏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的加速度为0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.烧断后瞬间，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的加速度为0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.烧断后瞬间，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𝑏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间轻绳的拉力为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.轻质弹簧第一次恢复至原长时，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𝑏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间轻绳的拉力为0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4_3#98826cce1.choices?htil=3&amp;vcp=1&amp;pid=460cb6605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411822"/>
                <a:ext cx="7708392" cy="2155000"/>
              </a:xfrm>
              <a:prstGeom prst="rect">
                <a:avLst/>
              </a:prstGeom>
              <a:blipFill>
                <a:blip r:embed="rId5"/>
                <a:stretch>
                  <a:fillRect l="-2453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&amp;si=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16_1#98826cce1?vcp=1&amp;pid=460cb6605&amp;color=0,0,0&amp;vtp=1&amp;bt=1&amp;bbb=1&amp;hb=1"/>
              <p:cNvSpPr/>
              <p:nvPr/>
            </p:nvSpPr>
            <p:spPr>
              <a:xfrm>
                <a:off x="393192" y="1845469"/>
                <a:ext cx="11402568" cy="2764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𝒃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𝒄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间的轻绳烧断之前，物体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𝒃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𝒄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都处于平衡状态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，轻质弹簧的弹力大小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等于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𝒄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的重力，即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;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𝒃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𝒄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间的轻绳烧断瞬间，弹簧的弹力不变，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𝒃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的加速度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相等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，其大小为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𝒈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;设此时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𝒃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间轻绳的拉力为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𝒃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,由牛顿第二定律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,A、B、C错误.轻质弹簧第一次恢复至原长时，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𝒃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的加速度均为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0，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𝒃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间轻绳的拉力为0，D正确.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16_1#98826cce1?vcp=1&amp;pid=460cb6605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845469"/>
                <a:ext cx="11402568" cy="2764600"/>
              </a:xfrm>
              <a:prstGeom prst="rect">
                <a:avLst/>
              </a:prstGeom>
              <a:blipFill>
                <a:blip r:embed="rId3"/>
                <a:stretch>
                  <a:fillRect l="-1658" r="-4278" b="-662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&amp;si=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17_1#6548fc8e9?vcp=1&amp;pid=460cb6605&amp;color=0,0,0&amp;vtp=1&amp;bt=1&amp;bbb=1&amp;hb=1"/>
              <p:cNvSpPr/>
              <p:nvPr/>
            </p:nvSpPr>
            <p:spPr>
              <a:xfrm>
                <a:off x="393192" y="676497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5.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考点4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如图1所示，竖直放置在水平面上的轻弹簧上放着质量为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的物体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，物体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处于静止状态.在将一个质量为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的物体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轻放在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上的一瞬间，如图2所示，取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的压力大小为(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17_1#6548fc8e9?vcp=1&amp;pid=460cb6605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676497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r="-1070" b="-114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18_1#6548fc8e9.bracket?vcp=1&amp;pid=460cb6605&amp;color=0,0,0&amp;vpa=7&amp;vtp=1"/>
          <p:cNvSpPr/>
          <p:nvPr/>
        </p:nvSpPr>
        <p:spPr>
          <a:xfrm>
            <a:off x="4558125" y="1782667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p:pic>
        <p:nvPicPr>
          <p:cNvPr id="4" name="QC_4_BD.17_2#6548fc8e9?vcp=1&amp;pid=460cb6605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19472" y="2397092"/>
            <a:ext cx="2350008" cy="1581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7_3#6548fc8e9.choices?vcp=1&amp;pid=460cb6605&amp;color=0,0,0&amp;vtp=1&amp;bbb=1"/>
              <p:cNvSpPr/>
              <p:nvPr/>
            </p:nvSpPr>
            <p:spPr>
              <a:xfrm>
                <a:off x="393192" y="4111592"/>
                <a:ext cx="11402568" cy="4773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300"/>
                  </a:lnSpc>
                  <a:tabLst>
                    <a:tab pos="2618227" algn="l"/>
                    <a:tab pos="5490454" algn="l"/>
                    <a:tab pos="8540481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.0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7_3#6548fc8e9.choices?vcp=1&amp;pid=460cb6605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111592"/>
                <a:ext cx="11402568" cy="477330"/>
              </a:xfrm>
              <a:prstGeom prst="rect">
                <a:avLst/>
              </a:prstGeom>
              <a:blipFill>
                <a:blip r:embed="rId5"/>
                <a:stretch>
                  <a:fillRect l="-1658" b="-3924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QC_4_AS.19_1#6548fc8e9?vcp=1&amp;pid=460cb6605&amp;color=0,0,0&amp;vtp=1&amp;bbb=1&amp;hb=1"/>
              <p:cNvSpPr/>
              <p:nvPr/>
            </p:nvSpPr>
            <p:spPr>
              <a:xfrm>
                <a:off x="393192" y="4592287"/>
                <a:ext cx="11402568" cy="1596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轻放在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上的一瞬间，弹簧的弹力不变，对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整体进行分析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，根据牛顿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第二定律有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;对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物体，有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,解得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,根据牛顿第三定律可知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的压力大小为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.故选C.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C_4_AS.19_1#6548fc8e9?vcp=1&amp;pid=460cb6605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592287"/>
                <a:ext cx="11402568" cy="1596200"/>
              </a:xfrm>
              <a:prstGeom prst="rect">
                <a:avLst/>
              </a:prstGeom>
              <a:blipFill>
                <a:blip r:embed="rId6"/>
                <a:stretch>
                  <a:fillRect l="-1658" r="-909" b="-114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6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&amp;si=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20_1#d4f3ac0fa?vcp=1&amp;pid=460cb6605&amp;color=0,0,0&amp;vtp=1&amp;bt=1&amp;bbb=1&amp;hb=1"/>
              <p:cNvSpPr/>
              <p:nvPr/>
            </p:nvSpPr>
            <p:spPr>
              <a:xfrm>
                <a:off x="393192" y="949643"/>
                <a:ext cx="11402568" cy="32685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6.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考点3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（2026·重庆八中检测）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竖直平面内有两完全相同的轻质弹簧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，它们的一端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分别固定于水平线上的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𝑁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两点，另一端均连接在质量为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的小球上.开始时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，在竖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直向上的拉力作用下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，球静止于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𝑁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连线的中点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，弹簧处于原长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，现将小球竖直向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上缓慢拉至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点并保持静止，如图所示，此时拉力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.已知重力加速度大小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,弹簧始终处于弹性限度内，不计空气阻力.若撤去拉力，则小球从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点运动到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的过程中(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20_1#d4f3ac0fa?vcp=1&amp;pid=460cb6605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949643"/>
                <a:ext cx="11402568" cy="3268599"/>
              </a:xfrm>
              <a:prstGeom prst="rect">
                <a:avLst/>
              </a:prstGeom>
              <a:blipFill>
                <a:blip r:embed="rId3"/>
                <a:stretch>
                  <a:fillRect l="-1658" r="-1444" b="-559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21_1#d4f3ac0fa.bracket?vcp=1&amp;pid=460cb6605&amp;color=0,0,0&amp;vpa=8&amp;vtp=1"/>
          <p:cNvSpPr/>
          <p:nvPr/>
        </p:nvSpPr>
        <p:spPr>
          <a:xfrm>
            <a:off x="1844961" y="3732213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endParaRPr lang="en-US" altLang="zh-CN" sz="2400" dirty="0"/>
          </a:p>
        </p:txBody>
      </p:sp>
      <p:pic>
        <p:nvPicPr>
          <p:cNvPr id="4" name="QC_4_BD.20_2#d4f3ac0fa?htil=4&amp;vcp=1&amp;pid=460cb6605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547572" y="4289869"/>
            <a:ext cx="2414016" cy="1618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20_3#d4f3ac0fa.choices?htil=4&amp;vcp=1&amp;pid=460cb6605&amp;color=0,0,0&amp;vtp=1&amp;bbb=1"/>
              <p:cNvSpPr/>
              <p:nvPr/>
            </p:nvSpPr>
            <p:spPr>
              <a:xfrm>
                <a:off x="393192" y="4244149"/>
                <a:ext cx="8851392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  <a:tabLst>
                    <a:tab pos="4533646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.做匀加速直线运动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.速度先增大后减小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  <a:tabLst>
                    <a:tab pos="4533646" algn="l"/>
                  </a:tabLst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.加速度的最大值为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.加速度一直减小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20_3#d4f3ac0fa.choices?htil=4&amp;vcp=1&amp;pid=460cb6605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244149"/>
                <a:ext cx="8851392" cy="1033399"/>
              </a:xfrm>
              <a:prstGeom prst="rect">
                <a:avLst/>
              </a:prstGeom>
              <a:blipFill>
                <a:blip r:embed="rId5"/>
                <a:stretch>
                  <a:fillRect l="-2135" b="-1764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&amp;si=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22_1#d4f3ac0fa?vcp=1&amp;pid=460cb6605&amp;color=0,0,0&amp;vtp=1&amp;bt=1&amp;bbb=1&amp;hb=1"/>
              <p:cNvSpPr/>
              <p:nvPr/>
            </p:nvSpPr>
            <p:spPr>
              <a:xfrm>
                <a:off x="393192" y="1799367"/>
                <a:ext cx="11402568" cy="3272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小球在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𝑷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点时，保持静止，由平衡条件可知拉力F、重力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、两弹簧的拉力的合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力为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0，即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弹合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，可知此时两弹簧的合力大小为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，方向竖直向下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.撤去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拉力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，小球从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𝑷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点运动到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点的过程中，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两弹簧的拉力与重力的合力始终竖直向下，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小球一直做加速运动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，但运动过程中弹簧弹力逐渐减小，且两弹簧间夹角变大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，合力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一直减小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，故小球做加速度减小的加速运动，A、B错误,D正确；撤去拉力瞬间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，加速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度有最大值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，由牛顿第二定律有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，可知加速度的最大值为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，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𝐂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22_1#d4f3ac0fa?vcp=1&amp;pid=460cb6605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799367"/>
                <a:ext cx="11402568" cy="3272600"/>
              </a:xfrm>
              <a:prstGeom prst="rect">
                <a:avLst/>
              </a:prstGeom>
              <a:blipFill>
                <a:blip r:embed="rId3"/>
                <a:stretch>
                  <a:fillRect l="-1658" r="-1551" b="-558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&amp;si=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6cec84036?vcp=1&amp;pid=bf0bbd2e0&amp;color=0,0,0&amp;vtp=1&amp;bt=1&amp;bbb=1"/>
          <p:cNvSpPr/>
          <p:nvPr/>
        </p:nvSpPr>
        <p:spPr>
          <a:xfrm>
            <a:off x="393192" y="502921"/>
            <a:ext cx="11402568" cy="467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0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易错考点针对练</a:t>
            </a:r>
            <a:endParaRPr lang="en-US" altLang="zh-CN" sz="2600" dirty="0"/>
          </a:p>
        </p:txBody>
      </p:sp>
      <p:sp>
        <p:nvSpPr>
          <p:cNvPr id="3" name="P_4_BD#b8650e1cc?vcp=1&amp;pid=6cec84036&amp;color=0,0,0&amp;vtp=1&amp;bbb=1"/>
          <p:cNvSpPr/>
          <p:nvPr/>
        </p:nvSpPr>
        <p:spPr>
          <a:xfrm>
            <a:off x="393192" y="1032607"/>
            <a:ext cx="11402568" cy="43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37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限时10分钟</a:t>
            </a:r>
            <a:endParaRPr lang="en-US" altLang="zh-CN" sz="2400" dirty="0"/>
          </a:p>
        </p:txBody>
      </p:sp>
      <p:sp>
        <p:nvSpPr>
          <p:cNvPr id="4" name="C_4_BD#147e795de?vcp=1&amp;pid=6cec84036&amp;color=0,0,0&amp;vtp=1&amp;bbb=1"/>
          <p:cNvSpPr/>
          <p:nvPr/>
        </p:nvSpPr>
        <p:spPr>
          <a:xfrm>
            <a:off x="393192" y="1495552"/>
            <a:ext cx="11402568" cy="467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0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易错点</a:t>
            </a:r>
            <a:r>
              <a:rPr lang="en-US" altLang="zh-CN" sz="26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突变问题中轻绳与橡皮筋力的变化情况混淆</a:t>
            </a:r>
            <a:endParaRPr lang="en-US" altLang="zh-CN" sz="2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5_BD.23_1#97dc8463d?vcp=1&amp;pid=147e795de&amp;color=0,0,0&amp;vtp=1&amp;bbb=1&amp;hb=1"/>
              <p:cNvSpPr/>
              <p:nvPr/>
            </p:nvSpPr>
            <p:spPr>
              <a:xfrm>
                <a:off x="393192" y="2022284"/>
                <a:ext cx="11402568" cy="186524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38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考点4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（2026·河南省实验中学检测）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（多选题）如图所示，橡皮筋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和轻绳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𝐵𝐶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0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38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的一端分别固定在竖直和水平墙面上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，另一端均系在质量为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的小球上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，当小球静止</a:t>
                </a:r>
              </a:p>
              <a:p>
                <a:pPr latinLnBrk="1">
                  <a:lnSpc>
                    <a:spcPts val="38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，橡皮筋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处于水平方向，轻绳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与竖直方向的夹角为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.下列说法正确的是</a:t>
                </a:r>
              </a:p>
              <a:p>
                <a:pPr latinLnBrk="1">
                  <a:lnSpc>
                    <a:spcPts val="36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重力加速度为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5_BD.23_1#97dc8463d?vcp=1&amp;pid=147e795de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022284"/>
                <a:ext cx="11402568" cy="1865249"/>
              </a:xfrm>
              <a:prstGeom prst="rect">
                <a:avLst/>
              </a:prstGeom>
              <a:blipFill>
                <a:blip r:embed="rId3"/>
                <a:stretch>
                  <a:fillRect l="-1658" t="-2941" r="-160" b="-980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QC_5_AN.24_1#97dc8463d.bracket?vcp=1&amp;pid=147e795de&amp;color=0,0,0&amp;vpa=9&amp;vtp=1&amp;bbb=1"/>
          <p:cNvSpPr/>
          <p:nvPr/>
        </p:nvSpPr>
        <p:spPr>
          <a:xfrm>
            <a:off x="3318605" y="3456368"/>
            <a:ext cx="644525" cy="42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36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BC</a:t>
            </a:r>
            <a:endParaRPr lang="en-US" altLang="zh-CN" sz="2400" dirty="0"/>
          </a:p>
        </p:txBody>
      </p:sp>
      <p:pic>
        <p:nvPicPr>
          <p:cNvPr id="7" name="QC_5_BD.23_2#97dc8463d?htil=5&amp;vcp=1&amp;pid=147e795de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729216" y="3465576"/>
            <a:ext cx="2048256" cy="1316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QC_5_BD.23_3#97dc8463d.choices?htil=5&amp;vcp=1&amp;pid=147e795de&amp;color=0,0,0&amp;vtp=1&amp;bbb=1"/>
              <p:cNvSpPr/>
              <p:nvPr/>
            </p:nvSpPr>
            <p:spPr>
              <a:xfrm>
                <a:off x="393192" y="3884041"/>
                <a:ext cx="9217152" cy="1863027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38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被突然剪断的瞬间，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𝐵𝐶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对小球的拉力不变</a:t>
                </a:r>
                <a:endParaRPr lang="en-US" altLang="zh-CN" sz="2400" dirty="0"/>
              </a:p>
              <a:p>
                <a:pPr latinLnBrk="1">
                  <a:lnSpc>
                    <a:spcPts val="38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被突然剪断的瞬间，小球的加速度大小为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sin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38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被突然剪断的瞬间，小球的加速度大小为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𝑔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cos</m:t>
                        </m:r>
                        <m:r>
                          <m:rPr>
                            <m:nor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𝜃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36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被突然剪断的瞬间，小球的加速度大小为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sin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8" name="QC_5_BD.23_3#97dc8463d.choices?htil=5&amp;vcp=1&amp;pid=147e795de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884041"/>
                <a:ext cx="9217152" cy="1863027"/>
              </a:xfrm>
              <a:prstGeom prst="rect">
                <a:avLst/>
              </a:prstGeom>
              <a:blipFill>
                <a:blip r:embed="rId5"/>
                <a:stretch>
                  <a:fillRect l="-2050" t="-1307" b="-1013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&amp;si=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5_AS.25_1#97dc8463d?vcp=1&amp;pid=147e795de&amp;color=0,0,0&amp;vtp=1&amp;bt=1&amp;bbb=1&amp;hb=1"/>
              <p:cNvSpPr/>
              <p:nvPr/>
            </p:nvSpPr>
            <p:spPr>
              <a:xfrm>
                <a:off x="393192" y="1281208"/>
                <a:ext cx="11402568" cy="3930587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设小球静止时轻绳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𝑩𝑪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的拉力为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，橡皮筋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𝑨𝑪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的拉力为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，由平衡条件可得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𝐜𝐨𝐬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𝜽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𝐭𝐚𝐧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𝑨𝑪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被突然剪断的瞬间，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𝑩𝑪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1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上的拉力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发生突变，将小球所受重力沿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𝑩𝑪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与垂直于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𝑩𝑪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的方向进行分解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，可知小球沿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𝑩𝑪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方向受力平衡，所受合力垂直于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𝑩𝑪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斜向下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，则小球的加速度大小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𝐬𝐢𝐧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𝜽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,B正确，A错误；在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𝑩𝑪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被突然剪断的瞬间，橡皮筋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𝑨𝑪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的拉力不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，小球的合力大小与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𝑩𝑪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被剪断前的拉力大小相等、方向相反，沿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𝑩𝑪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方向斜向下，</a:t>
                </a:r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合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，则小球的加速度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𝑭</m:t>
                            </m:r>
                          </m:e>
                          <m:sub>
                            <m:r>
                              <a:rPr lang="en-US" altLang="zh-CN" sz="2400" b="1" baseline="-100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合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𝒈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𝐜𝐨𝐬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𝜽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,C正确，D错误.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5_AS.25_1#97dc8463d?vcp=1&amp;pid=147e795de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281208"/>
                <a:ext cx="11402568" cy="3930587"/>
              </a:xfrm>
              <a:prstGeom prst="rect">
                <a:avLst/>
              </a:prstGeom>
              <a:blipFill>
                <a:blip r:embed="rId3"/>
                <a:stretch>
                  <a:fillRect l="-1658" r="-1390" b="-263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&amp;si=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695bd52d4?vcp=1&amp;pid=bf0bbd2e0&amp;color=0,0,0&amp;vtp=1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拓展考点突破练</a:t>
            </a:r>
            <a:endParaRPr lang="en-US" altLang="zh-CN" sz="2600" dirty="0"/>
          </a:p>
        </p:txBody>
      </p:sp>
      <p:sp>
        <p:nvSpPr>
          <p:cNvPr id="3" name="P_4_BD#4f9364357?vcp=1&amp;pid=695bd52d4&amp;color=0,0,0&amp;vtp=1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限时10分钟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26_1#092540744?vcp=1&amp;pid=695bd52d4&amp;color=0,0,0&amp;vtp=1&amp;bbb=1&amp;hb=1"/>
              <p:cNvSpPr/>
              <p:nvPr/>
            </p:nvSpPr>
            <p:spPr>
              <a:xfrm>
                <a:off x="393192" y="1590675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（浙江大学自主招生）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（多选题）假定A、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是具有不同量纲的两个物理量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，经过下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列哪种运算后仍能得到有意义的物理量？(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BD.26_1#092540744?vcp=1&amp;pid=695bd52d4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90675"/>
                <a:ext cx="11402568" cy="1033399"/>
              </a:xfrm>
              <a:prstGeom prst="rect">
                <a:avLst/>
              </a:prstGeom>
              <a:blipFill>
                <a:blip r:embed="rId3"/>
                <a:stretch>
                  <a:fillRect l="-1658" r="-963" b="-1775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QC_4_AN.27_1#092540744.bracket?vcp=1&amp;pid=695bd52d4&amp;color=0,0,0&amp;vpa=10&amp;vtp=1&amp;bbb=1"/>
          <p:cNvSpPr/>
          <p:nvPr/>
        </p:nvSpPr>
        <p:spPr>
          <a:xfrm>
            <a:off x="6175660" y="2138045"/>
            <a:ext cx="6445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BD</a:t>
            </a:r>
            <a:endParaRPr lang="en-US" altLang="zh-CN" sz="2400" dirty="0"/>
          </a:p>
        </p:txBody>
      </p:sp>
      <p:sp>
        <p:nvSpPr>
          <p:cNvPr id="6" name="QC_4_BD.26_2#092540744.choices?vcp=1&amp;pid=695bd52d4&amp;color=0,0,0&amp;vtp=1&amp;bbb=1"/>
          <p:cNvSpPr/>
          <p:nvPr/>
        </p:nvSpPr>
        <p:spPr>
          <a:xfrm>
            <a:off x="393192" y="2686748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atinLnBrk="1">
              <a:lnSpc>
                <a:spcPts val="4300"/>
              </a:lnSpc>
              <a:tabLst>
                <a:tab pos="2916677" algn="l"/>
                <a:tab pos="5807954" algn="l"/>
                <a:tab pos="8699231" algn="l"/>
              </a:tabLst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.加法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B.除法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C.减法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.乘法</a:t>
            </a:r>
            <a:endParaRPr lang="en-US" altLang="zh-CN" sz="2400" dirty="0"/>
          </a:p>
        </p:txBody>
      </p:sp>
      <p:sp>
        <p:nvSpPr>
          <p:cNvPr id="7" name="QC_4_AS.28_1#092540744?vcp=1&amp;pid=695bd52d4&amp;color=0,0,0&amp;vtp=1&amp;bbb=1&amp;hb=1"/>
          <p:cNvSpPr/>
          <p:nvPr/>
        </p:nvSpPr>
        <p:spPr>
          <a:xfrm>
            <a:off x="393192" y="3237611"/>
            <a:ext cx="11402568" cy="1596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[解析]</a:t>
            </a:r>
            <a:r>
              <a:rPr lang="en-US" altLang="zh-CN" sz="2400" b="1" i="0" dirty="0">
                <a:solidFill>
                  <a:srgbClr val="FF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将一个物理导出量用若干个基本量的乘方之积表示出来的表达式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，称为该物理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量的量纲式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，简称量纲.量纲可以理解为物理量的单位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，不同量纲的两个物理量不能进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行加减运算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，可以进行乘除运算.故选BD.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  <p:bldP spid="7" grpId="0" build="p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&amp;si=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29_1#c0ce43d88?vcp=1&amp;pid=695bd52d4&amp;color=0,0,0&amp;vtp=1&amp;bt=1&amp;bbb=1&amp;hb=1"/>
              <p:cNvSpPr/>
              <p:nvPr/>
            </p:nvSpPr>
            <p:spPr>
              <a:xfrm>
                <a:off x="393192" y="1207072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2.一根轻绳跨过一轻定滑轮，质量为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的人抓着绳的一端，绳的另一端系了一质量为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0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的物体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.已知重力加速度为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，若人相对于绳匀速上爬时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，则物体上升的加速度为 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29_1#c0ce43d88?vcp=1&amp;pid=695bd52d4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207072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b="-1187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30_1#c0ce43d88.bracket?vcp=1&amp;pid=695bd52d4&amp;color=0,0,0&amp;vpa=11&amp;vtp=1"/>
          <p:cNvSpPr/>
          <p:nvPr/>
        </p:nvSpPr>
        <p:spPr>
          <a:xfrm>
            <a:off x="638460" y="2313242"/>
            <a:ext cx="423863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29_2#c0ce43d88.choices?vcp=1&amp;pid=695bd52d4&amp;color=0,0,0&amp;vtp=1&amp;bbb=1"/>
              <p:cNvSpPr/>
              <p:nvPr/>
            </p:nvSpPr>
            <p:spPr>
              <a:xfrm>
                <a:off x="393192" y="2804731"/>
                <a:ext cx="11402568" cy="71062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6100"/>
                  </a:lnSpc>
                  <a:tabLst>
                    <a:tab pos="2961127" algn="l"/>
                    <a:tab pos="5896854" algn="l"/>
                    <a:tab pos="8832581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BD.29_2#c0ce43d88.choices?vcp=1&amp;pid=695bd52d4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804731"/>
                <a:ext cx="11402568" cy="710629"/>
              </a:xfrm>
              <a:prstGeom prst="rect">
                <a:avLst/>
              </a:prstGeom>
              <a:blipFill>
                <a:blip r:embed="rId4"/>
                <a:stretch>
                  <a:fillRect l="-1658" b="-1453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AS.31_1#c0ce43d88?vcp=1&amp;pid=695bd52d4&amp;color=0,0,0&amp;vtp=1&amp;bbb=1&amp;hb=1"/>
              <p:cNvSpPr/>
              <p:nvPr/>
            </p:nvSpPr>
            <p:spPr>
              <a:xfrm>
                <a:off x="393192" y="3526472"/>
                <a:ext cx="11402568" cy="1676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以物体为研究对象，设物体的加速度为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,绳中的拉力为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，由牛顿第二定律得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,以人为研究对象，人相对于绳匀速运动，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说明人与绳有相同的加速度，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由牛顿第二定律得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,由以上两式可求得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𝒈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,故B正确.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AS.31_1#c0ce43d88?vcp=1&amp;pid=695bd52d4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526472"/>
                <a:ext cx="11402568" cy="1676400"/>
              </a:xfrm>
              <a:prstGeom prst="rect">
                <a:avLst/>
              </a:prstGeom>
              <a:blipFill>
                <a:blip r:embed="rId5"/>
                <a:stretch>
                  <a:fillRect l="-1658" r="-1551" b="-654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&amp;si=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theme/theme1.xml><?xml version="1.0" encoding="utf-8"?>
<a:theme xmlns:a="http://schemas.openxmlformats.org/drawingml/2006/mai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1227</Words>
  <Application>Microsoft Office PowerPoint</Application>
  <PresentationFormat>宽屏</PresentationFormat>
  <Paragraphs>142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6" baseType="lpstr">
      <vt:lpstr>KaiTi</vt:lpstr>
      <vt:lpstr>SimSun</vt:lpstr>
      <vt:lpstr>微软雅黑</vt:lpstr>
      <vt:lpstr>Arial</vt:lpstr>
      <vt:lpstr>Cambria Math</vt:lpstr>
      <vt:lpstr>Times New Roman</vt:lpstr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Administrator</cp:lastModifiedBy>
  <cp:revision>2</cp:revision>
  <dcterms:created xsi:type="dcterms:W3CDTF">2026-05-25T07:58:10Z</dcterms:created>
  <dcterms:modified xsi:type="dcterms:W3CDTF">2026-05-25T08:06:26Z</dcterms:modified>
  <cp:category/>
  <cp:contentStatus/>
</cp:coreProperties>
</file>