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6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84e7c4561,6ab8a9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16f6b1c85&amp;amp;cid=16f6b1c85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a65f5c578&amp;amp;cid=a65f5c578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6ee74027b&amp;amp;cid=6ee74027b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53d74a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a5b56986b&amp;amp;cid=a5b56986b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6994bdaea&amp;amp;cid=6994bdaea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af1ae91ed&amp;amp;cid=af1ae91ed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b3b485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8?lid=5aa2e0f75&amp;amp;cid=5aa2e0f75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84e7c45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疑难专题12 动力学临界与极值问题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84e7c4561,6ab8a9204#df=84e7c45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疑难专题12 动力学临界与极值问题</a:t>
            </a:r>
            <a:endParaRPr lang="en-US" sz="1800" dirty="0"/>
          </a:p>
        </p:txBody>
      </p:sp>
      <p:sp>
        <p:nvSpPr>
          <p:cNvPr id="5" name="C_0#auto_editor_catalog_0?lid=16f6b1c85&amp;amp;cid=16f6b1c85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a65f5c578&amp;amp;cid=a65f5c578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6ee74027b&amp;amp;cid=6ee74027b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53d74a95#df=84e7c45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疑难专题12 动力学临界与极值问题</a:t>
            </a:r>
            <a:endParaRPr lang="en-US" sz="1800" dirty="0"/>
          </a:p>
        </p:txBody>
      </p:sp>
      <p:sp>
        <p:nvSpPr>
          <p:cNvPr id="5" name="C_0#auto_editor_catalog_4?lid=a5b56986b&amp;amp;cid=a5b56986b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6994bdaea&amp;amp;cid=6994bdaea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af1ae91ed&amp;amp;cid=af1ae91ed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b3b4850d#df=84e7c45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疑难专题12 动力学临界与极值问题</a:t>
            </a:r>
            <a:endParaRPr lang="en-US" sz="1800" dirty="0"/>
          </a:p>
        </p:txBody>
      </p:sp>
      <p:sp>
        <p:nvSpPr>
          <p:cNvPr id="5" name="C_0#auto_editor_catalog_8?lid=5aa2e0f75&amp;amp;cid=5aa2e0f75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84e7c4561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84e7c4561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动力学临界与极值问题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ab8a9204?vcp=1&amp;pid=84e7c456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ba6240128?vcp=1&amp;pid=6ab8a920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16f6b1c85?vcp=1&amp;pid=6ab8a9204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的小球用细绳拴在倾角为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，此时，细绳平行于斜面.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16f6b1c85?vcp=1&amp;pid=6ab8a920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963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16f6b1c85.bracket?vcp=1&amp;pid=6ab8a9204&amp;color=0,0,0&amp;vpa=1&amp;vtp=1&amp;bbb=1"/>
          <p:cNvSpPr/>
          <p:nvPr/>
        </p:nvSpPr>
        <p:spPr>
          <a:xfrm>
            <a:off x="1908461" y="269684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</a:t>
            </a:r>
            <a:endParaRPr lang="en-US" altLang="zh-CN" sz="2400" dirty="0"/>
          </a:p>
        </p:txBody>
      </p:sp>
      <p:pic>
        <p:nvPicPr>
          <p:cNvPr id="6" name="QC_4_BD.1_2#16f6b1c85?htil=1&amp;vcp=1&amp;pid=6ab8a920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5474" y="3324479"/>
            <a:ext cx="1563624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16f6b1c85.choices?htil=1&amp;vcp=1&amp;pid=6ab8a9204&amp;color=0,0,0&amp;vtp=1&amp;bbb=1"/>
              <p:cNvSpPr/>
              <p:nvPr/>
            </p:nvSpPr>
            <p:spPr>
              <a:xfrm>
                <a:off x="393192" y="3178175"/>
                <a:ext cx="9701784" cy="23101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A.当斜面以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的加速度向右加速运动时，细绳的拉力大小为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.当斜面以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的加速度向右加速运动时，斜面对小球的支持力为0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.当斜面以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的加速度向右加速运动时，细绳的拉力大小为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.当斜面以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的加速度向右加速运动时，细绳的拉力大小为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16f6b1c85.choices?htil=1&amp;vcp=1&amp;pid=6ab8a920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9701784" cy="2310130"/>
              </a:xfrm>
              <a:prstGeom prst="rect">
                <a:avLst/>
              </a:prstGeom>
              <a:blipFill>
                <a:blip r:embed="rId5"/>
                <a:stretch>
                  <a:fillRect l="-1948" b="-817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3_1#16f6b1c85?htil=2&amp;vcp=1&amp;pid=6ab8a920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1264" y="996601"/>
            <a:ext cx="4105656" cy="193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3_2#16f6b1c85?htil=2&amp;vcp=1&amp;pid=6ab8a9204&amp;color=0,0,0&amp;vtp=1&amp;bt=1&amp;bbb=1&amp;hb=1&amp;hs=1"/>
              <p:cNvSpPr/>
              <p:nvPr/>
            </p:nvSpPr>
            <p:spPr>
              <a:xfrm>
                <a:off x="393192" y="950881"/>
                <a:ext cx="7159752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]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小球刚好离开斜面时的临界条件是斜面对小球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的弹力恰好为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0，小球受力情况如图甲所示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，设此时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3_2#16f6b1c85?htil=2&amp;vcp=1&amp;pid=6ab8a920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0881"/>
                <a:ext cx="7159752" cy="2155190"/>
              </a:xfrm>
              <a:prstGeom prst="rect">
                <a:avLst/>
              </a:prstGeom>
              <a:blipFill>
                <a:blip r:embed="rId4"/>
                <a:stretch>
                  <a:fillRect l="-2641" r="-1278" b="-81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3_2#16f6b1c85?htil=2&amp;vcp=1&amp;pid=6ab8a9204&amp;color=0,0,0&amp;vtp=1&amp;bt=1&amp;bbb=1&amp;hb=1&amp;hs=1">
                <a:extLst>
                  <a:ext uri="{FF2B5EF4-FFF2-40B4-BE49-F238E27FC236}">
                    <a16:creationId xmlns:a16="http://schemas.microsoft.com/office/drawing/2014/main" id="{C61741E0-C530-6858-AD84-103C57EC1FEE}"/>
                  </a:ext>
                </a:extLst>
              </p:cNvPr>
              <p:cNvSpPr/>
              <p:nvPr/>
            </p:nvSpPr>
            <p:spPr>
              <a:xfrm>
                <a:off x="393192" y="3087021"/>
                <a:ext cx="11400008" cy="2800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，故当斜面以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的加速度向右加速运动时，斜面对小球的支持力恰好为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0，细绳的拉力大小为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,可见小球离开了斜面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，此时小球的受力情况如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图乙所示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和重力的合力水平向右，则细绳的拉力大小为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3_2#16f6b1c85?htil=2&amp;vcp=1&amp;pid=6ab8a9204&amp;color=0,0,0&amp;vtp=1&amp;bt=1&amp;bbb=1&amp;hb=1&amp;hs=1">
                <a:extLst>
                  <a:ext uri="{FF2B5EF4-FFF2-40B4-BE49-F238E27FC236}">
                    <a16:creationId xmlns:a16="http://schemas.microsoft.com/office/drawing/2014/main" id="{C61741E0-C530-6858-AD84-103C57EC1F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87021"/>
                <a:ext cx="11400008" cy="2800096"/>
              </a:xfrm>
              <a:prstGeom prst="rect">
                <a:avLst/>
              </a:prstGeom>
              <a:blipFill>
                <a:blip r:embed="rId5"/>
                <a:stretch>
                  <a:fillRect l="-1658" r="-1230" b="-63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a65f5c578?vcp=1&amp;pid=6ab8a9204&amp;color=0,0,0&amp;vtp=1&amp;bt=1&amp;bbb=1&amp;hb=1"/>
              <p:cNvSpPr/>
              <p:nvPr/>
            </p:nvSpPr>
            <p:spPr>
              <a:xfrm>
                <a:off x="393192" y="1157701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（多选题）一辆货车运载着圆柱形的光滑空油桶.在车厢底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，一层油桶平整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排列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，相互紧贴并被牢牢固定，上一层只有桶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，自由地摆放在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，没有用绳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索固定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的支持力，和货车一起保持静止状态，如图所示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正确的是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a65f5c578?vcp=1&amp;pid=6ab8a920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7701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42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a65f5c578.bracket?vcp=1&amp;pid=6ab8a9204&amp;color=0,0,0&amp;vpa=2&amp;vtp=1&amp;bbb=1"/>
          <p:cNvSpPr/>
          <p:nvPr/>
        </p:nvSpPr>
        <p:spPr>
          <a:xfrm>
            <a:off x="4525105" y="2822671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4_BD.4_2#a65f5c578?htil=3&amp;vcp=1&amp;pid=6ab8a920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37690" y="3343116"/>
            <a:ext cx="2103120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a65f5c578.choices?htil=3&amp;vcp=1&amp;pid=6ab8a9204&amp;color=0,0,0&amp;vtp=1&amp;bbb=1"/>
              <p:cNvSpPr/>
              <p:nvPr/>
            </p:nvSpPr>
            <p:spPr>
              <a:xfrm>
                <a:off x="393192" y="3297396"/>
                <a:ext cx="9162288" cy="23969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A.当汽车向左做加速运动时，加速度变大，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的支持力变大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.当汽车向左做加速运动，且加速度达到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将脱离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.汽车向左匀速运动时，速度越大，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的支持力越大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.当汽车向右做加速运动，且加速度达到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将脱离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a65f5c578.choices?htil=3&amp;vcp=1&amp;pid=6ab8a920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97396"/>
                <a:ext cx="9162288" cy="2396998"/>
              </a:xfrm>
              <a:prstGeom prst="rect">
                <a:avLst/>
              </a:prstGeom>
              <a:blipFill>
                <a:blip r:embed="rId5"/>
                <a:stretch>
                  <a:fillRect l="-2063" b="-43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6_1#a65f5c578?htil=4&amp;vcp=1&amp;pid=6ab8a920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94635" y="666464"/>
            <a:ext cx="2002536" cy="12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6_2#a65f5c578?htil=4&amp;vcp=1&amp;pid=6ab8a9204&amp;color=0,0,0&amp;vtp=1&amp;bt=1&amp;bbb=1&amp;hb=1&amp;hs=1"/>
              <p:cNvSpPr/>
              <p:nvPr/>
            </p:nvSpPr>
            <p:spPr>
              <a:xfrm>
                <a:off x="393192" y="620744"/>
                <a:ext cx="9262872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受力分析如图所示，当车向左做匀加速直线运动时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据牛顿第二定律有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，竖直方向根据平衡条件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，加速度变大，则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的支持力增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6_2#a65f5c578?htil=4&amp;vcp=1&amp;pid=6ab8a920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0744"/>
                <a:ext cx="9262872" cy="1596390"/>
              </a:xfrm>
              <a:prstGeom prst="rect">
                <a:avLst/>
              </a:prstGeom>
              <a:blipFill>
                <a:blip r:embed="rId4"/>
                <a:stretch>
                  <a:fillRect l="-2041" r="-527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6_2#a65f5c578?htil=4&amp;vcp=1&amp;pid=6ab8a9204&amp;color=0,0,0&amp;vtp=1&amp;bt=1&amp;bbb=1&amp;hb=1&amp;hs=1">
                <a:extLst>
                  <a:ext uri="{FF2B5EF4-FFF2-40B4-BE49-F238E27FC236}">
                    <a16:creationId xmlns:a16="http://schemas.microsoft.com/office/drawing/2014/main" id="{9EA2E73E-BD35-9A9D-10D8-E0AFDC47244F}"/>
                  </a:ext>
                </a:extLst>
              </p:cNvPr>
              <p:cNvSpPr/>
              <p:nvPr/>
            </p:nvSpPr>
            <p:spPr>
              <a:xfrm>
                <a:off x="393192" y="2214340"/>
                <a:ext cx="11400008" cy="40650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的支持力减小，故A正确；当货车向左做加速运动，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将要脱离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0，此时有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，故B错误；货车向左匀速运动时，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受力平衡，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无论速度多大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，故C错误；当货车向右做加速运动，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将要脱离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6_2#a65f5c578?htil=4&amp;vcp=1&amp;pid=6ab8a9204&amp;color=0,0,0&amp;vtp=1&amp;bt=1&amp;bbb=1&amp;hb=1&amp;hs=1">
                <a:extLst>
                  <a:ext uri="{FF2B5EF4-FFF2-40B4-BE49-F238E27FC236}">
                    <a16:creationId xmlns:a16="http://schemas.microsoft.com/office/drawing/2014/main" id="{9EA2E73E-BD35-9A9D-10D8-E0AFDC472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4340"/>
                <a:ext cx="11400008" cy="4065080"/>
              </a:xfrm>
              <a:prstGeom prst="rect">
                <a:avLst/>
              </a:prstGeom>
              <a:blipFill>
                <a:blip r:embed="rId5"/>
                <a:stretch>
                  <a:fillRect l="-1658" r="-1230" b="-25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6ee74027b?vcp=1&amp;pid=6ab8a9204&amp;color=0,0,0&amp;vtp=1&amp;bt=1&amp;bbb=1&amp;hb=1"/>
              <p:cNvSpPr/>
              <p:nvPr/>
            </p:nvSpPr>
            <p:spPr>
              <a:xfrm>
                <a:off x="393192" y="570135"/>
                <a:ext cx="11402568" cy="3293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（2026·湖北省武昌实验中学检测）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一只杯子固定在水平桌面上，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将一块薄纸板盖在杯口上并在纸板上放一枚鸡蛋，现用水平向右的拉力将纸板快速抽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，鸡蛋（水平移动距离很小，几乎看不到）落入杯中，这就是惯性演示实验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（可视为质点）中心离纸板左端的距离为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，鸡蛋和纸板的质量分别为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有接触面间的动摩擦因数均为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，若鸡蛋移动的距离不超过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就能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保证实验成功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则所需拉力的最小值为(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6ee74027b?vcp=1&amp;pid=6ab8a920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0135"/>
                <a:ext cx="11402568" cy="3293999"/>
              </a:xfrm>
              <a:prstGeom prst="rect">
                <a:avLst/>
              </a:prstGeom>
              <a:blipFill>
                <a:blip r:embed="rId3"/>
                <a:stretch>
                  <a:fillRect l="-1658" r="-3904" b="-55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6ee74027b.bracket?vcp=1&amp;pid=6ab8a9204&amp;color=0,0,0&amp;vpa=3&amp;vtp=1"/>
          <p:cNvSpPr/>
          <p:nvPr/>
        </p:nvSpPr>
        <p:spPr>
          <a:xfrm>
            <a:off x="5807360" y="337810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7_2#6ee74027b?vcp=1&amp;pid=6ab8a920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73752" y="3993038"/>
            <a:ext cx="2450592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6ee74027b.choices?vcp=1&amp;pid=6ab8a9204&amp;color=0,0,0&amp;vtp=1&amp;bbb=1"/>
              <p:cNvSpPr/>
              <p:nvPr/>
            </p:nvSpPr>
            <p:spPr>
              <a:xfrm>
                <a:off x="393192" y="563133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30952" algn="l"/>
                    <a:tab pos="5636504" algn="l"/>
                    <a:tab pos="86071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26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6ee74027b.choices?vcp=1&amp;pid=6ab8a920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631338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6ee74027b?vcp=1&amp;pid=6ab8a9204&amp;color=0,0,0&amp;vtp=1&amp;bt=1&amp;bbb=1&amp;hb=1"/>
              <p:cNvSpPr/>
              <p:nvPr/>
            </p:nvSpPr>
            <p:spPr>
              <a:xfrm>
                <a:off x="393192" y="1773777"/>
                <a:ext cx="11402568" cy="334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当纸板相对鸡蛋运动时，设鸡蛋的加速度为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,纸板的加速度为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.为确保实验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成功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，即鸡蛋移动的距离不超过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，则纸板抽出时鸡蛋运动的最大距离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纸板运动距离为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，对鸡蛋有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,对纸板有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力的最小值为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6ee74027b?vcp=1&amp;pid=6ab8a920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3777"/>
                <a:ext cx="11402568" cy="3348800"/>
              </a:xfrm>
              <a:prstGeom prst="rect">
                <a:avLst/>
              </a:prstGeom>
              <a:blipFill>
                <a:blip r:embed="rId3"/>
                <a:stretch>
                  <a:fillRect l="-1658" r="-642" b="-52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53d74a95?vcp=1&amp;pid=84e7c4561&amp;color=0,0,0&amp;vtp=1&amp;bt=1&amp;bbb=1"/>
          <p:cNvSpPr/>
          <p:nvPr/>
        </p:nvSpPr>
        <p:spPr>
          <a:xfrm>
            <a:off x="393192" y="502920"/>
            <a:ext cx="11402568" cy="484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657cece4d?vcp=1&amp;pid=253d74a95&amp;color=0,0,0&amp;vtp=1&amp;bbb=1"/>
          <p:cNvSpPr/>
          <p:nvPr/>
        </p:nvSpPr>
        <p:spPr>
          <a:xfrm>
            <a:off x="393192" y="1046529"/>
            <a:ext cx="11402568" cy="45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9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0_1#a5b56986b?vcp=1&amp;pid=253d74a95&amp;color=0,0,0&amp;vtp=1&amp;bbb=1&amp;hb=1"/>
              <p:cNvSpPr/>
              <p:nvPr/>
            </p:nvSpPr>
            <p:spPr>
              <a:xfrm>
                <a:off x="393192" y="1505522"/>
                <a:ext cx="11402568" cy="2468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（多选题）如图所示，一弹簧一端固定在倾角为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的光滑固定斜面的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底端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，另一端拴住质量为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为一质量为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的质量不计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，劲度系数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，系统处于静止状态.现给物体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施加一个方向沿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斜面向上的力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，使它从静止开始沿斜面向上做匀加速运动，已知在前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为变力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为恒力，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0_1#a5b56986b?vcp=1&amp;pid=253d74a9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5522"/>
                <a:ext cx="11402568" cy="2468499"/>
              </a:xfrm>
              <a:prstGeom prst="rect">
                <a:avLst/>
              </a:prstGeom>
              <a:blipFill>
                <a:blip r:embed="rId3"/>
                <a:stretch>
                  <a:fillRect l="-1658" t="-247" r="-2139" b="-74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1_1#a5b56986b.bracket?vcp=1&amp;pid=253d74a95&amp;color=0,0,0&amp;vpa=4&amp;vtp=1&amp;bbb=1"/>
          <p:cNvSpPr/>
          <p:nvPr/>
        </p:nvSpPr>
        <p:spPr>
          <a:xfrm>
            <a:off x="10592784" y="3526346"/>
            <a:ext cx="865188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6" name="QC_4_BD.10_2#a5b56986b?htil=5&amp;vcp=1&amp;pid=253d74a9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3568" y="4032759"/>
            <a:ext cx="1563624" cy="12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0_3#a5b56986b.choices?htil=5&amp;vcp=1&amp;pid=253d74a95&amp;color=0,0,0&amp;vtp=1&amp;bbb=1"/>
              <p:cNvSpPr/>
              <p:nvPr/>
            </p:nvSpPr>
            <p:spPr>
              <a:xfrm>
                <a:off x="393192" y="3977894"/>
                <a:ext cx="9701784" cy="202520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A.开始运动时拉力最大，分离时拉力最小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时刻两物体分离，此时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之间的弹力为0且加速度大小相等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时刻两物体分离时，弹簧的压缩量为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75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从静止开始沿斜面向上做匀加速运动的加速度大小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0_3#a5b56986b.choices?htil=5&amp;vcp=1&amp;pid=253d74a9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7894"/>
                <a:ext cx="9701784" cy="2025206"/>
              </a:xfrm>
              <a:prstGeom prst="rect">
                <a:avLst/>
              </a:prstGeom>
              <a:blipFill>
                <a:blip r:embed="rId5"/>
                <a:stretch>
                  <a:fillRect l="-1948" t="-301" b="-512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a5b56986b?vcp=1&amp;pid=253d74a95&amp;color=0,0,0&amp;vtp=1&amp;bt=1&amp;bbb=1&amp;hb=1"/>
              <p:cNvSpPr/>
              <p:nvPr/>
            </p:nvSpPr>
            <p:spPr>
              <a:xfrm>
                <a:off x="393192" y="1675479"/>
                <a:ext cx="11402568" cy="332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对两物体受力分析知，开始运动时拉力最小，分离时拉力最大，故A错误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；前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为变力，之后为恒力，则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时刻两物体分离，此时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之间的弹力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0且加速度大小相等，设此时弹簧的压缩量为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时间内两物体的位移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,由未加拉力时受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力平衡得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，故B、C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、D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a5b56986b?vcp=1&amp;pid=253d74a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75479"/>
                <a:ext cx="11402568" cy="3323400"/>
              </a:xfrm>
              <a:prstGeom prst="rect">
                <a:avLst/>
              </a:prstGeom>
              <a:blipFill>
                <a:blip r:embed="rId3"/>
                <a:stretch>
                  <a:fillRect l="-1658" r="-963" b="-532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6994bdaea?vcp=1&amp;pid=253d74a95&amp;color=0,0,0&amp;vtp=1&amp;bt=1&amp;bbb=1&amp;hb=1"/>
              <p:cNvSpPr/>
              <p:nvPr/>
            </p:nvSpPr>
            <p:spPr>
              <a:xfrm>
                <a:off x="393192" y="677545"/>
                <a:ext cx="11402568" cy="30558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（多选题）如图所示，带有固定挡板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和定滑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轮的木板一端垫高后与水平面夹角为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与挡板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之间有一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轻质弹簧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，细绳跨过定滑轮，一端连接着质量为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，另一端连接着物块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细绳在滑轮左侧部分与木板平行）.开始时用外力托着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，细绳伸直但无张力，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.现撤去外力，将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由静止释放后，发现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速度最大时，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恰好分离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知木板足够长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，所有摩擦不计，弹簧劲度系数为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，下列说法正确的</a:t>
                </a:r>
              </a:p>
              <a:p>
                <a:pPr latinLnBrk="1">
                  <a:lnSpc>
                    <a:spcPts val="3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6994bdaea?vcp=1&amp;pid=253d74a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7545"/>
                <a:ext cx="11402568" cy="3055874"/>
              </a:xfrm>
              <a:prstGeom prst="rect">
                <a:avLst/>
              </a:prstGeom>
              <a:blipFill>
                <a:blip r:embed="rId3"/>
                <a:stretch>
                  <a:fillRect l="-1658" t="-2395" r="-1070" b="-618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6994bdaea.bracket?vcp=1&amp;pid=253d74a95&amp;color=0,0,0&amp;vpa=5&amp;vtp=1&amp;bbb=1"/>
          <p:cNvSpPr/>
          <p:nvPr/>
        </p:nvSpPr>
        <p:spPr>
          <a:xfrm>
            <a:off x="955960" y="3329686"/>
            <a:ext cx="865188" cy="39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13_2#6994bdaea?htil=6&amp;vcp=1&amp;pid=253d74a9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8552" y="3327907"/>
            <a:ext cx="2788920" cy="16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6994bdaea.choices?htil=6&amp;vcp=1&amp;pid=253d74a95&amp;color=0,0,0&amp;vtp=1&amp;bbb=1"/>
              <p:cNvSpPr/>
              <p:nvPr/>
            </p:nvSpPr>
            <p:spPr>
              <a:xfrm>
                <a:off x="393192" y="3718940"/>
                <a:ext cx="8476488" cy="238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A.撤去外力前弹簧的压缩量为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.细绳张力最大值为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.撤去外力的瞬间，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间压力变为原来的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6994bdaea.choices?htil=6&amp;vcp=1&amp;pid=253d74a9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18940"/>
                <a:ext cx="8476488" cy="2387600"/>
              </a:xfrm>
              <a:prstGeom prst="rect">
                <a:avLst/>
              </a:prstGeom>
              <a:blipFill>
                <a:blip r:embed="rId5"/>
                <a:stretch>
                  <a:fillRect l="-2230" b="-43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6994bdaea?vcp=1&amp;pid=253d74a95&amp;color=0,0,0&amp;vtp=1&amp;bt=1&amp;bbb=1&amp;hb=1"/>
              <p:cNvSpPr/>
              <p:nvPr/>
            </p:nvSpPr>
            <p:spPr>
              <a:xfrm>
                <a:off x="393192" y="504000"/>
                <a:ext cx="11402568" cy="5854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撤去外力前，对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整体分析，可知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，可得弹簧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的压缩量为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，A错误；撤去外力后，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做加速度减小的加速运动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速度最大时，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恰好分离，此时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的加速度为0，对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</a:t>
                </a:r>
              </a:p>
              <a:p>
                <a:pPr latinLnBrk="1">
                  <a:lnSpc>
                    <a:spcPts val="5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,可得物块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,可知当加速度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最小时细绳拉力最大，即当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，则细绳张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力最大值为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，C正确；撤去外力之前，对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间的压力大小为</a:t>
                </a:r>
              </a:p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，撤去外力瞬间，对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，即撤去外力瞬间，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间压力变为原来的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6994bdaea?vcp=1&amp;pid=253d74a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854700"/>
              </a:xfrm>
              <a:prstGeom prst="rect">
                <a:avLst/>
              </a:prstGeom>
              <a:blipFill>
                <a:blip r:embed="rId3"/>
                <a:stretch>
                  <a:fillRect l="-1658" r="-1444" b="-10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6_1#af1ae91ed?htil=7&amp;vcp=1&amp;pid=253d74a95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6151" y="666559"/>
            <a:ext cx="3867912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6_2#af1ae91ed?htil=7&amp;vcp=1&amp;pid=253d74a95&amp;color=0,0,0&amp;vtp=1&amp;bt=1&amp;bbb=1&amp;hb=1&amp;hs=1"/>
              <p:cNvSpPr/>
              <p:nvPr/>
            </p:nvSpPr>
            <p:spPr>
              <a:xfrm>
                <a:off x="393192" y="620839"/>
                <a:ext cx="7406640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如图所示，水平桌面上质量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=0.01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纸板上放有一质量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=0.02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的小水杯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（可视为质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），小水杯距纸板左端的距离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，距桌子右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6_2#af1ae91ed?htil=7&amp;vcp=1&amp;pid=253d74a9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0839"/>
                <a:ext cx="7406640" cy="1596390"/>
              </a:xfrm>
              <a:prstGeom prst="rect">
                <a:avLst/>
              </a:prstGeom>
              <a:blipFill>
                <a:blip r:embed="rId4"/>
                <a:stretch>
                  <a:fillRect l="-2551" r="-98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5_BD.17_1#380228728?vcp=1&amp;pid=af1ae91ed&amp;color=0,0,0&amp;vtp=1&amp;bbb=1"/>
          <p:cNvSpPr/>
          <p:nvPr/>
        </p:nvSpPr>
        <p:spPr>
          <a:xfrm>
            <a:off x="393192" y="3801935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（1）当抽动纸板且水杯相对纸板滑动时，水杯所受摩擦力及其加速度分别为多大？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18_1#380228728?vcp=1&amp;pid=af1ae91ed&amp;color=0,0,0&amp;vtp=1&amp;bbb=1&amp;hb=1"/>
              <p:cNvSpPr/>
              <p:nvPr/>
            </p:nvSpPr>
            <p:spPr>
              <a:xfrm>
                <a:off x="393192" y="4353940"/>
                <a:ext cx="11402568" cy="166966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当抽动纸板且水杯相对纸板滑动时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，水杯所受摩擦力的大小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，方向水平向右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；根据牛顿第二定律可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得水杯的加速度大小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𝐟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18_1#380228728?vcp=1&amp;pid=af1ae91e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53940"/>
                <a:ext cx="11402568" cy="1669669"/>
              </a:xfrm>
              <a:prstGeom prst="rect">
                <a:avLst/>
              </a:prstGeom>
              <a:blipFill>
                <a:blip r:embed="rId5"/>
                <a:stretch>
                  <a:fillRect l="-1658" b="-36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4_BD.16_2#af1ae91ed?htil=7&amp;vcp=1&amp;pid=253d74a95&amp;color=0,0,0&amp;vtp=1&amp;bt=1&amp;bbb=1&amp;hb=1&amp;hs=1">
                <a:extLst>
                  <a:ext uri="{FF2B5EF4-FFF2-40B4-BE49-F238E27FC236}">
                    <a16:creationId xmlns:a16="http://schemas.microsoft.com/office/drawing/2014/main" id="{9F1695D7-B135-A92D-1ABC-960D1A18EA75}"/>
                  </a:ext>
                </a:extLst>
              </p:cNvPr>
              <p:cNvSpPr/>
              <p:nvPr/>
            </p:nvSpPr>
            <p:spPr>
              <a:xfrm>
                <a:off x="393192" y="2214436"/>
                <a:ext cx="11400008" cy="15956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.现对纸板施加一个水平向右的恒力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欲将纸板从小水杯下抽出.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若纸板与桌面、水杯与桌面间的动摩擦因数均为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，水杯与纸板间的动摩擦因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，设水杯在运动过程中始终不会翻倒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4_BD.16_2#af1ae91ed?htil=7&amp;vcp=1&amp;pid=253d74a95&amp;color=0,0,0&amp;vtp=1&amp;bt=1&amp;bbb=1&amp;hb=1&amp;hs=1">
                <a:extLst>
                  <a:ext uri="{FF2B5EF4-FFF2-40B4-BE49-F238E27FC236}">
                    <a16:creationId xmlns:a16="http://schemas.microsoft.com/office/drawing/2014/main" id="{9F1695D7-B135-A92D-1ABC-960D1A18E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14436"/>
                <a:ext cx="11400008" cy="1595628"/>
              </a:xfrm>
              <a:prstGeom prst="rect">
                <a:avLst/>
              </a:prstGeom>
              <a:blipFill>
                <a:blip r:embed="rId6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19_1#49c1655c2?vcp=1&amp;pid=af1ae91ed&amp;color=0,0,0&amp;vtp=1&amp;bt=1&amp;bbb=1"/>
          <p:cNvSpPr/>
          <p:nvPr/>
        </p:nvSpPr>
        <p:spPr>
          <a:xfrm>
            <a:off x="393192" y="2074672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（2）在第（1）问的情形下，纸板所受摩擦力共有多大？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0_1#49c1655c2?vcp=1&amp;pid=af1ae91ed&amp;color=0,0,0&amp;vtp=1&amp;bbb=1&amp;hb=1"/>
              <p:cNvSpPr/>
              <p:nvPr/>
            </p:nvSpPr>
            <p:spPr>
              <a:xfrm>
                <a:off x="393192" y="2632773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在第（1）问的情形下，纸板受到水杯对它水平向左的滑动摩擦力作用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，纸板向右运动，还受到桌面对它水平向左的滑动摩擦力作用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所以纸板所受的总摩擦力大小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0_1#49c1655c2?vcp=1&amp;pid=af1ae91e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2773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69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1_1#33b63d8d6?vcp=1&amp;pid=af1ae91ed&amp;color=0,0,0&amp;vtp=1&amp;bt=1&amp;bbb=1"/>
              <p:cNvSpPr/>
              <p:nvPr/>
            </p:nvSpPr>
            <p:spPr>
              <a:xfrm>
                <a:off x="393192" y="74634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满足什么条件时，纸板能从水杯下抽出，且水杯不会从桌面滑落？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1_1#33b63d8d6?vcp=1&amp;pid=af1ae91ed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634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58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2_1#33b63d8d6?vcp=1&amp;pid=af1ae91ed&amp;color=0,0,0&amp;vtp=1&amp;bbb=1&amp;hb=1"/>
              <p:cNvSpPr/>
              <p:nvPr/>
            </p:nvSpPr>
            <p:spPr>
              <a:xfrm>
                <a:off x="393192" y="1245838"/>
                <a:ext cx="11402568" cy="444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将纸板抽出的过程，对纸板有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，设经历的时间为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，则该过程中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水杯与纸板的位移关系满足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，纸板抽出后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，水杯在桌面上做匀减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，设经历时间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水杯恰好到达桌面右边缘静止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，则对水杯由牛顿第二定律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由速度关系有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水杯的位移关系满足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时，纸板能从水杯下抽出，且水杯不会从桌面滑落.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2_1#33b63d8d6?vcp=1&amp;pid=af1ae91e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5838"/>
                <a:ext cx="11402568" cy="4441000"/>
              </a:xfrm>
              <a:prstGeom prst="rect">
                <a:avLst/>
              </a:prstGeom>
              <a:blipFill>
                <a:blip r:embed="rId4"/>
                <a:stretch>
                  <a:fillRect l="-1658" r="-1123" b="-41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4b3b4850d?vcp=1&amp;pid=84e7c456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c4baf054c?vcp=1&amp;pid=4b3b4850d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23_1#5aa2e0f75?vcp=1&amp;pid=4b3b4850d&amp;color=0,0,0&amp;vtp=1&amp;bbb=1&amp;hb=1"/>
              <p:cNvSpPr/>
              <p:nvPr/>
            </p:nvSpPr>
            <p:spPr>
              <a:xfrm>
                <a:off x="393192" y="159067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（清华大学自主招生）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，按图示方式放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置在光滑水平面上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，斜劈的倾斜角为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物体上表面水平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，现加一个水平向右的力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在斜劈上.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23_1#5aa2e0f75?vcp=1&amp;pid=4b3b4850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802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23_2#5aa2e0f75?vcp=1&amp;pid=4b3b4850d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192" y="3305175"/>
            <a:ext cx="2249424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4_1#cd347af97?vcp=1&amp;pid=5aa2e0f75&amp;color=0,0,0&amp;vtp=1&amp;bt=1&amp;bbb=1"/>
              <p:cNvSpPr/>
              <p:nvPr/>
            </p:nvSpPr>
            <p:spPr>
              <a:xfrm>
                <a:off x="393192" y="1265111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（1）若三物体间无相对滑动，求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间的摩擦力.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4_1#cd347af97?vcp=1&amp;pid=5aa2e0f75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65111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5_1#cd347af97?vcp=1&amp;pid=5aa2e0f75&amp;color=0,0,0&amp;vtp=1&amp;bbb=1&amp;hb=1"/>
              <p:cNvSpPr/>
              <p:nvPr/>
            </p:nvSpPr>
            <p:spPr>
              <a:xfrm>
                <a:off x="393192" y="1764602"/>
                <a:ext cx="11402568" cy="127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对整体而言，产生的加速度为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间的摩擦力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5_1#cd347af97?vcp=1&amp;pid=5aa2e0f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64602"/>
                <a:ext cx="11402568" cy="1270000"/>
              </a:xfrm>
              <a:prstGeom prst="rect">
                <a:avLst/>
              </a:prstGeom>
              <a:blipFill>
                <a:blip r:embed="rId4"/>
                <a:stretch>
                  <a:fillRect l="-1658" b="-478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5_AN.25_2#cd347af97?htil=8&amp;vcp=1&amp;pid=5aa2e0f75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17802" y="3087942"/>
            <a:ext cx="1965960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25_3#cd347af97?htil=8&amp;vcp=1&amp;pid=5aa2e0f75&amp;color=0,0,0&amp;vtp=1&amp;bbb=1"/>
              <p:cNvSpPr/>
              <p:nvPr/>
            </p:nvSpPr>
            <p:spPr>
              <a:xfrm>
                <a:off x="393192" y="3042222"/>
                <a:ext cx="9299448" cy="4883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隔离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进行分析（如图），则：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25_3#cd347af97?htil=8&amp;vcp=1&amp;pid=5aa2e0f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42222"/>
                <a:ext cx="9299448" cy="488315"/>
              </a:xfrm>
              <a:prstGeom prst="rect">
                <a:avLst/>
              </a:prstGeom>
              <a:blipFill>
                <a:blip r:embed="rId6"/>
                <a:stretch>
                  <a:fillRect l="-2033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N.25_4#cd347af97?htil=8&amp;vcp=1&amp;pid=5aa2e0f75&amp;color=0,0,0&amp;vtp=1&amp;bbb=1"/>
              <p:cNvSpPr/>
              <p:nvPr/>
            </p:nvSpPr>
            <p:spPr>
              <a:xfrm>
                <a:off x="393192" y="3535617"/>
                <a:ext cx="9299448" cy="16700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在水平方向上有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在竖直方向上有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N.25_4#cd347af97?htil=8&amp;vcp=1&amp;pid=5aa2e0f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35617"/>
                <a:ext cx="9299448" cy="1670050"/>
              </a:xfrm>
              <a:prstGeom prst="rect">
                <a:avLst/>
              </a:prstGeom>
              <a:blipFill>
                <a:blip r:embed="rId7"/>
                <a:stretch>
                  <a:fillRect l="-2033" b="-328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6_1#92c5342ea?vcp=1&amp;pid=5aa2e0f75&amp;color=0,0,0&amp;vtp=1&amp;bt=1&amp;bbb=1&amp;hb=1"/>
              <p:cNvSpPr/>
              <p:nvPr/>
            </p:nvSpPr>
            <p:spPr>
              <a:xfrm>
                <a:off x="393192" y="2111597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（2）如果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间的动摩擦因数相同，若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间先滑动还是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间先滑动？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6_1#92c5342ea?vcp=1&amp;pid=5aa2e0f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1597"/>
                <a:ext cx="11402568" cy="1037590"/>
              </a:xfrm>
              <a:prstGeom prst="rect">
                <a:avLst/>
              </a:prstGeom>
              <a:blipFill>
                <a:blip r:embed="rId3"/>
                <a:stretch>
                  <a:fillRect l="-1658" r="-802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7_1#92c5342ea?vcp=1&amp;pid=5aa2e0f75&amp;color=0,0,0&amp;vtp=1&amp;bbb=1&amp;hb=1"/>
              <p:cNvSpPr/>
              <p:nvPr/>
            </p:nvSpPr>
            <p:spPr>
              <a:xfrm>
                <a:off x="393192" y="3157823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间滑动的临界加速度为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;此时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，对应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)&gt;(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间的最大静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摩擦力不足以满足对应的摩擦力要求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间先滑动.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7_1#92c5342ea?vcp=1&amp;pid=5aa2e0f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57823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r="-80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1525</Words>
  <Application>Microsoft Office PowerPoint</Application>
  <PresentationFormat>宽屏</PresentationFormat>
  <Paragraphs>153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2026-05-25T07:59:24Z</dcterms:created>
  <dcterms:modified xsi:type="dcterms:W3CDTF">2026-05-25T08:07:19Z</dcterms:modified>
  <cp:category/>
  <cp:contentStatus/>
</cp:coreProperties>
</file>