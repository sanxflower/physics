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85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7.xml"/><Relationship Id="rId5" Type="http://schemas.openxmlformats.org/officeDocument/2006/relationships/slide" Target="../slides/slide6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7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5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7.xml"/><Relationship Id="rId5" Type="http://schemas.openxmlformats.org/officeDocument/2006/relationships/slide" Target="../slides/slide6.xml"/><Relationship Id="rId4" Type="http://schemas.openxmlformats.org/officeDocument/2006/relationships/slide" Target="../slides/slide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7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5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62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66bfd3ad1,d454260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393848c69&amp;amp;cid=393848c69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b897929dd&amp;amp;cid=b897929dd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f92922430&amp;amp;cid=f92922430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65572ad6b&amp;amp;cid=65572ad6b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699c77b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93f6ad70c&amp;amp;cid=93f6ad70c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6476c4dc9&amp;amp;cid=6476c4dc9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3889bf3da&amp;amp;cid=3889bf3da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d60e1657e&amp;amp;cid=d60e1657e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5?lid=0d12b611a&amp;amp;cid=0d12b611a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2bfec4e55,281a1b8fd,7398a18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1?lid=a54ede2d9&amp;amp;cid=a54ede2d9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1?lid=c42bb30b3&amp;amp;cid=c42bb30b3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66bfd3a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第17讲 牛顿运动定律的应用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66bfd3ad1,d45426063#df=66bfd3a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第17讲 牛顿运动定律的应用</a:t>
            </a:r>
            <a:endParaRPr lang="en-US" sz="1800" dirty="0"/>
          </a:p>
        </p:txBody>
      </p:sp>
      <p:sp>
        <p:nvSpPr>
          <p:cNvPr id="5" name="C_0#auto_editor_catalog_0?lid=393848c69&amp;amp;cid=393848c69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b897929dd&amp;amp;cid=b897929dd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f92922430&amp;amp;cid=f92922430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65572ad6b&amp;amp;cid=65572ad6b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699c77b7#df=66bfd3a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第17讲 牛顿运动定律的应用</a:t>
            </a:r>
            <a:endParaRPr lang="en-US" sz="1800" dirty="0"/>
          </a:p>
        </p:txBody>
      </p:sp>
      <p:sp>
        <p:nvSpPr>
          <p:cNvPr id="5" name="C_0#auto_editor_catalog_5?lid=93f6ad70c&amp;amp;cid=93f6ad70c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6476c4dc9&amp;amp;cid=6476c4dc9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3889bf3da&amp;amp;cid=3889bf3da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d60e1657e&amp;amp;cid=d60e1657e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5?lid=0d12b611a&amp;amp;cid=0d12b611a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2bfec4e55,281a1b8fd,7398a1802#df=66bfd3a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第17讲 牛顿运动定律的应用</a:t>
            </a:r>
            <a:endParaRPr lang="en-US" sz="1800" dirty="0"/>
          </a:p>
        </p:txBody>
      </p:sp>
      <p:sp>
        <p:nvSpPr>
          <p:cNvPr id="5" name="C_0#auto_editor_catalog_11?lid=a54ede2d9&amp;amp;cid=a54ede2d9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1?lid=c42bb30b3&amp;amp;cid=c42bb30b3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66bfd3ad1.fixed?vcp=1&amp;pid=a1f4ab335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66bfd3ad1.fixed?vcp=1&amp;pid=a1f4ab335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第17讲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牛顿运动定律的应用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d45426063?vcp=1&amp;pid=66bfd3ad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07d8437a3?vcp=1&amp;pid=d45426063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393848c69?vcp=1&amp;pid=d45426063&amp;color=0,0,0&amp;vtp=1&amp;bbb=1&amp;hb=1"/>
              <p:cNvSpPr/>
              <p:nvPr/>
            </p:nvSpPr>
            <p:spPr>
              <a:xfrm>
                <a:off x="393192" y="164928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在水平的足够长的固定木板上，一小物块以某一初速度开始滑动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，经一段时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后停止.现将该木板改成倾角为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让小物块以相同的初速度沿木板上滑.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若小物块与木板之间的动摩擦因数为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，则小物块上滑到最高位置所需时间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之比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393848c69?vcp=1&amp;pid=d4542606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393848c69.bracket?vcp=1&amp;pid=d45426063&amp;color=0,0,0&amp;vpa=1&amp;vtp=1"/>
          <p:cNvSpPr/>
          <p:nvPr/>
        </p:nvSpPr>
        <p:spPr>
          <a:xfrm>
            <a:off x="930560" y="33142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_2#393848c69.choices?vcp=1&amp;pid=d45426063&amp;color=0,0,0&amp;vtp=1&amp;bbb=1"/>
              <p:cNvSpPr/>
              <p:nvPr/>
            </p:nvSpPr>
            <p:spPr>
              <a:xfrm>
                <a:off x="393192" y="3787775"/>
                <a:ext cx="11402568" cy="698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500"/>
                  </a:lnSpc>
                  <a:tabLst>
                    <a:tab pos="2815077" algn="l"/>
                    <a:tab pos="5871454" algn="l"/>
                    <a:tab pos="88008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</m:rad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_2#393848c69.choices?vcp=1&amp;pid=d4542606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87775"/>
                <a:ext cx="11402568" cy="698500"/>
              </a:xfrm>
              <a:prstGeom prst="rect">
                <a:avLst/>
              </a:prstGeom>
              <a:blipFill>
                <a:blip r:embed="rId4"/>
                <a:stretch>
                  <a:fillRect l="-1658" b="-86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393848c69?vcp=1&amp;pid=d45426063&amp;color=0,0,0&amp;vtp=1&amp;bt=1&amp;bbb=1&amp;hb=1"/>
              <p:cNvSpPr/>
              <p:nvPr/>
            </p:nvSpPr>
            <p:spPr>
              <a:xfrm>
                <a:off x="393192" y="1106678"/>
                <a:ext cx="11402568" cy="3450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木板水平时，物块滑动时受到的合力是滑动摩擦力，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以初速度方向为正方向，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根据牛顿第二定律得出小物块的加速度为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,设滑行初速度为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,则滑行时间为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;将木板改成倾角为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的斜面后，对物块进行受力分析如图所示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块受到的合力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𝟒𝟓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,小物块上滑的加速度</a:t>
                </a:r>
              </a:p>
              <a:p>
                <a:pPr latinLnBrk="1">
                  <a:lnSpc>
                    <a:spcPts val="5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𝟒𝟓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𝟒𝟓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,滑行时间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,因此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A正确，B、C、D错误.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393848c69?vcp=1&amp;pid=d4542606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06678"/>
                <a:ext cx="11402568" cy="3450400"/>
              </a:xfrm>
              <a:prstGeom prst="rect">
                <a:avLst/>
              </a:prstGeom>
              <a:blipFill>
                <a:blip r:embed="rId3"/>
                <a:stretch>
                  <a:fillRect l="-1658" r="-1016" b="-51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3_2#393848c69?vcp=1&amp;pid=d454260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13248" y="4681474"/>
            <a:ext cx="1371600" cy="106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b897929dd?vcp=1&amp;pid=d45426063&amp;color=0,0,0&amp;vtp=1&amp;bt=1&amp;bbb=1&amp;hb=1"/>
              <p:cNvSpPr/>
              <p:nvPr/>
            </p:nvSpPr>
            <p:spPr>
              <a:xfrm>
                <a:off x="393192" y="1096106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高空作业须系安全带.如果质量为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的高空作业人员不慎跌落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，从开始跌落到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安全带对人刚产生作用力前人下落的距离为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（可视为自由落体运动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），此后经历时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安全带达到最大伸长，若在此过程中该作用力始终竖直向上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，则该段时间安全带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对人的平均作用力大小为(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b897929dd?vcp=1&amp;pid=d4542606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6106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551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b897929dd.bracket?vcp=1&amp;pid=d45426063&amp;color=0,0,0&amp;vpa=2&amp;vtp=1"/>
          <p:cNvSpPr/>
          <p:nvPr/>
        </p:nvSpPr>
        <p:spPr>
          <a:xfrm>
            <a:off x="3978560" y="276107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4_2#b897929dd.choices?vcp=1&amp;pid=d45426063&amp;color=0,0,0&amp;vtp=1&amp;bbb=1"/>
              <p:cNvSpPr/>
              <p:nvPr/>
            </p:nvSpPr>
            <p:spPr>
              <a:xfrm>
                <a:off x="393192" y="3235801"/>
                <a:ext cx="11402568" cy="6471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200"/>
                  </a:lnSpc>
                  <a:tabLst>
                    <a:tab pos="2980177" algn="l"/>
                    <a:tab pos="5934954" algn="l"/>
                    <a:tab pos="87627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𝑔h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𝑔h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𝑔h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𝑔h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4_2#b897929dd.choices?vcp=1&amp;pid=d4542606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35801"/>
                <a:ext cx="11402568" cy="647129"/>
              </a:xfrm>
              <a:prstGeom prst="rect">
                <a:avLst/>
              </a:prstGeom>
              <a:blipFill>
                <a:blip r:embed="rId4"/>
                <a:stretch>
                  <a:fillRect l="-1658" b="-1603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6_1#b897929dd?vcp=1&amp;pid=d45426063&amp;color=0,0,0&amp;vtp=1&amp;bbb=1&amp;hb=1"/>
              <p:cNvSpPr/>
              <p:nvPr/>
            </p:nvSpPr>
            <p:spPr>
              <a:xfrm>
                <a:off x="393192" y="3890486"/>
                <a:ext cx="11402568" cy="176472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设高空作业人员自由下落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𝒈𝒉</m:t>
                        </m:r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,设安全带对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人的平均作用力为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</a:p>
              <a:p>
                <a:pPr latinLnBrk="1">
                  <a:lnSpc>
                    <a:spcPts val="5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𝒈𝒉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,选项A正确.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6_1#b897929dd?vcp=1&amp;pid=d4542606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90486"/>
                <a:ext cx="11402568" cy="1764729"/>
              </a:xfrm>
              <a:prstGeom prst="rect">
                <a:avLst/>
              </a:prstGeom>
              <a:blipFill>
                <a:blip r:embed="rId5"/>
                <a:stretch>
                  <a:fillRect l="-1658" r="-588" b="-586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7_1#f92922430?htil=1&amp;vcp=1&amp;pid=d45426063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67735" y="1008761"/>
            <a:ext cx="1362456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7_2#f92922430?htil=1&amp;vcp=1&amp;pid=d45426063&amp;color=0,0,0&amp;vtp=1&amp;bt=1&amp;bbb=1&amp;hb=1&amp;hs=1"/>
              <p:cNvSpPr/>
              <p:nvPr/>
            </p:nvSpPr>
            <p:spPr>
              <a:xfrm>
                <a:off x="393192" y="963041"/>
                <a:ext cx="9902952" cy="21925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如图所示，一可视为质点的小物块放在边长为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的正方形水平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桌面的正中央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，现物块以大小为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的初速度沿水平面内某一方向向桌子边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沿滑去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，物块与桌面间的动摩擦因数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1.19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.物块恰好停在桌子边沿，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则小物块的初速度大小可能为(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7_2#f92922430?htil=1&amp;vcp=1&amp;pid=d4542606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3041"/>
                <a:ext cx="9902952" cy="2192528"/>
              </a:xfrm>
              <a:prstGeom prst="rect">
                <a:avLst/>
              </a:prstGeom>
              <a:blipFill>
                <a:blip r:embed="rId4"/>
                <a:stretch>
                  <a:fillRect l="-1909" r="-1970" b="-805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8_1#f92922430.bracket?vcp=1&amp;pid=d45426063&amp;color=0,0,0&amp;vpa=3&amp;vtp=1"/>
          <p:cNvSpPr/>
          <p:nvPr/>
        </p:nvSpPr>
        <p:spPr>
          <a:xfrm>
            <a:off x="9499377" y="2625979"/>
            <a:ext cx="423863" cy="51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6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f92922430.choices?vcp=1&amp;pid=d45426063&amp;color=0,0,0&amp;vtp=1&amp;bbb=1&amp;hs=1"/>
              <p:cNvSpPr/>
              <p:nvPr/>
            </p:nvSpPr>
            <p:spPr>
              <a:xfrm>
                <a:off x="393192" y="3140837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f92922430.choices?vcp=1&amp;pid=d4542606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40837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9_1#f92922430?vcp=1&amp;pid=d45426063&amp;color=0,0,0&amp;vtp=1&amp;bbb=1&amp;hb=1"/>
              <p:cNvSpPr/>
              <p:nvPr/>
            </p:nvSpPr>
            <p:spPr>
              <a:xfrm>
                <a:off x="393192" y="3621532"/>
                <a:ext cx="11402568" cy="2243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小物块在桌面上运动，根据牛顿第二定律有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,解得加速度大小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，其恰好停在桌子边沿，位移大小满足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根据速度—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位移公式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，联立可得小物块的初速度大小范围为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9_1#f92922430?vcp=1&amp;pid=d4542606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21532"/>
                <a:ext cx="11402568" cy="2243900"/>
              </a:xfrm>
              <a:prstGeom prst="rect">
                <a:avLst/>
              </a:prstGeom>
              <a:blipFill>
                <a:blip r:embed="rId6"/>
                <a:stretch>
                  <a:fillRect l="-1658" r="-802" b="-81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65572ad6b?vcp=1&amp;pid=d45426063&amp;color=0,0,0&amp;vtp=1&amp;bt=1&amp;bbb=1&amp;hb=1"/>
              <p:cNvSpPr/>
              <p:nvPr/>
            </p:nvSpPr>
            <p:spPr>
              <a:xfrm>
                <a:off x="393192" y="970185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如图（a）,利用两根平行放置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、粗细均匀的长直钢管将长方体砖块从高处运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送到低处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.图（b）为垂直于运动方向的截面图（砖块截面为正方形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），砖块放在两钢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管间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，下滑过程砖块的加速度大小为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,受单根钢管作用的弹力和摩擦力大小分别为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.若仅将两钢管间距增大一些，砖块在下滑过程加速度大小为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,受单根钢管作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用的弹力和摩擦力大小分别为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65572ad6b?vcp=1&amp;pid=d4542606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0185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42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65572ad6b.bracket?vcp=1&amp;pid=d45426063&amp;color=0,0,0&amp;vpa=4&amp;vtp=1"/>
          <p:cNvSpPr/>
          <p:nvPr/>
        </p:nvSpPr>
        <p:spPr>
          <a:xfrm>
            <a:off x="5997734" y="31939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10_2#65572ad6b?vcp=1&amp;pid=d454260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37176" y="3782980"/>
            <a:ext cx="2514600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65572ad6b.choices?vcp=1&amp;pid=d45426063&amp;color=0,0,0&amp;vtp=1&amp;bbb=1"/>
              <p:cNvSpPr/>
              <p:nvPr/>
            </p:nvSpPr>
            <p:spPr>
              <a:xfrm>
                <a:off x="393192" y="5408580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91277" algn="l"/>
                    <a:tab pos="6061954" algn="l"/>
                    <a:tab pos="88262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65572ad6b.choices?vcp=1&amp;pid=d4542606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408580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65572ad6b?vcp=1&amp;pid=d45426063&amp;color=0,0,0&amp;vtp=1&amp;bt=1&amp;bbb=1&amp;hb=1"/>
              <p:cNvSpPr/>
              <p:nvPr/>
            </p:nvSpPr>
            <p:spPr>
              <a:xfrm>
                <a:off x="393192" y="1075436"/>
                <a:ext cx="11402568" cy="2739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设钢管与水平方向夹角为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，两钢管对砖块弹力的夹角为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，砖块在垂直运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动方向受力如图所示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，根据平衡条件有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，钢管对砖块的摩擦力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,仅将两钢管间距增大一些，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不变，钢管对砖块的弹力不变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，钢管对砖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块的摩擦力不变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，沿运动方向，根据牛顿第二定律有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,A正确，B、C、D错误.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65572ad6b?vcp=1&amp;pid=d4542606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75436"/>
                <a:ext cx="11402568" cy="2739200"/>
              </a:xfrm>
              <a:prstGeom prst="rect">
                <a:avLst/>
              </a:prstGeom>
              <a:blipFill>
                <a:blip r:embed="rId3"/>
                <a:stretch>
                  <a:fillRect l="-1658" r="-588" b="-64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2_2#65572ad6b?vcp=1&amp;pid=d4542606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22392" y="3926332"/>
            <a:ext cx="1335024" cy="1856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a699c77b7?vcp=1&amp;pid=66bfd3ad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9ef91197d?vcp=1&amp;pid=a699c77b7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3_1#93f6ad70c?vcp=1&amp;pid=a699c77b7&amp;color=0,0,0&amp;vtp=1&amp;bbb=1&amp;hb=1"/>
              <p:cNvSpPr/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如图所示，将一个物体从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点由静止释放，分别沿三条高为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的光滑轨道到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点，三条轨道的倾角分别为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3_1#93f6ad70c?vcp=1&amp;pid=a699c77b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4_1#93f6ad70c.bracket?vcp=1&amp;pid=a699c77b7&amp;color=0,0,0&amp;vpa=5&amp;vtp=1"/>
          <p:cNvSpPr/>
          <p:nvPr/>
        </p:nvSpPr>
        <p:spPr>
          <a:xfrm>
            <a:off x="10073482" y="21380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6" name="QC_4_BD.13_2#93f6ad70c?vcp=1&amp;pid=a699c77b7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93208" y="2757805"/>
            <a:ext cx="2011680" cy="126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3_3#93f6ad70c.choices?vcp=1&amp;pid=a699c77b7&amp;color=0,0,0&amp;vtp=1&amp;bbb=1"/>
              <p:cNvSpPr/>
              <p:nvPr/>
            </p:nvSpPr>
            <p:spPr>
              <a:xfrm>
                <a:off x="393192" y="415480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点时的速度最大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.物体在三条轨道上的运动时间相同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的时间最短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上运动的加速度最小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3_3#93f6ad70c.choices?vcp=1&amp;pid=a699c77b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54805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93f6ad70c?vcp=1&amp;pid=a699c77b7&amp;color=0,0,0&amp;vtp=1&amp;bt=1&amp;bbb=1&amp;hb=1"/>
              <p:cNvSpPr/>
              <p:nvPr/>
            </p:nvSpPr>
            <p:spPr>
              <a:xfrm>
                <a:off x="393192" y="1571275"/>
                <a:ext cx="11402568" cy="3742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在沿斜面方向上，根据牛顿第二定律得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，物体运动的加速度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,斜面倾角越大，加速度越大，由题知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,则物体在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上运动的加速度最大，D错误；根据几何知识可得，物体的位移为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,物体的</a:t>
                </a:r>
              </a:p>
              <a:p>
                <a:pPr latinLnBrk="1">
                  <a:lnSpc>
                    <a:spcPts val="6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初速度为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0，所以由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𝒉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𝐬𝐢𝐧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𝜽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,倾角越大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，滑到底端所用的时间</a:t>
                </a:r>
              </a:p>
              <a:p>
                <a:pPr latinLnBrk="1">
                  <a:lnSpc>
                    <a:spcPts val="5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越短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，则物体到达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点的时间最短，C正确，B错误；根据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𝒈𝒉</m:t>
                        </m:r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物体到达斜面底端的速度大小相等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93f6ad70c?vcp=1&amp;pid=a699c77b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71275"/>
                <a:ext cx="11402568" cy="3742500"/>
              </a:xfrm>
              <a:prstGeom prst="rect">
                <a:avLst/>
              </a:prstGeom>
              <a:blipFill>
                <a:blip r:embed="rId3"/>
                <a:stretch>
                  <a:fillRect l="-1658" r="-1390" b="-472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6_1#6476c4dc9?htil=2&amp;vcp=1&amp;pid=a699c77b7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64624" y="1591182"/>
            <a:ext cx="2212848" cy="223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6_2#6476c4dc9?htil=2&amp;vcp=1&amp;pid=a699c77b7&amp;color=0,0,0&amp;vtp=1&amp;bt=1&amp;bbb=1&amp;hb=1&amp;hs=1"/>
              <p:cNvSpPr/>
              <p:nvPr/>
            </p:nvSpPr>
            <p:spPr>
              <a:xfrm>
                <a:off x="393192" y="1545463"/>
                <a:ext cx="9052560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如图所示，在竖直墙面上有A、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两点，水平地面上有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连线与水平地面成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45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点上方，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点位于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点正上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方且与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点等高.现在A、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和B、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之间分别架设光滑轨道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，让三个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（均可看作质点）分别由静止从A、B、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三点沿轨道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运动和自由下落，不计空气阻力，则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运动到地面所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需的时间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关系的大小是(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6_2#6476c4dc9?htil=2&amp;vcp=1&amp;pid=a699c77b7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5463"/>
                <a:ext cx="9052560" cy="3268599"/>
              </a:xfrm>
              <a:prstGeom prst="rect">
                <a:avLst/>
              </a:prstGeom>
              <a:blipFill>
                <a:blip r:embed="rId4"/>
                <a:stretch>
                  <a:fillRect l="-2088" r="-4848" b="-55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7_1#6476c4dc9.bracket?vcp=1&amp;pid=a699c77b7&amp;color=0,0,0&amp;vpa=6&amp;vtp=1"/>
          <p:cNvSpPr/>
          <p:nvPr/>
        </p:nvSpPr>
        <p:spPr>
          <a:xfrm>
            <a:off x="5074062" y="432803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6476c4dc9.choices?vcp=1&amp;pid=a699c77b7&amp;color=0,0,0&amp;vtp=1&amp;bbb=1&amp;hs=1"/>
              <p:cNvSpPr/>
              <p:nvPr/>
            </p:nvSpPr>
            <p:spPr>
              <a:xfrm>
                <a:off x="393192" y="4833301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6476c4dc9.choices?vcp=1&amp;pid=a699c77b7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33301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6476c4dc9?vcp=1&amp;pid=a699c77b7&amp;color=0,0,0&amp;vtp=1&amp;bt=1&amp;bbb=1&amp;hb=1"/>
              <p:cNvSpPr/>
              <p:nvPr/>
            </p:nvSpPr>
            <p:spPr>
              <a:xfrm>
                <a:off x="393192" y="1111504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三个小球的运动轨迹在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点相交，故选取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点作为等时圆的最低点，过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，该竖直线与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连线共线，以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为圆心，以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为弦作圆，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交圆于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点.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都在圆周上，故由等时圆模型的结论可知，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𝑬𝑴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𝑫𝑴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𝑬𝑴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𝒄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𝑫𝑴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6476c4dc9?vcp=1&amp;pid=a699c77b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11504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12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8_2#6476c4dc9?vcp=1&amp;pid=a699c77b7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5192" y="3378200"/>
            <a:ext cx="2249424" cy="236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9_1#3889bf3da?vcp=1&amp;pid=a699c77b7&amp;color=0,0,0&amp;vtp=1&amp;bt=1&amp;bbb=1&amp;hb=1"/>
              <p:cNvSpPr/>
              <p:nvPr/>
            </p:nvSpPr>
            <p:spPr>
              <a:xfrm>
                <a:off x="393192" y="144303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的光滑斜面上放置薄木板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，厚度可忽略不计，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上一点，在斜面上方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点有一小球，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连线与斜面垂直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，同时释放小球和木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小球第一次击中木板的位置为(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9_1#3889bf3da?vcp=1&amp;pid=a699c77b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4303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497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0_1#3889bf3da.bracket?vcp=1&amp;pid=a699c77b7&amp;color=0,0,0&amp;vpa=7&amp;vtp=1"/>
          <p:cNvSpPr/>
          <p:nvPr/>
        </p:nvSpPr>
        <p:spPr>
          <a:xfrm>
            <a:off x="5599652" y="254920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9_2#3889bf3da?vcp=1&amp;pid=a699c77b7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56048" y="3163633"/>
            <a:ext cx="2286000" cy="163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3889bf3da.choices?vcp=1&amp;pid=a699c77b7&amp;color=0,0,0&amp;vtp=1&amp;bbb=1"/>
              <p:cNvSpPr/>
              <p:nvPr/>
            </p:nvSpPr>
            <p:spPr>
              <a:xfrm>
                <a:off x="393192" y="4928933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3319902" algn="l"/>
                    <a:tab pos="6614404" algn="l"/>
                    <a:tab pos="90961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𝐴𝑃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间某点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𝐵𝑃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间某点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3889bf3da.choices?vcp=1&amp;pid=a699c77b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928933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21_1#3889bf3da?htil=3&amp;vcp=1&amp;pid=a699c77b7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81783" y="798417"/>
            <a:ext cx="2249424" cy="163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21_2#3889bf3da?htil=3&amp;vcp=1&amp;pid=a699c77b7&amp;color=0,0,0&amp;vtp=1&amp;bt=1&amp;bbb=1&amp;hb=1&amp;hs=1"/>
              <p:cNvSpPr/>
              <p:nvPr/>
            </p:nvSpPr>
            <p:spPr>
              <a:xfrm>
                <a:off x="393192" y="752697"/>
                <a:ext cx="9015984" cy="1943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点竖直向下作一条线交斜面于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点，如图所示.设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，根据几何关系有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𝑷𝑪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，小球做自由落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，即它会从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点落到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𝒍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，对木板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21_2#3889bf3da?htil=3&amp;vcp=1&amp;pid=a699c77b7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2697"/>
                <a:ext cx="9015984" cy="1943100"/>
              </a:xfrm>
              <a:prstGeom prst="rect">
                <a:avLst/>
              </a:prstGeom>
              <a:blipFill>
                <a:blip r:embed="rId4"/>
                <a:stretch>
                  <a:fillRect l="-2096" r="-1285" b="-31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EX.22_1#3889bf3da?vcp=1&amp;pid=a699c77b7&amp;color=0,0,0&amp;vtp=1&amp;bbb=1&amp;hb=1"/>
              <p:cNvSpPr/>
              <p:nvPr/>
            </p:nvSpPr>
            <p:spPr>
              <a:xfrm>
                <a:off x="393192" y="4298283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妙招巧解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本题也可用等时圆模型巧解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，易知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SimSun" pitchFamily="34" charset="0"/>
                        <a:ea typeface="SimSun" pitchFamily="34" charset="-122"/>
                        <a:cs typeface="SimSun" pitchFamily="34" charset="-120"/>
                      </a:rPr>
                      <m:t>△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𝑃𝐶𝑄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为直角三角形，构建以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为直径的圆，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点在圆上，根据等时圆模型可知，小球第一次击中木板的位置为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EX.22_1#3889bf3da?vcp=1&amp;pid=a699c77b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98283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117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21_2#3889bf3da?htil=3&amp;vcp=1&amp;pid=a699c77b7&amp;color=0,0,0&amp;vtp=1&amp;bt=1&amp;bbb=1&amp;hb=1&amp;hs=1">
                <a:extLst>
                  <a:ext uri="{FF2B5EF4-FFF2-40B4-BE49-F238E27FC236}">
                    <a16:creationId xmlns:a16="http://schemas.microsoft.com/office/drawing/2014/main" id="{E6E170A2-51BE-F624-6670-45F66134428C}"/>
                  </a:ext>
                </a:extLst>
              </p:cNvPr>
              <p:cNvSpPr/>
              <p:nvPr/>
            </p:nvSpPr>
            <p:spPr>
              <a:xfrm>
                <a:off x="393192" y="2676493"/>
                <a:ext cx="11400008" cy="162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时间内运动的位移为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𝑷𝑪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，这说明木板上的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点正好运动到了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，即小球第一次击中木板的位置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点，只有C正确.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21_2#3889bf3da?htil=3&amp;vcp=1&amp;pid=a699c77b7&amp;color=0,0,0&amp;vtp=1&amp;bt=1&amp;bbb=1&amp;hb=1&amp;hs=1">
                <a:extLst>
                  <a:ext uri="{FF2B5EF4-FFF2-40B4-BE49-F238E27FC236}">
                    <a16:creationId xmlns:a16="http://schemas.microsoft.com/office/drawing/2014/main" id="{E6E170A2-51BE-F624-6670-45F6613442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76493"/>
                <a:ext cx="11400008" cy="1621600"/>
              </a:xfrm>
              <a:prstGeom prst="rect">
                <a:avLst/>
              </a:prstGeom>
              <a:blipFill>
                <a:blip r:embed="rId6"/>
                <a:stretch>
                  <a:fillRect l="-1658" r="-642" b="-112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3_1#d60e1657e?vcp=1&amp;pid=a699c77b7&amp;color=0,0,0&amp;vtp=1&amp;bt=1&amp;bbb=1&amp;hb=1"/>
              <p:cNvSpPr/>
              <p:nvPr/>
            </p:nvSpPr>
            <p:spPr>
              <a:xfrm>
                <a:off x="393192" y="125730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如图甲所示，斜面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段粗糙程度相同，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段光滑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的小物块以初速度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沿斜面向上滑行，到达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处时速度为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处时速度恰好为0，其上滑过程的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.已知重力加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3_1#d60e1657e?vcp=1&amp;pid=a699c77b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57300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374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4_1#d60e1657e.bracket?vcp=1&amp;pid=a699c77b7&amp;color=0,0,0&amp;vpa=8&amp;vtp=1"/>
          <p:cNvSpPr/>
          <p:nvPr/>
        </p:nvSpPr>
        <p:spPr>
          <a:xfrm>
            <a:off x="8932386" y="2922270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23_2#d60e1657e?htil=4&amp;vcp=1&amp;pid=a699c77b7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89751" y="3442715"/>
            <a:ext cx="4334256" cy="215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3_3#d60e1657e.choices?htil=4&amp;vcp=1&amp;pid=a699c77b7&amp;color=0,0,0&amp;vtp=1&amp;bbb=1"/>
              <p:cNvSpPr/>
              <p:nvPr/>
            </p:nvSpPr>
            <p:spPr>
              <a:xfrm>
                <a:off x="393192" y="3396995"/>
                <a:ext cx="693115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A.小物块沿斜面向上滑行通过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段斜面间的动摩擦因数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=0.75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.斜面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间距离是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.小物块沿斜面下滑时间为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3_3#d60e1657e.choices?htil=4&amp;vcp=1&amp;pid=a699c77b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96995"/>
                <a:ext cx="6931152" cy="2158302"/>
              </a:xfrm>
              <a:prstGeom prst="rect">
                <a:avLst/>
              </a:prstGeom>
              <a:blipFill>
                <a:blip r:embed="rId5"/>
                <a:stretch>
                  <a:fillRect l="-2726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5_1#d60e1657e?vcp=1&amp;pid=a699c77b7&amp;color=0,0,0&amp;vtp=1&amp;bt=1&amp;bbb=1&amp;hb=1"/>
              <p:cNvSpPr/>
              <p:nvPr/>
            </p:nvSpPr>
            <p:spPr>
              <a:xfrm>
                <a:off x="393192" y="504000"/>
                <a:ext cx="11402568" cy="587203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小物块上滑过程，在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段运动时，由牛顿第二定律可得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,由题图乙可知，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时间内加速度大小为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，故A错误.在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，由牛顿第二定律有</a:t>
                </a:r>
              </a:p>
              <a:p>
                <a:pPr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,由题图乙可知，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时间内加速度大小为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=|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𝟕𝟓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，故B正确.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图线与横轴围成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的图形面积表示位移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，由题图乙可得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段距离</a:t>
                </a:r>
              </a:p>
              <a:p>
                <a:pPr latinLnBrk="1">
                  <a:lnSpc>
                    <a:spcPts val="5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,故C错误.因为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段光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，所以小物块沿斜面下滑由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点所用时间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点的速度大小</a:t>
                </a:r>
              </a:p>
              <a:p>
                <a:pPr latinLnBrk="1">
                  <a:lnSpc>
                    <a:spcPts val="3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段，根据牛顿第二定律有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,则小物块沿斜面向下滑行通过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𝑩𝑨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𝑩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,故小物块沿斜面下滑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总时间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5_1#d60e1657e?vcp=1&amp;pid=a699c77b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872036"/>
              </a:xfrm>
              <a:prstGeom prst="rect">
                <a:avLst/>
              </a:prstGeom>
              <a:blipFill>
                <a:blip r:embed="rId3"/>
                <a:stretch>
                  <a:fillRect l="-1658" t="-312" r="-1337" b="-29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26_1#0d12b611a?htil=5&amp;vcp=1&amp;pid=a699c77b7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73768" y="841756"/>
            <a:ext cx="2194560" cy="143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26_2#0d12b611a?htil=5&amp;vcp=1&amp;pid=a699c77b7&amp;color=0,0,0&amp;vtp=1&amp;bt=1&amp;bbb=1&amp;hb=1&amp;hs=1"/>
              <p:cNvSpPr/>
              <p:nvPr/>
            </p:nvSpPr>
            <p:spPr>
              <a:xfrm>
                <a:off x="393192" y="796036"/>
                <a:ext cx="9070848" cy="15963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的小球套在一根足够长的固定直杆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，杆与水平方向的夹角为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,球与杆间的动摩擦因数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 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小球在大小为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，方向竖直向上的拉力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，从距杆的底端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26_2#0d12b611a?htil=5&amp;vcp=1&amp;pid=a699c77b7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96036"/>
                <a:ext cx="9070848" cy="1596390"/>
              </a:xfrm>
              <a:prstGeom prst="rect">
                <a:avLst/>
              </a:prstGeom>
              <a:blipFill>
                <a:blip r:embed="rId4"/>
                <a:stretch>
                  <a:fillRect l="-2083" r="-1277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27_1#30ef65cd8?vcp=1&amp;pid=0d12b611a&amp;color=0,0,0&amp;vtp=1&amp;bbb=1"/>
              <p:cNvSpPr/>
              <p:nvPr/>
            </p:nvSpPr>
            <p:spPr>
              <a:xfrm>
                <a:off x="393192" y="3485705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（1）撤去拉力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前，小球沿杆上滑的加速度大小.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27_1#30ef65cd8?vcp=1&amp;pid=0d12b611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85705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5_AN.28_1#30ef65cd8?htil=6&amp;vcp=1&amp;pid=0d12b611a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57816" y="4019677"/>
            <a:ext cx="1819656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AN.28_2#30ef65cd8?htil=6&amp;vcp=1&amp;pid=0d12b611a&amp;color=0,0,0&amp;vtp=1&amp;bbb=1&amp;hb=1"/>
              <p:cNvSpPr/>
              <p:nvPr/>
            </p:nvSpPr>
            <p:spPr>
              <a:xfrm>
                <a:off x="393192" y="3973957"/>
                <a:ext cx="9445752" cy="16049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小球在拉力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作用下上滑时，对小球受力分析，如图甲所示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杆的方向有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，垂直于杆的方向有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5_AN.28_2#30ef65cd8?htil=6&amp;vcp=1&amp;pid=0d12b611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3957"/>
                <a:ext cx="9445752" cy="1604963"/>
              </a:xfrm>
              <a:prstGeom prst="rect">
                <a:avLst/>
              </a:prstGeom>
              <a:blipFill>
                <a:blip r:embed="rId7"/>
                <a:stretch>
                  <a:fillRect l="-2001" r="-1420" b="-114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O_4_BD.26_2#0d12b611a?htil=5&amp;vcp=1&amp;pid=a699c77b7&amp;color=0,0,0&amp;vtp=1&amp;bt=1&amp;bbb=1&amp;hb=1&amp;hs=1">
                <a:extLst>
                  <a:ext uri="{FF2B5EF4-FFF2-40B4-BE49-F238E27FC236}">
                    <a16:creationId xmlns:a16="http://schemas.microsoft.com/office/drawing/2014/main" id="{C3CFA0B5-1BE3-763A-F830-02C70F4CAF6A}"/>
                  </a:ext>
                </a:extLst>
              </p:cNvPr>
              <p:cNvSpPr/>
              <p:nvPr/>
            </p:nvSpPr>
            <p:spPr>
              <a:xfrm>
                <a:off x="395996" y="2389632"/>
                <a:ext cx="1140000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处由静止开始沿杆斜向上运动，经过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后撤去拉力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O_4_BD.26_2#0d12b611a?htil=5&amp;vcp=1&amp;pid=a699c77b7&amp;color=0,0,0&amp;vtp=1&amp;bt=1&amp;bbb=1&amp;hb=1&amp;hs=1">
                <a:extLst>
                  <a:ext uri="{FF2B5EF4-FFF2-40B4-BE49-F238E27FC236}">
                    <a16:creationId xmlns:a16="http://schemas.microsoft.com/office/drawing/2014/main" id="{C3CFA0B5-1BE3-763A-F830-02C70F4CAF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389632"/>
                <a:ext cx="11400008" cy="1037400"/>
              </a:xfrm>
              <a:prstGeom prst="rect">
                <a:avLst/>
              </a:prstGeom>
              <a:blipFill>
                <a:blip r:embed="rId8"/>
                <a:stretch>
                  <a:fillRect l="-963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29_1#bb98b0c00?vcp=1&amp;pid=0d12b611a&amp;color=0,0,0&amp;vtp=1&amp;bt=1&amp;bbb=1"/>
          <p:cNvSpPr/>
          <p:nvPr/>
        </p:nvSpPr>
        <p:spPr>
          <a:xfrm>
            <a:off x="393192" y="561340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（2）小球沿杆上滑的最大距离.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30_1#bb98b0c00?vcp=1&amp;pid=0d12b611a&amp;color=0,0,0&amp;vtp=1&amp;bbb=1&amp;hb=1"/>
              <p:cNvSpPr/>
              <p:nvPr/>
            </p:nvSpPr>
            <p:spPr>
              <a:xfrm>
                <a:off x="393192" y="1060831"/>
                <a:ext cx="11402568" cy="289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撤去拉力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时，根据运动学公式可得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，撤去拉力F后，小球继续向上运动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，对小球受力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，如图乙所示，根据牛顿第二定律有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5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，小球沿杆上滑的最大距离为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30_1#bb98b0c00?vcp=1&amp;pid=0d12b611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60831"/>
                <a:ext cx="11402568" cy="2891600"/>
              </a:xfrm>
              <a:prstGeom prst="rect">
                <a:avLst/>
              </a:prstGeom>
              <a:blipFill>
                <a:blip r:embed="rId3"/>
                <a:stretch>
                  <a:fillRect l="-1658" b="-63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O_5_AN.30_2#bb98b0c00?vcp=1&amp;pid=0d12b611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0640" y="4082987"/>
            <a:ext cx="1956816" cy="202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31_1#b17be2644?vcp=1&amp;pid=0d12b611a&amp;color=0,0,0&amp;vtp=1&amp;bt=1&amp;bbb=1"/>
          <p:cNvSpPr/>
          <p:nvPr/>
        </p:nvSpPr>
        <p:spPr>
          <a:xfrm>
            <a:off x="393192" y="504000"/>
            <a:ext cx="1140256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（3）小球从开始运动直至滑到杆的底端所需的时间.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32_1#b17be2644?vcp=1&amp;pid=0d12b611a&amp;color=0,0,0&amp;vtp=1&amp;bbb=1&amp;hb=1"/>
              <p:cNvSpPr/>
              <p:nvPr/>
            </p:nvSpPr>
            <p:spPr>
              <a:xfrm>
                <a:off x="393192" y="986727"/>
                <a:ext cx="11402568" cy="1012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撤去拉力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后，小球继续向上运动的时间为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，小球运动到最高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点后开始下滑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，对小球受力分析，如图丙所示.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32_1#b17be2644?vcp=1&amp;pid=0d12b611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86727"/>
                <a:ext cx="11402568" cy="1012000"/>
              </a:xfrm>
              <a:prstGeom prst="rect">
                <a:avLst/>
              </a:prstGeom>
              <a:blipFill>
                <a:blip r:embed="rId3"/>
                <a:stretch>
                  <a:fillRect l="-1658" t="-5422" b="-1747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O_5_AN.32_2#b17be2644?vcp=1&amp;pid=0d12b611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4648" y="2125727"/>
            <a:ext cx="1828800" cy="166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32_3#b17be2644?vcp=1&amp;pid=0d12b611a&amp;color=0,0,0&amp;vtp=1&amp;bbb=1&amp;hb=1"/>
              <p:cNvSpPr/>
              <p:nvPr/>
            </p:nvSpPr>
            <p:spPr>
              <a:xfrm>
                <a:off x="393192" y="3929127"/>
                <a:ext cx="11402568" cy="2116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沿杆的方向有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，垂直于杆的方向有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，球从最高处下滑到杆的底端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，通过的位移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，所需总时间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32_3#b17be2644?vcp=1&amp;pid=0d12b611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29127"/>
                <a:ext cx="11402568" cy="2116900"/>
              </a:xfrm>
              <a:prstGeom prst="rect">
                <a:avLst/>
              </a:prstGeom>
              <a:blipFill>
                <a:blip r:embed="rId5"/>
                <a:stretch>
                  <a:fillRect l="-1658" b="-8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2bfec4e55?vcp=1&amp;pid=66bfd3ad1&amp;color=0,0,0&amp;vtp=1&amp;bt=1&amp;bbb=1"/>
          <p:cNvSpPr/>
          <p:nvPr/>
        </p:nvSpPr>
        <p:spPr>
          <a:xfrm>
            <a:off x="393192" y="502921"/>
            <a:ext cx="11402568" cy="499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5e26dcf06?vcp=1&amp;pid=2bfec4e55&amp;color=0,0,0&amp;vtp=1&amp;bbb=1"/>
          <p:cNvSpPr/>
          <p:nvPr/>
        </p:nvSpPr>
        <p:spPr>
          <a:xfrm>
            <a:off x="393192" y="1053911"/>
            <a:ext cx="11402568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C_4_BD#281a1b8fd?vcp=1&amp;pid=2bfec4e55&amp;color=0,0,0&amp;vtp=1&amp;bbb=1"/>
          <p:cNvSpPr/>
          <p:nvPr/>
        </p:nvSpPr>
        <p:spPr>
          <a:xfrm>
            <a:off x="393192" y="1555750"/>
            <a:ext cx="11402568" cy="499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忽视条件、模型建立错误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33_1#a54ede2d9?vcp=1&amp;pid=281a1b8fd&amp;color=0,0,0&amp;vtp=1&amp;bbb=1&amp;hb=1"/>
              <p:cNvSpPr/>
              <p:nvPr/>
            </p:nvSpPr>
            <p:spPr>
              <a:xfrm>
                <a:off x="393192" y="2113979"/>
                <a:ext cx="11402568" cy="201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如图所示，位于竖直平面内的圆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，其内有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三条光滑轨道，已知在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三球分别从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由静止开始沿光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滑倾斜直轨道运动到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三点，所用时间分别为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,下列关系正确的是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33_1#a54ede2d9?vcp=1&amp;pid=281a1b8f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13979"/>
                <a:ext cx="11402568" cy="2017649"/>
              </a:xfrm>
              <a:prstGeom prst="rect">
                <a:avLst/>
              </a:prstGeom>
              <a:blipFill>
                <a:blip r:embed="rId3"/>
                <a:stretch>
                  <a:fillRect l="-1658" t="-1208" b="-90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5_AN.34_1#a54ede2d9.bracket?vcp=1&amp;pid=281a1b8fd&amp;color=0,0,0&amp;vpa=9&amp;vtp=1"/>
          <p:cNvSpPr/>
          <p:nvPr/>
        </p:nvSpPr>
        <p:spPr>
          <a:xfrm>
            <a:off x="625760" y="3670237"/>
            <a:ext cx="4413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7" name="QC_5_BD.33_2#a54ede2d9?vcp=1&amp;pid=281a1b8fd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0952" y="4255136"/>
            <a:ext cx="1536192" cy="153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5_BD.33_3#a54ede2d9.choices?vcp=1&amp;pid=281a1b8fd&amp;color=0,0,0&amp;vtp=1&amp;bbb=1"/>
              <p:cNvSpPr/>
              <p:nvPr/>
            </p:nvSpPr>
            <p:spPr>
              <a:xfrm>
                <a:off x="393192" y="5918836"/>
                <a:ext cx="11402568" cy="4555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000"/>
                  </a:lnSpc>
                  <a:tabLst>
                    <a:tab pos="3008752" algn="l"/>
                    <a:tab pos="5979404" algn="l"/>
                    <a:tab pos="89500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.无法确定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5_BD.33_3#a54ede2d9.choices?vcp=1&amp;pid=281a1b8fd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18836"/>
                <a:ext cx="11402568" cy="455549"/>
              </a:xfrm>
              <a:prstGeom prst="rect">
                <a:avLst/>
              </a:prstGeom>
              <a:blipFill>
                <a:blip r:embed="rId5"/>
                <a:stretch>
                  <a:fillRect l="-1658" t="-1333" b="-40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AS.35_1#a54ede2d9?htil=7&amp;vcp=1&amp;pid=281a1b8fd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79421" y="788162"/>
            <a:ext cx="1801368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AS.35_2#a54ede2d9?htil=7&amp;vcp=1&amp;pid=281a1b8fd&amp;color=0,0,0&amp;vtp=1&amp;bt=1&amp;bbb=1&amp;hb=1&amp;hs=1"/>
              <p:cNvSpPr/>
              <p:nvPr/>
            </p:nvSpPr>
            <p:spPr>
              <a:xfrm>
                <a:off x="393192" y="742442"/>
                <a:ext cx="9464040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]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由于竖直平面内的圆内的三条光滑轨道并不是交于圆的最高点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或最低点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，不满足等时圆的条件，不能盲目地套用时间相等的结论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.过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点作竖直线，以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为弦作圆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相交于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延长线相交于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点，如图所示.由等时圆模型可知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，小球沿光滑轨道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AS.35_2#a54ede2d9?htil=7&amp;vcp=1&amp;pid=281a1b8fd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42442"/>
                <a:ext cx="9464040" cy="2155000"/>
              </a:xfrm>
              <a:prstGeom prst="rect">
                <a:avLst/>
              </a:prstGeom>
              <a:blipFill>
                <a:blip r:embed="rId4"/>
                <a:stretch>
                  <a:fillRect l="-1997" r="-2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QC_5_EX.36_1#a54ede2d9?htil=8&amp;vcp=1&amp;pid=281a1b8fd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40496" y="4515358"/>
            <a:ext cx="3236976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5_EX.36_2#a54ede2d9?htil=8&amp;vcp=1&amp;pid=281a1b8fd&amp;color=0,0,0&amp;vtp=1&amp;bbb=1&amp;hb=1"/>
          <p:cNvSpPr/>
          <p:nvPr/>
        </p:nvSpPr>
        <p:spPr>
          <a:xfrm>
            <a:off x="393192" y="4469638"/>
            <a:ext cx="8028432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易错分析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易忽视等时圆模型成立的条件，主观上将其视为等时圆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模型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，机械套用结论而错选C项.等时圆两种基本模型如下.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35_2#a54ede2d9?htil=7&amp;vcp=1&amp;pid=281a1b8fd&amp;color=0,0,0&amp;vtp=1&amp;bt=1&amp;bbb=1&amp;hb=1&amp;hs=1">
                <a:extLst>
                  <a:ext uri="{FF2B5EF4-FFF2-40B4-BE49-F238E27FC236}">
                    <a16:creationId xmlns:a16="http://schemas.microsoft.com/office/drawing/2014/main" id="{705682C1-9968-64C3-E8BF-AFC70E4E392A}"/>
                  </a:ext>
                </a:extLst>
              </p:cNvPr>
              <p:cNvSpPr/>
              <p:nvPr/>
            </p:nvSpPr>
            <p:spPr>
              <a:xfrm>
                <a:off x="393192" y="2882138"/>
                <a:ext cx="1140000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𝑶𝑪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滑到底端所用时间相等，由图可知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，小球沿光滑轨道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所用时间大于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沿光滑轨道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所用时间，小球沿光滑轨道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𝑶𝑪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所用时间小于沿光滑轨道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所用时间，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35_2#a54ede2d9?htil=7&amp;vcp=1&amp;pid=281a1b8fd&amp;color=0,0,0&amp;vtp=1&amp;bt=1&amp;bbb=1&amp;hb=1&amp;hs=1">
                <a:extLst>
                  <a:ext uri="{FF2B5EF4-FFF2-40B4-BE49-F238E27FC236}">
                    <a16:creationId xmlns:a16="http://schemas.microsoft.com/office/drawing/2014/main" id="{705682C1-9968-64C3-E8BF-AFC70E4E39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82138"/>
                <a:ext cx="11400008" cy="1596200"/>
              </a:xfrm>
              <a:prstGeom prst="rect">
                <a:avLst/>
              </a:prstGeom>
              <a:blipFill>
                <a:blip r:embed="rId6"/>
                <a:stretch>
                  <a:fillRect l="-1658" r="-1283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  <p:bldP spid="6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398a1802?vcp=1&amp;pid=66bfd3ad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71281f21d?vcp=1&amp;pid=7398a1802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37_1#c42bb30b3?vcp=1&amp;pid=7398a1802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（复旦大学自主招生）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与水平面成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角的光滑斜面的底端静置一个质量为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从某时刻开始有一个沿斜面方向向上的恒力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作用在物体上，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使物体沿斜面向上滑去.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经过一段时间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撤去这个力，又经过时间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，物体返回到斜面的底部，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37_1#c42bb30b3?vcp=1&amp;pid=7398a180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2567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38_1#c42bb30b3.bracket?vcp=1&amp;pid=7398a1802&amp;color=0,0,0&amp;vpa=10&amp;vtp=1"/>
          <p:cNvSpPr/>
          <p:nvPr/>
        </p:nvSpPr>
        <p:spPr>
          <a:xfrm>
            <a:off x="10206895" y="269684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37_2#c42bb30b3.choices?vcp=1&amp;pid=7398a1802&amp;color=0,0,0&amp;vtp=1&amp;bbb=1"/>
              <p:cNvSpPr/>
              <p:nvPr/>
            </p:nvSpPr>
            <p:spPr>
              <a:xfrm>
                <a:off x="393192" y="3178175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的比应该是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3:7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的比应该为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9:5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的比应该为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7:3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的比应该为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5:9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37_2#c42bb30b3.choices?vcp=1&amp;pid=7398a180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8175"/>
                <a:ext cx="11402568" cy="1027430"/>
              </a:xfrm>
              <a:prstGeom prst="rect">
                <a:avLst/>
              </a:prstGeom>
              <a:blipFill>
                <a:blip r:embed="rId4"/>
                <a:stretch>
                  <a:fillRect l="-1658" b="-183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39_1#c42bb30b3?vcp=1&amp;pid=7398a1802&amp;color=0,0,0&amp;vtp=1&amp;bbb=1&amp;hb=1"/>
              <p:cNvSpPr/>
              <p:nvPr/>
            </p:nvSpPr>
            <p:spPr>
              <a:xfrm>
                <a:off x="393192" y="4218305"/>
                <a:ext cx="11402568" cy="119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撤去力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时，瞬时速度为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𝜷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,由题意知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𝜷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=−[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]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39_1#c42bb30b3?vcp=1&amp;pid=7398a180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18305"/>
                <a:ext cx="11402568" cy="1193800"/>
              </a:xfrm>
              <a:prstGeom prst="rect">
                <a:avLst/>
              </a:prstGeom>
              <a:blipFill>
                <a:blip r:embed="rId5"/>
                <a:stretch>
                  <a:fillRect l="-1658" b="-81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1790</Words>
  <Application>Microsoft Office PowerPoint</Application>
  <PresentationFormat>宽屏</PresentationFormat>
  <Paragraphs>180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2026-05-25T08:01:34Z</dcterms:created>
  <dcterms:modified xsi:type="dcterms:W3CDTF">2026-05-25T08:07:42Z</dcterms:modified>
  <cp:category/>
  <cp:contentStatus/>
</cp:coreProperties>
</file>