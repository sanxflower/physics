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80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8.xml"/><Relationship Id="rId4" Type="http://schemas.openxmlformats.org/officeDocument/2006/relationships/slide" Target="../slides/slide1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7.xml"/><Relationship Id="rId4" Type="http://schemas.openxmlformats.org/officeDocument/2006/relationships/slide" Target="../slides/slide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18.xml"/><Relationship Id="rId4" Type="http://schemas.openxmlformats.org/officeDocument/2006/relationships/slide" Target="../slides/slide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68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a948ad17d,5735a0f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66459324b&amp;amp;cid=66459324b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3d081295&amp;amp;cid=83d081295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822e78e6&amp;amp;cid=c822e78e6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0dbfe4790&amp;amp;cid=0dbfe4790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7319cd5cd&amp;amp;cid=7319cd5cd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edee28f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6?lid=43feddc41&amp;amp;cid=43feddc41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5f8997664&amp;amp;cid=5f899766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2d532fb2&amp;amp;cid=72d532fb2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948ad1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a948ad17d,5735a0fc3#df=a948ad1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0?lid=66459324b&amp;amp;cid=66459324b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3d081295&amp;amp;cid=83d081295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c822e78e6&amp;amp;cid=c822e78e6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0dbfe4790&amp;amp;cid=0dbfe4790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0?lid=7319cd5cd&amp;amp;cid=7319cd5cd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edee28f61#df=a948ad17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单元复习归纳</a:t>
            </a:r>
            <a:endParaRPr lang="en-US" sz="1800" dirty="0"/>
          </a:p>
        </p:txBody>
      </p:sp>
      <p:sp>
        <p:nvSpPr>
          <p:cNvPr id="5" name="C_0#auto_editor_catalog_6?lid=43feddc41&amp;amp;cid=43feddc41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6?lid=5f8997664&amp;amp;cid=5f899766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6?lid=72d532fb2&amp;amp;cid=72d532fb2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a948ad17d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a948ad17d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单元复习归纳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735a0fc3?vcp=1&amp;pid=a948ad17d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高考真题实战练</a:t>
            </a:r>
            <a:endParaRPr lang="en-US" altLang="zh-CN" sz="2600" dirty="0"/>
          </a:p>
        </p:txBody>
      </p:sp>
      <p:sp>
        <p:nvSpPr>
          <p:cNvPr id="3" name="P_4_BD#13983a504?vcp=1&amp;pid=5735a0fc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限时30分钟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66459324b?vcp=1&amp;pid=5735a0fc3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（2025·陕晋青宁选择考）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某智能物流系统中，质量为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的分拣机器人沿水平直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线轨道运动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，受到的合力沿轨道方向，合力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，则下列图像可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能正确的是(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66459324b?vcp=1&amp;pid=5735a0f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802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66459324b.bracket?vcp=1&amp;pid=5735a0fc3&amp;color=0,0,0&amp;vpa=1&amp;vtp=1"/>
          <p:cNvSpPr/>
          <p:nvPr/>
        </p:nvSpPr>
        <p:spPr>
          <a:xfrm>
            <a:off x="2149761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6" name="QC_4_BD.1_2#66459324b?htil=1&amp;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62689" y="3378327"/>
            <a:ext cx="2295144" cy="14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1_3#66459324b.choices?htil=1&amp;vcp=1&amp;pid=5735a0fc3&amp;color=0,0,0&amp;vtp=1&amp;bbb=1"/>
          <p:cNvSpPr/>
          <p:nvPr/>
        </p:nvSpPr>
        <p:spPr>
          <a:xfrm>
            <a:off x="393192" y="3305175"/>
            <a:ext cx="8970264" cy="15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3500"/>
              </a:lnSpc>
              <a:tabLst>
                <a:tab pos="2366391" algn="l"/>
                <a:tab pos="4593082" algn="l"/>
                <a:tab pos="6934073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7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72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75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75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8" name="QC_4_BD.1_3#66459324b.choice_image?htil=1&amp;vcp=1&amp;pid=5735a0fc3&amp;color=0,0,0&amp;tib=255,255,255&amp;iip=1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6945" y="3379597"/>
            <a:ext cx="1700784" cy="144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1_3#66459324b.choice_image?htil=1&amp;vcp=1&amp;pid=5735a0fc3&amp;color=0,0,0&amp;tib=255,255,255&amp;iip=2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8413" y="3388741"/>
            <a:ext cx="1581912" cy="143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0" name="QC_4_BD.1_3#66459324b.choice_image?htil=1&amp;vcp=1&amp;pid=5735a0fc3&amp;color=0,0,0&amp;tib=255,255,255&amp;iip=3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72437" y="3306445"/>
            <a:ext cx="1700784" cy="1517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11" name="QC_4_BD.1_3#66459324b.choice_image?htil=1&amp;vcp=1&amp;pid=5735a0fc3&amp;color=0,0,0&amp;tib=255,255,255&amp;iip=4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33430" y="3315589"/>
            <a:ext cx="1581912" cy="150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66459324b?vcp=1&amp;pid=5735a0fc3&amp;color=0,0,0&amp;vtp=1&amp;bt=1&amp;bbb=1&amp;hb=1"/>
              <p:cNvSpPr/>
              <p:nvPr/>
            </p:nvSpPr>
            <p:spPr>
              <a:xfrm>
                <a:off x="393192" y="1600962"/>
                <a:ext cx="11402568" cy="163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，由题图画出如图所示的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，可知机器人在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内加速度大小均为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，方向相反，由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图线的斜率表示加速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66459324b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0962"/>
                <a:ext cx="11402568" cy="1634300"/>
              </a:xfrm>
              <a:prstGeom prst="rect">
                <a:avLst/>
              </a:prstGeom>
              <a:blipFill>
                <a:blip r:embed="rId3"/>
                <a:stretch>
                  <a:fillRect l="-1658" r="-374" b="-1082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3_2#66459324b?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6632" y="3367977"/>
            <a:ext cx="2075688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83d081295?vcp=1&amp;pid=5735a0fc3&amp;color=0,0,0&amp;vtp=1&amp;bt=1&amp;bbb=1&amp;hb=1"/>
              <p:cNvSpPr/>
              <p:nvPr/>
            </p:nvSpPr>
            <p:spPr>
              <a:xfrm>
                <a:off x="393192" y="95281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（2025·北京等级考）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模拟失重环境的实验舱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，通过电磁弹射从地面由静止开始加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速后竖直向上射出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，上升到最高点后回落，再通过电磁制动使其停在地面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.实验舱运动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，受到的空气阻力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的大小随速率的增大而增大，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𝑓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的变化如图所示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向上为正）.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83d081295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5281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83d081295.bracket?vcp=1&amp;pid=5735a0fc3&amp;color=0,0,0&amp;vpa=2&amp;vtp=1"/>
          <p:cNvSpPr/>
          <p:nvPr/>
        </p:nvSpPr>
        <p:spPr>
          <a:xfrm>
            <a:off x="4981860" y="261778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4_2#83d081295?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09744" y="3219513"/>
            <a:ext cx="2578608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4_3#83d081295.choices?vcp=1&amp;pid=5735a0fc3&amp;color=0,0,0&amp;vtp=1&amp;bbb=1"/>
              <p:cNvSpPr/>
              <p:nvPr/>
            </p:nvSpPr>
            <p:spPr>
              <a:xfrm>
                <a:off x="393192" y="485781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，实验舱处于电磁弹射过程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，实验舱加速度大小减小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，实验舱内物体处于失重状态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时刻，实验舱达到最高点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4_3#83d081295.choices?vcp=1&amp;pid=5735a0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5781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83d081295?vcp=1&amp;pid=5735a0fc3&amp;color=0,0,0&amp;vtp=1&amp;bt=1&amp;bbb=1&amp;hb=1"/>
              <p:cNvSpPr/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由题图可知，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时间内，阻力向下先增大后减小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，又知阻力随速率增大而增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，可知实验舱先向上加速后向上减速，加速的过程为电磁弹射过程，即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实验舱处于电磁弹射过程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时间内，实验舱向上减速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，由牛顿第二定律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减小，加速度减小，B正确；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，阻力方向向上且先增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大后减小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，则速度方向向下先增大后减小，即加速度先向下后向上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，实验舱内物体先处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于失重状态后处于超重状态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（关键点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：通过加速度的方向分析物体是处于超重还是失重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状态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），C错误；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时刻，阻力为0，速度为0，实验舱达到最高点，D错误.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2" name="QC_4_AS.6_1#83d081295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658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c822e78e6?vcp=1&amp;pid=5735a0fc3&amp;color=0,0,0&amp;vtp=1&amp;bt=1&amp;bbb=1&amp;hb=1"/>
              <p:cNvSpPr/>
              <p:nvPr/>
            </p:nvSpPr>
            <p:spPr>
              <a:xfrm>
                <a:off x="393192" y="972408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（2025·湖北选择考）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的双轨推拉门由两扇宽为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的门板组成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，门处于关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闭状态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，其俯视图如图（a）所示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.某同学用与门板平行的水平恒定拉力作用在一门板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，一段时间后撤去拉力，该门板完全运动到另一边，且恰好不与门框发生碰撞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俯视图如图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（b）所示.门板在运动过程中受到的阻力与其重力大小之比为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，重力加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.若要门板的整个运动过程用时尽量短，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则所用时间趋近于(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c822e78e6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2408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t="-225" r="-535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BD.7_2#c822e78e6?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2464" y="3814412"/>
            <a:ext cx="476402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4_AN.8_1#c822e78e6.bracket?vcp=1&amp;pid=5735a0fc3&amp;color=0,0,0&amp;vpa=3&amp;vtp=1"/>
          <p:cNvSpPr/>
          <p:nvPr/>
        </p:nvSpPr>
        <p:spPr>
          <a:xfrm>
            <a:off x="10049606" y="319617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c822e78e6.choices?vcp=1&amp;pid=5735a0fc3&amp;color=0,0,0&amp;vtp=1&amp;bbb=1"/>
              <p:cNvSpPr/>
              <p:nvPr/>
            </p:nvSpPr>
            <p:spPr>
              <a:xfrm>
                <a:off x="393192" y="4868512"/>
                <a:ext cx="11402568" cy="825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500"/>
                  </a:lnSpc>
                  <a:tabLst>
                    <a:tab pos="2977002" algn="l"/>
                    <a:tab pos="5788904" algn="l"/>
                    <a:tab pos="86008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μ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μ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μ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μ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c822e78e6.choices?vcp=1&amp;pid=5735a0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68512"/>
                <a:ext cx="11402568" cy="825500"/>
              </a:xfrm>
              <a:prstGeom prst="rect">
                <a:avLst/>
              </a:prstGeom>
              <a:blipFill>
                <a:blip r:embed="rId5"/>
                <a:stretch>
                  <a:fillRect l="-1658" b="-14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9_1#c822e78e6?htil=2&amp;vcp=1&amp;pid=5735a0fc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7912" y="815688"/>
            <a:ext cx="1965960" cy="168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9_2#c822e78e6?htil=2&amp;vcp=1&amp;pid=5735a0fc3&amp;color=0,0,0&amp;vtp=1&amp;bt=1&amp;bbb=1&amp;hb=1&amp;hs=1"/>
              <p:cNvSpPr/>
              <p:nvPr/>
            </p:nvSpPr>
            <p:spPr>
              <a:xfrm>
                <a:off x="393192" y="769969"/>
                <a:ext cx="9299448" cy="18457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由题意知门板的初速度为0，末速度为0，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根据牛顿第二定律，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门板先做匀加速直线运动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，再做匀减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，总位移为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，设总时间为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9_2#c822e78e6?htil=2&amp;vcp=1&amp;pid=5735a0fc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9969"/>
                <a:ext cx="9299448" cy="1845755"/>
              </a:xfrm>
              <a:prstGeom prst="rect">
                <a:avLst/>
              </a:prstGeom>
              <a:blipFill>
                <a:blip r:embed="rId4"/>
                <a:stretch>
                  <a:fillRect l="-2033" r="-918" b="-59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9_2#c822e78e6?htil=2&amp;vcp=1&amp;pid=5735a0fc3&amp;color=0,0,0&amp;vtp=1&amp;bt=1&amp;bbb=1&amp;hb=1&amp;hs=1">
                <a:extLst>
                  <a:ext uri="{FF2B5EF4-FFF2-40B4-BE49-F238E27FC236}">
                    <a16:creationId xmlns:a16="http://schemas.microsoft.com/office/drawing/2014/main" id="{50777EA2-9804-E533-DEB6-90814252E66B}"/>
                  </a:ext>
                </a:extLst>
              </p:cNvPr>
              <p:cNvSpPr/>
              <p:nvPr/>
            </p:nvSpPr>
            <p:spPr>
              <a:xfrm>
                <a:off x="393192" y="2619088"/>
                <a:ext cx="11400008" cy="3086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当门板受到的恒力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不同，会得到不同的运动时间，门板的速度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—时间图像如图所示，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根据图像可知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，需要满足总位移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轴所围的面积不变，当恒力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趋近于无穷大时，匀加速运动过程的时间趋近于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0，总时间最短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，此时总位移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，解得最短的总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𝛍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9_2#c822e78e6?htil=2&amp;vcp=1&amp;pid=5735a0fc3&amp;color=0,0,0&amp;vtp=1&amp;bt=1&amp;bbb=1&amp;hb=1&amp;hs=1">
                <a:extLst>
                  <a:ext uri="{FF2B5EF4-FFF2-40B4-BE49-F238E27FC236}">
                    <a16:creationId xmlns:a16="http://schemas.microsoft.com/office/drawing/2014/main" id="{50777EA2-9804-E533-DEB6-90814252E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19088"/>
                <a:ext cx="11400008" cy="3086100"/>
              </a:xfrm>
              <a:prstGeom prst="rect">
                <a:avLst/>
              </a:prstGeom>
              <a:blipFill>
                <a:blip r:embed="rId5"/>
                <a:stretch>
                  <a:fillRect l="-1658" r="-2246" b="-19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0dbfe4790?vcp=1&amp;pid=5735a0fc3&amp;color=0,0,0&amp;vtp=1&amp;bt=1&amp;bbb=1&amp;hb=1"/>
              <p:cNvSpPr/>
              <p:nvPr/>
            </p:nvSpPr>
            <p:spPr>
              <a:xfrm>
                <a:off x="393192" y="97485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（2025·安徽选择考）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装有轻质光滑定滑轮的长方体木箱静置在水平地面上，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木箱上的物块甲通过不可伸长的水平轻绳绕过定滑轮与物块乙相连.乙拉着甲从静止开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，木箱始终保持静止.已知甲、乙质量均为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，甲与木箱之间的动摩擦因数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，不计空气阻力，重力加速度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则在乙下落的过程中(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0dbfe4790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485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256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0dbfe4790.bracket?vcp=1&amp;pid=5735a0fc3&amp;color=0,0,0&amp;vpa=4&amp;vtp=1"/>
          <p:cNvSpPr/>
          <p:nvPr/>
        </p:nvSpPr>
        <p:spPr>
          <a:xfrm>
            <a:off x="9924257" y="263982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0_2#0dbfe4790?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01768" y="3241547"/>
            <a:ext cx="219456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0dbfe4790.choices?vcp=1&amp;pid=5735a0fc3&amp;color=0,0,0&amp;vtp=1&amp;bbb=1"/>
              <p:cNvSpPr/>
              <p:nvPr/>
            </p:nvSpPr>
            <p:spPr>
              <a:xfrm>
                <a:off x="393192" y="4841747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.甲对木箱的摩擦力方向向左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.地面对木箱的支持力逐渐增大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.甲运动的加速度大小为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.乙受到绳子的拉力大小为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0dbfe4790.choices?vcp=1&amp;pid=5735a0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841747"/>
                <a:ext cx="11402568" cy="1027430"/>
              </a:xfrm>
              <a:prstGeom prst="rect">
                <a:avLst/>
              </a:prstGeom>
              <a:blipFill>
                <a:blip r:embed="rId5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2_1#0dbfe4790?htil=3&amp;vcp=1&amp;pid=5735a0fc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59168" y="1017777"/>
            <a:ext cx="4718304" cy="16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2_2#0dbfe4790?htil=3&amp;vcp=1&amp;pid=5735a0fc3&amp;color=0,0,0&amp;vtp=1&amp;bt=1&amp;bbb=1&amp;hb=1&amp;hs=1"/>
              <p:cNvSpPr/>
              <p:nvPr/>
            </p:nvSpPr>
            <p:spPr>
              <a:xfrm>
                <a:off x="393192" y="972058"/>
                <a:ext cx="6556248" cy="218135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如图，甲相对木箱向右运动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，所以物块甲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受到木箱水平向左的摩擦力，根据牛顿第三定律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，甲对木箱的摩擦力方向水平向右，A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对甲根据牛顿第二定律有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，对乙有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2_2#0dbfe4790?htil=3&amp;vcp=1&amp;pid=5735a0fc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2058"/>
                <a:ext cx="6556248" cy="2181352"/>
              </a:xfrm>
              <a:prstGeom prst="rect">
                <a:avLst/>
              </a:prstGeom>
              <a:blipFill>
                <a:blip r:embed="rId4"/>
                <a:stretch>
                  <a:fillRect l="-2884" r="-3814" b="-81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2_2#0dbfe4790?htil=3&amp;vcp=1&amp;pid=5735a0fc3&amp;color=0,0,0&amp;vtp=1&amp;bt=1&amp;bbb=1&amp;hb=1&amp;hs=1">
                <a:extLst>
                  <a:ext uri="{FF2B5EF4-FFF2-40B4-BE49-F238E27FC236}">
                    <a16:creationId xmlns:a16="http://schemas.microsoft.com/office/drawing/2014/main" id="{53BA552D-BF88-F7BF-5FCB-19FE858DF143}"/>
                  </a:ext>
                </a:extLst>
              </p:cNvPr>
              <p:cNvSpPr/>
              <p:nvPr/>
            </p:nvSpPr>
            <p:spPr>
              <a:xfrm>
                <a:off x="393192" y="3137153"/>
                <a:ext cx="1140000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，绳子的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，C正确，D错误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；把木箱和甲看成一个整体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在竖直方向上，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，由上述分析可知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，联立可得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，因为甲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、乙运动过程中加速度不变，所以地面对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木箱的支持力不变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2_2#0dbfe4790?htil=3&amp;vcp=1&amp;pid=5735a0fc3&amp;color=0,0,0&amp;vtp=1&amp;bt=1&amp;bbb=1&amp;hb=1&amp;hs=1">
                <a:extLst>
                  <a:ext uri="{FF2B5EF4-FFF2-40B4-BE49-F238E27FC236}">
                    <a16:creationId xmlns:a16="http://schemas.microsoft.com/office/drawing/2014/main" id="{53BA552D-BF88-F7BF-5FCB-19FE858DF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7153"/>
                <a:ext cx="11400008" cy="2713800"/>
              </a:xfrm>
              <a:prstGeom prst="rect">
                <a:avLst/>
              </a:prstGeom>
              <a:blipFill>
                <a:blip r:embed="rId5"/>
                <a:stretch>
                  <a:fillRect l="-1658" r="-428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EX.13_1#0dbfe4790?vcp=1&amp;pid=5735a0fc3&amp;color=0,0,0&amp;vtp=1&amp;bt=1&amp;bbb=1&amp;hb=1"/>
              <p:cNvSpPr/>
              <p:nvPr/>
            </p:nvSpPr>
            <p:spPr>
              <a:xfrm>
                <a:off x="393192" y="2535301"/>
                <a:ext cx="11402568" cy="180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妙招巧解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甲和乙通过绳子相连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，对甲和乙整体进行分析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，则甲和乙运动的加速度大小</a:t>
                </a:r>
              </a:p>
              <a:p>
                <a:pPr latinLnBrk="1">
                  <a:lnSpc>
                    <a:spcPts val="5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aseline="-10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𝑔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aseline="-10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甲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𝑔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aseline="-10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甲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aseline="-10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10−5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EX.13_1#0dbfe4790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35301"/>
                <a:ext cx="11402568" cy="1803400"/>
              </a:xfrm>
              <a:prstGeom prst="rect">
                <a:avLst/>
              </a:prstGeom>
              <a:blipFill>
                <a:blip r:embed="rId3"/>
                <a:stretch>
                  <a:fillRect l="-1658" b="-13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7319cd5cd?vcp=1&amp;pid=5735a0fc3&amp;color=0,0,0&amp;vtp=1&amp;bt=1&amp;bbb=1&amp;hb=1"/>
              <p:cNvSpPr/>
              <p:nvPr/>
            </p:nvSpPr>
            <p:spPr>
              <a:xfrm>
                <a:off x="393192" y="999077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（2025·黑吉辽蒙选择考）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（多选题）如图（a），倾角为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的足够长斜面放置在粗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糙水平面上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.质量相等的小物块甲、乙同时以初速度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沿斜面下滑，甲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、乙与斜面的动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摩擦因数分别为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，整个过程中斜面相对地面静止.甲和乙的位置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曲线如图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（b）所示，两条曲线均为抛物线，乙的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曲线在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时切线斜率为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7319cd5cd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99077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337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7319cd5cd.bracket?vcp=1&amp;pid=5735a0fc3&amp;color=0,0,0&amp;vpa=5&amp;vtp=1&amp;bbb=1"/>
          <p:cNvSpPr/>
          <p:nvPr/>
        </p:nvSpPr>
        <p:spPr>
          <a:xfrm>
            <a:off x="981360" y="322284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pic>
        <p:nvPicPr>
          <p:cNvPr id="4" name="QC_4_BD.14_2#7319cd5cd?htil=4&amp;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06095" y="3739736"/>
            <a:ext cx="3383280" cy="204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7319cd5cd.choices?htil=4&amp;vcp=1&amp;pid=5735a0fc3&amp;color=0,0,0&amp;vtp=1&amp;bbb=1"/>
              <p:cNvSpPr/>
              <p:nvPr/>
            </p:nvSpPr>
            <p:spPr>
              <a:xfrm>
                <a:off x="393192" y="3684872"/>
                <a:ext cx="788212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之前，地面对斜面的摩擦力方向向左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之后，地面对斜面的摩擦力方向向左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7319cd5cd.choices?htil=4&amp;vcp=1&amp;pid=5735a0f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4872"/>
                <a:ext cx="7882128" cy="2155000"/>
              </a:xfrm>
              <a:prstGeom prst="rect">
                <a:avLst/>
              </a:prstGeom>
              <a:blipFill>
                <a:blip r:embed="rId5"/>
                <a:stretch>
                  <a:fillRect l="-239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7319cd5cd?vcp=1&amp;pid=5735a0fc3&amp;color=0,0,0&amp;vtp=1&amp;bt=1&amp;bbb=1&amp;hb=1"/>
              <p:cNvSpPr/>
              <p:nvPr/>
            </p:nvSpPr>
            <p:spPr>
              <a:xfrm>
                <a:off x="393192" y="742219"/>
                <a:ext cx="11402568" cy="50084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根据题图（b）并结合题意可知甲做匀加速直线运动，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乙做匀减速直线运动，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对甲根据牛顿第二定律有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,对乙根据牛顿第二定律有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,结合题意有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𝐭𝐚𝐧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时甲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甲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之前物块甲、乙都在运动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物块甲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、乙、斜面为整体，规定水平向右为正方向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，在水平方向有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，可得地面对斜面的摩擦力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物块甲运动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，乙静止，视物块甲、乙、斜面为整体，规定水平向右为正方向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，在水平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，所以地面对斜面的摩擦力方向向左，D正确.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7319cd5cd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42219"/>
                <a:ext cx="11402568" cy="5008499"/>
              </a:xfrm>
              <a:prstGeom prst="rect">
                <a:avLst/>
              </a:prstGeom>
              <a:blipFill>
                <a:blip r:embed="rId3"/>
                <a:stretch>
                  <a:fillRect l="-1658" r="-1551" b="-365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EX.17_1#7319cd5cd?vcp=1&amp;pid=5735a0fc3&amp;color=0,0,0&amp;vtp=1&amp;bt=1&amp;bbb=1&amp;hb=1"/>
              <p:cNvSpPr/>
              <p:nvPr/>
            </p:nvSpPr>
            <p:spPr>
              <a:xfrm>
                <a:off x="393192" y="657447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妙招巧解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（b）知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内，甲、乙位移之比为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又由于甲做匀加速直线运动，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乙做匀减速直线运动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，可作出甲、乙运动的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EX.17_1#7319cd5cd?vcp=1&amp;pid=5735a0f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57447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EX.17_2#7319cd5cd?vcp=1&amp;pid=5735a0fc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73168" y="2378043"/>
            <a:ext cx="2642616" cy="20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EX.17_3#7319cd5cd?vcp=1&amp;pid=5735a0fc3&amp;color=0,0,0&amp;vtp=1&amp;bbb=1&amp;hb=1"/>
              <p:cNvSpPr/>
              <p:nvPr/>
            </p:nvSpPr>
            <p:spPr>
              <a:xfrm>
                <a:off x="393192" y="4600543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由图知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，B错误；由图像斜率可知，甲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、乙的加速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μ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EX.17_3#7319cd5cd?vcp=1&amp;pid=5735a0f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00543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dee28f61?vcp=1&amp;pid=a948ad17d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原创新题模拟练</a:t>
            </a:r>
            <a:endParaRPr lang="en-US" altLang="zh-CN" sz="2600" dirty="0"/>
          </a:p>
        </p:txBody>
      </p:sp>
      <p:sp>
        <p:nvSpPr>
          <p:cNvPr id="3" name="P_4_BD#7ecf6e065?vcp=1&amp;pid=edee28f61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18_1#43feddc41?htil=5&amp;vcp=1&amp;pid=edee28f61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39528" y="1645538"/>
            <a:ext cx="1837944" cy="193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8_2#43feddc41?htil=5&amp;vcp=1&amp;pid=edee28f61&amp;color=0,0,0&amp;vtp=1&amp;bbb=1&amp;hb=1&amp;hs=1"/>
              <p:cNvSpPr/>
              <p:nvPr/>
            </p:nvSpPr>
            <p:spPr>
              <a:xfrm>
                <a:off x="393192" y="1590675"/>
                <a:ext cx="9427464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1.如图，质量为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的矩形框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用与斜面平行的细绳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系在固定的斜面体上，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被固定在矩形框中的竖直轻弹簧上端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，再用一根平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行于斜面的细绳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与矩形框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连接，斜面体倾角为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，整个装置保持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静止状态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，不计矩形框和斜面间的摩擦，重力加速度为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断的瞬间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8_2#43feddc41?htil=5&amp;vcp=1&amp;pid=edee28f61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427464" cy="2709799"/>
              </a:xfrm>
              <a:prstGeom prst="rect">
                <a:avLst/>
              </a:prstGeom>
              <a:blipFill>
                <a:blip r:embed="rId4"/>
                <a:stretch>
                  <a:fillRect l="-2005" r="-5110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9_1#43feddc41.bracket?vcp=1&amp;pid=edee28f61&amp;color=0,0,0&amp;vpa=6&amp;vtp=1"/>
          <p:cNvSpPr/>
          <p:nvPr/>
        </p:nvSpPr>
        <p:spPr>
          <a:xfrm>
            <a:off x="4588160" y="38144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8_3#43feddc41.choices?vcp=1&amp;pid=edee28f61&amp;color=0,0,0&amp;vtp=1&amp;bbb=1&amp;hs=1"/>
              <p:cNvSpPr/>
              <p:nvPr/>
            </p:nvSpPr>
            <p:spPr>
              <a:xfrm>
                <a:off x="393192" y="4283075"/>
                <a:ext cx="11402568" cy="14977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.矩形框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.矩形框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𝑄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8_3#43feddc41.choices?vcp=1&amp;pid=edee28f61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83075"/>
                <a:ext cx="11402568" cy="1497775"/>
              </a:xfrm>
              <a:prstGeom prst="rect">
                <a:avLst/>
              </a:prstGeom>
              <a:blipFill>
                <a:blip r:embed="rId5"/>
                <a:stretch>
                  <a:fillRect l="-1658" b="-73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0_1#43feddc41?vcp=1&amp;pid=edee28f61&amp;color=0,0,0&amp;vtp=1&amp;bt=1&amp;bbb=1&amp;hb=1"/>
              <p:cNvSpPr/>
              <p:nvPr/>
            </p:nvSpPr>
            <p:spPr>
              <a:xfrm>
                <a:off x="393192" y="1454023"/>
                <a:ext cx="11402568" cy="3567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被剪断前，对小球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进行受力分析，由平衡条件可知，小球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只受重力和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弹簧的弹力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作用，且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被剪断的瞬间，弹簧弹力不会突变，故小球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0，A、B错误；细绳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被剪断前，对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整体分析，由平衡条件知细绳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被剪断的瞬间，细绳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的拉力突变为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矩形框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所受合外力与之前所受的拉力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等大反向，由牛顿第二定律，有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𝑸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0_1#43feddc41?vcp=1&amp;pid=edee28f6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54023"/>
                <a:ext cx="11402568" cy="3567049"/>
              </a:xfrm>
              <a:prstGeom prst="rect">
                <a:avLst/>
              </a:prstGeom>
              <a:blipFill>
                <a:blip r:embed="rId3"/>
                <a:stretch>
                  <a:fillRect l="-1658" r="-3904" b="-290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1_1#5f8997664?vcp=1&amp;pid=edee28f61&amp;color=0,0,0&amp;vtp=1&amp;bt=1&amp;bbb=1&amp;hb=1"/>
              <p:cNvSpPr/>
              <p:nvPr/>
            </p:nvSpPr>
            <p:spPr>
              <a:xfrm>
                <a:off x="393192" y="585819"/>
                <a:ext cx="114025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2.看作球体的雨滴在无风的环境中从静止开始下落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，受到的空气阻力与速度大小的关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空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𝑆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为阻力系数，取0.47；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空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为空气密度，约等于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1.29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𝑆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为雨滴的横截面积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𝑆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），开始下落位置足够高，则半径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𝑟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的雨滴下落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的最大速度约为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（球的体积公式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𝑉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𝑟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，水的密度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水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=1×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2" name="QC_4_BD.21_1#5f8997664?vcp=1&amp;pid=edee28f6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85819"/>
                <a:ext cx="11402568" cy="2235200"/>
              </a:xfrm>
              <a:prstGeom prst="rect">
                <a:avLst/>
              </a:prstGeom>
              <a:blipFill>
                <a:blip r:embed="rId3"/>
                <a:stretch>
                  <a:fillRect l="-1658" b="-463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2_1#5f8997664.bracket?vcp=1&amp;pid=edee28f61&amp;color=0,0,0&amp;vpa=7&amp;vtp=1"/>
          <p:cNvSpPr/>
          <p:nvPr/>
        </p:nvSpPr>
        <p:spPr>
          <a:xfrm>
            <a:off x="10677557" y="2376455"/>
            <a:ext cx="441325" cy="36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1_2#5f8997664.choices?vcp=1&amp;pid=edee28f61&amp;color=0,0,0&amp;vtp=1&amp;bbb=1"/>
              <p:cNvSpPr/>
              <p:nvPr/>
            </p:nvSpPr>
            <p:spPr>
              <a:xfrm>
                <a:off x="393192" y="2821463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97627" algn="l"/>
                    <a:tab pos="5757154" algn="l"/>
                    <a:tab pos="86166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4.6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6.6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200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1_2#5f8997664.choices?vcp=1&amp;pid=edee28f6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21463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3_1#5f8997664?vcp=1&amp;pid=edee28f61&amp;color=0,0,0&amp;vtp=1&amp;bbb=1&amp;hb=1"/>
              <p:cNvSpPr/>
              <p:nvPr/>
            </p:nvSpPr>
            <p:spPr>
              <a:xfrm>
                <a:off x="393192" y="3302158"/>
                <a:ext cx="11402568" cy="2205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雨滴下落过程有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空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可知，随着速度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滴受到的空气阻力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增大，雨滴的加速度减小，当雨滴的速度达到最大时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，加速度减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0，此时有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空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𝑺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水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sSup>
                      <m:sSupPr>
                        <m:ctrlP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𝒓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，代入解得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≈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,故选C.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QC_4_AS.23_1#5f8997664?vcp=1&amp;pid=edee28f6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02158"/>
                <a:ext cx="11402568" cy="2205800"/>
              </a:xfrm>
              <a:prstGeom prst="rect">
                <a:avLst/>
              </a:prstGeom>
              <a:blipFill>
                <a:blip r:embed="rId5"/>
                <a:stretch>
                  <a:fillRect l="-1658" r="-481" b="-80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4_1#72d532fb2?vcp=1&amp;pid=edee28f61&amp;color=0,0,0&amp;vtp=1&amp;bt=1&amp;bbb=1&amp;hb=1"/>
              <p:cNvSpPr/>
              <p:nvPr/>
            </p:nvSpPr>
            <p:spPr>
              <a:xfrm>
                <a:off x="393192" y="664210"/>
                <a:ext cx="11402568" cy="32720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3.如图甲所示，水平放置的传送带在电机的作用下，从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时刻由静止开始顺时针做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匀加速直线运动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的物块（视为质点）在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从左轮的正上方水平向右滑上传送带，物块在位移为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时与传送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带的速度相等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0.4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，物块和传送带的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图像如图乙所示，已知物块在位移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之后的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图线与传送带的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图线平行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，物块从右轮正上方离开传送带时的速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0.8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，最大静摩擦力等于滑动摩擦力，重力加速度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4_1#72d532fb2?vcp=1&amp;pid=edee28f6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64210"/>
                <a:ext cx="11402568" cy="3272028"/>
              </a:xfrm>
              <a:prstGeom prst="rect">
                <a:avLst/>
              </a:prstGeom>
              <a:blipFill>
                <a:blip r:embed="rId3"/>
                <a:stretch>
                  <a:fillRect l="-1658" r="-749" b="-54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24_2#72d532fb2?vcp=1&amp;pid=edee28f6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38144" y="4035806"/>
            <a:ext cx="5321808" cy="215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5_1#1d458d270?vcp=1&amp;pid=72d532fb2&amp;color=0,0,0&amp;vtp=1&amp;bt=1&amp;bbb=1"/>
              <p:cNvSpPr/>
              <p:nvPr/>
            </p:nvSpPr>
            <p:spPr>
              <a:xfrm>
                <a:off x="393192" y="767619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（1）物块与传送带间的动摩擦因数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以及传送带的加速度大小.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5_1#1d458d270?vcp=1&amp;pid=72d532fb2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7619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6_1#1d458d270?vcp=1&amp;pid=72d532fb2&amp;color=0,0,0&amp;vtp=1&amp;bbb=1&amp;hb=1"/>
              <p:cNvSpPr/>
              <p:nvPr/>
            </p:nvSpPr>
            <p:spPr>
              <a:xfrm>
                <a:off x="393192" y="1254410"/>
                <a:ext cx="11402568" cy="45403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在位移大小小于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时，物块做匀减速直线运动，设物块的加速度大小为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，根据牛顿第二定律有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解得物块与传送带间的动摩擦因数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物块从左端滑上传送带到与传送带共速所用时间为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设传送带的加速度大小为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6_1#1d458d270?vcp=1&amp;pid=72d532fb2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54410"/>
                <a:ext cx="11402568" cy="4540314"/>
              </a:xfrm>
              <a:prstGeom prst="rect">
                <a:avLst/>
              </a:prstGeom>
              <a:blipFill>
                <a:blip r:embed="rId4"/>
                <a:stretch>
                  <a:fillRect l="-1658" r="-1444" b="-12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7_1#a0758e61d?vcp=1&amp;pid=72d532fb2&amp;color=0,0,0&amp;vtp=1&amp;bt=1&amp;bbb=1"/>
          <p:cNvSpPr/>
          <p:nvPr/>
        </p:nvSpPr>
        <p:spPr>
          <a:xfrm>
            <a:off x="393192" y="1294130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（2）物块在传送带上运动的整个过程中的平均速度大小.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8_1#a0758e61d?vcp=1&amp;pid=72d532fb2&amp;color=0,0,0&amp;vtp=1&amp;bbb=1"/>
              <p:cNvSpPr/>
              <p:nvPr/>
            </p:nvSpPr>
            <p:spPr>
              <a:xfrm>
                <a:off x="393192" y="1793621"/>
                <a:ext cx="11402568" cy="335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设共速后物块随传送带一起运动的时间为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，一起运动的位移大小为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根据运动学公式有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物块在传送带上运动的整个过程中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8_1#a0758e61d?vcp=1&amp;pid=72d532fb2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93621"/>
                <a:ext cx="11402568" cy="3352800"/>
              </a:xfrm>
              <a:prstGeom prst="rect">
                <a:avLst/>
              </a:prstGeom>
              <a:blipFill>
                <a:blip r:embed="rId3"/>
                <a:stretch>
                  <a:fillRect l="-1658" b="-181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EX.29_1#72d532fb2?vcp=1&amp;pid=edee28f61&amp;color=0,0,0&amp;vtp=1&amp;bt=1&amp;bbb=1"/>
              <p:cNvSpPr/>
              <p:nvPr/>
            </p:nvSpPr>
            <p:spPr>
              <a:xfrm>
                <a:off x="393192" y="1730756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根据题意画出物块与传送带运动的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图线，如图所示.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EX.29_1#72d532fb2?vcp=1&amp;pid=edee28f6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30756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EX.29_2#72d532fb2?vcp=1&amp;pid=edee28f6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88536" y="2891282"/>
            <a:ext cx="3611880" cy="222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1430</Words>
  <Application>Microsoft Office PowerPoint</Application>
  <PresentationFormat>宽屏</PresentationFormat>
  <Paragraphs>157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2026-05-25T07:59:58Z</dcterms:created>
  <dcterms:modified xsi:type="dcterms:W3CDTF">2026-05-25T08:08:27Z</dcterms:modified>
  <cp:category/>
  <cp:contentStatus/>
</cp:coreProperties>
</file>