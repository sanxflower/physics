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79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7" Type="http://schemas.openxmlformats.org/officeDocument/2006/relationships/slide" Target="../slides/slide1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8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7" Type="http://schemas.openxmlformats.org/officeDocument/2006/relationships/slide" Target="../slides/slide1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8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63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39b6def31,d45fc9d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faf9431df&amp;amp;cid=faf9431df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65c66d824&amp;amp;cid=65c66d824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a29634380&amp;amp;cid=a29634380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872758d23&amp;amp;cid=872758d23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0db00e16f&amp;amp;cid=0db00e16f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4ea3082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6?lid=98b9186dd&amp;amp;cid=98b9186dd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8cc735bc4&amp;amp;cid=8cc735bc4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7947faccc&amp;amp;cid=7947faccc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39b6def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疑难专题9 动力学中的连接体模型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39b6def31,d45fc9d84#df=39b6def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疑难专题9 动力学中的连接体模型</a:t>
            </a:r>
            <a:endParaRPr lang="en-US" sz="1800" dirty="0"/>
          </a:p>
        </p:txBody>
      </p:sp>
      <p:sp>
        <p:nvSpPr>
          <p:cNvPr id="5" name="C_0#auto_editor_catalog_0?lid=faf9431df&amp;amp;cid=faf9431df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65c66d824&amp;amp;cid=65c66d824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a29634380&amp;amp;cid=a29634380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872758d23&amp;amp;cid=872758d23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0db00e16f&amp;amp;cid=0db00e16f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4ea308244#df=39b6def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疑难专题9 动力学中的连接体模型</a:t>
            </a:r>
            <a:endParaRPr lang="en-US" sz="1800" dirty="0"/>
          </a:p>
        </p:txBody>
      </p:sp>
      <p:sp>
        <p:nvSpPr>
          <p:cNvPr id="5" name="C_0#auto_editor_catalog_6?lid=98b9186dd&amp;amp;cid=98b9186dd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8cc735bc4&amp;amp;cid=8cc735bc4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7947faccc&amp;amp;cid=7947faccc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39b6def31.fixed?vcp=1&amp;pid=a1f4ab335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39b6def31.fixed?vcp=1&amp;pid=a1f4ab335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疑难专题9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动力学中的连接体模型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d45fc9d84?vcp=1&amp;pid=39b6def3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7572dfceb?vcp=1&amp;pid=d45fc9d8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faf9431df?vcp=1&amp;pid=d45fc9d84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如图所示，水平面上有两个质量分别为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的木块1和2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，中间用一条轻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绳水平连接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，两木块的材料相同，已知重力加速度为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向右拉木块2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，当两木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块一起向右做匀加速直线运动时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faf9431df?vcp=1&amp;pid=d45fc9d8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58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faf9431df.bracket?vcp=1&amp;pid=d45fc9d84&amp;color=0,0,0&amp;vpa=1&amp;vtp=1"/>
          <p:cNvSpPr/>
          <p:nvPr/>
        </p:nvSpPr>
        <p:spPr>
          <a:xfrm>
            <a:off x="7636161" y="26968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6" name="QC_4_BD.1_2#faf9431df?htil=1&amp;vcp=1&amp;pid=d45fc9d8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52033" y="3223895"/>
            <a:ext cx="1984248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faf9431df.choices?htil=1&amp;vcp=1&amp;pid=d45fc9d84&amp;color=0,0,0&amp;vtp=1&amp;bbb=1"/>
              <p:cNvSpPr/>
              <p:nvPr/>
            </p:nvSpPr>
            <p:spPr>
              <a:xfrm>
                <a:off x="393192" y="3178175"/>
                <a:ext cx="9281160" cy="2218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A.若水平面是光滑的，则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越大，绳的拉力越大</a:t>
                </a:r>
                <a:endParaRPr lang="en-US" altLang="zh-CN" sz="2400" dirty="0"/>
              </a:p>
              <a:p>
                <a:pPr latinLnBrk="1">
                  <a:lnSpc>
                    <a:spcPts val="4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.若木块和地面间的动摩擦因数为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,则绳的拉力为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.绳的拉力大小与水平面是否粗糙无关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.绳的拉力大小与水平面是否粗糙有关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faf9431df.choices?htil=1&amp;vcp=1&amp;pid=d45fc9d8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78175"/>
                <a:ext cx="9281160" cy="2218500"/>
              </a:xfrm>
              <a:prstGeom prst="rect">
                <a:avLst/>
              </a:prstGeom>
              <a:blipFill>
                <a:blip r:embed="rId5"/>
                <a:stretch>
                  <a:fillRect l="-2037" b="-82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faf9431df?vcp=1&amp;pid=d45fc9d84&amp;color=0,0,0&amp;vtp=1&amp;bt=1&amp;bbb=1&amp;hb=1"/>
              <p:cNvSpPr/>
              <p:nvPr/>
            </p:nvSpPr>
            <p:spPr>
              <a:xfrm>
                <a:off x="393192" y="1590707"/>
                <a:ext cx="11402568" cy="3556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若木块和地面间的动摩擦因数为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以两木块和轻绳组成的整体为研究对象，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以木块1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为研究对象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𝐓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，整体的加速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度与木块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1的相同，解得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，可见绳的拉力大小与动摩擦因数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无关，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，B、D错误；绳的拉力大小与两木块的质量大小有关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，即无论水平面是光滑的还是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粗糙的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，绳的拉力大小均为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越大，绳的拉力越小，A错误.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faf9431df?vcp=1&amp;pid=d45fc9d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707"/>
                <a:ext cx="11402568" cy="3556000"/>
              </a:xfrm>
              <a:prstGeom prst="rect">
                <a:avLst/>
              </a:prstGeom>
              <a:blipFill>
                <a:blip r:embed="rId3"/>
                <a:stretch>
                  <a:fillRect l="-1658" r="-1604" b="-171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65c66d824?vcp=1&amp;pid=d45fc9d84&amp;color=0,0,0&amp;vtp=1&amp;bt=1&amp;bbb=1&amp;hb=1"/>
              <p:cNvSpPr/>
              <p:nvPr/>
            </p:nvSpPr>
            <p:spPr>
              <a:xfrm>
                <a:off x="393192" y="763239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（2026·湖南株洲二中检测）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（多选题）高铁已成为重要的“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中国名片”，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领跑世界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.一辆由9节车厢编组的列车，从车头开始的第2、4、6和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8共四节车厢为动力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，其余为非动力车厢.列车在平直轨道上匀加速启动时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，若每节动力车厢的牵引力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，每节车厢的质量均为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,每节车厢所受的阻力均为该节车厢受到的重力的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倍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.重力加速度大小为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则启动时(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65c66d824?vcp=1&amp;pid=d45fc9d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63239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2193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65c66d824.bracket?vcp=1&amp;pid=d45fc9d84&amp;color=0,0,0&amp;vpa=2&amp;vtp=1&amp;bbb=1"/>
          <p:cNvSpPr/>
          <p:nvPr/>
        </p:nvSpPr>
        <p:spPr>
          <a:xfrm>
            <a:off x="4982305" y="2987009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4_2#65c66d824.choices?vcp=1&amp;pid=d45fc9d84&amp;color=0,0,0&amp;vtp=1&amp;bbb=1"/>
              <p:cNvSpPr/>
              <p:nvPr/>
            </p:nvSpPr>
            <p:spPr>
              <a:xfrm>
                <a:off x="393192" y="3449034"/>
                <a:ext cx="11402568" cy="2409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A.整列车的加速度大小为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−9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.车厢对乘客的作用力与乘客所受的重力大小相等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.第4节车厢对第5节车厢的作用力大小为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.车厢之间的作用力与车厢所受摩擦力成正比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4_2#65c66d824.choices?vcp=1&amp;pid=d45fc9d8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49034"/>
                <a:ext cx="11402568" cy="2409000"/>
              </a:xfrm>
              <a:prstGeom prst="rect">
                <a:avLst/>
              </a:prstGeom>
              <a:blipFill>
                <a:blip r:embed="rId4"/>
                <a:stretch>
                  <a:fillRect l="-1658" b="-73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65c66d824?vcp=1&amp;pid=d45fc9d84&amp;color=0,0,0&amp;vtp=1&amp;bt=1&amp;bbb=1&amp;hb=1"/>
              <p:cNvSpPr/>
              <p:nvPr/>
            </p:nvSpPr>
            <p:spPr>
              <a:xfrm>
                <a:off x="393192" y="1502505"/>
                <a:ext cx="11402568" cy="3894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以整列车为研究对象，由牛顿第二定律有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，解得整列车的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,A正确；列车启动时乘客有向前的加速度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，则车厢对乘客有水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平方向的作用力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，而在竖直方向上车厢对乘客有向上的支持力，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大小等于乘客的重力，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所以车厢对乘客的作用力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（合力）要大于乘客所受重力的大小，B错误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；以后五节车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厢为研究对象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，设第4节车厢对第5节车厢的作用力大小为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，由牛顿第二定律有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；通过前面的分析可知车厢之间的作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用力与车厢所受的摩擦力无关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65c66d824?vcp=1&amp;pid=d45fc9d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02505"/>
                <a:ext cx="11402568" cy="3894900"/>
              </a:xfrm>
              <a:prstGeom prst="rect">
                <a:avLst/>
              </a:prstGeom>
              <a:blipFill>
                <a:blip r:embed="rId3"/>
                <a:stretch>
                  <a:fillRect l="-1658" r="-3209" b="-46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a29634380?vcp=1&amp;pid=d45fc9d84&amp;color=0,0,0&amp;vtp=1&amp;bt=1&amp;bbb=1&amp;hb=1"/>
              <p:cNvSpPr/>
              <p:nvPr/>
            </p:nvSpPr>
            <p:spPr>
              <a:xfrm>
                <a:off x="393192" y="1126459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两物块的质量分别为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静止叠放在光滑水平地面上，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现对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施加一水平拉力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两物块一起向右做匀加速直线运动，则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a29634380?vcp=1&amp;pid=d45fc9d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26459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2834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a29634380.bracket?vcp=1&amp;pid=d45fc9d84&amp;color=0,0,0&amp;vpa=3&amp;vtp=1"/>
          <p:cNvSpPr/>
          <p:nvPr/>
        </p:nvSpPr>
        <p:spPr>
          <a:xfrm>
            <a:off x="1844961" y="223262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7_2#a29634380?vcp=1&amp;pid=d45fc9d8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9512" y="2847054"/>
            <a:ext cx="1719072" cy="69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a29634380.choices?vcp=1&amp;pid=d45fc9d84&amp;color=0,0,0&amp;vtp=1&amp;bbb=1"/>
              <p:cNvSpPr/>
              <p:nvPr/>
            </p:nvSpPr>
            <p:spPr>
              <a:xfrm>
                <a:off x="393192" y="3672553"/>
                <a:ext cx="11402568" cy="7108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  <a:tabLst>
                    <a:tab pos="2872227" algn="l"/>
                    <a:tab pos="57190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a29634380.choices?vcp=1&amp;pid=d45fc9d8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72553"/>
                <a:ext cx="11402568" cy="710883"/>
              </a:xfrm>
              <a:prstGeom prst="rect">
                <a:avLst/>
              </a:prstGeom>
              <a:blipFill>
                <a:blip r:embed="rId5"/>
                <a:stretch>
                  <a:fillRect l="-1658" b="-14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9_1#a29634380?vcp=1&amp;pid=d45fc9d84&amp;color=0,0,0&amp;vtp=1&amp;bbb=1&amp;hb=1"/>
              <p:cNvSpPr/>
              <p:nvPr/>
            </p:nvSpPr>
            <p:spPr>
              <a:xfrm>
                <a:off x="393192" y="4393278"/>
                <a:ext cx="11402568" cy="11113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通过观察可知题目符合求内力的模型（动力分配原则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），直接代入公式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9_1#a29634380?vcp=1&amp;pid=d45fc9d8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93278"/>
                <a:ext cx="11402568" cy="1111314"/>
              </a:xfrm>
              <a:prstGeom prst="rect">
                <a:avLst/>
              </a:prstGeom>
              <a:blipFill>
                <a:blip r:embed="rId6"/>
                <a:stretch>
                  <a:fillRect l="-1658" b="-54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872758d23?vcp=1&amp;pid=d45fc9d84&amp;color=0,0,0&amp;vtp=1&amp;bt=1&amp;bbb=1&amp;hb=1"/>
              <p:cNvSpPr/>
              <p:nvPr/>
            </p:nvSpPr>
            <p:spPr>
              <a:xfrm>
                <a:off x="393192" y="642144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（2026·湖北宜昌一中检测）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（多选题）如图，质量分别为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的木箱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叠放在平板车上，定滑轮固定在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右侧连接水平轻绳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，轻绳另一端绕过定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滑轮连接一质量为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的小球.当平板车沿水平方向运动时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，连接小球的轻绳与竖直方向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,所有物体都与平板车保持相对静止，重力加速度为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.下列说法正确的是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872758d23?vcp=1&amp;pid=d45fc9d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42144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856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872758d23.bracket?vcp=1&amp;pid=d45fc9d84&amp;color=0,0,0&amp;vpa=4&amp;vtp=1&amp;bbb=1"/>
          <p:cNvSpPr/>
          <p:nvPr/>
        </p:nvSpPr>
        <p:spPr>
          <a:xfrm>
            <a:off x="689260" y="2865914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10_2#872758d23?htil=2&amp;vcp=1&amp;pid=d45fc9d8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42790" y="3373660"/>
            <a:ext cx="1892808" cy="113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872758d23.choices?htil=2&amp;vcp=1&amp;pid=d45fc9d84&amp;color=0,0,0&amp;vtp=1&amp;bbb=1&amp;hb=1"/>
              <p:cNvSpPr/>
              <p:nvPr/>
            </p:nvSpPr>
            <p:spPr>
              <a:xfrm>
                <a:off x="393192" y="3327940"/>
                <a:ext cx="9381744" cy="26838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A.平板车运动的加速度方向水平向左，大小为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对平板车的压力大小为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受到的静摩擦力方向水平向左，大小为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.平板车对木箱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的静摩擦力方向水平向左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，大小为</a:t>
                </a:r>
              </a:p>
              <a:p>
                <a:pPr latinLnBrk="1">
                  <a:lnSpc>
                    <a:spcPts val="4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872758d23.choices?htil=2&amp;vcp=1&amp;pid=d45fc9d8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27940"/>
                <a:ext cx="9381744" cy="2683891"/>
              </a:xfrm>
              <a:prstGeom prst="rect">
                <a:avLst/>
              </a:prstGeom>
              <a:blipFill>
                <a:blip r:embed="rId5"/>
                <a:stretch>
                  <a:fillRect l="-2014" b="-522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872758d23?vcp=1&amp;pid=d45fc9d84&amp;color=0,0,0&amp;vtp=1&amp;bt=1&amp;bbb=1&amp;hb=1"/>
              <p:cNvSpPr/>
              <p:nvPr/>
            </p:nvSpPr>
            <p:spPr>
              <a:xfrm>
                <a:off x="393192" y="1448530"/>
                <a:ext cx="11402568" cy="3827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对小球受力分析可知，平板车运动的加速度方向水平向左，大小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错误；对木箱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和小球组成的整体分析可知，平板车对木箱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的支持力大小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对平板车的压力大小为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；对木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受力分析可得，木箱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受到的静摩擦力方向水平向左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，对小球有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，则木箱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受到的静摩擦力大小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错误；对木箱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和小球组成的整体分析可知，平板车对木箱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的静摩擦力方向水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平向左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872758d23?vcp=1&amp;pid=d45fc9d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48530"/>
                <a:ext cx="11402568" cy="3827399"/>
              </a:xfrm>
              <a:prstGeom prst="rect">
                <a:avLst/>
              </a:prstGeom>
              <a:blipFill>
                <a:blip r:embed="rId3"/>
                <a:stretch>
                  <a:fillRect l="-1658" r="-2406" b="-49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0db00e16f?vcp=1&amp;pid=d45fc9d84&amp;color=0,0,0&amp;vtp=1&amp;bt=1&amp;bbb=1&amp;hb=1"/>
              <p:cNvSpPr/>
              <p:nvPr/>
            </p:nvSpPr>
            <p:spPr>
              <a:xfrm>
                <a:off x="393192" y="114896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（2026·浙江富阳中学检测）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有一种游戏，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游戏者手持乒乓球拍托球移动，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距离大者获胜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.若某人在游戏中沿水平面做匀加速直线运动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，球拍与球保持相对静止且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球拍平面和水平面之间的夹角为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,如图所示.设球拍和球的质量分别为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,不计球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拍和球之间的摩擦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，不计空气阻力，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0db00e16f?vcp=1&amp;pid=d45fc9d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4896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0db00e16f.bracket?vcp=1&amp;pid=d45fc9d84&amp;color=0,0,0&amp;vpa=5&amp;vtp=1"/>
          <p:cNvSpPr/>
          <p:nvPr/>
        </p:nvSpPr>
        <p:spPr>
          <a:xfrm>
            <a:off x="8245761" y="281393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13_2#0db00e16f?htil=3&amp;vcp=1&amp;pid=d45fc9d8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19119" y="3334384"/>
            <a:ext cx="1920240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3#0db00e16f.choices?htil=3&amp;vcp=1&amp;pid=d45fc9d84&amp;color=0,0,0&amp;vtp=1&amp;bbb=1"/>
              <p:cNvSpPr/>
              <p:nvPr/>
            </p:nvSpPr>
            <p:spPr>
              <a:xfrm>
                <a:off x="393192" y="3288664"/>
                <a:ext cx="9345168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A.运动员的加速度大小为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.球受到的合力大小为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.球拍对球的作用力大小为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.运动员对球拍的作用力大小为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3#0db00e16f.choices?htil=3&amp;vcp=1&amp;pid=d45fc9d8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88664"/>
                <a:ext cx="9345168" cy="2235200"/>
              </a:xfrm>
              <a:prstGeom prst="rect">
                <a:avLst/>
              </a:prstGeom>
              <a:blipFill>
                <a:blip r:embed="rId5"/>
                <a:stretch>
                  <a:fillRect l="-2022" b="-4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0db00e16f?vcp=1&amp;pid=d45fc9d84&amp;color=0,0,0&amp;vtp=1&amp;bt=1&amp;bbb=1&amp;hb=1"/>
              <p:cNvSpPr/>
              <p:nvPr/>
            </p:nvSpPr>
            <p:spPr>
              <a:xfrm>
                <a:off x="393192" y="778002"/>
                <a:ext cx="11402568" cy="2794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球和运动员具有相同的加速度，以球为研究对象，对球进行受力分析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，则球所受的合力为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，根据牛顿第二定律得加速度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、B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；球拍对球的作用力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，C错误；以球拍和球整体为研究对象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，对整体进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行受力分析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，如图乙所示，根据平行四边形定则可知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，运动员对球拍的作用力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0db00e16f?vcp=1&amp;pid=d45fc9d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78002"/>
                <a:ext cx="11402568" cy="2794000"/>
              </a:xfrm>
              <a:prstGeom prst="rect">
                <a:avLst/>
              </a:prstGeom>
              <a:blipFill>
                <a:blip r:embed="rId3"/>
                <a:stretch>
                  <a:fillRect l="-1658" r="-1658" b="-371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5_2#0db00e16f?vcp=1&amp;pid=d45fc9d8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06240" y="3702939"/>
            <a:ext cx="3785616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4ea308244?vcp=1&amp;pid=39b6def31&amp;color=0,0,0&amp;vtp=1&amp;bt=1&amp;bbb=1"/>
          <p:cNvSpPr/>
          <p:nvPr/>
        </p:nvSpPr>
        <p:spPr>
          <a:xfrm>
            <a:off x="393192" y="502920"/>
            <a:ext cx="11402568" cy="523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5b6d0955f?vcp=1&amp;pid=4ea308244&amp;color=0,0,0&amp;vtp=1&amp;bbb=1"/>
          <p:cNvSpPr/>
          <p:nvPr/>
        </p:nvSpPr>
        <p:spPr>
          <a:xfrm>
            <a:off x="393192" y="1084107"/>
            <a:ext cx="1140256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6_1#98b9186dd?vcp=1&amp;pid=4ea308244&amp;color=0,0,0&amp;vtp=1&amp;bbb=1&amp;hb=1"/>
              <p:cNvSpPr/>
              <p:nvPr/>
            </p:nvSpPr>
            <p:spPr>
              <a:xfrm>
                <a:off x="393192" y="1574102"/>
                <a:ext cx="11402568" cy="2658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（2026·江西吉安一中检测）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的两个小物块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用轻绳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，绳跨过位于倾角为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的光滑斜面顶端的轻滑轮，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滑轮与转轴之间的摩擦不计，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斜面固定在水平桌面上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，如图所示.第一次，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悬空，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放在斜面底端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，由静止释放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从斜面底端运动到顶端的时间为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.第二次，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悬空，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放在斜面底端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，由静止释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从斜面底端运动到顶端的时间为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6_1#98b9186dd?vcp=1&amp;pid=4ea30824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74102"/>
                <a:ext cx="11402568" cy="2658999"/>
              </a:xfrm>
              <a:prstGeom prst="rect">
                <a:avLst/>
              </a:prstGeom>
              <a:blipFill>
                <a:blip r:embed="rId3"/>
                <a:stretch>
                  <a:fillRect l="-1658" r="-3102" b="-711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17_1#98b9186dd.bracket?vcp=1&amp;pid=4ea308244&amp;color=0,0,0&amp;vpa=6&amp;vtp=1"/>
          <p:cNvSpPr/>
          <p:nvPr/>
        </p:nvSpPr>
        <p:spPr>
          <a:xfrm>
            <a:off x="8209312" y="374980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6" name="QC_4_BD.16_2#98b9186dd?vcp=1&amp;pid=4ea30824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37760" y="4363974"/>
            <a:ext cx="2322576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6_3#98b9186dd.choices?vcp=1&amp;pid=4ea308244&amp;color=0,0,0&amp;vtp=1&amp;bbb=1"/>
              <p:cNvSpPr/>
              <p:nvPr/>
            </p:nvSpPr>
            <p:spPr>
              <a:xfrm>
                <a:off x="393192" y="5900674"/>
                <a:ext cx="11402568" cy="4678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2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3:2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4:3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5:2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5:3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6_3#98b9186dd.choices?vcp=1&amp;pid=4ea30824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900674"/>
                <a:ext cx="11402568" cy="467805"/>
              </a:xfrm>
              <a:prstGeom prst="rect">
                <a:avLst/>
              </a:prstGeom>
              <a:blipFill>
                <a:blip r:embed="rId5"/>
                <a:stretch>
                  <a:fillRect l="-1658" b="-4026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AS.18_1#98b9186dd?vcp=1&amp;pid=4ea308244&amp;color=0,0,0&amp;vtp=1&amp;bt=1&amp;bbb=1"/>
          <p:cNvSpPr/>
          <p:nvPr/>
        </p:nvSpPr>
        <p:spPr>
          <a:xfrm>
            <a:off x="393192" y="1690116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endParaRPr lang="en-US" altLang="zh-CN" sz="2400" dirty="0"/>
          </a:p>
        </p:txBody>
      </p:sp>
      <p:pic>
        <p:nvPicPr>
          <p:cNvPr id="3" name="QC_4_AS.18_3#98b9186dd?htil=1&amp;vcp=1&amp;pid=4ea308244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656" y="3766947"/>
            <a:ext cx="5148072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QC_4_AS.18_4#98b9186dd?htil=1&amp;vcp=1&amp;pid=4ea30824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65976" y="2303907"/>
            <a:ext cx="4562856" cy="285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9_1#8cc735bc4?htil=5&amp;vcp=1&amp;pid=4ea308244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98107" y="549720"/>
            <a:ext cx="923544" cy="245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9_2#8cc735bc4?htil=5&amp;vcp=1&amp;pid=4ea308244&amp;color=0,0,0&amp;vtp=1&amp;bt=1&amp;bbb=1&amp;hb=1&amp;hs=1"/>
              <p:cNvSpPr/>
              <p:nvPr/>
            </p:nvSpPr>
            <p:spPr>
              <a:xfrm>
                <a:off x="393192" y="504000"/>
                <a:ext cx="10341864" cy="30590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考点3、4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（多选题）如图所示，在水平面上竖直固定一劲度系数为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的轻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叠放在弹簧上端，轻绳的一端连接在物块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，另一端绕过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定滑轮后连接一物块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,初始时用手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托住物块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使轻绳恰好处于伸直状态但无弹力，物块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处于静止状态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果突然放开托住物块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的手，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轻弹簧和滑轮两侧的轻绳始终处于竖直方向上，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9_2#8cc735bc4?htil=5&amp;vcp=1&amp;pid=4ea308244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0341864" cy="3059049"/>
              </a:xfrm>
              <a:prstGeom prst="rect">
                <a:avLst/>
              </a:prstGeom>
              <a:blipFill>
                <a:blip r:embed="rId4"/>
                <a:stretch>
                  <a:fillRect l="-1828" r="-943" b="-618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20_1#8cc735bc4.bracket?vcp=1&amp;pid=4ea308244&amp;color=0,0,0&amp;vpa=7&amp;vtp=1&amp;bbb=1"/>
          <p:cNvSpPr/>
          <p:nvPr/>
        </p:nvSpPr>
        <p:spPr>
          <a:xfrm>
            <a:off x="6061805" y="3098928"/>
            <a:ext cx="644525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9_3#8cc735bc4.choices?vcp=1&amp;pid=4ea308244&amp;color=0,0,0&amp;vtp=1&amp;bbb=1&amp;hs=1"/>
              <p:cNvSpPr/>
              <p:nvPr/>
            </p:nvSpPr>
            <p:spPr>
              <a:xfrm>
                <a:off x="393192" y="3563049"/>
                <a:ext cx="11402568" cy="26666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A.放手瞬间物块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的加速度大小为0</a:t>
                </a:r>
                <a:endParaRPr lang="en-US" altLang="zh-CN" sz="2400" dirty="0"/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.放手瞬间物块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.放手瞬间物块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之间的弹力大小为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.放手后物块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向上移动的距离为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恰好分离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9_3#8cc735bc4.choices?vcp=1&amp;pid=4ea308244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63049"/>
                <a:ext cx="11402568" cy="2666683"/>
              </a:xfrm>
              <a:prstGeom prst="rect">
                <a:avLst/>
              </a:prstGeom>
              <a:blipFill>
                <a:blip r:embed="rId5"/>
                <a:stretch>
                  <a:fillRect l="-1658" b="-388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1_1#8cc735bc4?vcp=1&amp;pid=4ea308244&amp;color=0,0,0&amp;vtp=1&amp;bt=1&amp;bbb=1&amp;hb=1"/>
              <p:cNvSpPr/>
              <p:nvPr/>
            </p:nvSpPr>
            <p:spPr>
              <a:xfrm>
                <a:off x="393192" y="1198785"/>
                <a:ext cx="11402568" cy="36436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开始时设弹簧被压缩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，方向向上，放手瞬间，对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，A错误，B正确；放手瞬间对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恰好分离时，对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整体有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向上移动的距</a:t>
                </a:r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离为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1_1#8cc735bc4?vcp=1&amp;pid=4ea30824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98785"/>
                <a:ext cx="11402568" cy="3643630"/>
              </a:xfrm>
              <a:prstGeom prst="rect">
                <a:avLst/>
              </a:prstGeom>
              <a:blipFill>
                <a:blip r:embed="rId3"/>
                <a:stretch>
                  <a:fillRect l="-1658" r="-963" b="-284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22_1#7947faccc?vcp=1&amp;pid=4ea308244&amp;color=0,0,0&amp;vtp=1&amp;bt=1&amp;bbb=1&amp;hb=1"/>
              <p:cNvSpPr/>
              <p:nvPr/>
            </p:nvSpPr>
            <p:spPr>
              <a:xfrm>
                <a:off x="393192" y="997966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（2026·湖南岳阳一中检测）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如图所示，小物块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用轻绳相连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过轻质滑轮将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悬挂于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的右端，初始时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均静止且将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锁定，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左端水平距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𝑙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放在光滑水平地面上，其高度为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的质量分别为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之间的动摩擦因数分别为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,设最大静摩擦力等于滑动摩擦力.现解除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的锁定状态，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同时对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施加一个水平外力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22_1#7947faccc?vcp=1&amp;pid=4ea30824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97966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3850" b="-54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22_2#7947faccc?vcp=1&amp;pid=4ea30824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8536" y="4369562"/>
            <a:ext cx="3611880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3_1#5560d2503?vcp=1&amp;pid=7947faccc&amp;color=0,0,0&amp;vtp=1&amp;bt=1&amp;bbb=1&amp;hb=1"/>
              <p:cNvSpPr/>
              <p:nvPr/>
            </p:nvSpPr>
            <p:spPr>
              <a:xfrm>
                <a:off x="393192" y="2909570"/>
                <a:ext cx="1140256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（1）若水平外力为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保持静止，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匀加速运动，且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未撞滑轮、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未落地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3_1#5560d2503?vcp=1&amp;pid=7947facc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09570"/>
                <a:ext cx="11402568" cy="1037590"/>
              </a:xfrm>
              <a:prstGeom prst="rect">
                <a:avLst/>
              </a:prstGeom>
              <a:blipFill>
                <a:blip r:embed="rId3"/>
                <a:stretch>
                  <a:fillRect l="-1658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AN.24_1#5560d2503?vcp=1&amp;pid=7947faccc&amp;color=0,0,0&amp;vtp=1&amp;bt=1&amp;bbb=1&amp;hb=1"/>
              <p:cNvSpPr/>
              <p:nvPr/>
            </p:nvSpPr>
            <p:spPr>
              <a:xfrm>
                <a:off x="393192" y="504000"/>
                <a:ext cx="11402568" cy="565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间的滑动摩擦力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为研究对象，其在绳子拉力和滑动摩擦力的作用下向右加速运动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定律有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为研究对象，其在绳子拉力和重力的作用下向下加速运动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，根据牛顿第二定律得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由题意可知小物块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的加速度大小相等，绳子对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的拉力大小相等,联立解得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为研究对象，其在水平方向受力平衡，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AN.24_1#5560d2503?vcp=1&amp;pid=7947facc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657025"/>
              </a:xfrm>
              <a:prstGeom prst="rect">
                <a:avLst/>
              </a:prstGeom>
              <a:blipFill>
                <a:blip r:embed="rId3"/>
                <a:stretch>
                  <a:fillRect l="-1658" r="-588" b="-312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5_1#c9d7d6925?vcp=1&amp;pid=7947faccc&amp;color=0,0,0&amp;vtp=1&amp;bt=1&amp;bbb=1"/>
              <p:cNvSpPr/>
              <p:nvPr/>
            </p:nvSpPr>
            <p:spPr>
              <a:xfrm>
                <a:off x="393192" y="65862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（2）若施加水平向右的外力为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，为了保证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相对静止，求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的大小范围.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5_1#c9d7d6925?vcp=1&amp;pid=7947faccc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58622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6_1#c9d7d6925?vcp=1&amp;pid=7947faccc&amp;color=0,0,0&amp;vtp=1&amp;bbb=1&amp;hb=1"/>
              <p:cNvSpPr/>
              <p:nvPr/>
            </p:nvSpPr>
            <p:spPr>
              <a:xfrm>
                <a:off x="393192" y="1158113"/>
                <a:ext cx="11402568" cy="5029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相对静止，当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即将向右滑动时，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最小，对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整体为研究对象，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为研究对象，根据牛顿第二定律，得此时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间的压力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设此时绳子的拉力为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受力分析有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联立以上各式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3" name="QO_5_AN.26_1#c9d7d6925?vcp=1&amp;pid=7947facc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58113"/>
                <a:ext cx="11402568" cy="5029200"/>
              </a:xfrm>
              <a:prstGeom prst="rect">
                <a:avLst/>
              </a:prstGeom>
              <a:blipFill>
                <a:blip r:embed="rId4"/>
                <a:stretch>
                  <a:fillRect l="-1658" r="-1176" b="-230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AN.26_1#c9d7d6925?vcp=1&amp;pid=7947faccc&amp;color=0,0,0&amp;vtp=1&amp;bbb=1&amp;hb=1">
                <a:extLst>
                  <a:ext uri="{FF2B5EF4-FFF2-40B4-BE49-F238E27FC236}">
                    <a16:creationId xmlns:a16="http://schemas.microsoft.com/office/drawing/2014/main" id="{E8E6A498-5C1D-D47C-8508-5827971FD681}"/>
                  </a:ext>
                </a:extLst>
              </p:cNvPr>
              <p:cNvSpPr/>
              <p:nvPr/>
            </p:nvSpPr>
            <p:spPr>
              <a:xfrm>
                <a:off x="393192" y="17742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即将向左滑动，则以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为研究对象，有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向上运动，则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整体为研究对象，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联立以上各式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的大小范围为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AN.26_1#c9d7d6925?vcp=1&amp;pid=7947faccc&amp;color=0,0,0&amp;vtp=1&amp;bbb=1&amp;hb=1">
                <a:extLst>
                  <a:ext uri="{FF2B5EF4-FFF2-40B4-BE49-F238E27FC236}">
                    <a16:creationId xmlns:a16="http://schemas.microsoft.com/office/drawing/2014/main" id="{E8E6A498-5C1D-D47C-8508-5827971FD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4285"/>
                <a:ext cx="11402568" cy="3272600"/>
              </a:xfrm>
              <a:prstGeom prst="rect">
                <a:avLst/>
              </a:prstGeom>
              <a:blipFill>
                <a:blip r:embed="rId2"/>
                <a:stretch>
                  <a:fillRect l="-165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7301008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1298</Words>
  <Application>Microsoft Office PowerPoint</Application>
  <PresentationFormat>宽屏</PresentationFormat>
  <Paragraphs>156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2026-05-25T07:58:51Z</dcterms:created>
  <dcterms:modified xsi:type="dcterms:W3CDTF">2026-05-25T08:07:09Z</dcterms:modified>
  <cp:category/>
  <cp:contentStatus/>
</cp:coreProperties>
</file>