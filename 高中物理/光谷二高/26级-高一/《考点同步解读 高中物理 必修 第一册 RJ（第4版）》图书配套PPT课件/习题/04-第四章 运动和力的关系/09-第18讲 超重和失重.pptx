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811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12.xml"/><Relationship Id="rId5" Type="http://schemas.openxmlformats.org/officeDocument/2006/relationships/slide" Target="../slides/slide10.xml"/><Relationship Id="rId4" Type="http://schemas.openxmlformats.org/officeDocument/2006/relationships/slide" Target="../slides/slide9.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6.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14.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12.xml"/><Relationship Id="rId5" Type="http://schemas.openxmlformats.org/officeDocument/2006/relationships/slide" Target="../slides/slide10.xml"/><Relationship Id="rId4" Type="http://schemas.openxmlformats.org/officeDocument/2006/relationships/slide" Target="../slides/slide9.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6.xml"/></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3a58ca644f0d6f43#tid=6a13f52f736a60ac3496b267#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mc=目录配置1#a1f4ab335,a1f4ab335,517c473e9,a8168d3b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0?lid=d77942b3e&amp;amp;cid=d77942b3e&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a8a0e6acf&amp;amp;cid=a8a0e6acf&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d921e1093&amp;amp;cid=d921e1093&amp;amp;vtp=1">
            <a:hlinkClick r:id="rId5"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bd707e599&amp;amp;cid=bd707e599&amp;amp;vtp=1">
            <a:hlinkClick r:id="rId6"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内容#mc=目录配置1#a1f4ab335,de9b614b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5?lid=1c2be6a0c&amp;amp;cid=1c2be6a0c&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5?lid=a0d834863&amp;amp;cid=a0d834863&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5?lid=58e6b640b&amp;amp;cid=58e6b640b&amp;amp;vtp=1">
            <a:hlinkClick r:id="rId5"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5?lid=6f66f1b45&amp;amp;cid=6f66f1b45&amp;amp;vtp=1">
            <a:hlinkClick r:id="rId6"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mc=目录配置1#a1f4ab335,9f69da389,ae1fff283,e8672c0b4">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10?lid=64c3b55b1&amp;amp;cid=64c3b55b1&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10?lid=5cbcb461e&amp;amp;cid=5cbcb461e&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容#mc=目录配置1#a1f4ab335,94b78efd0">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13?lid=09f8fd0bd&amp;amp;cid=09f8fd0bd&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容#df=517c473e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第18讲 超重和失重</a:t>
            </a:r>
            <a:endParaRPr lang="en-US" sz="18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内容#mc=目录配置1#a1f4ab335,a1f4ab335,517c473e9,a8168d3be#df=517c473e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第18讲 超重和失重</a:t>
            </a:r>
            <a:endParaRPr lang="en-US" sz="1800" dirty="0"/>
          </a:p>
        </p:txBody>
      </p:sp>
      <p:sp>
        <p:nvSpPr>
          <p:cNvPr id="5" name="C_0#auto_editor_catalog_0?lid=d77942b3e&amp;amp;cid=d77942b3e&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a8a0e6acf&amp;amp;cid=a8a0e6acf&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d921e1093&amp;amp;cid=d921e1093&amp;amp;vtp=1">
            <a:hlinkClick r:id="rId5"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bd707e599&amp;amp;cid=bd707e599&amp;amp;vtp=1">
            <a:hlinkClick r:id="rId6"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内容#mc=目录配置1#a1f4ab335,de9b614b9#df=517c473e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第18讲 超重和失重</a:t>
            </a:r>
            <a:endParaRPr lang="en-US" sz="1800" dirty="0"/>
          </a:p>
        </p:txBody>
      </p:sp>
      <p:sp>
        <p:nvSpPr>
          <p:cNvPr id="5" name="C_0#auto_editor_catalog_5?lid=1c2be6a0c&amp;amp;cid=1c2be6a0c&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5?lid=a0d834863&amp;amp;cid=a0d834863&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5?lid=58e6b640b&amp;amp;cid=58e6b640b&amp;amp;vtp=1">
            <a:hlinkClick r:id="rId5"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5?lid=6f66f1b45&amp;amp;cid=6f66f1b45&amp;amp;vtp=1">
            <a:hlinkClick r:id="rId6"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内容#mc=目录配置1#a1f4ab335,9f69da389,ae1fff283,e8672c0b4#df=517c473e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第18讲 超重和失重</a:t>
            </a:r>
            <a:endParaRPr lang="en-US" sz="1800" dirty="0"/>
          </a:p>
        </p:txBody>
      </p:sp>
      <p:sp>
        <p:nvSpPr>
          <p:cNvPr id="5" name="C_0#auto_editor_catalog_10?lid=64c3b55b1&amp;amp;cid=64c3b55b1&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10?lid=5cbcb461e&amp;amp;cid=5cbcb461e&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内容#mc=目录配置1#a1f4ab335,94b78efd0#df=517c473e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第18讲 超重和失重</a:t>
            </a:r>
            <a:endParaRPr lang="en-US" sz="1800" dirty="0"/>
          </a:p>
        </p:txBody>
      </p:sp>
      <p:sp>
        <p:nvSpPr>
          <p:cNvPr id="5" name="C_0#auto_editor_catalog_13?lid=09f8fd0bd&amp;amp;cid=09f8fd0bd&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517c473e9.fixed?vcp=1&amp;pid=a1f4ab335&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第四章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运动和力的关系</a:t>
            </a:r>
            <a:endParaRPr lang="en-US" altLang="zh-CN" sz="4800" dirty="0"/>
          </a:p>
        </p:txBody>
      </p:sp>
      <p:sp>
        <p:nvSpPr>
          <p:cNvPr id="3" name="C_2_BD#517c473e9.fixed?vcp=1&amp;pid=a1f4ab335&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第18讲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超重和失重</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_BD#a8168d3be?vcp=1&amp;pid=517c473e9&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基础考点过关练</a:t>
            </a:r>
            <a:endParaRPr lang="en-US" altLang="zh-CN" sz="2600" dirty="0"/>
          </a:p>
        </p:txBody>
      </p:sp>
      <p:sp>
        <p:nvSpPr>
          <p:cNvPr id="3" name="P_4_BD#3360df7a6?vcp=1&amp;pid=a8168d3be&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p:sp>
        <p:nvSpPr>
          <p:cNvPr id="4" name="QC_4_BD.1_1#d77942b3e?vcp=1&amp;pid=a8168d3be&amp;color=0,0,0&amp;vtp=1&amp;bbb=1&amp;hb=1"/>
          <p:cNvSpPr/>
          <p:nvPr/>
        </p:nvSpPr>
        <p:spPr>
          <a:xfrm>
            <a:off x="393192" y="1649285"/>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（2026·山西太原五中检测）</a:t>
            </a:r>
            <a:r>
              <a:rPr lang="en-US" altLang="zh-CN" sz="2400" b="0" i="0" dirty="0">
                <a:solidFill>
                  <a:srgbClr val="000000"/>
                </a:solidFill>
                <a:latin typeface="Times New Roman" pitchFamily="34" charset="0"/>
                <a:ea typeface="微软雅黑" pitchFamily="34" charset="-122"/>
                <a:cs typeface="Times New Roman" pitchFamily="34" charset="-120"/>
              </a:rPr>
              <a:t>有关超重和失重</a:t>
            </a:r>
            <a:r>
              <a:rPr lang="en-US" altLang="zh-CN" sz="2400" b="0" i="0">
                <a:solidFill>
                  <a:srgbClr val="000000"/>
                </a:solidFill>
                <a:latin typeface="Times New Roman" pitchFamily="34" charset="0"/>
                <a:ea typeface="微软雅黑" pitchFamily="34" charset="-122"/>
                <a:cs typeface="Times New Roman" pitchFamily="34" charset="-120"/>
              </a:rPr>
              <a:t>，以下说法中正确的是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C_4_AN.2_1#d77942b3e.bracket?vcp=1&amp;pid=a8168d3be&amp;color=0,0,0&amp;vpa=1&amp;vtp=1"/>
          <p:cNvSpPr/>
          <p:nvPr/>
        </p:nvSpPr>
        <p:spPr>
          <a:xfrm>
            <a:off x="625760" y="219665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p:sp>
        <p:nvSpPr>
          <p:cNvPr id="6" name="QC_4_BD.1_2#d77942b3e.choices?vcp=1&amp;pid=a8168d3be&amp;color=0,0,0&amp;vtp=1&amp;bbb=1"/>
          <p:cNvSpPr/>
          <p:nvPr/>
        </p:nvSpPr>
        <p:spPr>
          <a:xfrm>
            <a:off x="393192" y="2756916"/>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A.物体处于超重状态时，所受重力增大，物体处于失重状态时，所受重力减小</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.游泳运动员仰卧在水面静止不动时处于失重状态</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.在沿竖直方向运动的升降机中出现失重现象时，升降机必定处于下降过程</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.在不计空气阻力的情况下，竖直向上抛出的物体，处于完全失重状态</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3_1#a8a0e6acf?vcp=1&amp;pid=a8168d3be&amp;color=0,0,0&amp;vtp=1&amp;bt=1&amp;bbb=1&amp;hb=1"/>
              <p:cNvSpPr/>
              <p:nvPr/>
            </p:nvSpPr>
            <p:spPr>
              <a:xfrm>
                <a:off x="393192" y="1951990"/>
                <a:ext cx="11402568" cy="1211199"/>
              </a:xfrm>
              <a:prstGeom prst="rect">
                <a:avLst/>
              </a:prstGeom>
              <a:noFill/>
              <a:ln/>
            </p:spPr>
            <p:txBody>
              <a:bodyPr wrap="none" lIns="0" tIns="0" rIns="0" bIns="0" rtlCol="0" anchor="t"/>
              <a:lstStyle/>
              <a:p>
                <a:pPr algn="l" latinLnBrk="1">
                  <a:lnSpc>
                    <a:spcPts val="58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2400" b="0" i="0" dirty="0">
                    <a:solidFill>
                      <a:srgbClr val="000000"/>
                    </a:solidFill>
                    <a:latin typeface="Times New Roman" pitchFamily="34" charset="0"/>
                    <a:ea typeface="微软雅黑" pitchFamily="34" charset="-122"/>
                    <a:cs typeface="Times New Roman" pitchFamily="34" charset="-120"/>
                  </a:rPr>
                  <a:t>的小球挂在电梯的天花板上.在电梯以大小为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𝑔</m:t>
                        </m:r>
                      </m:num>
                      <m:den>
                        <m:r>
                          <a:rPr lang="en-US" altLang="zh-CN" sz="2400" b="0" i="0">
                            <a:solidFill>
                              <a:srgbClr val="000000"/>
                            </a:solidFill>
                            <a:latin typeface="Cambria Math" pitchFamily="34" charset="0"/>
                            <a:ea typeface="Cambria Math" pitchFamily="34" charset="-122"/>
                            <a:cs typeface="Cambria Math" pitchFamily="34" charset="-120"/>
                          </a:rPr>
                          <m:t>3</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的加速度</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向下加速运动的过程中</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小球(</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3_1#a8a0e6acf?vcp=1&amp;pid=a8168d3be&amp;color=0,0,0&amp;vtp=1&amp;bt=1&amp;bbb=1&amp;hb=1"/>
              <p:cNvSpPr>
                <a:spLocks noRot="1" noChangeAspect="1" noMove="1" noResize="1" noEditPoints="1" noAdjustHandles="1" noChangeArrowheads="1" noChangeShapeType="1" noTextEdit="1"/>
              </p:cNvSpPr>
              <p:nvPr/>
            </p:nvSpPr>
            <p:spPr>
              <a:xfrm>
                <a:off x="393192" y="1951990"/>
                <a:ext cx="11402568" cy="1211199"/>
              </a:xfrm>
              <a:prstGeom prst="rect">
                <a:avLst/>
              </a:prstGeom>
              <a:blipFill>
                <a:blip r:embed="rId3"/>
                <a:stretch>
                  <a:fillRect l="-1658" r="-214" b="-15075"/>
                </a:stretch>
              </a:blipFill>
              <a:ln/>
            </p:spPr>
            <p:txBody>
              <a:bodyPr/>
              <a:lstStyle/>
              <a:p>
                <a:r>
                  <a:rPr lang="zh-CN" altLang="en-US">
                    <a:noFill/>
                  </a:rPr>
                  <a:t> </a:t>
                </a:r>
              </a:p>
            </p:txBody>
          </p:sp>
        </mc:Fallback>
      </mc:AlternateContent>
      <p:sp>
        <p:nvSpPr>
          <p:cNvPr id="3" name="QC_4_AN.4_1#a8a0e6acf.bracket?vcp=1&amp;pid=a8168d3be&amp;color=0,0,0&amp;vpa=2&amp;vtp=1"/>
          <p:cNvSpPr/>
          <p:nvPr/>
        </p:nvSpPr>
        <p:spPr>
          <a:xfrm>
            <a:off x="4600860" y="2677160"/>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3_2#a8a0e6acf?htil=1&amp;vcp=1&amp;pid=a8168d3be&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10184856" y="3315271"/>
            <a:ext cx="1335024" cy="158191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3_3#a8a0e6acf.choices?htil=1&amp;vcp=1&amp;pid=a8168d3be&amp;color=0,0,0&amp;vtp=1&amp;bbb=1"/>
              <p:cNvSpPr/>
              <p:nvPr/>
            </p:nvSpPr>
            <p:spPr>
              <a:xfrm>
                <a:off x="393192" y="3168967"/>
                <a:ext cx="9930384" cy="1497838"/>
              </a:xfrm>
              <a:prstGeom prst="rect">
                <a:avLst/>
              </a:prstGeom>
              <a:noFill/>
              <a:ln/>
            </p:spPr>
            <p:txBody>
              <a:bodyPr wrap="none" lIns="0" tIns="0" rIns="0" bIns="0" rtlCol="0" anchor="t"/>
              <a:lstStyle/>
              <a:p>
                <a:pPr latinLnBrk="1">
                  <a:lnSpc>
                    <a:spcPts val="6200"/>
                  </a:lnSpc>
                  <a:tabLst>
                    <a:tab pos="5073142" algn="l"/>
                  </a:tabLst>
                </a:pPr>
                <a:r>
                  <a:rPr lang="en-US" altLang="zh-CN" sz="2400" b="0" i="0" dirty="0">
                    <a:solidFill>
                      <a:srgbClr val="000000"/>
                    </a:solidFill>
                    <a:latin typeface="Times New Roman" pitchFamily="34" charset="0"/>
                    <a:ea typeface="微软雅黑" pitchFamily="34" charset="-122"/>
                    <a:cs typeface="Times New Roman" pitchFamily="34" charset="-120"/>
                  </a:rPr>
                  <a:t>A.处于失重状态，所受拉力为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3</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.处于失重状态，所受拉力为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3</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6100"/>
                  </a:lnSpc>
                  <a:tabLst>
                    <a:tab pos="5073142"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.处于超重状态，所受拉力为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3</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.处于超重状态，所受拉力为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4</m:t>
                        </m:r>
                        <m:r>
                          <a:rPr lang="en-US" altLang="zh-CN" sz="2400" b="0" i="0">
                            <a:solidFill>
                              <a:srgbClr val="000000"/>
                            </a:solidFill>
                            <a:latin typeface="Cambria Math" pitchFamily="34" charset="0"/>
                            <a:ea typeface="Cambria Math" pitchFamily="34" charset="-122"/>
                            <a:cs typeface="Cambria Math" pitchFamily="34" charset="-120"/>
                          </a:rPr>
                          <m:t>𝑚𝑔</m:t>
                        </m:r>
                      </m:num>
                      <m:den>
                        <m:r>
                          <a:rPr lang="en-US" altLang="zh-CN" sz="2400" b="0" i="0">
                            <a:solidFill>
                              <a:srgbClr val="000000"/>
                            </a:solidFill>
                            <a:latin typeface="Cambria Math" pitchFamily="34" charset="0"/>
                            <a:ea typeface="Cambria Math" pitchFamily="34" charset="-122"/>
                            <a:cs typeface="Cambria Math" pitchFamily="34" charset="-120"/>
                          </a:rPr>
                          <m:t>3</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3_3#a8a0e6acf.choices?htil=1&amp;vcp=1&amp;pid=a8168d3be&amp;color=0,0,0&amp;vtp=1&amp;bbb=1"/>
              <p:cNvSpPr>
                <a:spLocks noRot="1" noChangeAspect="1" noMove="1" noResize="1" noEditPoints="1" noAdjustHandles="1" noChangeArrowheads="1" noChangeShapeType="1" noTextEdit="1"/>
              </p:cNvSpPr>
              <p:nvPr/>
            </p:nvSpPr>
            <p:spPr>
              <a:xfrm>
                <a:off x="393192" y="3168967"/>
                <a:ext cx="9930384" cy="1497838"/>
              </a:xfrm>
              <a:prstGeom prst="rect">
                <a:avLst/>
              </a:prstGeom>
              <a:blipFill>
                <a:blip r:embed="rId5"/>
                <a:stretch>
                  <a:fillRect l="-1903" b="-650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sp>
        <p:nvSpPr>
          <p:cNvPr id="2" name="QC_4_BD.5_1#d921e1093?vcp=1&amp;pid=a8168d3be&amp;color=0,0,0&amp;vtp=1&amp;bt=1&amp;bbb=1&amp;hb=1"/>
          <p:cNvSpPr/>
          <p:nvPr/>
        </p:nvSpPr>
        <p:spPr>
          <a:xfrm>
            <a:off x="393192" y="1513872"/>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考点1、4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为了节省能量,某商场安装了智能化的电动扶梯.无人乘行时</a:t>
            </a:r>
            <a:r>
              <a:rPr lang="en-US" altLang="zh-CN" sz="2400" b="0" i="0">
                <a:solidFill>
                  <a:srgbClr val="000000"/>
                </a:solidFill>
                <a:latin typeface="Times New Roman" pitchFamily="34" charset="0"/>
                <a:ea typeface="微软雅黑" pitchFamily="34" charset="-122"/>
                <a:cs typeface="Times New Roman" pitchFamily="34" charset="-120"/>
              </a:rPr>
              <a:t>,扶梯运行得</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很慢</a:t>
            </a:r>
            <a:r>
              <a:rPr lang="en-US" altLang="zh-CN" sz="2400" b="0" i="0" dirty="0">
                <a:solidFill>
                  <a:srgbClr val="000000"/>
                </a:solidFill>
                <a:latin typeface="Times New Roman" pitchFamily="34" charset="0"/>
                <a:ea typeface="微软雅黑" pitchFamily="34" charset="-122"/>
                <a:cs typeface="Times New Roman" pitchFamily="34" charset="-120"/>
              </a:rPr>
              <a:t>;有人站上扶梯时,它会先慢慢加速,再匀速运行.一顾客乘扶梯上楼</a:t>
            </a:r>
            <a:r>
              <a:rPr lang="en-US" altLang="zh-CN" sz="2400" b="0" i="0">
                <a:solidFill>
                  <a:srgbClr val="000000"/>
                </a:solidFill>
                <a:latin typeface="Times New Roman" pitchFamily="34" charset="0"/>
                <a:ea typeface="微软雅黑" pitchFamily="34" charset="-122"/>
                <a:cs typeface="Times New Roman" pitchFamily="34" charset="-120"/>
              </a:rPr>
              <a:t>,恰好经历了加速</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和匀速两个过程</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下列说法中正确的是(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6_1#d921e1093.bracket?vcp=1&amp;pid=a8168d3be&amp;color=0,0,0&amp;vpa=3&amp;vtp=1"/>
          <p:cNvSpPr/>
          <p:nvPr/>
        </p:nvSpPr>
        <p:spPr>
          <a:xfrm>
            <a:off x="6874161" y="2620042"/>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pic>
        <p:nvPicPr>
          <p:cNvPr id="4" name="QC_4_BD.5_2#d921e1093?htil=2&amp;vcp=1&amp;pid=a8168d3be&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635202" y="3215798"/>
            <a:ext cx="2048256" cy="132588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4_BD.5_3#d921e1093.choices?htil=2&amp;vcp=1&amp;pid=a8168d3be&amp;color=0,0,0&amp;vtp=1&amp;bbb=1"/>
          <p:cNvSpPr/>
          <p:nvPr/>
        </p:nvSpPr>
        <p:spPr>
          <a:xfrm>
            <a:off x="393192" y="3170078"/>
            <a:ext cx="9217152"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A.顾客始终受到三个力的作用</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.顾客始终处于超重状态</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.顾客对扶梯作用力的方向先指向左下方,再竖直向下</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.顾客对扶梯作用力的方向先指向右下方,再竖直向下</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QC_4_BD.7_1#bd707e599?vcp=1&amp;pid=a8168d3be&amp;color=0,0,0&amp;vtp=1&amp;bt=1&amp;bbb=1&amp;hb=1"/>
          <p:cNvSpPr/>
          <p:nvPr/>
        </p:nvSpPr>
        <p:spPr>
          <a:xfrm>
            <a:off x="393192" y="1513872"/>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某同学找了一个用过的易拉罐，在靠近底部的侧面打了一个洞</a:t>
            </a:r>
            <a:r>
              <a:rPr lang="en-US" altLang="zh-CN" sz="2400" b="0" i="0">
                <a:solidFill>
                  <a:srgbClr val="000000"/>
                </a:solidFill>
                <a:latin typeface="Times New Roman" pitchFamily="34" charset="0"/>
                <a:ea typeface="微软雅黑" pitchFamily="34" charset="-122"/>
                <a:cs typeface="Times New Roman" pitchFamily="34" charset="-120"/>
              </a:rPr>
              <a:t>，用手指按住</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洞</a:t>
            </a:r>
            <a:r>
              <a:rPr lang="en-US" altLang="zh-CN" sz="2400" b="0" i="0" dirty="0">
                <a:solidFill>
                  <a:srgbClr val="000000"/>
                </a:solidFill>
                <a:latin typeface="Times New Roman" pitchFamily="34" charset="0"/>
                <a:ea typeface="微软雅黑" pitchFamily="34" charset="-122"/>
                <a:cs typeface="Times New Roman" pitchFamily="34" charset="-120"/>
              </a:rPr>
              <a:t>，向罐中装满水，然后将易拉罐竖直向上抛出，空气阻力不计</a:t>
            </a:r>
            <a:r>
              <a:rPr lang="en-US" altLang="zh-CN" sz="2400" b="0" i="0">
                <a:solidFill>
                  <a:srgbClr val="000000"/>
                </a:solidFill>
                <a:latin typeface="Times New Roman" pitchFamily="34" charset="0"/>
                <a:ea typeface="微软雅黑" pitchFamily="34" charset="-122"/>
                <a:cs typeface="Times New Roman" pitchFamily="34" charset="-120"/>
              </a:rPr>
              <a:t>，则下列说法正确的</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8_1#bd707e599.bracket?vcp=1&amp;pid=a8168d3be&amp;color=0,0,0&amp;vpa=4&amp;vtp=1"/>
          <p:cNvSpPr/>
          <p:nvPr/>
        </p:nvSpPr>
        <p:spPr>
          <a:xfrm>
            <a:off x="930560" y="2620042"/>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p:sp>
        <p:nvSpPr>
          <p:cNvPr id="4" name="QC_4_BD.7_2#bd707e599.choices?vcp=1&amp;pid=a8168d3be&amp;color=0,0,0&amp;vtp=1&amp;bbb=1"/>
          <p:cNvSpPr/>
          <p:nvPr/>
        </p:nvSpPr>
        <p:spPr>
          <a:xfrm>
            <a:off x="393192" y="3170078"/>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A.易拉罐上升的过程中，洞中射出的水的速度越来越快</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.易拉罐下降的过程中，洞中射出的水的速度越来越快</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.易拉罐上升、下降的过程中，洞中射出的水的速度都不变</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.易拉罐上升、下降的过程中，水不会从洞中射出</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C_3_BD#de9b614b9?vcp=1&amp;pid=517c473e9&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能力考点提升练</a:t>
            </a:r>
            <a:endParaRPr lang="en-US" altLang="zh-CN" sz="2600" dirty="0"/>
          </a:p>
        </p:txBody>
      </p:sp>
      <p:sp>
        <p:nvSpPr>
          <p:cNvPr id="3" name="P_4_BD#83c7adf72?vcp=1&amp;pid=de9b614b9&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限时20分钟</a:t>
            </a:r>
            <a:endParaRPr lang="en-US" altLang="zh-CN" sz="2400" dirty="0"/>
          </a:p>
        </p:txBody>
      </p:sp>
      <p:pic>
        <p:nvPicPr>
          <p:cNvPr id="4" name="QC_4_BD.9_1#1c2be6a0c?htil=3&amp;vcp=1&amp;pid=de9b614b9&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237020" y="1645538"/>
            <a:ext cx="1444752" cy="234086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9_2#1c2be6a0c?htil=3&amp;vcp=1&amp;pid=de9b614b9&amp;color=0,0,0&amp;vtp=1&amp;bbb=1&amp;hb=1"/>
              <p:cNvSpPr/>
              <p:nvPr/>
            </p:nvSpPr>
            <p:spPr>
              <a:xfrm>
                <a:off x="393192" y="1590675"/>
                <a:ext cx="9820656"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考点3、4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的滑块位于倾角为</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的光滑斜</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面上</a:t>
                </a:r>
                <a:r>
                  <a:rPr lang="en-US" altLang="zh-CN" sz="2400" b="0" i="0" dirty="0">
                    <a:solidFill>
                      <a:srgbClr val="000000"/>
                    </a:solidFill>
                    <a:latin typeface="Times New Roman" pitchFamily="34" charset="0"/>
                    <a:ea typeface="微软雅黑" pitchFamily="34" charset="-122"/>
                    <a:cs typeface="Times New Roman" pitchFamily="34" charset="-120"/>
                  </a:rPr>
                  <a:t>，斜面固定在升降机内.起初使滑块相对于斜面静止</a:t>
                </a:r>
                <a:r>
                  <a:rPr lang="en-US" altLang="zh-CN" sz="2400" b="0" i="0">
                    <a:solidFill>
                      <a:srgbClr val="000000"/>
                    </a:solidFill>
                    <a:latin typeface="Times New Roman" pitchFamily="34" charset="0"/>
                    <a:ea typeface="微软雅黑" pitchFamily="34" charset="-122"/>
                    <a:cs typeface="Times New Roman" pitchFamily="34" charset="-120"/>
                  </a:rPr>
                  <a:t>.当升降机以加速</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运动时</a:t>
                </a:r>
                <a:r>
                  <a:rPr lang="en-US" altLang="zh-CN" sz="2400" b="0" i="0">
                    <a:solidFill>
                      <a:srgbClr val="000000"/>
                    </a:solidFill>
                    <a:latin typeface="Times New Roman" pitchFamily="34" charset="0"/>
                    <a:ea typeface="微软雅黑" pitchFamily="34" charset="-122"/>
                    <a:cs typeface="Times New Roman" pitchFamily="34" charset="-120"/>
                  </a:rPr>
                  <a:t>，能使滑块自由静止在斜面上的加速度的大小和方向应是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4_BD.9_2#1c2be6a0c?htil=3&amp;vcp=1&amp;pid=de9b614b9&amp;color=0,0,0&amp;vtp=1&amp;bbb=1&amp;hb=1"/>
              <p:cNvSpPr>
                <a:spLocks noRot="1" noChangeAspect="1" noMove="1" noResize="1" noEditPoints="1" noAdjustHandles="1" noChangeArrowheads="1" noChangeShapeType="1" noTextEdit="1"/>
              </p:cNvSpPr>
              <p:nvPr/>
            </p:nvSpPr>
            <p:spPr>
              <a:xfrm>
                <a:off x="393192" y="1590675"/>
                <a:ext cx="9820656" cy="2150999"/>
              </a:xfrm>
              <a:prstGeom prst="rect">
                <a:avLst/>
              </a:prstGeom>
              <a:blipFill>
                <a:blip r:embed="rId4"/>
                <a:stretch>
                  <a:fillRect l="-1924" r="-124" b="-8499"/>
                </a:stretch>
              </a:blipFill>
              <a:ln/>
            </p:spPr>
            <p:txBody>
              <a:bodyPr/>
              <a:lstStyle/>
              <a:p>
                <a:r>
                  <a:rPr lang="zh-CN" altLang="en-US">
                    <a:noFill/>
                  </a:rPr>
                  <a:t> </a:t>
                </a:r>
              </a:p>
            </p:txBody>
          </p:sp>
        </mc:Fallback>
      </mc:AlternateContent>
      <p:sp>
        <p:nvSpPr>
          <p:cNvPr id="6" name="QC_4_AN.10_1#1c2be6a0c.bracket?vcp=1&amp;pid=de9b614b9&amp;color=0,0,0&amp;vpa=5&amp;vtp=1"/>
          <p:cNvSpPr/>
          <p:nvPr/>
        </p:nvSpPr>
        <p:spPr>
          <a:xfrm>
            <a:off x="2426494" y="3255645"/>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7" name="QC_4_BD.9_3#1c2be6a0c.choices?htil=3&amp;vcp=1&amp;pid=de9b614b9&amp;color=0,0,0&amp;vtp=1&amp;bbb=1"/>
              <p:cNvSpPr/>
              <p:nvPr/>
            </p:nvSpPr>
            <p:spPr>
              <a:xfrm>
                <a:off x="393192" y="3724275"/>
                <a:ext cx="9820656"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，竖直向上</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，竖直向下</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5</m:t>
                        </m:r>
                      </m:num>
                      <m:den>
                        <m:r>
                          <a:rPr lang="en-US" altLang="zh-CN" sz="2400" b="0" i="0">
                            <a:solidFill>
                              <a:srgbClr val="000000"/>
                            </a:solidFill>
                            <a:latin typeface="Cambria Math" pitchFamily="34" charset="0"/>
                            <a:ea typeface="Cambria Math" pitchFamily="34" charset="-122"/>
                            <a:cs typeface="Cambria Math" pitchFamily="34" charset="-120"/>
                          </a:rPr>
                          <m:t>2</m:t>
                        </m:r>
                      </m:den>
                    </m:f>
                    <m:r>
                      <m:rPr>
                        <m:nor/>
                      </m:rPr>
                      <a:rPr lang="en-US" altLang="zh-CN" sz="2400" b="0" i="0">
                        <a:solidFill>
                          <a:srgbClr val="000000"/>
                        </a:solidFill>
                        <a:latin typeface="Cambria Math" pitchFamily="34" charset="0"/>
                        <a:ea typeface="Cambria Math" pitchFamily="34" charset="-122"/>
                        <a:cs typeface="Cambria Math" pitchFamily="34" charset="-120"/>
                      </a:rPr>
                      <m:t> </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r>
                          <a:rPr lang="en-US" altLang="zh-CN" sz="2400" b="0" i="0">
                            <a:solidFill>
                              <a:srgbClr val="000000"/>
                            </a:solidFill>
                            <a:latin typeface="Cambria Math" pitchFamily="34" charset="0"/>
                            <a:ea typeface="Cambria Math" pitchFamily="34" charset="-122"/>
                            <a:cs typeface="Cambria Math" pitchFamily="34" charset="-120"/>
                          </a:rPr>
                          <m:t>3</m:t>
                        </m:r>
                      </m:e>
                    </m:rad>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，竖直向上</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.不论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取何值，均不能使滑块相对斜面静止</a:t>
                </a:r>
                <a:endParaRPr lang="en-US" altLang="zh-CN" sz="2400" dirty="0"/>
              </a:p>
            </p:txBody>
          </p:sp>
        </mc:Choice>
        <mc:Fallback>
          <p:sp>
            <p:nvSpPr>
              <p:cNvPr id="7" name="QC_4_BD.9_3#1c2be6a0c.choices?htil=3&amp;vcp=1&amp;pid=de9b614b9&amp;color=0,0,0&amp;vtp=1&amp;bbb=1"/>
              <p:cNvSpPr>
                <a:spLocks noRot="1" noChangeAspect="1" noMove="1" noResize="1" noEditPoints="1" noAdjustHandles="1" noChangeArrowheads="1" noChangeShapeType="1" noTextEdit="1"/>
              </p:cNvSpPr>
              <p:nvPr/>
            </p:nvSpPr>
            <p:spPr>
              <a:xfrm>
                <a:off x="393192" y="3724275"/>
                <a:ext cx="9820656" cy="2155000"/>
              </a:xfrm>
              <a:prstGeom prst="rect">
                <a:avLst/>
              </a:prstGeom>
              <a:blipFill>
                <a:blip r:embed="rId5"/>
                <a:stretch>
                  <a:fillRect l="-1924"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pic>
        <p:nvPicPr>
          <p:cNvPr id="2" name="QC_4_AS.11_1#1c2be6a0c?htil=4&amp;vcp=1&amp;pid=de9b614b9&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040234" y="1596199"/>
            <a:ext cx="1709928" cy="172821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AS.11_2#1c2be6a0c?htil=4&amp;vcp=1&amp;pid=de9b614b9&amp;color=0,0,0&amp;vtp=1&amp;bt=1&amp;bbb=1&amp;hb=1&amp;hs=1"/>
              <p:cNvSpPr/>
              <p:nvPr/>
            </p:nvSpPr>
            <p:spPr>
              <a:xfrm>
                <a:off x="393192" y="1550480"/>
                <a:ext cx="9555480" cy="2150999"/>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分析木块受力情况，如图所示.木块在光滑斜面上相对静止</a:t>
                </a:r>
                <a:r>
                  <a:rPr lang="en-US" altLang="zh-CN" sz="2400" b="1" i="0">
                    <a:solidFill>
                      <a:srgbClr val="FF0000"/>
                    </a:solidFill>
                    <a:latin typeface="Times New Roman" pitchFamily="34" charset="0"/>
                    <a:ea typeface="微软雅黑" pitchFamily="34" charset="-122"/>
                    <a:cs typeface="Times New Roman" pitchFamily="34" charset="-120"/>
                  </a:rPr>
                  <a:t>，即</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木块与升降机一起在竖直方向上做加速运动，二者有共同的速度和加速</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度</a:t>
                </a:r>
                <a:r>
                  <a:rPr lang="en-US" altLang="zh-CN" sz="2400" b="1" i="0" dirty="0">
                    <a:solidFill>
                      <a:srgbClr val="FF0000"/>
                    </a:solidFill>
                    <a:latin typeface="Times New Roman" pitchFamily="34" charset="0"/>
                    <a:ea typeface="微软雅黑" pitchFamily="34" charset="-122"/>
                    <a:cs typeface="Times New Roman" pitchFamily="34" charset="-120"/>
                  </a:rPr>
                  <a:t>.在竖直方向、水平方向建立平面直角坐标轴，设加速度方向向上</a:t>
                </a:r>
                <a:r>
                  <a:rPr lang="en-US" altLang="zh-CN" sz="2400" b="1" i="0">
                    <a:solidFill>
                      <a:srgbClr val="FF0000"/>
                    </a:solidFill>
                    <a:latin typeface="Times New Roman" pitchFamily="34" charset="0"/>
                    <a:ea typeface="微软雅黑" pitchFamily="34" charset="-122"/>
                    <a:cs typeface="Times New Roman" pitchFamily="34" charset="-120"/>
                  </a:rPr>
                  <a:t>，则</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SimSun" pitchFamily="34" charset="0"/>
                    <a:ea typeface="SimSun" pitchFamily="34" charset="-122"/>
                    <a:cs typeface="SimSu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①</a:t>
                </a:r>
                <a:endParaRPr lang="en-US" altLang="zh-CN" sz="2400" dirty="0"/>
              </a:p>
            </p:txBody>
          </p:sp>
        </mc:Choice>
        <mc:Fallback>
          <p:sp>
            <p:nvSpPr>
              <p:cNvPr id="3" name="QC_4_AS.11_2#1c2be6a0c?htil=4&amp;vcp=1&amp;pid=de9b614b9&amp;color=0,0,0&amp;vtp=1&amp;bt=1&amp;bbb=1&amp;hb=1&amp;hs=1"/>
              <p:cNvSpPr>
                <a:spLocks noRot="1" noChangeAspect="1" noMove="1" noResize="1" noEditPoints="1" noAdjustHandles="1" noChangeArrowheads="1" noChangeShapeType="1" noTextEdit="1"/>
              </p:cNvSpPr>
              <p:nvPr/>
            </p:nvSpPr>
            <p:spPr>
              <a:xfrm>
                <a:off x="393192" y="1550480"/>
                <a:ext cx="9555480" cy="2150999"/>
              </a:xfrm>
              <a:prstGeom prst="rect">
                <a:avLst/>
              </a:prstGeom>
              <a:blipFill>
                <a:blip r:embed="rId4"/>
                <a:stretch>
                  <a:fillRect l="-1978" r="-1659" b="-8782"/>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C_4_AS.11_2#1c2be6a0c?htil=4&amp;vcp=1&amp;pid=de9b614b9&amp;color=0,0,0&amp;vtp=1&amp;bt=1&amp;bbb=1&amp;hb=1&amp;hs=1">
                <a:extLst>
                  <a:ext uri="{FF2B5EF4-FFF2-40B4-BE49-F238E27FC236}">
                    <a16:creationId xmlns:a16="http://schemas.microsoft.com/office/drawing/2014/main" id="{888A1230-22A0-C4FB-25FF-54561C3B1F3D}"/>
                  </a:ext>
                </a:extLst>
              </p:cNvPr>
              <p:cNvSpPr/>
              <p:nvPr/>
            </p:nvSpPr>
            <p:spPr>
              <a:xfrm>
                <a:off x="395996" y="3682429"/>
                <a:ext cx="11400008" cy="1596200"/>
              </a:xfrm>
              <a:prstGeom prst="rect">
                <a:avLst/>
              </a:prstGeom>
              <a:noFill/>
              <a:ln/>
            </p:spPr>
            <p:txBody>
              <a:bodyPr wrap="none" lIns="0" tIns="0" rIns="0" bIns="0" rtlCol="0" anchor="t"/>
              <a:lstStyle/>
              <a:p>
                <a:pPr latinLnBrk="1">
                  <a:lnSpc>
                    <a:spcPts val="44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𝜽</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②</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由</a:t>
                </a:r>
                <a:r>
                  <a:rPr lang="en-US" altLang="zh-CN" sz="2400" b="1" i="0" dirty="0">
                    <a:solidFill>
                      <a:srgbClr val="FF0000"/>
                    </a:solidFill>
                    <a:latin typeface="Times New Roman" pitchFamily="34" charset="0"/>
                    <a:ea typeface="微软雅黑" pitchFamily="34" charset="-122"/>
                    <a:cs typeface="Times New Roman" pitchFamily="34" charset="-120"/>
                  </a:rPr>
                  <a:t>①②式解得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oMath>
                </a14:m>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.负号表示加速度方向竖直向</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下</a:t>
                </a:r>
                <a:r>
                  <a:rPr lang="en-US" altLang="zh-CN" sz="2400" b="1" i="0" dirty="0">
                    <a:solidFill>
                      <a:srgbClr val="FF0000"/>
                    </a:solidFill>
                    <a:latin typeface="Times New Roman" pitchFamily="34" charset="0"/>
                    <a:ea typeface="微软雅黑" pitchFamily="34" charset="-122"/>
                    <a:cs typeface="Times New Roman" pitchFamily="34" charset="-120"/>
                  </a:rPr>
                  <a:t>，木块处于完全失重状态.故B正确.</a:t>
                </a:r>
                <a:endParaRPr lang="en-US" altLang="zh-CN" sz="2400" dirty="0"/>
              </a:p>
            </p:txBody>
          </p:sp>
        </mc:Choice>
        <mc:Fallback>
          <p:sp>
            <p:nvSpPr>
              <p:cNvPr id="4" name="QC_4_AS.11_2#1c2be6a0c?htil=4&amp;vcp=1&amp;pid=de9b614b9&amp;color=0,0,0&amp;vtp=1&amp;bt=1&amp;bbb=1&amp;hb=1&amp;hs=1">
                <a:extLst>
                  <a:ext uri="{FF2B5EF4-FFF2-40B4-BE49-F238E27FC236}">
                    <a16:creationId xmlns:a16="http://schemas.microsoft.com/office/drawing/2014/main" id="{888A1230-22A0-C4FB-25FF-54561C3B1F3D}"/>
                  </a:ext>
                </a:extLst>
              </p:cNvPr>
              <p:cNvSpPr>
                <a:spLocks noRot="1" noChangeAspect="1" noMove="1" noResize="1" noEditPoints="1" noAdjustHandles="1" noChangeArrowheads="1" noChangeShapeType="1" noTextEdit="1"/>
              </p:cNvSpPr>
              <p:nvPr/>
            </p:nvSpPr>
            <p:spPr>
              <a:xfrm>
                <a:off x="395996" y="3682429"/>
                <a:ext cx="11400008" cy="1596200"/>
              </a:xfrm>
              <a:prstGeom prst="rect">
                <a:avLst/>
              </a:prstGeom>
              <a:blipFill>
                <a:blip r:embed="rId5"/>
                <a:stretch>
                  <a:fillRect l="-1658" b="-114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wipe(left)">
                                      <p:cBhvr>
                                        <p:cTn id="10" dur="500"/>
                                        <p:tgtEl>
                                          <p:spTgt spid="3">
                                            <p:bg/>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left)">
                                      <p:cBhvr>
                                        <p:cTn id="13" dur="500"/>
                                        <p:tgtEl>
                                          <p:spTgt spid="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animEffect transition="in" filter="wipe(left)">
                                      <p:cBhvr>
                                        <p:cTn id="25" dur="500"/>
                                        <p:tgtEl>
                                          <p:spTgt spid="4">
                                            <p:bg/>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left)">
                                      <p:cBhvr>
                                        <p:cTn id="28" dur="500"/>
                                        <p:tgtEl>
                                          <p:spTgt spid="4">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wipe(left)">
                                      <p:cBhvr>
                                        <p:cTn id="31" dur="500"/>
                                        <p:tgtEl>
                                          <p:spTgt spid="4">
                                            <p:txEl>
                                              <p:pRg st="1" end="1"/>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wipe(left)">
                                      <p:cBhvr>
                                        <p:cTn id="3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pic>
        <p:nvPicPr>
          <p:cNvPr id="2" name="QC_4_BD.12_1#a0d834863?htil=5&amp;vcp=1&amp;pid=de9b614b9&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226607" y="1076452"/>
            <a:ext cx="1499616" cy="160020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12_2#a0d834863?htil=5&amp;vcp=1&amp;pid=de9b614b9&amp;color=0,0,0&amp;vtp=1&amp;bt=1&amp;bbb=1&amp;hb=1&amp;hs=1"/>
              <p:cNvSpPr/>
              <p:nvPr/>
            </p:nvSpPr>
            <p:spPr>
              <a:xfrm>
                <a:off x="393192" y="1030733"/>
                <a:ext cx="9765792"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两球完全相同,质量均为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,用两根等长的细线悬</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挂在升降机天花板上的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点,两球之间连着一根劲度系数为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𝑘</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的轻质弹簧</a:t>
                </a:r>
                <a:r>
                  <a:rPr lang="en-US" altLang="zh-CN" sz="2400" b="0" i="0">
                    <a:solidFill>
                      <a:srgbClr val="000000"/>
                    </a:solidFill>
                    <a:latin typeface="Times New Roman" pitchFamily="34" charset="0"/>
                    <a:ea typeface="微软雅黑" pitchFamily="34" charset="-122"/>
                    <a:cs typeface="Times New Roman" pitchFamily="34" charset="-120"/>
                  </a:rPr>
                  <a:t>.当</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升降机以加速度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竖直向上加速运动时,两根细线之间的夹角为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,则弹簧</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的长度与原长相比缩短了(</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4_BD.12_2#a0d834863?htil=5&amp;vcp=1&amp;pid=de9b614b9&amp;color=0,0,0&amp;vtp=1&amp;bt=1&amp;bbb=1&amp;hb=1&amp;hs=1"/>
              <p:cNvSpPr>
                <a:spLocks noRot="1" noChangeAspect="1" noMove="1" noResize="1" noEditPoints="1" noAdjustHandles="1" noChangeArrowheads="1" noChangeShapeType="1" noTextEdit="1"/>
              </p:cNvSpPr>
              <p:nvPr/>
            </p:nvSpPr>
            <p:spPr>
              <a:xfrm>
                <a:off x="393192" y="1030733"/>
                <a:ext cx="9765792" cy="2150999"/>
              </a:xfrm>
              <a:prstGeom prst="rect">
                <a:avLst/>
              </a:prstGeom>
              <a:blipFill>
                <a:blip r:embed="rId4"/>
                <a:stretch>
                  <a:fillRect l="-1935" r="-1124" b="-8782"/>
                </a:stretch>
              </a:blipFill>
              <a:ln/>
            </p:spPr>
            <p:txBody>
              <a:bodyPr/>
              <a:lstStyle/>
              <a:p>
                <a:r>
                  <a:rPr lang="zh-CN" altLang="en-US">
                    <a:noFill/>
                  </a:rPr>
                  <a:t> </a:t>
                </a:r>
              </a:p>
            </p:txBody>
          </p:sp>
        </mc:Fallback>
      </mc:AlternateContent>
      <p:sp>
        <p:nvSpPr>
          <p:cNvPr id="4" name="QC_4_AN.13_1#a0d834863.bracket?vcp=1&amp;pid=de9b614b9&amp;color=0,0,0&amp;vpa=6&amp;vtp=1"/>
          <p:cNvSpPr/>
          <p:nvPr/>
        </p:nvSpPr>
        <p:spPr>
          <a:xfrm>
            <a:off x="3978560" y="2695703"/>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mc:AlternateContent xmlns:mc="http://schemas.openxmlformats.org/markup-compatibility/2006">
        <mc:Choice xmlns:a14="http://schemas.microsoft.com/office/drawing/2010/main" Requires="a14">
          <p:sp>
            <p:nvSpPr>
              <p:cNvPr id="5" name="QC_4_BD.12_3#a0d834863.choices?vcp=1&amp;pid=de9b614b9&amp;color=0,0,0&amp;vtp=1&amp;bbb=1&amp;hs=1"/>
              <p:cNvSpPr/>
              <p:nvPr/>
            </p:nvSpPr>
            <p:spPr>
              <a:xfrm>
                <a:off x="393192" y="3170428"/>
                <a:ext cx="11402568" cy="717233"/>
              </a:xfrm>
              <a:prstGeom prst="rect">
                <a:avLst/>
              </a:prstGeom>
              <a:noFill/>
              <a:ln/>
            </p:spPr>
            <p:txBody>
              <a:bodyPr wrap="none" lIns="0" tIns="0" rIns="0" bIns="0" rtlCol="0" anchor="t"/>
              <a:lstStyle/>
              <a:p>
                <a:pPr latinLnBrk="1">
                  <a:lnSpc>
                    <a:spcPts val="5900"/>
                  </a:lnSpc>
                  <a:tabLst>
                    <a:tab pos="3027802" algn="l"/>
                    <a:tab pos="5522204" algn="l"/>
                    <a:tab pos="848650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num>
                      <m:den>
                        <m:r>
                          <a:rPr lang="en-US" altLang="zh-CN" sz="2400" b="0" i="0">
                            <a:solidFill>
                              <a:srgbClr val="000000"/>
                            </a:solidFill>
                            <a:latin typeface="Cambria Math" pitchFamily="34" charset="0"/>
                            <a:ea typeface="Cambria Math" pitchFamily="34" charset="-122"/>
                            <a:cs typeface="Cambria Math" pitchFamily="34" charset="-120"/>
                          </a:rPr>
                          <m:t>𝑘</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𝑚𝑔</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num>
                      <m:den>
                        <m:r>
                          <a:rPr lang="en-US" altLang="zh-CN" sz="2400" b="0" i="0">
                            <a:solidFill>
                              <a:srgbClr val="000000"/>
                            </a:solidFill>
                            <a:latin typeface="Cambria Math" pitchFamily="34" charset="0"/>
                            <a:ea typeface="Cambria Math" pitchFamily="34" charset="-122"/>
                            <a:cs typeface="Cambria Math" pitchFamily="34" charset="-120"/>
                          </a:rPr>
                          <m:t>𝑘</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𝜃</m:t>
                            </m:r>
                          </m:num>
                          <m:den>
                            <m:r>
                              <a:rPr lang="en-US" altLang="zh-CN" sz="2400" b="0" i="0">
                                <a:solidFill>
                                  <a:srgbClr val="000000"/>
                                </a:solidFill>
                                <a:latin typeface="Cambria Math" pitchFamily="34" charset="0"/>
                                <a:ea typeface="Cambria Math" pitchFamily="34" charset="-122"/>
                                <a:cs typeface="Cambria Math" pitchFamily="34" charset="-120"/>
                              </a:rPr>
                              <m:t>2</m:t>
                            </m:r>
                          </m:den>
                        </m:f>
                      </m:num>
                      <m:den>
                        <m:r>
                          <a:rPr lang="en-US" altLang="zh-CN" sz="2400" b="0" i="0">
                            <a:solidFill>
                              <a:srgbClr val="000000"/>
                            </a:solidFill>
                            <a:latin typeface="Cambria Math" pitchFamily="34" charset="0"/>
                            <a:ea typeface="Cambria Math" pitchFamily="34" charset="-122"/>
                            <a:cs typeface="Cambria Math" pitchFamily="34" charset="-120"/>
                          </a:rPr>
                          <m:t>𝑘</m:t>
                        </m:r>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𝜃</m:t>
                            </m:r>
                          </m:num>
                          <m:den>
                            <m:r>
                              <a:rPr lang="en-US" altLang="zh-CN" sz="2400" b="0" i="0">
                                <a:solidFill>
                                  <a:srgbClr val="000000"/>
                                </a:solidFill>
                                <a:latin typeface="Cambria Math" pitchFamily="34" charset="0"/>
                                <a:ea typeface="Cambria Math" pitchFamily="34" charset="-122"/>
                                <a:cs typeface="Cambria Math" pitchFamily="34" charset="-120"/>
                              </a:rPr>
                              <m:t>2</m:t>
                            </m:r>
                          </m:den>
                        </m:f>
                      </m:num>
                      <m:den>
                        <m:r>
                          <a:rPr lang="en-US" altLang="zh-CN" sz="2400" b="0" i="0">
                            <a:solidFill>
                              <a:srgbClr val="000000"/>
                            </a:solidFill>
                            <a:latin typeface="Cambria Math" pitchFamily="34" charset="0"/>
                            <a:ea typeface="Cambria Math" pitchFamily="34" charset="-122"/>
                            <a:cs typeface="Cambria Math" pitchFamily="34" charset="-120"/>
                          </a:rPr>
                          <m:t>𝑘</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2_3#a0d834863.choices?vcp=1&amp;pid=de9b614b9&amp;color=0,0,0&amp;vtp=1&amp;bbb=1&amp;hs=1"/>
              <p:cNvSpPr>
                <a:spLocks noRot="1" noChangeAspect="1" noMove="1" noResize="1" noEditPoints="1" noAdjustHandles="1" noChangeArrowheads="1" noChangeShapeType="1" noTextEdit="1"/>
              </p:cNvSpPr>
              <p:nvPr/>
            </p:nvSpPr>
            <p:spPr>
              <a:xfrm>
                <a:off x="393192" y="3170428"/>
                <a:ext cx="11402568" cy="717233"/>
              </a:xfrm>
              <a:prstGeom prst="rect">
                <a:avLst/>
              </a:prstGeom>
              <a:blipFill>
                <a:blip r:embed="rId5"/>
                <a:stretch>
                  <a:fillRect l="-1658" b="-14407"/>
                </a:stretch>
              </a:blipFill>
              <a:ln/>
            </p:spPr>
            <p:txBody>
              <a:bodyPr/>
              <a:lstStyle/>
              <a:p>
                <a:r>
                  <a:rPr lang="zh-CN" altLang="en-US">
                    <a:noFill/>
                  </a:rPr>
                  <a:t> </a:t>
                </a:r>
              </a:p>
            </p:txBody>
          </p:sp>
        </mc:Fallback>
      </mc:AlternateContent>
      <p:pic>
        <p:nvPicPr>
          <p:cNvPr id="6" name="QC_4_AS.14_1#a0d834863?htil=6&amp;vcp=1&amp;pid=de9b614b9&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957816" y="4035805"/>
            <a:ext cx="1819656" cy="178308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7" name="QC_4_AS.14_2#a0d834863?htil=6&amp;vcp=1&amp;pid=de9b614b9&amp;color=0,0,0&amp;vtp=1&amp;bbb=1&amp;hb=1"/>
              <p:cNvSpPr/>
              <p:nvPr/>
            </p:nvSpPr>
            <p:spPr>
              <a:xfrm>
                <a:off x="393192" y="3898645"/>
                <a:ext cx="9445752" cy="1850454"/>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对小球</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受力分析如图所示</a:t>
                </a:r>
                <a:r>
                  <a:rPr lang="en-US" altLang="zh-CN" sz="2400" b="1" i="0">
                    <a:solidFill>
                      <a:srgbClr val="FF0000"/>
                    </a:solidFill>
                    <a:latin typeface="Times New Roman" pitchFamily="34" charset="0"/>
                    <a:ea typeface="微软雅黑" pitchFamily="34" charset="-122"/>
                    <a:cs typeface="Times New Roman" pitchFamily="34" charset="-120"/>
                  </a:rPr>
                  <a:t>，则竖直方向有</a:t>
                </a:r>
              </a:p>
              <a:p>
                <a:pPr latinLnBrk="1">
                  <a:lnSpc>
                    <a:spcPts val="46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𝜽</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2400" b="1" i="0" dirty="0">
                    <a:solidFill>
                      <a:srgbClr val="FF0000"/>
                    </a:solidFill>
                    <a:latin typeface="Times New Roman" pitchFamily="34" charset="0"/>
                    <a:ea typeface="微软雅黑" pitchFamily="34" charset="-122"/>
                    <a:cs typeface="Times New Roman" pitchFamily="34" charset="-120"/>
                  </a:rPr>
                  <a:t>；水平方向有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𝐓</m:t>
                        </m:r>
                      </m:sub>
                    </m:sSub>
                    <m:r>
                      <a:rPr lang="en-US" altLang="zh-CN" sz="2400" b="1" i="0">
                        <a:solidFill>
                          <a:srgbClr val="FF0000"/>
                        </a:solidFill>
                        <a:latin typeface="Cambria Math" pitchFamily="34" charset="0"/>
                        <a:ea typeface="Cambria Math" pitchFamily="34" charset="-122"/>
                        <a:cs typeface="Cambria Math" pitchFamily="34" charset="-120"/>
                      </a:rPr>
                      <m:t>𝐬𝐢𝐧</m:t>
                    </m:r>
                    <m:r>
                      <m:rPr>
                        <m:nor/>
                      </m:rPr>
                      <a:rPr lang="en-US" altLang="zh-CN" sz="2400" b="1" i="0">
                        <a:solidFill>
                          <a:srgbClr val="FF0000"/>
                        </a:solidFill>
                        <a:latin typeface="Cambria Math" pitchFamily="34" charset="0"/>
                        <a:ea typeface="Cambria Math" pitchFamily="34" charset="-122"/>
                        <a:cs typeface="Cambria Math" pitchFamily="34" charset="-120"/>
                      </a:rPr>
                      <m:t> </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𝜽</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,其中弹簧弹力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𝒌𝒙</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5800"/>
                  </a:lnSpc>
                </a:pPr>
                <a:r>
                  <a:rPr lang="en-US" altLang="zh-CN" sz="2400" b="1" i="0">
                    <a:solidFill>
                      <a:srgbClr val="FF0000"/>
                    </a:solidFill>
                    <a:latin typeface="Times New Roman" pitchFamily="34" charset="0"/>
                    <a:ea typeface="微软雅黑" pitchFamily="34" charset="-122"/>
                    <a:cs typeface="Times New Roman" pitchFamily="34" charset="-120"/>
                  </a:rPr>
                  <a:t>联立以上三式可解得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𝐭𝐚𝐧</m:t>
                        </m:r>
                        <m:r>
                          <m:rPr>
                            <m:nor/>
                          </m:rPr>
                          <a:rPr lang="en-US" altLang="zh-CN" sz="2400" b="1" i="0">
                            <a:solidFill>
                              <a:srgbClr val="FF0000"/>
                            </a:solidFill>
                            <a:latin typeface="Cambria Math" pitchFamily="34" charset="0"/>
                            <a:ea typeface="Cambria Math" pitchFamily="34" charset="-122"/>
                            <a:cs typeface="Cambria Math" pitchFamily="34" charset="-120"/>
                          </a:rPr>
                          <m:t> </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𝜽</m:t>
                            </m:r>
                          </m:num>
                          <m:den>
                            <m:r>
                              <a:rPr lang="en-US" altLang="zh-CN" sz="2400" b="1" i="1">
                                <a:solidFill>
                                  <a:srgbClr val="FF0000"/>
                                </a:solidFill>
                                <a:latin typeface="Cambria Math" pitchFamily="34" charset="0"/>
                                <a:ea typeface="Cambria Math" pitchFamily="34" charset="-122"/>
                                <a:cs typeface="Cambria Math" pitchFamily="34" charset="-120"/>
                              </a:rPr>
                              <m:t>𝟐</m:t>
                            </m:r>
                          </m:den>
                        </m:f>
                      </m:num>
                      <m:den>
                        <m:r>
                          <a:rPr lang="en-US" altLang="zh-CN" sz="2400" b="1" i="1">
                            <a:solidFill>
                              <a:srgbClr val="FF0000"/>
                            </a:solidFill>
                            <a:latin typeface="Cambria Math" pitchFamily="34" charset="0"/>
                            <a:ea typeface="Cambria Math" pitchFamily="34" charset="-122"/>
                            <a:cs typeface="Cambria Math" pitchFamily="34" charset="-120"/>
                          </a:rPr>
                          <m:t>𝒌</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,故C正确.</a:t>
                </a:r>
                <a:endParaRPr lang="en-US" altLang="zh-CN" sz="2400" dirty="0"/>
              </a:p>
            </p:txBody>
          </p:sp>
        </mc:Choice>
        <mc:Fallback>
          <p:sp>
            <p:nvSpPr>
              <p:cNvPr id="7" name="QC_4_AS.14_2#a0d834863?htil=6&amp;vcp=1&amp;pid=de9b614b9&amp;color=0,0,0&amp;vtp=1&amp;bbb=1&amp;hb=1"/>
              <p:cNvSpPr>
                <a:spLocks noRot="1" noChangeAspect="1" noMove="1" noResize="1" noEditPoints="1" noAdjustHandles="1" noChangeArrowheads="1" noChangeShapeType="1" noTextEdit="1"/>
              </p:cNvSpPr>
              <p:nvPr/>
            </p:nvSpPr>
            <p:spPr>
              <a:xfrm>
                <a:off x="393192" y="3898645"/>
                <a:ext cx="9445752" cy="1850454"/>
              </a:xfrm>
              <a:prstGeom prst="rect">
                <a:avLst/>
              </a:prstGeom>
              <a:blipFill>
                <a:blip r:embed="rId7"/>
                <a:stretch>
                  <a:fillRect l="-2001" b="-561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left)">
                                      <p:cBhvr>
                                        <p:cTn id="24" dur="500"/>
                                        <p:tgtEl>
                                          <p:spTgt spid="7">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left)">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5_1#58e6b640b?vcp=1&amp;pid=de9b614b9&amp;color=0,0,0&amp;vtp=1&amp;bt=1&amp;bbb=1&amp;hb=1"/>
              <p:cNvSpPr/>
              <p:nvPr/>
            </p:nvSpPr>
            <p:spPr>
              <a:xfrm>
                <a:off x="393192" y="1545177"/>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（2025·湖北新高考协作体检测）</a:t>
                </a:r>
                <a:r>
                  <a:rPr lang="en-US" altLang="zh-CN" sz="2400" b="0" i="0" dirty="0">
                    <a:solidFill>
                      <a:srgbClr val="000000"/>
                    </a:solidFill>
                    <a:latin typeface="Times New Roman" pitchFamily="34" charset="0"/>
                    <a:ea typeface="微软雅黑" pitchFamily="34" charset="-122"/>
                    <a:cs typeface="Times New Roman" pitchFamily="34" charset="-120"/>
                  </a:rPr>
                  <a:t>随着科技的发展，</a:t>
                </a:r>
                <a:r>
                  <a:rPr lang="en-US" altLang="zh-CN" sz="2400" b="0" i="0">
                    <a:solidFill>
                      <a:srgbClr val="000000"/>
                    </a:solidFill>
                    <a:latin typeface="Times New Roman" pitchFamily="34" charset="0"/>
                    <a:ea typeface="微软雅黑" pitchFamily="34" charset="-122"/>
                    <a:cs typeface="Times New Roman" pitchFamily="34" charset="-120"/>
                  </a:rPr>
                  <a:t>手机的功能越来越多，</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如图所示是某同学随质量为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货物乘坐电梯时利用手机软件制作的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图像</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竖直向上为正方向），重力加速度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下列判断正确的是(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5_1#58e6b640b?vcp=1&amp;pid=de9b614b9&amp;color=0,0,0&amp;vtp=1&amp;bt=1&amp;bbb=1&amp;hb=1"/>
              <p:cNvSpPr>
                <a:spLocks noRot="1" noChangeAspect="1" noMove="1" noResize="1" noEditPoints="1" noAdjustHandles="1" noChangeArrowheads="1" noChangeShapeType="1" noTextEdit="1"/>
              </p:cNvSpPr>
              <p:nvPr/>
            </p:nvSpPr>
            <p:spPr>
              <a:xfrm>
                <a:off x="393192" y="1545177"/>
                <a:ext cx="11402568" cy="1592199"/>
              </a:xfrm>
              <a:prstGeom prst="rect">
                <a:avLst/>
              </a:prstGeom>
              <a:blipFill>
                <a:blip r:embed="rId3"/>
                <a:stretch>
                  <a:fillRect l="-1658" r="-1230" b="-11450"/>
                </a:stretch>
              </a:blipFill>
              <a:ln/>
            </p:spPr>
            <p:txBody>
              <a:bodyPr/>
              <a:lstStyle/>
              <a:p>
                <a:r>
                  <a:rPr lang="zh-CN" altLang="en-US">
                    <a:noFill/>
                  </a:rPr>
                  <a:t> </a:t>
                </a:r>
              </a:p>
            </p:txBody>
          </p:sp>
        </mc:Fallback>
      </mc:AlternateContent>
      <p:sp>
        <p:nvSpPr>
          <p:cNvPr id="3" name="QC_4_AN.16_1#58e6b640b.bracket?vcp=1&amp;pid=de9b614b9&amp;color=0,0,0&amp;vpa=7&amp;vtp=1"/>
          <p:cNvSpPr/>
          <p:nvPr/>
        </p:nvSpPr>
        <p:spPr>
          <a:xfrm>
            <a:off x="9614694" y="2651347"/>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15_2#58e6b640b?htil=7&amp;vcp=1&amp;pid=de9b614b9&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588181" y="3184492"/>
            <a:ext cx="2807208" cy="183794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5_3#58e6b640b.choices?htil=7&amp;vcp=1&amp;pid=de9b614b9&amp;color=0,0,0&amp;vtp=1&amp;bbb=1"/>
              <p:cNvSpPr/>
              <p:nvPr/>
            </p:nvSpPr>
            <p:spPr>
              <a:xfrm>
                <a:off x="393192" y="3138772"/>
                <a:ext cx="8467344"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内，货物处于失重状态</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.前</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内电梯对货物的支持力恒为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010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末货物上升的距离为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30∼36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内，货物处于超重状态</a:t>
                </a:r>
                <a:endParaRPr lang="en-US" altLang="zh-CN" sz="2400" dirty="0"/>
              </a:p>
            </p:txBody>
          </p:sp>
        </mc:Choice>
        <mc:Fallback>
          <p:sp>
            <p:nvSpPr>
              <p:cNvPr id="5" name="QC_4_BD.15_3#58e6b640b.choices?htil=7&amp;vcp=1&amp;pid=de9b614b9&amp;color=0,0,0&amp;vtp=1&amp;bbb=1"/>
              <p:cNvSpPr>
                <a:spLocks noRot="1" noChangeAspect="1" noMove="1" noResize="1" noEditPoints="1" noAdjustHandles="1" noChangeArrowheads="1" noChangeShapeType="1" noTextEdit="1"/>
              </p:cNvSpPr>
              <p:nvPr/>
            </p:nvSpPr>
            <p:spPr>
              <a:xfrm>
                <a:off x="393192" y="3138772"/>
                <a:ext cx="8467344" cy="2155000"/>
              </a:xfrm>
              <a:prstGeom prst="rect">
                <a:avLst/>
              </a:prstGeom>
              <a:blipFill>
                <a:blip r:embed="rId5"/>
                <a:stretch>
                  <a:fillRect l="-2232"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17_1#58e6b640b?vcp=1&amp;pid=de9b614b9&amp;color=0,0,0&amp;vtp=1&amp;bt=1&amp;bbb=1&amp;hb=1"/>
              <p:cNvSpPr/>
              <p:nvPr/>
            </p:nvSpPr>
            <p:spPr>
              <a:xfrm>
                <a:off x="393192" y="1753013"/>
                <a:ext cx="11402568" cy="33869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2400" b="1" i="0" dirty="0">
                    <a:solidFill>
                      <a:srgbClr val="FF0000"/>
                    </a:solidFill>
                    <a:latin typeface="Times New Roman" pitchFamily="34" charset="0"/>
                    <a:ea typeface="微软雅黑" pitchFamily="34" charset="-122"/>
                    <a:cs typeface="Times New Roman" pitchFamily="34" charset="-120"/>
                  </a:rPr>
                  <a:t>图像中图线的斜率表示加速度，前</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内货物的加速度为</a:t>
                </a:r>
              </a:p>
              <a:p>
                <a:pPr latinLnBrk="1">
                  <a:lnSpc>
                    <a:spcPts val="50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𝚫</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Sub>
                      </m:num>
                      <m:den>
                        <m:r>
                          <a:rPr lang="en-US" altLang="zh-CN" sz="2400" b="1" i="0">
                            <a:solidFill>
                              <a:srgbClr val="FF0000"/>
                            </a:solidFill>
                            <a:latin typeface="Cambria Math" pitchFamily="34" charset="0"/>
                            <a:ea typeface="Cambria Math" pitchFamily="34" charset="-122"/>
                            <a:cs typeface="Cambria Math" pitchFamily="34" charset="-120"/>
                          </a:rPr>
                          <m:t>𝚫</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𝟏𝟎</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,加速度方向向上，货物处于超重状态，A错误</a:t>
                </a:r>
                <a:r>
                  <a:rPr lang="en-US" altLang="zh-CN" sz="2400" b="1" i="0">
                    <a:solidFill>
                      <a:srgbClr val="FF0000"/>
                    </a:solidFill>
                    <a:latin typeface="Times New Roman" pitchFamily="34" charset="0"/>
                    <a:ea typeface="微软雅黑" pitchFamily="34" charset="-122"/>
                    <a:cs typeface="Times New Roman" pitchFamily="34" charset="-120"/>
                  </a:rPr>
                  <a:t>；前</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内，根据牛顿第二定律有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𝟎𝟏𝟎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,可知电梯对货物的</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支持力为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𝟎𝟏𝟎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B正确；</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2400" b="1" i="0" dirty="0">
                    <a:solidFill>
                      <a:srgbClr val="FF0000"/>
                    </a:solidFill>
                    <a:latin typeface="Times New Roman" pitchFamily="34" charset="0"/>
                    <a:ea typeface="微软雅黑" pitchFamily="34" charset="-122"/>
                    <a:cs typeface="Times New Roman" pitchFamily="34" charset="-120"/>
                  </a:rPr>
                  <a:t>图线与时间轴围成的面积表示位移，则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末货物上</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升的距离为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𝟑𝟔</m:t>
                        </m:r>
                        <m:r>
                          <a:rPr lang="en-US" altLang="zh-CN" sz="2400" b="1" i="0">
                            <a:solidFill>
                              <a:srgbClr val="FF0000"/>
                            </a:solidFill>
                            <a:latin typeface="Cambria Math" pitchFamily="34" charset="0"/>
                            <a:ea typeface="Cambria Math" pitchFamily="34" charset="-122"/>
                            <a:cs typeface="Cambria Math" pitchFamily="34" charset="-120"/>
                          </a:rPr>
                          <m:t>)</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𝟒𝟔</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𝟑𝟔</m:t>
                        </m:r>
                        <m:r>
                          <a:rPr lang="en-US" altLang="zh-CN" sz="2400" b="1" i="0">
                            <a:solidFill>
                              <a:srgbClr val="FF0000"/>
                            </a:solidFill>
                            <a:latin typeface="Cambria Math" pitchFamily="34" charset="0"/>
                            <a:ea typeface="Cambria Math" pitchFamily="34" charset="-122"/>
                            <a:cs typeface="Cambria Math" pitchFamily="34" charset="-120"/>
                          </a:rPr>
                          <m:t>)</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C错误；</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内图线的</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斜率为负</a:t>
                </a:r>
                <a:r>
                  <a:rPr lang="en-US" altLang="zh-CN" sz="2400" b="1" i="0" dirty="0">
                    <a:solidFill>
                      <a:srgbClr val="FF0000"/>
                    </a:solidFill>
                    <a:latin typeface="Times New Roman" pitchFamily="34" charset="0"/>
                    <a:ea typeface="微软雅黑" pitchFamily="34" charset="-122"/>
                    <a:cs typeface="Times New Roman" pitchFamily="34" charset="-120"/>
                  </a:rPr>
                  <a:t>，可知货物加速度方向向下，货物处于失重状态，D错误.</a:t>
                </a:r>
                <a:endParaRPr lang="en-US" altLang="zh-CN" sz="2400" dirty="0"/>
              </a:p>
            </p:txBody>
          </p:sp>
        </mc:Choice>
        <mc:Fallback>
          <p:sp>
            <p:nvSpPr>
              <p:cNvPr id="2" name="QC_4_AS.17_1#58e6b640b?vcp=1&amp;pid=de9b614b9&amp;color=0,0,0&amp;vtp=1&amp;bt=1&amp;bbb=1&amp;hb=1"/>
              <p:cNvSpPr>
                <a:spLocks noRot="1" noChangeAspect="1" noMove="1" noResize="1" noEditPoints="1" noAdjustHandles="1" noChangeArrowheads="1" noChangeShapeType="1" noTextEdit="1"/>
              </p:cNvSpPr>
              <p:nvPr/>
            </p:nvSpPr>
            <p:spPr>
              <a:xfrm>
                <a:off x="393192" y="1753013"/>
                <a:ext cx="11402568" cy="3386900"/>
              </a:xfrm>
              <a:prstGeom prst="rect">
                <a:avLst/>
              </a:prstGeom>
              <a:blipFill>
                <a:blip r:embed="rId3"/>
                <a:stretch>
                  <a:fillRect l="-1658" r="-1283" b="-540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pic>
        <p:nvPicPr>
          <p:cNvPr id="2" name="QC_4_BD.18_1#6f66f1b45?htil=8&amp;vcp=1&amp;pid=de9b614b9&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6091550" y="1041558"/>
            <a:ext cx="5568696" cy="139903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C_4_BD.18_2#6f66f1b45?htil=8&amp;vcp=1&amp;pid=de9b614b9&amp;color=0,0,0&amp;vtp=1&amp;bt=1&amp;bbb=1&amp;hb=1&amp;hs=1"/>
          <p:cNvSpPr/>
          <p:nvPr/>
        </p:nvSpPr>
        <p:spPr>
          <a:xfrm>
            <a:off x="393192" y="995839"/>
            <a:ext cx="5696712" cy="15963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a:t>
            </a:r>
            <a:r>
              <a:rPr lang="en-US" altLang="zh-CN" sz="2400" b="0" i="0">
                <a:solidFill>
                  <a:srgbClr val="1E5A99"/>
                </a:solidFill>
                <a:latin typeface="KaiTi" pitchFamily="34" charset="0"/>
                <a:ea typeface="KaiTi" pitchFamily="34" charset="-122"/>
                <a:cs typeface="KaiTi" pitchFamily="34" charset="-120"/>
              </a:rPr>
              <a:t>华科附中检测）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多选题</a:t>
            </a:r>
            <a:r>
              <a:rPr lang="en-US" altLang="zh-CN" sz="2400" b="0" i="0">
                <a:solidFill>
                  <a:srgbClr val="000000"/>
                </a:solidFill>
                <a:latin typeface="Times New Roman" pitchFamily="34" charset="0"/>
                <a:ea typeface="微软雅黑" pitchFamily="34" charset="-122"/>
                <a:cs typeface="Times New Roman" pitchFamily="34" charset="-120"/>
              </a:rPr>
              <a:t>）一位蹦床运动员仅在竖直方向</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上运动，弹簧床面与运动员间的弹力随时</a:t>
            </a:r>
            <a:endParaRPr lang="en-US" altLang="zh-CN" sz="2400" dirty="0"/>
          </a:p>
        </p:txBody>
      </p:sp>
      <p:sp>
        <p:nvSpPr>
          <p:cNvPr id="4" name="QC_4_AN.19_1#6f66f1b45.bracket?vcp=1&amp;pid=de9b614b9&amp;color=0,0,0&amp;vpa=8&amp;vtp=1&amp;bbb=1"/>
          <p:cNvSpPr/>
          <p:nvPr/>
        </p:nvSpPr>
        <p:spPr>
          <a:xfrm>
            <a:off x="7305897" y="3195224"/>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AD</a:t>
            </a:r>
            <a:endParaRPr lang="en-US" altLang="zh-CN" sz="2400" dirty="0"/>
          </a:p>
        </p:txBody>
      </p:sp>
      <mc:AlternateContent xmlns:mc="http://schemas.openxmlformats.org/markup-compatibility/2006">
        <mc:Choice xmlns:a14="http://schemas.microsoft.com/office/drawing/2010/main" Requires="a14">
          <p:sp>
            <p:nvSpPr>
              <p:cNvPr id="5" name="QC_4_BD.18_3#6f66f1b45.choices?vcp=1&amp;pid=de9b614b9&amp;color=0,0,0&amp;vtp=1&amp;bbb=1"/>
              <p:cNvSpPr/>
              <p:nvPr/>
            </p:nvSpPr>
            <p:spPr>
              <a:xfrm>
                <a:off x="393192" y="3693064"/>
                <a:ext cx="11402568" cy="2158302"/>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A.该运动员由最低点向上运动到离开蹦床的过程中先处于超重状态后处于失重状态</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.该运动员最大加速度为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.该运动员离开蹦床时的速度为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.该运动员离开蹦床后上升的最大高度为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8_3#6f66f1b45.choices?vcp=1&amp;pid=de9b614b9&amp;color=0,0,0&amp;vtp=1&amp;bbb=1"/>
              <p:cNvSpPr>
                <a:spLocks noRot="1" noChangeAspect="1" noMove="1" noResize="1" noEditPoints="1" noAdjustHandles="1" noChangeArrowheads="1" noChangeShapeType="1" noTextEdit="1"/>
              </p:cNvSpPr>
              <p:nvPr/>
            </p:nvSpPr>
            <p:spPr>
              <a:xfrm>
                <a:off x="393192" y="3693064"/>
                <a:ext cx="11402568" cy="2158302"/>
              </a:xfrm>
              <a:prstGeom prst="rect">
                <a:avLst/>
              </a:prstGeom>
              <a:blipFill>
                <a:blip r:embed="rId4"/>
                <a:stretch>
                  <a:fillRect l="-1658" b="-847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BD.18_2#6f66f1b45?htil=8&amp;vcp=1&amp;pid=de9b614b9&amp;color=0,0,0&amp;vtp=1&amp;bt=1&amp;bbb=1&amp;hb=1&amp;hs=1">
                <a:extLst>
                  <a:ext uri="{FF2B5EF4-FFF2-40B4-BE49-F238E27FC236}">
                    <a16:creationId xmlns:a16="http://schemas.microsoft.com/office/drawing/2014/main" id="{1304DA40-B983-7E8A-14B4-E2F3DC612CB8}"/>
                  </a:ext>
                </a:extLst>
              </p:cNvPr>
              <p:cNvSpPr/>
              <p:nvPr/>
            </p:nvSpPr>
            <p:spPr>
              <a:xfrm>
                <a:off x="393192" y="2647854"/>
                <a:ext cx="11400008" cy="1033399"/>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间变化的规律通过传感器用计算机绘制出来</a:t>
                </a:r>
                <a:r>
                  <a:rPr lang="en-US" altLang="zh-CN" sz="2400" b="0" i="0" dirty="0">
                    <a:solidFill>
                      <a:srgbClr val="000000"/>
                    </a:solidFill>
                    <a:latin typeface="Times New Roman" pitchFamily="34" charset="0"/>
                    <a:ea typeface="微软雅黑" pitchFamily="34" charset="-122"/>
                    <a:cs typeface="Times New Roman" pitchFamily="34" charset="-120"/>
                  </a:rPr>
                  <a:t>，如图所示.忽略空气阻力</a:t>
                </a:r>
                <a:r>
                  <a:rPr lang="en-US" altLang="zh-CN" sz="2400" b="0" i="0">
                    <a:solidFill>
                      <a:srgbClr val="000000"/>
                    </a:solidFill>
                    <a:latin typeface="Times New Roman" pitchFamily="34" charset="0"/>
                    <a:ea typeface="微软雅黑" pitchFamily="34" charset="-122"/>
                    <a:cs typeface="Times New Roman" pitchFamily="34" charset="-120"/>
                  </a:rPr>
                  <a:t>，取当地的重力</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.结合图像</a:t>
                </a:r>
                <a:r>
                  <a:rPr lang="en-US" altLang="zh-CN" sz="2400" b="0" i="0">
                    <a:solidFill>
                      <a:srgbClr val="000000"/>
                    </a:solidFill>
                    <a:latin typeface="Times New Roman" pitchFamily="34" charset="0"/>
                    <a:ea typeface="微软雅黑" pitchFamily="34" charset="-122"/>
                    <a:cs typeface="Times New Roman" pitchFamily="34" charset="-120"/>
                  </a:rPr>
                  <a:t>，以下说法正确的是(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QC_4_BD.18_2#6f66f1b45?htil=8&amp;vcp=1&amp;pid=de9b614b9&amp;color=0,0,0&amp;vtp=1&amp;bt=1&amp;bbb=1&amp;hb=1&amp;hs=1">
                <a:extLst>
                  <a:ext uri="{FF2B5EF4-FFF2-40B4-BE49-F238E27FC236}">
                    <a16:creationId xmlns:a16="http://schemas.microsoft.com/office/drawing/2014/main" id="{1304DA40-B983-7E8A-14B4-E2F3DC612CB8}"/>
                  </a:ext>
                </a:extLst>
              </p:cNvPr>
              <p:cNvSpPr>
                <a:spLocks noRot="1" noChangeAspect="1" noMove="1" noResize="1" noEditPoints="1" noAdjustHandles="1" noChangeArrowheads="1" noChangeShapeType="1" noTextEdit="1"/>
              </p:cNvSpPr>
              <p:nvPr/>
            </p:nvSpPr>
            <p:spPr>
              <a:xfrm>
                <a:off x="393192" y="2647854"/>
                <a:ext cx="11400008" cy="1033399"/>
              </a:xfrm>
              <a:prstGeom prst="rect">
                <a:avLst/>
              </a:prstGeom>
              <a:blipFill>
                <a:blip r:embed="rId5"/>
                <a:stretch>
                  <a:fillRect l="-1658" r="-1230" b="-1764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20_1#6f66f1b45?vcp=1&amp;pid=de9b614b9&amp;color=0,0,0&amp;vtp=1&amp;bt=1&amp;bbb=1&amp;hb=1"/>
              <p:cNvSpPr/>
              <p:nvPr/>
            </p:nvSpPr>
            <p:spPr>
              <a:xfrm>
                <a:off x="393192" y="1411224"/>
                <a:ext cx="11402568" cy="3856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由题图可知运动员的重力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𝟓𝟎𝟎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，该运动员由最低点向上运动到离开蹦</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床的过程中</a:t>
                </a:r>
                <a:r>
                  <a:rPr lang="en-US" altLang="zh-CN" sz="2400" b="1" i="0" dirty="0">
                    <a:solidFill>
                      <a:srgbClr val="FF0000"/>
                    </a:solidFill>
                    <a:latin typeface="Times New Roman" pitchFamily="34" charset="0"/>
                    <a:ea typeface="微软雅黑" pitchFamily="34" charset="-122"/>
                    <a:cs typeface="Times New Roman" pitchFamily="34" charset="-120"/>
                  </a:rPr>
                  <a:t>，加速度方向先向上，后向下，</a:t>
                </a:r>
                <a:r>
                  <a:rPr lang="en-US" altLang="zh-CN" sz="2400" b="1" i="0">
                    <a:solidFill>
                      <a:srgbClr val="FF0000"/>
                    </a:solidFill>
                    <a:latin typeface="Times New Roman" pitchFamily="34" charset="0"/>
                    <a:ea typeface="微软雅黑" pitchFamily="34" charset="-122"/>
                    <a:cs typeface="Times New Roman" pitchFamily="34" charset="-120"/>
                  </a:rPr>
                  <a:t>运动员先处于超重状态后处于失重状态，</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A</a:t>
                </a:r>
                <a:r>
                  <a:rPr lang="en-US" altLang="zh-CN" sz="2400" b="1" i="0" dirty="0">
                    <a:solidFill>
                      <a:srgbClr val="FF0000"/>
                    </a:solidFill>
                    <a:latin typeface="Times New Roman" pitchFamily="34" charset="0"/>
                    <a:ea typeface="微软雅黑" pitchFamily="34" charset="-122"/>
                    <a:cs typeface="Times New Roman" pitchFamily="34" charset="-120"/>
                  </a:rPr>
                  <a:t>正确；由题图可知弹力最大为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𝟓𝟎𝟎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，此时运动员在最低点，</a:t>
                </a:r>
                <a:r>
                  <a:rPr lang="en-US" altLang="zh-CN" sz="2400" b="1" i="0">
                    <a:solidFill>
                      <a:srgbClr val="FF0000"/>
                    </a:solidFill>
                    <a:latin typeface="Times New Roman" pitchFamily="34" charset="0"/>
                    <a:ea typeface="微软雅黑" pitchFamily="34" charset="-122"/>
                    <a:cs typeface="Times New Roman" pitchFamily="34" charset="-120"/>
                  </a:rPr>
                  <a:t>加速度最大，</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根据牛顿第二定律有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𝐦</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0">
                            <a:solidFill>
                              <a:srgbClr val="FF0000"/>
                            </a:solidFill>
                            <a:latin typeface="Cambria Math" pitchFamily="34" charset="0"/>
                            <a:ea typeface="Cambria Math" pitchFamily="34" charset="-122"/>
                            <a:cs typeface="Cambria Math" pitchFamily="34" charset="-120"/>
                          </a:rPr>
                          <m:t>𝐦</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,可得最大加速度</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𝒂</m:t>
                        </m:r>
                      </m:e>
                      <m:sub>
                        <m:r>
                          <a:rPr lang="en-US" altLang="zh-CN" sz="2400" b="1" i="0">
                            <a:solidFill>
                              <a:srgbClr val="FF0000"/>
                            </a:solidFill>
                            <a:latin typeface="Cambria Math" pitchFamily="34" charset="0"/>
                            <a:ea typeface="Cambria Math" pitchFamily="34" charset="-122"/>
                            <a:cs typeface="Cambria Math" pitchFamily="34" charset="-120"/>
                          </a:rPr>
                          <m:t>𝐦</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，B错误</a:t>
                </a:r>
                <a:r>
                  <a:rPr lang="en-US" altLang="zh-CN" sz="2400" b="1" i="0">
                    <a:solidFill>
                      <a:srgbClr val="FF0000"/>
                    </a:solidFill>
                    <a:latin typeface="Times New Roman" pitchFamily="34" charset="0"/>
                    <a:ea typeface="微软雅黑" pitchFamily="34" charset="-122"/>
                    <a:cs typeface="Times New Roman" pitchFamily="34" charset="-120"/>
                  </a:rPr>
                  <a:t>；运动</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员运动稳定后</a:t>
                </a:r>
                <a:r>
                  <a:rPr lang="en-US" altLang="zh-CN" sz="2400" b="1" i="0" dirty="0">
                    <a:solidFill>
                      <a:srgbClr val="FF0000"/>
                    </a:solidFill>
                    <a:latin typeface="Times New Roman" pitchFamily="34" charset="0"/>
                    <a:ea typeface="微软雅黑" pitchFamily="34" charset="-122"/>
                    <a:cs typeface="Times New Roman" pitchFamily="34" charset="-120"/>
                  </a:rPr>
                  <a:t>，每次腾空时间为</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𝟖</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，故最大高度为</a:t>
                </a:r>
              </a:p>
              <a:p>
                <a:pPr latinLnBrk="1">
                  <a:lnSpc>
                    <a:spcPts val="46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𝑯</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𝒈</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,该运动员离开蹦床时的速度为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，C</a:t>
                </a:r>
                <a:r>
                  <a:rPr lang="en-US" altLang="zh-CN" sz="2400" b="1" i="0">
                    <a:solidFill>
                      <a:srgbClr val="FF0000"/>
                    </a:solidFill>
                    <a:latin typeface="Times New Roman" pitchFamily="34" charset="0"/>
                    <a:ea typeface="微软雅黑" pitchFamily="34" charset="-122"/>
                    <a:cs typeface="Times New Roman" pitchFamily="34" charset="-120"/>
                  </a:rPr>
                  <a:t>错误, </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D</a:t>
                </a:r>
                <a:r>
                  <a:rPr lang="en-US" altLang="zh-CN" sz="2400" b="1" i="0" dirty="0">
                    <a:solidFill>
                      <a:srgbClr val="FF0000"/>
                    </a:solidFill>
                    <a:latin typeface="Times New Roman" pitchFamily="34" charset="0"/>
                    <a:ea typeface="微软雅黑" pitchFamily="34" charset="-122"/>
                    <a:cs typeface="Times New Roman" pitchFamily="34" charset="-120"/>
                  </a:rPr>
                  <a:t>正确.</a:t>
                </a:r>
                <a:endParaRPr lang="en-US" altLang="zh-CN" sz="2400" dirty="0"/>
              </a:p>
            </p:txBody>
          </p:sp>
        </mc:Choice>
        <mc:Fallback>
          <p:sp>
            <p:nvSpPr>
              <p:cNvPr id="2" name="QC_4_AS.20_1#6f66f1b45?vcp=1&amp;pid=de9b614b9&amp;color=0,0,0&amp;vtp=1&amp;bt=1&amp;bbb=1&amp;hb=1"/>
              <p:cNvSpPr>
                <a:spLocks noRot="1" noChangeAspect="1" noMove="1" noResize="1" noEditPoints="1" noAdjustHandles="1" noChangeArrowheads="1" noChangeShapeType="1" noTextEdit="1"/>
              </p:cNvSpPr>
              <p:nvPr/>
            </p:nvSpPr>
            <p:spPr>
              <a:xfrm>
                <a:off x="393192" y="1411224"/>
                <a:ext cx="11402568" cy="3856800"/>
              </a:xfrm>
              <a:prstGeom prst="rect">
                <a:avLst/>
              </a:prstGeom>
              <a:blipFill>
                <a:blip r:embed="rId3"/>
                <a:stretch>
                  <a:fillRect l="-1658" r="-642" b="-474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sp>
        <p:nvSpPr>
          <p:cNvPr id="2" name="C_3_BD#9f69da389?vcp=1&amp;pid=517c473e9&amp;color=0,0,0&amp;vtp=1&amp;bt=1&amp;bbb=1"/>
          <p:cNvSpPr/>
          <p:nvPr/>
        </p:nvSpPr>
        <p:spPr>
          <a:xfrm>
            <a:off x="393192" y="502920"/>
            <a:ext cx="11402568" cy="473012"/>
          </a:xfrm>
          <a:prstGeom prst="rect">
            <a:avLst/>
          </a:prstGeom>
          <a:noFill/>
          <a:ln/>
        </p:spPr>
        <p:txBody>
          <a:bodyPr wrap="none" lIns="0" tIns="0" rIns="0" bIns="0" rtlCol="0" anchor="t"/>
          <a:lstStyle/>
          <a:p>
            <a:pPr algn="l" latinLnBrk="1">
              <a:lnSpc>
                <a:spcPts val="4100"/>
              </a:lnSpc>
            </a:pPr>
            <a:r>
              <a:rPr lang="en-US" altLang="zh-CN" sz="2600" b="1" i="0" dirty="0">
                <a:solidFill>
                  <a:srgbClr val="000000"/>
                </a:solidFill>
                <a:latin typeface="Times New Roman" pitchFamily="34" charset="0"/>
                <a:ea typeface="SimHei" pitchFamily="34" charset="-122"/>
                <a:cs typeface="Times New Roman" pitchFamily="34" charset="-120"/>
              </a:rPr>
              <a:t>易错考点针对练</a:t>
            </a:r>
            <a:endParaRPr lang="en-US" altLang="zh-CN" sz="2600" dirty="0"/>
          </a:p>
        </p:txBody>
      </p:sp>
      <p:sp>
        <p:nvSpPr>
          <p:cNvPr id="3" name="P_4_BD#4a49dbe8c?vcp=1&amp;pid=9f69da389&amp;color=0,0,0&amp;vtp=1&amp;bbb=1"/>
          <p:cNvSpPr/>
          <p:nvPr/>
        </p:nvSpPr>
        <p:spPr>
          <a:xfrm>
            <a:off x="393192" y="1036168"/>
            <a:ext cx="11402568" cy="440500"/>
          </a:xfrm>
          <a:prstGeom prst="rect">
            <a:avLst/>
          </a:prstGeom>
          <a:noFill/>
          <a:ln/>
        </p:spPr>
        <p:txBody>
          <a:bodyPr wrap="none" lIns="0" tIns="0" rIns="0" bIns="0" rtlCol="0" anchor="t"/>
          <a:lstStyle/>
          <a:p>
            <a:pPr algn="ctr" latinLnBrk="1">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p:sp>
        <p:nvSpPr>
          <p:cNvPr id="4" name="C_4_BD#ae1fff283?vcp=1&amp;pid=9f69da389&amp;color=0,0,0&amp;vtp=1&amp;bbb=1"/>
          <p:cNvSpPr/>
          <p:nvPr/>
        </p:nvSpPr>
        <p:spPr>
          <a:xfrm>
            <a:off x="393192" y="1516254"/>
            <a:ext cx="11402568" cy="473012"/>
          </a:xfrm>
          <a:prstGeom prst="rect">
            <a:avLst/>
          </a:prstGeom>
          <a:noFill/>
          <a:ln/>
        </p:spPr>
        <p:txBody>
          <a:bodyPr wrap="none" lIns="0" tIns="0" rIns="0" bIns="0" rtlCol="0" anchor="t"/>
          <a:lstStyle/>
          <a:p>
            <a:pPr algn="l" latinLnBrk="1">
              <a:lnSpc>
                <a:spcPts val="4100"/>
              </a:lnSpc>
            </a:pPr>
            <a:r>
              <a:rPr lang="en-US" altLang="zh-CN" sz="2600" b="1" i="0" dirty="0">
                <a:solidFill>
                  <a:srgbClr val="000000"/>
                </a:solidFill>
                <a:latin typeface="Times New Roman" pitchFamily="34" charset="0"/>
                <a:ea typeface="SimHei" pitchFamily="34" charset="-122"/>
                <a:cs typeface="Times New Roman" pitchFamily="34" charset="-120"/>
              </a:rPr>
              <a:t>易错点1</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忽视了超重、失重状态各存在两种不同的运动方向</a:t>
            </a:r>
            <a:endParaRPr lang="en-US" altLang="zh-CN" sz="2600" dirty="0"/>
          </a:p>
        </p:txBody>
      </p:sp>
      <mc:AlternateContent xmlns:mc="http://schemas.openxmlformats.org/markup-compatibility/2006">
        <mc:Choice xmlns:a14="http://schemas.microsoft.com/office/drawing/2010/main" Requires="a14">
          <p:sp>
            <p:nvSpPr>
              <p:cNvPr id="5" name="QC_5_BD.21_1#64c3b55b1?vcp=1&amp;pid=ae1fff283&amp;color=0,0,0&amp;vtp=1&amp;bbb=1&amp;hb=1"/>
              <p:cNvSpPr/>
              <p:nvPr/>
            </p:nvSpPr>
            <p:spPr>
              <a:xfrm>
                <a:off x="393192" y="2046097"/>
                <a:ext cx="11402568" cy="1912874"/>
              </a:xfrm>
              <a:prstGeom prst="rect">
                <a:avLst/>
              </a:prstGeom>
              <a:noFill/>
              <a:ln/>
            </p:spPr>
            <p:txBody>
              <a:bodyPr wrap="none" lIns="0" tIns="0" rIns="0" bIns="0" rtlCol="0" anchor="t"/>
              <a:lstStyle/>
              <a:p>
                <a:pPr algn="l" latinLnBrk="1">
                  <a:lnSpc>
                    <a:spcPts val="39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考点1、2、4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（2026·湖北武汉二中模拟）</a:t>
                </a:r>
                <a:r>
                  <a:rPr lang="en-US" altLang="zh-CN" sz="2400" b="0" i="0" dirty="0">
                    <a:solidFill>
                      <a:srgbClr val="000000"/>
                    </a:solidFill>
                    <a:latin typeface="Times New Roman" pitchFamily="34" charset="0"/>
                    <a:ea typeface="微软雅黑" pitchFamily="34" charset="-122"/>
                    <a:cs typeface="Times New Roman" pitchFamily="34" charset="-120"/>
                  </a:rPr>
                  <a:t>某课外兴趣小组开展超重</a:t>
                </a:r>
                <a:r>
                  <a:rPr lang="en-US" altLang="zh-CN" sz="2400" b="0" i="0">
                    <a:solidFill>
                      <a:srgbClr val="000000"/>
                    </a:solidFill>
                    <a:latin typeface="Times New Roman" pitchFamily="34" charset="0"/>
                    <a:ea typeface="微软雅黑" pitchFamily="34" charset="-122"/>
                    <a:cs typeface="Times New Roman" pitchFamily="34" charset="-120"/>
                  </a:rPr>
                  <a:t>、失重体验与</a:t>
                </a:r>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研究</a:t>
                </a:r>
                <a:r>
                  <a:rPr lang="en-US" altLang="zh-CN" sz="2400" b="0" i="0" dirty="0">
                    <a:solidFill>
                      <a:srgbClr val="000000"/>
                    </a:solidFill>
                    <a:latin typeface="Times New Roman" pitchFamily="34" charset="0"/>
                    <a:ea typeface="微软雅黑" pitchFamily="34" charset="-122"/>
                    <a:cs typeface="Times New Roman" pitchFamily="34" charset="-120"/>
                  </a:rPr>
                  <a:t>.在竖直运行的升降电梯内地板上放一体重计,小郭同学站在体重计上</a:t>
                </a:r>
                <a:r>
                  <a:rPr lang="en-US" altLang="zh-CN" sz="2400" b="0" i="0">
                    <a:solidFill>
                      <a:srgbClr val="000000"/>
                    </a:solidFill>
                    <a:latin typeface="Times New Roman" pitchFamily="34" charset="0"/>
                    <a:ea typeface="微软雅黑" pitchFamily="34" charset="-122"/>
                    <a:cs typeface="Times New Roman" pitchFamily="34" charset="-120"/>
                  </a:rPr>
                  <a:t>，电梯静止</a:t>
                </a:r>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时体重计示数为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,某一段时间内，发现体重计示数稳定如图所示.若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则在这段时间内(</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5_BD.21_1#64c3b55b1?vcp=1&amp;pid=ae1fff283&amp;color=0,0,0&amp;vtp=1&amp;bbb=1&amp;hb=1"/>
              <p:cNvSpPr>
                <a:spLocks noRot="1" noChangeAspect="1" noMove="1" noResize="1" noEditPoints="1" noAdjustHandles="1" noChangeArrowheads="1" noChangeShapeType="1" noTextEdit="1"/>
              </p:cNvSpPr>
              <p:nvPr/>
            </p:nvSpPr>
            <p:spPr>
              <a:xfrm>
                <a:off x="393192" y="2046097"/>
                <a:ext cx="11402568" cy="1912874"/>
              </a:xfrm>
              <a:prstGeom prst="rect">
                <a:avLst/>
              </a:prstGeom>
              <a:blipFill>
                <a:blip r:embed="rId3"/>
                <a:stretch>
                  <a:fillRect l="-1658" t="-2236" r="-1230" b="-9904"/>
                </a:stretch>
              </a:blipFill>
              <a:ln/>
            </p:spPr>
            <p:txBody>
              <a:bodyPr/>
              <a:lstStyle/>
              <a:p>
                <a:r>
                  <a:rPr lang="zh-CN" altLang="en-US">
                    <a:noFill/>
                  </a:rPr>
                  <a:t> </a:t>
                </a:r>
              </a:p>
            </p:txBody>
          </p:sp>
        </mc:Fallback>
      </mc:AlternateContent>
      <p:sp>
        <p:nvSpPr>
          <p:cNvPr id="6" name="QC_5_AN.22_1#64c3b55b1.bracket?vcp=1&amp;pid=ae1fff283&amp;color=0,0,0&amp;vpa=9&amp;vtp=1"/>
          <p:cNvSpPr/>
          <p:nvPr/>
        </p:nvSpPr>
        <p:spPr>
          <a:xfrm>
            <a:off x="2772061" y="3522282"/>
            <a:ext cx="423863" cy="430975"/>
          </a:xfrm>
          <a:prstGeom prst="rect">
            <a:avLst/>
          </a:prstGeom>
          <a:noFill/>
          <a:ln/>
        </p:spPr>
        <p:txBody>
          <a:bodyPr wrap="none" lIns="0" tIns="0" rIns="0" bIns="0" rtlCol="0" anchor="t"/>
          <a:lstStyle/>
          <a:p>
            <a:pPr algn="ctr" latinLnBrk="1">
              <a:lnSpc>
                <a:spcPts val="37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7" name="QC_5_BD.21_2#64c3b55b1?htil=9&amp;vcp=1&amp;pid=ae1fff283&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357616" y="3555367"/>
            <a:ext cx="3419856" cy="193852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8" name="QC_5_BD.21_3#64c3b55b1.choices?htil=9&amp;vcp=1&amp;pid=ae1fff283&amp;color=0,0,0&amp;vtp=1&amp;bbb=1"/>
              <p:cNvSpPr/>
              <p:nvPr/>
            </p:nvSpPr>
            <p:spPr>
              <a:xfrm>
                <a:off x="393192" y="3979356"/>
                <a:ext cx="7845552" cy="1910652"/>
              </a:xfrm>
              <a:prstGeom prst="rect">
                <a:avLst/>
              </a:prstGeom>
              <a:noFill/>
              <a:ln/>
            </p:spPr>
            <p:txBody>
              <a:bodyPr wrap="none" lIns="0" tIns="0" rIns="0" bIns="0" rtlCol="0" anchor="t"/>
              <a:lstStyle/>
              <a:p>
                <a:pPr algn="l" latinLnBrk="1">
                  <a:lnSpc>
                    <a:spcPts val="3900"/>
                  </a:lnSpc>
                </a:pPr>
                <a:r>
                  <a:rPr lang="en-US" altLang="zh-CN" sz="2400" b="0" i="0" dirty="0">
                    <a:solidFill>
                      <a:srgbClr val="000000"/>
                    </a:solidFill>
                    <a:latin typeface="Times New Roman" pitchFamily="34" charset="0"/>
                    <a:ea typeface="微软雅黑" pitchFamily="34" charset="-122"/>
                    <a:cs typeface="Times New Roman" pitchFamily="34" charset="-120"/>
                  </a:rPr>
                  <a:t>A.电梯在向下做匀速运动</a:t>
                </a:r>
                <a:endParaRPr lang="en-US" altLang="zh-CN" sz="2400" dirty="0"/>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.电梯的加速度为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,方向一定竖直向下</a:t>
                </a:r>
                <a:endParaRPr lang="en-US" altLang="zh-CN" sz="2400" dirty="0"/>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.电梯在以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的加速度向下加速运行中</a:t>
                </a:r>
                <a:endParaRPr lang="en-US" altLang="zh-CN" sz="2400" dirty="0"/>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.小郭同学的体重变为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8" name="QC_5_BD.21_3#64c3b55b1.choices?htil=9&amp;vcp=1&amp;pid=ae1fff283&amp;color=0,0,0&amp;vtp=1&amp;bbb=1"/>
              <p:cNvSpPr>
                <a:spLocks noRot="1" noChangeAspect="1" noMove="1" noResize="1" noEditPoints="1" noAdjustHandles="1" noChangeArrowheads="1" noChangeShapeType="1" noTextEdit="1"/>
              </p:cNvSpPr>
              <p:nvPr/>
            </p:nvSpPr>
            <p:spPr>
              <a:xfrm>
                <a:off x="393192" y="3979356"/>
                <a:ext cx="7845552" cy="1910652"/>
              </a:xfrm>
              <a:prstGeom prst="rect">
                <a:avLst/>
              </a:prstGeom>
              <a:blipFill>
                <a:blip r:embed="rId5"/>
                <a:stretch>
                  <a:fillRect l="-2409" t="-958" b="-990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5_AS.23_1#64c3b55b1?vcp=1&amp;pid=ae1fff283&amp;color=0,0,0&amp;vtp=1&amp;bt=1&amp;bbb=1&amp;hb=1"/>
              <p:cNvSpPr/>
              <p:nvPr/>
            </p:nvSpPr>
            <p:spPr>
              <a:xfrm>
                <a:off x="393192" y="1438497"/>
                <a:ext cx="11402568" cy="2180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由题图可知，小郭同学处于失重状态，则电梯的加速度方向一定竖直向下</a:t>
                </a:r>
                <a:r>
                  <a:rPr lang="en-US" altLang="zh-CN" sz="2400" b="1" i="0">
                    <a:solidFill>
                      <a:srgbClr val="FF0000"/>
                    </a:solidFill>
                    <a:latin typeface="Times New Roman" pitchFamily="34" charset="0"/>
                    <a:ea typeface="微软雅黑" pitchFamily="34" charset="-122"/>
                    <a:cs typeface="Times New Roman" pitchFamily="34" charset="-120"/>
                  </a:rPr>
                  <a:t>，电</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梯可能减速上升也可能加速下降</a:t>
                </a:r>
                <a:r>
                  <a:rPr lang="en-US" altLang="zh-CN" sz="2400" b="1" i="0" dirty="0">
                    <a:solidFill>
                      <a:srgbClr val="FF0000"/>
                    </a:solidFill>
                    <a:latin typeface="Times New Roman" pitchFamily="34" charset="0"/>
                    <a:ea typeface="微软雅黑" pitchFamily="34" charset="-122"/>
                    <a:cs typeface="Times New Roman" pitchFamily="34" charset="-120"/>
                  </a:rPr>
                  <a:t>，设加速度大小为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，根据牛顿第二定律可得</a:t>
                </a:r>
              </a:p>
              <a:p>
                <a:pPr latinLnBrk="1">
                  <a:lnSpc>
                    <a:spcPts val="46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2400" b="1" i="0" dirty="0">
                    <a:solidFill>
                      <a:srgbClr val="FF0000"/>
                    </a:solidFill>
                    <a:latin typeface="Times New Roman" pitchFamily="34" charset="0"/>
                    <a:ea typeface="微软雅黑" pitchFamily="34" charset="-122"/>
                    <a:cs typeface="Times New Roman" pitchFamily="34" charset="-120"/>
                  </a:rPr>
                  <a:t>,整理得加速度大小为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𝑵</m:t>
                        </m:r>
                      </m:num>
                      <m:den>
                        <m:r>
                          <a:rPr lang="en-US" altLang="zh-CN" sz="2400" b="1" i="1">
                            <a:solidFill>
                              <a:srgbClr val="FF0000"/>
                            </a:solidFill>
                            <a:latin typeface="Cambria Math" pitchFamily="34" charset="0"/>
                            <a:ea typeface="Cambria Math" pitchFamily="34" charset="-122"/>
                            <a:cs typeface="Cambria Math" pitchFamily="34" charset="-120"/>
                          </a:rPr>
                          <m:t>𝒎</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,代入数据解得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,故A、C</a:t>
                </a:r>
                <a:r>
                  <a:rPr lang="en-US" altLang="zh-CN" sz="2400" b="1" i="0">
                    <a:solidFill>
                      <a:srgbClr val="FF0000"/>
                    </a:solidFill>
                    <a:latin typeface="Times New Roman" pitchFamily="34" charset="0"/>
                    <a:ea typeface="微软雅黑" pitchFamily="34" charset="-122"/>
                    <a:cs typeface="Times New Roman" pitchFamily="34" charset="-120"/>
                  </a:rPr>
                  <a:t>错误，</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B</a:t>
                </a:r>
                <a:r>
                  <a:rPr lang="en-US" altLang="zh-CN" sz="2400" b="1" i="0" dirty="0">
                    <a:solidFill>
                      <a:srgbClr val="FF0000"/>
                    </a:solidFill>
                    <a:latin typeface="Times New Roman" pitchFamily="34" charset="0"/>
                    <a:ea typeface="微软雅黑" pitchFamily="34" charset="-122"/>
                    <a:cs typeface="Times New Roman" pitchFamily="34" charset="-120"/>
                  </a:rPr>
                  <a:t>正确；小郭同学处于失重状态，但小郭同学体重不变,仍为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𝐤𝐠</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，故D错误.</a:t>
                </a:r>
                <a:endParaRPr lang="en-US" altLang="zh-CN" sz="2400" dirty="0"/>
              </a:p>
            </p:txBody>
          </p:sp>
        </mc:Choice>
        <mc:Fallback>
          <p:sp>
            <p:nvSpPr>
              <p:cNvPr id="2" name="QC_5_AS.23_1#64c3b55b1?vcp=1&amp;pid=ae1fff283&amp;color=0,0,0&amp;vtp=1&amp;bt=1&amp;bbb=1&amp;hb=1"/>
              <p:cNvSpPr>
                <a:spLocks noRot="1" noChangeAspect="1" noMove="1" noResize="1" noEditPoints="1" noAdjustHandles="1" noChangeArrowheads="1" noChangeShapeType="1" noTextEdit="1"/>
              </p:cNvSpPr>
              <p:nvPr/>
            </p:nvSpPr>
            <p:spPr>
              <a:xfrm>
                <a:off x="393192" y="1438497"/>
                <a:ext cx="11402568" cy="2180400"/>
              </a:xfrm>
              <a:prstGeom prst="rect">
                <a:avLst/>
              </a:prstGeom>
              <a:blipFill>
                <a:blip r:embed="rId3"/>
                <a:stretch>
                  <a:fillRect l="-1658" r="-2995" b="-8101"/>
                </a:stretch>
              </a:blipFill>
              <a:ln/>
            </p:spPr>
            <p:txBody>
              <a:bodyPr/>
              <a:lstStyle/>
              <a:p>
                <a:r>
                  <a:rPr lang="zh-CN" altLang="en-US">
                    <a:noFill/>
                  </a:rPr>
                  <a:t> </a:t>
                </a:r>
              </a:p>
            </p:txBody>
          </p:sp>
        </mc:Fallback>
      </mc:AlternateContent>
      <p:sp>
        <p:nvSpPr>
          <p:cNvPr id="3" name="QC_5_EX.24_1#64c3b55b1?vcp=1&amp;pid=ae1fff283&amp;color=0,0,0&amp;vtp=1&amp;bt=1&amp;bbb=1&amp;hb=1">
            <a:extLst>
              <a:ext uri="{FF2B5EF4-FFF2-40B4-BE49-F238E27FC236}">
                <a16:creationId xmlns:a16="http://schemas.microsoft.com/office/drawing/2014/main" id="{C9636C8A-F44B-3B59-EED8-9F1622BFD8E9}"/>
              </a:ext>
            </a:extLst>
          </p:cNvPr>
          <p:cNvSpPr/>
          <p:nvPr/>
        </p:nvSpPr>
        <p:spPr>
          <a:xfrm>
            <a:off x="393192" y="3622770"/>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部分考生只记住了加速度方向与超</a:t>
            </a:r>
            <a:r>
              <a:rPr lang="en-US" altLang="zh-CN" sz="2400" b="0" i="0" dirty="0">
                <a:solidFill>
                  <a:srgbClr val="000000"/>
                </a:solidFill>
                <a:latin typeface="Times New Roman" pitchFamily="34" charset="0"/>
                <a:ea typeface="微软雅黑" pitchFamily="34" charset="-122"/>
                <a:cs typeface="Times New Roman" pitchFamily="34" charset="-120"/>
              </a:rPr>
              <a:t>、失重的关系</a:t>
            </a:r>
            <a:r>
              <a:rPr lang="en-US" altLang="zh-CN" sz="2400" b="0" i="0">
                <a:solidFill>
                  <a:srgbClr val="000000"/>
                </a:solidFill>
                <a:latin typeface="Times New Roman" pitchFamily="34" charset="0"/>
                <a:ea typeface="微软雅黑" pitchFamily="34" charset="-122"/>
                <a:cs typeface="Times New Roman" pitchFamily="34" charset="-120"/>
              </a:rPr>
              <a:t>，但忽视了同一加速度有两种不</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同的运动方向与之对应而错选</a:t>
            </a:r>
            <a:r>
              <a:rPr lang="en-US" altLang="zh-CN" sz="2400" b="0" i="0" dirty="0">
                <a:solidFill>
                  <a:srgbClr val="000000"/>
                </a:solidFill>
                <a:latin typeface="Times New Roman" pitchFamily="34" charset="0"/>
                <a:ea typeface="微软雅黑" pitchFamily="34" charset="-122"/>
                <a:cs typeface="Times New Roman" pitchFamily="34" charset="-120"/>
              </a:rPr>
              <a:t>C.</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bg/>
                                          </p:spTgt>
                                        </p:tgtEl>
                                        <p:attrNameLst>
                                          <p:attrName>style.visibility</p:attrName>
                                        </p:attrNameLst>
                                      </p:cBhvr>
                                      <p:to>
                                        <p:strVal val="visible"/>
                                      </p:to>
                                    </p:set>
                                    <p:animEffect transition="in" filter="wipe(left)">
                                      <p:cBhvr>
                                        <p:cTn id="24" dur="500"/>
                                        <p:tgtEl>
                                          <p:spTgt spid="3">
                                            <p:bg/>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left)">
                                      <p:cBhvr>
                                        <p:cTn id="27" dur="500"/>
                                        <p:tgtEl>
                                          <p:spTgt spid="3">
                                            <p:txEl>
                                              <p:pRg st="0" end="0"/>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left)">
                                      <p:cBhvr>
                                        <p:cTn id="30" dur="500"/>
                                        <p:tgtEl>
                                          <p:spTgt spid="3">
                                            <p:txEl>
                                              <p:pRg st="1" end="1"/>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wipe(left)">
                                      <p:cBhvr>
                                        <p:cTn id="3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C_4_BD#e8672c0b4?vcp=1&amp;pid=9f69da389&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易错点2</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忽视了系统中其他物体的超重、失重的影响</a:t>
            </a:r>
            <a:endParaRPr lang="en-US" altLang="zh-CN" sz="2600" dirty="0"/>
          </a:p>
        </p:txBody>
      </p:sp>
      <p:pic>
        <p:nvPicPr>
          <p:cNvPr id="3" name="QC_5_BD.25_1#5cbcb461e?htil=10&amp;vcp=1&amp;pid=e8672c0b4&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786264" y="1135442"/>
            <a:ext cx="905256" cy="93268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QC_5_BD.25_2#5cbcb461e?htil=10&amp;vcp=1&amp;pid=e8672c0b4&amp;color=0,0,0&amp;vtp=1&amp;bbb=1&amp;hb=1&amp;hs=1"/>
          <p:cNvSpPr/>
          <p:nvPr/>
        </p:nvSpPr>
        <p:spPr>
          <a:xfrm>
            <a:off x="393192" y="1089723"/>
            <a:ext cx="10360152"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考点1、2、4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静止的电梯中有一盛水容器，水中浮着一木块，如图所示</a:t>
            </a:r>
            <a:r>
              <a:rPr lang="en-US" altLang="zh-CN" sz="2400" b="0" i="0">
                <a:solidFill>
                  <a:srgbClr val="000000"/>
                </a:solidFill>
                <a:latin typeface="Times New Roman" pitchFamily="34" charset="0"/>
                <a:ea typeface="微软雅黑" pitchFamily="34" charset="-122"/>
                <a:cs typeface="Times New Roman" pitchFamily="34" charset="-120"/>
              </a:rPr>
              <a:t>.当</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电梯向上做匀加速运动时</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木块浸入水中的深度(</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C_5_AN.26_1#5cbcb461e.bracket?vcp=1&amp;pid=e8672c0b4&amp;color=0,0,0&amp;vpa=10&amp;vtp=1"/>
          <p:cNvSpPr/>
          <p:nvPr/>
        </p:nvSpPr>
        <p:spPr>
          <a:xfrm>
            <a:off x="7026561" y="1637093"/>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6" name="QC_5_BD.25_3#5cbcb461e.choices?htil=10&amp;vcp=1&amp;pid=e8672c0b4&amp;color=0,0,0&amp;vtp=1&amp;bbb=1&amp;hs=1"/>
          <p:cNvSpPr/>
          <p:nvPr/>
        </p:nvSpPr>
        <p:spPr>
          <a:xfrm>
            <a:off x="395996" y="2179065"/>
            <a:ext cx="11400008" cy="484124"/>
          </a:xfrm>
          <a:prstGeom prst="rect">
            <a:avLst/>
          </a:prstGeom>
          <a:noFill/>
          <a:ln/>
        </p:spPr>
        <p:txBody>
          <a:bodyPr wrap="none" lIns="0" tIns="0" rIns="0" bIns="0" rtlCol="0" anchor="t"/>
          <a:lstStyle/>
          <a:p>
            <a:pPr latinLnBrk="1">
              <a:lnSpc>
                <a:spcPts val="4300"/>
              </a:lnSpc>
              <a:tabLst>
                <a:tab pos="2504313" algn="l"/>
                <a:tab pos="4983226" algn="l"/>
                <a:tab pos="7462139"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r>
              <a:rPr lang="en-US" altLang="zh-CN" sz="2400" b="0" i="0">
                <a:solidFill>
                  <a:srgbClr val="000000"/>
                </a:solidFill>
                <a:latin typeface="Times New Roman" pitchFamily="34" charset="0"/>
                <a:ea typeface="微软雅黑" pitchFamily="34" charset="-122"/>
                <a:cs typeface="Times New Roman" pitchFamily="34" charset="-120"/>
              </a:rPr>
              <a:t>.变浅</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B.变深</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C.不变</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.无法判断</a:t>
            </a:r>
            <a:endParaRPr lang="en-US" altLang="zh-CN" sz="2400" dirty="0"/>
          </a:p>
        </p:txBody>
      </p:sp>
      <mc:AlternateContent xmlns:mc="http://schemas.openxmlformats.org/markup-compatibility/2006">
        <mc:Choice xmlns:a14="http://schemas.microsoft.com/office/drawing/2010/main" Requires="a14">
          <p:sp>
            <p:nvSpPr>
              <p:cNvPr id="7" name="QC_5_AS.27_1#5cbcb461e?vcp=1&amp;pid=e8672c0b4&amp;color=0,0,0&amp;vtp=1&amp;bbb=1&amp;hb=1"/>
              <p:cNvSpPr/>
              <p:nvPr/>
            </p:nvSpPr>
            <p:spPr>
              <a:xfrm>
                <a:off x="393192" y="2667317"/>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当电梯静止时，木块受到浮力、重力作用，设木块的质量为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，排开水的体积</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𝑽</m:t>
                        </m:r>
                      </m:e>
                      <m:sub>
                        <m:r>
                          <a:rPr lang="en-US" altLang="zh-CN" sz="2400" b="1" baseline="-10000">
                            <a:solidFill>
                              <a:srgbClr val="FF0000"/>
                            </a:solidFill>
                            <a:latin typeface="Cambria Math" panose="02040503050406030204" pitchFamily="18" charset="0"/>
                          </a:rPr>
                          <m:t>排</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，由平衡条件得</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baseline="-10000">
                            <a:solidFill>
                              <a:srgbClr val="FF0000"/>
                            </a:solidFill>
                            <a:latin typeface="Cambria Math" panose="02040503050406030204" pitchFamily="18" charset="0"/>
                          </a:rPr>
                          <m:t>浮</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𝝆</m:t>
                        </m:r>
                      </m:e>
                      <m:sub>
                        <m:r>
                          <a:rPr lang="en-US" altLang="zh-CN" sz="2400" b="1" baseline="-10000">
                            <a:solidFill>
                              <a:srgbClr val="FF0000"/>
                            </a:solidFill>
                            <a:latin typeface="Cambria Math" panose="02040503050406030204" pitchFamily="18" charset="0"/>
                          </a:rPr>
                          <m:t>水</m:t>
                        </m:r>
                      </m:sub>
                    </m:sSub>
                    <m:r>
                      <a:rPr lang="en-US" altLang="zh-CN" sz="2400" b="1" i="1">
                        <a:solidFill>
                          <a:srgbClr val="FF0000"/>
                        </a:solidFill>
                        <a:latin typeface="Cambria Math" pitchFamily="34" charset="0"/>
                        <a:ea typeface="Cambria Math" pitchFamily="34" charset="-122"/>
                        <a:cs typeface="Cambria Math" pitchFamily="34" charset="-120"/>
                      </a:rPr>
                      <m:t>𝒈</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𝑽</m:t>
                        </m:r>
                      </m:e>
                      <m:sub>
                        <m:r>
                          <a:rPr lang="en-US" altLang="zh-CN" sz="2400" b="1" baseline="-10000">
                            <a:solidFill>
                              <a:srgbClr val="FF0000"/>
                            </a:solidFill>
                            <a:latin typeface="Cambria Math" panose="02040503050406030204" pitchFamily="18" charset="0"/>
                          </a:rPr>
                          <m:t>排</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，所以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𝝆</m:t>
                        </m:r>
                      </m:e>
                      <m:sub>
                        <m:r>
                          <a:rPr lang="en-US" altLang="zh-CN" sz="2400" b="1" baseline="-10000">
                            <a:solidFill>
                              <a:srgbClr val="FF0000"/>
                            </a:solidFill>
                            <a:latin typeface="Cambria Math" panose="02040503050406030204" pitchFamily="18" charset="0"/>
                          </a:rPr>
                          <m:t>水</m:t>
                        </m:r>
                      </m:sub>
                    </m:sSub>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𝑽</m:t>
                        </m:r>
                      </m:e>
                      <m:sub>
                        <m:r>
                          <a:rPr lang="en-US" altLang="zh-CN" sz="2400" b="1" baseline="-10000">
                            <a:solidFill>
                              <a:srgbClr val="FF0000"/>
                            </a:solidFill>
                            <a:latin typeface="Cambria Math" panose="02040503050406030204" pitchFamily="18" charset="0"/>
                          </a:rPr>
                          <m:t>排</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当电梯匀加速上升时，</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木块仍受到浮力</a:t>
                </a:r>
                <a:r>
                  <a:rPr lang="en-US" altLang="zh-CN" sz="2400" b="1" i="0" dirty="0">
                    <a:solidFill>
                      <a:srgbClr val="FF0000"/>
                    </a:solidFill>
                    <a:latin typeface="Times New Roman" pitchFamily="34" charset="0"/>
                    <a:ea typeface="微软雅黑" pitchFamily="34" charset="-122"/>
                    <a:cs typeface="Times New Roman" pitchFamily="34" charset="-120"/>
                  </a:rPr>
                  <a:t>、重力作用，设此时木块排开水的体积为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𝑽</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排</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，由牛顿第二定律得</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浮</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𝒎𝒂</m:t>
                    </m:r>
                  </m:oMath>
                </a14:m>
                <a:r>
                  <a:rPr lang="en-US" altLang="zh-CN" sz="2400" b="1" i="0" dirty="0">
                    <a:solidFill>
                      <a:srgbClr val="FF0000"/>
                    </a:solidFill>
                    <a:latin typeface="Times New Roman" pitchFamily="34" charset="0"/>
                    <a:ea typeface="微软雅黑" pitchFamily="34" charset="-122"/>
                    <a:cs typeface="Times New Roman" pitchFamily="34" charset="-120"/>
                  </a:rPr>
                  <a:t>，又</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浮</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𝝆</m:t>
                        </m:r>
                      </m:e>
                      <m:sub>
                        <m:r>
                          <a:rPr lang="en-US" altLang="zh-CN" sz="2400" b="1" baseline="-10000">
                            <a:solidFill>
                              <a:srgbClr val="FF0000"/>
                            </a:solidFill>
                            <a:latin typeface="Cambria Math" panose="02040503050406030204" pitchFamily="18" charset="0"/>
                          </a:rPr>
                          <m:t>水</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𝑽</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排</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，所以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𝝆</m:t>
                        </m:r>
                      </m:e>
                      <m:sub>
                        <m:r>
                          <a:rPr lang="en-US" altLang="zh-CN" sz="2400" b="1" baseline="-10000">
                            <a:solidFill>
                              <a:srgbClr val="FF0000"/>
                            </a:solidFill>
                            <a:latin typeface="Cambria Math" panose="02040503050406030204" pitchFamily="18" charset="0"/>
                          </a:rPr>
                          <m:t>水</m:t>
                        </m:r>
                      </m:sub>
                    </m:sSub>
                    <m:r>
                      <a:rPr lang="en-US" altLang="zh-CN" sz="2400" b="1" i="1">
                        <a:solidFill>
                          <a:srgbClr val="FF0000"/>
                        </a:solidFill>
                        <a:latin typeface="Cambria Math" pitchFamily="34" charset="0"/>
                        <a:ea typeface="Cambria Math" pitchFamily="34" charset="-122"/>
                        <a:cs typeface="Cambria Math" pitchFamily="34" charset="-120"/>
                      </a:rPr>
                      <m:t>𝑽</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排</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𝒎</m:t>
                    </m:r>
                  </m:oMath>
                </a14:m>
                <a:r>
                  <a:rPr lang="en-US" altLang="zh-CN" sz="2400" b="1" i="0" dirty="0">
                    <a:solidFill>
                      <a:srgbClr val="FF0000"/>
                    </a:solidFill>
                    <a:latin typeface="Times New Roman" pitchFamily="34" charset="0"/>
                    <a:ea typeface="微软雅黑" pitchFamily="34" charset="-122"/>
                    <a:cs typeface="Times New Roman" pitchFamily="34" charset="-120"/>
                  </a:rPr>
                  <a:t>.可知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𝑽</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baseline="-10000">
                            <a:solidFill>
                              <a:srgbClr val="FF0000"/>
                            </a:solidFill>
                            <a:latin typeface="Cambria Math" panose="02040503050406030204" pitchFamily="18" charset="0"/>
                          </a:rPr>
                          <m:t>排</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𝑽</m:t>
                        </m:r>
                      </m:e>
                      <m:sub>
                        <m:r>
                          <a:rPr lang="en-US" altLang="zh-CN" sz="2400" b="1" baseline="-10000">
                            <a:solidFill>
                              <a:srgbClr val="FF0000"/>
                            </a:solidFill>
                            <a:latin typeface="Cambria Math" panose="02040503050406030204" pitchFamily="18" charset="0"/>
                          </a:rPr>
                          <m:t>排</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，即电梯</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匀加速上升时木块浸入水中的深度不变</a:t>
                </a:r>
                <a:r>
                  <a:rPr lang="en-US" altLang="zh-CN" sz="2400" b="1" i="0" dirty="0">
                    <a:solidFill>
                      <a:srgbClr val="FF0000"/>
                    </a:solidFill>
                    <a:latin typeface="Times New Roman" pitchFamily="34" charset="0"/>
                    <a:ea typeface="微软雅黑" pitchFamily="34" charset="-122"/>
                    <a:cs typeface="Times New Roman" pitchFamily="34" charset="-120"/>
                  </a:rPr>
                  <a:t>，C正确.</a:t>
                </a:r>
                <a:endParaRPr lang="en-US" altLang="zh-CN" sz="2400" dirty="0"/>
              </a:p>
            </p:txBody>
          </p:sp>
        </mc:Choice>
        <mc:Fallback>
          <p:sp>
            <p:nvSpPr>
              <p:cNvPr id="7" name="QC_5_AS.27_1#5cbcb461e?vcp=1&amp;pid=e8672c0b4&amp;color=0,0,0&amp;vtp=1&amp;bbb=1&amp;hb=1"/>
              <p:cNvSpPr>
                <a:spLocks noRot="1" noChangeAspect="1" noMove="1" noResize="1" noEditPoints="1" noAdjustHandles="1" noChangeArrowheads="1" noChangeShapeType="1" noTextEdit="1"/>
              </p:cNvSpPr>
              <p:nvPr/>
            </p:nvSpPr>
            <p:spPr>
              <a:xfrm>
                <a:off x="393192" y="2667317"/>
                <a:ext cx="11402568" cy="2713800"/>
              </a:xfrm>
              <a:prstGeom prst="rect">
                <a:avLst/>
              </a:prstGeom>
              <a:blipFill>
                <a:blip r:embed="rId4"/>
                <a:stretch>
                  <a:fillRect l="-1658" r="-909" b="-651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wipe(left)">
                                      <p:cBhvr>
                                        <p:cTn id="15" dur="500"/>
                                        <p:tgtEl>
                                          <p:spTgt spid="7">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left)">
                                      <p:cBhvr>
                                        <p:cTn id="18" dur="500"/>
                                        <p:tgtEl>
                                          <p:spTgt spid="7">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wipe(left)">
                                      <p:cBhvr>
                                        <p:cTn id="21" dur="500"/>
                                        <p:tgtEl>
                                          <p:spTgt spid="7">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wipe(left)">
                                      <p:cBhvr>
                                        <p:cTn id="24" dur="500"/>
                                        <p:tgtEl>
                                          <p:spTgt spid="7">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left)">
                                      <p:cBhvr>
                                        <p:cTn id="27" dur="500"/>
                                        <p:tgtEl>
                                          <p:spTgt spid="7">
                                            <p:txEl>
                                              <p:pRg st="3" end="3"/>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wipe(left)">
                                      <p:cBhvr>
                                        <p:cTn id="3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p:sp>
        <p:nvSpPr>
          <p:cNvPr id="2" name="QC_5_EX.28_1#5cbcb461e?vcp=1&amp;pid=e8672c0b4&amp;color=0,0,0&amp;vtp=1&amp;bt=1&amp;bbb=1&amp;hb=1"/>
          <p:cNvSpPr/>
          <p:nvPr/>
        </p:nvSpPr>
        <p:spPr>
          <a:xfrm>
            <a:off x="393192" y="208035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一些同学易出现这样的错解</a:t>
            </a:r>
            <a:r>
              <a:rPr lang="en-US" altLang="zh-CN" sz="2400" b="0" i="0" dirty="0">
                <a:solidFill>
                  <a:srgbClr val="000000"/>
                </a:solidFill>
                <a:latin typeface="Times New Roman" pitchFamily="34" charset="0"/>
                <a:ea typeface="微软雅黑" pitchFamily="34" charset="-122"/>
                <a:cs typeface="Times New Roman" pitchFamily="34" charset="-120"/>
              </a:rPr>
              <a:t>：当电梯向上做匀加速运动时，</a:t>
            </a:r>
            <a:r>
              <a:rPr lang="en-US" altLang="zh-CN" sz="2400" b="0" i="0">
                <a:solidFill>
                  <a:srgbClr val="000000"/>
                </a:solidFill>
                <a:latin typeface="Times New Roman" pitchFamily="34" charset="0"/>
                <a:ea typeface="微软雅黑" pitchFamily="34" charset="-122"/>
                <a:cs typeface="Times New Roman" pitchFamily="34" charset="-120"/>
              </a:rPr>
              <a:t>木块处于超重状态，</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木块对水的压力变大</a:t>
            </a:r>
            <a:r>
              <a:rPr lang="en-US" altLang="zh-CN" sz="2400" b="0" i="0" dirty="0">
                <a:solidFill>
                  <a:srgbClr val="000000"/>
                </a:solidFill>
                <a:latin typeface="Times New Roman" pitchFamily="34" charset="0"/>
                <a:ea typeface="微软雅黑" pitchFamily="34" charset="-122"/>
                <a:cs typeface="Times New Roman" pitchFamily="34" charset="-120"/>
              </a:rPr>
              <a:t>，浸入水中的深度变深，错选B</a:t>
            </a:r>
            <a:r>
              <a:rPr lang="en-US" altLang="zh-CN" sz="2400" b="0" i="0">
                <a:solidFill>
                  <a:srgbClr val="000000"/>
                </a:solidFill>
                <a:latin typeface="Times New Roman" pitchFamily="34" charset="0"/>
                <a:ea typeface="微软雅黑" pitchFamily="34" charset="-122"/>
                <a:cs typeface="Times New Roman" pitchFamily="34" charset="-120"/>
              </a:rPr>
              <a:t>.解题时应根据平衡条件和牛顿第</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二定律</a:t>
            </a:r>
            <a:r>
              <a:rPr lang="en-US" altLang="zh-CN" sz="2400" b="0" i="0" dirty="0">
                <a:solidFill>
                  <a:srgbClr val="000000"/>
                </a:solidFill>
                <a:latin typeface="Times New Roman" pitchFamily="34" charset="0"/>
                <a:ea typeface="微软雅黑" pitchFamily="34" charset="-122"/>
                <a:cs typeface="Times New Roman" pitchFamily="34" charset="-120"/>
              </a:rPr>
              <a:t>，分别列出木块排开液体的体积表达式，再进行比较</a:t>
            </a:r>
            <a:r>
              <a:rPr lang="en-US" altLang="zh-CN" sz="2400" b="0" i="0">
                <a:solidFill>
                  <a:srgbClr val="000000"/>
                </a:solidFill>
                <a:latin typeface="Times New Roman" pitchFamily="34" charset="0"/>
                <a:ea typeface="微软雅黑" pitchFamily="34" charset="-122"/>
                <a:cs typeface="Times New Roman" pitchFamily="34" charset="-120"/>
              </a:rPr>
              <a:t>，就能得出木块相对于水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面的位置变化</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
        <p:nvSpPr>
          <p:cNvPr id="2" name="C_3_BD#94b78efd0?vcp=1&amp;pid=517c473e9&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拓展考点突破练</a:t>
            </a:r>
            <a:endParaRPr lang="en-US" altLang="zh-CN" sz="2600" dirty="0"/>
          </a:p>
        </p:txBody>
      </p:sp>
      <p:sp>
        <p:nvSpPr>
          <p:cNvPr id="3" name="P_4_BD#9c845ec0e?vcp=1&amp;pid=94b78efd0&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mc:AlternateContent xmlns:mc="http://schemas.openxmlformats.org/markup-compatibility/2006">
        <mc:Choice xmlns:a14="http://schemas.microsoft.com/office/drawing/2010/main" Requires="a14">
          <p:sp>
            <p:nvSpPr>
              <p:cNvPr id="4" name="QC_4_BD.29_1#09f8fd0bd?vcp=1&amp;pid=94b78efd0&amp;color=0,0,0&amp;vtp=1&amp;bbb=1&amp;hb=1"/>
              <p:cNvSpPr/>
              <p:nvPr/>
            </p:nvSpPr>
            <p:spPr>
              <a:xfrm>
                <a:off x="393192" y="1649285"/>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1E5A99"/>
                    </a:solidFill>
                    <a:latin typeface="KaiTi" pitchFamily="34" charset="0"/>
                    <a:ea typeface="KaiTi" pitchFamily="34" charset="-122"/>
                    <a:cs typeface="KaiTi" pitchFamily="34" charset="-120"/>
                  </a:rPr>
                  <a:t>（复旦大学自主招生）</a:t>
                </a:r>
                <a:r>
                  <a:rPr lang="en-US" altLang="zh-CN" sz="2400" b="0" i="0" dirty="0">
                    <a:solidFill>
                      <a:srgbClr val="000000"/>
                    </a:solidFill>
                    <a:latin typeface="Times New Roman" pitchFamily="34" charset="0"/>
                    <a:ea typeface="微软雅黑" pitchFamily="34" charset="-122"/>
                    <a:cs typeface="Times New Roman" pitchFamily="34" charset="-120"/>
                  </a:rPr>
                  <a:t>一质量可以忽略的光滑滑轮挂在弹簧测力计下</a:t>
                </a:r>
                <a:r>
                  <a:rPr lang="en-US" altLang="zh-CN" sz="2400" b="0" i="0">
                    <a:solidFill>
                      <a:srgbClr val="000000"/>
                    </a:solidFill>
                    <a:latin typeface="Times New Roman" pitchFamily="34" charset="0"/>
                    <a:ea typeface="微软雅黑" pitchFamily="34" charset="-122"/>
                    <a:cs typeface="Times New Roman" pitchFamily="34" charset="-120"/>
                  </a:rPr>
                  <a:t>，质量</a:t>
                </a:r>
              </a:p>
              <a:p>
                <a:pPr latinLnBrk="1">
                  <a:lnSpc>
                    <a:spcPts val="44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𝑚</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的两重物分别拴在跨过滑轮的细绳两端</a:t>
                </a:r>
                <a:r>
                  <a:rPr lang="en-US" altLang="zh-CN" sz="2400" b="0" i="0">
                    <a:solidFill>
                      <a:srgbClr val="000000"/>
                    </a:solidFill>
                    <a:latin typeface="Times New Roman" pitchFamily="34" charset="0"/>
                    <a:ea typeface="微软雅黑" pitchFamily="34" charset="-122"/>
                    <a:cs typeface="Times New Roman" pitchFamily="34" charset="-120"/>
                  </a:rPr>
                  <a:t>，并由于重力作用而加</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速运动</a:t>
                </a:r>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,重物在运动过程中，</a:t>
                </a:r>
                <a:r>
                  <a:rPr lang="en-US" altLang="zh-CN" sz="2400" b="0" i="0">
                    <a:solidFill>
                      <a:srgbClr val="000000"/>
                    </a:solidFill>
                    <a:latin typeface="Times New Roman" pitchFamily="34" charset="0"/>
                    <a:ea typeface="微软雅黑" pitchFamily="34" charset="-122"/>
                    <a:cs typeface="Times New Roman" pitchFamily="34" charset="-120"/>
                  </a:rPr>
                  <a:t>弹簧测力计的(</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C_4_BD.29_1#09f8fd0bd?vcp=1&amp;pid=94b78efd0&amp;color=0,0,0&amp;vtp=1&amp;bbb=1&amp;hb=1"/>
              <p:cNvSpPr>
                <a:spLocks noRot="1" noChangeAspect="1" noMove="1" noResize="1" noEditPoints="1" noAdjustHandles="1" noChangeArrowheads="1" noChangeShapeType="1" noTextEdit="1"/>
              </p:cNvSpPr>
              <p:nvPr/>
            </p:nvSpPr>
            <p:spPr>
              <a:xfrm>
                <a:off x="393192" y="1649285"/>
                <a:ext cx="11402568" cy="1592199"/>
              </a:xfrm>
              <a:prstGeom prst="rect">
                <a:avLst/>
              </a:prstGeom>
              <a:blipFill>
                <a:blip r:embed="rId3"/>
                <a:stretch>
                  <a:fillRect l="-1658" b="-11494"/>
                </a:stretch>
              </a:blipFill>
              <a:ln/>
            </p:spPr>
            <p:txBody>
              <a:bodyPr/>
              <a:lstStyle/>
              <a:p>
                <a:r>
                  <a:rPr lang="zh-CN" altLang="en-US">
                    <a:noFill/>
                  </a:rPr>
                  <a:t> </a:t>
                </a:r>
              </a:p>
            </p:txBody>
          </p:sp>
        </mc:Fallback>
      </mc:AlternateContent>
      <p:sp>
        <p:nvSpPr>
          <p:cNvPr id="5" name="QC_4_AN.30_1#09f8fd0bd.bracket?vcp=1&amp;pid=94b78efd0&amp;color=0,0,0&amp;vpa=11&amp;vtp=1"/>
          <p:cNvSpPr/>
          <p:nvPr/>
        </p:nvSpPr>
        <p:spPr>
          <a:xfrm>
            <a:off x="8245697" y="275545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mc:AlternateContent xmlns:mc="http://schemas.openxmlformats.org/markup-compatibility/2006">
        <mc:Choice xmlns:a14="http://schemas.microsoft.com/office/drawing/2010/main" Requires="a14">
          <p:sp>
            <p:nvSpPr>
              <p:cNvPr id="6" name="QC_4_BD.29_2#09f8fd0bd.choices?vcp=1&amp;pid=94b78efd0&amp;color=0,0,0&amp;vtp=1&amp;bbb=1"/>
              <p:cNvSpPr/>
              <p:nvPr/>
            </p:nvSpPr>
            <p:spPr>
              <a:xfrm>
                <a:off x="393192" y="3241675"/>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A.读数小于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.读数等于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.读数大于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.指针在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刻度上下摆动</a:t>
                </a:r>
                <a:endParaRPr lang="en-US" altLang="zh-CN" sz="2400" dirty="0"/>
              </a:p>
            </p:txBody>
          </p:sp>
        </mc:Choice>
        <mc:Fallback>
          <p:sp>
            <p:nvSpPr>
              <p:cNvPr id="6" name="QC_4_BD.29_2#09f8fd0bd.choices?vcp=1&amp;pid=94b78efd0&amp;color=0,0,0&amp;vtp=1&amp;bbb=1"/>
              <p:cNvSpPr>
                <a:spLocks noRot="1" noChangeAspect="1" noMove="1" noResize="1" noEditPoints="1" noAdjustHandles="1" noChangeArrowheads="1" noChangeShapeType="1" noTextEdit="1"/>
              </p:cNvSpPr>
              <p:nvPr/>
            </p:nvSpPr>
            <p:spPr>
              <a:xfrm>
                <a:off x="393192" y="3241675"/>
                <a:ext cx="11402568" cy="1033399"/>
              </a:xfrm>
              <a:prstGeom prst="rect">
                <a:avLst/>
              </a:prstGeom>
              <a:blipFill>
                <a:blip r:embed="rId4"/>
                <a:stretch>
                  <a:fillRect l="-1658" b="-17751"/>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QC_4_AS.31_1#09f8fd0bd?vcp=1&amp;pid=94b78efd0&amp;color=0,0,0&amp;vtp=1&amp;bbb=1&amp;hb=1"/>
              <p:cNvSpPr/>
              <p:nvPr/>
            </p:nvSpPr>
            <p:spPr>
              <a:xfrm>
                <a:off x="393192" y="4281805"/>
                <a:ext cx="11402568" cy="1273302"/>
              </a:xfrm>
              <a:prstGeom prst="rect">
                <a:avLst/>
              </a:prstGeom>
              <a:noFill/>
              <a:ln/>
            </p:spPr>
            <p:txBody>
              <a:bodyPr wrap="none" lIns="0" tIns="0" rIns="0" bIns="0" rtlCol="0" anchor="t"/>
              <a:lstStyle/>
              <a:p>
                <a:pPr algn="l" latinLnBrk="1">
                  <a:lnSpc>
                    <a:spcPts val="50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两物体均做匀加速运动，加速度的大小为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𝟐𝟎</m:t>
                        </m:r>
                      </m:num>
                      <m:den>
                        <m:r>
                          <a:rPr lang="en-US" altLang="zh-CN" sz="2400" b="1" i="1">
                            <a:solidFill>
                              <a:srgbClr val="FF0000"/>
                            </a:solidFill>
                            <a:latin typeface="Cambria Math" pitchFamily="34" charset="0"/>
                            <a:ea typeface="Cambria Math" pitchFamily="34" charset="-122"/>
                            <a:cs typeface="Cambria Math" pitchFamily="34" charset="-120"/>
                          </a:rPr>
                          <m:t>𝟑</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而言，</a:t>
                </a:r>
              </a:p>
              <a:p>
                <a:pPr latinLnBrk="1">
                  <a:lnSpc>
                    <a:spcPts val="5300"/>
                  </a:lnSpc>
                </a:pPr>
                <a:r>
                  <a:rPr lang="en-US" altLang="zh-CN" sz="2400" b="1" i="0">
                    <a:solidFill>
                      <a:srgbClr val="FF0000"/>
                    </a:solidFill>
                    <a:latin typeface="Times New Roman" pitchFamily="34" charset="0"/>
                    <a:ea typeface="微软雅黑" pitchFamily="34" charset="-122"/>
                    <a:cs typeface="Times New Roman" pitchFamily="34" charset="-120"/>
                  </a:rPr>
                  <a:t>由牛顿第二定律有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1">
                        <a:solidFill>
                          <a:srgbClr val="FF0000"/>
                        </a:solidFill>
                        <a:latin typeface="Cambria Math" pitchFamily="34" charset="0"/>
                        <a:ea typeface="Cambria Math" pitchFamily="34" charset="-122"/>
                        <a:cs typeface="Cambria Math" pitchFamily="34" charset="-120"/>
                      </a:rPr>
                      <m:t>𝒂</m:t>
                    </m:r>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𝟓𝟎</m:t>
                        </m:r>
                      </m:num>
                      <m:den>
                        <m:r>
                          <a:rPr lang="en-US" altLang="zh-CN" sz="2400" b="1" i="1">
                            <a:solidFill>
                              <a:srgbClr val="FF0000"/>
                            </a:solidFill>
                            <a:latin typeface="Cambria Math" pitchFamily="34" charset="0"/>
                            <a:ea typeface="Cambria Math" pitchFamily="34" charset="-122"/>
                            <a:cs typeface="Cambria Math" pitchFamily="34" charset="-120"/>
                          </a:rPr>
                          <m:t>𝟑</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.故弹簧秤的读数为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𝟏𝟎𝟎</m:t>
                        </m:r>
                      </m:num>
                      <m:den>
                        <m:r>
                          <a:rPr lang="en-US" altLang="zh-CN" sz="2400" b="1" i="1">
                            <a:solidFill>
                              <a:srgbClr val="FF0000"/>
                            </a:solidFill>
                            <a:latin typeface="Cambria Math" pitchFamily="34" charset="0"/>
                            <a:ea typeface="Cambria Math" pitchFamily="34" charset="-122"/>
                            <a:cs typeface="Cambria Math" pitchFamily="34" charset="-120"/>
                          </a:rPr>
                          <m:t>𝟑</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,故选A.</a:t>
                </a:r>
                <a:endParaRPr lang="en-US" altLang="zh-CN" sz="2400" dirty="0"/>
              </a:p>
            </p:txBody>
          </p:sp>
        </mc:Choice>
        <mc:Fallback>
          <p:sp>
            <p:nvSpPr>
              <p:cNvPr id="7" name="QC_4_AS.31_1#09f8fd0bd?vcp=1&amp;pid=94b78efd0&amp;color=0,0,0&amp;vtp=1&amp;bbb=1&amp;hb=1"/>
              <p:cNvSpPr>
                <a:spLocks noRot="1" noChangeAspect="1" noMove="1" noResize="1" noEditPoints="1" noAdjustHandles="1" noChangeArrowheads="1" noChangeShapeType="1" noTextEdit="1"/>
              </p:cNvSpPr>
              <p:nvPr/>
            </p:nvSpPr>
            <p:spPr>
              <a:xfrm>
                <a:off x="393192" y="4281805"/>
                <a:ext cx="11402568" cy="1273302"/>
              </a:xfrm>
              <a:prstGeom prst="rect">
                <a:avLst/>
              </a:prstGeom>
              <a:blipFill>
                <a:blip r:embed="rId5"/>
                <a:stretch>
                  <a:fillRect l="-1658" r="-2620" b="-813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wipe(left)">
                                      <p:cBhvr>
                                        <p:cTn id="15" dur="500"/>
                                        <p:tgtEl>
                                          <p:spTgt spid="7">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left)">
                                      <p:cBhvr>
                                        <p:cTn id="18" dur="500"/>
                                        <p:tgtEl>
                                          <p:spTgt spid="7">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wipe(left)">
                                      <p:cBhvr>
                                        <p:cTn id="21"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1112</Words>
  <Application>Microsoft Office PowerPoint</Application>
  <PresentationFormat>宽屏</PresentationFormat>
  <Paragraphs>153</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2026-05-25T07:59:45Z</dcterms:created>
  <dcterms:modified xsi:type="dcterms:W3CDTF">2026-05-25T08:08:20Z</dcterms:modified>
  <cp:category/>
  <cp:contentStatus/>
</cp:coreProperties>
</file>