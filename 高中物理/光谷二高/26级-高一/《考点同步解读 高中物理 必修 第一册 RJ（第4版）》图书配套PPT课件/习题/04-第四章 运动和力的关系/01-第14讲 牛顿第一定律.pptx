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5" d="100"/>
          <a:sy n="65" d="100"/>
        </p:scale>
        <p:origin x="72" y="3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61383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slide" Target="../slides/slide3.xml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slide" Target="../slides/slide5.xml"/><Relationship Id="rId4" Type="http://schemas.openxmlformats.org/officeDocument/2006/relationships/slide" Target="../slides/slide4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slide" Target="../slides/slide6.xml"/><Relationship Id="rId7" Type="http://schemas.openxmlformats.org/officeDocument/2006/relationships/slide" Target="../slides/slide11.xml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6" Type="http://schemas.openxmlformats.org/officeDocument/2006/relationships/slide" Target="../slides/slide10.xml"/><Relationship Id="rId5" Type="http://schemas.openxmlformats.org/officeDocument/2006/relationships/slide" Target="../slides/slide9.xml"/><Relationship Id="rId4" Type="http://schemas.openxmlformats.org/officeDocument/2006/relationships/slide" Target="../slides/slide7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2.xml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slide" Target="../slides/slide3.xml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slide" Target="../slides/slide5.xml"/><Relationship Id="rId4" Type="http://schemas.openxmlformats.org/officeDocument/2006/relationships/slide" Target="../slides/slide4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slide" Target="../slides/slide6.xml"/><Relationship Id="rId7" Type="http://schemas.openxmlformats.org/officeDocument/2006/relationships/slide" Target="../slides/slide11.xml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6" Type="http://schemas.openxmlformats.org/officeDocument/2006/relationships/slide" Target="../slides/slide10.xml"/><Relationship Id="rId5" Type="http://schemas.openxmlformats.org/officeDocument/2006/relationships/slide" Target="../slides/slide9.xml"/><Relationship Id="rId4" Type="http://schemas.openxmlformats.org/officeDocument/2006/relationships/slide" Target="../slides/slide7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2.xml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exin?subject=physics#pid=6a0d1e823a58ca644f0d6f43#tid=6a13f52f736a60ac3496b25f#sourcefrom=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MasterShapeName"/>
          <p:cNvSpPr/>
          <p:nvPr/>
        </p:nvSpPr>
        <p:spPr>
          <a:xfrm>
            <a:off x="1261872" y="1078992"/>
            <a:ext cx="7196328" cy="1581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8800" b="1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考点同步解读</a:t>
            </a:r>
            <a:endParaRPr lang="en-US" sz="8800" dirty="0"/>
          </a:p>
        </p:txBody>
      </p:sp>
      <p:sp>
        <p:nvSpPr>
          <p:cNvPr id="4" name="MasterShapeName"/>
          <p:cNvSpPr/>
          <p:nvPr/>
        </p:nvSpPr>
        <p:spPr>
          <a:xfrm>
            <a:off x="1581912" y="2770632"/>
            <a:ext cx="68397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3400" b="1" i="0" dirty="0">
                <a:solidFill>
                  <a:srgbClr val="FFFFFF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高中物理 必修 第一册 RJ</a:t>
            </a:r>
            <a:endParaRPr lang="en-US" sz="34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MasterShapeName"/>
          <p:cNvSpPr/>
          <p:nvPr/>
        </p:nvSpPr>
        <p:spPr>
          <a:xfrm>
            <a:off x="283464" y="36576"/>
            <a:ext cx="19110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2400" b="1" i="0" dirty="0">
                <a:solidFill>
                  <a:srgbClr val="FFFFFF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考点同步解读</a:t>
            </a:r>
            <a:endParaRPr lang="en-US" sz="2400" dirty="0"/>
          </a:p>
        </p:txBody>
      </p:sp>
      <p:sp>
        <p:nvSpPr>
          <p:cNvPr id="4" name="MasterShapeName"/>
          <p:cNvSpPr/>
          <p:nvPr/>
        </p:nvSpPr>
        <p:spPr>
          <a:xfrm>
            <a:off x="2340864" y="146304"/>
            <a:ext cx="36027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600" b="1" i="0" dirty="0">
                <a:solidFill>
                  <a:srgbClr val="FFFFFF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高中物理 必修 第一册 RJ</a:t>
            </a:r>
            <a:endParaRPr lang="en-US" sz="160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MasterShapeName"/>
          <p:cNvSpPr/>
          <p:nvPr/>
        </p:nvSpPr>
        <p:spPr>
          <a:xfrm>
            <a:off x="283464" y="54864"/>
            <a:ext cx="61173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800" b="1" i="0" dirty="0">
                <a:solidFill>
                  <a:srgbClr val="0070C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《考点同步解读 高中物理 必修 第一册 RJ》</a:t>
            </a:r>
            <a:endParaRPr lang="en-US" sz="1800" dirty="0"/>
          </a:p>
        </p:txBody>
      </p:sp>
      <p:sp>
        <p:nvSpPr>
          <p:cNvPr id="4" name="MasterShapeName"/>
          <p:cNvSpPr/>
          <p:nvPr/>
        </p:nvSpPr>
        <p:spPr>
          <a:xfrm>
            <a:off x="4681728" y="54864"/>
            <a:ext cx="7196328" cy="356616"/>
          </a:xfrm>
          <a:prstGeom prst="rect">
            <a:avLst/>
          </a:prstGeom>
          <a:noFill/>
          <a:ln/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ck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内容#mc=目录配置1#a1f4ab335,a1f4ab335,ab3d0c6a4,2efea2f6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MasterShapeName"/>
          <p:cNvSpPr/>
          <p:nvPr/>
        </p:nvSpPr>
        <p:spPr>
          <a:xfrm>
            <a:off x="283464" y="54864"/>
            <a:ext cx="61173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800" b="1" i="0" dirty="0">
                <a:solidFill>
                  <a:srgbClr val="0070C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《考点同步解读 高中物理 必修 第一册 RJ》</a:t>
            </a:r>
            <a:endParaRPr lang="en-US" sz="1800" dirty="0"/>
          </a:p>
        </p:txBody>
      </p:sp>
      <p:sp>
        <p:nvSpPr>
          <p:cNvPr id="4" name="MasterShapeName"/>
          <p:cNvSpPr/>
          <p:nvPr/>
        </p:nvSpPr>
        <p:spPr>
          <a:xfrm>
            <a:off x="4681728" y="54864"/>
            <a:ext cx="7196328" cy="356616"/>
          </a:xfrm>
          <a:prstGeom prst="rect">
            <a:avLst/>
          </a:prstGeom>
          <a:noFill/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C_0#auto_editor_catalog_0?lid=ae5d4d793&amp;amp;cid=ae5d4d793&amp;amp;vtp=1">
            <a:hlinkClick r:id="rId3" action="ppaction://hlinksldjump"/>
          </p:cNvPr>
          <p:cNvSpPr/>
          <p:nvPr/>
        </p:nvSpPr>
        <p:spPr>
          <a:xfrm>
            <a:off x="5321808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C_0#auto_editor_catalog_0?lid=a950163a4&amp;amp;cid=a950163a4&amp;amp;vtp=1">
            <a:hlinkClick r:id="rId4" action="ppaction://hlinksldjump"/>
          </p:cNvPr>
          <p:cNvSpPr/>
          <p:nvPr/>
        </p:nvSpPr>
        <p:spPr>
          <a:xfrm>
            <a:off x="5861304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2</a:t>
            </a:r>
            <a:endParaRPr lang="en-US" sz="1600" dirty="0"/>
          </a:p>
        </p:txBody>
      </p:sp>
      <p:sp>
        <p:nvSpPr>
          <p:cNvPr id="7" name="C_0#auto_editor_catalog_0?lid=4351daef0&amp;amp;cid=4351daef0&amp;amp;vtp=1">
            <a:hlinkClick r:id="rId5" action="ppaction://hlinksldjump"/>
          </p:cNvPr>
          <p:cNvSpPr/>
          <p:nvPr/>
        </p:nvSpPr>
        <p:spPr>
          <a:xfrm>
            <a:off x="6400800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3</a:t>
            </a:r>
            <a:endParaRPr lang="en-US" sz="1600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内容#mc=目录配置1#a1f4ab335,77a88c3c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MasterShapeName"/>
          <p:cNvSpPr/>
          <p:nvPr/>
        </p:nvSpPr>
        <p:spPr>
          <a:xfrm>
            <a:off x="283464" y="54864"/>
            <a:ext cx="61173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800" b="1" i="0" dirty="0">
                <a:solidFill>
                  <a:srgbClr val="0070C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《考点同步解读 高中物理 必修 第一册 RJ》</a:t>
            </a:r>
            <a:endParaRPr lang="en-US" sz="1800" dirty="0"/>
          </a:p>
        </p:txBody>
      </p:sp>
      <p:sp>
        <p:nvSpPr>
          <p:cNvPr id="4" name="MasterShapeName"/>
          <p:cNvSpPr/>
          <p:nvPr/>
        </p:nvSpPr>
        <p:spPr>
          <a:xfrm>
            <a:off x="4681728" y="54864"/>
            <a:ext cx="7196328" cy="356616"/>
          </a:xfrm>
          <a:prstGeom prst="rect">
            <a:avLst/>
          </a:prstGeom>
          <a:noFill/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C_0#auto_editor_catalog_4?lid=b57109d2a&amp;amp;cid=b57109d2a&amp;amp;vtp=1">
            <a:hlinkClick r:id="rId3" action="ppaction://hlinksldjump"/>
          </p:cNvPr>
          <p:cNvSpPr/>
          <p:nvPr/>
        </p:nvSpPr>
        <p:spPr>
          <a:xfrm>
            <a:off x="4782312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C_0#auto_editor_catalog_4?lid=47f84d133&amp;amp;cid=47f84d133&amp;amp;vtp=1">
            <a:hlinkClick r:id="rId4" action="ppaction://hlinksldjump"/>
          </p:cNvPr>
          <p:cNvSpPr/>
          <p:nvPr/>
        </p:nvSpPr>
        <p:spPr>
          <a:xfrm>
            <a:off x="5321808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2</a:t>
            </a:r>
            <a:endParaRPr lang="en-US" sz="1600" dirty="0"/>
          </a:p>
        </p:txBody>
      </p:sp>
      <p:sp>
        <p:nvSpPr>
          <p:cNvPr id="7" name="C_0#auto_editor_catalog_4?lid=94476e536&amp;amp;cid=94476e536&amp;amp;vtp=1">
            <a:hlinkClick r:id="rId5" action="ppaction://hlinksldjump"/>
          </p:cNvPr>
          <p:cNvSpPr/>
          <p:nvPr/>
        </p:nvSpPr>
        <p:spPr>
          <a:xfrm>
            <a:off x="5861304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3</a:t>
            </a:r>
            <a:endParaRPr lang="en-US" sz="1600" dirty="0"/>
          </a:p>
        </p:txBody>
      </p:sp>
      <p:sp>
        <p:nvSpPr>
          <p:cNvPr id="8" name="C_0#auto_editor_catalog_4?lid=7bdf12c40&amp;amp;cid=7bdf12c40&amp;amp;vtp=1">
            <a:hlinkClick r:id="rId6" action="ppaction://hlinksldjump"/>
          </p:cNvPr>
          <p:cNvSpPr/>
          <p:nvPr/>
        </p:nvSpPr>
        <p:spPr>
          <a:xfrm>
            <a:off x="6400800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4</a:t>
            </a:r>
            <a:endParaRPr lang="en-US" sz="1600" dirty="0"/>
          </a:p>
        </p:txBody>
      </p:sp>
      <p:sp>
        <p:nvSpPr>
          <p:cNvPr id="9" name="C_0#auto_editor_catalog_4?lid=275eb8b6f&amp;amp;cid=275eb8b6f&amp;amp;vtp=1">
            <a:hlinkClick r:id="rId7" action="ppaction://hlinksldjump"/>
          </p:cNvPr>
          <p:cNvSpPr/>
          <p:nvPr/>
        </p:nvSpPr>
        <p:spPr>
          <a:xfrm>
            <a:off x="6940296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5</a:t>
            </a:r>
            <a:endParaRPr lang="en-US" sz="1600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内容#mc=目录配置1#a1f4ab335,cb3dafbe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MasterShapeName"/>
          <p:cNvSpPr/>
          <p:nvPr/>
        </p:nvSpPr>
        <p:spPr>
          <a:xfrm>
            <a:off x="283464" y="54864"/>
            <a:ext cx="61173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800" b="1" i="0" dirty="0">
                <a:solidFill>
                  <a:srgbClr val="0070C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《考点同步解读 高中物理 必修 第一册 RJ》</a:t>
            </a:r>
            <a:endParaRPr lang="en-US" sz="1800" dirty="0"/>
          </a:p>
        </p:txBody>
      </p:sp>
      <p:sp>
        <p:nvSpPr>
          <p:cNvPr id="4" name="MasterShapeName"/>
          <p:cNvSpPr/>
          <p:nvPr/>
        </p:nvSpPr>
        <p:spPr>
          <a:xfrm>
            <a:off x="4681728" y="54864"/>
            <a:ext cx="7196328" cy="356616"/>
          </a:xfrm>
          <a:prstGeom prst="rect">
            <a:avLst/>
          </a:prstGeom>
          <a:noFill/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C_0#auto_editor_catalog_10?lid=ac2a8e71d&amp;amp;cid=ac2a8e71d&amp;amp;vtp=1">
            <a:hlinkClick r:id="rId3" action="ppaction://hlinksldjump"/>
          </p:cNvPr>
          <p:cNvSpPr/>
          <p:nvPr/>
        </p:nvSpPr>
        <p:spPr>
          <a:xfrm>
            <a:off x="5861304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1</a:t>
            </a:r>
            <a:endParaRPr lang="en-US" sz="1600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内容#df=ab3d0c6a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MasterShapeName"/>
          <p:cNvSpPr/>
          <p:nvPr/>
        </p:nvSpPr>
        <p:spPr>
          <a:xfrm>
            <a:off x="283464" y="54864"/>
            <a:ext cx="61173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800" b="1" i="0" dirty="0">
                <a:solidFill>
                  <a:srgbClr val="0070C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《考点同步解读 高中物理 必修 第一册 RJ》</a:t>
            </a:r>
            <a:endParaRPr lang="en-US" sz="1800" dirty="0"/>
          </a:p>
        </p:txBody>
      </p:sp>
      <p:sp>
        <p:nvSpPr>
          <p:cNvPr id="4" name="MasterShapeName"/>
          <p:cNvSpPr/>
          <p:nvPr/>
        </p:nvSpPr>
        <p:spPr>
          <a:xfrm>
            <a:off x="4681728" y="54864"/>
            <a:ext cx="719632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800" b="1" i="0" dirty="0">
                <a:solidFill>
                  <a:srgbClr val="0070C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第14讲 牛顿第一定律</a:t>
            </a:r>
            <a:endParaRPr lang="en-US" sz="1800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内容#mc=目录配置1#a1f4ab335,a1f4ab335,ab3d0c6a4,2efea2f6a#df=ab3d0c6a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MasterShapeName"/>
          <p:cNvSpPr/>
          <p:nvPr/>
        </p:nvSpPr>
        <p:spPr>
          <a:xfrm>
            <a:off x="283464" y="54864"/>
            <a:ext cx="61173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800" b="1" i="0" dirty="0">
                <a:solidFill>
                  <a:srgbClr val="0070C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《考点同步解读 高中物理 必修 第一册 RJ》</a:t>
            </a:r>
            <a:endParaRPr lang="en-US" sz="1800" dirty="0"/>
          </a:p>
        </p:txBody>
      </p:sp>
      <p:sp>
        <p:nvSpPr>
          <p:cNvPr id="4" name="MasterShapeName"/>
          <p:cNvSpPr/>
          <p:nvPr/>
        </p:nvSpPr>
        <p:spPr>
          <a:xfrm>
            <a:off x="4681728" y="54864"/>
            <a:ext cx="719632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800" b="1" i="0" dirty="0">
                <a:solidFill>
                  <a:srgbClr val="0070C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第14讲 牛顿第一定律</a:t>
            </a:r>
            <a:endParaRPr lang="en-US" sz="1800" dirty="0"/>
          </a:p>
        </p:txBody>
      </p:sp>
      <p:sp>
        <p:nvSpPr>
          <p:cNvPr id="5" name="C_0#auto_editor_catalog_0?lid=ae5d4d793&amp;amp;cid=ae5d4d793&amp;amp;vtp=1">
            <a:hlinkClick r:id="rId3" action="ppaction://hlinksldjump"/>
          </p:cNvPr>
          <p:cNvSpPr/>
          <p:nvPr/>
        </p:nvSpPr>
        <p:spPr>
          <a:xfrm>
            <a:off x="5321808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C_0#auto_editor_catalog_0?lid=a950163a4&amp;amp;cid=a950163a4&amp;amp;vtp=1">
            <a:hlinkClick r:id="rId4" action="ppaction://hlinksldjump"/>
          </p:cNvPr>
          <p:cNvSpPr/>
          <p:nvPr/>
        </p:nvSpPr>
        <p:spPr>
          <a:xfrm>
            <a:off x="5861304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2</a:t>
            </a:r>
            <a:endParaRPr lang="en-US" sz="1600" dirty="0"/>
          </a:p>
        </p:txBody>
      </p:sp>
      <p:sp>
        <p:nvSpPr>
          <p:cNvPr id="7" name="C_0#auto_editor_catalog_0?lid=4351daef0&amp;amp;cid=4351daef0&amp;amp;vtp=1">
            <a:hlinkClick r:id="rId5" action="ppaction://hlinksldjump"/>
          </p:cNvPr>
          <p:cNvSpPr/>
          <p:nvPr/>
        </p:nvSpPr>
        <p:spPr>
          <a:xfrm>
            <a:off x="6400800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3</a:t>
            </a:r>
            <a:endParaRPr lang="en-US" sz="1600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内容#mc=目录配置1#a1f4ab335,77a88c3c3#df=ab3d0c6a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MasterShapeName"/>
          <p:cNvSpPr/>
          <p:nvPr/>
        </p:nvSpPr>
        <p:spPr>
          <a:xfrm>
            <a:off x="283464" y="54864"/>
            <a:ext cx="61173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800" b="1" i="0" dirty="0">
                <a:solidFill>
                  <a:srgbClr val="0070C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《考点同步解读 高中物理 必修 第一册 RJ》</a:t>
            </a:r>
            <a:endParaRPr lang="en-US" sz="1800" dirty="0"/>
          </a:p>
        </p:txBody>
      </p:sp>
      <p:sp>
        <p:nvSpPr>
          <p:cNvPr id="4" name="MasterShapeName"/>
          <p:cNvSpPr/>
          <p:nvPr/>
        </p:nvSpPr>
        <p:spPr>
          <a:xfrm>
            <a:off x="4681728" y="54864"/>
            <a:ext cx="719632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800" b="1" i="0" dirty="0">
                <a:solidFill>
                  <a:srgbClr val="0070C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第14讲 牛顿第一定律</a:t>
            </a:r>
            <a:endParaRPr lang="en-US" sz="1800" dirty="0"/>
          </a:p>
        </p:txBody>
      </p:sp>
      <p:sp>
        <p:nvSpPr>
          <p:cNvPr id="5" name="C_0#auto_editor_catalog_4?lid=b57109d2a&amp;amp;cid=b57109d2a&amp;amp;vtp=1">
            <a:hlinkClick r:id="rId3" action="ppaction://hlinksldjump"/>
          </p:cNvPr>
          <p:cNvSpPr/>
          <p:nvPr/>
        </p:nvSpPr>
        <p:spPr>
          <a:xfrm>
            <a:off x="4782312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C_0#auto_editor_catalog_4?lid=47f84d133&amp;amp;cid=47f84d133&amp;amp;vtp=1">
            <a:hlinkClick r:id="rId4" action="ppaction://hlinksldjump"/>
          </p:cNvPr>
          <p:cNvSpPr/>
          <p:nvPr/>
        </p:nvSpPr>
        <p:spPr>
          <a:xfrm>
            <a:off x="5321808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2</a:t>
            </a:r>
            <a:endParaRPr lang="en-US" sz="1600" dirty="0"/>
          </a:p>
        </p:txBody>
      </p:sp>
      <p:sp>
        <p:nvSpPr>
          <p:cNvPr id="7" name="C_0#auto_editor_catalog_4?lid=94476e536&amp;amp;cid=94476e536&amp;amp;vtp=1">
            <a:hlinkClick r:id="rId5" action="ppaction://hlinksldjump"/>
          </p:cNvPr>
          <p:cNvSpPr/>
          <p:nvPr/>
        </p:nvSpPr>
        <p:spPr>
          <a:xfrm>
            <a:off x="5861304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3</a:t>
            </a:r>
            <a:endParaRPr lang="en-US" sz="1600" dirty="0"/>
          </a:p>
        </p:txBody>
      </p:sp>
      <p:sp>
        <p:nvSpPr>
          <p:cNvPr id="8" name="C_0#auto_editor_catalog_4?lid=7bdf12c40&amp;amp;cid=7bdf12c40&amp;amp;vtp=1">
            <a:hlinkClick r:id="rId6" action="ppaction://hlinksldjump"/>
          </p:cNvPr>
          <p:cNvSpPr/>
          <p:nvPr/>
        </p:nvSpPr>
        <p:spPr>
          <a:xfrm>
            <a:off x="6400800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4</a:t>
            </a:r>
            <a:endParaRPr lang="en-US" sz="1600" dirty="0"/>
          </a:p>
        </p:txBody>
      </p:sp>
      <p:sp>
        <p:nvSpPr>
          <p:cNvPr id="9" name="C_0#auto_editor_catalog_4?lid=275eb8b6f&amp;amp;cid=275eb8b6f&amp;amp;vtp=1">
            <a:hlinkClick r:id="rId7" action="ppaction://hlinksldjump"/>
          </p:cNvPr>
          <p:cNvSpPr/>
          <p:nvPr/>
        </p:nvSpPr>
        <p:spPr>
          <a:xfrm>
            <a:off x="6940296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5</a:t>
            </a:r>
            <a:endParaRPr lang="en-US" sz="1600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内容#mc=目录配置1#a1f4ab335,cb3dafbec#df=ab3d0c6a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MasterShapeName"/>
          <p:cNvSpPr/>
          <p:nvPr/>
        </p:nvSpPr>
        <p:spPr>
          <a:xfrm>
            <a:off x="283464" y="54864"/>
            <a:ext cx="61173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800" b="1" i="0" dirty="0">
                <a:solidFill>
                  <a:srgbClr val="0070C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《考点同步解读 高中物理 必修 第一册 RJ》</a:t>
            </a:r>
            <a:endParaRPr lang="en-US" sz="1800" dirty="0"/>
          </a:p>
        </p:txBody>
      </p:sp>
      <p:sp>
        <p:nvSpPr>
          <p:cNvPr id="4" name="MasterShapeName"/>
          <p:cNvSpPr/>
          <p:nvPr/>
        </p:nvSpPr>
        <p:spPr>
          <a:xfrm>
            <a:off x="4681728" y="54864"/>
            <a:ext cx="719632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800" b="1" i="0" dirty="0">
                <a:solidFill>
                  <a:srgbClr val="0070C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第14讲 牛顿第一定律</a:t>
            </a:r>
            <a:endParaRPr lang="en-US" sz="1800" dirty="0"/>
          </a:p>
        </p:txBody>
      </p:sp>
      <p:sp>
        <p:nvSpPr>
          <p:cNvPr id="5" name="C_0#auto_editor_catalog_10?lid=ac2a8e71d&amp;amp;cid=ac2a8e71d&amp;amp;vtp=1">
            <a:hlinkClick r:id="rId3" action="ppaction://hlinksldjump"/>
          </p:cNvPr>
          <p:cNvSpPr/>
          <p:nvPr/>
        </p:nvSpPr>
        <p:spPr>
          <a:xfrm>
            <a:off x="5861304" y="6446520"/>
            <a:ext cx="466344" cy="356616"/>
          </a:xfrm>
          <a:prstGeom prst="rect">
            <a:avLst/>
          </a:prstGeom>
          <a:solidFill>
            <a:srgbClr val="D7D8D9"/>
          </a:solidFill>
          <a:ln/>
        </p:spPr>
        <p:txBody>
          <a:bodyPr wrap="square" lIns="127000" tIns="127000" rIns="127000" bIns="127000" rtlCol="0" anchor="ctr"/>
          <a:lstStyle/>
          <a:p>
            <a:pPr algn="ctr">
              <a:lnSpc>
                <a:spcPct val="100000"/>
              </a:lnSpc>
            </a:pPr>
            <a:r>
              <a:rPr lang="en-US" sz="1600" b="1" i="0" dirty="0">
                <a:solidFill>
                  <a:srgbClr val="7B7E82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1</a:t>
            </a: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Relationship Id="rId9" Type="http://schemas.openxmlformats.org/officeDocument/2006/relationships/image" Target="../media/image2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&amp;si=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split dir="in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&amp;si=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_2#ab3d0c6a4.fixed?vcp=1&amp;pid=a1f4ab335&amp;color=0,112,192&amp;vtp=1&amp;bbb=1"/>
          <p:cNvSpPr/>
          <p:nvPr/>
        </p:nvSpPr>
        <p:spPr>
          <a:xfrm>
            <a:off x="0" y="2157984"/>
            <a:ext cx="12188952" cy="7955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latinLnBrk="1">
              <a:lnSpc>
                <a:spcPts val="6000"/>
              </a:lnSpc>
            </a:pPr>
            <a:r>
              <a:rPr lang="en-US" altLang="zh-CN" sz="4800" b="1" i="0" dirty="0">
                <a:solidFill>
                  <a:srgbClr val="0070C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第四章</a:t>
            </a:r>
            <a:r>
              <a:rPr lang="en-US" altLang="zh-CN" sz="4800" b="1" i="0" dirty="0">
                <a:solidFill>
                  <a:srgbClr val="0070C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4800" b="1" i="0" dirty="0">
                <a:solidFill>
                  <a:srgbClr val="0070C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运动和力的关系</a:t>
            </a:r>
            <a:endParaRPr lang="en-US" altLang="zh-CN" sz="4800" dirty="0"/>
          </a:p>
        </p:txBody>
      </p:sp>
      <p:sp>
        <p:nvSpPr>
          <p:cNvPr id="3" name="C_2_BD#ab3d0c6a4.fixed?vcp=1&amp;pid=a1f4ab335&amp;color=0,0,0&amp;vtp=1&amp;bbb=1"/>
          <p:cNvSpPr/>
          <p:nvPr/>
        </p:nvSpPr>
        <p:spPr>
          <a:xfrm>
            <a:off x="265176" y="3602736"/>
            <a:ext cx="11521440" cy="12811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5400"/>
              </a:lnSpc>
            </a:pPr>
            <a:r>
              <a:rPr lang="en-US" altLang="zh-CN" sz="4400" b="1" i="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第14讲</a:t>
            </a:r>
            <a:r>
              <a:rPr lang="en-US" altLang="zh-CN" sz="4400" b="1" i="0" dirty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4400" b="1" i="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牛顿第一定律</a:t>
            </a:r>
            <a:endParaRPr lang="en-US" altLang="zh-CN" sz="4400" dirty="0"/>
          </a:p>
        </p:txBody>
      </p:sp>
    </p:spTree>
  </p:cSld>
  <p:clrMapOvr>
    <a:masterClrMapping/>
  </p:clrMapOvr>
  <p:transition>
    <p:split dir="in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&amp;si=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_3_BD#2efea2f6a?vcp=1&amp;pid=ab3d0c6a4&amp;color=0,0,0&amp;vtp=1&amp;bt=1&amp;bbb=1"/>
          <p:cNvSpPr/>
          <p:nvPr/>
        </p:nvSpPr>
        <p:spPr>
          <a:xfrm>
            <a:off x="393192" y="502920"/>
            <a:ext cx="11402568" cy="5264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atinLnBrk="1">
              <a:lnSpc>
                <a:spcPts val="4600"/>
              </a:lnSpc>
            </a:pPr>
            <a:r>
              <a:rPr lang="en-US" altLang="zh-CN" sz="2600" b="1" i="0" dirty="0">
                <a:solidFill>
                  <a:srgbClr val="000000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基础考点过关练</a:t>
            </a:r>
            <a:endParaRPr lang="en-US" altLang="zh-CN" sz="2600" dirty="0"/>
          </a:p>
        </p:txBody>
      </p:sp>
      <p:sp>
        <p:nvSpPr>
          <p:cNvPr id="3" name="P_4_BD#de9fdd5a5?vcp=1&amp;pid=2efea2f6a&amp;color=0,0,0&amp;vtp=1&amp;bbb=1"/>
          <p:cNvSpPr/>
          <p:nvPr/>
        </p:nvSpPr>
        <p:spPr>
          <a:xfrm>
            <a:off x="393192" y="1093884"/>
            <a:ext cx="11402568" cy="48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300"/>
              </a:lnSpc>
            </a:pP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限时10分钟</a:t>
            </a:r>
            <a:endParaRPr lang="en-US" altLang="zh-CN" sz="2400" dirty="0"/>
          </a:p>
        </p:txBody>
      </p:sp>
      <p:pic>
        <p:nvPicPr>
          <p:cNvPr id="4" name="QC_4_BD.1_1#ae5d4d793?htil=1&amp;vcp=1&amp;pid=2efea2f6a&amp;color=0,0,0&amp;tib=255,255,255&amp;vtp=1&amp;hs=1&amp;hs=1" descr="preencoded.png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467849" y="1704148"/>
            <a:ext cx="4270248" cy="1252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p:sp>
        <p:nvSpPr>
          <p:cNvPr id="5" name="QC_4_BD.1_2#ae5d4d793?htil=1&amp;vcp=1&amp;pid=2efea2f6a&amp;color=0,0,0&amp;vtp=1&amp;bbb=1&amp;hb=1&amp;hs=1"/>
          <p:cNvSpPr/>
          <p:nvPr/>
        </p:nvSpPr>
        <p:spPr>
          <a:xfrm>
            <a:off x="393192" y="1649285"/>
            <a:ext cx="6995160" cy="1596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atinLnBrk="1">
              <a:lnSpc>
                <a:spcPts val="4400"/>
              </a:lnSpc>
            </a:pP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1.</a:t>
            </a:r>
            <a:r>
              <a:rPr lang="en-US" altLang="zh-CN" sz="2400" b="1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考点1</a:t>
            </a:r>
            <a:r>
              <a:rPr lang="en-US" altLang="zh-CN" sz="2400" b="1" i="0" dirty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2400" b="0" i="0" dirty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2400" b="0" i="0" dirty="0">
                <a:solidFill>
                  <a:srgbClr val="1E5A99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（2026·广东中山纪念中学检测</a:t>
            </a:r>
            <a:r>
              <a:rPr lang="en-US" altLang="zh-CN" sz="2400" b="0" i="0">
                <a:solidFill>
                  <a:srgbClr val="1E5A99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）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伽利略</a:t>
            </a:r>
          </a:p>
          <a:p>
            <a:pPr latinLnBrk="1">
              <a:lnSpc>
                <a:spcPts val="44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对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“运动和力的关系”和“自由落体运动”的研究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，开创</a:t>
            </a:r>
          </a:p>
          <a:p>
            <a:pPr latinLnBrk="1">
              <a:lnSpc>
                <a:spcPts val="42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了科学实验和逻辑推理相结合的重要科学研究方法.</a:t>
            </a:r>
            <a:endParaRPr lang="en-US" altLang="zh-CN" sz="2400" dirty="0"/>
          </a:p>
        </p:txBody>
      </p:sp>
      <p:sp>
        <p:nvSpPr>
          <p:cNvPr id="6" name="QC_4_AN.2_1#ae5d4d793.bracket?vcp=1&amp;pid=2efea2f6a&amp;color=0,0,0&amp;vpa=1&amp;vtp=1"/>
          <p:cNvSpPr/>
          <p:nvPr/>
        </p:nvSpPr>
        <p:spPr>
          <a:xfrm>
            <a:off x="1540161" y="3847655"/>
            <a:ext cx="441325" cy="47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2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D</a:t>
            </a:r>
            <a:endParaRPr lang="en-US" altLang="zh-CN" sz="2400" dirty="0"/>
          </a:p>
        </p:txBody>
      </p:sp>
      <p:sp>
        <p:nvSpPr>
          <p:cNvPr id="8" name="QC_4_BD.1_2#ae5d4d793?htil=1&amp;vcp=1&amp;pid=2efea2f6a&amp;color=0,0,0&amp;vtp=1&amp;bbb=1&amp;hb=1&amp;hs=1">
            <a:extLst>
              <a:ext uri="{FF2B5EF4-FFF2-40B4-BE49-F238E27FC236}">
                <a16:creationId xmlns:a16="http://schemas.microsoft.com/office/drawing/2014/main" id="{A35014BF-75B5-1F51-8558-C912859217F5}"/>
              </a:ext>
            </a:extLst>
          </p:cNvPr>
          <p:cNvSpPr/>
          <p:nvPr/>
        </p:nvSpPr>
        <p:spPr>
          <a:xfrm>
            <a:off x="393192" y="3300285"/>
            <a:ext cx="11400008" cy="10333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latinLnBrk="1">
              <a:lnSpc>
                <a:spcPts val="44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图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1、图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2分别表示这两项研究中实验和逻辑推理的过程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，对这两项研究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，下列说法正</a:t>
            </a:r>
          </a:p>
          <a:p>
            <a:pPr latinLnBrk="1">
              <a:lnSpc>
                <a:spcPts val="42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确的是(</a:t>
            </a:r>
            <a:r>
              <a:rPr lang="en-US" altLang="zh-CN" sz="2400" b="0" i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2400" b="1" i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   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).</a:t>
            </a:r>
            <a:endParaRPr lang="en-US" altLang="zh-CN" sz="2400" dirty="0"/>
          </a:p>
        </p:txBody>
      </p:sp>
      <p:sp>
        <p:nvSpPr>
          <p:cNvPr id="9" name="QC_4_BD.1_3#ae5d4d793.choices?vcp=1&amp;pid=2efea2f6a&amp;color=0,0,0&amp;vtp=1&amp;bbb=1">
            <a:extLst>
              <a:ext uri="{FF2B5EF4-FFF2-40B4-BE49-F238E27FC236}">
                <a16:creationId xmlns:a16="http://schemas.microsoft.com/office/drawing/2014/main" id="{49D21CB7-80A9-1087-B44C-EC93F3EC6E43}"/>
              </a:ext>
            </a:extLst>
          </p:cNvPr>
          <p:cNvSpPr/>
          <p:nvPr/>
        </p:nvSpPr>
        <p:spPr>
          <a:xfrm>
            <a:off x="393192" y="4407916"/>
            <a:ext cx="11402568" cy="215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atinLnBrk="1">
              <a:lnSpc>
                <a:spcPts val="4400"/>
              </a:lnSpc>
            </a:pP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A.图1中完全没有摩擦阻力的斜面是实际存在的，实验可实际完成</a:t>
            </a:r>
            <a:endParaRPr lang="en-US" altLang="zh-CN" sz="2400" dirty="0"/>
          </a:p>
          <a:p>
            <a:pPr latinLnBrk="1">
              <a:lnSpc>
                <a:spcPts val="44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B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.图1的实验为理想实验，通过逻辑推理得出物体的运动需要力来维持</a:t>
            </a:r>
            <a:endParaRPr lang="en-US" altLang="zh-CN" sz="2400" dirty="0"/>
          </a:p>
          <a:p>
            <a:pPr latinLnBrk="1">
              <a:lnSpc>
                <a:spcPts val="44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C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.图2通过对自由落体运动的研究，合理外推得出小球在斜面上做匀变速运动</a:t>
            </a:r>
            <a:endParaRPr lang="en-US" altLang="zh-CN" sz="2400" dirty="0"/>
          </a:p>
          <a:p>
            <a:pPr latinLnBrk="1">
              <a:lnSpc>
                <a:spcPts val="42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D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.图2中先在倾角较小的斜面上进行实验，可“冲淡”重力，使时间测量更容易</a:t>
            </a:r>
            <a:endParaRPr lang="en-US" altLang="zh-CN" sz="2400" dirty="0"/>
          </a:p>
        </p:txBody>
      </p:sp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&amp;si=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QC_4_BD.3_1#a950163a4?vcp=1&amp;pid=2efea2f6a&amp;color=0,0,0&amp;vtp=1&amp;bt=1&amp;bbb=1&amp;hb=1"/>
          <p:cNvSpPr/>
          <p:nvPr/>
        </p:nvSpPr>
        <p:spPr>
          <a:xfrm>
            <a:off x="393192" y="1793272"/>
            <a:ext cx="11402568" cy="10333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atinLnBrk="1">
              <a:lnSpc>
                <a:spcPts val="4400"/>
              </a:lnSpc>
            </a:pP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2.</a:t>
            </a:r>
            <a:r>
              <a:rPr lang="en-US" altLang="zh-CN" sz="2400" b="1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考点2</a:t>
            </a:r>
            <a:r>
              <a:rPr lang="en-US" altLang="zh-CN" sz="2400" b="1" i="0" dirty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2400" b="0" i="0" dirty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牛顿在伽利略和笛卡儿等人的研究基础上，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总结出动力学的一条基本规律—</a:t>
            </a:r>
          </a:p>
          <a:p>
            <a:pPr latinLnBrk="1">
              <a:lnSpc>
                <a:spcPts val="42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—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牛顿第一定律.对于牛顿第一定律的得出和理解，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下列说法正确的是(</a:t>
            </a:r>
            <a:r>
              <a:rPr lang="en-US" altLang="zh-CN" sz="2400" b="0" i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2400" b="1" i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   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).</a:t>
            </a:r>
            <a:endParaRPr lang="en-US" altLang="zh-CN" sz="2400" dirty="0"/>
          </a:p>
        </p:txBody>
      </p:sp>
      <p:sp>
        <p:nvSpPr>
          <p:cNvPr id="3" name="QC_4_AN.4_1#a950163a4.bracket?vcp=1&amp;pid=2efea2f6a&amp;color=0,0,0&amp;vpa=2&amp;vtp=1"/>
          <p:cNvSpPr/>
          <p:nvPr/>
        </p:nvSpPr>
        <p:spPr>
          <a:xfrm>
            <a:off x="9845961" y="2340642"/>
            <a:ext cx="441325" cy="47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2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D</a:t>
            </a:r>
            <a:endParaRPr lang="en-US" altLang="zh-CN" sz="2400" dirty="0"/>
          </a:p>
        </p:txBody>
      </p:sp>
      <p:sp>
        <p:nvSpPr>
          <p:cNvPr id="4" name="QC_4_BD.3_2#a950163a4.choices?vcp=1&amp;pid=2efea2f6a&amp;color=0,0,0&amp;vtp=1&amp;bbb=1"/>
          <p:cNvSpPr/>
          <p:nvPr/>
        </p:nvSpPr>
        <p:spPr>
          <a:xfrm>
            <a:off x="393192" y="2889408"/>
            <a:ext cx="11402568" cy="215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atinLnBrk="1">
              <a:lnSpc>
                <a:spcPts val="4400"/>
              </a:lnSpc>
            </a:pP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A.要使一个物体运动，必须推它或拉它</a:t>
            </a:r>
            <a:endParaRPr lang="en-US" altLang="zh-CN" sz="2400" dirty="0"/>
          </a:p>
          <a:p>
            <a:pPr latinLnBrk="1">
              <a:lnSpc>
                <a:spcPts val="44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B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.牛顿第一定律对惯性参考系和非惯性参考系都是成立的</a:t>
            </a:r>
            <a:endParaRPr lang="en-US" altLang="zh-CN" sz="2400" dirty="0"/>
          </a:p>
          <a:p>
            <a:pPr latinLnBrk="1">
              <a:lnSpc>
                <a:spcPts val="44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C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.牛顿第一定律表明：物体只有在匀速直线运动状态或静止状态时才有惯性</a:t>
            </a:r>
            <a:endParaRPr lang="en-US" altLang="zh-CN" sz="2400" dirty="0"/>
          </a:p>
          <a:p>
            <a:pPr latinLnBrk="1">
              <a:lnSpc>
                <a:spcPts val="42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D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.牛顿第一定律是在伽利略理想实验基础上总结出来的</a:t>
            </a:r>
            <a:endParaRPr lang="en-US" altLang="zh-CN" sz="2400" dirty="0"/>
          </a:p>
        </p:txBody>
      </p:sp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&amp;si=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QC_4_BD.5_1#4351daef0?htil=2&amp;vcp=1&amp;pid=2efea2f6a&amp;color=0,0,0&amp;tib=255,255,255&amp;vtp=1&amp;hs=1" descr="preencoded.png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190637" y="1016094"/>
            <a:ext cx="2496312" cy="22311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p:sp>
        <p:nvSpPr>
          <p:cNvPr id="3" name="QC_4_BD.5_2#4351daef0?htil=2&amp;vcp=1&amp;pid=2efea2f6a&amp;color=0,0,0&amp;vtp=1&amp;bt=1&amp;bbb=1&amp;hb=1&amp;hs=1"/>
          <p:cNvSpPr/>
          <p:nvPr/>
        </p:nvSpPr>
        <p:spPr>
          <a:xfrm>
            <a:off x="393192" y="970375"/>
            <a:ext cx="8778240" cy="2709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atinLnBrk="1">
              <a:lnSpc>
                <a:spcPts val="4400"/>
              </a:lnSpc>
            </a:pP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3.</a:t>
            </a:r>
            <a:r>
              <a:rPr lang="en-US" altLang="zh-CN" sz="2400" b="1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考点2</a:t>
            </a:r>
            <a:r>
              <a:rPr lang="en-US" altLang="zh-CN" sz="2400" b="1" i="0" dirty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2400" b="0" i="0" dirty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2400" b="0" i="0" dirty="0">
                <a:solidFill>
                  <a:srgbClr val="1E5A99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（2026·哈师大附中检测</a:t>
            </a:r>
            <a:r>
              <a:rPr lang="en-US" altLang="zh-CN" sz="2400" b="0" i="0">
                <a:solidFill>
                  <a:srgbClr val="1E5A99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）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应用物理知识分析生活中的</a:t>
            </a:r>
          </a:p>
          <a:p>
            <a:pPr latinLnBrk="1">
              <a:lnSpc>
                <a:spcPts val="44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常见现象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，可以使物理学习更加有趣和深入.如图所示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，某同学坐</a:t>
            </a:r>
          </a:p>
          <a:p>
            <a:pPr latinLnBrk="1">
              <a:lnSpc>
                <a:spcPts val="44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在列车的车厢内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，列车正在前进中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，桌面上有一个小球相对桌面</a:t>
            </a:r>
          </a:p>
          <a:p>
            <a:pPr latinLnBrk="1">
              <a:lnSpc>
                <a:spcPts val="44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静止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.如果他发现小球突然运动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，可以根据小球的运动分析判断列</a:t>
            </a:r>
          </a:p>
          <a:p>
            <a:pPr latinLnBrk="1">
              <a:lnSpc>
                <a:spcPts val="42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车的运动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.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下列判断正确的是(</a:t>
            </a:r>
            <a:r>
              <a:rPr lang="en-US" altLang="zh-CN" sz="2400" b="0" i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2400" b="1" i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   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).</a:t>
            </a:r>
            <a:endParaRPr lang="en-US" altLang="zh-CN" sz="2400" dirty="0"/>
          </a:p>
        </p:txBody>
      </p:sp>
      <p:sp>
        <p:nvSpPr>
          <p:cNvPr id="4" name="QC_4_AN.6_1#4351daef0.bracket?vcp=1&amp;pid=2efea2f6a&amp;color=0,0,0&amp;vpa=3&amp;vtp=1"/>
          <p:cNvSpPr/>
          <p:nvPr/>
        </p:nvSpPr>
        <p:spPr>
          <a:xfrm>
            <a:off x="4359560" y="3194145"/>
            <a:ext cx="441325" cy="47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2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D</a:t>
            </a:r>
            <a:endParaRPr lang="en-US" altLang="zh-CN" sz="2400" dirty="0"/>
          </a:p>
        </p:txBody>
      </p:sp>
      <p:sp>
        <p:nvSpPr>
          <p:cNvPr id="5" name="QC_4_BD.5_3#4351daef0.choices?vcp=1&amp;pid=2efea2f6a&amp;color=0,0,0&amp;vtp=1&amp;bbb=1&amp;hs=1"/>
          <p:cNvSpPr/>
          <p:nvPr/>
        </p:nvSpPr>
        <p:spPr>
          <a:xfrm>
            <a:off x="393192" y="3713575"/>
            <a:ext cx="11402568" cy="215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atinLnBrk="1">
              <a:lnSpc>
                <a:spcPts val="4400"/>
              </a:lnSpc>
            </a:pP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A.若小球相对桌面向后运动，可知列车在匀速前进</a:t>
            </a:r>
            <a:endParaRPr lang="en-US" altLang="zh-CN" sz="2400" dirty="0"/>
          </a:p>
          <a:p>
            <a:pPr latinLnBrk="1">
              <a:lnSpc>
                <a:spcPts val="44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B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.若小球相对桌面向后运动，可知列车在减速前进</a:t>
            </a:r>
            <a:endParaRPr lang="en-US" altLang="zh-CN" sz="2400" dirty="0"/>
          </a:p>
          <a:p>
            <a:pPr latinLnBrk="1">
              <a:lnSpc>
                <a:spcPts val="44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C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.若小球相对桌面向前运动，可知列车在加速前进</a:t>
            </a:r>
            <a:endParaRPr lang="en-US" altLang="zh-CN" sz="2400" dirty="0"/>
          </a:p>
          <a:p>
            <a:pPr latinLnBrk="1">
              <a:lnSpc>
                <a:spcPts val="42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D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.若小球相对桌面向前运动，可知列车在减速前进</a:t>
            </a:r>
            <a:endParaRPr lang="en-US" altLang="zh-CN" sz="2400" dirty="0"/>
          </a:p>
        </p:txBody>
      </p:sp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&amp;si=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_3_BD#77a88c3c3?vcp=1&amp;pid=ab3d0c6a4&amp;color=0,0,0&amp;vtp=1&amp;bt=1&amp;bbb=1"/>
          <p:cNvSpPr/>
          <p:nvPr/>
        </p:nvSpPr>
        <p:spPr>
          <a:xfrm>
            <a:off x="393192" y="502920"/>
            <a:ext cx="11402568" cy="949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atinLnBrk="1">
              <a:lnSpc>
                <a:spcPts val="4600"/>
              </a:lnSpc>
            </a:pPr>
            <a:r>
              <a:rPr lang="en-US" altLang="zh-CN" sz="2600" b="1" i="0" dirty="0">
                <a:solidFill>
                  <a:srgbClr val="000000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能力考点提升练</a:t>
            </a:r>
            <a:endParaRPr lang="en-US" altLang="zh-CN" sz="2600" dirty="0"/>
          </a:p>
        </p:txBody>
      </p:sp>
      <p:sp>
        <p:nvSpPr>
          <p:cNvPr id="3" name="P_4_BD#c206164de?vcp=1&amp;pid=77a88c3c3&amp;color=0,0,0&amp;vtp=1&amp;bbb=1"/>
          <p:cNvSpPr/>
          <p:nvPr/>
        </p:nvSpPr>
        <p:spPr>
          <a:xfrm>
            <a:off x="393192" y="1093884"/>
            <a:ext cx="11402568" cy="48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300"/>
              </a:lnSpc>
            </a:pP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限时20分钟</a:t>
            </a:r>
            <a:endParaRPr lang="en-US" altLang="zh-CN" sz="2400" dirty="0"/>
          </a:p>
        </p:txBody>
      </p:sp>
      <p:sp>
        <p:nvSpPr>
          <p:cNvPr id="4" name="QC_4_BD.7_1#b57109d2a?vcp=1&amp;pid=77a88c3c3&amp;color=0,0,0&amp;vtp=1&amp;bbb=1&amp;hb=1"/>
          <p:cNvSpPr/>
          <p:nvPr/>
        </p:nvSpPr>
        <p:spPr>
          <a:xfrm>
            <a:off x="393192" y="1649285"/>
            <a:ext cx="11402568" cy="15921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atinLnBrk="1">
              <a:lnSpc>
                <a:spcPts val="4400"/>
              </a:lnSpc>
            </a:pP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1.</a:t>
            </a:r>
            <a:r>
              <a:rPr lang="en-US" altLang="zh-CN" sz="2400" b="1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考点3</a:t>
            </a:r>
            <a:r>
              <a:rPr lang="en-US" altLang="zh-CN" sz="2400" b="1" i="0" dirty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2400" b="0" i="0" dirty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春秋战国时期，齐国人的著作《考工记》中有“马力既竭，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辀犹能一取焉”，</a:t>
            </a:r>
          </a:p>
          <a:p>
            <a:pPr latinLnBrk="1">
              <a:lnSpc>
                <a:spcPts val="44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意思是马对车不施加拉力了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，车还能继续向前运动，这是关于惯性最早的记述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.下列说</a:t>
            </a:r>
          </a:p>
          <a:p>
            <a:pPr latinLnBrk="1">
              <a:lnSpc>
                <a:spcPts val="42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法正确的是(</a:t>
            </a:r>
            <a:r>
              <a:rPr lang="en-US" altLang="zh-CN" sz="2400" b="0" i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2400" b="1" i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   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).</a:t>
            </a:r>
            <a:endParaRPr lang="en-US" altLang="zh-CN" sz="2400" dirty="0"/>
          </a:p>
        </p:txBody>
      </p:sp>
      <p:sp>
        <p:nvSpPr>
          <p:cNvPr id="5" name="QC_4_AN.8_1#b57109d2a.bracket?vcp=1&amp;pid=77a88c3c3&amp;color=0,0,0&amp;vpa=4&amp;vtp=1"/>
          <p:cNvSpPr/>
          <p:nvPr/>
        </p:nvSpPr>
        <p:spPr>
          <a:xfrm>
            <a:off x="2162461" y="2755455"/>
            <a:ext cx="423863" cy="47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2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B</a:t>
            </a:r>
            <a:endParaRPr lang="en-US" altLang="zh-CN" sz="2400" dirty="0"/>
          </a:p>
        </p:txBody>
      </p:sp>
      <p:sp>
        <p:nvSpPr>
          <p:cNvPr id="6" name="QC_4_BD.7_2#b57109d2a.choices?vcp=1&amp;pid=77a88c3c3&amp;color=0,0,0&amp;vtp=1&amp;bbb=1"/>
          <p:cNvSpPr/>
          <p:nvPr/>
        </p:nvSpPr>
        <p:spPr>
          <a:xfrm>
            <a:off x="393192" y="3304286"/>
            <a:ext cx="11402568" cy="10333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latinLnBrk="1">
              <a:lnSpc>
                <a:spcPts val="4400"/>
              </a:lnSpc>
              <a:tabLst>
                <a:tab pos="5807954" algn="l"/>
              </a:tabLst>
            </a:pP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A.“马力既竭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”时马没有了惯性</a:t>
            </a:r>
            <a:r>
              <a:rPr lang="en-US" altLang="zh-CN" sz="2400" b="0" i="0" spc="-1030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	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B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.“马力既竭”时车的惯性不变</a:t>
            </a:r>
            <a:endParaRPr lang="en-US" altLang="zh-CN" sz="2400" dirty="0"/>
          </a:p>
          <a:p>
            <a:pPr latinLnBrk="1">
              <a:lnSpc>
                <a:spcPts val="4200"/>
              </a:lnSpc>
              <a:tabLst>
                <a:tab pos="5807954" algn="l"/>
              </a:tabLst>
            </a:pP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C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.马的拉力越大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，车的惯性越大</a:t>
            </a:r>
            <a:r>
              <a:rPr lang="en-US" altLang="zh-CN" sz="2400" b="0" i="0" spc="-1030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	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D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.马车速度越大，车的惯性越大</a:t>
            </a:r>
            <a:endParaRPr lang="en-US" altLang="zh-CN" sz="2400" dirty="0"/>
          </a:p>
        </p:txBody>
      </p:sp>
      <p:sp>
        <p:nvSpPr>
          <p:cNvPr id="7" name="QC_4_AS.9_1#b57109d2a?vcp=1&amp;pid=77a88c3c3&amp;color=0,0,0&amp;vtp=1&amp;bbb=1&amp;hb=1"/>
          <p:cNvSpPr/>
          <p:nvPr/>
        </p:nvSpPr>
        <p:spPr>
          <a:xfrm>
            <a:off x="393192" y="4407916"/>
            <a:ext cx="11402568" cy="1596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atinLnBrk="1">
              <a:lnSpc>
                <a:spcPts val="44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[解析]</a:t>
            </a:r>
            <a:r>
              <a:rPr lang="en-US" altLang="zh-CN" sz="2400" b="1" i="0" dirty="0">
                <a:solidFill>
                  <a:srgbClr val="FF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惯性大小的唯一量度是质量，与速度无关，“马力既竭”时车的惯性不变</a:t>
            </a:r>
            <a:r>
              <a:rPr lang="en-US" altLang="zh-CN" sz="2400" b="1" i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，马的</a:t>
            </a:r>
          </a:p>
          <a:p>
            <a:pPr latinLnBrk="1">
              <a:lnSpc>
                <a:spcPts val="4400"/>
              </a:lnSpc>
            </a:pPr>
            <a:r>
              <a:rPr lang="en-US" altLang="zh-CN" sz="2400" b="1" i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惯性也保持不变</a:t>
            </a: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，不为0，故A错误，B正确；拉力不能改变车的惯性大小，故C</a:t>
            </a:r>
            <a:r>
              <a:rPr lang="en-US" altLang="zh-CN" sz="2400" b="1" i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错误；</a:t>
            </a:r>
          </a:p>
          <a:p>
            <a:pPr latinLnBrk="1">
              <a:lnSpc>
                <a:spcPts val="4200"/>
              </a:lnSpc>
            </a:pPr>
            <a:r>
              <a:rPr lang="en-US" altLang="zh-CN" sz="2400" b="1" i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惯性大小与车的速度大小无关</a:t>
            </a: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，故D错误.</a:t>
            </a:r>
            <a:endParaRPr lang="en-US" altLang="zh-CN" sz="2400" dirty="0"/>
          </a:p>
        </p:txBody>
      </p:sp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 animBg="1"/>
      <p:bldP spid="7" grpId="0" build="p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&amp;si=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QC_4_BD.10_1#47f84d133?vcp=1&amp;pid=77a88c3c3&amp;color=0,0,0&amp;vtp=1&amp;bt=1&amp;bbb=1&amp;hb=1"/>
          <p:cNvSpPr/>
          <p:nvPr/>
        </p:nvSpPr>
        <p:spPr>
          <a:xfrm>
            <a:off x="393192" y="1893888"/>
            <a:ext cx="11402568" cy="15921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atinLnBrk="1">
              <a:lnSpc>
                <a:spcPts val="4400"/>
              </a:lnSpc>
            </a:pP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2.</a:t>
            </a:r>
            <a:r>
              <a:rPr lang="en-US" altLang="zh-CN" sz="2400" b="1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考点3</a:t>
            </a:r>
            <a:r>
              <a:rPr lang="en-US" altLang="zh-CN" sz="2400" b="1" i="0" dirty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2400" b="0" i="0" dirty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2400" b="0" i="0" dirty="0">
                <a:solidFill>
                  <a:srgbClr val="1E5A99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（2026·江西吉安一中检测）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如图所示,将一玻璃瓶装水后密闭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,并平放在水</a:t>
            </a:r>
          </a:p>
          <a:p>
            <a:pPr latinLnBrk="1">
              <a:lnSpc>
                <a:spcPts val="44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平桌面上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,在瓶的中部有一小气泡处于静止状态,现突然用力将瓶子向前推动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,使其在桌</a:t>
            </a:r>
          </a:p>
          <a:p>
            <a:pPr latinLnBrk="1">
              <a:lnSpc>
                <a:spcPts val="42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面上向前运动一段距离后停止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.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则可看到气泡相对瓶子的运动情况是(</a:t>
            </a:r>
            <a:r>
              <a:rPr lang="en-US" altLang="zh-CN" sz="2400" b="0" i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2400" b="1" i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   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).</a:t>
            </a:r>
            <a:endParaRPr lang="en-US" altLang="zh-CN" sz="2400" dirty="0"/>
          </a:p>
        </p:txBody>
      </p:sp>
      <p:sp>
        <p:nvSpPr>
          <p:cNvPr id="3" name="QC_4_AN.11_1#47f84d133.bracket?vcp=1&amp;pid=77a88c3c3&amp;color=0,0,0&amp;vpa=5&amp;vtp=1"/>
          <p:cNvSpPr/>
          <p:nvPr/>
        </p:nvSpPr>
        <p:spPr>
          <a:xfrm>
            <a:off x="9541161" y="3000058"/>
            <a:ext cx="441325" cy="47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2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C</a:t>
            </a:r>
            <a:endParaRPr lang="en-US" altLang="zh-CN" sz="2400" dirty="0"/>
          </a:p>
        </p:txBody>
      </p:sp>
      <p:pic>
        <p:nvPicPr>
          <p:cNvPr id="4" name="QC_4_BD.10_2#47f84d133?vcp=1&amp;pid=77a88c3c3&amp;color=0,0,0&amp;tib=255,255,255&amp;vtp=1" descr="preencoded.png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202936" y="3614483"/>
            <a:ext cx="1783080" cy="7315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p:sp>
        <p:nvSpPr>
          <p:cNvPr id="5" name="QC_4_BD.10_3#47f84d133.choices?vcp=1&amp;pid=77a88c3c3&amp;color=0,0,0&amp;vtp=1&amp;bbb=1"/>
          <p:cNvSpPr/>
          <p:nvPr/>
        </p:nvSpPr>
        <p:spPr>
          <a:xfrm>
            <a:off x="393192" y="4478083"/>
            <a:ext cx="11402568" cy="4841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latinLnBrk="1">
              <a:lnSpc>
                <a:spcPts val="4300"/>
              </a:lnSpc>
              <a:tabLst>
                <a:tab pos="2268977" algn="l"/>
                <a:tab pos="4512554" algn="l"/>
                <a:tab pos="8051531" algn="l"/>
              </a:tabLst>
            </a:pP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A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.向前</a:t>
            </a:r>
            <a:r>
              <a:rPr lang="en-US" altLang="zh-CN" sz="2400" b="0" i="0" spc="-1030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	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B.向后</a:t>
            </a:r>
            <a:r>
              <a:rPr lang="en-US" altLang="zh-CN" sz="2400" b="0" i="0" spc="-1030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	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C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.先向前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,再向后</a:t>
            </a:r>
            <a:r>
              <a:rPr lang="en-US" altLang="zh-CN" sz="2400" b="0" i="0" spc="-1030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	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D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.先向后,再向前</a:t>
            </a:r>
            <a:endParaRPr lang="en-US" altLang="zh-CN" sz="2400" dirty="0"/>
          </a:p>
        </p:txBody>
      </p:sp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&amp;si=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QC_4_AS.12_1#47f84d133?vcp=1&amp;pid=77a88c3c3&amp;color=0,0,0&amp;vtp=1&amp;bt=1&amp;bbb=1&amp;hb=1"/>
          <p:cNvSpPr/>
          <p:nvPr/>
        </p:nvSpPr>
        <p:spPr>
          <a:xfrm>
            <a:off x="393192" y="1812385"/>
            <a:ext cx="11402568" cy="3272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atinLnBrk="1">
              <a:lnSpc>
                <a:spcPts val="44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[解析]</a:t>
            </a:r>
            <a:r>
              <a:rPr lang="en-US" altLang="zh-CN" sz="2400" b="1" i="0" dirty="0">
                <a:solidFill>
                  <a:srgbClr val="FF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瓶中气泡实质上是水的“空隙”,故应用惯性理论分析时</a:t>
            </a:r>
            <a:r>
              <a:rPr lang="en-US" altLang="zh-CN" sz="2400" b="1" i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,研究对象应该是水而不</a:t>
            </a:r>
          </a:p>
          <a:p>
            <a:pPr latinLnBrk="1">
              <a:lnSpc>
                <a:spcPts val="4400"/>
              </a:lnSpc>
            </a:pPr>
            <a:r>
              <a:rPr lang="en-US" altLang="zh-CN" sz="2400" b="1" i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是气泡</a:t>
            </a: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.当瓶子向前加速运动时,由于惯性,瓶中水要保持原来的静止状态</a:t>
            </a:r>
            <a:r>
              <a:rPr lang="en-US" altLang="zh-CN" sz="2400" b="1" i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,气泡后边的水</a:t>
            </a:r>
          </a:p>
          <a:p>
            <a:pPr latinLnBrk="1">
              <a:lnSpc>
                <a:spcPts val="4400"/>
              </a:lnSpc>
            </a:pPr>
            <a:r>
              <a:rPr lang="en-US" altLang="zh-CN" sz="2400" b="1" i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由于瓶底的作用随瓶一起向前加速运动</a:t>
            </a: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,而气泡前边的水将相对瓶向后移动</a:t>
            </a:r>
            <a:r>
              <a:rPr lang="en-US" altLang="zh-CN" sz="2400" b="1" i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,气泡向前</a:t>
            </a:r>
          </a:p>
          <a:p>
            <a:pPr latinLnBrk="1">
              <a:lnSpc>
                <a:spcPts val="4400"/>
              </a:lnSpc>
            </a:pPr>
            <a:r>
              <a:rPr lang="en-US" altLang="zh-CN" sz="2400" b="1" i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移动</a:t>
            </a: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.当瓶子运动起来后,最终静止,因此瓶子必然要减速运动</a:t>
            </a:r>
            <a:r>
              <a:rPr lang="en-US" altLang="zh-CN" sz="2400" b="1" i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,这时气泡前边的水受瓶的</a:t>
            </a:r>
          </a:p>
          <a:p>
            <a:pPr latinLnBrk="1">
              <a:lnSpc>
                <a:spcPts val="4400"/>
              </a:lnSpc>
            </a:pPr>
            <a:r>
              <a:rPr lang="en-US" altLang="zh-CN" sz="2400" b="1" i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作用随瓶一起做减速运动</a:t>
            </a: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,而气泡后边的水将相对瓶向前运动,</a:t>
            </a:r>
            <a:r>
              <a:rPr lang="en-US" altLang="zh-CN" sz="2400" b="1" i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气泡将相对瓶向后移动，</a:t>
            </a:r>
          </a:p>
          <a:p>
            <a:pPr latinLnBrk="1">
              <a:lnSpc>
                <a:spcPts val="4200"/>
              </a:lnSpc>
            </a:pPr>
            <a:r>
              <a:rPr lang="en-US" altLang="zh-CN" sz="2400" b="1" i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故选项</a:t>
            </a: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C正确.］</a:t>
            </a:r>
            <a:endParaRPr lang="en-US" altLang="zh-CN" sz="2400" dirty="0"/>
          </a:p>
        </p:txBody>
      </p:sp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&amp;si=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QC_4_BD.13_1#94476e536?vcp=1&amp;pid=77a88c3c3&amp;color=0,0,0&amp;vtp=1&amp;bt=1&amp;bbb=1&amp;hb=1"/>
              <p:cNvSpPr/>
              <p:nvPr/>
            </p:nvSpPr>
            <p:spPr>
              <a:xfrm>
                <a:off x="393192" y="1465168"/>
                <a:ext cx="11402568" cy="1592199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3.</a:t>
                </a:r>
                <a:r>
                  <a:rPr lang="en-US" altLang="zh-CN" sz="2400" b="1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考点3</a:t>
                </a:r>
                <a:r>
                  <a:rPr lang="en-US" altLang="zh-CN" sz="2400" b="1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一列以速度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𝑣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匀速行驶的列车内有一水平桌面，桌面上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𝐴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处有一相对桌面静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止的小球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.由于列车运动状态的改变，车厢中的旅客发现小球沿图示（俯视图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）中的虚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线从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𝐴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点运动到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𝐵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点.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则能说明列车是减速且在向南拐弯的图示是(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).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2" name="QC_4_BD.13_1#94476e536?vcp=1&amp;pid=77a88c3c3&amp;color=0,0,0&amp;vtp=1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465168"/>
                <a:ext cx="11402568" cy="1592199"/>
              </a:xfrm>
              <a:prstGeom prst="rect">
                <a:avLst/>
              </a:prstGeom>
              <a:blipFill>
                <a:blip r:embed="rId3"/>
                <a:stretch>
                  <a:fillRect l="-1658" r="-1230" b="-11450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QC_4_AN.14_1#94476e536.bracket?vcp=1&amp;pid=77a88c3c3&amp;color=0,0,0&amp;vpa=6&amp;vtp=1"/>
          <p:cNvSpPr/>
          <p:nvPr/>
        </p:nvSpPr>
        <p:spPr>
          <a:xfrm>
            <a:off x="9031637" y="2571337"/>
            <a:ext cx="441325" cy="47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2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A</a:t>
            </a:r>
            <a:endParaRPr lang="en-US" altLang="zh-CN" sz="2400" dirty="0"/>
          </a:p>
        </p:txBody>
      </p:sp>
      <p:sp>
        <p:nvSpPr>
          <p:cNvPr id="4" name="QC_4_BD.13_2#94476e536.choices?vcp=1&amp;pid=77a88c3c3&amp;color=0,0,0&amp;vtp=1&amp;bbb=1"/>
          <p:cNvSpPr/>
          <p:nvPr/>
        </p:nvSpPr>
        <p:spPr>
          <a:xfrm>
            <a:off x="393192" y="3185763"/>
            <a:ext cx="11402568" cy="11632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latinLnBrk="1">
              <a:lnSpc>
                <a:spcPts val="10400"/>
              </a:lnSpc>
              <a:tabLst>
                <a:tab pos="2916677" algn="l"/>
                <a:tab pos="5807954" algn="l"/>
                <a:tab pos="8699231" algn="l"/>
              </a:tabLst>
            </a:pP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A.</a:t>
            </a:r>
            <a:r>
              <a:rPr lang="en-US" altLang="zh-CN" sz="5650" b="0" i="0" kern="0" spc="-99900">
                <a:solidFill>
                  <a:srgbClr val="FFFFFF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 </a:t>
            </a:r>
            <a:r>
              <a:rPr lang="en-US" altLang="zh-CN" sz="900" b="0" i="0" kern="0">
                <a:solidFill>
                  <a:srgbClr val="FFFFFF"/>
                </a:solidFill>
                <a:latin typeface="SimSun" panose="02010600030101010101" pitchFamily="2" charset="-122"/>
                <a:ea typeface="微软雅黑" pitchFamily="34" charset="-122"/>
                <a:cs typeface="Times New Roman" pitchFamily="34" charset="-120"/>
              </a:rPr>
              <a:t>                                     </a:t>
            </a:r>
            <a:r>
              <a:rPr lang="en-US" altLang="zh-CN" sz="2400" b="0" i="0" spc="-1030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	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B.</a:t>
            </a:r>
            <a:r>
              <a:rPr lang="en-US" altLang="zh-CN" sz="5700" b="0" i="0" kern="0" spc="-99900">
                <a:solidFill>
                  <a:srgbClr val="FFFFFF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 </a:t>
            </a:r>
            <a:r>
              <a:rPr lang="en-US" altLang="zh-CN" sz="900" b="0" i="0" kern="0">
                <a:solidFill>
                  <a:srgbClr val="FFFFFF"/>
                </a:solidFill>
                <a:latin typeface="SimSun" panose="02010600030101010101" pitchFamily="2" charset="-122"/>
                <a:ea typeface="微软雅黑" pitchFamily="34" charset="-122"/>
                <a:cs typeface="Times New Roman" pitchFamily="34" charset="-120"/>
              </a:rPr>
              <a:t>                                     </a:t>
            </a:r>
            <a:r>
              <a:rPr lang="en-US" altLang="zh-CN" sz="2400" b="0" i="0" spc="-1030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	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C.</a:t>
            </a:r>
            <a:r>
              <a:rPr lang="en-US" altLang="zh-CN" sz="5800" b="0" i="0" kern="0" spc="-99900">
                <a:solidFill>
                  <a:srgbClr val="FFFFFF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 </a:t>
            </a:r>
            <a:r>
              <a:rPr lang="en-US" altLang="zh-CN" sz="900" b="0" i="0" kern="0">
                <a:solidFill>
                  <a:srgbClr val="FFFFFF"/>
                </a:solidFill>
                <a:latin typeface="SimSun" panose="02010600030101010101" pitchFamily="2" charset="-122"/>
                <a:ea typeface="微软雅黑" pitchFamily="34" charset="-122"/>
                <a:cs typeface="Times New Roman" pitchFamily="34" charset="-120"/>
              </a:rPr>
              <a:t>                                     </a:t>
            </a:r>
            <a:r>
              <a:rPr lang="en-US" altLang="zh-CN" sz="2400" b="0" i="0" spc="-1030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	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D.</a:t>
            </a:r>
            <a:r>
              <a:rPr lang="en-US" altLang="zh-CN" sz="2400" b="0" i="0" kern="0" spc="-99900">
                <a:solidFill>
                  <a:srgbClr val="FFFFFF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 </a:t>
            </a:r>
            <a:r>
              <a:rPr lang="en-US" altLang="zh-CN" sz="900" b="0" i="0" kern="0">
                <a:solidFill>
                  <a:srgbClr val="FFFFFF"/>
                </a:solidFill>
                <a:latin typeface="SimSun" panose="02010600030101010101" pitchFamily="2" charset="-122"/>
                <a:ea typeface="微软雅黑" pitchFamily="34" charset="-122"/>
                <a:cs typeface="Times New Roman" pitchFamily="34" charset="-120"/>
              </a:rPr>
              <a:t>                                     </a:t>
            </a:r>
            <a:endParaRPr lang="en-US" altLang="zh-CN" sz="900" dirty="0">
              <a:latin typeface="SimSun" panose="02010600030101010101" pitchFamily="2" charset="-122"/>
            </a:endParaRPr>
          </a:p>
        </p:txBody>
      </p:sp>
      <p:pic>
        <p:nvPicPr>
          <p:cNvPr id="5" name="QC_4_BD.13_2#94476e536.choice_image?vcp=1&amp;pid=77a88c3c3&amp;color=0,0,0&amp;tib=255,255,255&amp;iip=1&amp;vtp=1" descr="preencoded.png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95801" y="3218973"/>
            <a:ext cx="2103120" cy="11338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p:pic>
        <p:nvPicPr>
          <p:cNvPr id="6" name="QC_4_BD.13_2#94476e536.choice_image?vcp=1&amp;pid=77a88c3c3&amp;color=0,0,0&amp;tib=255,255,255&amp;iip=2&amp;vtp=1" descr="preencoded.png"/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594894" y="3209829"/>
            <a:ext cx="2103120" cy="1143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p:pic>
        <p:nvPicPr>
          <p:cNvPr id="7" name="QC_4_BD.13_2#94476e536.choice_image?vcp=1&amp;pid=77a88c3c3&amp;color=0,0,0&amp;tib=255,255,255&amp;iip=3&amp;vtp=1" descr="preencoded.png"/>
          <p:cNvPicPr>
            <a:picLocks noChangeAspect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486049" y="3182398"/>
            <a:ext cx="2103120" cy="11704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p:pic>
        <p:nvPicPr>
          <p:cNvPr id="8" name="QC_4_BD.13_2#94476e536.choice_image?vcp=1&amp;pid=77a88c3c3&amp;color=0,0,0&amp;tib=255,255,255&amp;iip=4&amp;vtp=1" descr="preencoded.png"/>
          <p:cNvPicPr>
            <a:picLocks noChangeAspect="1"/>
          </p:cNvPicPr>
          <p:nvPr/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395301" y="3182398"/>
            <a:ext cx="2103120" cy="11704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p:sp>
        <p:nvSpPr>
          <p:cNvPr id="9" name="QC_4_AS.15_1#94476e536?vcp=1&amp;pid=77a88c3c3&amp;color=0,0,0&amp;vtp=1&amp;bbb=1&amp;hb=1"/>
          <p:cNvSpPr/>
          <p:nvPr/>
        </p:nvSpPr>
        <p:spPr>
          <a:xfrm>
            <a:off x="393192" y="4350353"/>
            <a:ext cx="11402568" cy="1037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atinLnBrk="1">
              <a:lnSpc>
                <a:spcPts val="44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[解析]</a:t>
            </a:r>
            <a:r>
              <a:rPr lang="en-US" altLang="zh-CN" sz="2400" b="1" i="0" dirty="0">
                <a:solidFill>
                  <a:srgbClr val="FF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列车减速，则小球保持原速相对于列车向前运动，列车向南拐弯</a:t>
            </a:r>
            <a:r>
              <a:rPr lang="en-US" altLang="zh-CN" sz="2400" b="1" i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，小球相对于</a:t>
            </a:r>
          </a:p>
          <a:p>
            <a:pPr latinLnBrk="1">
              <a:lnSpc>
                <a:spcPts val="4200"/>
              </a:lnSpc>
            </a:pPr>
            <a:r>
              <a:rPr lang="en-US" altLang="zh-CN" sz="2400" b="1" i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列车向北运动</a:t>
            </a: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，可知选项A正确.</a:t>
            </a:r>
            <a:endParaRPr lang="en-US" altLang="zh-CN" sz="2400" dirty="0"/>
          </a:p>
        </p:txBody>
      </p:sp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9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  <p:bldP spid="9" grpId="0" build="p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&amp;si=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QC_4_BD.16_1#7bdf12c40?vcp=1&amp;pid=77a88c3c3&amp;color=0,0,0&amp;vtp=1&amp;bt=1&amp;bbb=1&amp;hb=1"/>
          <p:cNvSpPr/>
          <p:nvPr/>
        </p:nvSpPr>
        <p:spPr>
          <a:xfrm>
            <a:off x="393192" y="837787"/>
            <a:ext cx="11402568" cy="10333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atinLnBrk="1">
              <a:lnSpc>
                <a:spcPts val="4400"/>
              </a:lnSpc>
            </a:pP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4.</a:t>
            </a:r>
            <a:r>
              <a:rPr lang="en-US" altLang="zh-CN" sz="2400" b="1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考点3</a:t>
            </a:r>
            <a:r>
              <a:rPr lang="en-US" altLang="zh-CN" sz="2400" b="1" i="0" dirty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2400" b="0" i="0" dirty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一碗水置于火车车厢内的水平桌面上.当火车向右做匀减速运动时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，水面形</a:t>
            </a:r>
          </a:p>
          <a:p>
            <a:pPr latinLnBrk="1">
              <a:lnSpc>
                <a:spcPts val="42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状接近于下列图示中的(</a:t>
            </a:r>
            <a:r>
              <a:rPr lang="en-US" altLang="zh-CN" sz="2400" b="0" i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2400" b="1" i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   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).</a:t>
            </a:r>
            <a:endParaRPr lang="en-US" altLang="zh-CN" sz="2400" dirty="0"/>
          </a:p>
        </p:txBody>
      </p:sp>
      <p:sp>
        <p:nvSpPr>
          <p:cNvPr id="3" name="QC_4_AN.17_1#7bdf12c40.bracket?vcp=1&amp;pid=77a88c3c3&amp;color=0,0,0&amp;vpa=7&amp;vtp=1"/>
          <p:cNvSpPr/>
          <p:nvPr/>
        </p:nvSpPr>
        <p:spPr>
          <a:xfrm>
            <a:off x="3673760" y="1385157"/>
            <a:ext cx="441325" cy="47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2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A</a:t>
            </a:r>
            <a:endParaRPr lang="en-US" altLang="zh-CN" sz="2400" dirty="0"/>
          </a:p>
        </p:txBody>
      </p:sp>
      <p:sp>
        <p:nvSpPr>
          <p:cNvPr id="4" name="QC_4_BD.16_2#7bdf12c40.choices?vcp=1&amp;pid=77a88c3c3&amp;color=0,0,0&amp;vtp=1&amp;bbb=1"/>
          <p:cNvSpPr/>
          <p:nvPr/>
        </p:nvSpPr>
        <p:spPr>
          <a:xfrm>
            <a:off x="393192" y="1998312"/>
            <a:ext cx="11402568" cy="7498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latinLnBrk="1">
              <a:lnSpc>
                <a:spcPts val="6700"/>
              </a:lnSpc>
              <a:tabLst>
                <a:tab pos="2862702" algn="l"/>
                <a:tab pos="5750804" algn="l"/>
                <a:tab pos="8816706" algn="l"/>
              </a:tabLst>
            </a:pP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A.</a:t>
            </a:r>
            <a:r>
              <a:rPr lang="en-US" altLang="zh-CN" sz="3750" b="0" i="0" kern="0" spc="-99900">
                <a:solidFill>
                  <a:srgbClr val="FFFFFF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 </a:t>
            </a:r>
            <a:r>
              <a:rPr lang="en-US" altLang="zh-CN" sz="900" b="0" i="0" kern="0">
                <a:solidFill>
                  <a:srgbClr val="FFFFFF"/>
                </a:solidFill>
                <a:latin typeface="SimSun" panose="02010600030101010101" pitchFamily="2" charset="-122"/>
                <a:ea typeface="微软雅黑" pitchFamily="34" charset="-122"/>
                <a:cs typeface="Times New Roman" pitchFamily="34" charset="-120"/>
              </a:rPr>
              <a:t>                      </a:t>
            </a:r>
            <a:r>
              <a:rPr lang="en-US" altLang="zh-CN" sz="2400" b="0" i="0" spc="-1030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	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B.</a:t>
            </a:r>
            <a:r>
              <a:rPr lang="en-US" altLang="zh-CN" sz="3750" b="0" i="0" kern="0" spc="-99900">
                <a:solidFill>
                  <a:srgbClr val="FFFFFF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 </a:t>
            </a:r>
            <a:r>
              <a:rPr lang="en-US" altLang="zh-CN" sz="900" b="0" i="0" kern="0">
                <a:solidFill>
                  <a:srgbClr val="FFFFFF"/>
                </a:solidFill>
                <a:latin typeface="SimSun" panose="02010600030101010101" pitchFamily="2" charset="-122"/>
                <a:ea typeface="微软雅黑" pitchFamily="34" charset="-122"/>
                <a:cs typeface="Times New Roman" pitchFamily="34" charset="-120"/>
              </a:rPr>
              <a:t>                       </a:t>
            </a:r>
            <a:r>
              <a:rPr lang="en-US" altLang="zh-CN" sz="2400" b="0" i="0" spc="-1030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	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C.</a:t>
            </a:r>
            <a:r>
              <a:rPr lang="en-US" altLang="zh-CN" sz="3750" b="0" i="0" kern="0" spc="-99900">
                <a:solidFill>
                  <a:srgbClr val="FFFFFF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 </a:t>
            </a:r>
            <a:r>
              <a:rPr lang="en-US" altLang="zh-CN" sz="900" b="0" i="0" kern="0">
                <a:solidFill>
                  <a:srgbClr val="FFFFFF"/>
                </a:solidFill>
                <a:latin typeface="SimSun" panose="02010600030101010101" pitchFamily="2" charset="-122"/>
                <a:ea typeface="微软雅黑" pitchFamily="34" charset="-122"/>
                <a:cs typeface="Times New Roman" pitchFamily="34" charset="-120"/>
              </a:rPr>
              <a:t>                          </a:t>
            </a:r>
            <a:r>
              <a:rPr lang="en-US" altLang="zh-CN" sz="2400" b="0" i="0" spc="-1030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	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D.</a:t>
            </a:r>
            <a:r>
              <a:rPr lang="en-US" altLang="zh-CN" sz="3750" b="0" i="0" kern="0" spc="-99900">
                <a:solidFill>
                  <a:srgbClr val="FFFFFF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 </a:t>
            </a:r>
            <a:r>
              <a:rPr lang="en-US" altLang="zh-CN" sz="900" b="0" i="0" kern="0">
                <a:solidFill>
                  <a:srgbClr val="FFFFFF"/>
                </a:solidFill>
                <a:latin typeface="SimSun" panose="02010600030101010101" pitchFamily="2" charset="-122"/>
                <a:ea typeface="微软雅黑" pitchFamily="34" charset="-122"/>
                <a:cs typeface="Times New Roman" pitchFamily="34" charset="-120"/>
              </a:rPr>
              <a:t>                     </a:t>
            </a:r>
            <a:endParaRPr lang="en-US" altLang="zh-CN" sz="900" dirty="0">
              <a:latin typeface="SimSun" panose="02010600030101010101" pitchFamily="2" charset="-122"/>
            </a:endParaRPr>
          </a:p>
        </p:txBody>
      </p:sp>
      <p:pic>
        <p:nvPicPr>
          <p:cNvPr id="5" name="QC_4_BD.16_2#7bdf12c40.choice_image?vcp=1&amp;pid=77a88c3c3&amp;color=0,0,0&amp;tib=255,255,255&amp;iip=5&amp;vtp=1" descr="preencoded.png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15233" y="2003075"/>
            <a:ext cx="1207008" cy="7498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p:pic>
        <p:nvPicPr>
          <p:cNvPr id="6" name="QC_4_BD.16_2#7bdf12c40.choice_image?vcp=1&amp;pid=77a88c3c3&amp;color=0,0,0&amp;tib=255,255,255&amp;iip=6&amp;vtp=1" descr="preencoded.png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547777" y="2003075"/>
            <a:ext cx="1289304" cy="7498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p:pic>
        <p:nvPicPr>
          <p:cNvPr id="7" name="QC_4_BD.16_2#7bdf12c40.choice_image?vcp=1&amp;pid=77a88c3c3&amp;color=0,0,0&amp;tib=255,255,255&amp;iip=7&amp;vtp=1" descr="preencoded.png"/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448330" y="2003075"/>
            <a:ext cx="1435608" cy="7498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p:pic>
        <p:nvPicPr>
          <p:cNvPr id="8" name="QC_4_BD.16_2#7bdf12c40.choice_image?vcp=1&amp;pid=77a88c3c3&amp;color=0,0,0&amp;tib=255,255,255&amp;iip=8&amp;vtp=1" descr="preencoded.png"/>
          <p:cNvPicPr>
            <a:picLocks noChangeAspect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517349" y="2012220"/>
            <a:ext cx="1179576" cy="7406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9" name="QC_4_AS.18_1#7bdf12c40?vcp=1&amp;pid=77a88c3c3&amp;color=0,0,0&amp;vtp=1&amp;bbb=1&amp;hb=1"/>
              <p:cNvSpPr/>
              <p:nvPr/>
            </p:nvSpPr>
            <p:spPr>
              <a:xfrm>
                <a:off x="393192" y="2755549"/>
                <a:ext cx="11402568" cy="32726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[解析]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方法一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当火车向右做匀减速运动时，碗内的水由于惯性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，保持原来较大的速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度向右运动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，则只有图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𝑨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所示的情形符合要求，故A正确.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方法二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“微元体”的选取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由于液体内任一部分所受合力水平向左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，故可在液体内部任意位置取一个立方体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，则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右侧面处的压强必大于左侧面处的压强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，由液体的压强公式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𝒑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𝝆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𝒈𝒉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可知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，液体内同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一水平线上各点从左到右距液面的高度依次增大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，故A正确.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9" name="QC_4_AS.18_1#7bdf12c40?vcp=1&amp;pid=77a88c3c3&amp;color=0,0,0&amp;vtp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2755549"/>
                <a:ext cx="11402568" cy="3272600"/>
              </a:xfrm>
              <a:prstGeom prst="rect">
                <a:avLst/>
              </a:prstGeom>
              <a:blipFill>
                <a:blip r:embed="rId7"/>
                <a:stretch>
                  <a:fillRect l="-1658" r="-535" b="-5587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9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  <p:bldP spid="9" grpId="0" build="p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&amp;si=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QC_4_BD.19_1#275eb8b6f?vcp=1&amp;pid=77a88c3c3&amp;color=0,0,0&amp;vtp=1&amp;bt=1&amp;bbb=1&amp;hb=1"/>
              <p:cNvSpPr/>
              <p:nvPr/>
            </p:nvSpPr>
            <p:spPr>
              <a:xfrm>
                <a:off x="393192" y="672401"/>
                <a:ext cx="11402568" cy="1998599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1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5.</a:t>
                </a:r>
                <a:r>
                  <a:rPr lang="en-US" altLang="zh-CN" sz="2400" b="1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考点3</a:t>
                </a:r>
                <a:r>
                  <a:rPr lang="en-US" altLang="zh-CN" sz="2400" b="1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1E5A99"/>
                    </a:solidFill>
                    <a:latin typeface="KaiTi" pitchFamily="34" charset="0"/>
                    <a:ea typeface="KaiTi" pitchFamily="34" charset="-122"/>
                    <a:cs typeface="KaiTi" pitchFamily="34" charset="-120"/>
                  </a:rPr>
                  <a:t>（2026·湖北荆州中学检测）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如图所示，在车厢中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𝐴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是用绳拴在底部的氢气</a:t>
                </a:r>
              </a:p>
              <a:p>
                <a:pPr latinLnBrk="1">
                  <a:lnSpc>
                    <a:spcPts val="41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球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𝐵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是用绳挂在车厢顶的金属球，开始时它们和车一起向右做匀速直线运动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.若忽然</a:t>
                </a:r>
              </a:p>
              <a:p>
                <a:pPr latinLnBrk="1">
                  <a:lnSpc>
                    <a:spcPts val="41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刹车使车向右做匀减速运动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则下列哪个图示能正确表示刹车期间车内的情况？</a:t>
                </a:r>
              </a:p>
              <a:p>
                <a:pPr latinLnBrk="1">
                  <a:lnSpc>
                    <a:spcPts val="38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(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).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2" name="QC_4_BD.19_1#275eb8b6f?vcp=1&amp;pid=77a88c3c3&amp;color=0,0,0&amp;vtp=1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672401"/>
                <a:ext cx="11402568" cy="1998599"/>
              </a:xfrm>
              <a:prstGeom prst="rect">
                <a:avLst/>
              </a:prstGeom>
              <a:blipFill>
                <a:blip r:embed="rId3"/>
                <a:stretch>
                  <a:fillRect l="-1658" t="-915" r="-374" b="-9451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QC_4_AN.20_1#275eb8b6f.bracket?vcp=1&amp;pid=77a88c3c3&amp;color=0,0,0&amp;vpa=8&amp;vtp=1"/>
          <p:cNvSpPr/>
          <p:nvPr/>
        </p:nvSpPr>
        <p:spPr>
          <a:xfrm>
            <a:off x="625760" y="2215133"/>
            <a:ext cx="441325" cy="44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38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D</a:t>
            </a:r>
            <a:endParaRPr lang="en-US" altLang="zh-CN" sz="2400" dirty="0"/>
          </a:p>
        </p:txBody>
      </p:sp>
      <p:pic>
        <p:nvPicPr>
          <p:cNvPr id="4" name="QC_4_BD.19_2#275eb8b6f?htil=3&amp;vcp=1&amp;pid=77a88c3c3&amp;color=0,0,0&amp;tib=255,255,255&amp;vtp=1&amp;hs=1" descr="preencoded.png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115956" y="2773998"/>
            <a:ext cx="1419800" cy="8801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p:sp>
        <p:nvSpPr>
          <p:cNvPr id="5" name="QC_4_BD.19_3#275eb8b6f.choices?htil=3&amp;vcp=1&amp;pid=77a88c3c3&amp;color=0,0,0&amp;vtp=1&amp;bbb=1&amp;hs=1"/>
          <p:cNvSpPr/>
          <p:nvPr/>
        </p:nvSpPr>
        <p:spPr>
          <a:xfrm>
            <a:off x="393192" y="2786698"/>
            <a:ext cx="9701784" cy="905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latinLnBrk="1">
              <a:lnSpc>
                <a:spcPts val="8100"/>
              </a:lnSpc>
              <a:tabLst>
                <a:tab pos="2517521" algn="l"/>
                <a:tab pos="4958842" algn="l"/>
                <a:tab pos="7450963" algn="l"/>
              </a:tabLst>
            </a:pP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A.</a:t>
            </a:r>
            <a:r>
              <a:rPr lang="en-US" altLang="zh-CN" sz="4250" b="0" i="0" kern="0" spc="-99900">
                <a:solidFill>
                  <a:srgbClr val="FFFFFF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 </a:t>
            </a:r>
            <a:r>
              <a:rPr lang="en-US" altLang="zh-CN" sz="900" b="0" i="0" kern="0">
                <a:solidFill>
                  <a:srgbClr val="FFFFFF"/>
                </a:solidFill>
                <a:latin typeface="SimSun" panose="02010600030101010101" pitchFamily="2" charset="-122"/>
                <a:ea typeface="微软雅黑" pitchFamily="34" charset="-122"/>
                <a:cs typeface="Times New Roman" pitchFamily="34" charset="-120"/>
              </a:rPr>
              <a:t>                               </a:t>
            </a:r>
            <a:r>
              <a:rPr lang="en-US" altLang="zh-CN" sz="2400" b="0" i="0" spc="-1030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	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B.</a:t>
            </a:r>
            <a:r>
              <a:rPr lang="en-US" altLang="zh-CN" sz="4250" b="0" i="0" kern="0" spc="-99900">
                <a:solidFill>
                  <a:srgbClr val="FFFFFF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 </a:t>
            </a:r>
            <a:r>
              <a:rPr lang="en-US" altLang="zh-CN" sz="900" b="0" i="0" kern="0">
                <a:solidFill>
                  <a:srgbClr val="FFFFFF"/>
                </a:solidFill>
                <a:latin typeface="SimSun" panose="02010600030101010101" pitchFamily="2" charset="-122"/>
                <a:ea typeface="微软雅黑" pitchFamily="34" charset="-122"/>
                <a:cs typeface="Times New Roman" pitchFamily="34" charset="-120"/>
              </a:rPr>
              <a:t>                              </a:t>
            </a:r>
            <a:r>
              <a:rPr lang="en-US" altLang="zh-CN" sz="2400" b="0" i="0" spc="-1030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	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C.</a:t>
            </a:r>
            <a:r>
              <a:rPr lang="en-US" altLang="zh-CN" sz="4500" b="0" i="0" kern="0" spc="-99900">
                <a:solidFill>
                  <a:srgbClr val="FFFFFF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 </a:t>
            </a:r>
            <a:r>
              <a:rPr lang="en-US" altLang="zh-CN" sz="900" b="0" i="0" kern="0">
                <a:solidFill>
                  <a:srgbClr val="FFFFFF"/>
                </a:solidFill>
                <a:latin typeface="SimSun" panose="02010600030101010101" pitchFamily="2" charset="-122"/>
                <a:ea typeface="微软雅黑" pitchFamily="34" charset="-122"/>
                <a:cs typeface="Times New Roman" pitchFamily="34" charset="-120"/>
              </a:rPr>
              <a:t>                               </a:t>
            </a:r>
            <a:r>
              <a:rPr lang="en-US" altLang="zh-CN" sz="2400" b="0" i="0" spc="-1030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	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D.</a:t>
            </a:r>
            <a:r>
              <a:rPr lang="en-US" altLang="zh-CN" sz="4500" b="0" i="0" kern="0" spc="-99900">
                <a:solidFill>
                  <a:srgbClr val="FFFFFF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 </a:t>
            </a:r>
            <a:r>
              <a:rPr lang="en-US" altLang="zh-CN" sz="900" b="0" i="0" kern="0">
                <a:solidFill>
                  <a:srgbClr val="FFFFFF"/>
                </a:solidFill>
                <a:latin typeface="SimSun" panose="02010600030101010101" pitchFamily="2" charset="-122"/>
                <a:ea typeface="微软雅黑" pitchFamily="34" charset="-122"/>
                <a:cs typeface="Times New Roman" pitchFamily="34" charset="-120"/>
              </a:rPr>
              <a:t>                              </a:t>
            </a:r>
            <a:endParaRPr lang="en-US" altLang="zh-CN" sz="900" dirty="0">
              <a:latin typeface="SimSun" panose="02010600030101010101" pitchFamily="2" charset="-122"/>
            </a:endParaRPr>
          </a:p>
        </p:txBody>
      </p:sp>
      <p:pic>
        <p:nvPicPr>
          <p:cNvPr id="6" name="QC_4_BD.19_3#275eb8b6f.choice_image?htil=3&amp;vcp=1&amp;pid=77a88c3c3&amp;color=0,0,0&amp;tib=255,255,255&amp;iip=9&amp;vtp=1" descr="preencoded.png"/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16376" y="2841816"/>
            <a:ext cx="1719072" cy="8503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p:pic>
        <p:nvPicPr>
          <p:cNvPr id="7" name="QC_4_BD.19_3#275eb8b6f.choice_image?htil=3&amp;vcp=1&amp;pid=77a88c3c3&amp;color=0,0,0&amp;tib=255,255,255&amp;iip=10&amp;vtp=1" descr="preencoded.png"/>
          <p:cNvPicPr>
            <a:picLocks noChangeAspect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197257" y="2841816"/>
            <a:ext cx="1700784" cy="8503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p:pic>
        <p:nvPicPr>
          <p:cNvPr id="8" name="QC_4_BD.19_3#275eb8b6f.choice_image?htil=3&amp;vcp=1&amp;pid=77a88c3c3&amp;color=0,0,0&amp;tib=255,255,255&amp;iip=11&amp;vtp=1" descr="preencoded.png"/>
          <p:cNvPicPr>
            <a:picLocks noChangeAspect="1"/>
          </p:cNvPicPr>
          <p:nvPr/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657628" y="2786952"/>
            <a:ext cx="1719072" cy="9052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p:pic>
        <p:nvPicPr>
          <p:cNvPr id="9" name="QC_4_BD.19_3#275eb8b6f.choice_image?htil=3&amp;vcp=1&amp;pid=77a88c3c3&amp;color=0,0,0&amp;tib=255,255,255&amp;iip=12&amp;vtp=1" descr="preencoded.png"/>
          <p:cNvPicPr>
            <a:picLocks noChangeAspect="1"/>
          </p:cNvPicPr>
          <p:nvPr/>
        </p:nvPicPr>
        <p:blipFill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148034" y="2786952"/>
            <a:ext cx="1700784" cy="9052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0" name="QC_4_AS.21_1#275eb8b6f?vcp=1&amp;pid=77a88c3c3&amp;color=0,0,0&amp;vtp=1&amp;bbb=1&amp;hb=1&amp;hs=1"/>
              <p:cNvSpPr/>
              <p:nvPr/>
            </p:nvSpPr>
            <p:spPr>
              <a:xfrm>
                <a:off x="393192" y="3692208"/>
                <a:ext cx="11402568" cy="2532825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1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[解析]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开始时金属球、车厢及氢气球有相同的向右的速度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，突然刹车使车做减速运动</a:t>
                </a:r>
              </a:p>
              <a:p>
                <a:pPr latinLnBrk="1">
                  <a:lnSpc>
                    <a:spcPts val="41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时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，由于金属球比车厢内同体积的空气质量大、惯性大，运动状态不易改变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，相对于</a:t>
                </a:r>
              </a:p>
              <a:p>
                <a:pPr latinLnBrk="1">
                  <a:lnSpc>
                    <a:spcPts val="41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车厢还是向右运动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，因此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𝑩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向右偏，故B、C错误.氢气虽然有惯性，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但因为氢气密度小，</a:t>
                </a:r>
              </a:p>
              <a:p>
                <a:pPr latinLnBrk="1">
                  <a:lnSpc>
                    <a:spcPts val="41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空气密度大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（惯性比气球大），所以氢气球被空气向后推开，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相对于车厢向左运动，</a:t>
                </a:r>
              </a:p>
              <a:p>
                <a:pPr latinLnBrk="1">
                  <a:lnSpc>
                    <a:spcPts val="39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故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A错误，D正确.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10" name="QC_4_AS.21_1#275eb8b6f?vcp=1&amp;pid=77a88c3c3&amp;color=0,0,0&amp;vtp=1&amp;bbb=1&amp;hb=1&amp;hs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3692208"/>
                <a:ext cx="11402568" cy="2532825"/>
              </a:xfrm>
              <a:prstGeom prst="rect">
                <a:avLst/>
              </a:prstGeom>
              <a:blipFill>
                <a:blip r:embed="rId9"/>
                <a:stretch>
                  <a:fillRect l="-1658" r="-4225" b="-7229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  <p:bldP spid="10" grpId="0" build="p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&amp;si=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_3_BD#cb3dafbec?vcp=1&amp;pid=ab3d0c6a4&amp;color=0,0,0&amp;vtp=1&amp;bt=1&amp;bbb=1"/>
          <p:cNvSpPr/>
          <p:nvPr/>
        </p:nvSpPr>
        <p:spPr>
          <a:xfrm>
            <a:off x="393192" y="502920"/>
            <a:ext cx="11402568" cy="949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atinLnBrk="1">
              <a:lnSpc>
                <a:spcPts val="4600"/>
              </a:lnSpc>
            </a:pPr>
            <a:r>
              <a:rPr lang="en-US" altLang="zh-CN" sz="2600" b="1" i="0" dirty="0">
                <a:solidFill>
                  <a:srgbClr val="000000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拓展考点突破练</a:t>
            </a:r>
            <a:endParaRPr lang="en-US" altLang="zh-CN" sz="2600" dirty="0"/>
          </a:p>
        </p:txBody>
      </p:sp>
      <p:sp>
        <p:nvSpPr>
          <p:cNvPr id="3" name="P_4_BD#6c5154d7f?vcp=1&amp;pid=cb3dafbec&amp;color=0,0,0&amp;vtp=1&amp;bbb=1"/>
          <p:cNvSpPr/>
          <p:nvPr/>
        </p:nvSpPr>
        <p:spPr>
          <a:xfrm>
            <a:off x="393192" y="1093884"/>
            <a:ext cx="11402568" cy="48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300"/>
              </a:lnSpc>
            </a:pP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限时10分钟</a:t>
            </a:r>
            <a:endParaRPr lang="en-US" altLang="zh-CN" sz="2400" dirty="0"/>
          </a:p>
        </p:txBody>
      </p:sp>
      <p:sp>
        <p:nvSpPr>
          <p:cNvPr id="4" name="QC_4_BD.22_1#ac2a8e71d?vcp=1&amp;pid=cb3dafbec&amp;color=0,0,0&amp;vtp=1&amp;bbb=1&amp;hb=1"/>
          <p:cNvSpPr/>
          <p:nvPr/>
        </p:nvSpPr>
        <p:spPr>
          <a:xfrm>
            <a:off x="393192" y="1649285"/>
            <a:ext cx="11402568" cy="15921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atinLnBrk="1">
              <a:lnSpc>
                <a:spcPts val="4400"/>
              </a:lnSpc>
            </a:pP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1.</a:t>
            </a:r>
            <a:r>
              <a:rPr lang="en-US" altLang="zh-CN" sz="2400" b="0" i="0" dirty="0">
                <a:solidFill>
                  <a:srgbClr val="1E5A99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（黄冈中学培优题）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如图所示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，一个盛满水的密闭容器随升降机在竖直方向上匀速</a:t>
            </a:r>
          </a:p>
          <a:p>
            <a:pPr latinLnBrk="1">
              <a:lnSpc>
                <a:spcPts val="44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运动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，容器中用两轻质弹性细绳分别悬挂一个铁球和拴着一个乒乓球，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容器中的水、</a:t>
            </a:r>
          </a:p>
          <a:p>
            <a:pPr latinLnBrk="1">
              <a:lnSpc>
                <a:spcPts val="42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铁球和乒乓球都相对静止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.若某时刻发现悬挂铁球的细绳变长，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则(</a:t>
            </a:r>
            <a:r>
              <a:rPr lang="en-US" altLang="zh-CN" sz="2400" b="0" i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2400" b="1" i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   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).</a:t>
            </a:r>
            <a:endParaRPr lang="en-US" altLang="zh-CN" sz="2400" dirty="0"/>
          </a:p>
        </p:txBody>
      </p:sp>
      <p:sp>
        <p:nvSpPr>
          <p:cNvPr id="5" name="QC_4_AN.23_1#ac2a8e71d.bracket?vcp=1&amp;pid=cb3dafbec&amp;color=0,0,0&amp;vpa=9&amp;vtp=1"/>
          <p:cNvSpPr/>
          <p:nvPr/>
        </p:nvSpPr>
        <p:spPr>
          <a:xfrm>
            <a:off x="9249061" y="2755455"/>
            <a:ext cx="423863" cy="47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2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B</a:t>
            </a:r>
            <a:endParaRPr lang="en-US" altLang="zh-CN" sz="2400" dirty="0"/>
          </a:p>
        </p:txBody>
      </p:sp>
      <p:pic>
        <p:nvPicPr>
          <p:cNvPr id="6" name="QC_4_BD.22_2#ac2a8e71d?vcp=1&amp;pid=cb3dafbec&amp;color=0,0,0&amp;tib=255,255,255&amp;vtp=1" descr="preencoded.png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864608" y="3368675"/>
            <a:ext cx="2468880" cy="8778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p:sp>
        <p:nvSpPr>
          <p:cNvPr id="7" name="QC_4_BD.22_3#ac2a8e71d.choices?vcp=1&amp;pid=cb3dafbec&amp;color=0,0,0&amp;vtp=1&amp;bbb=1"/>
          <p:cNvSpPr/>
          <p:nvPr/>
        </p:nvSpPr>
        <p:spPr>
          <a:xfrm>
            <a:off x="393192" y="4384675"/>
            <a:ext cx="11402568" cy="10333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latinLnBrk="1">
              <a:lnSpc>
                <a:spcPts val="4400"/>
              </a:lnSpc>
              <a:tabLst>
                <a:tab pos="5807954" algn="l"/>
              </a:tabLst>
            </a:pP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A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.拴着乒乓球的细绳变短</a:t>
            </a:r>
            <a:r>
              <a:rPr lang="en-US" altLang="zh-CN" sz="2400" b="0" i="0" spc="-1030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	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B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.容器随升降机可能向上做加速运动</a:t>
            </a:r>
            <a:endParaRPr lang="en-US" altLang="zh-CN" sz="2400" dirty="0"/>
          </a:p>
          <a:p>
            <a:pPr latinLnBrk="1">
              <a:lnSpc>
                <a:spcPts val="4200"/>
              </a:lnSpc>
              <a:tabLst>
                <a:tab pos="5807954" algn="l"/>
              </a:tabLst>
            </a:pP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C.容器随升降机可能向上做减速运动</a:t>
            </a:r>
            <a:r>
              <a:rPr lang="en-US" altLang="zh-CN" sz="2400" b="0" i="0" spc="-1030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	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D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.容器随升降机可能向下做加速运动</a:t>
            </a:r>
            <a:endParaRPr lang="en-US" altLang="zh-CN" sz="2400" dirty="0"/>
          </a:p>
        </p:txBody>
      </p:sp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&amp;si=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QC_4_AS.24_1#ac2a8e71d?vcp=1&amp;pid=cb3dafbec&amp;color=0,0,0&amp;vtp=1&amp;bt=1&amp;bbb=1&amp;hb=1"/>
          <p:cNvSpPr/>
          <p:nvPr/>
        </p:nvSpPr>
        <p:spPr>
          <a:xfrm>
            <a:off x="393192" y="2086705"/>
            <a:ext cx="11402568" cy="2713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atinLnBrk="1">
              <a:lnSpc>
                <a:spcPts val="44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[解析]</a:t>
            </a:r>
            <a:r>
              <a:rPr lang="en-US" altLang="zh-CN" sz="2400" b="1" i="0" dirty="0">
                <a:solidFill>
                  <a:srgbClr val="FF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容器随升降机在竖直方向上匀速运动，铁球和乒乓球所受合力为0</a:t>
            </a:r>
            <a:r>
              <a:rPr lang="en-US" altLang="zh-CN" sz="2400" b="1" i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，某时刻发</a:t>
            </a:r>
          </a:p>
          <a:p>
            <a:pPr latinLnBrk="1">
              <a:lnSpc>
                <a:spcPts val="4400"/>
              </a:lnSpc>
            </a:pPr>
            <a:r>
              <a:rPr lang="en-US" altLang="zh-CN" sz="2400" b="1" i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现悬挂铁球的细绳变长</a:t>
            </a: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，则铁球所受拉力变大，合力向上，加速度向上</a:t>
            </a:r>
            <a:r>
              <a:rPr lang="en-US" altLang="zh-CN" sz="2400" b="1" i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，故容器可能</a:t>
            </a:r>
          </a:p>
          <a:p>
            <a:pPr latinLnBrk="1">
              <a:lnSpc>
                <a:spcPts val="4400"/>
              </a:lnSpc>
            </a:pPr>
            <a:r>
              <a:rPr lang="en-US" altLang="zh-CN" sz="2400" b="1" i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随升降机向上加速运动或向下减速运动</a:t>
            </a: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，B正确，C、D错误</a:t>
            </a:r>
            <a:r>
              <a:rPr lang="en-US" altLang="zh-CN" sz="2400" b="1" i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；容器随升降机向上加速</a:t>
            </a:r>
          </a:p>
          <a:p>
            <a:pPr latinLnBrk="1">
              <a:lnSpc>
                <a:spcPts val="4400"/>
              </a:lnSpc>
            </a:pPr>
            <a:r>
              <a:rPr lang="en-US" altLang="zh-CN" sz="2400" b="1" i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运动或向下减速运动时</a:t>
            </a: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，乒乓球较同体积的水质量小、惯性小，水会向下运动</a:t>
            </a:r>
            <a:r>
              <a:rPr lang="en-US" altLang="zh-CN" sz="2400" b="1" i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，则乒</a:t>
            </a:r>
          </a:p>
          <a:p>
            <a:pPr latinLnBrk="1">
              <a:lnSpc>
                <a:spcPts val="4200"/>
              </a:lnSpc>
            </a:pPr>
            <a:r>
              <a:rPr lang="en-US" altLang="zh-CN" sz="2400" b="1" i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乓球向上运动</a:t>
            </a: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，拴着乒乓球的细绳变长，A错误.</a:t>
            </a:r>
            <a:endParaRPr lang="en-US" altLang="zh-CN" sz="2400" dirty="0"/>
          </a:p>
        </p:txBody>
      </p:sp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&amp;si=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split dir="in"/>
  </p:transition>
</p:sld>
</file>

<file path=ppt/theme/theme1.xml><?xml version="1.0" encoding="utf-8"?>
<a:theme xmlns:a="http://schemas.openxmlformats.org/drawingml/2006/mai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646</Words>
  <Application>Microsoft Office PowerPoint</Application>
  <PresentationFormat>宽屏</PresentationFormat>
  <Paragraphs>108</Paragraphs>
  <Slides>14</Slides>
  <Notes>14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1" baseType="lpstr">
      <vt:lpstr>KaiTi</vt:lpstr>
      <vt:lpstr>SimSun</vt:lpstr>
      <vt:lpstr>微软雅黑</vt:lpstr>
      <vt:lpstr>Arial</vt:lpstr>
      <vt:lpstr>Cambria Math</vt:lpstr>
      <vt:lpstr>Times New Roman</vt:lpstr>
      <vt:lpstr/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>Administrator</cp:lastModifiedBy>
  <cp:revision>2</cp:revision>
  <dcterms:created xsi:type="dcterms:W3CDTF">2026-05-25T07:57:44Z</dcterms:created>
  <dcterms:modified xsi:type="dcterms:W3CDTF">2026-05-25T08:06:02Z</dcterms:modified>
  <cp:category/>
  <cp:contentStatus/>
</cp:coreProperties>
</file>