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151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5.xml"/><Relationship Id="rId4" Type="http://schemas.openxmlformats.org/officeDocument/2006/relationships/slide" Target="../slides/slide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10.xml"/><Relationship Id="rId4" Type="http://schemas.openxmlformats.org/officeDocument/2006/relationships/slide" Target="../slides/slide8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5.xml"/><Relationship Id="rId4" Type="http://schemas.openxmlformats.org/officeDocument/2006/relationships/slide" Target="../slides/slide4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10.xml"/><Relationship Id="rId4" Type="http://schemas.openxmlformats.org/officeDocument/2006/relationships/slide" Target="../slides/slide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36a60ac3496b24e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abe945c4c,cde6daea8,52266c2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b6c23ccb0&amp;amp;cid=b6c23ccb0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1adde39f9&amp;amp;cid=1adde39f9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1baa0b68e&amp;amp;cid=1baa0b68e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de20b96f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4?lid=e380688b6&amp;amp;cid=e380688b6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4?lid=42eb81aa5&amp;amp;cid=42eb81aa5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4?lid=9c846448e&amp;amp;cid=9c846448e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cde6daea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第5讲 实验：探究小车速度随时间变化的规律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abe945c4c,cde6daea8,52266c275#df=cde6daea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第5讲 实验：探究小车速度随时间变化的规律</a:t>
            </a:r>
            <a:endParaRPr lang="en-US" sz="1800" dirty="0"/>
          </a:p>
        </p:txBody>
      </p:sp>
      <p:sp>
        <p:nvSpPr>
          <p:cNvPr id="5" name="C_0#auto_editor_catalog_0?lid=b6c23ccb0&amp;amp;cid=b6c23ccb0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1adde39f9&amp;amp;cid=1adde39f9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1baa0b68e&amp;amp;cid=1baa0b68e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de20b96f0#df=cde6daea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第5讲 实验：探究小车速度随时间变化的规律</a:t>
            </a:r>
            <a:endParaRPr lang="en-US" sz="1800" dirty="0"/>
          </a:p>
        </p:txBody>
      </p:sp>
      <p:sp>
        <p:nvSpPr>
          <p:cNvPr id="5" name="C_0#auto_editor_catalog_4?lid=e380688b6&amp;amp;cid=e380688b6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4?lid=42eb81aa5&amp;amp;cid=42eb81aa5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4?lid=9c846448e&amp;amp;cid=9c846448e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cde6daea8.fixed?vcp=1&amp;pid=abe945c4c&amp;color=0,112,192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匀变速直线运动的研究</a:t>
            </a:r>
            <a:endParaRPr lang="en-US" altLang="zh-CN" sz="4800" dirty="0"/>
          </a:p>
        </p:txBody>
      </p:sp>
      <p:sp>
        <p:nvSpPr>
          <p:cNvPr id="3" name="C_2_BD#cde6daea8.fixed?vcp=1&amp;pid=abe945c4c&amp;color=0,0,0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第5讲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实验：探究小车速度随时间变化的规律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52266c275?vcp=1&amp;pid=cde6daea8&amp;color=0,0,0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基础考点过关练</a:t>
            </a:r>
            <a:endParaRPr lang="en-US" altLang="zh-CN" sz="2600" dirty="0"/>
          </a:p>
        </p:txBody>
      </p:sp>
      <p:sp>
        <p:nvSpPr>
          <p:cNvPr id="3" name="P_4_BD#d41b0df82?vcp=1&amp;pid=52266c275&amp;color=0,0,0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p:sp>
        <p:nvSpPr>
          <p:cNvPr id="4" name="QC_4_BD.1_1#b6c23ccb0?vcp=1&amp;pid=52266c275&amp;color=0,0,0&amp;bbb=1&amp;hb=1"/>
          <p:cNvSpPr/>
          <p:nvPr/>
        </p:nvSpPr>
        <p:spPr>
          <a:xfrm>
            <a:off x="393192" y="1649285"/>
            <a:ext cx="11402568" cy="15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考点1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（经典·浙江学考）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如图所示，你左手拿一块表，右手拿一支画笔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，在同伴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沿直线牵动纸带的同时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，用画笔在纸带上点下一个个点，这样就做成了一台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“打点计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时器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”.为了提高该“计时器”的准确性，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应尽量(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5" name="QC_4_AN.2_1#b6c23ccb0.bracket?vcp=1&amp;pid=52266c275&amp;color=0,0,0&amp;vpa=1"/>
          <p:cNvSpPr/>
          <p:nvPr/>
        </p:nvSpPr>
        <p:spPr>
          <a:xfrm>
            <a:off x="6605875" y="2755455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pic>
        <p:nvPicPr>
          <p:cNvPr id="6" name="QC_4_BD.1_2#b6c23ccb0?htil=1&amp;vcp=1&amp;pid=52266c275&amp;color=0,0,0&amp;tib=255,255,255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22865" y="3350006"/>
            <a:ext cx="3136392" cy="1728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1_3#b6c23ccb0.choices?htil=1&amp;vcp=1&amp;pid=52266c275&amp;color=0,0,0&amp;bbb=1"/>
              <p:cNvSpPr/>
              <p:nvPr/>
            </p:nvSpPr>
            <p:spPr>
              <a:xfrm>
                <a:off x="393192" y="3304286"/>
                <a:ext cx="8174736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A.让同伴匀速拉动纸带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.使打点节奏保持均匀不变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.使打点时间间隔接近于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0.02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.使打点节奏随同伴拉动纸带的速度增大而加快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1_3#b6c23ccb0.choices?htil=1&amp;vcp=1&amp;pid=52266c275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04286"/>
                <a:ext cx="8174736" cy="2155000"/>
              </a:xfrm>
              <a:prstGeom prst="rect">
                <a:avLst/>
              </a:prstGeom>
              <a:blipFill>
                <a:blip r:embed="rId4"/>
                <a:stretch>
                  <a:fillRect l="-2312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4_BD.3_1#1adde39f9?vcp=1&amp;pid=52266c275&amp;color=0,0,0&amp;bt=1&amp;bbb=1&amp;hb=1"/>
          <p:cNvSpPr/>
          <p:nvPr/>
        </p:nvSpPr>
        <p:spPr>
          <a:xfrm>
            <a:off x="393192" y="1244918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考点1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（经典·浙江学考）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用如图所示的装置做“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探究小车速度随时间变化的规律”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的实验时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下列做法中正确的是(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4_AN.4_1#1adde39f9.bracket?vcp=1&amp;pid=52266c275&amp;color=0,0,0&amp;vpa=2"/>
          <p:cNvSpPr/>
          <p:nvPr/>
        </p:nvSpPr>
        <p:spPr>
          <a:xfrm>
            <a:off x="4905660" y="1792288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pic>
        <p:nvPicPr>
          <p:cNvPr id="4" name="QC_4_BD.3_2#1adde39f9?vcp=1&amp;pid=52266c275&amp;color=0,0,0&amp;tib=255,255,255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32504" y="2405443"/>
            <a:ext cx="4133088" cy="2029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5" name="QC_4_BD.3_3#1adde39f9.choices?vcp=1&amp;pid=52266c275&amp;color=0,0,0&amp;bbb=1"/>
          <p:cNvSpPr/>
          <p:nvPr/>
        </p:nvSpPr>
        <p:spPr>
          <a:xfrm>
            <a:off x="393192" y="4564443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400"/>
              </a:lnSpc>
              <a:tabLst>
                <a:tab pos="5807954" algn="l"/>
              </a:tabLst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.小车从靠近定滑轮处释放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.先启动计时器，再释放小车</a:t>
            </a:r>
            <a:endParaRPr lang="en-US" altLang="zh-CN" sz="2400" dirty="0"/>
          </a:p>
          <a:p>
            <a:pPr latinLnBrk="1">
              <a:lnSpc>
                <a:spcPts val="4200"/>
              </a:lnSpc>
              <a:tabLst>
                <a:tab pos="5807954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C.实验前要平衡小车受到的阻力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.电火花计时器接学生电源的直流输出端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4_BD.5_1#1baa0b68e?vcp=1&amp;pid=52266c275&amp;color=0,0,0&amp;bt=1&amp;bbb=1"/>
          <p:cNvSpPr/>
          <p:nvPr/>
        </p:nvSpPr>
        <p:spPr>
          <a:xfrm>
            <a:off x="393192" y="665321"/>
            <a:ext cx="11576050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考点2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在研究匀变速直线运动的实验中，算出小车经过各计数点的瞬时速度如下表.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QC_4_BD.5_2#1baa0b68e?colgroup=16,2,2,2,3,3,3&amp;vcp=1&amp;pid=52266c275&amp;color=0,0,0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4705136"/>
                  </p:ext>
                </p:extLst>
              </p:nvPr>
            </p:nvGraphicFramePr>
            <p:xfrm>
              <a:off x="393192" y="1279112"/>
              <a:ext cx="11384280" cy="1496188"/>
            </p:xfrm>
            <a:graphic>
              <a:graphicData uri="http://schemas.openxmlformats.org/drawingml/2006/table">
                <a:tbl>
                  <a:tblPr/>
                  <a:tblGrid>
                    <a:gridCol w="52029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4183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26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326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12471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124712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124712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计数点序号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4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5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6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66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计数点对应的时刻/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s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0.10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0.20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0.30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0.40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0.50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0.60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66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通过计数点的速度/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cm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s</m:t>
                                  </m:r>
                                </m:e>
                                <m:sup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44.0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62.0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81.0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100.0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110.0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168.0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QC_4_BD.5_2#1baa0b68e?colgroup=16,2,2,2,3,3,3&amp;vcp=1&amp;pid=52266c275&amp;color=0,0,0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4705136"/>
                  </p:ext>
                </p:extLst>
              </p:nvPr>
            </p:nvGraphicFramePr>
            <p:xfrm>
              <a:off x="393192" y="1279112"/>
              <a:ext cx="11384280" cy="1496188"/>
            </p:xfrm>
            <a:graphic>
              <a:graphicData uri="http://schemas.openxmlformats.org/drawingml/2006/table">
                <a:tbl>
                  <a:tblPr/>
                  <a:tblGrid>
                    <a:gridCol w="52029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4183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26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326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12471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124712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124712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计数点序号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4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5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6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6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7" t="-98795" r="-118970" b="-1277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0.10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0.20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0.30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0.40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0.50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0.60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6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7" t="-201220" r="-118970" b="-29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44.0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62.0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81.0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100.0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110.0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168.0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QC_4_BD.5_3#1baa0b68e?vcp=1&amp;pid=52266c275&amp;color=0,0,0&amp;bbb=1"/>
          <p:cNvSpPr/>
          <p:nvPr/>
        </p:nvSpPr>
        <p:spPr>
          <a:xfrm>
            <a:off x="393192" y="2904712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下列计算加速度的方法中合理的是(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5" name="QC_4_AN.6_1#1baa0b68e.bracket?vcp=1&amp;pid=52266c275&amp;color=0,0,0&amp;vpa=3"/>
          <p:cNvSpPr/>
          <p:nvPr/>
        </p:nvSpPr>
        <p:spPr>
          <a:xfrm>
            <a:off x="5197760" y="2902807"/>
            <a:ext cx="441325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BD.5_4#1baa0b68e.choices?vcp=1&amp;pid=52266c275&amp;color=0,0,0&amp;bbb=1&amp;hb=1"/>
              <p:cNvSpPr/>
              <p:nvPr/>
            </p:nvSpPr>
            <p:spPr>
              <a:xfrm>
                <a:off x="393192" y="3398107"/>
                <a:ext cx="11402568" cy="2764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A.根据任意两计数点的速度用公式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算出加速度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.根据实验数据画出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图像，量出其倾角，由公式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tan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求出加速度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.根据实验数据画出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图像，由图线上相距较远的两点所对应的速度、时间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，用公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算出加速度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.依次算出通过连续两计数点间的加速度，算出平均值作为小车的加速度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BD.5_4#1baa0b68e.choices?vcp=1&amp;pid=52266c275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98107"/>
                <a:ext cx="11402568" cy="2764600"/>
              </a:xfrm>
              <a:prstGeom prst="rect">
                <a:avLst/>
              </a:prstGeom>
              <a:blipFill>
                <a:blip r:embed="rId4"/>
                <a:stretch>
                  <a:fillRect l="-1658" r="-1337" b="-660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de20b96f0?vcp=1&amp;pid=cde6daea8&amp;color=0,0,0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能力考点提升练</a:t>
            </a:r>
            <a:endParaRPr lang="en-US" altLang="zh-CN" sz="2600" dirty="0"/>
          </a:p>
        </p:txBody>
      </p:sp>
      <p:sp>
        <p:nvSpPr>
          <p:cNvPr id="3" name="P_4_BD#56f97ee01?vcp=1&amp;pid=de20b96f0&amp;color=0,0,0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限时15分钟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7_1#e380688b6?vcp=1&amp;pid=de20b96f0&amp;color=0,0,0&amp;bbb=1&amp;hb=1"/>
              <p:cNvSpPr/>
              <p:nvPr/>
            </p:nvSpPr>
            <p:spPr>
              <a:xfrm>
                <a:off x="393192" y="1590675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（经典·浙江学考）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小文利用打点计时器研究A、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两个物体的运动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，分别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得到两条纸带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.对每条纸带，均选择合适的点作为第一个计数点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，再依次每五个点取一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个计数点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，并在各计数点处将其剪断，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然后将这些剪断的纸条粘贴在相同的坐标纸上，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最后将纸条上端中心连起来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，如图甲、乙所示.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由图可判断(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7_1#e380688b6?vcp=1&amp;pid=de20b96f0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3209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8_1#e380688b6.bracket?vcp=1&amp;pid=de20b96f0&amp;color=0,0,0&amp;vpa=4"/>
          <p:cNvSpPr/>
          <p:nvPr/>
        </p:nvSpPr>
        <p:spPr>
          <a:xfrm>
            <a:off x="8321961" y="325564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pic>
        <p:nvPicPr>
          <p:cNvPr id="6" name="QC_4_BD.7_2#e380688b6?htil=2&amp;vcp=1&amp;pid=de20b96f0&amp;color=0,0,0&amp;tib=255,255,255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82201" y="3769995"/>
            <a:ext cx="4160520" cy="1947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7_3#e380688b6.choices?htil=2&amp;vcp=1&amp;pid=de20b96f0&amp;color=0,0,0&amp;bbb=1"/>
              <p:cNvSpPr/>
              <p:nvPr/>
            </p:nvSpPr>
            <p:spPr>
              <a:xfrm>
                <a:off x="393192" y="3724275"/>
                <a:ext cx="7141464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物体的加速度比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.两物体均做匀速直线运动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.打第三个计数点时，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物体的速度比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.打第一个计数点时，物体的速度有可能为0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7_3#e380688b6.choices?htil=2&amp;vcp=1&amp;pid=de20b96f0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24275"/>
                <a:ext cx="7141464" cy="2155000"/>
              </a:xfrm>
              <a:prstGeom prst="rect">
                <a:avLst/>
              </a:prstGeom>
              <a:blipFill>
                <a:blip r:embed="rId5"/>
                <a:stretch>
                  <a:fillRect l="-2647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9_1#e380688b6?vcp=1&amp;pid=de20b96f0&amp;color=0,0,0&amp;bt=1&amp;bbb=1&amp;hb=1"/>
              <p:cNvSpPr/>
              <p:nvPr/>
            </p:nvSpPr>
            <p:spPr>
              <a:xfrm>
                <a:off x="393192" y="2086705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如果将纸条上端中心连起来，得到的直线是物体的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，该图像斜率表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示加速度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物体的加速度比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大，故选项A正确，B错误；纵轴表示速度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，题图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乙的第三条纸带比题图甲的第三条纸带长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，说明打第三个计数点时，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物体的速度比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，故选项C错误；图像在纵轴上的截距不为0，所以打第一个计数点时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，物体的速度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不可能为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0，故选项D错误.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9_1#e380688b6?vcp=1&amp;pid=de20b96f0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86705"/>
                <a:ext cx="11402568" cy="2713800"/>
              </a:xfrm>
              <a:prstGeom prst="rect">
                <a:avLst/>
              </a:prstGeom>
              <a:blipFill>
                <a:blip r:embed="rId3"/>
                <a:stretch>
                  <a:fillRect l="-1658" r="-1123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O_4_BD.10_1#42eb81aa5?htil=3&amp;vcp=1&amp;pid=de20b96f0&amp;color=0,0,0&amp;tib=255,255,255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30747" y="549720"/>
            <a:ext cx="1865376" cy="2093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4_BD.10_2#42eb81aa5?htil=3&amp;vcp=1&amp;pid=de20b96f0&amp;color=0,0,0&amp;bt=1&amp;bbb=1&amp;hb=1&amp;hs=1"/>
              <p:cNvSpPr/>
              <p:nvPr/>
            </p:nvSpPr>
            <p:spPr>
              <a:xfrm>
                <a:off x="393192" y="504000"/>
                <a:ext cx="9445752" cy="2663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（2026·湖北武汉武钢三中检测）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某同学用足够重量的“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工”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字形挡光片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、光电门传感器（连接数字计时器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）来测量挡光片下落的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.将下面的实验过程补充完整：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1）用刻度尺测量如图所示的“工”字形挡光片的上下宽度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，测量结果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均为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3" name="QO_4_BD.10_2#42eb81aa5?htil=3&amp;vcp=1&amp;pid=de20b96f0&amp;color=0,0,0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9445752" cy="2663000"/>
              </a:xfrm>
              <a:prstGeom prst="rect">
                <a:avLst/>
              </a:prstGeom>
              <a:blipFill>
                <a:blip r:embed="rId4"/>
                <a:stretch>
                  <a:fillRect l="-2001" t="-229" b="-663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B_5_BD.11_1#9f1a6117d?vcp=1&amp;pid=42eb81aa5&amp;color=0,0,0&amp;bbb=1&amp;hb=1&amp;hs=1"/>
              <p:cNvSpPr/>
              <p:nvPr/>
            </p:nvSpPr>
            <p:spPr>
              <a:xfrm>
                <a:off x="393192" y="3164396"/>
                <a:ext cx="11402568" cy="182346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（2）在竖直下落方向上安装一个光电门传感器，然后由静止释放“工”字形挡光片，用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 dirty="0" err="1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数字计时器测出光线分别被下、上挡光片挡住的时间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0" i="0" dirty="0" err="1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则“工”字形挡光片下、上</a:t>
                </a:r>
                <a:endParaRPr lang="en-US" altLang="zh-CN" sz="2400" b="0" i="0" dirty="0">
                  <a:solidFill>
                    <a:srgbClr val="000000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6800"/>
                  </a:lnSpc>
                </a:pPr>
                <a:r>
                  <a:rPr lang="en-US" altLang="zh-CN" sz="2400" b="0" i="0" dirty="0" err="1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挡光部分经过光电门时的速度分别为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</m:oMath>
                </a14:m>
                <a:r>
                  <a:rPr lang="en-US" altLang="zh-CN" sz="240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</a:t>
                </a:r>
                <a:r>
                  <a:rPr lang="en-US" altLang="zh-CN" sz="3900" b="1" i="0" u="sng" kern="0" spc="-99900" dirty="0">
                    <a:solidFill>
                      <a:srgbClr val="FF00FF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.（用已测量的物理量表示）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4" name="QB_5_BD.11_1#9f1a6117d?vcp=1&amp;pid=42eb81aa5&amp;color=0,0,0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64396"/>
                <a:ext cx="11402568" cy="1823466"/>
              </a:xfrm>
              <a:prstGeom prst="rect">
                <a:avLst/>
              </a:prstGeom>
              <a:blipFill>
                <a:blip r:embed="rId5"/>
                <a:stretch>
                  <a:fillRect l="-1658" r="-1497" b="-96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B_5_AN.12_1#9f1a6117d.blank?vcp=1&amp;pid=42eb81aa5&amp;color=0,0,0&amp;vpa=5&amp;bbb=1&amp;rh=44.89504"/>
              <p:cNvSpPr/>
              <p:nvPr/>
            </p:nvSpPr>
            <p:spPr>
              <a:xfrm>
                <a:off x="5927153" y="4343019"/>
                <a:ext cx="367983" cy="57016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5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>
          <p:sp>
            <p:nvSpPr>
              <p:cNvPr id="5" name="QB_5_AN.12_1#9f1a6117d.blank?vcp=1&amp;pid=42eb81aa5&amp;color=0,0,0&amp;vpa=5&amp;bbb=1&amp;rh=44.8950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7153" y="4343019"/>
                <a:ext cx="367983" cy="57016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B_5_AN.13_1#9f1a6117d.blank?vcp=1&amp;pid=42eb81aa5&amp;color=0,0,0&amp;vpa=6&amp;bbb=1&amp;rh=44.89504"/>
              <p:cNvSpPr/>
              <p:nvPr/>
            </p:nvSpPr>
            <p:spPr>
              <a:xfrm>
                <a:off x="7075552" y="4343019"/>
                <a:ext cx="367983" cy="57016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5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>
          <p:sp>
            <p:nvSpPr>
              <p:cNvPr id="6" name="QB_5_AN.13_1#9f1a6117d.blank?vcp=1&amp;pid=42eb81aa5&amp;color=0,0,0&amp;vpa=6&amp;bbb=1&amp;rh=44.8950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5552" y="4343019"/>
                <a:ext cx="367983" cy="5701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QB_5_BD.14_1#53a5645eb?vcp=1&amp;pid=42eb81aa5&amp;color=0,0,0&amp;bbb=1&amp;hb=1"/>
              <p:cNvSpPr/>
              <p:nvPr/>
            </p:nvSpPr>
            <p:spPr>
              <a:xfrm>
                <a:off x="393192" y="4990656"/>
                <a:ext cx="11402568" cy="127736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（3）若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很小，“工”字形挡光片完全通过光电门的时间为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,则挡光片下落的加速度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</a:p>
              <a:p>
                <a:pPr latinLnBrk="1">
                  <a:lnSpc>
                    <a:spcPts val="6800"/>
                  </a:lnSpc>
                </a:pPr>
                <a:r>
                  <a:rPr lang="en-US" altLang="zh-CN" sz="240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</a:t>
                </a:r>
                <a:r>
                  <a:rPr lang="en-US" altLang="zh-CN" sz="3900" b="1" i="0" u="sng" kern="0" spc="-99900" dirty="0">
                    <a:solidFill>
                      <a:srgbClr val="FF00FF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________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.（用已测量的物理量表示）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7" name="QB_5_BD.14_1#53a5645eb?vcp=1&amp;pid=42eb81aa5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990656"/>
                <a:ext cx="11402568" cy="1277366"/>
              </a:xfrm>
              <a:prstGeom prst="rect">
                <a:avLst/>
              </a:prstGeom>
              <a:blipFill>
                <a:blip r:embed="rId8"/>
                <a:stretch>
                  <a:fillRect l="-1658" b="-1387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QB_5_AN.15_1#53a5645eb.blank?vcp=1&amp;pid=42eb81aa5&amp;color=0,0,0&amp;vpa=7&amp;bbb=1&amp;rh=45.03504"/>
              <p:cNvSpPr/>
              <p:nvPr/>
            </p:nvSpPr>
            <p:spPr>
              <a:xfrm>
                <a:off x="391604" y="5630100"/>
                <a:ext cx="1373124" cy="57194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>
          <p:sp>
            <p:nvSpPr>
              <p:cNvPr id="8" name="QB_5_AN.15_1#53a5645eb.blank?vcp=1&amp;pid=42eb81aa5&amp;color=0,0,0&amp;vpa=7&amp;bbb=1&amp;rh=45.0350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604" y="5630100"/>
                <a:ext cx="1373124" cy="571945"/>
              </a:xfrm>
              <a:prstGeom prst="rect">
                <a:avLst/>
              </a:prstGeom>
              <a:blipFill>
                <a:blip r:embed="rId9"/>
                <a:stretch>
                  <a:fillRect b="-21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6" grpId="0" build="p" animBg="1"/>
      <p:bldP spid="8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AS.16_1#42eb81aa5?vcp=1&amp;pid=de20b96f0&amp;color=0,0,0&amp;bt=1&amp;bbb=1&amp;hb=1"/>
              <p:cNvSpPr/>
              <p:nvPr/>
            </p:nvSpPr>
            <p:spPr>
              <a:xfrm>
                <a:off x="393192" y="2447861"/>
                <a:ext cx="11402568" cy="174631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在极短时间内的平均速度等于该段时间内某时刻的瞬时速度，则“工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”字形挡光</a:t>
                </a:r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片下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、上挡光部分经过光电门时的速度分别为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，“工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”字形挡光片下落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AS.16_1#42eb81aa5?vcp=1&amp;pid=de20b96f0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447861"/>
                <a:ext cx="11402568" cy="1746314"/>
              </a:xfrm>
              <a:prstGeom prst="rect">
                <a:avLst/>
              </a:prstGeom>
              <a:blipFill>
                <a:blip r:embed="rId3"/>
                <a:stretch>
                  <a:fillRect l="-1658" r="-1016" b="-349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O_4_BD.17_1#9c846448e?htil=4&amp;vcp=1&amp;pid=de20b96f0&amp;color=0,0,0&amp;tib=255,255,255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27026" y="745522"/>
            <a:ext cx="4407408" cy="142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3" name="QO_4_BD.17_2#9c846448e?htil=4&amp;vcp=1&amp;pid=de20b96f0&amp;color=0,0,0&amp;bt=1&amp;bbb=1&amp;hb=1&amp;hs=1"/>
          <p:cNvSpPr/>
          <p:nvPr/>
        </p:nvSpPr>
        <p:spPr>
          <a:xfrm>
            <a:off x="393192" y="699802"/>
            <a:ext cx="6894576" cy="103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考点1、2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在“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探究小车速度随时间变化的规律”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的实验中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，实验装置如图1所示.</a:t>
            </a:r>
            <a:endParaRPr lang="en-US" altLang="zh-CN" sz="2400" dirty="0"/>
          </a:p>
        </p:txBody>
      </p:sp>
      <p:sp>
        <p:nvSpPr>
          <p:cNvPr id="4" name="QC_5_BD.18_1#1387c20cd?htil=4&amp;vcp=1&amp;pid=9c846448e&amp;color=0,0,0&amp;bbb=1&amp;hs=1"/>
          <p:cNvSpPr/>
          <p:nvPr/>
        </p:nvSpPr>
        <p:spPr>
          <a:xfrm>
            <a:off x="393192" y="1801971"/>
            <a:ext cx="6894576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（1）（多选题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）需要的实验操作有</a:t>
            </a: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______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  <p:sp>
        <p:nvSpPr>
          <p:cNvPr id="5" name="QC_5_AN.19_1#1387c20cd.blank?vcp=1&amp;pid=9c846448e&amp;color=0,0,0&amp;vpa=8&amp;bbb=1"/>
          <p:cNvSpPr/>
          <p:nvPr/>
        </p:nvSpPr>
        <p:spPr>
          <a:xfrm>
            <a:off x="5108860" y="1761966"/>
            <a:ext cx="882650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ACD</a:t>
            </a:r>
            <a:endParaRPr lang="en-US" altLang="zh-CN" sz="2400" dirty="0"/>
          </a:p>
        </p:txBody>
      </p:sp>
      <p:sp>
        <p:nvSpPr>
          <p:cNvPr id="6" name="QC_5_BD.18_2#1387c20cd.choices?htil=4&amp;vcp=1&amp;pid=9c846448e&amp;color=0,0,0&amp;bbb=1&amp;hs=1"/>
          <p:cNvSpPr/>
          <p:nvPr/>
        </p:nvSpPr>
        <p:spPr>
          <a:xfrm>
            <a:off x="393192" y="2352834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400"/>
              </a:lnSpc>
              <a:tabLst>
                <a:tab pos="5807954" algn="l"/>
              </a:tabLst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.调节滑轮使细线与轨道平行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.倾斜轨道以补偿阻力</a:t>
            </a:r>
            <a:endParaRPr lang="en-US" altLang="zh-CN" sz="2400" dirty="0"/>
          </a:p>
          <a:p>
            <a:pPr latinLnBrk="1">
              <a:lnSpc>
                <a:spcPts val="4200"/>
              </a:lnSpc>
              <a:tabLst>
                <a:tab pos="5807954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C.小车靠近打点计时器静止释放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.先接通电源再释放小车</a:t>
            </a:r>
            <a:endParaRPr lang="en-US" altLang="zh-CN" sz="2400" dirty="0"/>
          </a:p>
        </p:txBody>
      </p:sp>
      <p:sp>
        <p:nvSpPr>
          <p:cNvPr id="7" name="QC_5_AS.20_1#1387c20cd?vcp=1&amp;pid=9c846448e&amp;color=0,0,0&amp;bbb=1&amp;hb=1"/>
          <p:cNvSpPr/>
          <p:nvPr/>
        </p:nvSpPr>
        <p:spPr>
          <a:xfrm>
            <a:off x="393192" y="3456464"/>
            <a:ext cx="11402568" cy="2713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为保证小车实际能做匀变速直线运动，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本实验需要调节滑轮使细线与轨道平行，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正确；本实验只需要保证小车实际能做匀加速运动即可,不需要消除阻力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，因此可不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用倾斜轨道补偿阻力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，B错误；小车从靠近打点计时器的位置静止释放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，能更充分地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利用纸带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，C正确；为保证点迹清晰均匀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，实验应该在打点计时器稳定打点后再释放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小车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，因此需要先接通电源再释放小车，D正确.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7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B_5_BD.21_1#3b0567377?vcp=1&amp;pid=9c846448e&amp;color=0,0,0&amp;bt=1&amp;bbb=1&amp;hb=1"/>
              <p:cNvSpPr/>
              <p:nvPr/>
            </p:nvSpPr>
            <p:spPr>
              <a:xfrm>
                <a:off x="393192" y="844582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（2）经正确操作后打出一条纸带，截取其中一段如图2所示.选取连续打出的点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0、1、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2、3、4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为计数点，则计数点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1的读数为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.已知打点计时器所用交流电源的频率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Hz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，则打出计数点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2时小车的速度大小为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（结果保留三位有效数字）.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B_5_BD.21_1#3b0567377?vcp=1&amp;pid=9c846448e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844582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1230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B_5_AN.22_1#3b0567377.blank?vcp=1&amp;pid=9c846448e&amp;color=0,0,0&amp;vpa=9&amp;bbb=1"/>
          <p:cNvSpPr/>
          <p:nvPr/>
        </p:nvSpPr>
        <p:spPr>
          <a:xfrm>
            <a:off x="5553360" y="1375442"/>
            <a:ext cx="754063" cy="49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2.75</a:t>
            </a:r>
            <a:endParaRPr lang="en-US" altLang="zh-CN" sz="2400" dirty="0"/>
          </a:p>
        </p:txBody>
      </p:sp>
      <p:sp>
        <p:nvSpPr>
          <p:cNvPr id="4" name="QB_5_AN.24_1#3b0567377.blank?vcp=1&amp;pid=9c846448e&amp;color=0,0,0&amp;vpa=10&amp;bbb=1"/>
          <p:cNvSpPr/>
          <p:nvPr/>
        </p:nvSpPr>
        <p:spPr>
          <a:xfrm>
            <a:off x="6456650" y="1912652"/>
            <a:ext cx="7540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1.48</a:t>
            </a:r>
            <a:endParaRPr lang="en-US" altLang="zh-CN" sz="2400" dirty="0"/>
          </a:p>
        </p:txBody>
      </p:sp>
      <p:pic>
        <p:nvPicPr>
          <p:cNvPr id="5" name="QB_5_BD.23_1#3b0567377?vcp=1&amp;pid=9c846448e&amp;color=0,0,0&amp;tib=255,255,255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21608" y="2565177"/>
            <a:ext cx="4754880" cy="1005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QB_5_AS.25_1#3b0567377?vcp=1&amp;pid=9c846448e&amp;color=0,0,0&amp;bbb=1&amp;hb=1"/>
              <p:cNvSpPr/>
              <p:nvPr/>
            </p:nvSpPr>
            <p:spPr>
              <a:xfrm>
                <a:off x="393192" y="3708177"/>
                <a:ext cx="11402568" cy="232384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由刻度尺的读数规则知，计数点1的读数为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;已知打点计时器所用交流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电源的频率为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𝐇𝐳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,则打点周期（即各计数点间的时间间隔）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𝟓𝟎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,而计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数点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2为计数点1和3的中间时刻，则打出计数点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2时小车的速度大小为</a:t>
                </a:r>
              </a:p>
              <a:p>
                <a:pPr latinLnBrk="1">
                  <a:lnSpc>
                    <a:spcPts val="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𝟏𝟑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𝟖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𝟔𝟓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𝟕𝟓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)×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−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𝟎𝟒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≈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B_5_AS.25_1#3b0567377?vcp=1&amp;pid=9c846448e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08177"/>
                <a:ext cx="11402568" cy="2323846"/>
              </a:xfrm>
              <a:prstGeom prst="rect">
                <a:avLst/>
              </a:prstGeom>
              <a:blipFill>
                <a:blip r:embed="rId5"/>
                <a:stretch>
                  <a:fillRect l="-1658" r="-481" b="-4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  <p:bldP spid="6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B_5_BD.26_1#1355cd578?vcp=1&amp;pid=9c846448e&amp;color=0,0,0&amp;bt=1&amp;bbb=1&amp;hb=1"/>
          <p:cNvSpPr/>
          <p:nvPr/>
        </p:nvSpPr>
        <p:spPr>
          <a:xfrm>
            <a:off x="393192" y="1341088"/>
            <a:ext cx="11402568" cy="15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（3）从理论上讲，换用更高频率的交流电源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，速度测量误差</a:t>
            </a: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______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填“变大”“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不变”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或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“变小”），若每隔4个计时点作为一个计数点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，速度测量误差</a:t>
            </a: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______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填“变大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”“不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变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”或“变小”）.</a:t>
            </a:r>
            <a:endParaRPr lang="en-US" altLang="zh-CN" sz="2400" dirty="0"/>
          </a:p>
        </p:txBody>
      </p:sp>
      <p:sp>
        <p:nvSpPr>
          <p:cNvPr id="3" name="QB_5_AN.27_1#1355cd578.blank?vcp=1&amp;pid=9c846448e&amp;color=0,0,0&amp;vpa=11&amp;bbb=1"/>
          <p:cNvSpPr/>
          <p:nvPr/>
        </p:nvSpPr>
        <p:spPr>
          <a:xfrm>
            <a:off x="8487061" y="1313148"/>
            <a:ext cx="830263" cy="497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变小</a:t>
            </a:r>
            <a:endParaRPr lang="en-US" altLang="zh-CN" sz="2400" dirty="0"/>
          </a:p>
        </p:txBody>
      </p:sp>
      <p:sp>
        <p:nvSpPr>
          <p:cNvPr id="4" name="QB_5_AN.28_1#1355cd578.blank?vcp=1&amp;pid=9c846448e&amp;color=0,0,0&amp;vpa=12&amp;bbb=1"/>
          <p:cNvSpPr/>
          <p:nvPr/>
        </p:nvSpPr>
        <p:spPr>
          <a:xfrm>
            <a:off x="8756936" y="1871948"/>
            <a:ext cx="830263" cy="497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变小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B_5_AS.29_1#1355cd578?vcp=1&amp;pid=9c846448e&amp;color=0,0,0&amp;bbb=1&amp;hb=1"/>
              <p:cNvSpPr/>
              <p:nvPr/>
            </p:nvSpPr>
            <p:spPr>
              <a:xfrm>
                <a:off x="393192" y="2933668"/>
                <a:ext cx="11402568" cy="2205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换用更高频率的电源，则打点周期变小，从实验原理分析，根据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越小时，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越接近于瞬时速度，即速度测量误差变小；若每隔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4个计时点作为一个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计数点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，则增大了测量点之间的距离，减小了测量长度的误差，根据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，速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度测量的误差变小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B_5_AS.29_1#1355cd578?vcp=1&amp;pid=9c846448e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933668"/>
                <a:ext cx="11402568" cy="2205800"/>
              </a:xfrm>
              <a:prstGeom prst="rect">
                <a:avLst/>
              </a:prstGeom>
              <a:blipFill>
                <a:blip r:embed="rId3"/>
                <a:stretch>
                  <a:fillRect l="-1658" r="-963" b="-82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  <p:bldP spid="5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</Words>
  <Application>Microsoft Office PowerPoint</Application>
  <PresentationFormat>宽屏</PresentationFormat>
  <Paragraphs>120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2026-05-25T07:15:39Z</dcterms:created>
  <dcterms:modified xsi:type="dcterms:W3CDTF">2026-05-25T07:20:29Z</dcterms:modified>
  <cp:category/>
  <cp:contentStatus/>
</cp:coreProperties>
</file>