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60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7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5.xml"/><Relationship Id="rId5" Type="http://schemas.openxmlformats.org/officeDocument/2006/relationships/slide" Target="../slides/slide13.xml"/><Relationship Id="rId4" Type="http://schemas.openxmlformats.org/officeDocument/2006/relationships/slide" Target="../slides/slide1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7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5.xml"/><Relationship Id="rId5" Type="http://schemas.openxmlformats.org/officeDocument/2006/relationships/slide" Target="../slides/slide13.xml"/><Relationship Id="rId4" Type="http://schemas.openxmlformats.org/officeDocument/2006/relationships/slide" Target="../slides/slide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1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1ea4ff569,894c468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5d7a8045e&amp;amp;cid=5d7a8045e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474224e16&amp;amp;cid=474224e16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5ad0d5355&amp;amp;cid=5ad0d5355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738380e74&amp;amp;cid=738380e74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70602727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24e498185&amp;amp;cid=24e498185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3d40c8c98&amp;amp;cid=3d40c8c98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11260f562&amp;amp;cid=11260f562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4a4e3658b&amp;amp;cid=4a4e3658b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5?lid=aee358ced&amp;amp;cid=aee358ced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2197289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1?lid=297d3d65b&amp;amp;cid=297d3d65b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1ea4ff5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 匀变速直线运动的有用推论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1ea4ff569,894c46834#df=1ea4ff5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 匀变速直线运动的有用推论</a:t>
            </a:r>
            <a:endParaRPr lang="en-US" sz="1800" dirty="0"/>
          </a:p>
        </p:txBody>
      </p:sp>
      <p:sp>
        <p:nvSpPr>
          <p:cNvPr id="5" name="C_0#auto_editor_catalog_0?lid=5d7a8045e&amp;amp;cid=5d7a8045e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474224e16&amp;amp;cid=474224e16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5ad0d5355&amp;amp;cid=5ad0d5355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738380e74&amp;amp;cid=738380e74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70602727e#df=1ea4ff5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 匀变速直线运动的有用推论</a:t>
            </a:r>
            <a:endParaRPr lang="en-US" sz="1800" dirty="0"/>
          </a:p>
        </p:txBody>
      </p:sp>
      <p:sp>
        <p:nvSpPr>
          <p:cNvPr id="5" name="C_0#auto_editor_catalog_5?lid=24e498185&amp;amp;cid=24e498185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3d40c8c98&amp;amp;cid=3d40c8c98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11260f562&amp;amp;cid=11260f562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4a4e3658b&amp;amp;cid=4a4e3658b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5?lid=aee358ced&amp;amp;cid=aee358ced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2197289ee#df=1ea4ff5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 匀变速直线运动的有用推论</a:t>
            </a:r>
            <a:endParaRPr lang="en-US" sz="1800" dirty="0"/>
          </a:p>
        </p:txBody>
      </p:sp>
      <p:sp>
        <p:nvSpPr>
          <p:cNvPr id="5" name="C_0#auto_editor_catalog_11?lid=297d3d65b&amp;amp;cid=297d3d65b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1ea4ff569.fixed?vcp=1&amp;pid=abe945c4c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1ea4ff569.fixed?vcp=1&amp;pid=abe945c4c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疑难专题1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匀变速直线运动的有用推论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894c46834?vcp=1&amp;pid=1ea4ff569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99fb8a81a?vcp=1&amp;pid=894c4683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5d7a8045e?vcp=1&amp;pid=894c46834&amp;color=0,0,0&amp;vtp=1&amp;bbb=1&amp;hb=1"/>
              <p:cNvSpPr/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一物体做匀加速直线运动，通过一段位移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，紧接着通过下一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则物体运动的加速度为(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5d7a8045e?vcp=1&amp;pid=894c4683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176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5d7a8045e.bracket?vcp=1&amp;pid=894c46834&amp;color=0,0,0&amp;vpa=1&amp;vtp=1"/>
          <p:cNvSpPr/>
          <p:nvPr/>
        </p:nvSpPr>
        <p:spPr>
          <a:xfrm>
            <a:off x="7026497" y="21380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_2#5d7a8045e.choices?vcp=1&amp;pid=894c46834&amp;color=0,0,0&amp;vtp=1&amp;bbb=1"/>
              <p:cNvSpPr/>
              <p:nvPr/>
            </p:nvSpPr>
            <p:spPr>
              <a:xfrm>
                <a:off x="393192" y="2630805"/>
                <a:ext cx="11402568" cy="647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1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_2#5d7a8045e.choices?vcp=1&amp;pid=894c4683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0805"/>
                <a:ext cx="11402568" cy="647700"/>
              </a:xfrm>
              <a:prstGeom prst="rect">
                <a:avLst/>
              </a:prstGeom>
              <a:blipFill>
                <a:blip r:embed="rId4"/>
                <a:stretch>
                  <a:fillRect l="-1658" b="-849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3_1#5d7a8045e?vcp=1&amp;pid=894c46834&amp;color=0,0,0&amp;vtp=1&amp;bbb=1&amp;hb=1"/>
              <p:cNvSpPr/>
              <p:nvPr/>
            </p:nvSpPr>
            <p:spPr>
              <a:xfrm>
                <a:off x="393192" y="3278505"/>
                <a:ext cx="11402568" cy="2578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物体做匀加速直线运动通过前一段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,平均速度为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,物体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通过后一段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,平均速度为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内的平均速度等于这段时间的中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间时刻的瞬时速度可知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,速度由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,所以物体运动的加速度</a:t>
                </a:r>
              </a:p>
              <a:p>
                <a:pPr latinLnBrk="1">
                  <a:lnSpc>
                    <a:spcPts val="5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3_1#5d7a8045e?vcp=1&amp;pid=894c4683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78505"/>
                <a:ext cx="11402568" cy="2578100"/>
              </a:xfrm>
              <a:prstGeom prst="rect">
                <a:avLst/>
              </a:prstGeom>
              <a:blipFill>
                <a:blip r:embed="rId5"/>
                <a:stretch>
                  <a:fillRect l="-1658" r="-1444" b="-212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474224e16?vcp=1&amp;pid=894c46834&amp;color=0,0,0&amp;vtp=1&amp;bt=1&amp;bbb=1&amp;hb=1"/>
              <p:cNvSpPr/>
              <p:nvPr/>
            </p:nvSpPr>
            <p:spPr>
              <a:xfrm>
                <a:off x="393192" y="1949736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一质点做匀加速直线运动时，速度变化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时发生位移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，紧接着速度变化相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时发生位移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则该质点的加速度为(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474224e16?vcp=1&amp;pid=894c4683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49736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551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474224e16.bracket?vcp=1&amp;pid=894c46834&amp;color=0,0,0&amp;vpa=2&amp;vtp=1"/>
          <p:cNvSpPr/>
          <p:nvPr/>
        </p:nvSpPr>
        <p:spPr>
          <a:xfrm>
            <a:off x="6462553" y="249710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4_2#474224e16.choices?vcp=1&amp;pid=894c46834&amp;color=0,0,0&amp;vtp=1&amp;bbb=1"/>
              <p:cNvSpPr/>
              <p:nvPr/>
            </p:nvSpPr>
            <p:spPr>
              <a:xfrm>
                <a:off x="393192" y="2983261"/>
                <a:ext cx="11402568" cy="685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400"/>
                  </a:lnSpc>
                  <a:tabLst>
                    <a:tab pos="3399277" algn="l"/>
                    <a:tab pos="5807954" algn="l"/>
                    <a:tab pos="82166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4_2#474224e16.choices?vcp=1&amp;pid=894c4683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83261"/>
                <a:ext cx="11402568" cy="685800"/>
              </a:xfrm>
              <a:prstGeom prst="rect">
                <a:avLst/>
              </a:prstGeom>
              <a:blipFill>
                <a:blip r:embed="rId4"/>
                <a:stretch>
                  <a:fillRect l="-1658" b="-88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6_1#474224e16?vcp=1&amp;pid=894c46834&amp;color=0,0,0&amp;vtp=1&amp;bbb=1&amp;hb=1"/>
              <p:cNvSpPr/>
              <p:nvPr/>
            </p:nvSpPr>
            <p:spPr>
              <a:xfrm>
                <a:off x="393192" y="3669061"/>
                <a:ext cx="11402568" cy="1257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因为质点做匀加速直线运动,加速度不变,所以速度的变化量相同,时间相同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.设时</a:t>
                </a:r>
              </a:p>
              <a:p>
                <a:pPr latinLnBrk="1">
                  <a:lnSpc>
                    <a:spcPts val="5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间间隔为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6_1#474224e16?vcp=1&amp;pid=894c4683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69061"/>
                <a:ext cx="11402568" cy="1257300"/>
              </a:xfrm>
              <a:prstGeom prst="rect">
                <a:avLst/>
              </a:prstGeom>
              <a:blipFill>
                <a:blip r:embed="rId5"/>
                <a:stretch>
                  <a:fillRect l="-1658" r="-1123" b="-48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5ad0d5355?vcp=1&amp;pid=894c46834&amp;color=0,0,0&amp;vtp=1&amp;bt=1&amp;bbb=1&amp;hb=1"/>
              <p:cNvSpPr/>
              <p:nvPr/>
            </p:nvSpPr>
            <p:spPr>
              <a:xfrm>
                <a:off x="393192" y="1306576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（2026·湖南株洲二中检测）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一滑块以某一速度从斜面底端滑上顶端时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速度恰好减为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0.已知运动中滑块的加速度恒定.若设斜面全长为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，滑块通过最初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需的时间为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则滑块从斜面底端滑上顶端所用时间为(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5ad0d5355?vcp=1&amp;pid=894c4683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06576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5ad0d5355.bracket?vcp=1&amp;pid=894c46834&amp;color=0,0,0&amp;vpa=3&amp;vtp=1"/>
          <p:cNvSpPr/>
          <p:nvPr/>
        </p:nvSpPr>
        <p:spPr>
          <a:xfrm>
            <a:off x="7548341" y="2412746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7_2#5ad0d5355.choices?vcp=1&amp;pid=894c46834&amp;color=0,0,0&amp;vtp=1&amp;bbb=1"/>
              <p:cNvSpPr/>
              <p:nvPr/>
            </p:nvSpPr>
            <p:spPr>
              <a:xfrm>
                <a:off x="393192" y="2898837"/>
                <a:ext cx="11402568" cy="51847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700"/>
                  </a:lnSpc>
                  <a:tabLst>
                    <a:tab pos="2824602" algn="l"/>
                    <a:tab pos="6398504" algn="l"/>
                    <a:tab pos="89945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(2+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7_2#5ad0d5355.choices?vcp=1&amp;pid=894c4683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98837"/>
                <a:ext cx="11402568" cy="518478"/>
              </a:xfrm>
              <a:prstGeom prst="rect">
                <a:avLst/>
              </a:prstGeom>
              <a:blipFill>
                <a:blip r:embed="rId4"/>
                <a:stretch>
                  <a:fillRect l="-1658" b="-352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9_1#5ad0d5355?vcp=1&amp;pid=894c46834&amp;color=0,0,0&amp;vtp=1&amp;bbb=1&amp;hb=1"/>
              <p:cNvSpPr/>
              <p:nvPr/>
            </p:nvSpPr>
            <p:spPr>
              <a:xfrm>
                <a:off x="393192" y="3428300"/>
                <a:ext cx="11402568" cy="16886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利用“逆向思维法”，把滑块的运动看成逆向的初速度为0的匀加速直线运动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所需时间为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，全过程有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</a:p>
              <a:p>
                <a:pPr latinLnBrk="1">
                  <a:lnSpc>
                    <a:spcPts val="4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总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9_1#5ad0d5355?vcp=1&amp;pid=894c4683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28300"/>
                <a:ext cx="11402568" cy="1688656"/>
              </a:xfrm>
              <a:prstGeom prst="rect">
                <a:avLst/>
              </a:prstGeom>
              <a:blipFill>
                <a:blip r:embed="rId5"/>
                <a:stretch>
                  <a:fillRect l="-1658" r="-1123" b="-104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738380e74?vcp=1&amp;pid=894c46834&amp;color=0,0,0&amp;vtp=1&amp;bt=1&amp;bbb=1&amp;hb=1"/>
              <p:cNvSpPr/>
              <p:nvPr/>
            </p:nvSpPr>
            <p:spPr>
              <a:xfrm>
                <a:off x="393192" y="955930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（2026·四川成都七中诊断性测试）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如图所示，汽车从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，已知汽车经过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738380e74?vcp=1&amp;pid=894c4683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55930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58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738380e74.bracket?vcp=1&amp;pid=894c46834&amp;color=0,0,0&amp;vpa=4&amp;vtp=1"/>
          <p:cNvSpPr/>
          <p:nvPr/>
        </p:nvSpPr>
        <p:spPr>
          <a:xfrm>
            <a:off x="3368960" y="2062100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10_2#738380e74?vcp=1&amp;pid=894c4683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25696" y="2676525"/>
            <a:ext cx="3346704" cy="81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738380e74.choices?vcp=1&amp;pid=894c46834&amp;color=0,0,0&amp;vtp=1&amp;bbb=1"/>
              <p:cNvSpPr/>
              <p:nvPr/>
            </p:nvSpPr>
            <p:spPr>
              <a:xfrm>
                <a:off x="393192" y="3629025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A.汽车经过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中间时刻的速度是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34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中点时速度是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.若汽车前一半位移所用时间为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,后一半位移所用时间为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=1:(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−1)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.若汽车前一半时间发生位移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,后一半时间发生位移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=7:13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738380e74.choices?vcp=1&amp;pid=894c4683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29025"/>
                <a:ext cx="11402568" cy="2158302"/>
              </a:xfrm>
              <a:prstGeom prst="rect">
                <a:avLst/>
              </a:prstGeom>
              <a:blipFill>
                <a:blip r:embed="rId5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738380e74?vcp=1&amp;pid=894c46834&amp;color=0,0,0&amp;vtp=1&amp;bt=1&amp;bbb=1&amp;hb=1"/>
              <p:cNvSpPr/>
              <p:nvPr/>
            </p:nvSpPr>
            <p:spPr>
              <a:xfrm>
                <a:off x="393192" y="1029716"/>
                <a:ext cx="11402568" cy="485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汽车经过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中间时刻的速度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，A错误；设汽车经过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中点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位置的速度为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𝑨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𝑩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𝟑𝟒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；汽车在前一半位移内的平均速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𝟑𝟒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，在后一半位移内的平均速度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𝟑𝟒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，汽车在前一半位移所用的时间与后一半位移所用的时间之比为</a:t>
                </a:r>
              </a:p>
              <a:p>
                <a:pPr latinLnBrk="1">
                  <a:lnSpc>
                    <a:spcPts val="59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𝟑𝟒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𝟑𝟒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，C错误；汽车在前一半时间内的平均速度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f>
                              <m:f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𝒕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后一半时间内的平均速度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f>
                              <m:f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𝒕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，前一半时间发生的</a:t>
                </a:r>
              </a:p>
              <a:p>
                <a:pPr latinLnBrk="1">
                  <a:lnSpc>
                    <a:spcPts val="5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位移与后一半时间发生的位移之比为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𝟏𝟑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738380e74?vcp=1&amp;pid=894c4683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29716"/>
                <a:ext cx="11402568" cy="4851400"/>
              </a:xfrm>
              <a:prstGeom prst="rect">
                <a:avLst/>
              </a:prstGeom>
              <a:blipFill>
                <a:blip r:embed="rId3"/>
                <a:stretch>
                  <a:fillRect l="-1658" r="-1176" b="-113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0602727e?vcp=1&amp;pid=1ea4ff569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797638310?vcp=1&amp;pid=70602727e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3_1#24e498185?vcp=1&amp;pid=70602727e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（多选题）如图所示，光滑斜面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𝐴𝐸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分为四个相等的部分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，一物体从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点由静止释放，沿斜面向下做匀加速运动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，依次通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B、C、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点，最后到达底端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3_1#24e498185?vcp=1&amp;pid=70602727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14_1#24e498185.bracket?vcp=1&amp;pid=70602727e&amp;color=0,0,0&amp;vpa=5&amp;vtp=1&amp;bbb=1"/>
          <p:cNvSpPr/>
          <p:nvPr/>
        </p:nvSpPr>
        <p:spPr>
          <a:xfrm>
            <a:off x="7639589" y="2696845"/>
            <a:ext cx="882650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p:pic>
        <p:nvPicPr>
          <p:cNvPr id="6" name="QC_4_BD.13_2#24e498185?htil=1&amp;vcp=1&amp;pid=70602727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19712" y="3242183"/>
            <a:ext cx="2103120" cy="99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3_3#24e498185.choices?htil=1&amp;vcp=1&amp;pid=70602727e&amp;color=0,0,0&amp;vtp=1&amp;bbb=1&amp;hb=1"/>
              <p:cNvSpPr/>
              <p:nvPr/>
            </p:nvSpPr>
            <p:spPr>
              <a:xfrm>
                <a:off x="393192" y="3178175"/>
                <a:ext cx="9162288" cy="2666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A.物体通过各点的瞬时速度大小之比为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𝐷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𝐸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=1: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:2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.物体通过每一部分时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，其速度增量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𝐷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𝐸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点到各点所经历的时间之比为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𝐷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𝐸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=1: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:2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.下滑全程的平均速度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3_3#24e498185.choices?htil=1&amp;vcp=1&amp;pid=70602727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78175"/>
                <a:ext cx="9162288" cy="2666302"/>
              </a:xfrm>
              <a:prstGeom prst="rect">
                <a:avLst/>
              </a:prstGeom>
              <a:blipFill>
                <a:blip r:embed="rId5"/>
                <a:stretch>
                  <a:fillRect l="-2063" b="-70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24e498185?vcp=1&amp;pid=70602727e&amp;color=0,0,0&amp;vtp=1&amp;bt=1&amp;bbb=1&amp;hb=1"/>
              <p:cNvSpPr/>
              <p:nvPr/>
            </p:nvSpPr>
            <p:spPr>
              <a:xfrm>
                <a:off x="393192" y="2000313"/>
                <a:ext cx="11402568" cy="2764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根据题意可知，物体做初速度为0的匀加速直线运动，由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∝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，A正确；由以上分析可知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，C正确；因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𝑩𝑬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段中间时刻的瞬时速度，其等于整段的平均速度，故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24e498185?vcp=1&amp;pid=70602727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00313"/>
                <a:ext cx="11402568" cy="2764600"/>
              </a:xfrm>
              <a:prstGeom prst="rect">
                <a:avLst/>
              </a:prstGeom>
              <a:blipFill>
                <a:blip r:embed="rId3"/>
                <a:stretch>
                  <a:fillRect l="-1658" r="-428" b="-66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3d40c8c98?vcp=1&amp;pid=70602727e&amp;color=0,0,0&amp;vtp=1&amp;bt=1&amp;bbb=1&amp;hb=1"/>
              <p:cNvSpPr/>
              <p:nvPr/>
            </p:nvSpPr>
            <p:spPr>
              <a:xfrm>
                <a:off x="393192" y="1824577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（2026·南京师大附中检测）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一个做匀变速直线运动的物体，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在第一个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内速度大小从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3d40c8c98?vcp=1&amp;pid=70602727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24577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2567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3d40c8c98.bracket?vcp=1&amp;pid=70602727e&amp;color=0,0,0&amp;vpa=6&amp;vtp=1&amp;bbb=1"/>
          <p:cNvSpPr/>
          <p:nvPr/>
        </p:nvSpPr>
        <p:spPr>
          <a:xfrm>
            <a:off x="9714198" y="2371947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6_2#3d40c8c98.choices?vcp=1&amp;pid=70602727e&amp;color=0,0,0&amp;vtp=1&amp;bbb=1"/>
              <p:cNvSpPr/>
              <p:nvPr/>
            </p:nvSpPr>
            <p:spPr>
              <a:xfrm>
                <a:off x="393192" y="285810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A.物体的加速度大小一定为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内的平均速度大小可能为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.物体在第二个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内的位移大小一定更大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.物体在第二个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内的速度变化量一定大于第一个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内的速度变化量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6_2#3d40c8c98.choices?vcp=1&amp;pid=70602727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58102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3d40c8c98?vcp=1&amp;pid=70602727e&amp;color=0,0,0&amp;vtp=1&amp;bt=1&amp;bbb=1&amp;hb=1"/>
              <p:cNvSpPr/>
              <p:nvPr/>
            </p:nvSpPr>
            <p:spPr>
              <a:xfrm>
                <a:off x="393192" y="728091"/>
                <a:ext cx="11415268" cy="4813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规定第一个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内物体的初速度方向为正方向，根据公式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，若物体的初速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度和末速度的方向相同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，若初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、末速度方向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；根据匀变速直线运动的推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论有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，若初、末速度方向相同，则平均速度大小为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若初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、末速度方向相反，则平均速度大小为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′=|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体做匀变速直线运动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，综上分析，根据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，当物体加速度为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时，在第二个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,结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可知，第一个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内、第二个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内的位移分别为</a:t>
                </a:r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2" name="QC_4_AS.18_1#3d40c8c98?vcp=1&amp;pid=70602727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28091"/>
                <a:ext cx="11415268" cy="4813300"/>
              </a:xfrm>
              <a:prstGeom prst="rect">
                <a:avLst/>
              </a:prstGeom>
              <a:blipFill>
                <a:blip r:embed="rId3"/>
                <a:stretch>
                  <a:fillRect l="-1656" r="-3098" b="-8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3d40c8c98?vcp=1&amp;pid=70602727e&amp;color=0,0,0&amp;vtp=1&amp;bt=1&amp;bbb=1&amp;hb=1">
                <a:extLst>
                  <a:ext uri="{FF2B5EF4-FFF2-40B4-BE49-F238E27FC236}">
                    <a16:creationId xmlns:a16="http://schemas.microsoft.com/office/drawing/2014/main" id="{789C580C-FAE9-7829-9D1F-A740BE9B28D1}"/>
                  </a:ext>
                </a:extLst>
              </p:cNvPr>
              <p:cNvSpPr/>
              <p:nvPr/>
            </p:nvSpPr>
            <p:spPr>
              <a:xfrm>
                <a:off x="393192" y="1290574"/>
                <a:ext cx="11415268" cy="3894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，同理可得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，当加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时，物体在第二个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，第一个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内、第二个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内的位移分别为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|&gt;|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物体在第二个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内的位移大小一定更大，C正确；因为物体做匀变速直线运动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物体加速度不变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，由公式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可知，物体在第二个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内的速度变化量等于第一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内的速度变化量，D错误.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3d40c8c98?vcp=1&amp;pid=70602727e&amp;color=0,0,0&amp;vtp=1&amp;bt=1&amp;bbb=1&amp;hb=1">
                <a:extLst>
                  <a:ext uri="{FF2B5EF4-FFF2-40B4-BE49-F238E27FC236}">
                    <a16:creationId xmlns:a16="http://schemas.microsoft.com/office/drawing/2014/main" id="{789C580C-FAE9-7829-9D1F-A740BE9B28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0574"/>
                <a:ext cx="11415268" cy="3894900"/>
              </a:xfrm>
              <a:prstGeom prst="rect">
                <a:avLst/>
              </a:prstGeom>
              <a:blipFill>
                <a:blip r:embed="rId2"/>
                <a:stretch>
                  <a:fillRect l="-1656" r="-1229" b="-453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287532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9_1#11260f562?vcp=1&amp;pid=70602727e&amp;color=0,0,0&amp;vtp=1&amp;bt=1&amp;bbb=1&amp;hb=1"/>
              <p:cNvSpPr/>
              <p:nvPr/>
            </p:nvSpPr>
            <p:spPr>
              <a:xfrm>
                <a:off x="393192" y="83073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我国是世界上电动汽车生产大国，电动汽车与人工智能相结合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，是自动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驾驶技术发展的趋势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.如图所示，一辆电动汽车在平直道路上做匀加速直线运动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，先后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途经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A、B、C、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四个标志杆，其中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𝐶𝐷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.车头通过AB、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这两段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位移的时间均为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,通过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段位移的时间为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9_1#11260f562?vcp=1&amp;pid=70602727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3073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BD.19_2#11260f562?vcp=1&amp;pid=70602727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74720" y="3097434"/>
            <a:ext cx="5239512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4_AN.20_1#11260f562.bracket?vcp=1&amp;pid=70602727e&amp;color=0,0,0&amp;vpa=7&amp;vtp=1"/>
          <p:cNvSpPr/>
          <p:nvPr/>
        </p:nvSpPr>
        <p:spPr>
          <a:xfrm>
            <a:off x="9527572" y="249570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9_3#11260f562.choices?vcp=1&amp;pid=70602727e&amp;color=0,0,0&amp;vtp=1&amp;bbb=1"/>
              <p:cNvSpPr/>
              <p:nvPr/>
            </p:nvSpPr>
            <p:spPr>
              <a:xfrm>
                <a:off x="393192" y="3859434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A.汽车做匀加速直线运动的加速度大小是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.汽车车头经过标志杆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9_3#11260f562.choices?vcp=1&amp;pid=70602727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59434"/>
                <a:ext cx="11402568" cy="2158302"/>
              </a:xfrm>
              <a:prstGeom prst="rect">
                <a:avLst/>
              </a:prstGeom>
              <a:blipFill>
                <a:blip r:embed="rId5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1_1#11260f562?vcp=1&amp;pid=70602727e&amp;color=0,0,0&amp;vtp=1&amp;bt=1&amp;bbb=1&amp;hb=1"/>
              <p:cNvSpPr/>
              <p:nvPr/>
            </p:nvSpPr>
            <p:spPr>
              <a:xfrm>
                <a:off x="393192" y="946499"/>
                <a:ext cx="11402568" cy="502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匀变速直线运动全程的平均速度等于中间时刻的瞬时速度，以汽车车头经过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位置为计时起点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过程中间时刻的速度为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𝑨𝑩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𝑪𝑫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过程中间时刻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𝑪𝑫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𝑪𝑫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，根据题意可知，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所对应的时间间隔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，根据速度公式有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汽车经过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中间时刻到经过标志杆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的时间间隔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，根据速度公式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，B错误；汽车经过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间的平均速度等于该过程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中间时刻的瞬时速度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中间时刻到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中间时刻的时间为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汽车经过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；结合上述分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析有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1_1#11260f562?vcp=1&amp;pid=70602727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46499"/>
                <a:ext cx="11402568" cy="5025200"/>
              </a:xfrm>
              <a:prstGeom prst="rect">
                <a:avLst/>
              </a:prstGeom>
              <a:blipFill>
                <a:blip r:embed="rId3"/>
                <a:stretch>
                  <a:fillRect l="-1658" r="-3316" b="-351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2_1#4a4e3658b?vcp=1&amp;pid=70602727e&amp;color=0,0,0&amp;vtp=1&amp;bt=1&amp;bbb=1&amp;hb=1"/>
              <p:cNvSpPr/>
              <p:nvPr/>
            </p:nvSpPr>
            <p:spPr>
              <a:xfrm>
                <a:off x="393192" y="504000"/>
                <a:ext cx="11402568" cy="24081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（多选题）如图所示，旅客在站台候车线处等候列车进站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，相邻候车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线间的距离以及每节车厢的长度均为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.列车进站时，从1号车厢的前端入口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点经过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5号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候车线时开始计时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，到2号车厢的前端入口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点经过5号候车线时，所用的时间为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，列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车停下时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点恰好正对1号候车线.若列车进站时做匀减速直线运动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，则下列说法正确的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2_1#4a4e3658b?vcp=1&amp;pid=70602727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2408174"/>
              </a:xfrm>
              <a:prstGeom prst="rect">
                <a:avLst/>
              </a:prstGeom>
              <a:blipFill>
                <a:blip r:embed="rId3"/>
                <a:stretch>
                  <a:fillRect l="-1658" t="-759" r="-1604" b="-75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BD.22_2#4a4e3658b?vcp=1&amp;pid=70602727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62856" y="3024696"/>
            <a:ext cx="3063240" cy="5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4_AN.23_1#4a4e3658b.bracket?vcp=1&amp;pid=70602727e&amp;color=0,0,0&amp;vpa=8&amp;vtp=1&amp;bbb=1"/>
          <p:cNvSpPr/>
          <p:nvPr/>
        </p:nvSpPr>
        <p:spPr>
          <a:xfrm>
            <a:off x="981360" y="2472754"/>
            <a:ext cx="661988" cy="43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2_3#4a4e3658b.choices?vcp=1&amp;pid=70602727e&amp;color=0,0,0&amp;vtp=1&amp;bbb=1"/>
              <p:cNvSpPr/>
              <p:nvPr/>
            </p:nvSpPr>
            <p:spPr>
              <a:xfrm>
                <a:off x="393192" y="3723196"/>
                <a:ext cx="11402568" cy="2133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A.列车进站时的加速度大小为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点经过2号候车线时，列车的瞬时速度大小为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2(7−4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点经过2号候车线到列车停止运动，经历的时间为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(2+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点经过5号候车线到列车停下的过程，列车的平均速度为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2(2−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2_3#4a4e3658b.choices?vcp=1&amp;pid=70602727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3196"/>
                <a:ext cx="11402568" cy="2133600"/>
              </a:xfrm>
              <a:prstGeom prst="rect">
                <a:avLst/>
              </a:prstGeom>
              <a:blipFill>
                <a:blip r:embed="rId5"/>
                <a:stretch>
                  <a:fillRect l="-1658" t="-571" b="-48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4_1#4a4e3658b?vcp=1&amp;pid=70602727e&amp;color=0,0,0&amp;vtp=1&amp;bt=1&amp;bbb=1&amp;hb=1"/>
              <p:cNvSpPr/>
              <p:nvPr/>
            </p:nvSpPr>
            <p:spPr>
              <a:xfrm>
                <a:off x="393192" y="1147413"/>
                <a:ext cx="11402568" cy="459587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应用逆向思维可知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，列车连续经过相等的位移所用的时间之比为</a:t>
                </a:r>
              </a:p>
              <a:p>
                <a:pPr latinLnBrk="1">
                  <a:lnSpc>
                    <a:spcPts val="48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，设列车从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点经过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2号候车线到列车停止运动的时间</a:t>
                </a:r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,C正确；同理，由公式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，可知列车进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站时的加速度大小为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[(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点经过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2号候车线</a:t>
                </a:r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，列车的瞬时速度大小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点经过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5号候车线到列</a:t>
                </a:r>
              </a:p>
              <a:p>
                <a:pPr latinLnBrk="1">
                  <a:lnSpc>
                    <a:spcPts val="5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车停下的过程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，列车运动的总时间为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)+(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)+(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，所以从</a:t>
                </a:r>
              </a:p>
              <a:p>
                <a:pPr latinLnBrk="1">
                  <a:lnSpc>
                    <a:spcPts val="6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点经过5号候车线到列车停下的过程中平均速度为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4_1#4a4e3658b?vcp=1&amp;pid=70602727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47413"/>
                <a:ext cx="11402568" cy="4595876"/>
              </a:xfrm>
              <a:prstGeom prst="rect">
                <a:avLst/>
              </a:prstGeom>
              <a:blipFill>
                <a:blip r:embed="rId3"/>
                <a:stretch>
                  <a:fillRect l="-1658" r="-1337" b="-225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5_1#aee358ced?vcp=1&amp;pid=70602727e&amp;color=0,0,0&amp;vtp=1&amp;bt=1&amp;bbb=1&amp;hb=1"/>
              <p:cNvSpPr/>
              <p:nvPr/>
            </p:nvSpPr>
            <p:spPr>
              <a:xfrm>
                <a:off x="393192" y="998951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（2026·豫南九校教学质检）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（多选题）如图所示，一质点由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做匀加速直线运动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点（图中未画出）为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间的一点，质点从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运动的时间相等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5_1#aee358ced?vcp=1&amp;pid=70602727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98951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0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BD.25_2#aee358ced?vcp=1&amp;pid=70602727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6864" y="3265646"/>
            <a:ext cx="2935224" cy="23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4_AN.26_1#aee358ced.bracket?vcp=1&amp;pid=70602727e&amp;color=0,0,0&amp;vpa=9&amp;vtp=1&amp;bbb=1"/>
          <p:cNvSpPr/>
          <p:nvPr/>
        </p:nvSpPr>
        <p:spPr>
          <a:xfrm>
            <a:off x="5270595" y="2663921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5_3#aee358ced.choices?vcp=1&amp;pid=70602727e&amp;color=0,0,0&amp;vtp=1&amp;bbb=1"/>
              <p:cNvSpPr/>
              <p:nvPr/>
            </p:nvSpPr>
            <p:spPr>
              <a:xfrm>
                <a:off x="393192" y="3633946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A.质点到达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.质点的加速度大小为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.质点从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点与从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点的时间之比为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(1+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):2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之间的距离与A、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之间的距离之比为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1:3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5_3#aee358ced.choices?vcp=1&amp;pid=70602727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33946"/>
                <a:ext cx="11402568" cy="2158302"/>
              </a:xfrm>
              <a:prstGeom prst="rect">
                <a:avLst/>
              </a:prstGeom>
              <a:blipFill>
                <a:blip r:embed="rId5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7_1#aee358ced?vcp=1&amp;pid=70602727e&amp;color=0,0,0&amp;vtp=1&amp;bt=1&amp;bbb=1&amp;hb=1"/>
              <p:cNvSpPr/>
              <p:nvPr/>
            </p:nvSpPr>
            <p:spPr>
              <a:xfrm>
                <a:off x="393192" y="1514094"/>
                <a:ext cx="11402568" cy="38691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点对应的时刻是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的时间中点，则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𝑪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𝐀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用初速度为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0的匀加速直线运动的比例法，将质点的运动补全成初速度为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0的匀加速直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，连续相等的时间间隔处的速度之比为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，相等时间间隔的位移之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，则点A、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之间的距离与点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之间的距离之比为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𝟏𝟏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错误；由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的位移中点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6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𝑨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𝑪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𝑩𝑪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𝑪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𝟓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7_1#aee358ced?vcp=1&amp;pid=70602727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4094"/>
                <a:ext cx="11402568" cy="3869119"/>
              </a:xfrm>
              <a:prstGeom prst="rect">
                <a:avLst/>
              </a:prstGeom>
              <a:blipFill>
                <a:blip r:embed="rId3"/>
                <a:stretch>
                  <a:fillRect l="-1658" r="-2246" b="-15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2197289ee?vcp=1&amp;pid=1ea4ff569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>
              <a:solidFill>
                <a:srgbClr val="000000"/>
              </a:solidFill>
            </a:endParaRPr>
          </a:p>
        </p:txBody>
      </p:sp>
      <p:sp>
        <p:nvSpPr>
          <p:cNvPr id="3" name="P_4_BD#3c1fd1e5f?vcp=1&amp;pid=2197289ee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8_1#297d3d65b?vcp=1&amp;pid=2197289ee&amp;color=0,0,0&amp;vtp=1&amp;bbb=1&amp;hb=1"/>
              <p:cNvSpPr/>
              <p:nvPr/>
            </p:nvSpPr>
            <p:spPr>
              <a:xfrm>
                <a:off x="393192" y="1590675"/>
                <a:ext cx="11402568" cy="138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（复旦大学自主招生）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质点做直线运动，已知其在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0≤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时间段内的瞬时速度为</a:t>
                </a:r>
              </a:p>
              <a:p>
                <a:pPr latinLnBrk="1">
                  <a:lnSpc>
                    <a:spcPts val="65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则其平均速度为(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4" name="QC_4_BD.28_1#297d3d65b?vcp=1&amp;pid=2197289e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384300"/>
              </a:xfrm>
              <a:prstGeom prst="rect">
                <a:avLst/>
              </a:prstGeom>
              <a:blipFill>
                <a:blip r:embed="rId3"/>
                <a:stretch>
                  <a:fillRect l="-1658" r="-428" b="-132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9_1#297d3d65b.bracket?vcp=1&amp;pid=2197289ee&amp;color=0,0,0&amp;vpa=10&amp;vtp=1"/>
          <p:cNvSpPr/>
          <p:nvPr/>
        </p:nvSpPr>
        <p:spPr>
          <a:xfrm>
            <a:off x="5457095" y="2462085"/>
            <a:ext cx="441325" cy="36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28_2#297d3d65b.choices?vcp=1&amp;pid=2197289ee&amp;color=0,0,0&amp;vtp=1&amp;bbb=1"/>
              <p:cNvSpPr/>
              <p:nvPr/>
            </p:nvSpPr>
            <p:spPr>
              <a:xfrm>
                <a:off x="393192" y="2962275"/>
                <a:ext cx="11402568" cy="6217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865877" algn="l"/>
                    <a:tab pos="5630154" algn="l"/>
                    <a:tab pos="85468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π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28_2#297d3d65b.choices?vcp=1&amp;pid=2197289e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62275"/>
                <a:ext cx="11402568" cy="621729"/>
              </a:xfrm>
              <a:prstGeom prst="rect">
                <a:avLst/>
              </a:prstGeom>
              <a:blipFill>
                <a:blip r:embed="rId4"/>
                <a:stretch>
                  <a:fillRect l="-1658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30_1#297d3d65b?vcp=1&amp;pid=2197289ee&amp;color=0,0,0&amp;vtp=1&amp;bbb=1&amp;hb=1"/>
              <p:cNvSpPr/>
              <p:nvPr/>
            </p:nvSpPr>
            <p:spPr>
              <a:xfrm>
                <a:off x="393192" y="3593529"/>
                <a:ext cx="11402568" cy="153295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瞬时速度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𝒕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𝑻</m:t>
                                </m:r>
                              </m:den>
                            </m:f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可变为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图像是椭圆曲线的一部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，而椭圆的面积公式为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𝑺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𝛑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𝛑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𝛑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QC_4_AS.30_1#297d3d65b?vcp=1&amp;pid=2197289e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93529"/>
                <a:ext cx="11402568" cy="1532954"/>
              </a:xfrm>
              <a:prstGeom prst="rect">
                <a:avLst/>
              </a:prstGeom>
              <a:blipFill>
                <a:blip r:embed="rId5"/>
                <a:stretch>
                  <a:fillRect l="-1658" r="-1123" b="-674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1783</Words>
  <Application>Microsoft Office PowerPoint</Application>
  <PresentationFormat>宽屏</PresentationFormat>
  <Paragraphs>156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2026-05-25T07:55:03Z</dcterms:created>
  <dcterms:modified xsi:type="dcterms:W3CDTF">2026-05-25T08:05:28Z</dcterms:modified>
  <cp:category/>
  <cp:contentStatus/>
</cp:coreProperties>
</file>