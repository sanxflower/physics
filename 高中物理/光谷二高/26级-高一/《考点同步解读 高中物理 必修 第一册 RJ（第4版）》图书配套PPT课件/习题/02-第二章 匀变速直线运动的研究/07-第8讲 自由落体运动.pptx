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71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1.xml"/><Relationship Id="rId4" Type="http://schemas.openxmlformats.org/officeDocument/2006/relationships/slide" Target="../slides/sl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1.xml"/><Relationship Id="rId4" Type="http://schemas.openxmlformats.org/officeDocument/2006/relationships/slide" Target="../slides/slide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4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ff7854943,70e4293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ebfda8d7e&amp;amp;cid=ebfda8d7e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7d7b1a5ed&amp;amp;cid=7d7b1a5ed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dbfb1868c&amp;amp;cid=dbfb1868c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bc38252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a2f2d0549&amp;amp;cid=a2f2d0549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10e91949c&amp;amp;cid=10e91949c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7a49d7288&amp;amp;cid=7a49d7288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ff78549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第8讲 自由落体运动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ff7854943,70e429329#df=ff78549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第8讲 自由落体运动</a:t>
            </a:r>
            <a:endParaRPr lang="en-US" sz="1800" dirty="0"/>
          </a:p>
        </p:txBody>
      </p:sp>
      <p:sp>
        <p:nvSpPr>
          <p:cNvPr id="5" name="C_0#auto_editor_catalog_0?lid=ebfda8d7e&amp;amp;cid=ebfda8d7e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7d7b1a5ed&amp;amp;cid=7d7b1a5ed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dbfb1868c&amp;amp;cid=dbfb1868c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bc3825259#df=ff78549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第8讲 自由落体运动</a:t>
            </a:r>
            <a:endParaRPr lang="en-US" sz="1800" dirty="0"/>
          </a:p>
        </p:txBody>
      </p:sp>
      <p:sp>
        <p:nvSpPr>
          <p:cNvPr id="5" name="C_0#auto_editor_catalog_4?lid=a2f2d0549&amp;amp;cid=a2f2d0549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10e91949c&amp;amp;cid=10e91949c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7a49d7288&amp;amp;cid=7a49d7288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ff7854943.fixed?vcp=1&amp;pid=abe945c4c&amp;color=0,112,192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ff7854943.fixed?vcp=1&amp;pid=abe945c4c&amp;color=0,0,0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第8讲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自由落体运动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0e429329?vcp=1&amp;pid=ff7854943&amp;color=0,0,0&amp;bt=1&amp;bbb=1"/>
          <p:cNvSpPr/>
          <p:nvPr/>
        </p:nvSpPr>
        <p:spPr>
          <a:xfrm>
            <a:off x="393192" y="502920"/>
            <a:ext cx="11402568" cy="511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5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547d7cc1e?vcp=1&amp;pid=70e429329&amp;color=0,0,0&amp;bbb=1"/>
          <p:cNvSpPr/>
          <p:nvPr/>
        </p:nvSpPr>
        <p:spPr>
          <a:xfrm>
            <a:off x="393192" y="1073804"/>
            <a:ext cx="11402568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QC_4_BD.1_1#ebfda8d7e?vcp=1&amp;pid=70e429329&amp;color=0,0,0&amp;bbb=1&amp;hb=1"/>
          <p:cNvSpPr/>
          <p:nvPr/>
        </p:nvSpPr>
        <p:spPr>
          <a:xfrm>
            <a:off x="393192" y="1606613"/>
            <a:ext cx="11402568" cy="998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（2026·湖北武汉武钢三中检测）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（多选题）以下关于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“伽利略对自由落体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运动的研究方法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的归纳正确的是(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2_1#ebfda8d7e.bracket?vcp=1&amp;pid=70e429329&amp;color=0,0,0&amp;vpa=1&amp;bbb=1"/>
          <p:cNvSpPr/>
          <p:nvPr/>
        </p:nvSpPr>
        <p:spPr>
          <a:xfrm>
            <a:off x="5040599" y="2132774"/>
            <a:ext cx="882650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_2#ebfda8d7e.choices?vcp=1&amp;pid=70e429329&amp;color=0,0,0&amp;bbb=1&amp;hb=1"/>
              <p:cNvSpPr/>
              <p:nvPr/>
            </p:nvSpPr>
            <p:spPr>
              <a:xfrm>
                <a:off x="393192" y="2672333"/>
                <a:ext cx="11402568" cy="36694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A.发现问题：伽利略发现亚里士多德“重物比轻物下落得快”的观点有自相矛盾的地方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.提出假设：伽利略认为，重物与轻物应该下落得同样快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，他猜想落体运动应该是一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种最简单的变速运动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，速度的变化对位移来说是均匀的，即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成正比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.实验验证：在做验证自己猜想的实验时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，由于实验仪器不能精确测量物体快速下落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所需的时间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，所以他设计了小球在斜面上运动来“冲淡”重力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.合理外推：伽利略将他在斜面实验中得出的结论做了合理外推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，从而确定了自由落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体运动是初速度为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0的匀加速直线运动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_2#ebfda8d7e.choices?vcp=1&amp;pid=70e429329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72333"/>
                <a:ext cx="11402568" cy="3669475"/>
              </a:xfrm>
              <a:prstGeom prst="rect">
                <a:avLst/>
              </a:prstGeom>
              <a:blipFill>
                <a:blip r:embed="rId3"/>
                <a:stretch>
                  <a:fillRect l="-1658" r="-481" b="-498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3_1#7d7b1a5ed?htil=1&amp;vcp=1&amp;pid=70e429329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09540" y="1038891"/>
            <a:ext cx="2450592" cy="115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4_BD.3_2#7d7b1a5ed?htil=1&amp;vcp=1&amp;pid=70e429329&amp;color=0,0,0&amp;bt=1&amp;bbb=1&amp;hb=1&amp;hs=1"/>
          <p:cNvSpPr/>
          <p:nvPr/>
        </p:nvSpPr>
        <p:spPr>
          <a:xfrm>
            <a:off x="393192" y="993172"/>
            <a:ext cx="8860536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伽利略猜想落体的速度应该是均匀变化的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.为验证自己的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猜想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，他做了“斜面实验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”，发现铜球在斜面上运动的位移与时间的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平方成正比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.改变铜球的质量或增大斜面倾角，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上述规律依然成立.</a:t>
            </a:r>
            <a:endParaRPr lang="en-US" altLang="zh-CN" sz="2400" dirty="0"/>
          </a:p>
        </p:txBody>
      </p:sp>
      <p:sp>
        <p:nvSpPr>
          <p:cNvPr id="4" name="QC_4_AN.4_1#7d7b1a5ed.bracket?vcp=1&amp;pid=70e429329&amp;color=0,0,0&amp;vpa=2"/>
          <p:cNvSpPr/>
          <p:nvPr/>
        </p:nvSpPr>
        <p:spPr>
          <a:xfrm>
            <a:off x="3978560" y="313413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5" name="QC_4_BD.3_3#7d7b1a5ed.choices?vcp=1&amp;pid=70e429329&amp;color=0,0,0&amp;bbb=1"/>
          <p:cNvSpPr/>
          <p:nvPr/>
        </p:nvSpPr>
        <p:spPr>
          <a:xfrm>
            <a:off x="393192" y="3689508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A.由“斜面实验”的结论可知，铜球做落体运动的速度随时间均匀增大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.由“斜面实验”的结论可知，铜球做落体运动的速度随位移均匀增大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.伽利略通过“斜面实验”来研究落体运动规律是为了便于测量速度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.伽利略通过“斜面实验”来研究落体运动规律是为了便于测量加速度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3_2#7d7b1a5ed?htil=1&amp;vcp=1&amp;pid=70e429329&amp;color=0,0,0&amp;bt=1&amp;bbb=1&amp;hb=1&amp;hs=1">
                <a:extLst>
                  <a:ext uri="{FF2B5EF4-FFF2-40B4-BE49-F238E27FC236}">
                    <a16:creationId xmlns:a16="http://schemas.microsoft.com/office/drawing/2014/main" id="{B0BD6525-F4DA-1D04-F46E-4AD8BE76F6F7}"/>
                  </a:ext>
                </a:extLst>
              </p:cNvPr>
              <p:cNvSpPr/>
              <p:nvPr/>
            </p:nvSpPr>
            <p:spPr>
              <a:xfrm>
                <a:off x="393192" y="2586767"/>
                <a:ext cx="1140000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，他外推到倾角为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的情况，得出落体运动的规律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结合以上信息，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判断下列说法中正确的是(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3_2#7d7b1a5ed?htil=1&amp;vcp=1&amp;pid=70e429329&amp;color=0,0,0&amp;bt=1&amp;bbb=1&amp;hb=1&amp;hs=1">
                <a:extLst>
                  <a:ext uri="{FF2B5EF4-FFF2-40B4-BE49-F238E27FC236}">
                    <a16:creationId xmlns:a16="http://schemas.microsoft.com/office/drawing/2014/main" id="{B0BD6525-F4DA-1D04-F46E-4AD8BE76F6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86767"/>
                <a:ext cx="11400008" cy="1033399"/>
              </a:xfrm>
              <a:prstGeom prst="rect">
                <a:avLst/>
              </a:prstGeom>
              <a:blipFill>
                <a:blip r:embed="rId4"/>
                <a:stretch>
                  <a:fillRect l="-1658" r="-1123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5_1#dbfb1868c?vcp=1&amp;pid=70e429329&amp;color=0,0,0&amp;bt=1&amp;bbb=1"/>
          <p:cNvSpPr/>
          <p:nvPr/>
        </p:nvSpPr>
        <p:spPr>
          <a:xfrm>
            <a:off x="393192" y="179251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3.（多选题）关于自由落体运动和重力加速度，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6_1#dbfb1868c.bracket?vcp=1&amp;pid=70e429329&amp;color=0,0,0&amp;vpa=3&amp;bbb=1"/>
          <p:cNvSpPr/>
          <p:nvPr/>
        </p:nvSpPr>
        <p:spPr>
          <a:xfrm>
            <a:off x="9439561" y="1790605"/>
            <a:ext cx="66198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CD</a:t>
            </a:r>
            <a:endParaRPr lang="en-US" altLang="zh-CN" sz="2400" dirty="0"/>
          </a:p>
        </p:txBody>
      </p:sp>
      <p:sp>
        <p:nvSpPr>
          <p:cNvPr id="4" name="QC_4_BD.5_2#dbfb1868c.choices?vcp=1&amp;pid=70e429329&amp;color=0,0,0&amp;bbb=1&amp;hb=1"/>
          <p:cNvSpPr/>
          <p:nvPr/>
        </p:nvSpPr>
        <p:spPr>
          <a:xfrm>
            <a:off x="393192" y="234089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A.在自由落体运动过程中，不同质量的物体运动规律不相同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.加速度等于重力加速度的运动就是自由落体运动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.伽利略对自由落体运动的研究，开创了研究自然规律的科学方法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，这就是把实验和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逻辑推理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（包括数学演算）和谐地结合起来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.北京和中山两地的重力加速度大小并不完全相同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bc3825259?vcp=1&amp;pid=ff7854943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4f30d6077?vcp=1&amp;pid=bc3825259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sp>
        <p:nvSpPr>
          <p:cNvPr id="4" name="QO_4_BD.7_1#a2f2d0549?vcp=1&amp;pid=bc3825259&amp;color=0,0,0&amp;bbb=1&amp;hb=1"/>
          <p:cNvSpPr/>
          <p:nvPr/>
        </p:nvSpPr>
        <p:spPr>
          <a:xfrm>
            <a:off x="393192" y="1649285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某同学利用光电传感器设计了测定重力加速度的实验，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实验装置如图甲所示，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实验器材有铁架台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、光电计时器、小球等.铁架台上端固定一个电磁铁，通电时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，小球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被吸在电磁铁上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，断电时，小球自由下落.</a:t>
            </a:r>
            <a:endParaRPr lang="en-US" altLang="zh-CN" sz="2400" dirty="0"/>
          </a:p>
        </p:txBody>
      </p:sp>
      <p:pic>
        <p:nvPicPr>
          <p:cNvPr id="5" name="QO_4_BD.7_2#a2f2d0549?vcp=1&amp;pid=bc3825259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39896" y="3368675"/>
            <a:ext cx="4718304" cy="22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8_1#89b1275d7?vcp=1&amp;pid=a2f2d0549&amp;color=0,0,0&amp;bt=1&amp;bbb=1&amp;hb=1"/>
              <p:cNvSpPr/>
              <p:nvPr/>
            </p:nvSpPr>
            <p:spPr>
              <a:xfrm>
                <a:off x="393192" y="599250"/>
                <a:ext cx="11402568" cy="185947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（1）先将光电门固定在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处，光电计时器记录下小球经过光电门的时间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，测量出小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球释放点距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的距离为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，测出小球的直径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远小于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）.则小球运动到光电门处的瞬</a:t>
                </a:r>
              </a:p>
              <a:p>
                <a:pPr latinLnBrk="1">
                  <a:lnSpc>
                    <a:spcPts val="6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时速度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，当地的重力加速度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950" b="1" i="0" u="sng" kern="0" spc="-9990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用题中所给字母表示）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5_BD.8_1#89b1275d7?vcp=1&amp;pid=a2f2d0549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99250"/>
                <a:ext cx="11402568" cy="1859471"/>
              </a:xfrm>
              <a:prstGeom prst="rect">
                <a:avLst/>
              </a:prstGeom>
              <a:blipFill>
                <a:blip r:embed="rId3"/>
                <a:stretch>
                  <a:fillRect l="-1658" r="-1230" b="-95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5_AN.9_1#89b1275d7.blank?vcp=1&amp;pid=a2f2d0549&amp;color=0,0,0&amp;vpa=4&amp;bbb=1&amp;rh=42.03504"/>
              <p:cNvSpPr/>
              <p:nvPr/>
            </p:nvSpPr>
            <p:spPr>
              <a:xfrm>
                <a:off x="1829816" y="1863534"/>
                <a:ext cx="393700" cy="53384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5_AN.9_1#89b1275d7.blank?vcp=1&amp;pid=a2f2d0549&amp;color=0,0,0&amp;vpa=4&amp;bbb=1&amp;rh=42.03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816" y="1863534"/>
                <a:ext cx="393700" cy="533845"/>
              </a:xfrm>
              <a:prstGeom prst="rect">
                <a:avLst/>
              </a:prstGeom>
              <a:blipFill>
                <a:blip r:embed="rId4"/>
                <a:stretch>
                  <a:fillRect b="-22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5_AN.10_1#89b1275d7.blank?vcp=1&amp;pid=a2f2d0549&amp;color=0,0,0&amp;vpa=5&amp;bbb=1&amp;rh=45.90504"/>
              <p:cNvSpPr/>
              <p:nvPr/>
            </p:nvSpPr>
            <p:spPr>
              <a:xfrm>
                <a:off x="5570918" y="1814385"/>
                <a:ext cx="787083" cy="58299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4" name="QB_5_AN.10_1#89b1275d7.blank?vcp=1&amp;pid=a2f2d0549&amp;color=0,0,0&amp;vpa=5&amp;bbb=1&amp;rh=45.90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18" y="1814385"/>
                <a:ext cx="787083" cy="5829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5_AS.11_1#89b1275d7?vcp=1&amp;pid=a2f2d0549&amp;color=0,0,0&amp;bbb=1&amp;hb=1"/>
              <p:cNvSpPr/>
              <p:nvPr/>
            </p:nvSpPr>
            <p:spPr>
              <a:xfrm>
                <a:off x="393192" y="2459545"/>
                <a:ext cx="11402568" cy="11808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根据极短时间内的平均速度等于该段时间内某点的瞬时速度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，可得小球通过光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电门时的速度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QB_5_AS.11_1#89b1275d7?vcp=1&amp;pid=a2f2d0549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59545"/>
                <a:ext cx="11402568" cy="1180846"/>
              </a:xfrm>
              <a:prstGeom prst="rect">
                <a:avLst/>
              </a:prstGeom>
              <a:blipFill>
                <a:blip r:embed="rId6"/>
                <a:stretch>
                  <a:fillRect l="-1658" r="-1016" b="-87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5_BD.12_1#081745000?vcp=1&amp;pid=a2f2d0549&amp;color=0,0,0&amp;bbb=1&amp;hb=1"/>
              <p:cNvSpPr/>
              <p:nvPr/>
            </p:nvSpPr>
            <p:spPr>
              <a:xfrm>
                <a:off x="393192" y="3640645"/>
                <a:ext cx="11402568" cy="1058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（2）若某次实验时光电计时器记录下小球经过光电门的时间为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，此时光电门距小球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释放点的距离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表示）.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6" name="QB_5_BD.12_1#081745000?vcp=1&amp;pid=a2f2d0549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40645"/>
                <a:ext cx="11402568" cy="1058799"/>
              </a:xfrm>
              <a:prstGeom prst="rect">
                <a:avLst/>
              </a:prstGeom>
              <a:blipFill>
                <a:blip r:embed="rId7"/>
                <a:stretch>
                  <a:fillRect l="-1658" r="-1444" b="-17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B_5_AN.13_1#081745000.blank?vcp=1&amp;pid=a2f2d0549&amp;color=0,0,0&amp;vpa=6&amp;bbb=1"/>
              <p:cNvSpPr/>
              <p:nvPr/>
            </p:nvSpPr>
            <p:spPr>
              <a:xfrm>
                <a:off x="2938907" y="4279327"/>
                <a:ext cx="530225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7" name="QB_5_AN.13_1#081745000.blank?vcp=1&amp;pid=a2f2d0549&amp;color=0,0,0&amp;vpa=6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907" y="4279327"/>
                <a:ext cx="530225" cy="353441"/>
              </a:xfrm>
              <a:prstGeom prst="rect">
                <a:avLst/>
              </a:prstGeom>
              <a:blipFill>
                <a:blip r:embed="rId8"/>
                <a:stretch>
                  <a:fillRect l="-5747" r="-8046" b="-12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B_5_AS.14_1#081745000?vcp=1&amp;pid=a2f2d0549&amp;color=0,0,0&amp;bbb=1&amp;hb=1"/>
              <p:cNvSpPr/>
              <p:nvPr/>
            </p:nvSpPr>
            <p:spPr>
              <a:xfrm>
                <a:off x="393192" y="4701158"/>
                <a:ext cx="11402568" cy="134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若某次实验时光电计时器记录下小球经过光电门的时间为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,则小球通过光电门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𝚫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den>
                        </m:f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得下落的高度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′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QB_5_AS.14_1#081745000?vcp=1&amp;pid=a2f2d0549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01158"/>
                <a:ext cx="11402568" cy="1346200"/>
              </a:xfrm>
              <a:prstGeom prst="rect">
                <a:avLst/>
              </a:prstGeom>
              <a:blipFill>
                <a:blip r:embed="rId9"/>
                <a:stretch>
                  <a:fillRect l="-1658" r="-1123" b="-13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  <p:bldP spid="7" grpId="0" build="p" animBg="1"/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15_1#ecce3ee1b?vcp=1&amp;pid=a2f2d0549&amp;color=0,0,0&amp;bt=1&amp;bbb=1&amp;hb=1"/>
              <p:cNvSpPr/>
              <p:nvPr/>
            </p:nvSpPr>
            <p:spPr>
              <a:xfrm>
                <a:off x="393192" y="1604645"/>
                <a:ext cx="11402568" cy="241827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（3）由于受直尺长度的限制，该同学改测光电门位置与其正上方固定点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（图中未画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）之间的距离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，并记录小球通过光电门的时间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移动光电门在竖直杆上的位置，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进行多次实验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.利用实验数据绘制出如图乙所示的图像，已知图线的斜率为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，纵截距</a:t>
                </a:r>
              </a:p>
              <a:p>
                <a:pPr latinLnBrk="1">
                  <a:lnSpc>
                    <a:spcPts val="6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，根据图像可知重力加速度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950" b="1" i="0" u="sng" kern="0" spc="-99900" dirty="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5_BD.15_1#ecce3ee1b?vcp=1&amp;pid=a2f2d0549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04645"/>
                <a:ext cx="11402568" cy="2418271"/>
              </a:xfrm>
              <a:prstGeom prst="rect">
                <a:avLst/>
              </a:prstGeom>
              <a:blipFill>
                <a:blip r:embed="rId3"/>
                <a:stretch>
                  <a:fillRect l="-1658" r="-1551" b="-730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5_AN.16_1#ecce3ee1b.blank?vcp=1&amp;pid=a2f2d0549&amp;color=0,0,0&amp;vpa=7&amp;bbb=1&amp;rh=45.77"/>
              <p:cNvSpPr/>
              <p:nvPr/>
            </p:nvSpPr>
            <p:spPr>
              <a:xfrm>
                <a:off x="5066474" y="3373437"/>
                <a:ext cx="553720" cy="58127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5_AN.16_1#ecce3ee1b.blank?vcp=1&amp;pid=a2f2d0549&amp;color=0,0,0&amp;vpa=7&amp;bbb=1&amp;rh=45.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474" y="3373437"/>
                <a:ext cx="553720" cy="581279"/>
              </a:xfrm>
              <a:prstGeom prst="rect">
                <a:avLst/>
              </a:prstGeom>
              <a:blipFill>
                <a:blip r:embed="rId4"/>
                <a:stretch>
                  <a:fillRect b="-10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5_AS.17_1#ecce3ee1b?vcp=1&amp;pid=a2f2d0549&amp;color=0,0,0&amp;bbb=1&amp;hb=1"/>
              <p:cNvSpPr/>
              <p:nvPr/>
            </p:nvSpPr>
            <p:spPr>
              <a:xfrm>
                <a:off x="393192" y="4023740"/>
                <a:ext cx="11402568" cy="12320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设小球通过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,根据速度—位移公式有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num>
                          <m:den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𝚫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den>
                        </m:f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,则题图乙中图线的斜率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,解得重力加速度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𝒌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QB_5_AS.17_1#ecce3ee1b?vcp=1&amp;pid=a2f2d0549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23740"/>
                <a:ext cx="11402568" cy="1232091"/>
              </a:xfrm>
              <a:prstGeom prst="rect">
                <a:avLst/>
              </a:prstGeom>
              <a:blipFill>
                <a:blip r:embed="rId5"/>
                <a:stretch>
                  <a:fillRect l="-1658" b="-891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B_4_BD.18_1#10e91949c?htil=2&amp;vcp=1&amp;pid=bc3825259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95117" y="971835"/>
            <a:ext cx="4572000" cy="204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4_BD.18_2#10e91949c?htil=2&amp;vcp=1&amp;pid=bc3825259&amp;color=0,0,0&amp;bt=1&amp;bbb=1&amp;hb=1&amp;hs=1"/>
              <p:cNvSpPr/>
              <p:nvPr/>
            </p:nvSpPr>
            <p:spPr>
              <a:xfrm>
                <a:off x="393192" y="926116"/>
                <a:ext cx="6742684" cy="21551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图甲为测量重力加速度的实验装置，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数字毫秒表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为两个相同的光电门，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可以测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量铁球两次挡光之间的时间间隔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.开始时铁球处于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门的上边缘，当断开电磁铁的开关由静止释放铁球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" name="QB_4_BD.18_2#10e91949c?htil=2&amp;vcp=1&amp;pid=bc3825259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26116"/>
                <a:ext cx="6742684" cy="2155190"/>
              </a:xfrm>
              <a:prstGeom prst="rect">
                <a:avLst/>
              </a:prstGeom>
              <a:blipFill>
                <a:blip r:embed="rId4"/>
                <a:stretch>
                  <a:fillRect l="-2803" r="-217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4_AN.19_1#10e91949c.blank?vcp=1&amp;pid=bc3825259&amp;color=0,0,0&amp;vpa=8&amp;bbb=1"/>
              <p:cNvSpPr/>
              <p:nvPr/>
            </p:nvSpPr>
            <p:spPr>
              <a:xfrm>
                <a:off x="2773807" y="4820950"/>
                <a:ext cx="523875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4" name="QB_4_AN.19_1#10e91949c.blank?vcp=1&amp;pid=bc3825259&amp;color=0,0,0&amp;vpa=8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807" y="4820950"/>
                <a:ext cx="523875" cy="353441"/>
              </a:xfrm>
              <a:prstGeom prst="rect">
                <a:avLst/>
              </a:prstGeom>
              <a:blipFill>
                <a:blip r:embed="rId5"/>
                <a:stretch>
                  <a:fillRect l="-5814" r="-8140" b="-12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4_AN.20_1#10e91949c.blank?vcp=1&amp;pid=bc3825259&amp;color=0,0,0&amp;vpa=9&amp;bbb=1"/>
              <p:cNvSpPr/>
              <p:nvPr/>
            </p:nvSpPr>
            <p:spPr>
              <a:xfrm>
                <a:off x="2893505" y="5358160"/>
                <a:ext cx="798449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5" name="QB_4_AN.20_1#10e91949c.blank?vcp=1&amp;pid=bc3825259&amp;color=0,0,0&amp;vpa=9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505" y="5358160"/>
                <a:ext cx="798449" cy="353441"/>
              </a:xfrm>
              <a:prstGeom prst="rect">
                <a:avLst/>
              </a:prstGeom>
              <a:blipFill>
                <a:blip r:embed="rId6"/>
                <a:stretch>
                  <a:fillRect l="-4580" b="-206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4_AN.21_1#10e91949c.blank?vcp=1&amp;pid=bc3825259&amp;color=0,0,0&amp;vpa=10&amp;bbb=1"/>
              <p:cNvSpPr/>
              <p:nvPr/>
            </p:nvSpPr>
            <p:spPr>
              <a:xfrm>
                <a:off x="7478205" y="5324378"/>
                <a:ext cx="615887" cy="38868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Sup>
                      <m:sSubSup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6" name="QB_4_AN.21_1#10e91949c.blank?vcp=1&amp;pid=bc3825259&amp;color=0,0,0&amp;vpa=1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205" y="5324378"/>
                <a:ext cx="615887" cy="388684"/>
              </a:xfrm>
              <a:prstGeom prst="rect">
                <a:avLst/>
              </a:prstGeom>
              <a:blipFill>
                <a:blip r:embed="rId7"/>
                <a:stretch>
                  <a:fillRect b="-15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B_4_BD.18_2#10e91949c?htil=2&amp;vcp=1&amp;pid=bc3825259&amp;color=0,0,0&amp;bt=1&amp;bbb=1&amp;hb=1&amp;hs=1">
                <a:extLst>
                  <a:ext uri="{FF2B5EF4-FFF2-40B4-BE49-F238E27FC236}">
                    <a16:creationId xmlns:a16="http://schemas.microsoft.com/office/drawing/2014/main" id="{F6EA3798-BE72-ABE9-DB26-79CA713C7057}"/>
                  </a:ext>
                </a:extLst>
              </p:cNvPr>
              <p:cNvSpPr/>
              <p:nvPr/>
            </p:nvSpPr>
            <p:spPr>
              <a:xfrm>
                <a:off x="393192" y="3065811"/>
                <a:ext cx="1140000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时开始计时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，落到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门时停止计时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，毫秒表显示时间为铁球通过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两个光电门的时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间间隔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,测量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zh-CN" altLang="en-US" sz="2400" b="0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间的距离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.现将光电门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缓慢移动到不同位置，测得多组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数值，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画出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变化的图线为直线，如图乙所示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，直线的斜率为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,则由图线可知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，当地重力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加速度大小为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;若某次测得铁球经过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zh-CN" altLang="en-US" sz="2400" b="0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门的时间间隔为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,则可知铁球经过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门时的速度大小为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，此时两光电门间的距离为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7" name="QB_4_BD.18_2#10e91949c?htil=2&amp;vcp=1&amp;pid=bc3825259&amp;color=0,0,0&amp;bt=1&amp;bbb=1&amp;hb=1&amp;hs=1">
                <a:extLst>
                  <a:ext uri="{FF2B5EF4-FFF2-40B4-BE49-F238E27FC236}">
                    <a16:creationId xmlns:a16="http://schemas.microsoft.com/office/drawing/2014/main" id="{F6EA3798-BE72-ABE9-DB26-79CA713C70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65811"/>
                <a:ext cx="11400008" cy="2709799"/>
              </a:xfrm>
              <a:prstGeom prst="rect">
                <a:avLst/>
              </a:prstGeom>
              <a:blipFill>
                <a:blip r:embed="rId8"/>
                <a:stretch>
                  <a:fillRect l="-1658" r="-1818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6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4_AS.22_1#10e91949c?vcp=1&amp;pid=bc3825259&amp;color=0,0,0&amp;bt=1&amp;bbb=1&amp;hb=1"/>
              <p:cNvSpPr/>
              <p:nvPr/>
            </p:nvSpPr>
            <p:spPr>
              <a:xfrm>
                <a:off x="393192" y="2502027"/>
                <a:ext cx="11402568" cy="1701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小球做自由落体运动，出发点在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门的上边缘，小球在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门的上边缘的速度为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则小球从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图线的斜率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；依据速度公式有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；两光电门的间距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4_AS.22_1#10e91949c?vcp=1&amp;pid=bc3825259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02027"/>
                <a:ext cx="11402568" cy="1701800"/>
              </a:xfrm>
              <a:prstGeom prst="rect">
                <a:avLst/>
              </a:prstGeom>
              <a:blipFill>
                <a:blip r:embed="rId3"/>
                <a:stretch>
                  <a:fillRect l="-1658" r="-3209" b="-607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4_BD.23_1#7a49d7288?vcp=1&amp;pid=bc3825259&amp;color=0,0,0&amp;bt=1&amp;bbb=1&amp;hb=1"/>
          <p:cNvSpPr/>
          <p:nvPr/>
        </p:nvSpPr>
        <p:spPr>
          <a:xfrm>
            <a:off x="393192" y="1781048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（2026·湖北襄阳五中检测）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用滴水法可以测定重力加速度的值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，实验装置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pic>
        <p:nvPicPr>
          <p:cNvPr id="3" name="QO_4_BD.23_2#7a49d7288?vcp=1&amp;pid=bc3825259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040" y="2954274"/>
            <a:ext cx="2414016" cy="212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24_1#f12e123a2?vcp=1&amp;pid=7a49d7288&amp;color=0,0,0&amp;bt=1&amp;bbb=1&amp;hb=1"/>
              <p:cNvSpPr/>
              <p:nvPr/>
            </p:nvSpPr>
            <p:spPr>
              <a:xfrm>
                <a:off x="393192" y="100847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）下列操作步骤的合理顺序为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____________________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只需填写步骤前的序号）.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仔细调节水龙头和挡板的位置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，使得耳朵刚好听到前一个水滴滴在挡板上的声音的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，下一个水滴刚好开始下落；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当听到某一水滴滴在挡板上的声音的同时，开启秒表开始计时，并数“1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”，以后每听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到一声水滴声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，依次数“2、3、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”，一直数到“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”时，计时结束，读出秒表的示数为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用刻度尺测量出水龙头口距离挡板的高度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④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在自来水水龙头下安置一块挡板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，使水一滴一滴地滴落到挡板上并发出声音.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B_5_BD.24_1#f12e123a2?vcp=1&amp;pid=7a49d7288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847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1497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B_5_AN.25_1#f12e123a2.blank?vcp=1&amp;pid=7a49d7288&amp;color=0,0,0&amp;vpa=11&amp;bbb=1"/>
          <p:cNvSpPr/>
          <p:nvPr/>
        </p:nvSpPr>
        <p:spPr>
          <a:xfrm>
            <a:off x="4829460" y="980535"/>
            <a:ext cx="29638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④①②③或④①③②</a:t>
            </a:r>
            <a:endParaRPr lang="en-US" altLang="zh-CN" sz="2400" dirty="0"/>
          </a:p>
        </p:txBody>
      </p:sp>
      <p:sp>
        <p:nvSpPr>
          <p:cNvPr id="4" name="QB_5_AS.26_1#f12e123a2?vcp=1&amp;pid=7a49d7288&amp;color=0,0,0&amp;bbb=1&amp;hb=1"/>
          <p:cNvSpPr/>
          <p:nvPr/>
        </p:nvSpPr>
        <p:spPr>
          <a:xfrm>
            <a:off x="393192" y="4798155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实验的第一步是安装器材和调节器材，所以④是第一步，①是第二步，②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和③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的先后顺序对实验无影响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，故合理的顺序应该是④①②③或④①③②.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27_1#4a351cc7c?vcp=1&amp;pid=7a49d7288&amp;color=0,0,0&amp;bt=1&amp;bbb=1"/>
              <p:cNvSpPr/>
              <p:nvPr/>
            </p:nvSpPr>
            <p:spPr>
              <a:xfrm>
                <a:off x="393192" y="1284860"/>
                <a:ext cx="11402568" cy="76092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7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（2）根据上述步骤中测量的物理量可表示重力加速度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</a:t>
                </a:r>
                <a:r>
                  <a:rPr lang="en-US" altLang="zh-CN" sz="3950" b="1" i="0" u="sng" kern="0" spc="-99900">
                    <a:solidFill>
                      <a:srgbClr val="FF00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5_BD.27_1#4a351cc7c?vcp=1&amp;pid=7a49d7288&amp;color=0,0,0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84860"/>
                <a:ext cx="11402568" cy="760921"/>
              </a:xfrm>
              <a:prstGeom prst="rect">
                <a:avLst/>
              </a:prstGeom>
              <a:blipFill>
                <a:blip r:embed="rId3"/>
                <a:stretch>
                  <a:fillRect l="-1658" b="-224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5_AN.28_1#4a351cc7c.blank?vcp=1&amp;pid=7a49d7288&amp;color=0,0,0&amp;vpa=12&amp;bbb=1&amp;rh=45.90504"/>
              <p:cNvSpPr/>
              <p:nvPr/>
            </p:nvSpPr>
            <p:spPr>
              <a:xfrm>
                <a:off x="8082407" y="1385443"/>
                <a:ext cx="1172845" cy="58299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5_AN.28_1#4a351cc7c.blank?vcp=1&amp;pid=7a49d7288&amp;color=0,0,0&amp;vpa=12&amp;bbb=1&amp;rh=45.90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407" y="1385443"/>
                <a:ext cx="1172845" cy="5829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5_AS.29_1#4a351cc7c?vcp=1&amp;pid=7a49d7288&amp;color=0,0,0&amp;bbb=1"/>
              <p:cNvSpPr/>
              <p:nvPr/>
            </p:nvSpPr>
            <p:spPr>
              <a:xfrm>
                <a:off x="393192" y="2057591"/>
                <a:ext cx="11402568" cy="6220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根据位移与时间关系式有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,其中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QB_5_AS.29_1#4a351cc7c?vcp=1&amp;pid=7a49d7288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57591"/>
                <a:ext cx="11402568" cy="622046"/>
              </a:xfrm>
              <a:prstGeom prst="rect">
                <a:avLst/>
              </a:prstGeom>
              <a:blipFill>
                <a:blip r:embed="rId5"/>
                <a:stretch>
                  <a:fillRect l="-1658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B_5_BD.30_1#1bfbb836c?vcp=1&amp;pid=7a49d7288&amp;color=0,0,0&amp;bbb=1&amp;hb=1"/>
              <p:cNvSpPr/>
              <p:nvPr/>
            </p:nvSpPr>
            <p:spPr>
              <a:xfrm>
                <a:off x="393192" y="2687892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（3）为了减小误差，改变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的数值，测出多组数据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，并记录每滴水滴在空中运动的时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.利用这些数据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为纵坐标、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____________________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为横坐标作图，求出的图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线斜率的大小即为重力加速度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的值.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5" name="QB_5_BD.30_1#1bfbb836c?vcp=1&amp;pid=7a49d7288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87892"/>
                <a:ext cx="11402568" cy="1596200"/>
              </a:xfrm>
              <a:prstGeom prst="rect">
                <a:avLst/>
              </a:prstGeom>
              <a:blipFill>
                <a:blip r:embed="rId6"/>
                <a:stretch>
                  <a:fillRect l="-1658" r="-1551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B_5_AN.31_1#1bfbb836c.blank?vcp=1&amp;pid=7a49d7288&amp;color=0,0,0&amp;vpa=13&amp;bbb=1"/>
              <p:cNvSpPr/>
              <p:nvPr/>
            </p:nvSpPr>
            <p:spPr>
              <a:xfrm>
                <a:off x="3462147" y="3327526"/>
                <a:ext cx="347663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6" name="QB_5_AN.31_1#1bfbb836c.blank?vcp=1&amp;pid=7a49d7288&amp;color=0,0,0&amp;vpa=13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147" y="3327526"/>
                <a:ext cx="347663" cy="353441"/>
              </a:xfrm>
              <a:prstGeom prst="rect">
                <a:avLst/>
              </a:prstGeom>
              <a:blipFill>
                <a:blip r:embed="rId7"/>
                <a:stretch>
                  <a:fillRect l="-12281" r="-8772" b="-12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B_5_AN.32_1#1bfbb836c.blank?vcp=1&amp;pid=7a49d7288&amp;color=0,0,0&amp;vpa=14&amp;bbb=1&amp;rh=41.46504"/>
              <p:cNvSpPr/>
              <p:nvPr/>
            </p:nvSpPr>
            <p:spPr>
              <a:xfrm>
                <a:off x="5385404" y="3158236"/>
                <a:ext cx="2976436" cy="52660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亦可）</a:t>
                </a:r>
                <a:endParaRPr lang="en-US" altLang="zh-CN" sz="1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QB_5_AN.32_1#1bfbb836c.blank?vcp=1&amp;pid=7a49d7288&amp;color=0,0,0&amp;vpa=14&amp;bbb=1&amp;rh=41.46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404" y="3158236"/>
                <a:ext cx="2976436" cy="526606"/>
              </a:xfrm>
              <a:prstGeom prst="rect">
                <a:avLst/>
              </a:prstGeom>
              <a:blipFill>
                <a:blip r:embed="rId8"/>
                <a:stretch>
                  <a:fillRect t="-1163" r="-2249" b="-220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B_5_AS.33_1#1bfbb836c?vcp=1&amp;pid=7a49d7288&amp;color=0,0,0&amp;bbb=1&amp;hb=1"/>
              <p:cNvSpPr/>
              <p:nvPr/>
            </p:nvSpPr>
            <p:spPr>
              <a:xfrm>
                <a:off x="393192" y="4278948"/>
                <a:ext cx="11402568" cy="10715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可知，应以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为纵坐标，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为横坐标作图（或以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为纵坐标，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为横坐标作图），该图线斜率的大小即为重力加速度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的值.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QB_5_AS.33_1#1bfbb836c?vcp=1&amp;pid=7a49d7288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78948"/>
                <a:ext cx="11402568" cy="1071563"/>
              </a:xfrm>
              <a:prstGeom prst="rect">
                <a:avLst/>
              </a:prstGeom>
              <a:blipFill>
                <a:blip r:embed="rId9"/>
                <a:stretch>
                  <a:fillRect l="-1658" r="-695" b="-164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6" grpId="0" build="p" animBg="1"/>
      <p:bldP spid="7" grpId="0" build="p" animBg="1"/>
      <p:bldP spid="8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B_5_BD.34_1#603a7809f?vcp=1&amp;pid=7a49d7288&amp;color=0,0,0&amp;bt=1&amp;bbb=1&amp;hb=1"/>
              <p:cNvSpPr/>
              <p:nvPr/>
            </p:nvSpPr>
            <p:spPr>
              <a:xfrm>
                <a:off x="393192" y="1327786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（4）另一个同学调节水龙头，让水一滴一滴流出，在下方放一盘子，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调节盘子高度，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使一滴水滴碰到盘子时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，恰有另一滴水滴开始下落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，而空中还有一滴正在下落中的水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，测出水龙头到盘子的距离为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,当第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滴水滴落在盘子中时，第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+1)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滴水滴与盘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子的距离为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B_5_BD.34_1#603a7809f?vcp=1&amp;pid=7a49d7288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27786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872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5_AN.35_1#603a7809f.blank?vcp=1&amp;pid=7a49d7288&amp;color=0,0,0&amp;vpa=15&amp;bbb=1&amp;rh=41.46504"/>
              <p:cNvSpPr/>
              <p:nvPr/>
            </p:nvSpPr>
            <p:spPr>
              <a:xfrm>
                <a:off x="1966404" y="2899219"/>
                <a:ext cx="531813" cy="52660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>
          <p:sp>
            <p:nvSpPr>
              <p:cNvPr id="3" name="QB_5_AN.35_1#603a7809f.blank?vcp=1&amp;pid=7a49d7288&amp;color=0,0,0&amp;vpa=15&amp;bbb=1&amp;rh=41.465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404" y="2899219"/>
                <a:ext cx="531813" cy="526606"/>
              </a:xfrm>
              <a:prstGeom prst="rect">
                <a:avLst/>
              </a:prstGeom>
              <a:blipFill>
                <a:blip r:embed="rId4"/>
                <a:stretch>
                  <a:fillRect b="-11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B_5_AS.36_1#603a7809f?vcp=1&amp;pid=7a49d7288&amp;color=0,0,0&amp;bbb=1&amp;hb=1"/>
              <p:cNvSpPr/>
              <p:nvPr/>
            </p:nvSpPr>
            <p:spPr>
              <a:xfrm>
                <a:off x="393192" y="3467481"/>
                <a:ext cx="11402568" cy="1701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设相邻两滴水开始下落的时间间隔为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,第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滴水滴落在盘中时，设第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滴水离盘子的距离为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B_5_AS.36_1#603a7809f?vcp=1&amp;pid=7a49d7288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67481"/>
                <a:ext cx="11402568" cy="1701800"/>
              </a:xfrm>
              <a:prstGeom prst="rect">
                <a:avLst/>
              </a:prstGeom>
              <a:blipFill>
                <a:blip r:embed="rId5"/>
                <a:stretch>
                  <a:fillRect l="-16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EX.37_1#7a49d7288?vcp=1&amp;pid=bc3825259&amp;color=0,0,0&amp;bt=1&amp;bbb=1&amp;hb=1"/>
              <p:cNvSpPr/>
              <p:nvPr/>
            </p:nvSpPr>
            <p:spPr>
              <a:xfrm>
                <a:off x="393192" y="1799971"/>
                <a:ext cx="11402568" cy="32720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技巧点拨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处理相等时间间隔下落水滴问题的方法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对于从同一位置开始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，间隔相等时间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，依次做自由落体运动的水滴在空间形成不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同间距的问题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，可将若干个水滴在某一时刻的排列情形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，等效成一个水滴在不同时刻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，这就类似于做匀变速直线运动时打点计时器打下的纸带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，由此可以用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𝑇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、初速度为0的匀变速直线运动的比例关系或者平均速度进行求解.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EX.37_1#7a49d7288?vcp=1&amp;pid=bc3825259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9971"/>
                <a:ext cx="11402568" cy="3272028"/>
              </a:xfrm>
              <a:prstGeom prst="rect">
                <a:avLst/>
              </a:prstGeom>
              <a:blipFill>
                <a:blip r:embed="rId3"/>
                <a:stretch>
                  <a:fillRect l="-1658" r="-535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Microsoft Office PowerPoint</Application>
  <PresentationFormat>宽屏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2026-05-25T07:15:44Z</dcterms:created>
  <dcterms:modified xsi:type="dcterms:W3CDTF">2026-05-25T07:21:08Z</dcterms:modified>
  <cp:category/>
  <cp:contentStatus/>
</cp:coreProperties>
</file>