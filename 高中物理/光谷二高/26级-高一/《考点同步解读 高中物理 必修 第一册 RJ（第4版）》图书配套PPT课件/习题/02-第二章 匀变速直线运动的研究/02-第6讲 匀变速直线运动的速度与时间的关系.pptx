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141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4f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d0a280d92,8a03e69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eaa09c1c5&amp;amp;cid=eaa09c1c5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084902bc2&amp;amp;cid=084902bc2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3c54cf22e&amp;amp;cid=3c54cf22e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981d015e7&amp;amp;cid=981d015e7">
            <a:hlinkClick r:id="rId4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7a53d6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20e12a6e2&amp;amp;cid=20e12a6e2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4ad85d5ee&amp;amp;cid=4ad85d5ee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829657f7a&amp;amp;cid=829657f7a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1067fe899&amp;amp;cid=1067fe899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b639cb6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ee2175d47&amp;amp;cid=ee2175d47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0502c69b8&amp;amp;cid=0502c69b8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174470a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3?lid=7db5ac65a&amp;amp;cid=7db5ac65a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3?lid=ce11153e5&amp;amp;cid=ce11153e5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d0a280d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第6讲 匀变速直线运动的速度与时间的关系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d0a280d92,8a03e6960#df=d0a280d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第6讲 匀变速直线运动的速度与时间的关系</a:t>
            </a:r>
            <a:endParaRPr lang="en-US" sz="1800" dirty="0"/>
          </a:p>
        </p:txBody>
      </p:sp>
      <p:sp>
        <p:nvSpPr>
          <p:cNvPr id="5" name="C_0#auto_editor_catalog_0?lid=eaa09c1c5&amp;amp;cid=eaa09c1c5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084902bc2&amp;amp;cid=084902bc2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3c54cf22e&amp;amp;cid=3c54cf22e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981d015e7&amp;amp;cid=981d015e7">
            <a:hlinkClick r:id="rId4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7a53d63c#df=d0a280d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第6讲 匀变速直线运动的速度与时间的关系</a:t>
            </a:r>
            <a:endParaRPr lang="en-US" sz="1800" dirty="0"/>
          </a:p>
        </p:txBody>
      </p:sp>
      <p:sp>
        <p:nvSpPr>
          <p:cNvPr id="5" name="C_0#auto_editor_catalog_5?lid=20e12a6e2&amp;amp;cid=20e12a6e2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4ad85d5ee&amp;amp;cid=4ad85d5ee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829657f7a&amp;amp;cid=829657f7a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1067fe899&amp;amp;cid=1067fe899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b639cb682#df=d0a280d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第6讲 匀变速直线运动的速度与时间的关系</a:t>
            </a:r>
            <a:endParaRPr lang="en-US" sz="1800" dirty="0"/>
          </a:p>
        </p:txBody>
      </p:sp>
      <p:sp>
        <p:nvSpPr>
          <p:cNvPr id="5" name="C_0#auto_editor_catalog_10?lid=ee2175d47&amp;amp;cid=ee2175d47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0502c69b8&amp;amp;cid=0502c69b8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174470a95#df=d0a280d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第6讲 匀变速直线运动的速度与时间的关系</a:t>
            </a:r>
            <a:endParaRPr lang="en-US" sz="1800" dirty="0"/>
          </a:p>
        </p:txBody>
      </p:sp>
      <p:sp>
        <p:nvSpPr>
          <p:cNvPr id="5" name="C_0#auto_editor_catalog_13?lid=7db5ac65a&amp;amp;cid=7db5ac65a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3?lid=ce11153e5&amp;amp;cid=ce11153e5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d0a280d92.fixed?vcp=1&amp;pid=abe945c4c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d0a280d92.fixed?vcp=1&amp;pid=abe945c4c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第6讲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匀变速直线运动的速度与时间的关系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8a03e6960?vcp=1&amp;pid=d0a280d92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43376ab87?vcp=1&amp;pid=8a03e6960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C_4_BD.1_1#eaa09c1c5?htil=1&amp;vcp=1&amp;pid=8a03e6960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37376" y="1636586"/>
            <a:ext cx="5216770" cy="15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_2#eaa09c1c5?htil=1&amp;vcp=1&amp;pid=8a03e6960&amp;color=0,0,0&amp;bbb=1&amp;hb=1&amp;hs=1"/>
          <p:cNvSpPr/>
          <p:nvPr/>
        </p:nvSpPr>
        <p:spPr>
          <a:xfrm>
            <a:off x="393192" y="1649285"/>
            <a:ext cx="5952744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湖北武汉三中教学质检）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如图所示是做直线运动的几个质点的运动图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像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其中做匀变速直线运动的是(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6" name="QC_4_AN.2_1#eaa09c1c5.bracket?vcp=1&amp;pid=8a03e6960&amp;color=0,0,0&amp;vpa=1"/>
          <p:cNvSpPr/>
          <p:nvPr/>
        </p:nvSpPr>
        <p:spPr>
          <a:xfrm>
            <a:off x="4892960" y="2755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7" name="QC_4_BD.1_3#eaa09c1c5.choices?vcp=1&amp;pid=8a03e6960&amp;color=0,0,0&amp;bbb=1&amp;hs=1"/>
          <p:cNvSpPr/>
          <p:nvPr/>
        </p:nvSpPr>
        <p:spPr>
          <a:xfrm>
            <a:off x="393192" y="3288537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3221477" algn="l"/>
                <a:tab pos="6417554" algn="l"/>
                <a:tab pos="96136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A.甲、乙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、丙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.甲、乙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、丁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.甲、丙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、丁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.乙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BD.3_1#084902bc2?vcp=1&amp;pid=8a03e6960&amp;color=0,0,0&amp;bbb=1&amp;hb=1"/>
              <p:cNvSpPr/>
              <p:nvPr/>
            </p:nvSpPr>
            <p:spPr>
              <a:xfrm>
                <a:off x="393192" y="378193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（2026·东北师大附中检测）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给一个滑块大小为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的初速度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，使它沿光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滑斜面向上做匀变速直线运动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，当滑块速度大小变为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所经历时间可能是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滑块沿斜面向上运动和向下运动的加速度不变）(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BD.3_1#084902bc2?vcp=1&amp;pid=8a03e6960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1932"/>
                <a:ext cx="11402568" cy="1592199"/>
              </a:xfrm>
              <a:prstGeom prst="rect">
                <a:avLst/>
              </a:prstGeom>
              <a:blipFill>
                <a:blip r:embed="rId4"/>
                <a:stretch>
                  <a:fillRect l="-1658" r="-347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QC_4_AN.4_1#084902bc2.bracket?vcp=1&amp;pid=8a03e6960&amp;color=0,0,0&amp;vpa=2"/>
          <p:cNvSpPr/>
          <p:nvPr/>
        </p:nvSpPr>
        <p:spPr>
          <a:xfrm>
            <a:off x="9769761" y="488810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QC_4_BD.3_2#084902bc2.choices?vcp=1&amp;pid=8a03e6960&amp;color=0,0,0&amp;bbb=1"/>
              <p:cNvSpPr/>
              <p:nvPr/>
            </p:nvSpPr>
            <p:spPr>
              <a:xfrm>
                <a:off x="393192" y="5425375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QC_4_BD.3_2#084902bc2.choices?vcp=1&amp;pid=8a03e6960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425375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9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5_1#3c54cf22e?vcp=1&amp;pid=8a03e6960&amp;color=0,0,0&amp;bt=1&amp;bbb=1"/>
              <p:cNvSpPr/>
              <p:nvPr/>
            </p:nvSpPr>
            <p:spPr>
              <a:xfrm>
                <a:off x="393192" y="764921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考点1、2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物体做匀加速直线运动，加速度大小为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那么(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5_1#3c54cf22e?vcp=1&amp;pid=8a03e6960&amp;color=0,0,0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4921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6_1#3c54cf22e.bracket?vcp=1&amp;pid=8a03e6960&amp;color=0,0,0&amp;vpa=3"/>
          <p:cNvSpPr/>
          <p:nvPr/>
        </p:nvSpPr>
        <p:spPr>
          <a:xfrm>
            <a:off x="9180862" y="763016"/>
            <a:ext cx="423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5_2#3c54cf22e.choices?vcp=1&amp;pid=8a03e6960&amp;color=0,0,0&amp;bbb=1"/>
              <p:cNvSpPr/>
              <p:nvPr/>
            </p:nvSpPr>
            <p:spPr>
              <a:xfrm>
                <a:off x="393192" y="1250695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A.物体的末速度一定比初速度大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.每秒钟物体的速度增大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初的速度比第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末的速度比第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初的速度大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5_2#3c54cf22e.choices?vcp=1&amp;pid=8a03e6960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50695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1#981d015e7?vcp=1&amp;pid=8a03e6960&amp;color=0,0,0&amp;bbb=1&amp;hb=1"/>
              <p:cNvSpPr/>
              <p:nvPr/>
            </p:nvSpPr>
            <p:spPr>
              <a:xfrm>
                <a:off x="393192" y="338429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一名杂技演员在钢管的顶端进行表演，当他结束表演后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，沿着竖直钢管从顶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端由静止先匀加速再匀减速下滑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，滑到地面时他的速度恰好为0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.如果他加速时的加速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度大小是减速时加速度大小的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1.5倍，下滑的总时间为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，那么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，该杂技演员加速过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程所用的时间为(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1#981d015e7?vcp=1&amp;pid=8a03e6960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84295"/>
                <a:ext cx="11402568" cy="2150999"/>
              </a:xfrm>
              <a:prstGeom prst="rect">
                <a:avLst/>
              </a:prstGeom>
              <a:blipFill>
                <a:blip r:embed="rId5"/>
                <a:stretch>
                  <a:fillRect l="-1658" r="-123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8_1#981d015e7.bracket?vcp=1&amp;pid=8a03e6960&amp;color=0,0,0&amp;vpa=4"/>
          <p:cNvSpPr/>
          <p:nvPr/>
        </p:nvSpPr>
        <p:spPr>
          <a:xfrm>
            <a:off x="2772061" y="504926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7_2#981d015e7.choices?vcp=1&amp;pid=8a03e6960&amp;color=0,0,0&amp;bbb=1"/>
              <p:cNvSpPr/>
              <p:nvPr/>
            </p:nvSpPr>
            <p:spPr>
              <a:xfrm>
                <a:off x="393192" y="5573838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7_2#981d015e7.choices?vcp=1&amp;pid=8a03e6960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573838"/>
                <a:ext cx="11402568" cy="477330"/>
              </a:xfrm>
              <a:prstGeom prst="rect">
                <a:avLst/>
              </a:prstGeom>
              <a:blipFill>
                <a:blip r:embed="rId6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a7a53d63c?vcp=1&amp;pid=d0a280d92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0099e5fa2?vcp=1&amp;pid=a7a53d63c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sp>
        <p:nvSpPr>
          <p:cNvPr id="4" name="QC_4_BD.9_1#20e12a6e2?vcp=1&amp;pid=a7a53d63c&amp;color=0,0,0&amp;bbb=1&amp;hb=1"/>
          <p:cNvSpPr/>
          <p:nvPr/>
        </p:nvSpPr>
        <p:spPr>
          <a:xfrm>
            <a:off x="393192" y="1649285"/>
            <a:ext cx="11402568" cy="2150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（2026·安徽合肥八中阶段性测试）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一辆汽车从甲地开往乙地，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先由静止启动做匀加速直线运动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，然后保持匀速直线运动，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最后做匀减速直线运动，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当速度减为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0时刚好到达乙地.从汽车启动开始计时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，下表给出了某些时刻汽车的瞬时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速度大小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根据表中的数据可以得出汽车(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QC_4_BD.9_2#20e12a6e2?colgroup=6,3,3,3,3,3,3,3&amp;vcp=1&amp;pid=a7a53d63c&amp;color=0,0,0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980730"/>
                  </p:ext>
                </p:extLst>
              </p:nvPr>
            </p:nvGraphicFramePr>
            <p:xfrm>
              <a:off x="393192" y="3914775"/>
              <a:ext cx="11400006" cy="997332"/>
            </p:xfrm>
            <a:graphic>
              <a:graphicData uri="http://schemas.openxmlformats.org/drawingml/2006/table">
                <a:tbl>
                  <a:tblPr/>
                  <a:tblGrid>
                    <a:gridCol w="2120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时刻/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7.0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9.5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10.5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速度/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s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9.0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9.0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QC_4_BD.9_2#20e12a6e2?colgroup=6,3,3,3,3,3,3,3&amp;vcp=1&amp;pid=a7a53d63c&amp;color=0,0,0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7980730"/>
                  </p:ext>
                </p:extLst>
              </p:nvPr>
            </p:nvGraphicFramePr>
            <p:xfrm>
              <a:off x="393192" y="3914775"/>
              <a:ext cx="11400006" cy="997332"/>
            </p:xfrm>
            <a:graphic>
              <a:graphicData uri="http://schemas.openxmlformats.org/drawingml/2006/table">
                <a:tbl>
                  <a:tblPr/>
                  <a:tblGrid>
                    <a:gridCol w="21209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2558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1220" r="-438218" b="-1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7.0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9.5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10.5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7" t="-101220" r="-438218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9.0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12.0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9.0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3.0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QC_4_AN.10_1#20e12a6e2.bracket?vcp=1&amp;pid=a7a53d63c&amp;color=0,0,0&amp;vpa=5&amp;bbb=1"/>
          <p:cNvSpPr/>
          <p:nvPr/>
        </p:nvSpPr>
        <p:spPr>
          <a:xfrm>
            <a:off x="6175660" y="331425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9_3#20e12a6e2.choices?vcp=1&amp;pid=a7a53d63c&amp;color=0,0,0&amp;bbb=1"/>
              <p:cNvSpPr/>
              <p:nvPr/>
            </p:nvSpPr>
            <p:spPr>
              <a:xfrm>
                <a:off x="393192" y="504507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A.匀加速直线运动经历的时间为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.匀加速直线运动经历的时间为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.匀减速直线运动经历的时间为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.匀减速直线运动经历的时间为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9_3#20e12a6e2.choices?vcp=1&amp;pid=a7a53d63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5075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1_1#20e12a6e2?vcp=1&amp;pid=a7a53d63c&amp;color=0,0,0&amp;bt=1&amp;bbb=1&amp;hb=1"/>
              <p:cNvSpPr/>
              <p:nvPr/>
            </p:nvSpPr>
            <p:spPr>
              <a:xfrm>
                <a:off x="393192" y="1865693"/>
                <a:ext cx="11402568" cy="29147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由题表中数据可知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，汽车加速运动时的加速度大小为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，匀速运动时速度大小为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，所以汽车匀加速直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线运动经历的时间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；汽车减速运动时的加速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，则汽车匀减速直线运动经历的时间为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1_1#20e12a6e2?vcp=1&amp;pid=a7a53d63c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65693"/>
                <a:ext cx="11402568" cy="2914714"/>
              </a:xfrm>
              <a:prstGeom prst="rect">
                <a:avLst/>
              </a:prstGeom>
              <a:blipFill>
                <a:blip r:embed="rId3"/>
                <a:stretch>
                  <a:fillRect l="-1658" b="-23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2_1#4ad85d5ee?vcp=1&amp;pid=a7a53d63c&amp;color=0,0,0&amp;bt=1&amp;bbb=1&amp;hb=1"/>
              <p:cNvSpPr/>
              <p:nvPr/>
            </p:nvSpPr>
            <p:spPr>
              <a:xfrm>
                <a:off x="393192" y="1291781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某架无人机从地面上由静止起飞，以加速度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竖直向上做匀加速直线运动，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紧接着以大小为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的加速度做匀减速直线运动，减速到0后悬停在空中.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若该过程中，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无人机加速运动的时间为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则无人机运动的总时间为(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2_1#4ad85d5ee?vcp=1&amp;pid=a7a53d63c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1781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3_1#4ad85d5ee.bracket?vcp=1&amp;pid=a7a53d63c&amp;color=0,0,0&amp;vpa=6"/>
          <p:cNvSpPr/>
          <p:nvPr/>
        </p:nvSpPr>
        <p:spPr>
          <a:xfrm>
            <a:off x="7535641" y="2397951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2_2#4ad85d5ee.choices?vcp=1&amp;pid=a7a53d63c&amp;color=0,0,0&amp;bbb=1"/>
              <p:cNvSpPr/>
              <p:nvPr/>
            </p:nvSpPr>
            <p:spPr>
              <a:xfrm>
                <a:off x="393192" y="2885376"/>
                <a:ext cx="11402568" cy="76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000"/>
                  </a:lnSpc>
                  <a:tabLst>
                    <a:tab pos="2707127" algn="l"/>
                    <a:tab pos="5807954" algn="l"/>
                    <a:tab pos="84896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2_2#4ad85d5ee.choices?vcp=1&amp;pid=a7a53d63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85376"/>
                <a:ext cx="11402568" cy="762000"/>
              </a:xfrm>
              <a:prstGeom prst="rect">
                <a:avLst/>
              </a:prstGeom>
              <a:blipFill>
                <a:blip r:embed="rId4"/>
                <a:stretch>
                  <a:fillRect l="-1658" b="-80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4_1#4ad85d5ee?vcp=1&amp;pid=a7a53d63c&amp;color=0,0,0&amp;bbb=1&amp;hb=1"/>
              <p:cNvSpPr/>
              <p:nvPr/>
            </p:nvSpPr>
            <p:spPr>
              <a:xfrm>
                <a:off x="393192" y="3647376"/>
                <a:ext cx="11402568" cy="1739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由题意可知，无人机加速过程的末速度与减速过程的初速度相同，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对于无人机，</a:t>
                </a:r>
              </a:p>
              <a:p>
                <a:pPr latinLnBrk="1">
                  <a:lnSpc>
                    <a:spcPts val="4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加速过程有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，减速过程有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，解得减速时间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，故无人机运动的总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，故选D.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4_1#4ad85d5ee?vcp=1&amp;pid=a7a53d63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47376"/>
                <a:ext cx="11402568" cy="1739900"/>
              </a:xfrm>
              <a:prstGeom prst="rect">
                <a:avLst/>
              </a:prstGeom>
              <a:blipFill>
                <a:blip r:embed="rId5"/>
                <a:stretch>
                  <a:fillRect l="-1658" r="-3690" b="-34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5_1#829657f7a?htil=2&amp;vcp=1&amp;pid=a7a53d63c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77390" y="1590896"/>
            <a:ext cx="2404872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5_2#829657f7a?htil=2&amp;vcp=1&amp;pid=a7a53d63c&amp;color=0,0,0&amp;bt=1&amp;bbb=1&amp;hb=1"/>
              <p:cNvSpPr/>
              <p:nvPr/>
            </p:nvSpPr>
            <p:spPr>
              <a:xfrm>
                <a:off x="393192" y="1545177"/>
                <a:ext cx="8906256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（2026·湖北武汉二中检测</a:t>
                </a:r>
                <a:r>
                  <a:rPr lang="en-US" altLang="zh-CN" sz="2400" b="0" i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某物体沿水平方向做直线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图像如图所示，规定向右为正方向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，下列判断正确的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5_2#829657f7a?htil=2&amp;vcp=1&amp;pid=a7a53d63c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177"/>
                <a:ext cx="8906256" cy="1592199"/>
              </a:xfrm>
              <a:prstGeom prst="rect">
                <a:avLst/>
              </a:prstGeom>
              <a:blipFill>
                <a:blip r:embed="rId4"/>
                <a:stretch>
                  <a:fillRect l="-2122" r="-1916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6_1#829657f7a.bracket?vcp=1&amp;pid=a7a53d63c&amp;color=0,0,0&amp;vpa=7"/>
          <p:cNvSpPr/>
          <p:nvPr/>
        </p:nvSpPr>
        <p:spPr>
          <a:xfrm>
            <a:off x="930560" y="26513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5_3#829657f7a.choices?htil=2&amp;vcp=1&amp;pid=a7a53d63c&amp;color=0,0,0&amp;bbb=1"/>
              <p:cNvSpPr/>
              <p:nvPr/>
            </p:nvSpPr>
            <p:spPr>
              <a:xfrm>
                <a:off x="393192" y="3138772"/>
                <a:ext cx="890625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内，物体的加速度逐渐增大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内，物体向左运动，且速度大小在减小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1∼3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内，物体的加速度方向向左，大小为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1∼3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内，物体的速度始终在减小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5_3#829657f7a.choices?htil=2&amp;vcp=1&amp;pid=a7a53d63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772"/>
                <a:ext cx="8906256" cy="2155000"/>
              </a:xfrm>
              <a:prstGeom prst="rect">
                <a:avLst/>
              </a:prstGeom>
              <a:blipFill>
                <a:blip r:embed="rId5"/>
                <a:stretch>
                  <a:fillRect l="-2122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7_1#829657f7a?vcp=1&amp;pid=a7a53d63c&amp;color=0,0,0&amp;bt=1&amp;bbb=1&amp;hb=1"/>
              <p:cNvSpPr/>
              <p:nvPr/>
            </p:nvSpPr>
            <p:spPr>
              <a:xfrm>
                <a:off x="393192" y="1959165"/>
                <a:ext cx="11402568" cy="2739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图像中图线的斜率表示加速度，由题图可知，在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，物体的加速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度逐渐减小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，A错误；由于规定向右为正方向，故在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，物体向右做匀减速运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内，物体的加速度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，故加速度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方向向左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内，物体先沿正方向减速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，后沿负方向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，速度不是始终在减小，D错误.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7_1#829657f7a?vcp=1&amp;pid=a7a53d63c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59165"/>
                <a:ext cx="11402568" cy="2739200"/>
              </a:xfrm>
              <a:prstGeom prst="rect">
                <a:avLst/>
              </a:prstGeom>
              <a:blipFill>
                <a:blip r:embed="rId3"/>
                <a:stretch>
                  <a:fillRect l="-1658" r="-374" b="-64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8_1#1067fe899?vcp=1&amp;pid=a7a53d63c&amp;color=0,0,0&amp;bt=1&amp;bbb=1&amp;hb=1"/>
              <p:cNvSpPr/>
              <p:nvPr/>
            </p:nvSpPr>
            <p:spPr>
              <a:xfrm>
                <a:off x="393192" y="1168750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中国载人深潜器“奋斗者”号在马里亚纳海沟成功坐底，创造了10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909米的中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国载人深潜新纪录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，标志着我国在大深度载人深潜领域达到世界领先水平.假设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“奋斗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者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”号完成海底任务后竖直上浮，从上浮速度为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时开始计时，此后“奋斗者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”号匀减速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上浮到海面，速度恰好减为0，则“奋斗者”号在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8_1#1067fe899?vcp=1&amp;pid=a7a53d63c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68750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909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9_1#1067fe899.bracket?vcp=1&amp;pid=a7a53d63c&amp;color=0,0,0&amp;vpa=8"/>
          <p:cNvSpPr/>
          <p:nvPr/>
        </p:nvSpPr>
        <p:spPr>
          <a:xfrm>
            <a:off x="930560" y="339251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8_2#1067fe899.choices?vcp=1&amp;pid=a7a53d63c&amp;color=0,0,0&amp;bbb=1"/>
              <p:cNvSpPr/>
              <p:nvPr/>
            </p:nvSpPr>
            <p:spPr>
              <a:xfrm>
                <a:off x="393192" y="3854545"/>
                <a:ext cx="11402568" cy="647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100"/>
                  </a:lnSpc>
                  <a:tabLst>
                    <a:tab pos="3177027" algn="l"/>
                    <a:tab pos="6315954" algn="l"/>
                    <a:tab pos="88960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8_2#1067fe899.choices?vcp=1&amp;pid=a7a53d63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54545"/>
                <a:ext cx="11402568" cy="647700"/>
              </a:xfrm>
              <a:prstGeom prst="rect">
                <a:avLst/>
              </a:prstGeom>
              <a:blipFill>
                <a:blip r:embed="rId4"/>
                <a:stretch>
                  <a:fillRect l="-1658" b="-841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20_1#1067fe899?vcp=1&amp;pid=a7a53d63c&amp;color=0,0,0&amp;bbb=1&amp;hb=1"/>
              <p:cNvSpPr/>
              <p:nvPr/>
            </p:nvSpPr>
            <p:spPr>
              <a:xfrm>
                <a:off x="393192" y="4502245"/>
                <a:ext cx="11402568" cy="1206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“奋斗者”号匀减速上浮，经过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上浮到海面，速度恰好减为0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，则其加速度</a:t>
                </a:r>
              </a:p>
              <a:p>
                <a:pPr latinLnBrk="1">
                  <a:lnSpc>
                    <a:spcPts val="51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,可得其在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,故选A.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20_1#1067fe899?vcp=1&amp;pid=a7a53d63c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02245"/>
                <a:ext cx="11402568" cy="1206500"/>
              </a:xfrm>
              <a:prstGeom prst="rect">
                <a:avLst/>
              </a:prstGeom>
              <a:blipFill>
                <a:blip r:embed="rId5"/>
                <a:stretch>
                  <a:fillRect l="-1658" b="-50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b639cb682?vcp=1&amp;pid=d0a280d92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a80f2be1a?vcp=1&amp;pid=b639cb682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1_1#ee2175d47?vcp=1&amp;pid=b639cb682&amp;color=0,0,0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（多选题）一个物体做匀变速直线运动，当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，物体的速度大小为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，方向向东；当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时，物体的速度大小为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，方向仍向东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.若物体的速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度大小变为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可能为(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1_1#ee2175d47?vcp=1&amp;pid=b639cb682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2_1#ee2175d47.bracket?vcp=1&amp;pid=b639cb682&amp;color=0,0,0&amp;vpa=9&amp;bbb=1"/>
          <p:cNvSpPr/>
          <p:nvPr/>
        </p:nvSpPr>
        <p:spPr>
          <a:xfrm>
            <a:off x="4635278" y="2696845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21_2#ee2175d47.choices?vcp=1&amp;pid=b639cb682&amp;color=0,0,0&amp;bbb=1"/>
              <p:cNvSpPr/>
              <p:nvPr/>
            </p:nvSpPr>
            <p:spPr>
              <a:xfrm>
                <a:off x="393192" y="3234118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21_2#ee2175d47.choices?vcp=1&amp;pid=b639cb682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34118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23_1#ee2175d47?vcp=1&amp;pid=b639cb682&amp;color=0,0,0&amp;bbb=1&amp;hb=1"/>
              <p:cNvSpPr/>
              <p:nvPr/>
            </p:nvSpPr>
            <p:spPr>
              <a:xfrm>
                <a:off x="393192" y="3722370"/>
                <a:ext cx="11402568" cy="2286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取物体开始运动时的方向为正方向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，物体的加速度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,物体的速度大小为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时，方向可能向东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，也可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能向西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可得，当速度方向向东时，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,当速度方向向西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𝟏𝟐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.故选BC.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23_1#ee2175d47?vcp=1&amp;pid=b639cb682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2370"/>
                <a:ext cx="11402568" cy="2286000"/>
              </a:xfrm>
              <a:prstGeom prst="rect">
                <a:avLst/>
              </a:prstGeom>
              <a:blipFill>
                <a:blip r:embed="rId5"/>
                <a:stretch>
                  <a:fillRect l="-1658" r="-428" b="-45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4_1#0502c69b8?vcp=1&amp;pid=b639cb682&amp;color=0,0,0&amp;bt=1&amp;bbb=1&amp;hb=1"/>
              <p:cNvSpPr/>
              <p:nvPr/>
            </p:nvSpPr>
            <p:spPr>
              <a:xfrm>
                <a:off x="393192" y="1823562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一辆汽车在水平公路上以速度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匀速行驶，假设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时刻汽车开始刹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，刹车过程可视为加速度为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的匀减速直线运动，则汽车开始刹车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后的速度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4_1#0502c69b8?vcp=1&amp;pid=b639cb682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3562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123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5_1#0502c69b8.bracket?vcp=1&amp;pid=b639cb682&amp;color=0,0,0&amp;vpa=10"/>
          <p:cNvSpPr/>
          <p:nvPr/>
        </p:nvSpPr>
        <p:spPr>
          <a:xfrm>
            <a:off x="943260" y="2929731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4_2#0502c69b8.choices?vcp=1&amp;pid=b639cb682&amp;color=0,0,0&amp;bbb=1"/>
              <p:cNvSpPr/>
              <p:nvPr/>
            </p:nvSpPr>
            <p:spPr>
              <a:xfrm>
                <a:off x="393192" y="3473100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3021452" algn="l"/>
                    <a:tab pos="5395204" algn="l"/>
                    <a:tab pos="83785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B.0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4_2#0502c69b8.choices?vcp=1&amp;pid=b639cb682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73100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26_1#0502c69b8?vcp=1&amp;pid=b639cb682&amp;color=0,0,0&amp;bbb=1&amp;hb=1"/>
              <p:cNvSpPr/>
              <p:nvPr/>
            </p:nvSpPr>
            <p:spPr>
              <a:xfrm>
                <a:off x="393192" y="3961352"/>
                <a:ext cx="11402568" cy="106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由运动学公式可得刹车时间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，所以汽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车开始刹车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就已经停止运动，故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后的速度为0，B正确.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26_1#0502c69b8?vcp=1&amp;pid=b639cb682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61352"/>
                <a:ext cx="11402568" cy="1062800"/>
              </a:xfrm>
              <a:prstGeom prst="rect">
                <a:avLst/>
              </a:prstGeom>
              <a:blipFill>
                <a:blip r:embed="rId5"/>
                <a:stretch>
                  <a:fillRect l="-1658" r="-267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EX.27_1#0502c69b8?vcp=1&amp;pid=b639cb682&amp;color=0,0,0&amp;bt=1&amp;bbb=1"/>
          <p:cNvSpPr/>
          <p:nvPr/>
        </p:nvSpPr>
        <p:spPr>
          <a:xfrm>
            <a:off x="393192" y="2108454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思路点拨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处理刹车类问题的基本思路</a:t>
            </a:r>
            <a:endParaRPr lang="en-US" altLang="zh-CN" sz="2400" dirty="0"/>
          </a:p>
        </p:txBody>
      </p:sp>
      <p:pic>
        <p:nvPicPr>
          <p:cNvPr id="3" name="QC_4_EX.27_2#0502c69b8?vcp=1&amp;pid=b639cb682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04488" y="3281680"/>
            <a:ext cx="4379976" cy="145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174470a95?vcp=1&amp;pid=d0a280d92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252ea3dc1?vcp=1&amp;pid=174470a95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8_1#7db5ac65a?vcp=1&amp;pid=174470a95&amp;color=0,0,0&amp;bbb=1&amp;hb=1"/>
              <p:cNvSpPr/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的高速列车在平直轨道上正常行驶，速率为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，要通过前方一长为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的隧道，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当列车的任一部分处于隧道内时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，列车速率都不允许超过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.已知列车加速和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减速时加速度的大小分别为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，则列车从减速开始至回到正常行驶速率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间至少为(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8_1#7db5ac65a?vcp=1&amp;pid=174470a95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9_1#7db5ac65a.bracket?vcp=1&amp;pid=174470a95&amp;color=0,0,0&amp;vpa=11"/>
          <p:cNvSpPr/>
          <p:nvPr/>
        </p:nvSpPr>
        <p:spPr>
          <a:xfrm>
            <a:off x="1844961" y="32556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28_2#7db5ac65a.choices?vcp=1&amp;pid=174470a95&amp;color=0,0,0&amp;bbb=1"/>
              <p:cNvSpPr/>
              <p:nvPr/>
            </p:nvSpPr>
            <p:spPr>
              <a:xfrm>
                <a:off x="393192" y="3724275"/>
                <a:ext cx="11402568" cy="129914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6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𝑙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28_2#7db5ac65a.choices?vcp=1&amp;pid=174470a95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4275"/>
                <a:ext cx="11402568" cy="1299147"/>
              </a:xfrm>
              <a:prstGeom prst="rect">
                <a:avLst/>
              </a:prstGeom>
              <a:blipFill>
                <a:blip r:embed="rId4"/>
                <a:stretch>
                  <a:fillRect l="-1658" b="-79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0_1#7db5ac65a?vcp=1&amp;pid=174470a95&amp;color=0,0,0&amp;bt=1&amp;bbb=1&amp;hb=1"/>
              <p:cNvSpPr/>
              <p:nvPr/>
            </p:nvSpPr>
            <p:spPr>
              <a:xfrm>
                <a:off x="393192" y="2127186"/>
                <a:ext cx="11402568" cy="2273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由题知当列车的任一部分处于隧道内时，列车速率都不允许超过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列车进隧道前至少要减速到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在隧道内匀速行驶，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,列车尾部出隧道后立即加速到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,则列车从减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速开始至回到正常行驶速率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所用的时间至少为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0_1#7db5ac65a?vcp=1&amp;pid=174470a95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27186"/>
                <a:ext cx="11402568" cy="2273300"/>
              </a:xfrm>
              <a:prstGeom prst="rect">
                <a:avLst/>
              </a:prstGeom>
              <a:blipFill>
                <a:blip r:embed="rId3"/>
                <a:stretch>
                  <a:fillRect l="-1658" r="-2299" b="-4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31_1#ce11153e5?vcp=1&amp;pid=174470a95&amp;color=0,0,0&amp;bt=1&amp;bbb=1&amp;hb=1"/>
              <p:cNvSpPr/>
              <p:nvPr/>
            </p:nvSpPr>
            <p:spPr>
              <a:xfrm>
                <a:off x="393192" y="705961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2.如图甲所示，一辆赛车在平直的赛道上匀加速行驶，某时刻开始速度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系如图乙所示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，图像与纵轴的截距为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,图像的斜率为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赛车的(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31_1#ce11153e5?vcp=1&amp;pid=174470a95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05961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551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32_1#ce11153e5.bracket?vcp=1&amp;pid=174470a95&amp;color=0,0,0&amp;vpa=12"/>
          <p:cNvSpPr/>
          <p:nvPr/>
        </p:nvSpPr>
        <p:spPr>
          <a:xfrm>
            <a:off x="10976514" y="1253331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31_2#ce11153e5?vcp=1&amp;pid=174470a95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30168" y="1866487"/>
            <a:ext cx="4928616" cy="1792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31_3#ce11153e5.choices?vcp=1&amp;pid=174470a95&amp;color=0,0,0&amp;bbb=1"/>
              <p:cNvSpPr/>
              <p:nvPr/>
            </p:nvSpPr>
            <p:spPr>
              <a:xfrm>
                <a:off x="393192" y="3796887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𝑘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31_3#ce11153e5.choices?vcp=1&amp;pid=174470a95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96887"/>
                <a:ext cx="11402568" cy="1117600"/>
              </a:xfrm>
              <a:prstGeom prst="rect">
                <a:avLst/>
              </a:prstGeom>
              <a:blipFill>
                <a:blip r:embed="rId5"/>
                <a:stretch>
                  <a:fillRect l="-1658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33_1#ce11153e5?vcp=1&amp;pid=174470a95&amp;color=0,0,0&amp;bbb=1&amp;hb=1"/>
              <p:cNvSpPr/>
              <p:nvPr/>
            </p:nvSpPr>
            <p:spPr>
              <a:xfrm>
                <a:off x="393192" y="4922869"/>
                <a:ext cx="11402568" cy="1062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根据速度与时间的关系式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，变形可得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，对比题图乙可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，由此可知，赛车在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33_1#ce11153e5?vcp=1&amp;pid=174470a95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922869"/>
                <a:ext cx="11402568" cy="1062800"/>
              </a:xfrm>
              <a:prstGeom prst="rect">
                <a:avLst/>
              </a:prstGeom>
              <a:blipFill>
                <a:blip r:embed="rId6"/>
                <a:stretch>
                  <a:fillRect l="-1658" r="-963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1179</Words>
  <Application>Microsoft Office PowerPoint</Application>
  <PresentationFormat>宽屏</PresentationFormat>
  <Paragraphs>143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2026-05-25T07:15:45Z</dcterms:created>
  <dcterms:modified xsi:type="dcterms:W3CDTF">2026-05-25T07:21:41Z</dcterms:modified>
  <cp:category/>
  <cp:contentStatus/>
</cp:coreProperties>
</file>