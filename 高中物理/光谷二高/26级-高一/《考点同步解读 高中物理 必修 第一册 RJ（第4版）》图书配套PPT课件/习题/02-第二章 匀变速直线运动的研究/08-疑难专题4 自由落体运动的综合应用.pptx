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1496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7" Type="http://schemas.openxmlformats.org/officeDocument/2006/relationships/slide" Target="../slides/slide1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2.xml"/><Relationship Id="rId5" Type="http://schemas.openxmlformats.org/officeDocument/2006/relationships/slide" Target="../slides/slide10.xml"/><Relationship Id="rId4" Type="http://schemas.openxmlformats.org/officeDocument/2006/relationships/slide" Target="../slides/slide8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7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7" Type="http://schemas.openxmlformats.org/officeDocument/2006/relationships/slide" Target="../slides/slide1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2.xml"/><Relationship Id="rId5" Type="http://schemas.openxmlformats.org/officeDocument/2006/relationships/slide" Target="../slides/slide10.xml"/><Relationship Id="rId4" Type="http://schemas.openxmlformats.org/officeDocument/2006/relationships/slide" Target="../slides/slide8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55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f6a157a7a,9ca3ff92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a1e083538&amp;amp;cid=a1e083538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f4b84bc34&amp;amp;cid=f4b84bc34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8cb63593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3?lid=cd55a759c&amp;amp;cid=cd55a759c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3?lid=9a755f5d6&amp;amp;cid=9a755f5d6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3?lid=9a89b5ab9&amp;amp;cid=9a89b5ab9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3?lid=9a421eae6&amp;amp;cid=9a421eae6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3?lid=6722579b7&amp;amp;cid=6722579b7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919603b56,ed9cdc3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9?lid=db99caf11&amp;amp;cid=db99caf11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9?lid=a2b2c35cf&amp;amp;cid=a2b2c35cf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f6a157a7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疑难专题4 自由落体运动的综合应用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f6a157a7a,9ca3ff92d#df=f6a157a7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疑难专题4 自由落体运动的综合应用</a:t>
            </a:r>
            <a:endParaRPr lang="en-US" sz="1800" dirty="0"/>
          </a:p>
        </p:txBody>
      </p:sp>
      <p:sp>
        <p:nvSpPr>
          <p:cNvPr id="5" name="C_0#auto_editor_catalog_0?lid=a1e083538&amp;amp;cid=a1e083538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f4b84bc34&amp;amp;cid=f4b84bc34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8cb63593e#df=f6a157a7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疑难专题4 自由落体运动的综合应用</a:t>
            </a:r>
            <a:endParaRPr lang="en-US" sz="1800" dirty="0"/>
          </a:p>
        </p:txBody>
      </p:sp>
      <p:sp>
        <p:nvSpPr>
          <p:cNvPr id="5" name="C_0#auto_editor_catalog_3?lid=cd55a759c&amp;amp;cid=cd55a759c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3?lid=9a755f5d6&amp;amp;cid=9a755f5d6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3?lid=9a89b5ab9&amp;amp;cid=9a89b5ab9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3?lid=9a421eae6&amp;amp;cid=9a421eae6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3?lid=6722579b7&amp;amp;cid=6722579b7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919603b56,ed9cdc3d1#df=f6a157a7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疑难专题4 自由落体运动的综合应用</a:t>
            </a:r>
            <a:endParaRPr lang="en-US" sz="1800" dirty="0"/>
          </a:p>
        </p:txBody>
      </p:sp>
      <p:sp>
        <p:nvSpPr>
          <p:cNvPr id="5" name="C_0#auto_editor_catalog_9?lid=db99caf11&amp;amp;cid=db99caf11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9?lid=a2b2c35cf&amp;amp;cid=a2b2c35cf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f6a157a7a.fixed?vcp=1&amp;pid=abe945c4c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匀变速直线运动的研究</a:t>
            </a:r>
            <a:endParaRPr lang="en-US" altLang="zh-CN" sz="4800" dirty="0"/>
          </a:p>
        </p:txBody>
      </p:sp>
      <p:sp>
        <p:nvSpPr>
          <p:cNvPr id="3" name="C_2_BD#f6a157a7a.fixed?vcp=1&amp;pid=abe945c4c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疑难专题4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自由落体运动的综合应用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9ca3ff92d?vcp=1&amp;pid=f6a157a7a&amp;color=0,0,0&amp;vtp=1&amp;bt=1&amp;bbb=1"/>
          <p:cNvSpPr/>
          <p:nvPr/>
        </p:nvSpPr>
        <p:spPr>
          <a:xfrm>
            <a:off x="393192" y="502921"/>
            <a:ext cx="11402568" cy="508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f5c0a032b?vcp=1&amp;pid=9ca3ff92d&amp;color=0,0,0&amp;vtp=1&amp;bbb=1"/>
          <p:cNvSpPr/>
          <p:nvPr/>
        </p:nvSpPr>
        <p:spPr>
          <a:xfrm>
            <a:off x="393192" y="1067201"/>
            <a:ext cx="11402568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限时5分钟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_1#a1e083538?vcp=1&amp;pid=9ca3ff92d&amp;color=0,0,0&amp;vtp=1&amp;bbb=1&amp;hb=1"/>
              <p:cNvSpPr/>
              <p:nvPr/>
            </p:nvSpPr>
            <p:spPr>
              <a:xfrm>
                <a:off x="393192" y="1601788"/>
                <a:ext cx="11402568" cy="15223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（2026·湖南长沙长郡中学检测）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物体从某一高度做自由落体运动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，已知它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内的位移是它落地前最后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内位移的一半，重力加速度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,则它开始下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落时距地面的高度为(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_1#a1e083538?vcp=1&amp;pid=9ca3ff92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01788"/>
                <a:ext cx="11402568" cy="1522349"/>
              </a:xfrm>
              <a:prstGeom prst="rect">
                <a:avLst/>
              </a:prstGeom>
              <a:blipFill>
                <a:blip r:embed="rId3"/>
                <a:stretch>
                  <a:fillRect l="-1658" t="-803" r="-1230" b="-12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_1#a1e083538.bracket?vcp=1&amp;pid=9ca3ff92d&amp;color=0,0,0&amp;vpa=1&amp;vtp=1"/>
          <p:cNvSpPr/>
          <p:nvPr/>
        </p:nvSpPr>
        <p:spPr>
          <a:xfrm>
            <a:off x="3368960" y="2654554"/>
            <a:ext cx="441325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1_2#a1e083538.choices?vcp=1&amp;pid=9ca3ff92d&amp;color=0,0,0&amp;vtp=1&amp;bbb=1"/>
              <p:cNvSpPr/>
              <p:nvPr/>
            </p:nvSpPr>
            <p:spPr>
              <a:xfrm>
                <a:off x="393192" y="3190621"/>
                <a:ext cx="11402568" cy="45828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100"/>
                  </a:lnSpc>
                  <a:tabLst>
                    <a:tab pos="2589652" algn="l"/>
                    <a:tab pos="5319004" algn="l"/>
                    <a:tab pos="845475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31.25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11.25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1_2#a1e083538.choices?vcp=1&amp;pid=9ca3ff92d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90621"/>
                <a:ext cx="11402568" cy="458280"/>
              </a:xfrm>
              <a:prstGeom prst="rect">
                <a:avLst/>
              </a:prstGeom>
              <a:blipFill>
                <a:blip r:embed="rId4"/>
                <a:stretch>
                  <a:fillRect l="-1658" b="-4078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AS.3_1#a1e083538?vcp=1&amp;pid=9ca3ff92d&amp;color=0,0,0&amp;vtp=1&amp;bbb=1&amp;hb=1"/>
              <p:cNvSpPr/>
              <p:nvPr/>
            </p:nvSpPr>
            <p:spPr>
              <a:xfrm>
                <a:off x="393192" y="3650870"/>
                <a:ext cx="11402568" cy="27510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60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可得第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内物体的位移为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，则物体落地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前最后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，设下落总时间为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，最后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内的位移为</a:t>
                </a:r>
              </a:p>
              <a:p>
                <a:pPr latinLnBrk="1">
                  <a:lnSpc>
                    <a:spcPts val="6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，则物体下落的总高度</a:t>
                </a:r>
              </a:p>
              <a:p>
                <a:pPr latinLnBrk="1">
                  <a:lnSpc>
                    <a:spcPts val="59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AS.3_1#a1e083538?vcp=1&amp;pid=9ca3ff92d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50870"/>
                <a:ext cx="11402568" cy="2751074"/>
              </a:xfrm>
              <a:prstGeom prst="rect">
                <a:avLst/>
              </a:prstGeom>
              <a:blipFill>
                <a:blip r:embed="rId5"/>
                <a:stretch>
                  <a:fillRect l="-1658" r="-1016" b="-37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f4b84bc34?vcp=1&amp;pid=9ca3ff92d&amp;color=0,0,0&amp;vtp=1&amp;bt=1&amp;bbb=1&amp;hb=1"/>
              <p:cNvSpPr/>
              <p:nvPr/>
            </p:nvSpPr>
            <p:spPr>
              <a:xfrm>
                <a:off x="393192" y="922306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（2026·江西南昌二中检测）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冬季，北方的高架桥梁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、房屋边缘常有冰凌悬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挂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，冰凌下落可能导致危险.一冰凌（可看作质点）从距离地面高度为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处开始做自由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落体运动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，下落到距离地面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处时的速度大小为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,下列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f4b84bc34?vcp=1&amp;pid=9ca3ff92d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22306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230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f4b84bc34.bracket?vcp=1&amp;pid=9ca3ff92d&amp;color=0,0,0&amp;vpa=2&amp;vtp=1"/>
          <p:cNvSpPr/>
          <p:nvPr/>
        </p:nvSpPr>
        <p:spPr>
          <a:xfrm>
            <a:off x="2454561" y="2587276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4_2#f4b84bc34.choices?vcp=1&amp;pid=9ca3ff92d&amp;color=0,0,0&amp;vtp=1&amp;bbb=1"/>
              <p:cNvSpPr/>
              <p:nvPr/>
            </p:nvSpPr>
            <p:spPr>
              <a:xfrm>
                <a:off x="393192" y="3082384"/>
                <a:ext cx="11402568" cy="26155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A.冰凌自由下落过程的平均速度大小为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.冰凌下落到距地面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h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.冰凌从开始到下落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h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所用的时间为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.冰凌后半段时间内的平均速度大小为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4_2#f4b84bc34.choices?vcp=1&amp;pid=9ca3ff92d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082384"/>
                <a:ext cx="11402568" cy="2615502"/>
              </a:xfrm>
              <a:prstGeom prst="rect">
                <a:avLst/>
              </a:prstGeom>
              <a:blipFill>
                <a:blip r:embed="rId4"/>
                <a:stretch>
                  <a:fillRect l="-1658" b="-699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6_1#f4b84bc34?vcp=1&amp;pid=9ca3ff92d&amp;color=0,0,0&amp;vtp=1&amp;bt=1&amp;bbb=1&amp;hb=1"/>
              <p:cNvSpPr/>
              <p:nvPr/>
            </p:nvSpPr>
            <p:spPr>
              <a:xfrm>
                <a:off x="393192" y="726725"/>
                <a:ext cx="11402568" cy="4593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冰凌做自由落体运动，下落到距离地面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处时的速度大小为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b="1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，下落高度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时，设速度大小为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，根据速度与位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移的关系有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𝒈𝒉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，则冰凌自由下落过程的平均速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度大小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，A正确；冰凌经过距离地面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处时，设速度大小为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速度与位移的关系有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，结合上述分析解得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；设冰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凌从开始到下落了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，根据自由落体运动公式有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错误；根据自由落体运动公式有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，解得整个下落过程所用时间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后半段时间内的平均速度等于下落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时的速度，有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6_1#f4b84bc34?vcp=1&amp;pid=9ca3ff92d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26725"/>
                <a:ext cx="11402568" cy="4593400"/>
              </a:xfrm>
              <a:prstGeom prst="rect">
                <a:avLst/>
              </a:prstGeom>
              <a:blipFill>
                <a:blip r:embed="rId3"/>
                <a:stretch>
                  <a:fillRect l="-1658" r="-2567" b="-397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8cb63593e?vcp=1&amp;pid=f6a157a7a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c5ce20e84?vcp=1&amp;pid=8cb63593e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限时25分钟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7_1#cd55a759c?vcp=1&amp;pid=8cb63593e&amp;color=0,0,0&amp;vtp=1&amp;bbb=1&amp;hb=1"/>
              <p:cNvSpPr/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（2026·江西临川二中检测）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一矿井深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,在井口每隔一定时间自由释放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一个小球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（下落过程可视为自由落体运动），当第9个小球刚从井口下落时，第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1个小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球恰好到井底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7_1#cd55a759c?vcp=1&amp;pid=8cb63593e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535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8_1#cd55a759c.bracket?vcp=1&amp;pid=8cb63593e&amp;color=0,0,0&amp;vpa=3&amp;vtp=1"/>
          <p:cNvSpPr/>
          <p:nvPr/>
        </p:nvSpPr>
        <p:spPr>
          <a:xfrm>
            <a:off x="6553994" y="26968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7_2#cd55a759c.choices?vcp=1&amp;pid=8cb63593e&amp;color=0,0,0&amp;vtp=1&amp;bbb=1"/>
              <p:cNvSpPr/>
              <p:nvPr/>
            </p:nvSpPr>
            <p:spPr>
              <a:xfrm>
                <a:off x="393192" y="3178175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A.第1个小球落至井底时的速度大小为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.此时第1个小球与第2个小球相距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.相邻两个小球下落的时间间隔是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.第1、2两个小球都在空中时，第1个小球相对第2个小球做匀速直线运动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7_2#cd55a759c.choices?vcp=1&amp;pid=8cb63593e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78175"/>
                <a:ext cx="11402568" cy="2155000"/>
              </a:xfrm>
              <a:prstGeom prst="rect">
                <a:avLst/>
              </a:prstGeom>
              <a:blipFill>
                <a:blip r:embed="rId4"/>
                <a:stretch>
                  <a:fillRect l="-1658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9_1#cd55a759c?vcp=1&amp;pid=8cb63593e&amp;color=0,0,0&amp;vtp=1&amp;bt=1&amp;bbb=1&amp;hb=1"/>
              <p:cNvSpPr/>
              <p:nvPr/>
            </p:nvSpPr>
            <p:spPr>
              <a:xfrm>
                <a:off x="393192" y="1186085"/>
                <a:ext cx="11402568" cy="4098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第1个小球自由下落的时间满足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𝑯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，根据题意，第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1个小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球落至井底的瞬间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，第9个小球刚从井口开始下落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，故相邻两个小球下落的时间间隔</a:t>
                </a:r>
              </a:p>
              <a:p>
                <a:pPr latinLnBrk="1">
                  <a:lnSpc>
                    <a:spcPts val="6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，故C错误；第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1个小球落至井底时的速度大小为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zh-CN" altLang="en-US" sz="2400" b="1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此时第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1个小球与第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2个小球相距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𝑯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𝟏𝟖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，故A、B错误；第1个小球相对第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2个小球的速度为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，即第1个小球相对第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2个小球做匀速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9_1#cd55a759c?vcp=1&amp;pid=8cb63593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86085"/>
                <a:ext cx="11402568" cy="4098100"/>
              </a:xfrm>
              <a:prstGeom prst="rect">
                <a:avLst/>
              </a:prstGeom>
              <a:blipFill>
                <a:blip r:embed="rId3"/>
                <a:stretch>
                  <a:fillRect l="-1658" r="-374" b="-431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10_1#9a755f5d6?htil=1&amp;vcp=1&amp;pid=8cb63593e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50856" y="1329309"/>
            <a:ext cx="804672" cy="192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10_2#9a755f5d6?htil=1&amp;vcp=1&amp;pid=8cb63593e&amp;color=0,0,0&amp;vtp=1&amp;bt=1&amp;bbb=1&amp;hb=1&amp;hs=1"/>
              <p:cNvSpPr/>
              <p:nvPr/>
            </p:nvSpPr>
            <p:spPr>
              <a:xfrm>
                <a:off x="393192" y="1283589"/>
                <a:ext cx="10460736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（2026·湖北武汉一中检测）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如图所示，两个大小一样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、可视为质点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的金属小球用长为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的细线连接，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球在上，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球在下，用手拿着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球，测得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释放时离地面的高度为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,某时刻由静止释放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球，两球落地的时间差为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,空气阻力忽略不计，不考虑小球落地后反弹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.下列判断正确的是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10_2#9a755f5d6?htil=1&amp;vcp=1&amp;pid=8cb63593e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83589"/>
                <a:ext cx="10460736" cy="2709799"/>
              </a:xfrm>
              <a:prstGeom prst="rect">
                <a:avLst/>
              </a:prstGeom>
              <a:blipFill>
                <a:blip r:embed="rId4"/>
                <a:stretch>
                  <a:fillRect l="-1807" r="-1573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11_1#9a755f5d6.bracket?vcp=1&amp;pid=8cb63593e&amp;color=0,0,0&amp;vpa=4&amp;vtp=1"/>
          <p:cNvSpPr/>
          <p:nvPr/>
        </p:nvSpPr>
        <p:spPr>
          <a:xfrm>
            <a:off x="625760" y="3507359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0_3#9a755f5d6.choices?vcp=1&amp;pid=8cb63593e&amp;color=0,0,0&amp;vtp=1&amp;bbb=1&amp;hs=1"/>
              <p:cNvSpPr/>
              <p:nvPr/>
            </p:nvSpPr>
            <p:spPr>
              <a:xfrm>
                <a:off x="393192" y="3964178"/>
                <a:ext cx="11402568" cy="1612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5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球下落的时间大于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2(</m:t>
                            </m:r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h</m:t>
                            </m:r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𝐿</m:t>
                            </m:r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球下落的时间小于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h</m:t>
                            </m:r>
                          </m:num>
                          <m:den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6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h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h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</m:rad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球落地前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球的加速度比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球大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0_3#9a755f5d6.choices?vcp=1&amp;pid=8cb63593e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64178"/>
                <a:ext cx="11402568" cy="1612900"/>
              </a:xfrm>
              <a:prstGeom prst="rect">
                <a:avLst/>
              </a:prstGeom>
              <a:blipFill>
                <a:blip r:embed="rId5"/>
                <a:stretch>
                  <a:fillRect l="-1658" b="-339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2_1#9a755f5d6?vcp=1&amp;pid=8cb63593e&amp;color=0,0,0&amp;vtp=1&amp;bt=1&amp;bbb=1&amp;hb=1"/>
              <p:cNvSpPr/>
              <p:nvPr/>
            </p:nvSpPr>
            <p:spPr>
              <a:xfrm>
                <a:off x="393192" y="1681226"/>
                <a:ext cx="11402568" cy="3513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某时刻由静止释放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球下落高度为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球下落高度为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，则根据运动</a:t>
                </a:r>
              </a:p>
              <a:p>
                <a:pPr latinLnBrk="1">
                  <a:lnSpc>
                    <a:spcPts val="6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学公式可得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𝒉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球下落的时间为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(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𝒉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𝒈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，选项A错误；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球下落的</a:t>
                </a:r>
              </a:p>
              <a:p>
                <a:pPr latinLnBrk="1">
                  <a:lnSpc>
                    <a:spcPts val="6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𝒉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𝒈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，选项B错误；两球落地的时间差为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</a:p>
              <a:p>
                <a:pPr latinLnBrk="1">
                  <a:lnSpc>
                    <a:spcPts val="6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𝒉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𝒈</m:t>
                            </m:r>
                          </m:den>
                        </m:f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(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𝒉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𝑳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𝒈</m:t>
                            </m:r>
                          </m:den>
                        </m:f>
                      </m:e>
                    </m:rad>
                  </m:oMath>
                </a14:m>
                <a:r>
                  <a:rPr lang="zh-CN" altLang="en-US" sz="2400" b="1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故重力加速度为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</m:rad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,选项C正确；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球落地前两球均做自由落体运动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球的加速度与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球的加速度相等，选项D错误.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2_1#9a755f5d6?vcp=1&amp;pid=8cb63593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81226"/>
                <a:ext cx="11402568" cy="3513900"/>
              </a:xfrm>
              <a:prstGeom prst="rect">
                <a:avLst/>
              </a:prstGeom>
              <a:blipFill>
                <a:blip r:embed="rId3"/>
                <a:stretch>
                  <a:fillRect l="-1658" r="-642" b="-520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3_1#9a89b5ab9?vcp=1&amp;pid=8cb63593e&amp;color=0,0,0&amp;vtp=1&amp;bt=1&amp;bbb=1&amp;hb=1"/>
              <p:cNvSpPr/>
              <p:nvPr/>
            </p:nvSpPr>
            <p:spPr>
              <a:xfrm>
                <a:off x="393192" y="729138"/>
                <a:ext cx="11402568" cy="3268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（多选题）雨后，屋檐还在不断滴着水滴.如图所示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，小红同学认真观察后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发现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，这些水滴都是在质量积累到足够大时才由静止开始下落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，每隔相等时间滴下一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滴水滴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，水滴在空中的运动情况都相同，某时刻起，第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1滴水滴刚运动到窗台下边沿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，第5滴水滴恰欲滴下.她测得，屋檐到窗台下边沿的距离为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𝐻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,窗户的高度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=1.4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,不计空气阻力的影响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.则下列结论正确的是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3_1#9a89b5ab9?vcp=1&amp;pid=8cb63593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29138"/>
                <a:ext cx="11402568" cy="3268599"/>
              </a:xfrm>
              <a:prstGeom prst="rect">
                <a:avLst/>
              </a:prstGeom>
              <a:blipFill>
                <a:blip r:embed="rId3"/>
                <a:stretch>
                  <a:fillRect l="-1658" r="-535" b="-559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4_1#9a89b5ab9.bracket?vcp=1&amp;pid=8cb63593e&amp;color=0,0,0&amp;vpa=5&amp;vtp=1&amp;bbb=1"/>
          <p:cNvSpPr/>
          <p:nvPr/>
        </p:nvSpPr>
        <p:spPr>
          <a:xfrm>
            <a:off x="651160" y="3511708"/>
            <a:ext cx="8651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BCD</a:t>
            </a:r>
            <a:endParaRPr lang="en-US" altLang="zh-CN" sz="2400" dirty="0"/>
          </a:p>
        </p:txBody>
      </p:sp>
      <p:pic>
        <p:nvPicPr>
          <p:cNvPr id="4" name="QC_4_BD.13_2#9a89b5ab9?htil=2&amp;vcp=1&amp;pid=8cb63593e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08449" y="4015899"/>
            <a:ext cx="1719072" cy="197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3_3#9a89b5ab9.choices?htil=2&amp;vcp=1&amp;pid=8cb63593e&amp;color=0,0,0&amp;vtp=1&amp;bbb=1"/>
              <p:cNvSpPr/>
              <p:nvPr/>
            </p:nvSpPr>
            <p:spPr>
              <a:xfrm>
                <a:off x="393192" y="3961035"/>
                <a:ext cx="9546336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A.水滴到达窗台下边沿时的速度大小为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.每隔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滴下一滴水滴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.水滴经过窗户的时间为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.水滴经过窗户的平均速度为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3_3#9a89b5ab9.choices?htil=2&amp;vcp=1&amp;pid=8cb63593e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61035"/>
                <a:ext cx="9546336" cy="2158302"/>
              </a:xfrm>
              <a:prstGeom prst="rect">
                <a:avLst/>
              </a:prstGeom>
              <a:blipFill>
                <a:blip r:embed="rId5"/>
                <a:stretch>
                  <a:fillRect l="-1980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5_1#9a89b5ab9?vcp=1&amp;pid=8cb63593e&amp;color=0,0,0&amp;vtp=1&amp;bt=1&amp;bbb=1&amp;hb=1"/>
              <p:cNvSpPr/>
              <p:nvPr/>
            </p:nvSpPr>
            <p:spPr>
              <a:xfrm>
                <a:off x="393192" y="667385"/>
                <a:ext cx="11402568" cy="53500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水滴下落至窗台下边沿经过的距离为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𝑯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，由速度位移公式得</a:t>
                </a:r>
              </a:p>
              <a:p>
                <a:pPr latinLnBrk="1">
                  <a:lnSpc>
                    <a:spcPts val="53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𝒈𝑯</m:t>
                        </m:r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，故水滴到达窗台下边沿时的速度大小为</a:t>
                </a:r>
              </a:p>
              <a:p>
                <a:pPr latinLnBrk="1">
                  <a:lnSpc>
                    <a:spcPts val="67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，故A错误；水滴下落至窗台下边沿的时间为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𝑯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𝒈</m:t>
                            </m:r>
                          </m:den>
                        </m:f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×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.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den>
                        </m:f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第1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滴水滴刚运动到窗台下边沿时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，第5滴水滴恰欲滴下，此时共有4个时间间隔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，可知相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邻的水滴滴下的时间间隔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𝟖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；水滴下落至窗户上边沿</a:t>
                </a:r>
              </a:p>
              <a:p>
                <a:pPr latinLnBrk="1">
                  <a:lnSpc>
                    <a:spcPts val="6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(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𝑯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𝒉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𝒈</m:t>
                            </m:r>
                          </m:den>
                        </m:f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×(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.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.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𝟒</m:t>
                            </m:r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den>
                        </m:f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，水滴经过窗户的时间为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；水滴经过窗户的平均速度为</a:t>
                </a:r>
              </a:p>
              <a:p>
                <a:pPr latinLnBrk="1">
                  <a:lnSpc>
                    <a:spcPts val="6100"/>
                  </a:lnSpc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𝒉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5_1#9a89b5ab9?vcp=1&amp;pid=8cb63593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67385"/>
                <a:ext cx="11402568" cy="5350002"/>
              </a:xfrm>
              <a:prstGeom prst="rect">
                <a:avLst/>
              </a:prstGeom>
              <a:blipFill>
                <a:blip r:embed="rId3"/>
                <a:stretch>
                  <a:fillRect l="-1658" r="-1390" b="-19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4_BD.16_1#9a421eae6?htil=3&amp;vcp=1&amp;pid=8cb63593e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51079" y="1535462"/>
            <a:ext cx="1298448" cy="285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4_BD.16_2#9a421eae6?htil=3&amp;vcp=1&amp;pid=8cb63593e&amp;color=0,0,0&amp;vtp=1&amp;bt=1&amp;bbb=1&amp;hb=1"/>
              <p:cNvSpPr/>
              <p:nvPr/>
            </p:nvSpPr>
            <p:spPr>
              <a:xfrm>
                <a:off x="393192" y="1489742"/>
                <a:ext cx="9966960" cy="21551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如图所示，直杆长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,圆筒高为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.直杆位于圆筒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正上方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𝐻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处.直杆从静止开始做自由落体运动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，并能竖直且无接触地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穿过圆筒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.试求：（取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=2.236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0.2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=0.447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,结果保留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2位小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数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4_BD.16_2#9a421eae6?htil=3&amp;vcp=1&amp;pid=8cb63593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89742"/>
                <a:ext cx="9966960" cy="2155190"/>
              </a:xfrm>
              <a:prstGeom prst="rect">
                <a:avLst/>
              </a:prstGeom>
              <a:blipFill>
                <a:blip r:embed="rId4"/>
                <a:stretch>
                  <a:fillRect l="-1896" r="-1651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BD.17_1#90a1213ac?htil=3&amp;vcp=1&amp;pid=9a421eae6&amp;color=0,0,0&amp;vtp=1&amp;bbb=1"/>
              <p:cNvSpPr/>
              <p:nvPr/>
            </p:nvSpPr>
            <p:spPr>
              <a:xfrm>
                <a:off x="393192" y="3710653"/>
                <a:ext cx="9966960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（1）直杆下端刚好开始进入圆筒时的瞬时速度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BD.17_1#90a1213ac?htil=3&amp;vcp=1&amp;pid=9a421eae6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10653"/>
                <a:ext cx="9966960" cy="488125"/>
              </a:xfrm>
              <a:prstGeom prst="rect">
                <a:avLst/>
              </a:prstGeom>
              <a:blipFill>
                <a:blip r:embed="rId5"/>
                <a:stretch>
                  <a:fillRect l="-1896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N.18_1#90a1213ac?htil=3&amp;vcp=1&amp;pid=9a421eae6&amp;color=0,0,0&amp;vtp=1&amp;bbb=1"/>
              <p:cNvSpPr/>
              <p:nvPr/>
            </p:nvSpPr>
            <p:spPr>
              <a:xfrm>
                <a:off x="393192" y="4198905"/>
                <a:ext cx="9966960" cy="110032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直杆做自由落体运动，由运动学知识得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𝒈𝑯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N.18_1#90a1213ac?htil=3&amp;vcp=1&amp;pid=9a421eae6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98905"/>
                <a:ext cx="9966960" cy="1100328"/>
              </a:xfrm>
              <a:prstGeom prst="rect">
                <a:avLst/>
              </a:prstGeom>
              <a:blipFill>
                <a:blip r:embed="rId6"/>
                <a:stretch>
                  <a:fillRect l="-1896" b="-166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19_1#7b40a28ca?vcp=1&amp;pid=9a421eae6&amp;color=0,0,0&amp;vtp=1&amp;bt=1&amp;bbb=1"/>
              <p:cNvSpPr/>
              <p:nvPr/>
            </p:nvSpPr>
            <p:spPr>
              <a:xfrm>
                <a:off x="393192" y="1582007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（2）直杆穿过圆筒所用的时间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19_1#7b40a28ca?vcp=1&amp;pid=9a421eae6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82007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0_1#7b40a28ca?vcp=1&amp;pid=9a421eae6&amp;color=0,0,0&amp;vtp=1&amp;bbb=1&amp;hb=1"/>
              <p:cNvSpPr/>
              <p:nvPr/>
            </p:nvSpPr>
            <p:spPr>
              <a:xfrm>
                <a:off x="393192" y="2081498"/>
                <a:ext cx="11402568" cy="2764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设从直杆开始运动到直杆下端到达圆筒上端开口处所用的时间为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𝑯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设从直杆开始运动到直杆上端离开圆筒下端开口处所用的时间为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𝑯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,由题意得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由以上三式联立解得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20_1#7b40a28ca?vcp=1&amp;pid=9a421eae6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1498"/>
                <a:ext cx="11402568" cy="2764600"/>
              </a:xfrm>
              <a:prstGeom prst="rect">
                <a:avLst/>
              </a:prstGeom>
              <a:blipFill>
                <a:blip r:embed="rId4"/>
                <a:stretch>
                  <a:fillRect l="-1658" b="-660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1_1#6722579b7?vcp=1&amp;pid=8cb63593e&amp;color=0,0,0&amp;vtp=1&amp;bt=1&amp;bbb=1&amp;hb=1"/>
              <p:cNvSpPr/>
              <p:nvPr/>
            </p:nvSpPr>
            <p:spPr>
              <a:xfrm>
                <a:off x="393192" y="504000"/>
                <a:ext cx="11402568" cy="15223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（多选题）假设某次跳水，从运动员以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跳台上竖直跳起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开始算起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，当运动员位移大小为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3.75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时，下列正确的是（重力加速度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1_1#6722579b7?vcp=1&amp;pid=8cb63593e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1522349"/>
              </a:xfrm>
              <a:prstGeom prst="rect">
                <a:avLst/>
              </a:prstGeom>
              <a:blipFill>
                <a:blip r:embed="rId3"/>
                <a:stretch>
                  <a:fillRect l="-1658" r="-856" b="-12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2_1#6722579b7.bracket?vcp=1&amp;pid=8cb63593e&amp;color=0,0,0&amp;vpa=6&amp;vtp=1&amp;bbb=1"/>
          <p:cNvSpPr/>
          <p:nvPr/>
        </p:nvSpPr>
        <p:spPr>
          <a:xfrm>
            <a:off x="689260" y="1556766"/>
            <a:ext cx="644525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21_2#6722579b7.choices?vcp=1&amp;pid=8cb63593e&amp;color=0,0,0&amp;vtp=1&amp;bbb=1"/>
              <p:cNvSpPr/>
              <p:nvPr/>
            </p:nvSpPr>
            <p:spPr>
              <a:xfrm>
                <a:off x="393192" y="2033523"/>
                <a:ext cx="11402568" cy="1107377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A.运动员运动的时间一定为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.运动员运动的时间可能为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5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.运动员运动的时间可能为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2+</m:t>
                        </m:r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7</m:t>
                            </m:r>
                          </m:e>
                        </m:rad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.此时的速度大小一定为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21_2#6722579b7.choices?vcp=1&amp;pid=8cb63593e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33523"/>
                <a:ext cx="11402568" cy="1107377"/>
              </a:xfrm>
              <a:prstGeom prst="rect">
                <a:avLst/>
              </a:prstGeom>
              <a:blipFill>
                <a:blip r:embed="rId4"/>
                <a:stretch>
                  <a:fillRect l="-1658" b="-99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23_1#6722579b7?vcp=1&amp;pid=8cb63593e&amp;color=0,0,0&amp;vtp=1&amp;bbb=1&amp;hb=1"/>
              <p:cNvSpPr/>
              <p:nvPr/>
            </p:nvSpPr>
            <p:spPr>
              <a:xfrm>
                <a:off x="393192" y="3150361"/>
                <a:ext cx="11402568" cy="316090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以竖直向上为正方向，当运动员位移大小为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，方向向上时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，根据运动</a:t>
                </a:r>
              </a:p>
              <a:p>
                <a:pPr latinLnBrk="1">
                  <a:lnSpc>
                    <a:spcPts val="6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学公式有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num>
                          <m:den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den>
                        </m:f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，代入数据解得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,B正确，A错误；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同理，</a:t>
                </a:r>
              </a:p>
              <a:p>
                <a:pPr latinLnBrk="1">
                  <a:lnSpc>
                    <a:spcPts val="6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当运动员位移大小为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，方向向下时，根据运动学公式有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𝒈𝒕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，代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入数据解得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𝟕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𝟕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（舍去），C正确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；运动员此时的速度可能为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𝒈𝒕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</m:t>
                        </m:r>
                      </m:e>
                    </m:rad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23_1#6722579b7?vcp=1&amp;pid=8cb63593e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50361"/>
                <a:ext cx="11402568" cy="3160903"/>
              </a:xfrm>
              <a:prstGeom prst="rect">
                <a:avLst/>
              </a:prstGeom>
              <a:blipFill>
                <a:blip r:embed="rId5"/>
                <a:stretch>
                  <a:fillRect l="-1658" r="-3904" b="-579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919603b56?vcp=1&amp;pid=f6a157a7a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易错考点针对练</a:t>
            </a:r>
            <a:endParaRPr lang="en-US" altLang="zh-CN" sz="2600" dirty="0"/>
          </a:p>
        </p:txBody>
      </p:sp>
      <p:sp>
        <p:nvSpPr>
          <p:cNvPr id="3" name="P_4_BD#1a24a51e6?vcp=1&amp;pid=919603b56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pic>
        <p:nvPicPr>
          <p:cNvPr id="4" name="QC_4_BD.24_1#db99caf11?htil=4&amp;vcp=1&amp;pid=919603b56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88168" y="1704148"/>
            <a:ext cx="1280160" cy="302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4_2#db99caf11?htil=4&amp;vcp=1&amp;pid=919603b56&amp;color=0,0,0&amp;vtp=1&amp;bbb=1&amp;hb=1"/>
              <p:cNvSpPr/>
              <p:nvPr/>
            </p:nvSpPr>
            <p:spPr>
              <a:xfrm>
                <a:off x="393192" y="1649285"/>
                <a:ext cx="998524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（2026·湖南师大附中检测）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小球从竖直砖墙某位置由静止释放，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用频闪照相机在同一底片上多次曝光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，得到了如图中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1、2、3、4、5所示的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小球在运动过程中每次曝光的位置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.连续两次曝光的时间间隔均为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𝑇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，每块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砖的厚度均为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.根据图中的信息，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下列判断正确的是(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4_2#db99caf11?htil=4&amp;vcp=1&amp;pid=919603b56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9985248" cy="2150999"/>
              </a:xfrm>
              <a:prstGeom prst="rect">
                <a:avLst/>
              </a:prstGeom>
              <a:blipFill>
                <a:blip r:embed="rId4"/>
                <a:stretch>
                  <a:fillRect l="-1893" r="-3358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4_AN.25_1#db99caf11.bracket?vcp=1&amp;pid=919603b56&amp;color=0,0,0&amp;vpa=7&amp;vtp=1"/>
          <p:cNvSpPr/>
          <p:nvPr/>
        </p:nvSpPr>
        <p:spPr>
          <a:xfrm>
            <a:off x="7593426" y="33142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24_3#db99caf11.choices?htil=4&amp;vcp=1&amp;pid=919603b56&amp;color=0,0,0&amp;vtp=1&amp;bbb=1"/>
              <p:cNvSpPr/>
              <p:nvPr/>
            </p:nvSpPr>
            <p:spPr>
              <a:xfrm>
                <a:off x="393192" y="3787775"/>
                <a:ext cx="9985248" cy="149015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200"/>
                  </a:lnSpc>
                  <a:tabLst>
                    <a:tab pos="510057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A.小球下落的加速度大小为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4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𝑑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𝑇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.位置1是小球释放的初始位置</a:t>
                </a:r>
                <a:endParaRPr lang="en-US" altLang="zh-CN" sz="2400" dirty="0"/>
              </a:p>
              <a:p>
                <a:pPr latinLnBrk="1">
                  <a:lnSpc>
                    <a:spcPts val="6000"/>
                  </a:lnSpc>
                  <a:tabLst>
                    <a:tab pos="510057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.小球在位置3的速度大小为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7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𝑑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.小球在位置5的速度大小为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11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𝑑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24_3#db99caf11.choices?htil=4&amp;vcp=1&amp;pid=919603b56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87775"/>
                <a:ext cx="9985248" cy="1490155"/>
              </a:xfrm>
              <a:prstGeom prst="rect">
                <a:avLst/>
              </a:prstGeom>
              <a:blipFill>
                <a:blip r:embed="rId5"/>
                <a:stretch>
                  <a:fillRect l="-1893" b="-693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6_1#db99caf11?vcp=1&amp;pid=919603b56&amp;color=0,0,0&amp;vtp=1&amp;bt=1&amp;bbb=1&amp;hb=1"/>
              <p:cNvSpPr/>
              <p:nvPr/>
            </p:nvSpPr>
            <p:spPr>
              <a:xfrm>
                <a:off x="393192" y="1419447"/>
                <a:ext cx="11402568" cy="2273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小球做自由落体运动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，从静止开始运动的连续相等时间内的位移之比为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:⋯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，而题图中位移之比为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:⋯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，故位置1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不是小球释放的初始位置，</a:t>
                </a:r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选项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B错误；由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𝑻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𝑻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，选项A错误；小球在位置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3的速度大小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𝟕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den>
                    </m:f>
                  </m:oMath>
                </a14:m>
                <a:r>
                  <a:rPr lang="en-US" altLang="zh-CN" sz="2400" b="1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小球在位置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5的速度大小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𝟏𝟏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，选项C错误，D正确.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6_1#db99caf11?vcp=1&amp;pid=919603b56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19447"/>
                <a:ext cx="11402568" cy="2273300"/>
              </a:xfrm>
              <a:prstGeom prst="rect">
                <a:avLst/>
              </a:prstGeom>
              <a:blipFill>
                <a:blip r:embed="rId3"/>
                <a:stretch>
                  <a:fillRect l="-1658" r="-1818" b="-455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EX.27_1#db99caf11?vcp=1&amp;pid=919603b56&amp;color=0,0,0&amp;vtp=1&amp;bt=1&amp;bbb=1&amp;hb=1">
            <a:extLst>
              <a:ext uri="{FF2B5EF4-FFF2-40B4-BE49-F238E27FC236}">
                <a16:creationId xmlns:a16="http://schemas.microsoft.com/office/drawing/2014/main" id="{335EA998-DA97-076E-610A-7F678F900A89}"/>
              </a:ext>
            </a:extLst>
          </p:cNvPr>
          <p:cNvSpPr/>
          <p:nvPr/>
        </p:nvSpPr>
        <p:spPr>
          <a:xfrm>
            <a:off x="393192" y="3697509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易错分析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本题易将图像中的第一个点主观上视为落体运动的出发点，从而陷入错误的情境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分析之中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3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ed9cdc3d1?vcp=1&amp;pid=f6a157a7a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4429a3ddb?vcp=1&amp;pid=ed9cdc3d1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28_1#a2b2c35cf?vcp=1&amp;pid=ed9cdc3d1&amp;color=0,0,0&amp;vtp=1&amp;bbb=1&amp;hb=1"/>
              <p:cNvSpPr/>
              <p:nvPr/>
            </p:nvSpPr>
            <p:spPr>
              <a:xfrm>
                <a:off x="393192" y="1590675"/>
                <a:ext cx="11402568" cy="23478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8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（2026·华中师大一附中检测）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（多选题）人教版物理必修第一册教材封面如图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于相机存在固定的曝光时间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，照片中呈现的下落的沙粒并非沙粒本身的形状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，而是成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了一条条模糊的径迹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，沙粒的疏密分布也不均匀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.若近似认为沙粒从出口下落的初速度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0，忽略空气阻力，不计沙粒间的相互影响，重力加速度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，设沙粒随时</a:t>
                </a:r>
              </a:p>
              <a:p>
                <a:pPr latinLnBrk="1">
                  <a:lnSpc>
                    <a:spcPts val="36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间均匀漏下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28_1#a2b2c35cf?vcp=1&amp;pid=ed9cdc3d1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2347849"/>
              </a:xfrm>
              <a:prstGeom prst="rect">
                <a:avLst/>
              </a:prstGeom>
              <a:blipFill>
                <a:blip r:embed="rId3"/>
                <a:stretch>
                  <a:fillRect l="-1658" t="-2338" r="-1230" b="-779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9_1#a2b2c35cf.bracket?vcp=1&amp;pid=ed9cdc3d1&amp;color=0,0,0&amp;vpa=8&amp;vtp=1&amp;bbb=1"/>
          <p:cNvSpPr/>
          <p:nvPr/>
        </p:nvSpPr>
        <p:spPr>
          <a:xfrm>
            <a:off x="2924461" y="3507359"/>
            <a:ext cx="882650" cy="42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6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ACD</a:t>
            </a:r>
            <a:endParaRPr lang="en-US" altLang="zh-CN" sz="2400" dirty="0"/>
          </a:p>
        </p:txBody>
      </p:sp>
      <p:pic>
        <p:nvPicPr>
          <p:cNvPr id="6" name="QC_4_BD.28_2#a2b2c35cf?htil=5&amp;vcp=1&amp;pid=ed9cdc3d1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99397" y="3991483"/>
            <a:ext cx="1106424" cy="213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28_3#a2b2c35cf.choices?htil=5&amp;vcp=1&amp;pid=ed9cdc3d1&amp;color=0,0,0&amp;vtp=1&amp;bbb=1"/>
              <p:cNvSpPr/>
              <p:nvPr/>
            </p:nvSpPr>
            <p:spPr>
              <a:xfrm>
                <a:off x="393192" y="3927475"/>
                <a:ext cx="10158984" cy="230765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A.出口下方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处的径迹长度约是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处的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倍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.出口下方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处的径迹长度约是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处的2倍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.出口下方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范围内沙粒数约与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3∼12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范围内沙粒数相等</a:t>
                </a:r>
                <a:endParaRPr lang="en-US" altLang="zh-CN" sz="2400" dirty="0"/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.出口下方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范围内沙粒数约为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3∼9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范围内沙粒数的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倍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28_3#a2b2c35cf.choices?htil=5&amp;vcp=1&amp;pid=ed9cdc3d1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27475"/>
                <a:ext cx="10158984" cy="2307654"/>
              </a:xfrm>
              <a:prstGeom prst="rect">
                <a:avLst/>
              </a:prstGeom>
              <a:blipFill>
                <a:blip r:embed="rId5"/>
                <a:stretch>
                  <a:fillRect l="-1861" b="-448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0_1#a2b2c35cf?vcp=1&amp;pid=ed9cdc3d1&amp;color=0,0,0&amp;vtp=1&amp;bt=1&amp;bbb=1&amp;hb=1"/>
              <p:cNvSpPr/>
              <p:nvPr/>
            </p:nvSpPr>
            <p:spPr>
              <a:xfrm>
                <a:off x="393192" y="810705"/>
                <a:ext cx="11402568" cy="524573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沙粒从出口下落后做自由落体运动，根据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𝒈𝒉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可知，出口下方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粒的速度约为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处的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倍，所以出口下方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处的径迹长度约是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处的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点拨：沙粒径迹长度指该沙粒的速度与相机曝光时间的乘积），A正确，B错误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据初速度为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0的匀变速直线运动在连续相等时间内的位移之比为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:⋯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，可知从出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口下落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所用的时间是相等的，因沙粒随时间均匀漏下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，可知出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口下方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范围内的沙粒数约与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范围内的沙粒数相等，C正确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；沙粒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从出口运动到出口下方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处，与从出口下方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处运动到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处所用时间之比为</a:t>
                </a:r>
              </a:p>
              <a:p>
                <a:pPr latinLnBrk="1">
                  <a:lnSpc>
                    <a:spcPts val="56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)+(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，则出口下方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范围内沙粒数约为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范围内沙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粒数的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𝟑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倍，D正确.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0_1#a2b2c35cf?vcp=1&amp;pid=ed9cdc3d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10705"/>
                <a:ext cx="11402568" cy="5245735"/>
              </a:xfrm>
              <a:prstGeom prst="rect">
                <a:avLst/>
              </a:prstGeom>
              <a:blipFill>
                <a:blip r:embed="rId3"/>
                <a:stretch>
                  <a:fillRect l="-1658" r="-1604" b="-185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1582</Words>
  <Application>Microsoft Office PowerPoint</Application>
  <PresentationFormat>宽屏</PresentationFormat>
  <Paragraphs>159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2026-05-25T08:25:18Z</dcterms:created>
  <dcterms:modified xsi:type="dcterms:W3CDTF">2026-05-25T08:27:02Z</dcterms:modified>
  <cp:category/>
  <cp:contentStatus/>
</cp:coreProperties>
</file>