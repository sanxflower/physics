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3261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6.xml"/><Relationship Id="rId4" Type="http://schemas.openxmlformats.org/officeDocument/2006/relationships/slide" Target="../slides/slide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4.xml"/><Relationship Id="rId5" Type="http://schemas.openxmlformats.org/officeDocument/2006/relationships/slide" Target="../slides/slide12.xml"/><Relationship Id="rId4" Type="http://schemas.openxmlformats.org/officeDocument/2006/relationships/slide" Target="../slides/slide10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18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6.xml"/><Relationship Id="rId4" Type="http://schemas.openxmlformats.org/officeDocument/2006/relationships/slide" Target="../slides/slide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4.xml"/><Relationship Id="rId5" Type="http://schemas.openxmlformats.org/officeDocument/2006/relationships/slide" Target="../slides/slide12.xml"/><Relationship Id="rId4" Type="http://schemas.openxmlformats.org/officeDocument/2006/relationships/slide" Target="../slides/slide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53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abe945c4c,4de9564ba,de384e3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7416db33d&amp;amp;cid=7416db33d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3e21dd70b&amp;amp;cid=3e21dd70b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bc0857e2a&amp;amp;cid=bc0857e2a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c663eeb9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4?lid=8e5c6514f&amp;amp;cid=8e5c6514f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4?lid=249f16277&amp;amp;cid=249f16277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4?lid=1de578610&amp;amp;cid=1de578610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4?lid=a18998474&amp;amp;cid=a18998474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3396872ac,26399bbf5,ec9daef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9?lid=a37173d72&amp;amp;cid=a37173d72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9?lid=7c7a3c17b&amp;amp;cid=7c7a3c17b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4de9564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疑难专题3 相遇与追及问题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abe945c4c,4de9564ba,de384e315#df=4de9564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疑难专题3 相遇与追及问题</a:t>
            </a:r>
            <a:endParaRPr lang="en-US" sz="1800" dirty="0"/>
          </a:p>
        </p:txBody>
      </p:sp>
      <p:sp>
        <p:nvSpPr>
          <p:cNvPr id="5" name="C_0#auto_editor_catalog_0?lid=7416db33d&amp;amp;cid=7416db33d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3e21dd70b&amp;amp;cid=3e21dd70b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bc0857e2a&amp;amp;cid=bc0857e2a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c663eeb9d#df=4de9564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疑难专题3 相遇与追及问题</a:t>
            </a:r>
            <a:endParaRPr lang="en-US" sz="1800" dirty="0"/>
          </a:p>
        </p:txBody>
      </p:sp>
      <p:sp>
        <p:nvSpPr>
          <p:cNvPr id="5" name="C_0#auto_editor_catalog_4?lid=8e5c6514f&amp;amp;cid=8e5c6514f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4?lid=249f16277&amp;amp;cid=249f16277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4?lid=1de578610&amp;amp;cid=1de578610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4?lid=a18998474&amp;amp;cid=a18998474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3396872ac,26399bbf5,ec9daef20#df=4de9564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疑难专题3 相遇与追及问题</a:t>
            </a:r>
            <a:endParaRPr lang="en-US" sz="1800" dirty="0"/>
          </a:p>
        </p:txBody>
      </p:sp>
      <p:sp>
        <p:nvSpPr>
          <p:cNvPr id="5" name="C_0#auto_editor_catalog_9?lid=a37173d72&amp;amp;cid=a37173d72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9?lid=7c7a3c17b&amp;amp;cid=7c7a3c17b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4de9564ba.fixed?vcp=1&amp;pid=abe945c4c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匀变速直线运动的研究</a:t>
            </a:r>
            <a:endParaRPr lang="en-US" altLang="zh-CN" sz="4800" dirty="0"/>
          </a:p>
        </p:txBody>
      </p:sp>
      <p:sp>
        <p:nvSpPr>
          <p:cNvPr id="3" name="C_2_BD#4de9564ba.fixed?vcp=1&amp;pid=abe945c4c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疑难专题3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相遇与追及问题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de384e315?vcp=1&amp;pid=4de9564ba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01edbde13?vcp=1&amp;pid=de384e315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pic>
        <p:nvPicPr>
          <p:cNvPr id="4" name="QC_4_BD.1_1#7416db33d?htil=1&amp;vcp=1&amp;pid=de384e315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49488" y="1704148"/>
            <a:ext cx="2578608" cy="1700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4_BD.1_2#7416db33d?htil=1&amp;vcp=1&amp;pid=de384e315&amp;color=0,0,0&amp;vtp=1&amp;bbb=1&amp;hb=1&amp;hs=1"/>
          <p:cNvSpPr/>
          <p:nvPr/>
        </p:nvSpPr>
        <p:spPr>
          <a:xfrm>
            <a:off x="393192" y="1649285"/>
            <a:ext cx="8695944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考点1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（2026·江西九江一中检测）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如图所示是甲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、乙两物体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做直线运动的位移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—时间图像，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6" name="QC_4_AN.2_1#7416db33d.bracket?vcp=1&amp;pid=de384e315&amp;color=0,0,0&amp;vpa=1&amp;vtp=1"/>
          <p:cNvSpPr/>
          <p:nvPr/>
        </p:nvSpPr>
        <p:spPr>
          <a:xfrm>
            <a:off x="7344061" y="2196655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_3#7416db33d.choices?vcp=1&amp;pid=de384e315&amp;color=0,0,0&amp;vtp=1&amp;bbb=1&amp;hs=1"/>
              <p:cNvSpPr/>
              <p:nvPr/>
            </p:nvSpPr>
            <p:spPr>
              <a:xfrm>
                <a:off x="393192" y="3532505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A.甲开始运动的时刻比乙晚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时，两物体相遇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，两物体相距最远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.甲、乙两物体运动方向相同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_3#7416db33d.choices?vcp=1&amp;pid=de384e315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32505"/>
                <a:ext cx="11402568" cy="1033399"/>
              </a:xfrm>
              <a:prstGeom prst="rect">
                <a:avLst/>
              </a:prstGeom>
              <a:blipFill>
                <a:blip r:embed="rId4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QC_4_AS.3_1#7416db33d?vcp=1&amp;pid=de384e315&amp;color=0,0,0&amp;vtp=1&amp;bbb=1&amp;hb=1"/>
              <p:cNvSpPr/>
              <p:nvPr/>
            </p:nvSpPr>
            <p:spPr>
              <a:xfrm>
                <a:off x="393192" y="4572635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甲在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时刻开始运动，而乙在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时刻开始运动，故甲比乙早出发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错误.当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时，两物体到达同一位置，即两车相遇，故B正确，C错误.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斜率的正负表示速度的方向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,则甲、乙两物体运动方向相反，故D错误.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QC_4_AS.3_1#7416db33d?vcp=1&amp;pid=de384e315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572635"/>
                <a:ext cx="11402568" cy="1596200"/>
              </a:xfrm>
              <a:prstGeom prst="rect">
                <a:avLst/>
              </a:prstGeom>
              <a:blipFill>
                <a:blip r:embed="rId5"/>
                <a:stretch>
                  <a:fillRect l="-1658" r="-1337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8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4_1#3e21dd70b?vcp=1&amp;pid=de384e315&amp;color=0,0,0&amp;vtp=1&amp;bt=1&amp;bbb=1&amp;hb=1"/>
              <p:cNvSpPr/>
              <p:nvPr/>
            </p:nvSpPr>
            <p:spPr>
              <a:xfrm>
                <a:off x="393192" y="874935"/>
                <a:ext cx="11402568" cy="32685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（2026·湖北武汉一中检测）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如图所示，在平直公路上有A、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两辆同向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匀速行驶的汽车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车的速度为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车的速度为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车在前，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车在后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.两车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车开始加速变道超车（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车超车过程在平行于车道方向上可看作匀加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速直线运动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，忽略变道过程速度方向的变化和位移的侧向变化的影响），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车速度不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，为使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内能完成超车并回到右侧车道，且保证两车之间至少有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的安全距离，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车超车过程在平行于车道方向上的加速度应至少为(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4_1#3e21dd70b?vcp=1&amp;pid=de384e31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74935"/>
                <a:ext cx="11402568" cy="3268599"/>
              </a:xfrm>
              <a:prstGeom prst="rect">
                <a:avLst/>
              </a:prstGeom>
              <a:blipFill>
                <a:blip r:embed="rId3"/>
                <a:stretch>
                  <a:fillRect l="-1658" r="-1497" b="-559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5_1#3e21dd70b.bracket?vcp=1&amp;pid=de384e315&amp;color=0,0,0&amp;vpa=2&amp;vtp=1"/>
          <p:cNvSpPr/>
          <p:nvPr/>
        </p:nvSpPr>
        <p:spPr>
          <a:xfrm>
            <a:off x="7552278" y="3657505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4_BD.4_2#3e21dd70b?vcp=1&amp;pid=de384e31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83864" y="4233830"/>
            <a:ext cx="5221224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4_3#3e21dd70b.choices?vcp=1&amp;pid=de384e315&amp;color=0,0,0&amp;vtp=1&amp;bbb=1"/>
              <p:cNvSpPr/>
              <p:nvPr/>
            </p:nvSpPr>
            <p:spPr>
              <a:xfrm>
                <a:off x="393192" y="5503830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3088127" algn="l"/>
                    <a:tab pos="5846054" algn="l"/>
                    <a:tab pos="88325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1.6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1.2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4_3#3e21dd70b.choices?vcp=1&amp;pid=de384e31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503830"/>
                <a:ext cx="11402568" cy="477330"/>
              </a:xfrm>
              <a:prstGeom prst="rect">
                <a:avLst/>
              </a:prstGeom>
              <a:blipFill>
                <a:blip r:embed="rId5"/>
                <a:stretch>
                  <a:fillRect l="-1658" b="-397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6_1#3e21dd70b?vcp=1&amp;pid=de384e315&amp;color=0,0,0&amp;vtp=1&amp;bt=1&amp;bbb=1&amp;hb=1"/>
              <p:cNvSpPr/>
              <p:nvPr/>
            </p:nvSpPr>
            <p:spPr>
              <a:xfrm>
                <a:off x="393192" y="2510409"/>
                <a:ext cx="11402568" cy="163036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车做匀速直线运动，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时间内的位移为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车做加速度为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的匀加速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直线运动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时间内的位移为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内完成超车并回到右侧车道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，为保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证安全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，需满足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≥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≥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/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6_1#3e21dd70b?vcp=1&amp;pid=de384e31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10409"/>
                <a:ext cx="11402568" cy="1630363"/>
              </a:xfrm>
              <a:prstGeom prst="rect">
                <a:avLst/>
              </a:prstGeom>
              <a:blipFill>
                <a:blip r:embed="rId3"/>
                <a:stretch>
                  <a:fillRect l="-1658" r="-695" b="-1123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7_1#bc0857e2a?vcp=1&amp;pid=de384e315&amp;color=0,0,0&amp;vtp=1&amp;bt=1&amp;bbb=1&amp;hb=1"/>
              <p:cNvSpPr/>
              <p:nvPr/>
            </p:nvSpPr>
            <p:spPr>
              <a:xfrm>
                <a:off x="393192" y="1721930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从同一地点同时开始沿同一直线运动的两个物体Ⅰ、Ⅱ的速度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—时间图像如图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7_1#bc0857e2a?vcp=1&amp;pid=de384e31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21930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1176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8_1#bc0857e2a.bracket?vcp=1&amp;pid=de384e315&amp;color=0,0,0&amp;vpa=3&amp;vtp=1"/>
          <p:cNvSpPr/>
          <p:nvPr/>
        </p:nvSpPr>
        <p:spPr>
          <a:xfrm>
            <a:off x="6391243" y="2269300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4" name="QC_4_BD.7_2#bc0857e2a?htil=2&amp;vcp=1&amp;pid=de384e31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00321" y="2801175"/>
            <a:ext cx="1938528" cy="202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7_3#bc0857e2a.choices?htil=2&amp;vcp=1&amp;pid=de384e315&amp;color=0,0,0&amp;vtp=1&amp;bbb=1"/>
              <p:cNvSpPr/>
              <p:nvPr/>
            </p:nvSpPr>
            <p:spPr>
              <a:xfrm>
                <a:off x="393192" y="2755455"/>
                <a:ext cx="9326880" cy="2235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A.Ⅰ物体加速度不断减小，Ⅱ物体速度不断减小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时刻两物体相遇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.在相遇之前，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时刻两物体相距最远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.Ⅰ物体的平均速度等于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7_3#bc0857e2a.choices?htil=2&amp;vcp=1&amp;pid=de384e31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755455"/>
                <a:ext cx="9326880" cy="2235200"/>
              </a:xfrm>
              <a:prstGeom prst="rect">
                <a:avLst/>
              </a:prstGeom>
              <a:blipFill>
                <a:blip r:embed="rId5"/>
                <a:stretch>
                  <a:fillRect l="-2026" b="-490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9_1#bc0857e2a?vcp=1&amp;pid=de384e315&amp;color=0,0,0&amp;vtp=1&amp;bt=1&amp;bbb=1&amp;hb=1"/>
              <p:cNvSpPr/>
              <p:nvPr/>
            </p:nvSpPr>
            <p:spPr>
              <a:xfrm>
                <a:off x="393192" y="1513269"/>
                <a:ext cx="11402568" cy="385387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图像中图线的斜率表示加速度，所以Ⅰ物体的加速度不断增大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，由题图可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，Ⅱ物体的速度不断减小，故A错误；由题图可知，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时刻两物体速度相同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，二者相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距最远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，故B错误，C正确；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图像中图线与坐标轴所围面积表示位移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，由题图可</a:t>
                </a:r>
              </a:p>
              <a:p>
                <a:pPr latinLnBrk="1">
                  <a:lnSpc>
                    <a:spcPts val="5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时间内，Ⅰ物体的位移小于Ⅱ物体的位移，根据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Ⅰ物体的平均</a:t>
                </a:r>
              </a:p>
              <a:p>
                <a:pPr latinLnBrk="1">
                  <a:lnSpc>
                    <a:spcPts val="6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速度小于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Ⅱ物体的平均速度，又因为Ⅱ物体的平均速度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Ⅰ物体的平均速</a:t>
                </a:r>
              </a:p>
              <a:p>
                <a:pPr latinLnBrk="1">
                  <a:lnSpc>
                    <a:spcPts val="5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度小于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9_1#bc0857e2a?vcp=1&amp;pid=de384e31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13269"/>
                <a:ext cx="11402568" cy="3853879"/>
              </a:xfrm>
              <a:prstGeom prst="rect">
                <a:avLst/>
              </a:prstGeom>
              <a:blipFill>
                <a:blip r:embed="rId3"/>
                <a:stretch>
                  <a:fillRect l="-1658" r="-1551" b="-284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c663eeb9d?vcp=1&amp;pid=4de9564ba&amp;color=0,0,0&amp;vtp=1&amp;bt=1&amp;bbb=1"/>
          <p:cNvSpPr/>
          <p:nvPr/>
        </p:nvSpPr>
        <p:spPr>
          <a:xfrm>
            <a:off x="393192" y="502921"/>
            <a:ext cx="11402568" cy="487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c188845c2?vcp=1&amp;pid=c663eeb9d&amp;color=0,0,0&amp;vtp=1&amp;bbb=1"/>
          <p:cNvSpPr/>
          <p:nvPr/>
        </p:nvSpPr>
        <p:spPr>
          <a:xfrm>
            <a:off x="393192" y="1056251"/>
            <a:ext cx="11402568" cy="45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9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0_1#8e5c6514f?vcp=1&amp;pid=c663eeb9d&amp;color=0,0,0&amp;vtp=1&amp;bbb=1&amp;hb=1"/>
              <p:cNvSpPr/>
              <p:nvPr/>
            </p:nvSpPr>
            <p:spPr>
              <a:xfrm>
                <a:off x="393192" y="1512507"/>
                <a:ext cx="11402568" cy="24684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0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（2026·湖北黄石二中检测）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（多选题）某汽车正在平直公路上以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速度匀速行驶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，驾驶员正在低头玩手机，当他抬头时突然发现前方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处有一辆货车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正在以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的速度同向匀速行驶，经过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的反应时间后立即刹车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，汽车即刻开始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做匀减速直线运动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，汽车刹车的加速度大小为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.若汽车刹车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，货车司机发</a:t>
                </a:r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现后方的汽车迅速靠近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，立即开始加速，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0_1#8e5c6514f?vcp=1&amp;pid=c663eeb9d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12507"/>
                <a:ext cx="11402568" cy="2468499"/>
              </a:xfrm>
              <a:prstGeom prst="rect">
                <a:avLst/>
              </a:prstGeom>
              <a:blipFill>
                <a:blip r:embed="rId3"/>
                <a:stretch>
                  <a:fillRect l="-1658" t="-988" r="-1444" b="-765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11_1#8e5c6514f.bracket?vcp=1&amp;pid=c663eeb9d&amp;color=0,0,0&amp;vpa=4&amp;vtp=1&amp;bbb=1"/>
          <p:cNvSpPr/>
          <p:nvPr/>
        </p:nvSpPr>
        <p:spPr>
          <a:xfrm>
            <a:off x="8906161" y="3530600"/>
            <a:ext cx="661988" cy="44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8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BD.10_2#8e5c6514f.choices?vcp=1&amp;pid=c663eeb9d&amp;color=0,0,0&amp;vtp=1&amp;bbb=1"/>
              <p:cNvSpPr/>
              <p:nvPr/>
            </p:nvSpPr>
            <p:spPr>
              <a:xfrm>
                <a:off x="393192" y="3976307"/>
                <a:ext cx="11402568" cy="203435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0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A.货车司机发现汽车时两车相距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.货车司机发现汽车时两车相距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.为了避免相撞，货车加速时的加速度至少为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.为了避免相撞，货车加速时的加速度至少为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BD.10_2#8e5c6514f.choices?vcp=1&amp;pid=c663eeb9d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76307"/>
                <a:ext cx="11402568" cy="2034350"/>
              </a:xfrm>
              <a:prstGeom prst="rect">
                <a:avLst/>
              </a:prstGeom>
              <a:blipFill>
                <a:blip r:embed="rId4"/>
                <a:stretch>
                  <a:fillRect l="-1658" b="-509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2_1#8e5c6514f?vcp=1&amp;pid=c663eeb9d&amp;color=0,0,0&amp;vtp=1&amp;bt=1&amp;bbb=1&amp;hb=1"/>
              <p:cNvSpPr/>
              <p:nvPr/>
            </p:nvSpPr>
            <p:spPr>
              <a:xfrm>
                <a:off x="393192" y="1558417"/>
                <a:ext cx="11402568" cy="3348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]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货车司机发现汽车时两车相距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货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汽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汽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，选项A正确，B错误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；货车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司机发现后面的汽车靠近时，此时汽车的速度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汽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汽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，设经过时间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两车共速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汽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货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，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汽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货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选项C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2_1#8e5c6514f?vcp=1&amp;pid=c663eeb9d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58417"/>
                <a:ext cx="11402568" cy="3348800"/>
              </a:xfrm>
              <a:prstGeom prst="rect">
                <a:avLst/>
              </a:prstGeom>
              <a:blipFill>
                <a:blip r:embed="rId3"/>
                <a:stretch>
                  <a:fillRect l="-1658" r="-749" b="-52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3_1#249f16277?vcp=1&amp;pid=c663eeb9d&amp;color=0,0,0&amp;vtp=1&amp;bt=1&amp;bbb=1&amp;hb=1"/>
              <p:cNvSpPr/>
              <p:nvPr/>
            </p:nvSpPr>
            <p:spPr>
              <a:xfrm>
                <a:off x="393192" y="1002189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考点2、3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（多选题）如图所示，光滑的水平地面与倾角为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的足够长的光滑斜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坡平滑相连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，某时刻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球在斜坡底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位置，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球左边相距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的地方，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球以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的初速度滑上斜坡，此时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球也以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的速度向右匀速运动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.两小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球经过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点时速度大小不变，已知A、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两球沿斜坡上滑和下滑时加速度不变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，两球的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加速度大小均为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，方向均沿斜坡向下.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3_1#249f16277?vcp=1&amp;pid=c663eeb9d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02189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1176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4_1#249f16277.bracket?vcp=1&amp;pid=c663eeb9d&amp;color=0,0,0&amp;vpa=5&amp;vtp=1&amp;bbb=1"/>
          <p:cNvSpPr/>
          <p:nvPr/>
        </p:nvSpPr>
        <p:spPr>
          <a:xfrm>
            <a:off x="7441470" y="3225959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p:pic>
        <p:nvPicPr>
          <p:cNvPr id="4" name="QC_4_BD.13_2#249f16277?htil=3&amp;vcp=1&amp;pid=c663eeb9d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28951" y="3742848"/>
            <a:ext cx="5157216" cy="1344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3_3#249f16277.choices?htil=3&amp;vcp=1&amp;pid=c663eeb9d&amp;color=0,0,0&amp;vtp=1&amp;bbb=1"/>
              <p:cNvSpPr/>
              <p:nvPr/>
            </p:nvSpPr>
            <p:spPr>
              <a:xfrm>
                <a:off x="393192" y="3687984"/>
                <a:ext cx="6108192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球沿斜坡上滑的最大位移为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球到达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点时两球之间相距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9.6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球滑上斜坡后经过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两小球相遇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.两小球相遇时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球的速度大小为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3_3#249f16277.choices?htil=3&amp;vcp=1&amp;pid=c663eeb9d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87984"/>
                <a:ext cx="6108192" cy="2158302"/>
              </a:xfrm>
              <a:prstGeom prst="rect">
                <a:avLst/>
              </a:prstGeom>
              <a:blipFill>
                <a:blip r:embed="rId5"/>
                <a:stretch>
                  <a:fillRect l="-3094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5_1#249f16277?vcp=1&amp;pid=c663eeb9d&amp;color=0,0,0&amp;vtp=1&amp;bt=1&amp;bbb=1&amp;hb=1"/>
              <p:cNvSpPr/>
              <p:nvPr/>
            </p:nvSpPr>
            <p:spPr>
              <a:xfrm>
                <a:off x="393192" y="927036"/>
                <a:ext cx="11402568" cy="4618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5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沿斜坡上滑的最大位移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，故A错误；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球到达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点所用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𝟏𝟔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球上滑到最大位移处所用时间为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A球在斜面上上滑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球滑到斜面底端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，此时两球间距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；沿斜面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向上为正方向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，从开始出发计时，设经过时间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两球相遇，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球位移为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球沿斜面位移为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,其中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,相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遇时满足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,代入可得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C错误；A、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相遇时，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，故两小球相遇时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球的速度大小为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5_1#249f16277?vcp=1&amp;pid=c663eeb9d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27036"/>
                <a:ext cx="11402568" cy="4618800"/>
              </a:xfrm>
              <a:prstGeom prst="rect">
                <a:avLst/>
              </a:prstGeom>
              <a:blipFill>
                <a:blip r:embed="rId3"/>
                <a:stretch>
                  <a:fillRect l="-1658" r="-3048" b="-395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16_1#1de578610?htil=4&amp;vcp=1&amp;pid=c663eeb9d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68836" y="1047399"/>
            <a:ext cx="2478024" cy="2185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16_2#1de578610?htil=4&amp;vcp=1&amp;pid=c663eeb9d&amp;color=0,0,0&amp;vtp=1&amp;bt=1&amp;bbb=1&amp;hb=1&amp;hs=1"/>
              <p:cNvSpPr/>
              <p:nvPr/>
            </p:nvSpPr>
            <p:spPr>
              <a:xfrm>
                <a:off x="393192" y="1001680"/>
                <a:ext cx="8787384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（多选题）非洲大草原上，猎豹是跑得最快的动物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羚羊最擅长耐久跑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.一只羚羊在草原上沿直线匀速奔跑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，潜伏的猎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豹发现它在前方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150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时，立即加速追赶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，而羚羊的嗅觉和听觉非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常灵敏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，它发现身后的猎豹后马上加速，如图是它们运动的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16_2#1de578610?htil=4&amp;vcp=1&amp;pid=c663eeb9d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01680"/>
                <a:ext cx="8787384" cy="2709799"/>
              </a:xfrm>
              <a:prstGeom prst="rect">
                <a:avLst/>
              </a:prstGeom>
              <a:blipFill>
                <a:blip r:embed="rId4"/>
                <a:stretch>
                  <a:fillRect l="-2151" r="-1666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17_1#1de578610.bracket?vcp=1&amp;pid=c663eeb9d&amp;color=0,0,0&amp;vpa=6&amp;vtp=1&amp;bbb=1"/>
          <p:cNvSpPr/>
          <p:nvPr/>
        </p:nvSpPr>
        <p:spPr>
          <a:xfrm>
            <a:off x="4029360" y="3225450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6_3#1de578610.choices?vcp=1&amp;pid=c663eeb9d&amp;color=0,0,0&amp;vtp=1&amp;bbb=1&amp;hs=1"/>
              <p:cNvSpPr/>
              <p:nvPr/>
            </p:nvSpPr>
            <p:spPr>
              <a:xfrm>
                <a:off x="393192" y="3682269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内，羚羊和猎豹间的距离逐渐增大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末时羚羊与猎豹相距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.猎豹加速时的加速度比羚羊加速时的加速度大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末时，猎豹刚好追上羚羊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6_3#1de578610.choices?vcp=1&amp;pid=c663eeb9d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82269"/>
                <a:ext cx="11402568" cy="2155000"/>
              </a:xfrm>
              <a:prstGeom prst="rect">
                <a:avLst/>
              </a:prstGeom>
              <a:blipFill>
                <a:blip r:embed="rId5"/>
                <a:stretch>
                  <a:fillRect l="-1658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8_1#1de578610?vcp=1&amp;pid=c663eeb9d&amp;color=0,0,0&amp;vtp=1&amp;bt=1&amp;bbb=1&amp;hb=1"/>
              <p:cNvSpPr/>
              <p:nvPr/>
            </p:nvSpPr>
            <p:spPr>
              <a:xfrm>
                <a:off x="393192" y="504000"/>
                <a:ext cx="11402568" cy="584968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由题图可知，在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时羚羊的速度比猎豹快，而羚羊是被追者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，所以两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者之间的距离逐渐增大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，A正确；由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轴围成的面积表示位移，可知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</a:t>
                </a:r>
              </a:p>
              <a:p>
                <a:pPr latinLnBrk="1">
                  <a:lnSpc>
                    <a:spcPts val="6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羚羊的位移为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羚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，猎豹的位移为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</a:p>
              <a:p>
                <a:pPr latinLnBrk="1">
                  <a:lnSpc>
                    <a:spcPts val="45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末两者之间的距离为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羚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，B错误；由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图线的斜率表</a:t>
                </a:r>
              </a:p>
              <a:p>
                <a:pPr latinLnBrk="1">
                  <a:lnSpc>
                    <a:spcPts val="5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示加速度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，可知猎豹加速时的加速度大小为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baseline="-10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baseline="-10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猎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，羚羊加速时的加速</a:t>
                </a:r>
              </a:p>
              <a:p>
                <a:pPr latinLnBrk="1">
                  <a:lnSpc>
                    <a:spcPts val="5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羚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baseline="-10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羚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baseline="-10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羚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，故C正确；由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轴围成的面积表示位</a:t>
                </a:r>
              </a:p>
              <a:p>
                <a:pPr latinLnBrk="1">
                  <a:lnSpc>
                    <a:spcPts val="6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移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末羚羊的位移为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羚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𝟏𝟕𝟎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，猎豹的</a:t>
                </a:r>
              </a:p>
              <a:p>
                <a:pPr latinLnBrk="1">
                  <a:lnSpc>
                    <a:spcPts val="6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𝟐𝟕𝟎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末两者之间的距离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羚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末猎豹并没有追上羚羊，D错误.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8_1#1de578610?vcp=1&amp;pid=c663eeb9d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5849684"/>
              </a:xfrm>
              <a:prstGeom prst="rect">
                <a:avLst/>
              </a:prstGeom>
              <a:blipFill>
                <a:blip r:embed="rId3"/>
                <a:stretch>
                  <a:fillRect l="-1658" r="-1390" b="-281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4_BD.19_1#a18998474?htil=5&amp;vcp=1&amp;pid=c663eeb9d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70861" y="623538"/>
            <a:ext cx="5532120" cy="1755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4_BD.19_2#a18998474?htil=5&amp;vcp=1&amp;pid=c663eeb9d&amp;color=0,0,0&amp;vtp=1&amp;bt=1&amp;bbb=1&amp;hb=1&amp;hs=1"/>
              <p:cNvSpPr/>
              <p:nvPr/>
            </p:nvSpPr>
            <p:spPr>
              <a:xfrm>
                <a:off x="393192" y="577818"/>
                <a:ext cx="573328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考点2、3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如图甲所示，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车原来临时停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在一水平路面上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车在后面匀速向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车靠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近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车司机发现后启动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车，以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车司机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发现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车为计时起点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=0)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两车的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4_BD.19_2#a18998474?htil=5&amp;vcp=1&amp;pid=c663eeb9d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77818"/>
                <a:ext cx="5733288" cy="2155000"/>
              </a:xfrm>
              <a:prstGeom prst="rect">
                <a:avLst/>
              </a:prstGeom>
              <a:blipFill>
                <a:blip r:embed="rId4"/>
                <a:stretch>
                  <a:fillRect l="-3298" r="-1064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5_BD.20_1#e058a9764?vcp=1&amp;pid=a18998474&amp;color=0,0,0&amp;vtp=1&amp;bbb=1"/>
              <p:cNvSpPr/>
              <p:nvPr/>
            </p:nvSpPr>
            <p:spPr>
              <a:xfrm>
                <a:off x="393192" y="3317652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（1）求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车运动的速度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车的加速度大小.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5_BD.20_1#e058a9764?vcp=1&amp;pid=a1899847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17652"/>
                <a:ext cx="11402568" cy="488125"/>
              </a:xfrm>
              <a:prstGeom prst="rect">
                <a:avLst/>
              </a:prstGeom>
              <a:blipFill>
                <a:blip r:embed="rId5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5_AN.21_1#e058a9764?vcp=1&amp;pid=a18998474&amp;color=0,0,0&amp;vtp=1&amp;bbb=1"/>
              <p:cNvSpPr/>
              <p:nvPr/>
            </p:nvSpPr>
            <p:spPr>
              <a:xfrm>
                <a:off x="393192" y="3805904"/>
                <a:ext cx="11402568" cy="222891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车刚启动，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两车缩短的距离为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车的速度为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—时间图像的斜率表示加速度，则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车的加速度为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5_AN.21_1#e058a9764?vcp=1&amp;pid=a1899847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805904"/>
                <a:ext cx="11402568" cy="2228914"/>
              </a:xfrm>
              <a:prstGeom prst="rect">
                <a:avLst/>
              </a:prstGeom>
              <a:blipFill>
                <a:blip r:embed="rId6"/>
                <a:stretch>
                  <a:fillRect l="-1658" b="-273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O_4_BD.19_2#a18998474?htil=5&amp;vcp=1&amp;pid=c663eeb9d&amp;color=0,0,0&amp;vtp=1&amp;bt=1&amp;bbb=1&amp;hb=1&amp;hs=1">
                <a:extLst>
                  <a:ext uri="{FF2B5EF4-FFF2-40B4-BE49-F238E27FC236}">
                    <a16:creationId xmlns:a16="http://schemas.microsoft.com/office/drawing/2014/main" id="{ECBAD3E0-D63D-89B5-8E8A-BE4B235F1B47}"/>
                  </a:ext>
                </a:extLst>
              </p:cNvPr>
              <p:cNvSpPr/>
              <p:nvPr/>
            </p:nvSpPr>
            <p:spPr>
              <a:xfrm>
                <a:off x="395996" y="2773457"/>
                <a:ext cx="1140000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图像如图乙所示.已知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车在第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车的距离缩短了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O_4_BD.19_2#a18998474?htil=5&amp;vcp=1&amp;pid=c663eeb9d&amp;color=0,0,0&amp;vtp=1&amp;bt=1&amp;bbb=1&amp;hb=1&amp;hs=1">
                <a:extLst>
                  <a:ext uri="{FF2B5EF4-FFF2-40B4-BE49-F238E27FC236}">
                    <a16:creationId xmlns:a16="http://schemas.microsoft.com/office/drawing/2014/main" id="{ECBAD3E0-D63D-89B5-8E8A-BE4B235F1B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2773457"/>
                <a:ext cx="11400008" cy="488125"/>
              </a:xfrm>
              <a:prstGeom prst="rect">
                <a:avLst/>
              </a:prstGeom>
              <a:blipFill>
                <a:blip r:embed="rId7"/>
                <a:stretch>
                  <a:fillRect l="-695" b="-362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2_1#bf3dd8f39?vcp=1&amp;pid=a18998474&amp;color=0,0,0&amp;vtp=1&amp;bt=1&amp;bbb=1"/>
              <p:cNvSpPr/>
              <p:nvPr/>
            </p:nvSpPr>
            <p:spPr>
              <a:xfrm>
                <a:off x="393192" y="2257647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（2）若A、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两车不会相撞，则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车司机发现时，两车的距离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应满足什么条件?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22_1#bf3dd8f39?vcp=1&amp;pid=a18998474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257647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23_1#bf3dd8f39?vcp=1&amp;pid=a18998474&amp;color=0,0,0&amp;vtp=1&amp;bbb=1&amp;hb=1"/>
              <p:cNvSpPr/>
              <p:nvPr/>
            </p:nvSpPr>
            <p:spPr>
              <a:xfrm>
                <a:off x="393192" y="2757138"/>
                <a:ext cx="11402568" cy="1621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当两车的速度相等时，两车的距离最小，由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图像可知此时为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时两车的位移之差为图像中梯形的面积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两车不会相撞，则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车司机发现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车时两车的距离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𝒔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应满足条件为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𝒔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23_1#bf3dd8f39?vcp=1&amp;pid=a18998474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757138"/>
                <a:ext cx="11402568" cy="1621600"/>
              </a:xfrm>
              <a:prstGeom prst="rect">
                <a:avLst/>
              </a:prstGeom>
              <a:blipFill>
                <a:blip r:embed="rId4"/>
                <a:stretch>
                  <a:fillRect l="-1658" r="-802" b="-1127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3396872ac?vcp=1&amp;pid=4de9564ba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易错考点针对练</a:t>
            </a:r>
            <a:endParaRPr lang="en-US" altLang="zh-CN" sz="2600" dirty="0"/>
          </a:p>
        </p:txBody>
      </p:sp>
      <p:sp>
        <p:nvSpPr>
          <p:cNvPr id="3" name="P_4_BD#4610c84ad?vcp=1&amp;pid=3396872ac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sp>
        <p:nvSpPr>
          <p:cNvPr id="4" name="C_4_BD#26399bbf5?vcp=1&amp;pid=3396872ac&amp;color=0,0,0&amp;vtp=1&amp;bbb=1"/>
          <p:cNvSpPr/>
          <p:nvPr/>
        </p:nvSpPr>
        <p:spPr>
          <a:xfrm>
            <a:off x="393192" y="1627124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易错考点1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忽视被追物体减速至静止而致错</a:t>
            </a:r>
            <a:endParaRPr lang="en-US" altLang="zh-CN" sz="2600" dirty="0"/>
          </a:p>
        </p:txBody>
      </p:sp>
      <p:pic>
        <p:nvPicPr>
          <p:cNvPr id="5" name="QC_5_BD.24_1#a37173d72?htil=6&amp;vcp=1&amp;pid=26399bbf5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76476" y="2256217"/>
            <a:ext cx="2496312" cy="777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BD.24_2#a37173d72?htil=6&amp;vcp=1&amp;pid=26399bbf5&amp;color=0,0,0&amp;vtp=1&amp;bbb=1&amp;hb=1&amp;hs=1"/>
              <p:cNvSpPr/>
              <p:nvPr/>
            </p:nvSpPr>
            <p:spPr>
              <a:xfrm>
                <a:off x="393192" y="2210498"/>
                <a:ext cx="8778240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考点2、3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（2026·华科附中高三检测）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如图所示，A、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两物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体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（可视为质点）相距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=7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的速度向右匀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5_BD.24_2#a37173d72?htil=6&amp;vcp=1&amp;pid=26399bbf5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210498"/>
                <a:ext cx="8778240" cy="1037400"/>
              </a:xfrm>
              <a:prstGeom prst="rect">
                <a:avLst/>
              </a:prstGeom>
              <a:blipFill>
                <a:blip r:embed="rId4"/>
                <a:stretch>
                  <a:fillRect l="-2153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QC_5_AN.25_1#a37173d72.bracket?vcp=1&amp;pid=26399bbf5&amp;color=0,0,0&amp;vpa=7&amp;vtp=1"/>
          <p:cNvSpPr/>
          <p:nvPr/>
        </p:nvSpPr>
        <p:spPr>
          <a:xfrm>
            <a:off x="7717758" y="3805555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QC_5_BD.24_3#a37173d72.choices?vcp=1&amp;pid=26399bbf5&amp;color=0,0,0&amp;vtp=1&amp;bbb=1"/>
              <p:cNvSpPr/>
              <p:nvPr/>
            </p:nvSpPr>
            <p:spPr>
              <a:xfrm>
                <a:off x="393192" y="4354258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881752" algn="l"/>
                    <a:tab pos="5725404" algn="l"/>
                    <a:tab pos="856905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7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9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QC_5_BD.24_3#a37173d72.choices?vcp=1&amp;pid=26399bbf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354258"/>
                <a:ext cx="11402568" cy="477330"/>
              </a:xfrm>
              <a:prstGeom prst="rect">
                <a:avLst/>
              </a:prstGeom>
              <a:blipFill>
                <a:blip r:embed="rId5"/>
                <a:stretch>
                  <a:fillRect l="-1658" b="-3924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QC_5_BD.24_2#a37173d72?htil=6&amp;vcp=1&amp;pid=26399bbf5&amp;color=0,0,0&amp;vtp=1&amp;bbb=1&amp;hb=1&amp;hs=1">
                <a:extLst>
                  <a:ext uri="{FF2B5EF4-FFF2-40B4-BE49-F238E27FC236}">
                    <a16:creationId xmlns:a16="http://schemas.microsoft.com/office/drawing/2014/main" id="{82F9EB2F-59D4-0EF3-B277-C040C7890AC4}"/>
                  </a:ext>
                </a:extLst>
              </p:cNvPr>
              <p:cNvSpPr/>
              <p:nvPr/>
            </p:nvSpPr>
            <p:spPr>
              <a:xfrm>
                <a:off x="393192" y="3258185"/>
                <a:ext cx="1140000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，而物体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此时的速度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,只在摩擦力作用下向右做匀减速运动，加速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,那么物体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追上物体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所用的时间为(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9" name="QC_5_BD.24_2#a37173d72?htil=6&amp;vcp=1&amp;pid=26399bbf5&amp;color=0,0,0&amp;vtp=1&amp;bbb=1&amp;hb=1&amp;hs=1">
                <a:extLst>
                  <a:ext uri="{FF2B5EF4-FFF2-40B4-BE49-F238E27FC236}">
                    <a16:creationId xmlns:a16="http://schemas.microsoft.com/office/drawing/2014/main" id="{82F9EB2F-59D4-0EF3-B277-C040C7890A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58185"/>
                <a:ext cx="11400008" cy="1033399"/>
              </a:xfrm>
              <a:prstGeom prst="rect">
                <a:avLst/>
              </a:prstGeom>
              <a:blipFill>
                <a:blip r:embed="rId6"/>
                <a:stretch>
                  <a:fillRect l="-1658" r="-1604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26_1#a37173d72?vcp=1&amp;pid=26399bbf5&amp;color=0,0,0&amp;mp=1&amp;vtp=1&amp;bt=1&amp;bbb=1&amp;hb=1"/>
              <p:cNvSpPr/>
              <p:nvPr/>
            </p:nvSpPr>
            <p:spPr>
              <a:xfrm>
                <a:off x="393192" y="1766126"/>
                <a:ext cx="11402568" cy="2282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做匀减速运动，到速度为0时，所需时间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,运动的位移</a:t>
                </a:r>
              </a:p>
              <a:p>
                <a:pPr latinLnBrk="1">
                  <a:lnSpc>
                    <a:spcPts val="5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,在这段时间内物体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显然还没追上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，此后物体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静止，设物体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追上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所用时间为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,代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入数据得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,故选B.］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AS.26_1#a37173d72?vcp=1&amp;pid=26399bbf5&amp;color=0,0,0&amp;mp=1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66126"/>
                <a:ext cx="11402568" cy="2282000"/>
              </a:xfrm>
              <a:prstGeom prst="rect">
                <a:avLst/>
              </a:prstGeom>
              <a:blipFill>
                <a:blip r:embed="rId3"/>
                <a:stretch>
                  <a:fillRect l="-1658" r="-374" b="-775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EX.27_1#a37173d72?vcp=1&amp;pid=26399bbf5&amp;color=0,0,0&amp;vtp=1&amp;bt=1&amp;bbb=1">
            <a:extLst>
              <a:ext uri="{FF2B5EF4-FFF2-40B4-BE49-F238E27FC236}">
                <a16:creationId xmlns:a16="http://schemas.microsoft.com/office/drawing/2014/main" id="{129FEEE3-1754-81A3-B284-86AC73D91C44}"/>
              </a:ext>
            </a:extLst>
          </p:cNvPr>
          <p:cNvSpPr/>
          <p:nvPr/>
        </p:nvSpPr>
        <p:spPr>
          <a:xfrm>
            <a:off x="393192" y="4044505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易错分析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 spc="-5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易忽视前者已减速至静止</a:t>
            </a:r>
            <a:r>
              <a:rPr lang="en-US" altLang="zh-CN" sz="2400" b="0" i="0" spc="-5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，而仍按匀减速运动列位移表达式，所得结果不符合事实.</a:t>
            </a:r>
            <a:endParaRPr lang="en-US" altLang="zh-CN" sz="2400" spc="-5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3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4_BD#ec9daef20?vcp=1&amp;pid=3396872ac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易错考点2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忽视最高速度的限制条件而致错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BD.28_1#7c7a3c17b?vcp=1&amp;pid=ec9daef20&amp;color=0,0,0&amp;vtp=1&amp;bbb=1&amp;hb=1"/>
              <p:cNvSpPr/>
              <p:nvPr/>
            </p:nvSpPr>
            <p:spPr>
              <a:xfrm>
                <a:off x="393192" y="1089723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考点2、3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一辆执勤的警车停在路边，一辆货车以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的速度匀速行驶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过警车时掉落一袋货物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.警察马上捡起货物，启动警车追赶货车去归还货物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.从警察捡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起货物到启动警车共用时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=6.25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,警车以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的加速度做匀加速直线运动，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若警车的最大速度可达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,求：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BD.28_1#7c7a3c17b?vcp=1&amp;pid=ec9daef20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89723"/>
                <a:ext cx="11402568" cy="2155000"/>
              </a:xfrm>
              <a:prstGeom prst="rect">
                <a:avLst/>
              </a:prstGeom>
              <a:blipFill>
                <a:blip r:embed="rId3"/>
                <a:stretch>
                  <a:fillRect l="-1658" r="-856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6_BD.29_1#34f396279?vcp=1&amp;pid=7c7a3c17b&amp;color=0,0,0&amp;vtp=1&amp;bt=1&amp;bbb=1"/>
          <p:cNvSpPr/>
          <p:nvPr/>
        </p:nvSpPr>
        <p:spPr>
          <a:xfrm>
            <a:off x="393192" y="16606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（1）警车在追赶货车的过程中，两车间的最大距离.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6_AN.30_1#34f396279?vcp=1&amp;pid=7c7a3c17b&amp;color=0,0,0&amp;vtp=1&amp;bbb=1&amp;hb=1"/>
              <p:cNvSpPr/>
              <p:nvPr/>
            </p:nvSpPr>
            <p:spPr>
              <a:xfrm>
                <a:off x="393192" y="2218785"/>
                <a:ext cx="11402568" cy="2819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警车在追赶货车的过程中，当两车的速度相等时，两车间的距离最大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，设从警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车启动到两车速度相等所用时间为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两车间的最大距离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6_AN.30_1#34f396279?vcp=1&amp;pid=7c7a3c17b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218785"/>
                <a:ext cx="11402568" cy="2819400"/>
              </a:xfrm>
              <a:prstGeom prst="rect">
                <a:avLst/>
              </a:prstGeom>
              <a:blipFill>
                <a:blip r:embed="rId3"/>
                <a:stretch>
                  <a:fillRect l="-1658" r="-1016" b="-368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6_BD.31_1#07c11d924?vcp=1&amp;pid=7c7a3c17b&amp;color=0,0,0&amp;vtp=1&amp;bt=1&amp;bbb=1"/>
          <p:cNvSpPr/>
          <p:nvPr/>
        </p:nvSpPr>
        <p:spPr>
          <a:xfrm>
            <a:off x="393192" y="504000"/>
            <a:ext cx="11402568" cy="45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0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（2）警车启动后经过多长时间追上货车.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6_AN.32_1#07c11d924?vcp=1&amp;pid=7c7a3c17b&amp;color=0,0,0&amp;vtp=1&amp;bbb=1&amp;hb=1"/>
              <p:cNvSpPr/>
              <p:nvPr/>
            </p:nvSpPr>
            <p:spPr>
              <a:xfrm>
                <a:off x="393192" y="964248"/>
                <a:ext cx="11402568" cy="35869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设从警车与货车速度相等到警车速度达到最大所用时间为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，则有</a:t>
                </a:r>
              </a:p>
              <a:p>
                <a:pPr latinLnBrk="1">
                  <a:lnSpc>
                    <a:spcPts val="41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设从警车与货车速度相等到警车追上货车所用时间为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，则有</a:t>
                </a:r>
              </a:p>
              <a:p>
                <a:pPr latinLnBrk="1">
                  <a:lnSpc>
                    <a:spcPts val="41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代入数据解得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警车启动后追上货车经过的时间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6_AN.32_1#07c11d924?vcp=1&amp;pid=7c7a3c17b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64248"/>
                <a:ext cx="11402568" cy="3586925"/>
              </a:xfrm>
              <a:prstGeom prst="rect">
                <a:avLst/>
              </a:prstGeom>
              <a:blipFill>
                <a:blip r:embed="rId3"/>
                <a:stretch>
                  <a:fillRect l="-1658" b="-509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O_5_EX.33_1#7c7a3c17b?vcp=1&amp;pid=ec9daef20&amp;color=0,0,0&amp;vtp=1&amp;bbb=1&amp;hb=1"/>
          <p:cNvSpPr/>
          <p:nvPr/>
        </p:nvSpPr>
        <p:spPr>
          <a:xfrm>
            <a:off x="393192" y="4559364"/>
            <a:ext cx="11402568" cy="1491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1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易错分析</a:t>
            </a:r>
            <a:endParaRPr lang="en-US" altLang="zh-CN" sz="2400" dirty="0"/>
          </a:p>
          <a:p>
            <a:pPr latinLnBrk="1">
              <a:lnSpc>
                <a:spcPts val="41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易忽视追赶者最高速度的限制条件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，按持续的匀加速运动代入列方程计算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，以致</a:t>
            </a:r>
          </a:p>
          <a:p>
            <a:pPr latinLnBrk="1">
              <a:lnSpc>
                <a:spcPts val="39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结果不符事实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1599</Words>
  <Application>Microsoft Office PowerPoint</Application>
  <PresentationFormat>宽屏</PresentationFormat>
  <Paragraphs>163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2026-05-25T08:25:29Z</dcterms:created>
  <dcterms:modified xsi:type="dcterms:W3CDTF">2026-05-25T08:27:56Z</dcterms:modified>
  <cp:category/>
  <cp:contentStatus/>
</cp:coreProperties>
</file>