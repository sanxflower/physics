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82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88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4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2.xml"/><Relationship Id="rId4" Type="http://schemas.openxmlformats.org/officeDocument/2006/relationships/slide" Target="../slides/slide2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4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2.xml"/><Relationship Id="rId4" Type="http://schemas.openxmlformats.org/officeDocument/2006/relationships/slide" Target="../slides/slide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6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e4f94774e,80f795f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5c4932bc1&amp;amp;cid=5c4932bc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8de5581a&amp;amp;cid=e8de5581a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8c1441aad&amp;amp;cid=8c1441aad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b891dcaa5&amp;amp;cid=b891dcaa5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ba7b78fb5&amp;amp;cid=ba7b78fb5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0?lid=07a6f659d&amp;amp;cid=07a6f659d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61c0992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7?lid=2612a8adb&amp;amp;cid=2612a8adb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7?lid=87d5a4847&amp;amp;cid=87d5a4847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7?lid=7db52a4b3&amp;amp;cid=7db52a4b3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e4f94774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e4f94774e,80f795f91#df=e4f94774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0?lid=5c4932bc1&amp;amp;cid=5c4932bc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8de5581a&amp;amp;cid=e8de5581a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8c1441aad&amp;amp;cid=8c1441aad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b891dcaa5&amp;amp;cid=b891dcaa5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ba7b78fb5&amp;amp;cid=ba7b78fb5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0?lid=07a6f659d&amp;amp;cid=07a6f659d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61c0992f#df=e4f94774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7?lid=2612a8adb&amp;amp;cid=2612a8adb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7?lid=87d5a4847&amp;amp;cid=87d5a4847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7?lid=7db52a4b3&amp;amp;cid=7db52a4b3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e4f94774e.fixed?vcp=1&amp;pid=abe945c4c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e4f94774e.fixed?vcp=1&amp;pid=abe945c4c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单元复习归纳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0f795f91?vcp=1&amp;pid=e4f94774e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高考真题实战练</a:t>
            </a:r>
            <a:endParaRPr lang="en-US" altLang="zh-CN" sz="2600" dirty="0"/>
          </a:p>
        </p:txBody>
      </p:sp>
      <p:sp>
        <p:nvSpPr>
          <p:cNvPr id="3" name="P_4_BD#5cd9a2eef?vcp=1&amp;pid=80f795f91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限时25分钟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5c4932bc1?vcp=1&amp;pid=80f795f91&amp;color=0,0,0&amp;bt=1&amp;bbb=1&amp;hb=1"/>
              <p:cNvSpPr/>
              <p:nvPr/>
            </p:nvSpPr>
            <p:spPr>
              <a:xfrm>
                <a:off x="393192" y="110683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（2025·安徽选择考）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汽车由静止开始沿直线从甲站开往乙站，先做加速度大小为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;接着在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时间内做匀速运动；最后做加速度大小也为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匀减速运动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，到达乙站时速度恰好为0.已知甲、乙两站之间的距离为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5c4932bc1?vcp=1&amp;pid=80f795f9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0683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42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_1#5c4932bc1.bracket?vcp=1&amp;pid=80f795f91&amp;color=0,0,0&amp;vpa=1"/>
          <p:cNvSpPr/>
          <p:nvPr/>
        </p:nvSpPr>
        <p:spPr>
          <a:xfrm>
            <a:off x="10413969" y="221300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2#5c4932bc1.choices?vcp=1&amp;pid=80f795f91&amp;color=0,0,0&amp;bbb=1"/>
              <p:cNvSpPr/>
              <p:nvPr/>
            </p:nvSpPr>
            <p:spPr>
              <a:xfrm>
                <a:off x="393192" y="2700432"/>
                <a:ext cx="11402568" cy="7108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986527" algn="l"/>
                    <a:tab pos="5934954" algn="l"/>
                    <a:tab pos="87563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18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16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8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2#5c4932bc1.choices?vcp=1&amp;pid=80f795f91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00432"/>
                <a:ext cx="11402568" cy="710819"/>
              </a:xfrm>
              <a:prstGeom prst="rect">
                <a:avLst/>
              </a:prstGeom>
              <a:blipFill>
                <a:blip r:embed="rId4"/>
                <a:stretch>
                  <a:fillRect l="-1658" b="-136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AS.3_1#5c4932bc1?htil=1&amp;vcp=1&amp;pid=80f795f91&amp;color=0,0,0&amp;tib=255,255,255&amp;hs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78946" y="3467194"/>
            <a:ext cx="2889504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3_2#5c4932bc1?htil=1&amp;vcp=1&amp;pid=80f795f91&amp;color=0,0,0&amp;bbb=1&amp;hb=1&amp;hs=1"/>
              <p:cNvSpPr/>
              <p:nvPr/>
            </p:nvSpPr>
            <p:spPr>
              <a:xfrm>
                <a:off x="393192" y="3421474"/>
                <a:ext cx="8412480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汽车匀加速运动和匀减速运动的加速度大小均为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车到达乙站时速度恰好为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，设汽车匀加速运动和匀减速运动的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，如图所示为汽车运动过程的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3_2#5c4932bc1?htil=1&amp;vcp=1&amp;pid=80f795f91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21474"/>
                <a:ext cx="8412480" cy="1596390"/>
              </a:xfrm>
              <a:prstGeom prst="rect">
                <a:avLst/>
              </a:prstGeom>
              <a:blipFill>
                <a:blip r:embed="rId6"/>
                <a:stretch>
                  <a:fillRect l="-2246" r="-181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3_2#5c4932bc1?htil=1&amp;vcp=1&amp;pid=80f795f91&amp;color=0,0,0&amp;bbb=1&amp;hb=1&amp;hs=1">
                <a:extLst>
                  <a:ext uri="{FF2B5EF4-FFF2-40B4-BE49-F238E27FC236}">
                    <a16:creationId xmlns:a16="http://schemas.microsoft.com/office/drawing/2014/main" id="{66351834-1D54-62B9-B290-A57DCE450E60}"/>
                  </a:ext>
                </a:extLst>
              </p:cNvPr>
              <p:cNvSpPr/>
              <p:nvPr/>
            </p:nvSpPr>
            <p:spPr>
              <a:xfrm>
                <a:off x="395996" y="5021674"/>
                <a:ext cx="11400008" cy="722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3_2#5c4932bc1?htil=1&amp;vcp=1&amp;pid=80f795f91&amp;color=0,0,0&amp;bbb=1&amp;hb=1&amp;hs=1">
                <a:extLst>
                  <a:ext uri="{FF2B5EF4-FFF2-40B4-BE49-F238E27FC236}">
                    <a16:creationId xmlns:a16="http://schemas.microsoft.com/office/drawing/2014/main" id="{66351834-1D54-62B9-B290-A57DCE450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5021674"/>
                <a:ext cx="11400008" cy="722694"/>
              </a:xfrm>
              <a:prstGeom prst="rect">
                <a:avLst/>
              </a:prstGeom>
              <a:blipFill>
                <a:blip r:embed="rId7"/>
                <a:stretch>
                  <a:fillRect l="-53" b="-144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EX.4_1#5c4932bc1?vcp=1&amp;pid=80f795f91&amp;color=0,0,0&amp;bt=1&amp;bbb=1&amp;hb=1"/>
              <p:cNvSpPr/>
              <p:nvPr/>
            </p:nvSpPr>
            <p:spPr>
              <a:xfrm>
                <a:off x="393192" y="2517172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一题多解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根据汽车运动过程的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图像与横轴所围面积即为汽车运动距离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18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EX.4_1#5c4932bc1?vcp=1&amp;pid=80f795f9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7172"/>
                <a:ext cx="11402568" cy="1676400"/>
              </a:xfrm>
              <a:prstGeom prst="rect">
                <a:avLst/>
              </a:prstGeom>
              <a:blipFill>
                <a:blip r:embed="rId3"/>
                <a:stretch>
                  <a:fillRect l="-1658" b="-5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5_1#e8de5581a?htil=2&amp;vcp=1&amp;pid=80f795f91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50695" y="786764"/>
            <a:ext cx="2560320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5_2#e8de5581a?htil=2&amp;vcp=1&amp;pid=80f795f91&amp;color=0,0,0&amp;bt=1&amp;bbb=1&amp;hb=1&amp;hs=1"/>
              <p:cNvSpPr/>
              <p:nvPr/>
            </p:nvSpPr>
            <p:spPr>
              <a:xfrm>
                <a:off x="393192" y="741045"/>
                <a:ext cx="8741664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（2024·海南等级考）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商场自动感应门如图所示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，人走近时两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扇门从静止开始同时向左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、右平移，经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恰好完全打开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，两扇门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移动距离均为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,若门从静止开始以相同的加速度大小先匀加速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5_2#e8de5581a?htil=2&amp;vcp=1&amp;pid=80f795f91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1045"/>
                <a:ext cx="8741664" cy="1596200"/>
              </a:xfrm>
              <a:prstGeom prst="rect">
                <a:avLst/>
              </a:prstGeom>
              <a:blipFill>
                <a:blip r:embed="rId4"/>
                <a:stretch>
                  <a:fillRect l="-2162" r="-41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6_1#e8de5581a.bracket?vcp=1&amp;pid=80f795f91&amp;color=0,0,0&amp;vpa=2"/>
          <p:cNvSpPr/>
          <p:nvPr/>
        </p:nvSpPr>
        <p:spPr>
          <a:xfrm>
            <a:off x="9162965" y="233273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5_3#e8de5581a.choices?vcp=1&amp;pid=80f795f91&amp;color=0,0,0&amp;bbb=1"/>
              <p:cNvSpPr/>
              <p:nvPr/>
            </p:nvSpPr>
            <p:spPr>
              <a:xfrm>
                <a:off x="393192" y="288397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062727" algn="l"/>
                    <a:tab pos="5693654" algn="l"/>
                    <a:tab pos="85531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5_3#e8de5581a.choices?vcp=1&amp;pid=80f795f91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3978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410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AS.7_1#e8de5581a?htil=3&amp;vcp=1&amp;pid=80f795f91&amp;color=0,0,0&amp;tib=255,255,255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13264" y="3417951"/>
            <a:ext cx="1682496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7_2#e8de5581a?htil=3&amp;vcp=1&amp;pid=80f795f91&amp;color=0,0,0&amp;bbb=1&amp;hb=1"/>
              <p:cNvSpPr/>
              <p:nvPr/>
            </p:nvSpPr>
            <p:spPr>
              <a:xfrm>
                <a:off x="393192" y="3372230"/>
                <a:ext cx="9628632" cy="2746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如图，设门的最大速度为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根据匀变速直线运动的规律可知，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加速过程和减速过程的平均速度均为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，且时间相等，均为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，则加速度大小为</a:t>
                </a:r>
              </a:p>
              <a:p>
                <a:pPr latinLnBrk="1">
                  <a:lnSpc>
                    <a:spcPts val="6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7_2#e8de5581a?htil=3&amp;vcp=1&amp;pid=80f795f9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72230"/>
                <a:ext cx="9628632" cy="2746502"/>
              </a:xfrm>
              <a:prstGeom prst="rect">
                <a:avLst/>
              </a:prstGeom>
              <a:blipFill>
                <a:blip r:embed="rId7"/>
                <a:stretch>
                  <a:fillRect l="-1963" r="-4053" b="-3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QC_4_BD.5_2#e8de5581a?htil=2&amp;vcp=1&amp;pid=80f795f91&amp;color=0,0,0&amp;bt=1&amp;bbb=1&amp;hb=1&amp;hs=1">
            <a:extLst>
              <a:ext uri="{FF2B5EF4-FFF2-40B4-BE49-F238E27FC236}">
                <a16:creationId xmlns:a16="http://schemas.microsoft.com/office/drawing/2014/main" id="{8AAC3F3C-8C9D-5A92-A4DB-C738C1B34C34}"/>
              </a:ext>
            </a:extLst>
          </p:cNvPr>
          <p:cNvSpPr/>
          <p:nvPr/>
        </p:nvSpPr>
        <p:spPr>
          <a:xfrm>
            <a:off x="395996" y="2334640"/>
            <a:ext cx="1140000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运动后匀减速运动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，完全打开时速度恰好为0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,则加速度的大小为 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EX.8_1#e8de5581a?vcp=1&amp;pid=80f795f91&amp;color=0,0,0&amp;bt=1&amp;bbb=1&amp;hb=1"/>
              <p:cNvSpPr/>
              <p:nvPr/>
            </p:nvSpPr>
            <p:spPr>
              <a:xfrm>
                <a:off x="393192" y="2124487"/>
                <a:ext cx="114025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一题多解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由于门打开的过程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，减速过程的逆运动与加速过程完全相同，则加速时间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加速运动的位移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，由匀变速直线运动的位移公式可得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2×1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EX.8_1#e8de5581a?vcp=1&amp;pid=80f795f9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4487"/>
                <a:ext cx="11402568" cy="2235200"/>
              </a:xfrm>
              <a:prstGeom prst="rect">
                <a:avLst/>
              </a:prstGeom>
              <a:blipFill>
                <a:blip r:embed="rId3"/>
                <a:stretch>
                  <a:fillRect l="-1658" r="-2995" b="-46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9_1#8c1441aad?vcp=1&amp;pid=80f795f91&amp;color=0,0,0&amp;bt=1&amp;bbb=1&amp;hb=1"/>
              <p:cNvSpPr/>
              <p:nvPr/>
            </p:nvSpPr>
            <p:spPr>
              <a:xfrm>
                <a:off x="393192" y="2063591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（2024·山东等级考）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如图所示，固定的光滑斜面上有一木板，其下端与斜面上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.木板由静止释放，若木板长度为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点的时间间隔为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;若木板长度为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点的时间间隔为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9_1#8c1441aad?vcp=1&amp;pid=80f795f9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3591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3369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0_1#8c1441aad.bracket?vcp=1&amp;pid=80f795f91&amp;color=0,0,0&amp;vpa=3"/>
          <p:cNvSpPr/>
          <p:nvPr/>
        </p:nvSpPr>
        <p:spPr>
          <a:xfrm>
            <a:off x="5386546" y="316976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9_2#8c1441aad?htil=4&amp;vcp=1&amp;pid=80f795f91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5424" y="3721195"/>
            <a:ext cx="1728216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9_3#8c1441aad.choices?htil=4&amp;vcp=1&amp;pid=80f795f91&amp;color=0,0,0&amp;bbb=1"/>
              <p:cNvSpPr/>
              <p:nvPr/>
            </p:nvSpPr>
            <p:spPr>
              <a:xfrm>
                <a:off x="393192" y="3657186"/>
                <a:ext cx="9573768" cy="112807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800"/>
                  </a:lnSpc>
                  <a:tabLst>
                    <a:tab pos="489483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−1):(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−1)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  <a:tabLst>
                    <a:tab pos="489483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+1):(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+1)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+1)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9_3#8c1441aad.choices?htil=4&amp;vcp=1&amp;pid=80f795f91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57186"/>
                <a:ext cx="9573768" cy="1128078"/>
              </a:xfrm>
              <a:prstGeom prst="rect">
                <a:avLst/>
              </a:prstGeom>
              <a:blipFill>
                <a:blip r:embed="rId5"/>
                <a:stretch>
                  <a:fillRect l="-1975" b="-162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1_1#8c1441aad?htil=5&amp;vcp=1&amp;pid=80f795f91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5604" y="1501267"/>
            <a:ext cx="3694176" cy="89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1_2#8c1441aad?htil=5&amp;vcp=1&amp;pid=80f795f91&amp;color=0,0,0&amp;bt=1&amp;bbb=1&amp;hb=1&amp;hs=1"/>
              <p:cNvSpPr/>
              <p:nvPr/>
            </p:nvSpPr>
            <p:spPr>
              <a:xfrm>
                <a:off x="393192" y="1455547"/>
                <a:ext cx="7616952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构建初速度为0的匀加速直线运动模型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，木板长度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时，通过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点的情境如图所示.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1_2#8c1441aad?htil=5&amp;vcp=1&amp;pid=80f795f91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55547"/>
                <a:ext cx="7616952" cy="1037400"/>
              </a:xfrm>
              <a:prstGeom prst="rect">
                <a:avLst/>
              </a:prstGeom>
              <a:blipFill>
                <a:blip r:embed="rId4"/>
                <a:stretch>
                  <a:fillRect l="-2482" r="-1201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1_3#8c1441aad?vcp=1&amp;pid=80f795f91&amp;color=0,0,0&amp;bbb=1&amp;hb=1&amp;hs=1"/>
              <p:cNvSpPr/>
              <p:nvPr/>
            </p:nvSpPr>
            <p:spPr>
              <a:xfrm>
                <a:off x="393192" y="2501773"/>
                <a:ext cx="11402568" cy="2268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设木板的加速度大小为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，木板从静止释放到下端到达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；木板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从静止释放到上端到达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点的过程，当木板长度为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，当木板长度为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；又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，故选A.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1_3#8c1441aad?vcp=1&amp;pid=80f795f91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01773"/>
                <a:ext cx="11402568" cy="2268728"/>
              </a:xfrm>
              <a:prstGeom prst="rect">
                <a:avLst/>
              </a:prstGeom>
              <a:blipFill>
                <a:blip r:embed="rId5"/>
                <a:stretch>
                  <a:fillRect l="-1658" r="-1283" b="-77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2_1#b891dcaa5?htil=6&amp;vcp=1&amp;pid=80f795f91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43742" y="549719"/>
            <a:ext cx="2811258" cy="233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2_2#b891dcaa5?htil=6&amp;vcp=1&amp;pid=80f795f91&amp;color=0,0,0&amp;bt=1&amp;bbb=1&amp;hb=1&amp;hs=1"/>
              <p:cNvSpPr/>
              <p:nvPr/>
            </p:nvSpPr>
            <p:spPr>
              <a:xfrm>
                <a:off x="393192" y="504000"/>
                <a:ext cx="8284464" cy="21033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（2024·河北选择考）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篮球比赛前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，常通过观察篮球从一定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高度由静止下落后的反弹情况判断篮球的弹性.某同学拍摄了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该过程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，并得出了篮球运动的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图像，如图所示.图像中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四点中对应篮球位置最高的是(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2_2#b891dcaa5?htil=6&amp;vcp=1&amp;pid=80f795f91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284464" cy="2103374"/>
              </a:xfrm>
              <a:prstGeom prst="rect">
                <a:avLst/>
              </a:prstGeom>
              <a:blipFill>
                <a:blip r:embed="rId4"/>
                <a:stretch>
                  <a:fillRect l="-2281" t="-290" r="-1619" b="-86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3_1#b891dcaa5.bracket?vcp=1&amp;pid=80f795f91&amp;color=0,0,0&amp;vpa=4"/>
          <p:cNvSpPr/>
          <p:nvPr/>
        </p:nvSpPr>
        <p:spPr>
          <a:xfrm>
            <a:off x="5704745" y="2132267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2_3#b891dcaa5.choices?htil=6&amp;vcp=1&amp;pid=80f795f91&amp;color=0,0,0&amp;bbb=1&amp;hs=1"/>
              <p:cNvSpPr/>
              <p:nvPr/>
            </p:nvSpPr>
            <p:spPr>
              <a:xfrm>
                <a:off x="393192" y="2648838"/>
                <a:ext cx="8284464" cy="474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  <a:tabLst>
                    <a:tab pos="2147316" algn="l"/>
                    <a:tab pos="4256532" algn="l"/>
                    <a:tab pos="6340348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2_3#b891dcaa5.choices?htil=6&amp;vcp=1&amp;pid=80f795f91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48838"/>
                <a:ext cx="8284464" cy="474599"/>
              </a:xfrm>
              <a:prstGeom prst="rect">
                <a:avLst/>
              </a:prstGeom>
              <a:blipFill>
                <a:blip r:embed="rId5"/>
                <a:stretch>
                  <a:fillRect l="-2281" b="-402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4_1#b891dcaa5?vcp=1&amp;pid=80f795f91&amp;color=0,0,0&amp;bbb=1&amp;hb=1&amp;hs=1"/>
              <p:cNvSpPr/>
              <p:nvPr/>
            </p:nvSpPr>
            <p:spPr>
              <a:xfrm>
                <a:off x="393192" y="3125787"/>
                <a:ext cx="11402568" cy="31995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由题意可知，本题中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对应的横线下方的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图线表示篮球向下运动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度为负值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.当向下运动到速度最大时篮球与地面接触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，在很短时间内篮球速度方向发生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改变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，速度方向变为向上，然后向上做匀减速运动，篮球速度为0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时上升到最高点，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此时对应图像中的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点，图中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点对应篮球与地面接触，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点对应篮球第二次上升到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最高点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，由于空气阻力，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第二次上升到的最高点比第一次上升到的最高点的位置要低，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4_1#b891dcaa5?vcp=1&amp;pid=80f795f91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25787"/>
                <a:ext cx="11402568" cy="3199575"/>
              </a:xfrm>
              <a:prstGeom prst="rect">
                <a:avLst/>
              </a:prstGeom>
              <a:blipFill>
                <a:blip r:embed="rId6"/>
                <a:stretch>
                  <a:fillRect l="-1658" r="-3209" b="-55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5_1#ba7b78fb5?htil=7&amp;vcp=1&amp;pid=80f795f91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0346" y="549720"/>
            <a:ext cx="3118104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5_2#ba7b78fb5?htil=7&amp;vcp=1&amp;pid=80f795f91&amp;color=0,0,0&amp;bt=1&amp;bbb=1&amp;hb=1&amp;hs=1"/>
              <p:cNvSpPr/>
              <p:nvPr/>
            </p:nvSpPr>
            <p:spPr>
              <a:xfrm>
                <a:off x="393192" y="504000"/>
                <a:ext cx="8183880" cy="10151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（2025·福建选择考）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某运动员在游泳过程中做直线运动，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某次入水后的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图像如图所示，各阶段图像均为直线.求：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5_2#ba7b78fb5?htil=7&amp;vcp=1&amp;pid=80f795f91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183880" cy="1015175"/>
              </a:xfrm>
              <a:prstGeom prst="rect">
                <a:avLst/>
              </a:prstGeom>
              <a:blipFill>
                <a:blip r:embed="rId4"/>
                <a:stretch>
                  <a:fillRect l="-2310" t="-602" r="-1937" b="-1807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6_1#22e8efc8c?vcp=1&amp;pid=ba7b78fb5&amp;color=0,0,0&amp;bbb=1&amp;hs=1"/>
              <p:cNvSpPr/>
              <p:nvPr/>
            </p:nvSpPr>
            <p:spPr>
              <a:xfrm>
                <a:off x="393192" y="2859596"/>
                <a:ext cx="11402568" cy="478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6_1#22e8efc8c?vcp=1&amp;pid=ba7b78fb5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59596"/>
                <a:ext cx="11402568" cy="478600"/>
              </a:xfrm>
              <a:prstGeom prst="rect">
                <a:avLst/>
              </a:prstGeom>
              <a:blipFill>
                <a:blip r:embed="rId5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17_1#22e8efc8c?vcp=1&amp;pid=ba7b78fb5&amp;color=0,0,0&amp;bbb=1&amp;hb=1"/>
              <p:cNvSpPr/>
              <p:nvPr/>
            </p:nvSpPr>
            <p:spPr>
              <a:xfrm>
                <a:off x="393192" y="3341688"/>
                <a:ext cx="11402568" cy="109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由题图可知，运动员在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内做匀减速直线运动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，平均速度大小为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17_1#22e8efc8c?vcp=1&amp;pid=ba7b78fb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41688"/>
                <a:ext cx="11402568" cy="1092200"/>
              </a:xfrm>
              <a:prstGeom prst="rect">
                <a:avLst/>
              </a:prstGeom>
              <a:blipFill>
                <a:blip r:embed="rId6"/>
                <a:stretch>
                  <a:fillRect l="-1658" b="-100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BD.18_1#2ed10cfd6?vcp=1&amp;pid=ba7b78fb5&amp;color=0,0,0&amp;bbb=1"/>
              <p:cNvSpPr/>
              <p:nvPr/>
            </p:nvSpPr>
            <p:spPr>
              <a:xfrm>
                <a:off x="393192" y="4436110"/>
                <a:ext cx="11402568" cy="478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44∼46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内的加速度大小.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BD.18_1#2ed10cfd6?vcp=1&amp;pid=ba7b78fb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36110"/>
                <a:ext cx="11402568" cy="478600"/>
              </a:xfrm>
              <a:prstGeom prst="rect">
                <a:avLst/>
              </a:prstGeom>
              <a:blipFill>
                <a:blip r:embed="rId7"/>
                <a:stretch>
                  <a:fillRect l="-1658" b="-384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5_AN.19_1#2ed10cfd6?vcp=1&amp;pid=ba7b78fb5&amp;color=0,0,0&amp;bbb=1&amp;hb=1"/>
              <p:cNvSpPr/>
              <p:nvPr/>
            </p:nvSpPr>
            <p:spPr>
              <a:xfrm>
                <a:off x="393192" y="4918202"/>
                <a:ext cx="11402568" cy="109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由题图可知，运动员在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内做匀加速直线运动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，加速度大小为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5_AN.19_1#2ed10cfd6?vcp=1&amp;pid=ba7b78fb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18202"/>
                <a:ext cx="11402568" cy="1092200"/>
              </a:xfrm>
              <a:prstGeom prst="rect">
                <a:avLst/>
              </a:prstGeom>
              <a:blipFill>
                <a:blip r:embed="rId8"/>
                <a:stretch>
                  <a:fillRect l="-1658" b="-94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0_1#2fdf1f344?vcp=1&amp;pid=ba7b78fb5&amp;color=0,0,0&amp;bt=1&amp;bbb=1"/>
              <p:cNvSpPr/>
              <p:nvPr/>
            </p:nvSpPr>
            <p:spPr>
              <a:xfrm>
                <a:off x="393192" y="1410716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44∼46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0_1#2fdf1f344?vcp=1&amp;pid=ba7b78fb5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0716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1_1#2fdf1f344?vcp=1&amp;pid=ba7b78fb5&amp;color=0,0,0&amp;bbb=1"/>
              <p:cNvSpPr/>
              <p:nvPr/>
            </p:nvSpPr>
            <p:spPr>
              <a:xfrm>
                <a:off x="393192" y="1910207"/>
                <a:ext cx="11402568" cy="722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1_1#2fdf1f344?vcp=1&amp;pid=ba7b78fb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10207"/>
                <a:ext cx="11402568" cy="722249"/>
              </a:xfrm>
              <a:prstGeom prst="rect">
                <a:avLst/>
              </a:prstGeom>
              <a:blipFill>
                <a:blip r:embed="rId4"/>
                <a:stretch>
                  <a:fillRect l="-1658" b="-1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4_EX.22_1#ba7b78fb5?vcp=1&amp;pid=80f795f91&amp;color=0,0,0&amp;bbb=1"/>
          <p:cNvSpPr/>
          <p:nvPr/>
        </p:nvSpPr>
        <p:spPr>
          <a:xfrm>
            <a:off x="393192" y="2644902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题图剖析</a:t>
            </a:r>
            <a:endParaRPr lang="en-US" altLang="zh-CN" sz="2400" dirty="0"/>
          </a:p>
        </p:txBody>
      </p:sp>
      <p:pic>
        <p:nvPicPr>
          <p:cNvPr id="5" name="QO_4_EX.22_2#ba7b78fb5?vcp=1&amp;pid=80f795f91&amp;color=0,0,0&amp;tib=255,255,255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5424" y="3265297"/>
            <a:ext cx="3118104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3_1#07a6f659d?vcp=1&amp;pid=80f795f91&amp;color=0,0,0&amp;bt=1&amp;bbb=1&amp;hb=1"/>
              <p:cNvSpPr/>
              <p:nvPr/>
            </p:nvSpPr>
            <p:spPr>
              <a:xfrm>
                <a:off x="393192" y="2212086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（2024·广西选择考）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轮滑训练场沿直线等间距地摆放着若干个定位锥筒，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锥筒间距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,某同学穿着轮滑鞋向右匀减速滑行.现测出他从1号锥筒运动到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2号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锥筒用时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,从2号锥筒运动到3号锥筒用时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3_1#07a6f659d?vcp=1&amp;pid=80f795f9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2086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23_2#07a6f659d?vcp=1&amp;pid=80f795f91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01568" y="3932682"/>
            <a:ext cx="5385816" cy="7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4_1#f9b77c53e?vcp=1&amp;pid=07a6f659d&amp;color=0,0,0&amp;bt=1&amp;bbb=1"/>
          <p:cNvSpPr/>
          <p:nvPr/>
        </p:nvSpPr>
        <p:spPr>
          <a:xfrm>
            <a:off x="393192" y="658686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（1）该同学滑行的加速度大小.</a:t>
            </a:r>
            <a:endParaRPr lang="en-US" altLang="zh-CN" sz="2400" dirty="0"/>
          </a:p>
        </p:txBody>
      </p:sp>
      <p:sp>
        <p:nvSpPr>
          <p:cNvPr id="3" name="QO_5_AN.25_1#f9b77c53e?vcp=1&amp;pid=07a6f659d&amp;color=0,0,0&amp;bbb=1&amp;hb=1"/>
          <p:cNvSpPr/>
          <p:nvPr/>
        </p:nvSpPr>
        <p:spPr>
          <a:xfrm>
            <a:off x="393192" y="1216787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利用匀变速直线运动关于中间时刻的瞬时速度的推论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，即某段时间中间时刻的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瞬时速度等于该段时间内的平均速度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，得出1、2间中间时刻，2、3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间中间时刻的速度，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4" name="QO_5_AN.25_2#f9b77c53e?vcp=1&amp;pid=07a6f659d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55264" y="2936177"/>
            <a:ext cx="567842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25_3#f9b77c53e?vcp=1&amp;pid=07a6f659d&amp;color=0,0,0&amp;bbb=1"/>
              <p:cNvSpPr/>
              <p:nvPr/>
            </p:nvSpPr>
            <p:spPr>
              <a:xfrm>
                <a:off x="393192" y="4155377"/>
                <a:ext cx="11402568" cy="2044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根据匀变速直线运动规律，在1、2间中间时刻的速度为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2、3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间中间时刻的速度为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25_3#f9b77c53e?vcp=1&amp;pid=07a6f659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55377"/>
                <a:ext cx="11402568" cy="2044700"/>
              </a:xfrm>
              <a:prstGeom prst="rect">
                <a:avLst/>
              </a:prstGeom>
              <a:blipFill>
                <a:blip r:embed="rId4"/>
                <a:stretch>
                  <a:fillRect l="-16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6_1#cb0776cf2?vcp=1&amp;pid=07a6f659d&amp;color=0,0,0&amp;bt=1&amp;bbb=1"/>
          <p:cNvSpPr/>
          <p:nvPr/>
        </p:nvSpPr>
        <p:spPr>
          <a:xfrm>
            <a:off x="393192" y="1532668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（2）该同学最远能经过几号锥筒.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7_1#cb0776cf2?vcp=1&amp;pid=07a6f659d&amp;color=0,0,0&amp;bbb=1&amp;hb=1"/>
              <p:cNvSpPr/>
              <p:nvPr/>
            </p:nvSpPr>
            <p:spPr>
              <a:xfrm>
                <a:off x="393192" y="2032159"/>
                <a:ext cx="11402568" cy="3056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设到达1号锥筒时的速度为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,从1号锥筒运动到2号锥筒，有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或从1号锥筒运动到1、2间中间时刻位置，有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endParaRPr lang="en-US" altLang="zh-CN" sz="2400" dirty="0"/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1号锥筒到停止运动，该同学通过的位移大小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𝟎𝟎𝟏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可知最远能经过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4号锥筒.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7_1#cb0776cf2?vcp=1&amp;pid=07a6f659d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32159"/>
                <a:ext cx="11402568" cy="3056700"/>
              </a:xfrm>
              <a:prstGeom prst="rect">
                <a:avLst/>
              </a:prstGeom>
              <a:blipFill>
                <a:blip r:embed="rId3"/>
                <a:stretch>
                  <a:fillRect l="-1658" r="-1230" b="-59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61c0992f?vcp=1&amp;pid=e4f94774e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原创新题模拟练</a:t>
            </a:r>
            <a:endParaRPr lang="en-US" altLang="zh-CN" sz="2600" dirty="0"/>
          </a:p>
        </p:txBody>
      </p:sp>
      <p:sp>
        <p:nvSpPr>
          <p:cNvPr id="3" name="P_4_BD#d891c3e9d?vcp=1&amp;pid=d61c0992f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8_1#2612a8adb?vcp=1&amp;pid=d61c0992f&amp;color=0,0,0&amp;bt=1&amp;bbb=1&amp;hb=1"/>
              <p:cNvSpPr/>
              <p:nvPr/>
            </p:nvSpPr>
            <p:spPr>
              <a:xfrm>
                <a:off x="393192" y="684181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1.（多选题）如图所示，一两侧开口、长为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=3.75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的圆筒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沿着地面滑行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擦阻力的作用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,方向总与运动方向相反，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直到筒停在地面上.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筒滑行方向前方有一堵竖直墙壁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，筒撞到墙后会反弹，撞墙前后筒的速率不变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该筒速度为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,右端距离墙壁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,向着墙壁滑动.一无人机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忽略大小，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在图中以点表示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）此时恰在筒右侧筒口圆心以速度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与筒同向做匀速直线运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.若无人机可以在筒内外自由穿梭不受筒影响，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8_1#2612a8adb?vcp=1&amp;pid=d61c0992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4181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2193" b="-57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9_1#2612a8adb.bracket?vcp=1&amp;pid=d61c0992f&amp;color=0,0,0&amp;vpa=5&amp;bbb=1"/>
          <p:cNvSpPr/>
          <p:nvPr/>
        </p:nvSpPr>
        <p:spPr>
          <a:xfrm>
            <a:off x="7458361" y="3466751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4_BD.30_1#2612a8adb?htil=8&amp;vcp=1&amp;pid=d61c0992f&amp;color=0,0,0&amp;tib=255,255,255" descr="preencoded.png">
            <a:extLst>
              <a:ext uri="{FF2B5EF4-FFF2-40B4-BE49-F238E27FC236}">
                <a16:creationId xmlns:a16="http://schemas.microsoft.com/office/drawing/2014/main" id="{4BA9B02B-6E4C-D9BD-AC15-4635EB7F7EB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7349" y="3961796"/>
            <a:ext cx="469087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0_2#2612a8adb.choices?htil=8&amp;vcp=1&amp;pid=d61c0992f&amp;color=0,0,0&amp;bt=1&amp;bbb=1">
                <a:extLst>
                  <a:ext uri="{FF2B5EF4-FFF2-40B4-BE49-F238E27FC236}">
                    <a16:creationId xmlns:a16="http://schemas.microsoft.com/office/drawing/2014/main" id="{EA5C461D-45F8-C02D-88F1-A7B5E789F401}"/>
                  </a:ext>
                </a:extLst>
              </p:cNvPr>
              <p:cNvSpPr/>
              <p:nvPr/>
            </p:nvSpPr>
            <p:spPr>
              <a:xfrm>
                <a:off x="393192" y="3916076"/>
                <a:ext cx="6620256" cy="21957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A.无人机第一次穿过圆筒用时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.无人机第一次穿过圆筒用时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.无人机第二次穿过圆筒用时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(2.5−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.无人机第二次穿过圆筒用时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(3.5−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0_2#2612a8adb.choices?htil=8&amp;vcp=1&amp;pid=d61c0992f&amp;color=0,0,0&amp;bt=1&amp;bbb=1">
                <a:extLst>
                  <a:ext uri="{FF2B5EF4-FFF2-40B4-BE49-F238E27FC236}">
                    <a16:creationId xmlns:a16="http://schemas.microsoft.com/office/drawing/2014/main" id="{EA5C461D-45F8-C02D-88F1-A7B5E789F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16076"/>
                <a:ext cx="6620256" cy="2195703"/>
              </a:xfrm>
              <a:prstGeom prst="rect">
                <a:avLst/>
              </a:prstGeom>
              <a:blipFill>
                <a:blip r:embed="rId5"/>
                <a:stretch>
                  <a:fillRect l="-2855" b="-831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1_1#2612a8adb?vcp=1&amp;pid=d61c0992f&amp;color=0,0,0&amp;bt=1&amp;bbb=1&amp;hb=1"/>
              <p:cNvSpPr/>
              <p:nvPr/>
            </p:nvSpPr>
            <p:spPr>
              <a:xfrm>
                <a:off x="393192" y="718820"/>
                <a:ext cx="11402568" cy="508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刚开始时无人机在筒右端，设经过时间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无人机与筒左端相遇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，由运动学公式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（代表无人机又追上筒左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）.设筒运动时间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后与墙壁发生碰撞，由运动学公式得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不合理，舍去），因为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，所以无人机第一次从筒中通过时筒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还没有撞到墙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，无人机通过筒的时间为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，A正确，B错误；经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无人机从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筒的左端向右追上筒时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，设筒的速度大小为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，由运动学知识得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，设筒撞墙时的速度大小为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，由运动学知识得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，无人机从左端进入筒到筒撞墙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，经过的时间为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，以初始时为计时起点，则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这段时间内，</a:t>
                </a: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2" name="QC_4_AS.31_1#2612a8adb?vcp=1&amp;pid=d61c0992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8820"/>
                <a:ext cx="11402568" cy="5080000"/>
              </a:xfrm>
              <a:prstGeom prst="rect">
                <a:avLst/>
              </a:prstGeom>
              <a:blipFill>
                <a:blip r:embed="rId3"/>
                <a:stretch>
                  <a:fillRect l="-1658" r="-1551" b="-22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1_1#2612a8adb?vcp=1&amp;pid=d61c0992f&amp;color=0,0,0&amp;bt=1&amp;bbb=1&amp;hb=1">
                <a:extLst>
                  <a:ext uri="{FF2B5EF4-FFF2-40B4-BE49-F238E27FC236}">
                    <a16:creationId xmlns:a16="http://schemas.microsoft.com/office/drawing/2014/main" id="{74A3BA93-45B1-D858-12DE-2C192507B68C}"/>
                  </a:ext>
                </a:extLst>
              </p:cNvPr>
              <p:cNvSpPr/>
              <p:nvPr/>
            </p:nvSpPr>
            <p:spPr>
              <a:xfrm>
                <a:off x="393192" y="1153097"/>
                <a:ext cx="11402568" cy="416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无人机追筒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，设进入筒的深度为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，由运动学知识得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.筒与墙壁碰撞后向左与无人机相向运动，设再经过时间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无人机从筒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右侧飞出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，由运动学知识得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不合题意，舍去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］.设筒与墙壁碰撞后又反向滑行了时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停下，由运动学知识得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,所以无人机从筒右端飞出时筒还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未停下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.综上可知，无人机第二次通过筒的时间为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1_1#2612a8adb?vcp=1&amp;pid=d61c0992f&amp;color=0,0,0&amp;bt=1&amp;bbb=1&amp;hb=1">
                <a:extLst>
                  <a:ext uri="{FF2B5EF4-FFF2-40B4-BE49-F238E27FC236}">
                    <a16:creationId xmlns:a16="http://schemas.microsoft.com/office/drawing/2014/main" id="{74A3BA93-45B1-D858-12DE-2C192507B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3097"/>
                <a:ext cx="11402568" cy="4161600"/>
              </a:xfrm>
              <a:prstGeom prst="rect">
                <a:avLst/>
              </a:prstGeom>
              <a:blipFill>
                <a:blip r:embed="rId2"/>
                <a:stretch>
                  <a:fillRect l="-1658" r="-3690" b="-43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129767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2_1#87d5a4847?vcp=1&amp;pid=d61c0992f&amp;color=0,0,0&amp;bt=1&amp;bbb=1&amp;hb=1"/>
              <p:cNvSpPr/>
              <p:nvPr/>
            </p:nvSpPr>
            <p:spPr>
              <a:xfrm>
                <a:off x="393192" y="917131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2.蓝牙是一种无线技术标准，可实现各种设备之间的短距离数据交换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.某同学用安装有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蓝牙设备的玩具车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进行实验，如图所示，在距离为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的两条平直轨道上，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的连线与轨道垂直，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点从静止开始以加速度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向右做匀加速直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，与此同时，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.已知当两车间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的距离超过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时，就无法实现通信.若忽略信号传递的时间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，则两车能通信的时间为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2_1#87d5a4847?vcp=1&amp;pid=d61c0992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17131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65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33_1#87d5a4847.bracket?vcp=1&amp;pid=d61c0992f&amp;color=0,0,0&amp;vpa=6"/>
          <p:cNvSpPr/>
          <p:nvPr/>
        </p:nvSpPr>
        <p:spPr>
          <a:xfrm>
            <a:off x="625760" y="369970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32_2#87d5a4847?vcp=1&amp;pid=d61c0992f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4024" y="4276026"/>
            <a:ext cx="2660904" cy="101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2_3#87d5a4847.choices?vcp=1&amp;pid=d61c0992f&amp;color=0,0,0&amp;bbb=1"/>
              <p:cNvSpPr/>
              <p:nvPr/>
            </p:nvSpPr>
            <p:spPr>
              <a:xfrm>
                <a:off x="393192" y="5419026"/>
                <a:ext cx="11402568" cy="51847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700"/>
                  </a:lnSpc>
                  <a:tabLst>
                    <a:tab pos="2380102" algn="l"/>
                    <a:tab pos="4722104" algn="l"/>
                    <a:tab pos="81563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(3+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17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(1+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17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2_3#87d5a4847.choices?vcp=1&amp;pid=d61c0992f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419026"/>
                <a:ext cx="11402568" cy="518478"/>
              </a:xfrm>
              <a:prstGeom prst="rect">
                <a:avLst/>
              </a:prstGeom>
              <a:blipFill>
                <a:blip r:embed="rId5"/>
                <a:stretch>
                  <a:fillRect l="-1658" b="-352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4_1#87d5a4847?vcp=1&amp;pid=d61c0992f&amp;color=0,0,0&amp;bt=1&amp;bbb=1&amp;hb=1"/>
              <p:cNvSpPr/>
              <p:nvPr/>
            </p:nvSpPr>
            <p:spPr>
              <a:xfrm>
                <a:off x="393192" y="1919827"/>
                <a:ext cx="11402568" cy="2776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由题意分析可知，初始时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车速度大，设经过时间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，两车相距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车的位移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，由几何关系有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车前面，设从初始经过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，两车相距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，同理可知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𝟏𝟕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，则两车能通信的时间为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𝟏𝟕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4_1#87d5a4847?vcp=1&amp;pid=d61c0992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19827"/>
                <a:ext cx="11402568" cy="2776728"/>
              </a:xfrm>
              <a:prstGeom prst="rect">
                <a:avLst/>
              </a:prstGeom>
              <a:blipFill>
                <a:blip r:embed="rId3"/>
                <a:stretch>
                  <a:fillRect l="-1658" r="-642" b="-65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35_1#7db52a4b3?vcp=1&amp;pid=d61c0992f&amp;color=0,0,0&amp;bt=1&amp;bbb=1&amp;hb=1"/>
              <p:cNvSpPr/>
              <p:nvPr/>
            </p:nvSpPr>
            <p:spPr>
              <a:xfrm>
                <a:off x="393192" y="919067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3.“科技让生活更美丽”，自动驾驶汽车呈现出接近实用化的趋势.图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1为某型号无人驾驶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的智能汽车的测试照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,为了增加乘员乘坐舒适性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，程序设定汽车制动时汽车加速度大小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随位移均匀变化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.某次测试汽车“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”关系图线如图2所示，汽车制动距离为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35_1#7db52a4b3?vcp=1&amp;pid=d61c0992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19067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551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35_2#7db52a4b3?vcp=1&amp;pid=d61c0992f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7952" y="2639663"/>
            <a:ext cx="3822192" cy="16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BD.36_1#c33eb618e?vcp=1&amp;pid=7db52a4b3&amp;color=0,0,0&amp;bbb=1"/>
          <p:cNvSpPr/>
          <p:nvPr/>
        </p:nvSpPr>
        <p:spPr>
          <a:xfrm>
            <a:off x="393192" y="4404963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（1）判断汽车做什么运动.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37_1#c33eb618e?vcp=1&amp;pid=7db52a4b3&amp;color=0,0,0&amp;bbb=1&amp;hb=1"/>
              <p:cNvSpPr/>
              <p:nvPr/>
            </p:nvSpPr>
            <p:spPr>
              <a:xfrm>
                <a:off x="393192" y="489835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由题图2可知，汽车制动过程中其加速度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均匀增大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，汽车做加速度逐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渐增大的减速运动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37_1#c33eb618e?vcp=1&amp;pid=7db52a4b3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98358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r="-214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38_1#f9499fa60?vcp=1&amp;pid=7db52a4b3&amp;color=0,0,0&amp;bt=1&amp;bbb=1&amp;hb=1"/>
              <p:cNvSpPr/>
              <p:nvPr/>
            </p:nvSpPr>
            <p:spPr>
              <a:xfrm>
                <a:off x="393192" y="2010982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（2）微元法是一种常用的研究方法，对于直线运动，教科书中讲解了如何由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像来求位移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.请你借鉴此方法，求汽车的初速度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38_1#f9499fa60?vcp=1&amp;pid=7db52a4b3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10982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9_1#f9499fa60?vcp=1&amp;pid=7db52a4b3&amp;color=0,0,0&amp;bbb=1&amp;hb=1"/>
              <p:cNvSpPr/>
              <p:nvPr/>
            </p:nvSpPr>
            <p:spPr>
              <a:xfrm>
                <a:off x="393192" y="3057208"/>
                <a:ext cx="11402568" cy="17523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由匀减速直线运动的速度与位移的关系可得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汽车做非匀变速直线运动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，运用“微元法”，可知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轴所围图形的面积即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速度平方变化量大小的二分之一”，即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9_1#f9499fa60?vcp=1&amp;pid=7db52a4b3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57208"/>
                <a:ext cx="11402568" cy="1752346"/>
              </a:xfrm>
              <a:prstGeom prst="rect">
                <a:avLst/>
              </a:prstGeom>
              <a:blipFill>
                <a:blip r:embed="rId4"/>
                <a:stretch>
                  <a:fillRect l="-1658" b="-59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40_1#85a406459?vcp=1&amp;pid=7db52a4b3&amp;color=0,0,0&amp;bt=1&amp;bbb=1&amp;hb=1"/>
              <p:cNvSpPr/>
              <p:nvPr/>
            </p:nvSpPr>
            <p:spPr>
              <a:xfrm>
                <a:off x="393192" y="2121630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（3）为了求汽车的制动时间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,某同学的求解过程如下: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在制动过程中加速度的平均值为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0+6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,将减速过程看成反向加速过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，根据运动学公式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bar>
                      <m:barPr>
                        <m:pos m:val="top"/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请你判断该同学的做法是否正确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，并说明理由.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40_1#85a406459?vcp=1&amp;pid=7db52a4b3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1630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N.41_1#85a406459?vcp=1&amp;pid=7db52a4b3&amp;color=0,0,0&amp;bt=1&amp;bbb=1&amp;hb=1"/>
              <p:cNvSpPr/>
              <p:nvPr/>
            </p:nvSpPr>
            <p:spPr>
              <a:xfrm>
                <a:off x="393192" y="1387856"/>
                <a:ext cx="11402568" cy="21925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该同学的做法不正确；汽车以大小为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的加速度做匀减速运动时，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图像如图中的直线所示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；位移不变，即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轴围成的面积不变；由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像可知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，加速度随位移均匀增大，对应的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图线如图中曲线所示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，可得实际制动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时间一定小于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N.41_1#85a406459?vcp=1&amp;pid=7db52a4b3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87856"/>
                <a:ext cx="11402568" cy="2192528"/>
              </a:xfrm>
              <a:prstGeom prst="rect">
                <a:avLst/>
              </a:prstGeom>
              <a:blipFill>
                <a:blip r:embed="rId3"/>
                <a:stretch>
                  <a:fillRect l="-1658" b="-8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AN.41_2#85a406459?vcp=1&amp;pid=7db52a4b3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0056" y="3705352"/>
            <a:ext cx="2157984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1659</Words>
  <Application>Microsoft Office PowerPoint</Application>
  <PresentationFormat>宽屏</PresentationFormat>
  <Paragraphs>167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2026-05-25T07:15:59Z</dcterms:created>
  <dcterms:modified xsi:type="dcterms:W3CDTF">2026-05-25T07:22:41Z</dcterms:modified>
  <cp:category/>
  <cp:contentStatus/>
</cp:coreProperties>
</file>