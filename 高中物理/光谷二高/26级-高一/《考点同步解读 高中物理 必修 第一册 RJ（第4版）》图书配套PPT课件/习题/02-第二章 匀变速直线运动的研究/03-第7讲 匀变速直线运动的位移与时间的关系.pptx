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270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1.xml"/><Relationship Id="rId5" Type="http://schemas.openxmlformats.org/officeDocument/2006/relationships/slide" Target="../slides/slide9.xml"/><Relationship Id="rId4" Type="http://schemas.openxmlformats.org/officeDocument/2006/relationships/slide" Target="../slides/slide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slide" Target="../slides/slide1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0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27494feb1,cb6e9b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abe0be50b&amp;amp;cid=abe0be50b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59d4e6a6&amp;amp;cid=459d4e6a6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7fae4ffa&amp;amp;cid=37fae4ffa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148b8e00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7c9523259&amp;amp;cid=7c9523259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772a7a074&amp;amp;cid=772a7a07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d0e996f4b&amp;amp;cid=d0e996f4b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cc65a560d&amp;amp;cid=cc65a560d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b1695bdda&amp;amp;cid=b1695bdd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24781ca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4077de3bc&amp;amp;cid=4077de3bc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aa92c0cc3&amp;amp;cid=aa92c0cc3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70fe30fb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3?lid=ef2d48809&amp;amp;cid=ef2d48809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27494fe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abe945c4c,27494feb1,cb6e9b008#df=27494fe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  <p:sp>
        <p:nvSpPr>
          <p:cNvPr id="5" name="C_0#auto_editor_catalog_0?lid=abe0be50b&amp;amp;cid=abe0be50b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459d4e6a6&amp;amp;cid=459d4e6a6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37fae4ffa&amp;amp;cid=37fae4ffa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148b8e00f#df=27494fe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  <p:sp>
        <p:nvSpPr>
          <p:cNvPr id="5" name="C_0#auto_editor_catalog_4?lid=7c9523259&amp;amp;cid=7c9523259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772a7a074&amp;amp;cid=772a7a074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d0e996f4b&amp;amp;cid=d0e996f4b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cc65a560d&amp;amp;cid=cc65a560d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b1695bdda&amp;amp;cid=b1695bdda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24781ca38#df=27494fe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  <p:sp>
        <p:nvSpPr>
          <p:cNvPr id="5" name="C_0#auto_editor_catalog_10?lid=4077de3bc&amp;amp;cid=4077de3bc&amp;amp;vtp=1">
            <a:hlinkClick r:id="rId3" action="ppaction://hlinksldjump"/>
          </p:cNvPr>
          <p:cNvSpPr/>
          <p:nvPr/>
        </p:nvSpPr>
        <p:spPr>
          <a:xfrm>
            <a:off x="559612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10?lid=aa92c0cc3&amp;amp;cid=aa92c0cc3&amp;amp;vtp=1">
            <a:hlinkClick r:id="rId4" action="ppaction://hlinksldjump"/>
          </p:cNvPr>
          <p:cNvSpPr/>
          <p:nvPr/>
        </p:nvSpPr>
        <p:spPr>
          <a:xfrm>
            <a:off x="613562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be945c4c,70fe30fb0#df=27494fe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第7讲 匀变速直线运动的位移与时间的关系</a:t>
            </a:r>
            <a:endParaRPr lang="en-US" sz="1800" dirty="0"/>
          </a:p>
        </p:txBody>
      </p:sp>
      <p:sp>
        <p:nvSpPr>
          <p:cNvPr id="5" name="C_0#auto_editor_catalog_13?lid=ef2d48809&amp;amp;cid=ef2d48809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27494feb1.fixed?vcp=1&amp;pid=abe945c4c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匀变速直线运动的研究</a:t>
            </a:r>
            <a:endParaRPr lang="en-US" altLang="zh-CN" sz="4800" dirty="0"/>
          </a:p>
        </p:txBody>
      </p:sp>
      <p:sp>
        <p:nvSpPr>
          <p:cNvPr id="3" name="C_2_BD#27494feb1.fixed?vcp=1&amp;pid=abe945c4c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第7讲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匀变速直线运动的位移与时间的关系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cb6e9b008?vcp=1&amp;pid=27494feb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2b10a6405?vcp=1&amp;pid=cb6e9b008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_1#abe0be50b?vcp=1&amp;pid=cb6e9b008&amp;color=0,0,0&amp;vtp=1&amp;bbb=1&amp;hb=1"/>
              <p:cNvSpPr/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考点1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质点做直线运动的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图像如图所示，规定向右为正方向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，则该质点在前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内平均速度的大小和方向及运动的路程分别为(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_1#abe0be50b?vcp=1&amp;pid=cb6e9b00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_1#abe0be50b.bracket?vcp=1&amp;pid=cb6e9b008&amp;color=0,0,0&amp;vpa=1&amp;vtp=1"/>
          <p:cNvSpPr/>
          <p:nvPr/>
        </p:nvSpPr>
        <p:spPr>
          <a:xfrm>
            <a:off x="7101173" y="213804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4_BD.1_2#abe0be50b?htil=1&amp;vcp=1&amp;pid=cb6e9b00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70501" y="2676525"/>
            <a:ext cx="2898648" cy="1673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BD.1_3#abe0be50b.choices?htil=1&amp;vcp=1&amp;pid=cb6e9b008&amp;color=0,0,0&amp;vtp=1&amp;bbb=1"/>
              <p:cNvSpPr/>
              <p:nvPr/>
            </p:nvSpPr>
            <p:spPr>
              <a:xfrm>
                <a:off x="393192" y="2630805"/>
                <a:ext cx="8366760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291330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、向右、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、向左、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291330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、向右、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、向左、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BD.1_3#abe0be50b.choices?htil=1&amp;vcp=1&amp;pid=cb6e9b00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0805"/>
                <a:ext cx="8366760" cy="1027430"/>
              </a:xfrm>
              <a:prstGeom prst="rect">
                <a:avLst/>
              </a:prstGeom>
              <a:blipFill>
                <a:blip r:embed="rId5"/>
                <a:stretch>
                  <a:fillRect l="-2259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3_1#459d4e6a6?vcp=1&amp;pid=cb6e9b008&amp;color=0,0,0&amp;vtp=1&amp;bt=1&amp;bbb=1&amp;hb=1"/>
              <p:cNvSpPr/>
              <p:nvPr/>
            </p:nvSpPr>
            <p:spPr>
              <a:xfrm>
                <a:off x="393192" y="220414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（2026·湖北武汉二中检测）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物体从长为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𝐿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的光滑斜面的顶端由静止开始以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恒定的加速度下滑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，当物体的速度为到达斜面底端速度的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，它沿斜面已下滑的距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离是(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3_1#459d4e6a6?vcp=1&amp;pid=cb6e9b00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20414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53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4_1#459d4e6a6.bracket?vcp=1&amp;pid=cb6e9b008&amp;color=0,0,0&amp;vpa=2&amp;vtp=1"/>
          <p:cNvSpPr/>
          <p:nvPr/>
        </p:nvSpPr>
        <p:spPr>
          <a:xfrm>
            <a:off x="1248060" y="3310319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3_2#459d4e6a6.choices?vcp=1&amp;pid=cb6e9b008&amp;color=0,0,0&amp;vtp=1&amp;bbb=1"/>
              <p:cNvSpPr/>
              <p:nvPr/>
            </p:nvSpPr>
            <p:spPr>
              <a:xfrm>
                <a:off x="393192" y="3806317"/>
                <a:ext cx="11402568" cy="62217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2850002" algn="l"/>
                    <a:tab pos="5674604" algn="l"/>
                    <a:tab pos="876590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3</m:t>
                            </m:r>
                          </m:e>
                        </m:rad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3_2#459d4e6a6.choices?vcp=1&amp;pid=cb6e9b00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806317"/>
                <a:ext cx="11402568" cy="622173"/>
              </a:xfrm>
              <a:prstGeom prst="rect">
                <a:avLst/>
              </a:prstGeom>
              <a:blipFill>
                <a:blip r:embed="rId4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5_1#37fae4ffa?vcp=1&amp;pid=cb6e9b008&amp;color=0,0,0&amp;vtp=1&amp;bt=1&amp;bbb=1&amp;hb=1"/>
              <p:cNvSpPr/>
              <p:nvPr/>
            </p:nvSpPr>
            <p:spPr>
              <a:xfrm>
                <a:off x="393192" y="964534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（2026·湖北黄石二中检测）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，在“车让人”交通安全活动中，交警部门要求汽车在斑马线前停车让人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.以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匀速行驶的汽车，当车头离斑马线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时驾驶员看到斑马线上有行人通过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该车刹车时最大加速度为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,驾驶员反应时间为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.若驾驶员看到斑马线上有行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人时立即紧急刹车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5_1#37fae4ffa?vcp=1&amp;pid=cb6e9b00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4534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856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6_1#37fae4ffa.bracket?vcp=1&amp;pid=cb6e9b008&amp;color=0,0,0&amp;vpa=3&amp;vtp=1"/>
          <p:cNvSpPr/>
          <p:nvPr/>
        </p:nvSpPr>
        <p:spPr>
          <a:xfrm>
            <a:off x="3673760" y="3188304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pic>
        <p:nvPicPr>
          <p:cNvPr id="4" name="QC_4_BD.5_2#37fae4ffa?htil=2&amp;vcp=1&amp;pid=cb6e9b008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84460" y="3767803"/>
            <a:ext cx="2587752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5_3#37fae4ffa.choices?htil=2&amp;vcp=1&amp;pid=cb6e9b008&amp;color=0,0,0&amp;vtp=1&amp;bbb=1"/>
              <p:cNvSpPr/>
              <p:nvPr/>
            </p:nvSpPr>
            <p:spPr>
              <a:xfrm>
                <a:off x="393192" y="3712939"/>
                <a:ext cx="8677656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A.汽车能保证“车让人”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.汽车通过的距离是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6.4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.汽车运动的时间是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1.6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.在驾驶员反应时间内汽车通过的距离是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5_3#37fae4ffa.choices?htil=2&amp;vcp=1&amp;pid=cb6e9b00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12939"/>
                <a:ext cx="8677656" cy="2158302"/>
              </a:xfrm>
              <a:prstGeom prst="rect">
                <a:avLst/>
              </a:prstGeom>
              <a:blipFill>
                <a:blip r:embed="rId5"/>
                <a:stretch>
                  <a:fillRect l="-217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148b8e00f?vcp=1&amp;pid=27494feb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101edfccb?vcp=1&amp;pid=148b8e00f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7_1#7c9523259?vcp=1&amp;pid=148b8e00f&amp;color=0,0,0&amp;vtp=1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一列火车由等长的车厢连接而成，车厢间的间隙忽略不计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.一人站在站台上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与第一节车厢的最前端相齐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.列车由静止开始做匀加速直线运动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，已知第一节车厢经过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他的时间是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,整列火车经过他的时间是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则这列火车的车厢节数为(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7_1#7c9523259?vcp=1&amp;pid=148b8e00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8_1#7c9523259.bracket?vcp=1&amp;pid=148b8e00f&amp;color=0,0,0&amp;vpa=4&amp;vtp=1"/>
          <p:cNvSpPr/>
          <p:nvPr/>
        </p:nvSpPr>
        <p:spPr>
          <a:xfrm>
            <a:off x="9741186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6" name="QC_4_BD.7_2#7c9523259.choices?vcp=1&amp;pid=148b8e00f&amp;color=0,0,0&amp;vtp=1&amp;bbb=1"/>
          <p:cNvSpPr/>
          <p:nvPr/>
        </p:nvSpPr>
        <p:spPr>
          <a:xfrm>
            <a:off x="393192" y="3241675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878577" algn="l"/>
                <a:tab pos="5731754" algn="l"/>
                <a:tab pos="85849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.3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B.6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C.9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.12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QC_4_AS.9_1#7c9523259?vcp=1&amp;pid=148b8e00f&amp;color=0,0,0&amp;vtp=1&amp;bbb=1&amp;hb=1"/>
              <p:cNvSpPr/>
              <p:nvPr/>
            </p:nvSpPr>
            <p:spPr>
              <a:xfrm>
                <a:off x="393192" y="3735070"/>
                <a:ext cx="11402568" cy="1117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列车做初速度为0的匀加速直线运动，设每节车厢长为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，列车的加速度大小为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𝒏𝑳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，联立解得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C_4_AS.9_1#7c9523259?vcp=1&amp;pid=148b8e00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35070"/>
                <a:ext cx="11402568" cy="1117600"/>
              </a:xfrm>
              <a:prstGeom prst="rect">
                <a:avLst/>
              </a:prstGeom>
              <a:blipFill>
                <a:blip r:embed="rId4"/>
                <a:stretch>
                  <a:fillRect l="-1658" r="-1176" b="-929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772a7a074?vcp=1&amp;pid=148b8e00f&amp;color=0,0,0&amp;vtp=1&amp;bt=1&amp;bbb=1&amp;hb=1"/>
              <p:cNvSpPr/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（多选题）一辆汽车在平直的公路上行驶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，刹车后它的位移与时间的关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=10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,式中物理量的单位均为国际单位制单位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，以下说法正确的有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772a7a074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772a7a074.bracket?vcp=1&amp;pid=148b8e00f&amp;color=0,0,0&amp;vpa=5&amp;vtp=1&amp;bbb=1"/>
          <p:cNvSpPr/>
          <p:nvPr/>
        </p:nvSpPr>
        <p:spPr>
          <a:xfrm>
            <a:off x="676560" y="2654459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0_2#772a7a074.choices?vcp=1&amp;pid=148b8e00f&amp;color=0,0,0&amp;vtp=1&amp;bbb=1"/>
              <p:cNvSpPr/>
              <p:nvPr/>
            </p:nvSpPr>
            <p:spPr>
              <a:xfrm>
                <a:off x="393192" y="3141885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A.汽车在做匀减速直线运动，加速度大小为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末汽车的速度为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.经过时间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,汽车的位移为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.汽车在最初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0_2#772a7a074.choices?vcp=1&amp;pid=148b8e00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1885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772a7a074?vcp=1&amp;pid=148b8e00f&amp;color=0,0,0&amp;vtp=1&amp;bt=1&amp;bbb=1&amp;hb=1"/>
              <p:cNvSpPr/>
              <p:nvPr/>
            </p:nvSpPr>
            <p:spPr>
              <a:xfrm>
                <a:off x="393192" y="1072483"/>
                <a:ext cx="11402568" cy="434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6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由匀变速直线运动的位移与时间的公式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并结合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</a:t>
                </a:r>
              </a:p>
              <a:p>
                <a:pPr latinLnBrk="1">
                  <a:lnSpc>
                    <a:spcPts val="45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，可知汽车在做匀减速直线运动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，且加速度大小为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，A正确；根据运动学公式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可得，第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末汽车的速度为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，B错误；根据运动学公式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，汽车停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止所用的时间为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，则经过时间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，汽车的刹车位移为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，C错误；根据运动学公式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可得，汽车在前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</a:t>
                </a:r>
              </a:p>
              <a:p>
                <a:pPr latinLnBrk="1">
                  <a:lnSpc>
                    <a:spcPts val="5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，汽车在最初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内的平均速度为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zh-CN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ba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𝒕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772a7a074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72483"/>
                <a:ext cx="11402568" cy="4343400"/>
              </a:xfrm>
              <a:prstGeom prst="rect">
                <a:avLst/>
              </a:prstGeom>
              <a:blipFill>
                <a:blip r:embed="rId3"/>
                <a:stretch>
                  <a:fillRect l="-1658" r="-856" b="-140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d0e996f4b?vcp=1&amp;pid=148b8e00f&amp;color=0,0,0&amp;vtp=1&amp;bt=1&amp;bbb=1&amp;hb=1"/>
              <p:cNvSpPr/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（多选题）汽车正以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7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的速度在平直公路上前进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，突然发现前方距离车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处有险情.司机立即刹车，刹车时加速度大小为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.从刚刹车到汽车刚停止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d0e996f4b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d0e996f4b.bracket?vcp=1&amp;pid=148b8e00f&amp;color=0,0,0&amp;vpa=6&amp;vtp=1&amp;bbb=1"/>
          <p:cNvSpPr/>
          <p:nvPr/>
        </p:nvSpPr>
        <p:spPr>
          <a:xfrm>
            <a:off x="4346860" y="265445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3_2#d0e996f4b.choices?vcp=1&amp;pid=148b8e00f&amp;color=0,0,0&amp;vtp=1&amp;bbb=1"/>
              <p:cNvSpPr/>
              <p:nvPr/>
            </p:nvSpPr>
            <p:spPr>
              <a:xfrm>
                <a:off x="393192" y="3141884"/>
                <a:ext cx="11402568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A.汽车从刚刹车至刚停止经历的时间为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.汽车运动的位移大小为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.汽车停止的位置离险情处还有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.汽车在最后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3_2#d0e996f4b.choices?vcp=1&amp;pid=148b8e00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1884"/>
                <a:ext cx="11402568" cy="2158302"/>
              </a:xfrm>
              <a:prstGeom prst="rect">
                <a:avLst/>
              </a:prstGeom>
              <a:blipFill>
                <a:blip r:embed="rId4"/>
                <a:stretch>
                  <a:fillRect l="-1658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5_1#d0e996f4b?vcp=1&amp;pid=148b8e00f&amp;color=0,0,0&amp;vtp=1&amp;bt=1&amp;bbb=1&amp;hb=1"/>
              <p:cNvSpPr/>
              <p:nvPr/>
            </p:nvSpPr>
            <p:spPr>
              <a:xfrm>
                <a:off x="393192" y="2098104"/>
                <a:ext cx="11402568" cy="2678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5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由题意得，汽车从刚刹车至刚停止经历的时间为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𝟕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；汽车运</a:t>
                </a:r>
              </a:p>
              <a:p>
                <a:pPr latinLnBrk="1">
                  <a:lnSpc>
                    <a:spcPts val="5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，汽车停止的位置离险情处还有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，B正确，C错误；将汽车的运动视为逆向的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、由静止开</a:t>
                </a:r>
              </a:p>
              <a:p>
                <a:pPr latinLnBrk="1">
                  <a:lnSpc>
                    <a:spcPts val="6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始的匀加速直线运动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，可得汽车在最后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5_1#d0e996f4b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98104"/>
                <a:ext cx="11402568" cy="2678049"/>
              </a:xfrm>
              <a:prstGeom prst="rect">
                <a:avLst/>
              </a:prstGeom>
              <a:blipFill>
                <a:blip r:embed="rId3"/>
                <a:stretch>
                  <a:fillRect l="-1658" r="-2567" b="-41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cc65a560d?vcp=1&amp;pid=148b8e00f&amp;color=0,0,0&amp;vtp=1&amp;bt=1&amp;bbb=1&amp;hb=1"/>
              <p:cNvSpPr/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（2026·山东师大附中检测）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一质点做匀变速直线运动，初速度大小为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,经过一段时间速度大小变为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,这段时间内的路程与位移大小之比为</a:t>
                </a:r>
              </a:p>
              <a:p>
                <a:pPr latinLnBrk="1">
                  <a:lnSpc>
                    <a:spcPts val="41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5:3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则下列叙述正确的是(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cc65a560d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1557274"/>
              </a:xfrm>
              <a:prstGeom prst="rect">
                <a:avLst/>
              </a:prstGeom>
              <a:blipFill>
                <a:blip r:embed="rId3"/>
                <a:stretch>
                  <a:fillRect l="-1658" t="-392" r="-2139" b="-1176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cc65a560d.bracket?vcp=1&amp;pid=148b8e00f&amp;color=0,0,0&amp;vpa=7&amp;vtp=1"/>
          <p:cNvSpPr/>
          <p:nvPr/>
        </p:nvSpPr>
        <p:spPr>
          <a:xfrm>
            <a:off x="3913474" y="1583436"/>
            <a:ext cx="441325" cy="46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1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16_2#cc65a560d.choices?vcp=1&amp;pid=148b8e00f&amp;color=0,0,0&amp;vtp=1&amp;bbb=1"/>
              <p:cNvSpPr/>
              <p:nvPr/>
            </p:nvSpPr>
            <p:spPr>
              <a:xfrm>
                <a:off x="393192" y="2059495"/>
                <a:ext cx="11402568" cy="1447546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7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.在该段时间内质点运动方向不变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.这段时间为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61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.这段时间内该质点运动的路程为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.再经过相同的时间质点速度大小为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16_2#cc65a560d.choices?vcp=1&amp;pid=148b8e00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59495"/>
                <a:ext cx="11402568" cy="1447546"/>
              </a:xfrm>
              <a:prstGeom prst="rect">
                <a:avLst/>
              </a:prstGeom>
              <a:blipFill>
                <a:blip r:embed="rId4"/>
                <a:stretch>
                  <a:fillRect l="-1658" b="-717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AS.18_1#cc65a560d?vcp=1&amp;pid=148b8e00f&amp;color=0,0,0&amp;vtp=1&amp;bbb=1&amp;hb=1"/>
              <p:cNvSpPr/>
              <p:nvPr/>
            </p:nvSpPr>
            <p:spPr>
              <a:xfrm>
                <a:off x="393192" y="3514534"/>
                <a:ext cx="11402568" cy="27296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由于质点通过的路程与位移大小不相等，故质点先做匀减速运动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，速度减小到</a:t>
                </a:r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后，再反向做匀加速运动，A错误；速度变化量大小为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所用时间为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𝚫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，B错误；质点减速的过程中运动的位移大小为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，反向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加速的过程中运动的位移大小为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，因此总路程为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正确；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再经过相同的时间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，速度增加了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，大小变为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AS.18_1#cc65a560d?vcp=1&amp;pid=148b8e00f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14534"/>
                <a:ext cx="11402568" cy="2729675"/>
              </a:xfrm>
              <a:prstGeom prst="rect">
                <a:avLst/>
              </a:prstGeom>
              <a:blipFill>
                <a:blip r:embed="rId5"/>
                <a:stretch>
                  <a:fillRect l="-1658" r="-2139" b="-671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b1695bdda?vcp=1&amp;pid=148b8e00f&amp;color=0,0,0&amp;vtp=1&amp;bt=1&amp;bbb=1&amp;hb=1"/>
              <p:cNvSpPr/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考点2、3、4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（2026·湖北鄂南高中检测）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甲、乙两质点在同一直线上运动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时刻起同时出发，甲做匀加速直线运动，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图像如图甲所示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.乙做匀减速直线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，整个运动过程的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图像如图乙所示，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b1695bdda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8289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b1695bdda.bracket?vcp=1&amp;pid=148b8e00f&amp;color=0,0,0&amp;vpa=8&amp;vtp=1"/>
          <p:cNvSpPr/>
          <p:nvPr/>
        </p:nvSpPr>
        <p:spPr>
          <a:xfrm>
            <a:off x="9713246" y="2654459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9_2#b1695bdda?htil=3&amp;vcp=1&amp;pid=148b8e00f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29313" y="3187604"/>
            <a:ext cx="4315968" cy="180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9_3#b1695bdda.choices?htil=3&amp;vcp=1&amp;pid=148b8e00f&amp;color=0,0,0&amp;vtp=1&amp;bbb=1"/>
              <p:cNvSpPr/>
              <p:nvPr/>
            </p:nvSpPr>
            <p:spPr>
              <a:xfrm>
                <a:off x="393192" y="3141884"/>
                <a:ext cx="6949440" cy="21583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.乙的加速度大小为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时，乙的位移为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时刻，甲、乙的初速度均为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9_3#b1695bdda.choices?htil=3&amp;vcp=1&amp;pid=148b8e00f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141884"/>
                <a:ext cx="6949440" cy="2158302"/>
              </a:xfrm>
              <a:prstGeom prst="rect">
                <a:avLst/>
              </a:prstGeom>
              <a:blipFill>
                <a:blip r:embed="rId5"/>
                <a:stretch>
                  <a:fillRect l="-2719" b="-8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1_1#b1695bdda?vcp=1&amp;pid=148b8e00f&amp;color=0,0,0&amp;vtp=1&amp;bt=1&amp;bbb=1&amp;hb=1"/>
              <p:cNvSpPr/>
              <p:nvPr/>
            </p:nvSpPr>
            <p:spPr>
              <a:xfrm>
                <a:off x="393192" y="910844"/>
                <a:ext cx="11402568" cy="48601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由题图甲可知，甲在前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，根据匀变速直线运动的位移与时间的关系式可知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，代入数据解得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，A、D错误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；乙做匀减速直线</a:t>
                </a:r>
              </a:p>
              <a:p>
                <a:pPr latinLnBrk="1">
                  <a:lnSpc>
                    <a:spcPts val="4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，根据匀变速直线运动的位移与速度的关系可知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b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，化简得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，由题图乙可知图像斜率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𝒌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𝐦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⋅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，纵轴截距</a:t>
                </a:r>
              </a:p>
              <a:p>
                <a:pPr latinLnBrk="1">
                  <a:lnSpc>
                    <a:spcPts val="59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baseline="-100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乙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，解得乙的加速度大小为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，乙的初速度为</a:t>
                </a:r>
              </a:p>
              <a:p>
                <a:pPr latinLnBrk="1">
                  <a:lnSpc>
                    <a:spcPts val="4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乙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可知，乙的速度减为0所用的时间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，此时乙的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，C正确，B错误.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1_1#b1695bdda?vcp=1&amp;pid=148b8e00f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10844"/>
                <a:ext cx="11402568" cy="4860100"/>
              </a:xfrm>
              <a:prstGeom prst="rect">
                <a:avLst/>
              </a:prstGeom>
              <a:blipFill>
                <a:blip r:embed="rId3"/>
                <a:stretch>
                  <a:fillRect l="-1658" r="-1444" b="-363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4781ca38?vcp=1&amp;pid=27494feb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易错考点针对练</a:t>
            </a:r>
            <a:endParaRPr lang="en-US" altLang="zh-CN" sz="2600" dirty="0"/>
          </a:p>
        </p:txBody>
      </p:sp>
      <p:sp>
        <p:nvSpPr>
          <p:cNvPr id="3" name="P_4_BD#f07076245?vcp=1&amp;pid=24781ca38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BD.22_1#4077de3bc?vcp=1&amp;pid=24781ca38&amp;color=0,0,0&amp;vtp=1&amp;bbb=1&amp;hb=1"/>
              <p:cNvSpPr/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考点2、3、4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随着人工智能技术的发展，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无人驾驶汽车已经成为智能科技的焦点.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某品牌无人驾驶汽车进行刹车性能测试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，得到汽车在平直路面上紧急刹车（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车轮抱死）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过程中的位移随时间变化的规律为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=24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−3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BD.22_1#4077de3bc?vcp=1&amp;pid=24781ca38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49285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3209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QC_4_AN.23_1#4077de3bc.bracket?vcp=1&amp;pid=24781ca38&amp;color=0,0,0&amp;vpa=9&amp;vtp=1"/>
          <p:cNvSpPr/>
          <p:nvPr/>
        </p:nvSpPr>
        <p:spPr>
          <a:xfrm>
            <a:off x="10343357" y="27554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4_BD.22_2#4077de3bc.choices?vcp=1&amp;pid=24781ca38&amp;color=0,0,0&amp;vtp=1&amp;bbb=1"/>
              <p:cNvSpPr/>
              <p:nvPr/>
            </p:nvSpPr>
            <p:spPr>
              <a:xfrm>
                <a:off x="393192" y="3241675"/>
                <a:ext cx="11402568" cy="102743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A.该汽车刹车的初速度为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.该汽车刹车的加速度为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s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.刹车后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.刹车后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4_BD.22_2#4077de3bc.choices?vcp=1&amp;pid=24781ca38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41675"/>
                <a:ext cx="11402568" cy="1027430"/>
              </a:xfrm>
              <a:prstGeom prst="rect">
                <a:avLst/>
              </a:prstGeom>
              <a:blipFill>
                <a:blip r:embed="rId4"/>
                <a:stretch>
                  <a:fillRect l="-1658" b="-1845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24_1#4077de3bc?vcp=1&amp;pid=24781ca38&amp;color=0,0,0&amp;vtp=1&amp;bt=1&amp;bbb=1&amp;hb=1"/>
              <p:cNvSpPr/>
              <p:nvPr/>
            </p:nvSpPr>
            <p:spPr>
              <a:xfrm>
                <a:off x="393192" y="1663097"/>
                <a:ext cx="11402568" cy="3323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已知汽车刹车过程中的位移随时间变化的规律为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 smtClean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，结合匀变</a:t>
                </a:r>
              </a:p>
              <a:p>
                <a:pPr latinLnBrk="1">
                  <a:lnSpc>
                    <a:spcPts val="4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速直线运动中的位移与时间的关系式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，可得汽车刹车时的初速度和加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速度分别为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，A正确，B错误；刹车后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；汽车从刹车到停下所用时间为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𝟐𝟒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，则刹车后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𝒔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𝟐𝟒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24_1#4077de3bc?vcp=1&amp;pid=24781ca3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63097"/>
                <a:ext cx="11402568" cy="3323400"/>
              </a:xfrm>
              <a:prstGeom prst="rect">
                <a:avLst/>
              </a:prstGeom>
              <a:blipFill>
                <a:blip r:embed="rId3"/>
                <a:stretch>
                  <a:fillRect l="-1658" r="-3316" b="-532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25_1#aa92c0cc3?vcp=1&amp;pid=24781ca38&amp;color=0,0,0&amp;vtp=1&amp;bt=1&amp;bbb=1&amp;hb=1"/>
              <p:cNvSpPr/>
              <p:nvPr/>
            </p:nvSpPr>
            <p:spPr>
              <a:xfrm>
                <a:off x="393192" y="913511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考点4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目前我国大力提倡发展新能源汽车，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不仅在购车方面有国家和地方双补贴、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免缴购置税等利好政策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而且在出行上部分城市也实施了新能源汽车免受限号的政策，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新能源汽车受到大家的青睐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.为检测某新能源汽车的刹车性能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，一次在平直公路上实验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，某一辆新能源汽车以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的速度匀速行驶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，某一时刻踩下制动器后开始做匀减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速直线运动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内前进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,求：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25_1#aa92c0cc3?vcp=1&amp;pid=24781ca38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13511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3209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O_5_BD.26_1#66b9d51b3?vcp=1&amp;pid=aa92c0cc3&amp;color=0,0,0&amp;vtp=1&amp;bbb=1"/>
          <p:cNvSpPr/>
          <p:nvPr/>
        </p:nvSpPr>
        <p:spPr>
          <a:xfrm>
            <a:off x="393192" y="3599307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（1）汽车开始制动后做匀减速直线运动的加速度大小.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AN.27_1#66b9d51b3?vcp=1&amp;pid=aa92c0cc3&amp;color=0,0,0&amp;vtp=1&amp;bbb=1&amp;hb=1"/>
              <p:cNvSpPr/>
              <p:nvPr/>
            </p:nvSpPr>
            <p:spPr>
              <a:xfrm>
                <a:off x="393192" y="4092702"/>
                <a:ext cx="11402568" cy="1630363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设汽车做匀减速运动时加速度大小为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，已知汽车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内前进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，其初速度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，根据位移与时间的关系式有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代入数据解得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</m:t>
                        </m:r>
                      </m:e>
                      <m:sup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AN.27_1#66b9d51b3?vcp=1&amp;pid=aa92c0c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92702"/>
                <a:ext cx="11402568" cy="1630363"/>
              </a:xfrm>
              <a:prstGeom prst="rect">
                <a:avLst/>
              </a:prstGeom>
              <a:blipFill>
                <a:blip r:embed="rId4"/>
                <a:stretch>
                  <a:fillRect l="-1658" b="-111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8_1#e973e9a21?vcp=1&amp;pid=aa92c0cc3&amp;color=0,0,0&amp;vtp=1&amp;bt=1&amp;bbb=1"/>
              <p:cNvSpPr/>
              <p:nvPr/>
            </p:nvSpPr>
            <p:spPr>
              <a:xfrm>
                <a:off x="393192" y="115785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（2）汽车开始制动后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末的速度大小.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8_1#e973e9a21?vcp=1&amp;pid=aa92c0cc3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57859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9_1#e973e9a21?vcp=1&amp;pid=aa92c0cc3&amp;color=0,0,0&amp;vtp=1&amp;bbb=1"/>
              <p:cNvSpPr/>
              <p:nvPr/>
            </p:nvSpPr>
            <p:spPr>
              <a:xfrm>
                <a:off x="393192" y="1657350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汽车开始制动后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末的速度为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𝒗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/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9_1#e973e9a21?vcp=1&amp;pid=aa92c0c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57350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30_1#1a571fbb1?vcp=1&amp;pid=aa92c0cc3&amp;color=0,0,0&amp;vtp=1&amp;bbb=1"/>
              <p:cNvSpPr/>
              <p:nvPr/>
            </p:nvSpPr>
            <p:spPr>
              <a:xfrm>
                <a:off x="393192" y="2753423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（3）汽车开始制动后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内行驶的距离.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30_1#1a571fbb1?vcp=1&amp;pid=aa92c0c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53423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31_1#1a571fbb1?vcp=1&amp;pid=aa92c0cc3&amp;color=0,0,0&amp;vtp=1&amp;bbb=1"/>
              <p:cNvSpPr/>
              <p:nvPr/>
            </p:nvSpPr>
            <p:spPr>
              <a:xfrm>
                <a:off x="393192" y="3241675"/>
                <a:ext cx="11402568" cy="2260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汽车从开始刹车到停下来所需时间为</a:t>
                </a:r>
                <a:endParaRPr lang="en-US" altLang="zh-CN" sz="2400" dirty="0"/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𝒂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𝟐𝟎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𝟒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说明汽车刹车后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时已经停止运动了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内汽车行驶的距离为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baseline="-100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刹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31_1#1a571fbb1?vcp=1&amp;pid=aa92c0cc3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241675"/>
                <a:ext cx="11402568" cy="2260600"/>
              </a:xfrm>
              <a:prstGeom prst="rect">
                <a:avLst/>
              </a:prstGeom>
              <a:blipFill>
                <a:blip r:embed="rId6"/>
                <a:stretch>
                  <a:fillRect l="-1658" b="-45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0fe30fb0?vcp=1&amp;pid=27494feb1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b90772890?vcp=1&amp;pid=70fe30fb0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4_BD.32_1#ef2d48809?vcp=1&amp;pid=70fe30fb0&amp;color=0,0,0&amp;vtp=1&amp;bbb=1&amp;hb=1"/>
              <p:cNvSpPr/>
              <p:nvPr/>
            </p:nvSpPr>
            <p:spPr>
              <a:xfrm>
                <a:off x="393192" y="159067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1.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（北京大学自主招生）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如图所示，小球在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处由静止出发开始运动.在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0≤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区域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，小球具有沿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轴正方向的恒定加速度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≤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区域，小球具有沿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正方向的恒定加速度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4_BD.32_1#ef2d48809?vcp=1&amp;pid=70fe30fb0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9067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07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QO_4_BD.32_2#ef2d48809?vcp=1&amp;pid=70fe30fb0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07408" y="3305175"/>
            <a:ext cx="338328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BD.33_1#389e88010?vcp=1&amp;pid=ef2d48809&amp;color=0,0,0&amp;vtp=1&amp;bbb=1"/>
              <p:cNvSpPr/>
              <p:nvPr/>
            </p:nvSpPr>
            <p:spPr>
              <a:xfrm>
                <a:off x="393192" y="4130675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（1）试求小球到达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BD.33_1#389e88010?vcp=1&amp;pid=ef2d4880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30675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QO_5_AN.34_1#389e88010?vcp=1&amp;pid=ef2d48809&amp;color=0,0,0&amp;vtp=1&amp;bbb=1"/>
              <p:cNvSpPr/>
              <p:nvPr/>
            </p:nvSpPr>
            <p:spPr>
              <a:xfrm>
                <a:off x="393192" y="4624070"/>
                <a:ext cx="11402568" cy="138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小球到达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点时的速度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分别为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𝒗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b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⋅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𝟔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QO_5_AN.34_1#389e88010?vcp=1&amp;pid=ef2d4880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24070"/>
                <a:ext cx="11402568" cy="1384300"/>
              </a:xfrm>
              <a:prstGeom prst="rect">
                <a:avLst/>
              </a:prstGeom>
              <a:blipFill>
                <a:blip r:embed="rId6"/>
                <a:stretch>
                  <a:fillRect l="-1658" b="-176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35_1#ed5140b92?vcp=1&amp;pid=ef2d48809&amp;color=0,0,0&amp;vtp=1&amp;bt=1&amp;bbb=1"/>
              <p:cNvSpPr/>
              <p:nvPr/>
            </p:nvSpPr>
            <p:spPr>
              <a:xfrm>
                <a:off x="393192" y="2488279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（2）计算小球从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处到达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=2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处所经时间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35_1#ed5140b92?vcp=1&amp;pid=ef2d48809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88279"/>
                <a:ext cx="11402568" cy="488125"/>
              </a:xfrm>
              <a:prstGeom prst="rect">
                <a:avLst/>
              </a:prstGeom>
              <a:blipFill>
                <a:blip r:embed="rId3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36_1#ed5140b92?vcp=1&amp;pid=ef2d48809&amp;color=0,0,0&amp;vtp=1&amp;bbb=1"/>
              <p:cNvSpPr/>
              <p:nvPr/>
            </p:nvSpPr>
            <p:spPr>
              <a:xfrm>
                <a:off x="393192" y="2987770"/>
                <a:ext cx="11402568" cy="13843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小球从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点所经时间为</a:t>
                </a:r>
                <a:endParaRPr lang="en-US" altLang="zh-CN" sz="2400" dirty="0"/>
              </a:p>
              <a:p>
                <a:pPr latinLnBrk="1">
                  <a:lnSpc>
                    <a:spcPts val="65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𝟎</m:t>
                            </m:r>
                          </m:sub>
                        </m:sSub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e>
                        </m:rad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𝟔</m:t>
                            </m:r>
                          </m:e>
                        </m:rad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400" b="1" i="1" dirty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微软雅黑" pitchFamily="34" charset="-122"/>
                                    <a:cs typeface="Times New Roman" pitchFamily="34" charset="-12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altLang="zh-CN" sz="2400" b="1" i="1">
                                    <a:solidFill>
                                      <a:srgbClr val="FF0000"/>
                                    </a:solidFill>
                                    <a:latin typeface="Cambria Math" pitchFamily="34" charset="0"/>
                                    <a:ea typeface="Cambria Math" pitchFamily="34" charset="-122"/>
                                    <a:cs typeface="Cambria Math" pitchFamily="34" charset="-120"/>
                                  </a:rPr>
                                  <m:t>𝟎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36_1#ed5140b92?vcp=1&amp;pid=ef2d4880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987770"/>
                <a:ext cx="11402568" cy="1384300"/>
              </a:xfrm>
              <a:prstGeom prst="rect">
                <a:avLst/>
              </a:prstGeom>
              <a:blipFill>
                <a:blip r:embed="rId4"/>
                <a:stretch>
                  <a:fillRect l="-1658" b="-88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1389</Words>
  <Application>Microsoft Office PowerPoint</Application>
  <PresentationFormat>宽屏</PresentationFormat>
  <Paragraphs>149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2026-05-25T07:54:47Z</dcterms:created>
  <dcterms:modified xsi:type="dcterms:W3CDTF">2026-05-25T08:04:46Z</dcterms:modified>
  <cp:category/>
  <cp:contentStatus/>
</cp:coreProperties>
</file>