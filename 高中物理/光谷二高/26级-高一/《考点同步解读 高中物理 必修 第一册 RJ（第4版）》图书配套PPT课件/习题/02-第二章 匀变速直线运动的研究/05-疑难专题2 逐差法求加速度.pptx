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043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7" Type="http://schemas.openxmlformats.org/officeDocument/2006/relationships/slide" Target="../slides/slide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7.xml"/><Relationship Id="rId5" Type="http://schemas.openxmlformats.org/officeDocument/2006/relationships/slide" Target="../slides/slide6.xml"/><Relationship Id="rId4" Type="http://schemas.openxmlformats.org/officeDocument/2006/relationships/slide" Target="../slides/slide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4.xml"/><Relationship Id="rId4" Type="http://schemas.openxmlformats.org/officeDocument/2006/relationships/slide" Target="../slides/slide1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7" Type="http://schemas.openxmlformats.org/officeDocument/2006/relationships/slide" Target="../slides/slide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7.xml"/><Relationship Id="rId5" Type="http://schemas.openxmlformats.org/officeDocument/2006/relationships/slide" Target="../slides/slide6.xml"/><Relationship Id="rId4" Type="http://schemas.openxmlformats.org/officeDocument/2006/relationships/slide" Target="../slides/slide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4.xml"/><Relationship Id="rId4" Type="http://schemas.openxmlformats.org/officeDocument/2006/relationships/slide" Target="../slides/slide1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2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8dd8bb58a,baa6891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91e96c9b2&amp;amp;cid=91e96c9b2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b78080a08&amp;amp;cid=b78080a08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2a4428f81&amp;amp;cid=2a4428f81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167ae36c9&amp;amp;cid=167ae36c9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8faa3908a&amp;amp;cid=8faa3908a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6d3e80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6?lid=bc42144b2&amp;amp;cid=bc42144b2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6?lid=fd585e340&amp;amp;cid=fd585e340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6?lid=48c2e4000&amp;amp;cid=48c2e4000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deac2cdb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0?lid=9113eb596&amp;amp;cid=9113eb596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8dd8bb58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疑难专题2 逐差法求加速度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8dd8bb58a,baa6891ea#df=8dd8bb58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疑难专题2 逐差法求加速度</a:t>
            </a:r>
            <a:endParaRPr lang="en-US" sz="1800" dirty="0"/>
          </a:p>
        </p:txBody>
      </p:sp>
      <p:sp>
        <p:nvSpPr>
          <p:cNvPr id="5" name="C_0#auto_editor_catalog_0?lid=91e96c9b2&amp;amp;cid=91e96c9b2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b78080a08&amp;amp;cid=b78080a08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2a4428f81&amp;amp;cid=2a4428f81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167ae36c9&amp;amp;cid=167ae36c9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8faa3908a&amp;amp;cid=8faa3908a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6d3e8044#df=8dd8bb58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疑难专题2 逐差法求加速度</a:t>
            </a:r>
            <a:endParaRPr lang="en-US" sz="1800" dirty="0"/>
          </a:p>
        </p:txBody>
      </p:sp>
      <p:sp>
        <p:nvSpPr>
          <p:cNvPr id="5" name="C_0#auto_editor_catalog_6?lid=bc42144b2&amp;amp;cid=bc42144b2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6?lid=fd585e340&amp;amp;cid=fd585e340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6?lid=48c2e4000&amp;amp;cid=48c2e4000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deac2cdb3#df=8dd8bb58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疑难专题2 逐差法求加速度</a:t>
            </a:r>
            <a:endParaRPr lang="en-US" sz="1800" dirty="0"/>
          </a:p>
        </p:txBody>
      </p:sp>
      <p:sp>
        <p:nvSpPr>
          <p:cNvPr id="5" name="C_0#auto_editor_catalog_10?lid=9113eb596&amp;amp;cid=9113eb596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8dd8bb58a.fixed?vcp=1&amp;pid=abe945c4c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8dd8bb58a.fixed?vcp=1&amp;pid=abe945c4c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疑难专题2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逐差法求加速度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baa6891ea?vcp=1&amp;pid=8dd8bb58a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f2bcfe796?vcp=1&amp;pid=baa6891ea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限时15分钟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91e96c9b2?vcp=1&amp;pid=baa6891ea&amp;color=0,0,0&amp;vtp=1&amp;bbb=1&amp;hb=1"/>
              <p:cNvSpPr/>
              <p:nvPr/>
            </p:nvSpPr>
            <p:spPr>
              <a:xfrm>
                <a:off x="393192" y="164928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为了测定某轿车在平直路面上启动时的加速度（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可看成匀加速直线运动），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某人拍摄了一张在同一底片上多次曝光的照片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，如图所示.如果拍摄时每隔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曝光一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，轿车车长为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则其加速度约为(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91e96c9b2?vcp=1&amp;pid=baa6891e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23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C_4_BD.1_2#91e96c9b2?vcp=1&amp;pid=baa6891e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58184" y="3368675"/>
            <a:ext cx="4672584" cy="804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6" name="QC_4_AN.2_1#91e96c9b2.bracket?vcp=1&amp;pid=baa6891ea&amp;color=0,0,0&amp;vpa=1&amp;vtp=1"/>
          <p:cNvSpPr/>
          <p:nvPr/>
        </p:nvSpPr>
        <p:spPr>
          <a:xfrm>
            <a:off x="5929599" y="275545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3#91e96c9b2.choices?vcp=1&amp;pid=baa6891ea&amp;color=0,0,0&amp;vtp=1&amp;bbb=1"/>
              <p:cNvSpPr/>
              <p:nvPr/>
            </p:nvSpPr>
            <p:spPr>
              <a:xfrm>
                <a:off x="393192" y="4308475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16677" algn="l"/>
                    <a:tab pos="5807954" algn="l"/>
                    <a:tab pos="86992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3#91e96c9b2.choices?vcp=1&amp;pid=baa6891e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08475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_1#91e96c9b2?vcp=1&amp;pid=baa6891ea&amp;color=0,0,0&amp;vtp=1&amp;bt=1&amp;bbb=1&amp;hb=1"/>
              <p:cNvSpPr/>
              <p:nvPr/>
            </p:nvSpPr>
            <p:spPr>
              <a:xfrm>
                <a:off x="393192" y="2224723"/>
                <a:ext cx="11402568" cy="2273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由于车身长为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,从题图中可以看出车身长约为3个格的长度,因此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,题图中每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一格约代表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.以车后沿为基准点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,可以从题图中读出车的两段位移大小分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,所以轿车的加速度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_1#91e96c9b2?vcp=1&amp;pid=baa6891e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24723"/>
                <a:ext cx="11402568" cy="2273300"/>
              </a:xfrm>
              <a:prstGeom prst="rect">
                <a:avLst/>
              </a:prstGeom>
              <a:blipFill>
                <a:blip r:embed="rId3"/>
                <a:stretch>
                  <a:fillRect l="-1658" r="-963" b="-455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b78080a08?vcp=1&amp;pid=baa6891ea&amp;color=0,0,0&amp;vtp=1&amp;bt=1&amp;bbb=1&amp;hb=1"/>
              <p:cNvSpPr/>
              <p:nvPr/>
            </p:nvSpPr>
            <p:spPr>
              <a:xfrm>
                <a:off x="393192" y="1949736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（2026·湖北黄石二中检测）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一质点做匀加速直线运动时，速度变化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发生位移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,紧接着速度变化相同的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时发生位移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则该质点的加速度为(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b78080a08?vcp=1&amp;pid=baa6891e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49736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b78080a08.bracket?vcp=1&amp;pid=baa6891ea&amp;color=0,0,0&amp;vpa=2&amp;vtp=1"/>
          <p:cNvSpPr/>
          <p:nvPr/>
        </p:nvSpPr>
        <p:spPr>
          <a:xfrm>
            <a:off x="10260870" y="2497106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4_2#b78080a08.choices?vcp=1&amp;pid=baa6891ea&amp;color=0,0,0&amp;vtp=1&amp;bbb=1"/>
              <p:cNvSpPr/>
              <p:nvPr/>
            </p:nvSpPr>
            <p:spPr>
              <a:xfrm>
                <a:off x="393192" y="2983261"/>
                <a:ext cx="11402568" cy="685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400"/>
                  </a:lnSpc>
                  <a:tabLst>
                    <a:tab pos="3507227" algn="l"/>
                    <a:tab pos="5833354" algn="l"/>
                    <a:tab pos="81086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2(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4_2#b78080a08.choices?vcp=1&amp;pid=baa6891e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83261"/>
                <a:ext cx="11402568" cy="685800"/>
              </a:xfrm>
              <a:prstGeom prst="rect">
                <a:avLst/>
              </a:prstGeom>
              <a:blipFill>
                <a:blip r:embed="rId4"/>
                <a:stretch>
                  <a:fillRect l="-1658" b="-88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6_1#b78080a08?vcp=1&amp;pid=baa6891ea&amp;color=0,0,0&amp;vtp=1&amp;bbb=1&amp;hb=1"/>
              <p:cNvSpPr/>
              <p:nvPr/>
            </p:nvSpPr>
            <p:spPr>
              <a:xfrm>
                <a:off x="393192" y="3669061"/>
                <a:ext cx="11402568" cy="1257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因为质点做匀加速直线运动，加速度不变，所以速度变化量相同时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，时间间隔</a:t>
                </a:r>
              </a:p>
              <a:p>
                <a:pPr latinLnBrk="1">
                  <a:lnSpc>
                    <a:spcPts val="5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，设时间间隔为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6_1#b78080a08?vcp=1&amp;pid=baa6891e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69061"/>
                <a:ext cx="11402568" cy="1257300"/>
              </a:xfrm>
              <a:prstGeom prst="rect">
                <a:avLst/>
              </a:prstGeom>
              <a:blipFill>
                <a:blip r:embed="rId5"/>
                <a:stretch>
                  <a:fillRect l="-1658" r="-1016" b="-485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7_1#2a4428f81?vcp=1&amp;pid=baa6891ea&amp;color=0,0,0&amp;vtp=1&amp;bt=1&amp;bbb=1&amp;hb=1"/>
              <p:cNvSpPr/>
              <p:nvPr/>
            </p:nvSpPr>
            <p:spPr>
              <a:xfrm>
                <a:off x="393192" y="135861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已知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、A、B、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为同一直线上的四点，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间的距离为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间的距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.一物体自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点由静止出发，沿此直线做匀加速运动，依次经过A、B、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.已知物体通过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段所用的时间相等，则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的距离等于(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7_1#2a4428f81?vcp=1&amp;pid=baa6891e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5861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8_1#2a4428f81.bracket?vcp=1&amp;pid=baa6891ea&amp;color=0,0,0&amp;vpa=3&amp;vtp=1"/>
          <p:cNvSpPr/>
          <p:nvPr/>
        </p:nvSpPr>
        <p:spPr>
          <a:xfrm>
            <a:off x="9835103" y="2464784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7_2#2a4428f81.choices?vcp=1&amp;pid=baa6891ea&amp;color=0,0,0&amp;vtp=1&amp;bbb=1"/>
              <p:cNvSpPr/>
              <p:nvPr/>
            </p:nvSpPr>
            <p:spPr>
              <a:xfrm>
                <a:off x="393192" y="2952210"/>
                <a:ext cx="11402568" cy="71101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100"/>
                  </a:lnSpc>
                  <a:tabLst>
                    <a:tab pos="2916677" algn="l"/>
                    <a:tab pos="5807954" algn="l"/>
                    <a:tab pos="86992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8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8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7_2#2a4428f81.choices?vcp=1&amp;pid=baa6891e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52210"/>
                <a:ext cx="11402568" cy="711010"/>
              </a:xfrm>
              <a:prstGeom prst="rect">
                <a:avLst/>
              </a:prstGeom>
              <a:blipFill>
                <a:blip r:embed="rId4"/>
                <a:stretch>
                  <a:fillRect l="-1658" b="-145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9_1#2a4428f81?vcp=1&amp;pid=baa6891ea&amp;color=0,0,0&amp;vtp=1&amp;bbb=1&amp;hb=1"/>
              <p:cNvSpPr/>
              <p:nvPr/>
            </p:nvSpPr>
            <p:spPr>
              <a:xfrm>
                <a:off x="393192" y="3672427"/>
                <a:ext cx="11402568" cy="1841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设物体的加速度为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,到达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点时的速度为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,通过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段所用的时间为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.设</a:t>
                </a:r>
              </a:p>
              <a:p>
                <a:pPr latinLnBrk="1">
                  <a:lnSpc>
                    <a:spcPts val="5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的距离为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9_1#2a4428f81?vcp=1&amp;pid=baa6891e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72427"/>
                <a:ext cx="11402568" cy="1841500"/>
              </a:xfrm>
              <a:prstGeom prst="rect">
                <a:avLst/>
              </a:prstGeom>
              <a:blipFill>
                <a:blip r:embed="rId5"/>
                <a:stretch>
                  <a:fillRect l="-1658" b="-33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0_1#167ae36c9?vcp=1&amp;pid=baa6891ea&amp;color=0,0,0&amp;vtp=1&amp;bt=1&amp;bbb=1&amp;hb=1"/>
              <p:cNvSpPr/>
              <p:nvPr/>
            </p:nvSpPr>
            <p:spPr>
              <a:xfrm>
                <a:off x="393192" y="504000"/>
                <a:ext cx="11402568" cy="9889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（多选题）物体做匀变速直线运动，依次通过A、B、C、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四个点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，通过相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邻两点的时间间隔均为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,已知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𝐶𝐷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0_1#167ae36c9?vcp=1&amp;pid=baa6891e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988949"/>
              </a:xfrm>
              <a:prstGeom prst="rect">
                <a:avLst/>
              </a:prstGeom>
              <a:blipFill>
                <a:blip r:embed="rId3"/>
                <a:stretch>
                  <a:fillRect l="-1658" r="-642" b="-1851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1_1#167ae36c9.bracket?vcp=1&amp;pid=baa6891ea&amp;color=0,0,0&amp;vpa=4&amp;vtp=1&amp;bbb=1"/>
          <p:cNvSpPr/>
          <p:nvPr/>
        </p:nvSpPr>
        <p:spPr>
          <a:xfrm>
            <a:off x="10292176" y="1023366"/>
            <a:ext cx="644525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0_2#167ae36c9.choices?vcp=1&amp;pid=baa6891ea&amp;color=0,0,0&amp;vtp=1&amp;bbb=1"/>
              <p:cNvSpPr/>
              <p:nvPr/>
            </p:nvSpPr>
            <p:spPr>
              <a:xfrm>
                <a:off x="393192" y="1493393"/>
                <a:ext cx="11402568" cy="98298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段的平均速度大小为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.物体通过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.物体通过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0_2#167ae36c9.choices?vcp=1&amp;pid=baa6891e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93393"/>
                <a:ext cx="11402568" cy="982980"/>
              </a:xfrm>
              <a:prstGeom prst="rect">
                <a:avLst/>
              </a:prstGeom>
              <a:blipFill>
                <a:blip r:embed="rId4"/>
                <a:stretch>
                  <a:fillRect l="-1658" b="-1925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12_1#167ae36c9?vcp=1&amp;pid=baa6891ea&amp;color=0,0,0&amp;vtp=1&amp;bbb=1&amp;hb=1"/>
              <p:cNvSpPr/>
              <p:nvPr/>
            </p:nvSpPr>
            <p:spPr>
              <a:xfrm>
                <a:off x="393192" y="2476690"/>
                <a:ext cx="11402568" cy="38305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0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由位移差公式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𝟐𝟖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故A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；匀变速直线运动连续相等时间间隔内的位移之差等于定值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，所以物体在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段的平均速度大小为</a:t>
                </a:r>
              </a:p>
              <a:p>
                <a:pPr latinLnBrk="1">
                  <a:lnSpc>
                    <a:spcPts val="6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，故B正确；由公式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正确；根据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点的速度等于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𝑩𝑫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间的平均速度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59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𝟐𝟖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12_1#167ae36c9?vcp=1&amp;pid=baa6891e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76690"/>
                <a:ext cx="11402568" cy="3830574"/>
              </a:xfrm>
              <a:prstGeom prst="rect">
                <a:avLst/>
              </a:prstGeom>
              <a:blipFill>
                <a:blip r:embed="rId5"/>
                <a:stretch>
                  <a:fillRect l="-1658" r="-1176" b="-270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3_1#8faa3908a?vcp=1&amp;pid=baa6891ea&amp;color=0,0,0&amp;vtp=1&amp;bt=1&amp;bbb=1&amp;hb=1"/>
              <p:cNvSpPr/>
              <p:nvPr/>
            </p:nvSpPr>
            <p:spPr>
              <a:xfrm>
                <a:off x="393192" y="1179734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（2026·重庆八中诊断性测试）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超市售货员给手推车一初速度后松手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，使其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沿水平面做匀减速直线运动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.某同学用频闪照相连续拍得5张手推车照片，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从第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1张照片起，相邻两张照片对应手推车车头的间距依次为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2.08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1.44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0.80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已知频闪照相的时间间隔为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,则第4张和第5张照片对应手推车车头的间距为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3_1#8faa3908a?vcp=1&amp;pid=baa6891e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79734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1925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BD.13_2#8faa3908a?vcp=1&amp;pid=baa6891e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74136" y="3992530"/>
            <a:ext cx="5440680" cy="1069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4_AN.14_1#8faa3908a.bracket?vcp=1&amp;pid=baa6891ea&amp;color=0,0,0&amp;vpa=5&amp;vtp=1"/>
          <p:cNvSpPr/>
          <p:nvPr/>
        </p:nvSpPr>
        <p:spPr>
          <a:xfrm>
            <a:off x="625760" y="3403504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3_3#8faa3908a.choices?vcp=1&amp;pid=baa6891ea&amp;color=0,0,0&amp;vtp=1&amp;bbb=1"/>
              <p:cNvSpPr/>
              <p:nvPr/>
            </p:nvSpPr>
            <p:spPr>
              <a:xfrm>
                <a:off x="393192" y="5199030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70652" algn="l"/>
                    <a:tab pos="5839704" algn="l"/>
                    <a:tab pos="87087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0.18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0.16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3_3#8faa3908a.choices?vcp=1&amp;pid=baa6891e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199030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5_1#8faa3908a?vcp=1&amp;pid=baa6891ea&amp;color=0,0,0&amp;vtp=1&amp;bt=1&amp;bbb=1&amp;hb=1"/>
              <p:cNvSpPr/>
              <p:nvPr/>
            </p:nvSpPr>
            <p:spPr>
              <a:xfrm>
                <a:off x="393192" y="1609376"/>
                <a:ext cx="11402568" cy="34545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每相邻两张照片的时间间隔相同，由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，根据中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间时刻的瞬时速度等于平均速度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，可知照片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3对应的手推车速度大小为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，假设拍第5张照片时手推车未停止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，手推车速度不可能反向，因此说明拍第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5张照片时手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推车已经停止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，所以第4张和第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5张照片对应手推车车头的间距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5_1#8faa3908a?vcp=1&amp;pid=baa6891e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09376"/>
                <a:ext cx="11402568" cy="3454591"/>
              </a:xfrm>
              <a:prstGeom prst="rect">
                <a:avLst/>
              </a:prstGeom>
              <a:blipFill>
                <a:blip r:embed="rId3"/>
                <a:stretch>
                  <a:fillRect l="-1658" r="-802" b="-299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a6d3e8044?vcp=1&amp;pid=8dd8bb58a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015696482?vcp=1&amp;pid=a6d3e8044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p:pic>
        <p:nvPicPr>
          <p:cNvPr id="4" name="QC_4_BD.16_1#bc42144b2?htil=1&amp;vcp=1&amp;pid=a6d3e8044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53120" y="1704148"/>
            <a:ext cx="2523744" cy="128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6_2#bc42144b2?htil=1&amp;vcp=1&amp;pid=a6d3e8044&amp;color=0,0,0&amp;vtp=1&amp;bbb=1&amp;hb=1&amp;hs=1"/>
              <p:cNvSpPr/>
              <p:nvPr/>
            </p:nvSpPr>
            <p:spPr>
              <a:xfrm>
                <a:off x="393192" y="1649285"/>
                <a:ext cx="8750808" cy="15963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（2026·河北石家庄二中检测）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从斜面上某一位置，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每隔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由静止释放一个小球，小球做匀加速直线运动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，在连续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释放几个小球后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，对在斜面上滑动的小球拍下照片，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6_2#bc42144b2?htil=1&amp;vcp=1&amp;pid=a6d3e8044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8750808" cy="1596390"/>
              </a:xfrm>
              <a:prstGeom prst="rect">
                <a:avLst/>
              </a:prstGeom>
              <a:blipFill>
                <a:blip r:embed="rId4"/>
                <a:stretch>
                  <a:fillRect l="-2160" r="-230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N.17_1#bc42144b2.bracket?vcp=1&amp;pid=a6d3e8044&amp;color=0,0,0&amp;vpa=6&amp;vtp=1"/>
          <p:cNvSpPr/>
          <p:nvPr/>
        </p:nvSpPr>
        <p:spPr>
          <a:xfrm>
            <a:off x="628564" y="37890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6_3#bc42144b2.choices?htil=1&amp;vcp=1&amp;pid=a6d3e8044&amp;color=0,0,0&amp;vtp=1&amp;bbb=1"/>
              <p:cNvSpPr/>
              <p:nvPr/>
            </p:nvSpPr>
            <p:spPr>
              <a:xfrm>
                <a:off x="393192" y="428180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A.小球的加速度为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.拍摄时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球的速度为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.拍摄时C、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两球间距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𝐶𝐷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球上面滚动的小球的个数为2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6_3#bc42144b2.choices?htil=1&amp;vcp=1&amp;pid=a6d3e804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81805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4_BD.16_2#bc42144b2?htil=1&amp;vcp=1&amp;pid=a6d3e8044&amp;color=0,0,0&amp;vtp=1&amp;bbb=1&amp;hb=1&amp;hs=1">
                <a:extLst>
                  <a:ext uri="{FF2B5EF4-FFF2-40B4-BE49-F238E27FC236}">
                    <a16:creationId xmlns:a16="http://schemas.microsoft.com/office/drawing/2014/main" id="{3549C093-90D6-4D15-8509-FD071B5C4B5E}"/>
                  </a:ext>
                </a:extLst>
              </p:cNvPr>
              <p:cNvSpPr/>
              <p:nvPr/>
            </p:nvSpPr>
            <p:spPr>
              <a:xfrm>
                <a:off x="395996" y="3241675"/>
                <a:ext cx="1140000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测得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两球间距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两球间距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,则下列说法正确的是 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4_BD.16_2#bc42144b2?htil=1&amp;vcp=1&amp;pid=a6d3e8044&amp;color=0,0,0&amp;vtp=1&amp;bbb=1&amp;hb=1&amp;hs=1">
                <a:extLst>
                  <a:ext uri="{FF2B5EF4-FFF2-40B4-BE49-F238E27FC236}">
                    <a16:creationId xmlns:a16="http://schemas.microsoft.com/office/drawing/2014/main" id="{3549C093-90D6-4D15-8509-FD071B5C4B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241675"/>
                <a:ext cx="11400008" cy="1033399"/>
              </a:xfrm>
              <a:prstGeom prst="rect">
                <a:avLst/>
              </a:prstGeom>
              <a:blipFill>
                <a:blip r:embed="rId6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8_1#bc42144b2?vcp=1&amp;pid=a6d3e8044&amp;color=0,0,0&amp;vtp=1&amp;bt=1&amp;bbb=1&amp;hb=1"/>
              <p:cNvSpPr/>
              <p:nvPr/>
            </p:nvSpPr>
            <p:spPr>
              <a:xfrm>
                <a:off x="393192" y="1481010"/>
                <a:ext cx="11402568" cy="390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可得小球下滑的加速度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𝑩𝑪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𝑨𝑩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𝟏𝟓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.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，A错误；拍摄时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等于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段的平均速度，即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𝑨𝑩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𝑩𝑪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得拍摄时C、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两球间距为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,C错误；由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球运动的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,因为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，故B球上面还有3个小球，即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球上面滚动的还有2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个小球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8_1#bc42144b2?vcp=1&amp;pid=a6d3e804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81010"/>
                <a:ext cx="11402568" cy="3907600"/>
              </a:xfrm>
              <a:prstGeom prst="rect">
                <a:avLst/>
              </a:prstGeom>
              <a:blipFill>
                <a:blip r:embed="rId3"/>
                <a:stretch>
                  <a:fillRect l="-1658" r="-1016" b="-452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9_1#fd585e340?htil=2&amp;vcp=1&amp;pid=a6d3e8044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09549" y="1047908"/>
            <a:ext cx="841248" cy="323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9_2#fd585e340?htil=2&amp;vcp=1&amp;pid=a6d3e8044&amp;color=0,0,0&amp;vtp=1&amp;bt=1&amp;bbb=1&amp;hb=1"/>
              <p:cNvSpPr/>
              <p:nvPr/>
            </p:nvSpPr>
            <p:spPr>
              <a:xfrm>
                <a:off x="393192" y="1002189"/>
                <a:ext cx="10424160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（2026·湖北黄冈中学检测</a:t>
                </a:r>
                <a:r>
                  <a:rPr lang="en-US" altLang="zh-CN" sz="2400" b="0" i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某物理兴趣小组为国防事业的蓬勃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发展感到自豪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，他们自制了一个导弹模型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，将发射过程的部分连拍照片叠加合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成在一张图片上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，用刻度尺测量图片上的长度关系，示意图如图所示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，导弹模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型升空的过程可视为做匀加速直线运动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.已知导弹模型的实际长度为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,相机连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拍时拍摄照片的频率为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Hz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9_2#fd585e340?htil=2&amp;vcp=1&amp;pid=a6d3e804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02189"/>
                <a:ext cx="10424160" cy="2709799"/>
              </a:xfrm>
              <a:prstGeom prst="rect">
                <a:avLst/>
              </a:prstGeom>
              <a:blipFill>
                <a:blip r:embed="rId4"/>
                <a:stretch>
                  <a:fillRect l="-1813" r="-1520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20_1#fd585e340.bracket?vcp=1&amp;pid=a6d3e8044&amp;color=0,0,0&amp;vpa=7&amp;vtp=1"/>
          <p:cNvSpPr/>
          <p:nvPr/>
        </p:nvSpPr>
        <p:spPr>
          <a:xfrm>
            <a:off x="6770973" y="322595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9_3#fd585e340.choices?htil=2&amp;vcp=1&amp;pid=a6d3e8044&amp;color=0,0,0&amp;vtp=1&amp;bbb=1"/>
              <p:cNvSpPr/>
              <p:nvPr/>
            </p:nvSpPr>
            <p:spPr>
              <a:xfrm>
                <a:off x="393192" y="3687984"/>
                <a:ext cx="10424160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A.导弹模型从位置①运动到位置②的平均速度大小为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.导弹模型上升的加速度大小为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.导弹模型到达位置③时的速度大小为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.导弹模型从刚开始发射时的位置到位置③的位移大小为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12.25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9_3#fd585e340.choices?htil=2&amp;vcp=1&amp;pid=a6d3e804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87984"/>
                <a:ext cx="10424160" cy="2158302"/>
              </a:xfrm>
              <a:prstGeom prst="rect">
                <a:avLst/>
              </a:prstGeom>
              <a:blipFill>
                <a:blip r:embed="rId5"/>
                <a:stretch>
                  <a:fillRect l="-1813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1_1#fd585e340?vcp=1&amp;pid=a6d3e8044&amp;color=0,0,0&amp;vtp=1&amp;bt=1&amp;bbb=1&amp;hb=1"/>
              <p:cNvSpPr/>
              <p:nvPr/>
            </p:nvSpPr>
            <p:spPr>
              <a:xfrm>
                <a:off x="393192" y="524129"/>
                <a:ext cx="11402568" cy="544842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相机连拍时拍摄照片的周期为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，由题图可得，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导弹模型从位置①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运动到位置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②的位移大小为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𝐜𝐦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𝐜𝐦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（点拨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：根据比例尺求解照片上的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长度对应的实际位移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），则平均速度大小为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；导弹模型从位置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运动到位置③与从位置①运动到位置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②的位移差为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)−(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𝐜𝐦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，根据位移差公式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，导弹模型上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升的加速度大小为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，B错误；导弹模型到达位置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②时的速度大小为</a:t>
                </a:r>
              </a:p>
              <a:p>
                <a:pPr latinLnBrk="1">
                  <a:lnSpc>
                    <a:spcPts val="5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𝟏𝟑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  <m:r>
                              <m:rPr>
                                <m:nor/>
                              </m:rP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 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𝐜𝐦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m:rPr>
                                <m:nor/>
                              </m:rP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 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𝐜𝐦</m:t>
                            </m:r>
                          </m:den>
                        </m:f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,则导弹模型到达位置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③时的速度大小为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,C错误；由速度—位移公式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，导弹模型从刚开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始发射时的位置到位置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③的位移大小为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，D正确.故选D.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1_1#fd585e340?vcp=1&amp;pid=a6d3e804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24129"/>
                <a:ext cx="11402568" cy="5448427"/>
              </a:xfrm>
              <a:prstGeom prst="rect">
                <a:avLst/>
              </a:prstGeom>
              <a:blipFill>
                <a:blip r:embed="rId3"/>
                <a:stretch>
                  <a:fillRect l="-1658" t="-112" r="-1497" b="-17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BD.22_1#48c2e4000?htil=3&amp;vcp=1&amp;pid=a6d3e8044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68896" y="1054132"/>
            <a:ext cx="4608576" cy="96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O_4_BD.22_2#48c2e4000?htil=3&amp;vcp=1&amp;pid=a6d3e8044&amp;color=0,0,0&amp;vtp=1&amp;bt=1&amp;bbb=1&amp;hb=1&amp;hs=1"/>
          <p:cNvSpPr/>
          <p:nvPr/>
        </p:nvSpPr>
        <p:spPr>
          <a:xfrm>
            <a:off x="393192" y="1008412"/>
            <a:ext cx="6656832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考点1、2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</a:t>
            </a:r>
            <a:r>
              <a:rPr lang="en-US" altLang="zh-CN" sz="2400" b="0" i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安徽合肥一六八中学模拟）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某同学用自制的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“滴水计时器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”来研究小车在水平</a:t>
            </a:r>
            <a:endParaRPr lang="en-US" altLang="zh-CN" sz="2400" dirty="0"/>
          </a:p>
        </p:txBody>
      </p:sp>
      <p:sp>
        <p:nvSpPr>
          <p:cNvPr id="4" name="QB_5_BD.23_1#5d453470a?vcp=1&amp;pid=48c2e4000&amp;color=0,0,0&amp;vtp=1&amp;bbb=1"/>
          <p:cNvSpPr/>
          <p:nvPr/>
        </p:nvSpPr>
        <p:spPr>
          <a:xfrm>
            <a:off x="393192" y="4251737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spc="-10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1）由图乙可知</a:t>
            </a:r>
            <a:r>
              <a:rPr lang="en-US" altLang="zh-CN" sz="2400" b="0" i="0" spc="-10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，小车在水平桌面上是</a:t>
            </a:r>
            <a:r>
              <a:rPr lang="en-US" altLang="zh-CN" sz="2400" i="0" spc="-1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__________</a:t>
            </a:r>
            <a:r>
              <a:rPr lang="en-US" altLang="zh-CN" sz="2400" b="0" i="0" spc="-10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spc="-10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填“从右向左”或“从左向右”）运动的.</a:t>
            </a:r>
            <a:endParaRPr lang="en-US" altLang="zh-CN" sz="2400" spc="-100" dirty="0"/>
          </a:p>
        </p:txBody>
      </p:sp>
      <p:sp>
        <p:nvSpPr>
          <p:cNvPr id="5" name="QB_5_AN.24_1#5d453470a.blank?vcp=1&amp;pid=48c2e4000&amp;color=0,0,0&amp;vpa=8&amp;vtp=1&amp;bbb=1"/>
          <p:cNvSpPr/>
          <p:nvPr/>
        </p:nvSpPr>
        <p:spPr>
          <a:xfrm>
            <a:off x="5496210" y="4211732"/>
            <a:ext cx="1376363" cy="48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spc="-10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从右向左</a:t>
            </a:r>
            <a:endParaRPr lang="en-US" altLang="zh-CN" sz="2400" spc="-100" dirty="0"/>
          </a:p>
        </p:txBody>
      </p:sp>
      <p:sp>
        <p:nvSpPr>
          <p:cNvPr id="6" name="QB_5_AS.25_1#5d453470a?vcp=1&amp;pid=48c2e4000&amp;color=0,0,0&amp;vtp=1&amp;bbb=1&amp;hb=1"/>
          <p:cNvSpPr/>
          <p:nvPr/>
        </p:nvSpPr>
        <p:spPr>
          <a:xfrm>
            <a:off x="393192" y="4807743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由于小车在水平桌面上会做减速运动，由题图乙知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，从右向左相邻水滴间的距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离逐渐减小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，所以小车在水平桌面上是从右向左运动的.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O_4_BD.22_2#48c2e4000?htil=3&amp;vcp=1&amp;pid=a6d3e8044&amp;color=0,0,0&amp;vtp=1&amp;bt=1&amp;bbb=1&amp;hb=1&amp;hs=1">
                <a:extLst>
                  <a:ext uri="{FF2B5EF4-FFF2-40B4-BE49-F238E27FC236}">
                    <a16:creationId xmlns:a16="http://schemas.microsoft.com/office/drawing/2014/main" id="{34320AA7-F88F-442E-5645-D7AD0F9384D8}"/>
                  </a:ext>
                </a:extLst>
              </p:cNvPr>
              <p:cNvSpPr/>
              <p:nvPr/>
            </p:nvSpPr>
            <p:spPr>
              <a:xfrm>
                <a:off x="393192" y="2113248"/>
                <a:ext cx="1140000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桌面上运动时的加速度大小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.如图甲所示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，将该计时器固定在小车旁，用手轻推一下小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车，在小车运动过程中滴水计时器间隔相等时间滴下小水滴. 图乙记录了桌面上连续5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个水滴的位置，已知滴水计时器滴水时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，从第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1个小水滴刚离开滴水计时器到第26个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小水滴刚离开滴水计时器的总时间为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O_4_BD.22_2#48c2e4000?htil=3&amp;vcp=1&amp;pid=a6d3e8044&amp;color=0,0,0&amp;vtp=1&amp;bt=1&amp;bbb=1&amp;hb=1&amp;hs=1">
                <a:extLst>
                  <a:ext uri="{FF2B5EF4-FFF2-40B4-BE49-F238E27FC236}">
                    <a16:creationId xmlns:a16="http://schemas.microsoft.com/office/drawing/2014/main" id="{34320AA7-F88F-442E-5645-D7AD0F9384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13248"/>
                <a:ext cx="11400008" cy="2155000"/>
              </a:xfrm>
              <a:prstGeom prst="rect">
                <a:avLst/>
              </a:prstGeom>
              <a:blipFill>
                <a:blip r:embed="rId4"/>
                <a:stretch>
                  <a:fillRect l="-1658" r="-1230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6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5_BD.26_1#bde895f02?vcp=1&amp;pid=48c2e4000&amp;color=0,0,0&amp;vtp=1&amp;bt=1&amp;bbb=1"/>
              <p:cNvSpPr/>
              <p:nvPr/>
            </p:nvSpPr>
            <p:spPr>
              <a:xfrm>
                <a:off x="393192" y="1687957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（2）滴水计时器滴水的等间隔时间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5_BD.26_1#bde895f02?vcp=1&amp;pid=48c2e4000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87957"/>
                <a:ext cx="11402568" cy="484124"/>
              </a:xfrm>
              <a:prstGeom prst="rect">
                <a:avLst/>
              </a:prstGeom>
              <a:blipFill>
                <a:blip r:embed="rId3"/>
                <a:stretch>
                  <a:fillRect l="-1658" t="-1266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5_AN.27_1#bde895f02.blank?vcp=1&amp;pid=48c2e4000&amp;color=0,0,0&amp;vpa=9&amp;vtp=1&amp;bbb=1"/>
          <p:cNvSpPr/>
          <p:nvPr/>
        </p:nvSpPr>
        <p:spPr>
          <a:xfrm>
            <a:off x="5595461" y="1647952"/>
            <a:ext cx="6016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0.4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5_AS.28_1#bde895f02?vcp=1&amp;pid=48c2e4000&amp;color=0,0,0&amp;vtp=1&amp;bbb=1&amp;hb=1"/>
              <p:cNvSpPr/>
              <p:nvPr/>
            </p:nvSpPr>
            <p:spPr>
              <a:xfrm>
                <a:off x="393192" y="2173732"/>
                <a:ext cx="1140256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滴水计时器滴水时，25个滴水的时间间隔的总时间是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，则滴水计时器滴水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的等间隔时间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𝟐𝟓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B_5_AS.28_1#bde895f02?vcp=1&amp;pid=48c2e4000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73732"/>
                <a:ext cx="11402568" cy="1117600"/>
              </a:xfrm>
              <a:prstGeom prst="rect">
                <a:avLst/>
              </a:prstGeom>
              <a:blipFill>
                <a:blip r:embed="rId4"/>
                <a:stretch>
                  <a:fillRect l="-1658" r="-749" b="-92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5_BD.29_1#169321a2c?vcp=1&amp;pid=48c2e4000&amp;color=0,0,0&amp;vtp=1&amp;bbb=1"/>
              <p:cNvSpPr/>
              <p:nvPr/>
            </p:nvSpPr>
            <p:spPr>
              <a:xfrm>
                <a:off x="393192" y="3298825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）经分析可得小车的加速度大小为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（结果保留两位有效数字）.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B_5_BD.29_1#169321a2c?vcp=1&amp;pid=48c2e4000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98825"/>
                <a:ext cx="11402568" cy="484124"/>
              </a:xfrm>
              <a:prstGeom prst="rect">
                <a:avLst/>
              </a:prstGeom>
              <a:blipFill>
                <a:blip r:embed="rId5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B_5_AN.30_1#169321a2c.blank?vcp=1&amp;pid=48c2e4000&amp;color=0,0,0&amp;vpa=10&amp;vtp=1&amp;bbb=1"/>
          <p:cNvSpPr/>
          <p:nvPr/>
        </p:nvSpPr>
        <p:spPr>
          <a:xfrm>
            <a:off x="5400960" y="3258820"/>
            <a:ext cx="7540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0.14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B_5_AS.31_1#169321a2c?vcp=1&amp;pid=48c2e4000&amp;color=0,0,0&amp;vtp=1&amp;bbb=1&amp;hb=1"/>
              <p:cNvSpPr/>
              <p:nvPr/>
            </p:nvSpPr>
            <p:spPr>
              <a:xfrm>
                <a:off x="393192" y="3792220"/>
                <a:ext cx="11402568" cy="1270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由位移差公式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，可得小车的加速度大小为</a:t>
                </a:r>
              </a:p>
              <a:p>
                <a:pPr latinLnBrk="1">
                  <a:lnSpc>
                    <a:spcPts val="5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𝟏𝟕𝟓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𝟏𝟗𝟕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𝟏𝟓𝟐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𝟏𝟑𝟎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B_5_AS.31_1#169321a2c?vcp=1&amp;pid=48c2e4000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92220"/>
                <a:ext cx="11402568" cy="1270000"/>
              </a:xfrm>
              <a:prstGeom prst="rect">
                <a:avLst/>
              </a:prstGeom>
              <a:blipFill>
                <a:blip r:embed="rId6"/>
                <a:stretch>
                  <a:fillRect l="-1658" b="-480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6" grpId="0" build="p" animBg="1"/>
      <p:bldP spid="7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5_BD.32_1#8ccf88c47?vcp=1&amp;pid=48c2e4000&amp;color=0,0,0&amp;vtp=1&amp;bt=1&amp;bbb=1&amp;hb=1"/>
              <p:cNvSpPr/>
              <p:nvPr/>
            </p:nvSpPr>
            <p:spPr>
              <a:xfrm>
                <a:off x="393192" y="2640617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（4）若从第1滴水离开滴水计时器开始计时，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末误将27滴记录成26滴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，会造成求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得的加速度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填“偏大”或“偏小”）.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5_BD.32_1#8ccf88c47?vcp=1&amp;pid=48c2e4000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40617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5_AN.33_1#8ccf88c47.blank?vcp=1&amp;pid=48c2e4000&amp;color=0,0,0&amp;vpa=11&amp;vtp=1&amp;bbb=1"/>
          <p:cNvSpPr/>
          <p:nvPr/>
        </p:nvSpPr>
        <p:spPr>
          <a:xfrm>
            <a:off x="1933861" y="3149886"/>
            <a:ext cx="830263" cy="47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偏小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5_AS.34_1#8ccf88c47?vcp=1&amp;pid=48c2e4000&amp;color=0,0,0&amp;vtp=1&amp;bbb=1"/>
              <p:cNvSpPr/>
              <p:nvPr/>
            </p:nvSpPr>
            <p:spPr>
              <a:xfrm>
                <a:off x="393192" y="3730084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末，误将27滴记录成26滴，导致测量的周期偏大，则计算得出的加速度偏小.</a:t>
                </a:r>
                <a:endParaRPr lang="en-US" altLang="zh-CN" sz="2400" spc="-50" dirty="0"/>
              </a:p>
            </p:txBody>
          </p:sp>
        </mc:Choice>
        <mc:Fallback>
          <p:sp>
            <p:nvSpPr>
              <p:cNvPr id="4" name="QB_5_AS.34_1#8ccf88c47?vcp=1&amp;pid=48c2e4000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30084"/>
                <a:ext cx="11402568" cy="484124"/>
              </a:xfrm>
              <a:prstGeom prst="rect">
                <a:avLst/>
              </a:prstGeom>
              <a:blipFill>
                <a:blip r:embed="rId4"/>
                <a:stretch>
                  <a:fillRect l="-1658" r="-1711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deac2cdb3?vcp=1&amp;pid=8dd8bb58a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6574d455e?vcp=1&amp;pid=deac2cdb3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BD.35_1#9113eb596?vcp=1&amp;pid=deac2cdb3&amp;color=0,0,0&amp;vtp=1&amp;bbb=1&amp;hb=1"/>
              <p:cNvSpPr/>
              <p:nvPr/>
            </p:nvSpPr>
            <p:spPr>
              <a:xfrm>
                <a:off x="393192" y="1590675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1.用雷达探测一高速飞行器的位置.从某时刻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开始的一段时间内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，该飞行器可视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为沿直线运动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，每隔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测量一次其位置,坐标为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，结果如下表所示.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BD.35_1#9113eb596?vcp=1&amp;pid=deac2cdb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r="-856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QO_4_BD.35_2#9113eb596?colgroup=5,1,3,4,4,4,4,4&amp;vcp=1&amp;pid=deac2cdb3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7364437"/>
                  </p:ext>
                </p:extLst>
              </p:nvPr>
            </p:nvGraphicFramePr>
            <p:xfrm>
              <a:off x="393192" y="2757805"/>
              <a:ext cx="11347704" cy="997332"/>
            </p:xfrm>
            <a:graphic>
              <a:graphicData uri="http://schemas.openxmlformats.org/drawingml/2006/table">
                <a:tbl>
                  <a:tblPr/>
                  <a:tblGrid>
                    <a:gridCol w="17007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77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91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910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9105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59105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5910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m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507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094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759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505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329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233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QO_4_BD.35_2#9113eb596?colgroup=5,1,3,4,4,4,4,4&amp;vcp=1&amp;pid=deac2cdb3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7364437"/>
                  </p:ext>
                </p:extLst>
              </p:nvPr>
            </p:nvGraphicFramePr>
            <p:xfrm>
              <a:off x="393192" y="2757805"/>
              <a:ext cx="11347704" cy="997332"/>
            </p:xfrm>
            <a:graphic>
              <a:graphicData uri="http://schemas.openxmlformats.org/drawingml/2006/table">
                <a:tbl>
                  <a:tblPr/>
                  <a:tblGrid>
                    <a:gridCol w="17007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77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91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910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9105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59105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5910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986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8" t="-1205" r="-568100" b="-1265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8" t="-102439" r="-568100" b="-28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507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094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759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505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329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233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4_BD.35_3#9113eb596?vcp=1&amp;pid=deac2cdb3&amp;color=0,0,0&amp;vtp=1&amp;bt=1&amp;bbb=1"/>
          <p:cNvSpPr/>
          <p:nvPr/>
        </p:nvSpPr>
        <p:spPr>
          <a:xfrm>
            <a:off x="393192" y="915670"/>
            <a:ext cx="11402568" cy="48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回答下列问题：</a:t>
            </a:r>
            <a:endParaRPr lang="en-US" altLang="zh-CN" sz="2400" dirty="0"/>
          </a:p>
        </p:txBody>
      </p:sp>
      <p:sp>
        <p:nvSpPr>
          <p:cNvPr id="3" name="QB_5_BD.36_1#0eaec32e8?vcp=1&amp;pid=9113eb596&amp;color=0,0,0&amp;vtp=1&amp;bbb=1&amp;hb=1"/>
          <p:cNvSpPr/>
          <p:nvPr/>
        </p:nvSpPr>
        <p:spPr>
          <a:xfrm>
            <a:off x="393192" y="1472565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（1）根据表中数据可判断该飞行器在这段时间内近似做匀加速运动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，判断的理由是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__________________________________________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4" name="QB_5_AN.37_1#0eaec32e8.blank?vcp=1&amp;pid=9113eb596&amp;color=0,0,0&amp;vpa=12&amp;vtp=1&amp;bbb=1"/>
          <p:cNvSpPr/>
          <p:nvPr/>
        </p:nvSpPr>
        <p:spPr>
          <a:xfrm>
            <a:off x="409860" y="1981835"/>
            <a:ext cx="6316663" cy="47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相邻连续相等时间间隔内的位移之差近似相等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5_AS.38_1#0eaec32e8?vcp=1&amp;pid=9113eb596&amp;color=0,0,0&amp;vtp=1&amp;bbb=1&amp;hb=1"/>
              <p:cNvSpPr/>
              <p:nvPr/>
            </p:nvSpPr>
            <p:spPr>
              <a:xfrm>
                <a:off x="393192" y="2517775"/>
                <a:ext cx="11402568" cy="16049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每一秒的位移分别为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𝟓𝟖𝟕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𝟔𝟔𝟓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𝟕𝟒𝟔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𝟖𝟐𝟒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𝟗𝟎𝟒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,可知相邻连续相等时间间隔内的位移差近似相等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，约为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𝒂𝑻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​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恒定，飞行器在这段时间内近似做匀加速直线运动.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B_5_AS.38_1#0eaec32e8?vcp=1&amp;pid=9113eb596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17775"/>
                <a:ext cx="11402568" cy="1604963"/>
              </a:xfrm>
              <a:prstGeom prst="rect">
                <a:avLst/>
              </a:prstGeom>
              <a:blipFill>
                <a:blip r:embed="rId3"/>
                <a:stretch>
                  <a:fillRect l="-1658" b="-117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B_5_BD.39_1#f19114a04?vcp=1&amp;pid=9113eb596&amp;color=0,0,0&amp;vtp=1&amp;bbb=1"/>
              <p:cNvSpPr/>
              <p:nvPr/>
            </p:nvSpPr>
            <p:spPr>
              <a:xfrm>
                <a:off x="393192" y="4173918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=507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时，该飞行器速度的大小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B_5_BD.39_1#f19114a04?vcp=1&amp;pid=9113eb59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73918"/>
                <a:ext cx="11402568" cy="484124"/>
              </a:xfrm>
              <a:prstGeom prst="rect">
                <a:avLst/>
              </a:prstGeom>
              <a:blipFill>
                <a:blip r:embed="rId4"/>
                <a:stretch>
                  <a:fillRect l="-1658" t="-1266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QB_5_AN.40_1#f19114a04.blank?vcp=1&amp;pid=9113eb596&amp;color=0,0,0&amp;vpa=13&amp;vtp=1&amp;bbb=1"/>
          <p:cNvSpPr/>
          <p:nvPr/>
        </p:nvSpPr>
        <p:spPr>
          <a:xfrm>
            <a:off x="6708108" y="4133913"/>
            <a:ext cx="6778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547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QB_5_AS.41_1#f19114a04?vcp=1&amp;pid=9113eb596&amp;color=0,0,0&amp;vtp=1&amp;bbb=1&amp;hb=1"/>
              <p:cNvSpPr/>
              <p:nvPr/>
            </p:nvSpPr>
            <p:spPr>
              <a:xfrm>
                <a:off x="393192" y="4662170"/>
                <a:ext cx="1140256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时，飞行器处于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，匀变速直线运动某段时间内的平均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速度等于该段时间中间时刻的速度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𝟎𝟗𝟒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𝟓𝟒𝟕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B_5_AS.41_1#f19114a04?vcp=1&amp;pid=9113eb596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662170"/>
                <a:ext cx="11402568" cy="1117600"/>
              </a:xfrm>
              <a:prstGeom prst="rect">
                <a:avLst/>
              </a:prstGeom>
              <a:blipFill>
                <a:blip r:embed="rId5"/>
                <a:stretch>
                  <a:fillRect l="-1658" r="-535" b="-92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 animBg="1"/>
      <p:bldP spid="7" grpId="0" build="p" animBg="1"/>
      <p:bldP spid="8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5_BD.42_1#1ee673e4f?vcp=1&amp;pid=9113eb596&amp;color=0,0,0&amp;vtp=1&amp;bt=1&amp;bbb=1"/>
              <p:cNvSpPr/>
              <p:nvPr/>
            </p:nvSpPr>
            <p:spPr>
              <a:xfrm>
                <a:off x="393192" y="2609406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（3）这段时间内该飞行器加速度的大小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（结果保留两位有效数字）.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5_BD.42_1#1ee673e4f?vcp=1&amp;pid=9113eb596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09406"/>
                <a:ext cx="11402568" cy="484124"/>
              </a:xfrm>
              <a:prstGeom prst="rect">
                <a:avLst/>
              </a:prstGeom>
              <a:blipFill>
                <a:blip r:embed="rId3"/>
                <a:stretch>
                  <a:fillRect l="-1658"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5_AN.43_1#1ee673e4f.blank?vcp=1&amp;pid=9113eb596&amp;color=0,0,0&amp;vpa=14&amp;vtp=1&amp;bbb=1"/>
          <p:cNvSpPr/>
          <p:nvPr/>
        </p:nvSpPr>
        <p:spPr>
          <a:xfrm>
            <a:off x="6232810" y="2569401"/>
            <a:ext cx="5254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79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5_AS.44_1#1ee673e4f?vcp=1&amp;pid=9113eb596&amp;color=0,0,0&amp;vtp=1&amp;bbb=1&amp;hb=1"/>
              <p:cNvSpPr/>
              <p:nvPr/>
            </p:nvSpPr>
            <p:spPr>
              <a:xfrm>
                <a:off x="393192" y="3095180"/>
                <a:ext cx="11402568" cy="1206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]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由逐差法可知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𝟔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𝟐𝟑𝟑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𝟕𝟓𝟗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)−(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𝟕𝟓𝟗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B_5_AS.44_1#1ee673e4f?vcp=1&amp;pid=9113eb596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95180"/>
                <a:ext cx="11402568" cy="1206500"/>
              </a:xfrm>
              <a:prstGeom prst="rect">
                <a:avLst/>
              </a:prstGeom>
              <a:blipFill>
                <a:blip r:embed="rId4"/>
                <a:stretch>
                  <a:fillRect l="-1658" b="-45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1500</Words>
  <Application>Microsoft Office PowerPoint</Application>
  <PresentationFormat>宽屏</PresentationFormat>
  <Paragraphs>164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2026-05-25T07:55:13Z</dcterms:created>
  <dcterms:modified xsi:type="dcterms:W3CDTF">2026-05-25T08:04:58Z</dcterms:modified>
  <cp:category/>
  <cp:contentStatus/>
</cp:coreProperties>
</file>