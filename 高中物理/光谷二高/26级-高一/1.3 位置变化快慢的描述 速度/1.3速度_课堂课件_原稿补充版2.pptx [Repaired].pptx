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2" r:id="rId14"/>
    <p:sldId id="273" r:id="rId15"/>
    <p:sldId id="274" r:id="rId16"/>
    <p:sldId id="275" r:id="rId17"/>
    <p:sldId id="276" r:id="rId18"/>
    <p:sldId id="280" r:id="rId19"/>
    <p:sldId id="281" r:id="rId20"/>
    <p:sldId id="269" r:id="rId21"/>
    <p:sldId id="270" r:id="rId22"/>
    <p:sldId id="271" r:id="rId23"/>
    <p:sldId id="282" r:id="rId24"/>
    <p:sldId id="283" r:id="rId25"/>
    <p:sldId id="285" r:id="rId26"/>
    <p:sldId id="284" r:id="rId27"/>
    <p:sldId id="286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301" r:id="rId37"/>
    <p:sldId id="302" r:id="rId38"/>
    <p:sldId id="277" r:id="rId39"/>
    <p:sldId id="278" r:id="rId40"/>
    <p:sldId id="279" r:id="rId41"/>
    <p:sldId id="287" r:id="rId42"/>
    <p:sldId id="288" r:id="rId43"/>
    <p:sldId id="289" r:id="rId44"/>
    <p:sldId id="298" r:id="rId45"/>
    <p:sldId id="299" r:id="rId46"/>
    <p:sldId id="300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48" y="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50270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03344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89584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42566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69394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45753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41670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34457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0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sterShapeNa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>
            <a:extLst>
              <a:ext uri="{FF2B5EF4-FFF2-40B4-BE49-F238E27FC236}">
                <a16:creationId xmlns:a16="http://schemas.microsoft.com/office/drawing/2014/main" id="{3F902327-0E3C-49B5-8E0D-F0007131A649}"/>
              </a:ext>
            </a:extLst>
          </p:cNvPr>
          <p:cNvSpPr>
            <a:spLocks noGrp="1"/>
          </p:cNvSpPr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88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考点同步解读</a:t>
            </a:r>
            <a:endParaRPr sz="8800"/>
          </a:p>
        </p:txBody>
      </p:sp>
      <p:sp>
        <p:nvSpPr>
          <p:cNvPr id="4" name="MasterShapeName">
            <a:extLst>
              <a:ext uri="{FF2B5EF4-FFF2-40B4-BE49-F238E27FC236}">
                <a16:creationId xmlns:a16="http://schemas.microsoft.com/office/drawing/2014/main" id="{39AE42F1-A1EF-4A9C-82C7-CF36C35F2A71}"/>
              </a:ext>
            </a:extLst>
          </p:cNvPr>
          <p:cNvSpPr>
            <a:spLocks noGrp="1"/>
          </p:cNvSpPr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sz="3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高中物理 必修 第一册 RJ</a:t>
            </a:r>
            <a:endParaRPr sz="3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sterShapeNa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>
            <a:extLst>
              <a:ext uri="{FF2B5EF4-FFF2-40B4-BE49-F238E27FC236}">
                <a16:creationId xmlns:a16="http://schemas.microsoft.com/office/drawing/2014/main" id="{D7357B4C-1E9B-4F23-AE72-EB9224615222}"/>
              </a:ext>
            </a:extLst>
          </p:cNvPr>
          <p:cNvSpPr>
            <a:spLocks noGrp="1"/>
          </p:cNvSpPr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sz="2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考点同步解读</a:t>
            </a:r>
            <a:endParaRPr sz="2400"/>
          </a:p>
        </p:txBody>
      </p:sp>
      <p:sp>
        <p:nvSpPr>
          <p:cNvPr id="4" name="MasterShapeName">
            <a:extLst>
              <a:ext uri="{FF2B5EF4-FFF2-40B4-BE49-F238E27FC236}">
                <a16:creationId xmlns:a16="http://schemas.microsoft.com/office/drawing/2014/main" id="{92C4A79D-D278-466B-8B1A-A869FAE1A6D5}"/>
              </a:ext>
            </a:extLst>
          </p:cNvPr>
          <p:cNvSpPr>
            <a:spLocks noGrp="1"/>
          </p:cNvSpPr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高中物理 必修 第一册 RJ</a:t>
            </a:r>
            <a:endParaRPr sz="16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sterShapeNa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9" name="MasterShapeName?linknodeid=back_to_first_catalo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>
            <a:extLst>
              <a:ext uri="{FF2B5EF4-FFF2-40B4-BE49-F238E27FC236}">
                <a16:creationId xmlns:a16="http://schemas.microsoft.com/office/drawing/2014/main" id="{27C496E6-20E4-4BA6-9336-2D5A9899EE3C}"/>
              </a:ext>
            </a:extLst>
          </p:cNvPr>
          <p:cNvSpPr>
            <a:spLocks noGrp="1"/>
          </p:cNvSpPr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《考点同步解读 高中物理 必修 第一册 RJ》</a:t>
            </a:r>
            <a:endParaRPr sz="1800"/>
          </a:p>
        </p:txBody>
      </p:sp>
      <p:sp>
        <p:nvSpPr>
          <p:cNvPr id="5" name="MasterShapeName">
            <a:extLst>
              <a:ext uri="{FF2B5EF4-FFF2-40B4-BE49-F238E27FC236}">
                <a16:creationId xmlns:a16="http://schemas.microsoft.com/office/drawing/2014/main" id="{599951CC-081C-48D1-BDBC-D53544DE5951}"/>
              </a:ext>
            </a:extLst>
          </p:cNvPr>
          <p:cNvSpPr>
            <a:spLocks noGrp="1"/>
          </p:cNvSpPr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c13ff7c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sterShapeNa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9" name="MasterShapeName?linknodeid=back_to_first_catalo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>
            <a:extLst>
              <a:ext uri="{FF2B5EF4-FFF2-40B4-BE49-F238E27FC236}">
                <a16:creationId xmlns:a16="http://schemas.microsoft.com/office/drawing/2014/main" id="{06F3643E-C231-464E-826B-D456C862ED2C}"/>
              </a:ext>
            </a:extLst>
          </p:cNvPr>
          <p:cNvSpPr>
            <a:spLocks noGrp="1"/>
          </p:cNvSpPr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《考点同步解读 高中物理 必修 第一册 RJ》</a:t>
            </a:r>
            <a:endParaRPr sz="1800"/>
          </a:p>
        </p:txBody>
      </p:sp>
      <p:sp>
        <p:nvSpPr>
          <p:cNvPr id="5" name="MasterShapeName">
            <a:extLst>
              <a:ext uri="{FF2B5EF4-FFF2-40B4-BE49-F238E27FC236}">
                <a16:creationId xmlns:a16="http://schemas.microsoft.com/office/drawing/2014/main" id="{12AED340-F9D0-4971-858C-2BA9E6DB691E}"/>
              </a:ext>
            </a:extLst>
          </p:cNvPr>
          <p:cNvSpPr>
            <a:spLocks noGrp="1"/>
          </p:cNvSpPr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0000"/>
              </a:lnSpc>
              <a:buNone/>
            </a:pPr>
            <a:r>
              <a:rPr sz="18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第3讲 位置变化快慢的描述——速度</a:t>
            </a:r>
            <a:endParaRPr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c13ff7c30.fixed?vcp=1&amp;pid=dbb013986&amp;color=0,112,192&amp;vtp=1&amp;bbb=1">
            <a:extLst>
              <a:ext uri="{FF2B5EF4-FFF2-40B4-BE49-F238E27FC236}">
                <a16:creationId xmlns:a16="http://schemas.microsoft.com/office/drawing/2014/main" id="{64D07ADC-ACA3-420E-A757-DDC18454512A}"/>
              </a:ext>
            </a:extLst>
          </p:cNvPr>
          <p:cNvSpPr>
            <a:spLocks noGrp="1"/>
          </p:cNvSpPr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lnSpc>
                <a:spcPts val="6000"/>
              </a:lnSpc>
              <a:buNone/>
            </a:pPr>
            <a:r>
              <a:rPr sz="4800" b="1" i="0" dirty="0" err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第一章</a:t>
            </a:r>
            <a:r>
              <a:rPr sz="4800" b="1" i="0" dirty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4800" b="1" i="0" dirty="0" err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运动的描述</a:t>
            </a:r>
            <a:endParaRPr sz="4800" dirty="0"/>
          </a:p>
        </p:txBody>
      </p:sp>
      <p:sp>
        <p:nvSpPr>
          <p:cNvPr id="3" name="C_2_BD#c13ff7c30.fixed?vcp=1&amp;pid=dbb013986&amp;color=0,0,0&amp;vtp=1&amp;bbb=1">
            <a:extLst>
              <a:ext uri="{FF2B5EF4-FFF2-40B4-BE49-F238E27FC236}">
                <a16:creationId xmlns:a16="http://schemas.microsoft.com/office/drawing/2014/main" id="{716D9EC0-3B65-442E-8F17-56DF65677242}"/>
              </a:ext>
            </a:extLst>
          </p:cNvPr>
          <p:cNvSpPr>
            <a:spLocks noGrp="1"/>
          </p:cNvSpPr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5400"/>
              </a:lnSpc>
              <a:buNone/>
            </a:pPr>
            <a:r>
              <a:rPr sz="44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第3讲</a:t>
            </a:r>
            <a:r>
              <a:rPr sz="44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44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位置变化快慢的描述——速度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1253238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c13ff7c30?lid=aa9e116af&amp;cid=aa9e116af&amp;vtp=1&amp;bt=1&amp;bbb=1">
            <a:hlinkClick r:id="" action="ppaction://hlinksldjump"/>
            <a:extLst>
              <a:ext uri="{FF2B5EF4-FFF2-40B4-BE49-F238E27FC236}">
                <a16:creationId xmlns:a16="http://schemas.microsoft.com/office/drawing/2014/main" id="{17B460CE-4CF7-49CC-9E02-B40881EAC6D7}"/>
              </a:ext>
            </a:extLst>
          </p:cNvPr>
          <p:cNvSpPr>
            <a:spLocks noGrp="1"/>
          </p:cNvSpPr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ts val="4000"/>
              </a:lnSpc>
              <a:buNone/>
            </a:pPr>
            <a:r>
              <a:rPr sz="32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高考要求</a:t>
            </a:r>
            <a:r>
              <a:rPr sz="32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学业标准·考情分析</a:t>
            </a:r>
            <a:endParaRPr sz="3200"/>
          </a:p>
        </p:txBody>
      </p:sp>
      <p:sp>
        <p:nvSpPr>
          <p:cNvPr id="3" name="C_1#目录1:c13ff7c30?lid=043674d11&amp;cid=043674d11&amp;vtp=1&amp;bbb=1">
            <a:hlinkClick r:id="" action="ppaction://hlinksldjump"/>
            <a:extLst>
              <a:ext uri="{FF2B5EF4-FFF2-40B4-BE49-F238E27FC236}">
                <a16:creationId xmlns:a16="http://schemas.microsoft.com/office/drawing/2014/main" id="{E7FB955B-E765-433F-841D-C58875D1E54A}"/>
              </a:ext>
            </a:extLst>
          </p:cNvPr>
          <p:cNvSpPr>
            <a:spLocks noGrp="1"/>
          </p:cNvSpPr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ts val="4000"/>
              </a:lnSpc>
              <a:buNone/>
            </a:pPr>
            <a:r>
              <a:rPr sz="32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考点分类</a:t>
            </a:r>
            <a:r>
              <a:rPr sz="32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3200" b="1" i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考点透析·典例剖析</a:t>
            </a: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1561616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_3_BD#aa9e116af?vcp=1&amp;pid=c13ff7c30&amp;color=0,112,192&amp;tib=255,255,255&amp;vtp=1&amp;bt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P_4_BD#b37da9409?colgroup=17,5,13&amp;vcp=1&amp;pid=aa9e116af&amp;color=0,0,0&amp;vtp=1&amp;bbb=1&amp;hb=1"/>
              <p:cNvGraphicFramePr/>
              <p:nvPr/>
            </p:nvGraphicFramePr>
            <p:xfrm>
              <a:off x="393192" y="1181100"/>
              <a:ext cx="11400625" cy="3218053"/>
            </p:xfrm>
            <a:graphic>
              <a:graphicData uri="http://schemas.openxmlformats.org/drawingml/2006/table">
                <a:tbl>
                  <a:tblPr/>
                  <a:tblGrid>
                    <a:gridCol w="53517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2637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25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考点分析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核心素养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知识图解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5222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8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1.速度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、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平均速度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、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瞬时速度的概念及</a:t>
                          </a:r>
                        </a:p>
                        <a:p>
                          <a:pPr marL="0" lvl="0" indent="0" algn="l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其区别与联系.（★★）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物理观念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rowSpan="3"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22200"/>
                            </a:lnSpc>
                            <a:buNone/>
                          </a:pPr>
                          <a:endParaRPr sz="900" spc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/>
                            <a:ea typeface="SimSun"/>
                            <a:cs typeface="SimSun"/>
                          </a:endParaRPr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rowSpan="3"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2.直线运动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𝑣</m:t>
                              </m:r>
                              <m:r>
                                <a:rPr lang="en-US" sz="2400" b="0" i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 −</m:t>
                              </m:r>
                              <m:r>
                                <a:rPr lang="en-US" sz="2400" b="0" i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oMath>
                          </a14:m>
                          <a:r>
                            <a:rPr sz="100" b="0" i="0" kern="0" spc="-99900">
                              <a:solidFill>
                                <a:srgbClr val="FFFFFF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 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图像.（★★）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科学思维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8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3.测量纸带的平均速度和瞬时速度.</a:t>
                          </a:r>
                        </a:p>
                        <a:p>
                          <a:pPr marL="0" lvl="0" indent="0" algn="l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（★）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科学探究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P_4_BD#b37da9409?colgroup=17,5,13&amp;vcp=1&amp;pid=aa9e116af&amp;color=0,0,0&amp;vtp=1&amp;bbb=1&amp;hb=1"/>
              <p:cNvGraphicFramePr/>
              <p:nvPr/>
            </p:nvGraphicFramePr>
            <p:xfrm>
              <a:off x="393192" y="1181100"/>
              <a:ext cx="11400625" cy="3218053"/>
            </p:xfrm>
            <a:graphic>
              <a:graphicData uri="http://schemas.openxmlformats.org/drawingml/2006/table">
                <a:tbl>
                  <a:tblPr/>
                  <a:tblGrid>
                    <a:gridCol w="53517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2637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25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考点分析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核心素养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知识图解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52220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8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1.速度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、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平均速度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、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瞬时速度的概念及</a:t>
                          </a:r>
                        </a:p>
                        <a:p>
                          <a:pPr marL="0" lvl="0" indent="0" algn="l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其区别与联系.（★★）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物理观念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rowSpan="3"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22200"/>
                            </a:lnSpc>
                            <a:buNone/>
                          </a:pPr>
                          <a:endParaRPr sz="900" spc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/>
                            <a:ea typeface="SimSun"/>
                            <a:cs typeface="SimSun"/>
                          </a:endParaRPr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rowSpan="3"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  <a:blipFill>
                          <a:blip r:embed="rId4"/>
                          <a:stretch>
                            <a:fillRect l="-114" t="-356098" r="-113326" b="-2207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科学思维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8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3.测量纸带的平均速度和瞬时速度.</a:t>
                          </a:r>
                        </a:p>
                        <a:p>
                          <a:pPr marL="0" lvl="0" indent="0" algn="l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（★）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科学探究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gridSpan="2"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_4_BD#b37da9409.table_image?tii=1&amp;vcp=1&amp;pid=aa9e116af&amp;color=0,0,0&amp;tib=255,255,255&amp;vtp=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0100" y="1758417"/>
            <a:ext cx="3602818" cy="25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3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7FE36C-B96F-457D-953D-245D6A854771}"/>
              </a:ext>
            </a:extLst>
          </p:cNvPr>
          <p:cNvSpPr>
            <a:spLocks noGrp="1"/>
          </p:cNvSpPr>
          <p:nvPr/>
        </p:nvSpPr>
        <p:spPr>
          <a:xfrm>
            <a:off x="0" y="409575"/>
            <a:ext cx="12192000" cy="19050"/>
          </a:xfrm>
          <a:prstGeom prst="rect">
            <a:avLst/>
          </a:prstGeom>
          <a:solidFill>
            <a:srgbClr val="00A7DF"/>
          </a:solidFill>
          <a:ln w="0">
            <a:solidFill>
              <a:srgbClr val="00A7DF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C090BB-AD3A-4F1D-833E-FC7A8011390F}"/>
              </a:ext>
            </a:extLst>
          </p:cNvPr>
          <p:cNvSpPr>
            <a:spLocks noGrp="1"/>
          </p:cNvSpPr>
          <p:nvPr/>
        </p:nvSpPr>
        <p:spPr>
          <a:xfrm>
            <a:off x="400050" y="1047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81AD7C-AD91-4A21-8BCB-B507E780BF20}"/>
              </a:ext>
            </a:extLst>
          </p:cNvPr>
          <p:cNvSpPr>
            <a:spLocks noGrp="1"/>
          </p:cNvSpPr>
          <p:nvPr/>
        </p:nvSpPr>
        <p:spPr>
          <a:xfrm>
            <a:off x="7677150" y="1047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F90596-3767-40A1-AB1C-4D14FB8E94B6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1334750" cy="457200"/>
          </a:xfrm>
          <a:prstGeom prst="rect">
            <a:avLst/>
          </a:prstGeom>
          <a:solidFill>
            <a:srgbClr val="E5F3EB"/>
          </a:solidFill>
          <a:ln w="0">
            <a:solidFill>
              <a:srgbClr val="E5F3E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EBA219-ECA8-4EFF-910A-C6105F71D52B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381125" cy="457200"/>
          </a:xfrm>
          <a:prstGeom prst="rect">
            <a:avLst/>
          </a:prstGeom>
          <a:solidFill>
            <a:srgbClr val="1AAE91"/>
          </a:solidFill>
          <a:ln w="0">
            <a:solidFill>
              <a:srgbClr val="1AAE9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65C8DB-0AA7-4B05-9012-763972E17057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概念导入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14BDB6-654B-46D3-8F39-6168EE18FB8B}"/>
              </a:ext>
            </a:extLst>
          </p:cNvPr>
          <p:cNvSpPr>
            <a:spLocks noGrp="1"/>
          </p:cNvSpPr>
          <p:nvPr/>
        </p:nvSpPr>
        <p:spPr>
          <a:xfrm>
            <a:off x="1924050" y="561975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595" lnSpcReduction="10000"/>
          </a:bodyPr>
          <a:lstStyle/>
          <a:p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速度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11885E-E680-4E4B-8A2F-C2E9663DDEA1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105156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两名同学在相同时间内走过不同位移，谁更快？请用“位移 ÷ 时间”说明。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C14617-42CA-41DB-AF38-68CD17A4B138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0515600" cy="28575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81375" y="1867370"/>
            <a:ext cx="5429250" cy="457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0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_3_BD#043674d11?vcp=1&amp;pid=c13ff7c30&amp;color=0,112,192&amp;tib=255,255,255&amp;vtp=1&amp;bt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10" name="C_4#977b043b1?vcp=1&amp;pid=043674d11&amp;color=0,0,0&amp;tib=255,255,255&amp;vtp=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977b043b1?vcp=1&amp;pid=043674d11&amp;color=255,255,255&amp;vtp=1">
            <a:extLst>
              <a:ext uri="{FF2B5EF4-FFF2-40B4-BE49-F238E27FC236}">
                <a16:creationId xmlns:a16="http://schemas.microsoft.com/office/drawing/2014/main" id="{E9163CDD-04D7-45DB-814B-C021E6BA2AA7}"/>
              </a:ext>
            </a:extLst>
          </p:cNvPr>
          <p:cNvSpPr>
            <a:spLocks noGrp="1"/>
          </p:cNvSpPr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2800" b="1" i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1</a:t>
            </a:r>
            <a:endParaRPr sz="2800"/>
          </a:p>
        </p:txBody>
      </p:sp>
      <p:sp>
        <p:nvSpPr>
          <p:cNvPr id="5" name="C_4_BD#977b043b1?vcp=1&amp;pid=043674d11&amp;color=0,0,0&amp;vtp=1&amp;bbb=1">
            <a:extLst>
              <a:ext uri="{FF2B5EF4-FFF2-40B4-BE49-F238E27FC236}">
                <a16:creationId xmlns:a16="http://schemas.microsoft.com/office/drawing/2014/main" id="{A08B5001-2C40-4F6C-8AA9-5665F242CFCD}"/>
              </a:ext>
            </a:extLst>
          </p:cNvPr>
          <p:cNvSpPr>
            <a:spLocks noGrp="1"/>
          </p:cNvSpPr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ts val="3200"/>
              </a:lnSpc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速度</a:t>
            </a:r>
            <a:r>
              <a:rPr sz="26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回归教材</a:t>
            </a:r>
            <a:endParaRPr sz="2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_5_BD#e8ee1fd1e?vcp=1&amp;pid=977b043b1&amp;color=0,0,0&amp;vtp=1&amp;bbb=1&amp;hb=1">
                <a:extLst>
                  <a:ext uri="{FF2B5EF4-FFF2-40B4-BE49-F238E27FC236}">
                    <a16:creationId xmlns:a16="http://schemas.microsoft.com/office/drawing/2014/main" id="{13F656FC-5B5A-4BA9-AF2A-E24F3FD4CF1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778000"/>
                <a:ext cx="11402568" cy="27351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ctr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核心总结</a:t>
                </a:r>
                <a:endParaRPr sz="2400"/>
              </a:p>
              <a:p>
                <a:pPr>
                  <a:lnSpc>
                    <a:spcPts val="46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1.公式: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num>
                      <m:den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2.物理意义：速度是描述物体运动快慢的物理量.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3.单位：米每秒，符号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(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或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⋅</m:t>
                    </m:r>
                    <m:sSup>
                      <m:sSup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𝑠</m:t>
                        </m:r>
                      </m:e>
                      <m:sup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−1</m:t>
                        </m:r>
                      </m:sup>
                    </m:sSup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)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  <a:endParaRPr sz="2400"/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4.矢量性：速度不但有大小，而且有方向，是矢量.物体的运动方向就是速度的方向.</a:t>
                </a:r>
                <a:endParaRPr sz="2400"/>
              </a:p>
            </p:txBody>
          </p:sp>
        </mc:Choice>
        <mc:Fallback>
          <p:sp>
            <p:nvSpPr>
              <p:cNvPr id="6" name="P_5_BD#e8ee1fd1e?vcp=1&amp;pid=977b043b1&amp;color=0,0,0&amp;vtp=1&amp;bbb=1&amp;hb=1">
                <a:extLst>
                  <a:ext uri="{FF2B5EF4-FFF2-40B4-BE49-F238E27FC236}">
                    <a16:creationId xmlns:a16="http://schemas.microsoft.com/office/drawing/2014/main" id="{13F656FC-5B5A-4BA9-AF2A-E24F3FD4CF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78000"/>
                <a:ext cx="11402568" cy="2735199"/>
              </a:xfrm>
              <a:prstGeom prst="rect">
                <a:avLst/>
              </a:prstGeom>
              <a:blipFill>
                <a:blip r:embed="rId5"/>
                <a:stretch>
                  <a:fillRect r="-3957" b="-6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225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_1#0830f2e09?vcp=1&amp;pid=977b043b1&amp;color=0,0,0&amp;vtp=1&amp;bt=1&amp;bbb=1">
                <a:extLst>
                  <a:ext uri="{FF2B5EF4-FFF2-40B4-BE49-F238E27FC236}">
                    <a16:creationId xmlns:a16="http://schemas.microsoft.com/office/drawing/2014/main" id="{10DCD056-E9B0-4968-BEA0-B4EB2493C88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782987"/>
                <a:ext cx="11402568" cy="723011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6200"/>
                  </a:lnSpc>
                  <a:buNone/>
                </a:pPr>
                <a:r>
                  <a:rPr sz="2400" b="1" i="0">
                    <a:solidFill>
                      <a:srgbClr val="0070C0"/>
                    </a:solidFill>
                    <a:latin typeface="Times New Roman"/>
                    <a:ea typeface="Times New Roman"/>
                    <a:cs typeface="Times New Roman"/>
                  </a:rPr>
                  <a:t>考题1</a:t>
                </a:r>
                <a:r>
                  <a:rPr sz="2400" b="1" i="0">
                    <a:solidFill>
                      <a:srgbClr val="0070C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（多选题）关于速度的定义式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num>
                      <m:den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，下列叙述中正确的是(</a:t>
                </a: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).</a:t>
                </a:r>
                <a:endParaRPr sz="240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C_5_BD.1_1#0830f2e09?vcp=1&amp;pid=977b043b1&amp;color=0,0,0&amp;vtp=1&amp;bt=1&amp;bbb=1">
                <a:extLst>
                  <a:ext uri="{FF2B5EF4-FFF2-40B4-BE49-F238E27FC236}">
                    <a16:creationId xmlns:a16="http://schemas.microsoft.com/office/drawing/2014/main" id="{10DCD056-E9B0-4968-BEA0-B4EB2493C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82987"/>
                <a:ext cx="11402568" cy="723011"/>
              </a:xfrm>
              <a:prstGeom prst="rect">
                <a:avLst/>
              </a:prstGeom>
              <a:blipFill>
                <a:blip r:embed="rId3"/>
                <a:stretch>
                  <a:fillRect l="-1658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_1#0830f2e09.bracket?vcp=1&amp;pid=977b043b1&amp;color=0,0,0&amp;vpa=1&amp;vtp=1&amp;bbb=1">
            <a:extLst>
              <a:ext uri="{FF2B5EF4-FFF2-40B4-BE49-F238E27FC236}">
                <a16:creationId xmlns:a16="http://schemas.microsoft.com/office/drawing/2014/main" id="{069DCC55-8A5D-4064-8F57-5DFF4F2FC43A}"/>
              </a:ext>
            </a:extLst>
          </p:cNvPr>
          <p:cNvSpPr>
            <a:spLocks noGrp="1"/>
          </p:cNvSpPr>
          <p:nvPr/>
        </p:nvSpPr>
        <p:spPr>
          <a:xfrm>
            <a:off x="9434862" y="1076546"/>
            <a:ext cx="865188" cy="3643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30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BCD</a:t>
            </a:r>
            <a:endParaRPr sz="24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1_2#0830f2e09.choices?vcp=1&amp;pid=977b043b1&amp;color=0,0,0&amp;vtp=1&amp;bbb=1">
                <a:extLst>
                  <a:ext uri="{FF2B5EF4-FFF2-40B4-BE49-F238E27FC236}">
                    <a16:creationId xmlns:a16="http://schemas.microsoft.com/office/drawing/2014/main" id="{A172D9A9-26B5-4631-A684-7709DA4E75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506568"/>
                <a:ext cx="11402568" cy="21550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A.物体做匀速直线运动时，速度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与运动的位移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成正比，与运动的时间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成反比</a:t>
                </a:r>
                <a:endParaRPr sz="2400">
                  <a:solidFill>
                    <a:srgbClr val="000000"/>
                  </a:solidFill>
                </a:endParaRP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B.速度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的大小与运动的位移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和时间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都无关</a:t>
                </a:r>
                <a:endParaRPr sz="2400">
                  <a:solidFill>
                    <a:srgbClr val="000000"/>
                  </a:solidFill>
                </a:endParaRP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C.此速度定义式适用于任何运动</a:t>
                </a:r>
                <a:endParaRPr sz="2400">
                  <a:solidFill>
                    <a:srgbClr val="000000"/>
                  </a:solidFill>
                </a:endParaRP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D.速度是表示物体运动快慢及方向的物理量</a:t>
                </a:r>
                <a:endParaRPr sz="240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4" name="QC_5_BD.1_2#0830f2e09.choices?vcp=1&amp;pid=977b043b1&amp;color=0,0,0&amp;vtp=1&amp;bbb=1">
                <a:extLst>
                  <a:ext uri="{FF2B5EF4-FFF2-40B4-BE49-F238E27FC236}">
                    <a16:creationId xmlns:a16="http://schemas.microsoft.com/office/drawing/2014/main" id="{A172D9A9-26B5-4631-A684-7709DA4E75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06568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b="-8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AS.3_1#0830f2e09?vcp=1&amp;pid=977b043b1&amp;color=0,0,0&amp;vtp=1&amp;bbb=1&amp;hb=1">
                <a:extLst>
                  <a:ext uri="{FF2B5EF4-FFF2-40B4-BE49-F238E27FC236}">
                    <a16:creationId xmlns:a16="http://schemas.microsoft.com/office/drawing/2014/main" id="{009E01A4-A480-4622-9801-6DD193F550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3652868"/>
                <a:ext cx="11402568" cy="21804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[解析]</a:t>
                </a:r>
                <a:r>
                  <a:rPr sz="2400" b="1" i="0">
                    <a:solidFill>
                      <a:srgbClr val="FF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速度的定义式只说明速度可用位移</a:t>
                </a: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𝚫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𝒙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除以时间</a:t>
                </a: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𝚫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𝒕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来计算，并不是说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𝒗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与</a:t>
                </a: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𝚫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𝒙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成正</a:t>
                </a:r>
              </a:p>
              <a:p>
                <a:pPr>
                  <a:lnSpc>
                    <a:spcPts val="46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比，与</a:t>
                </a: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𝚫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𝒕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成反比，故A错误，B正确；对于任何运动，速度的定义式都是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𝒗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𝚫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𝒙</m:t>
                        </m:r>
                      </m:num>
                      <m:den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𝚫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𝒕</m:t>
                        </m:r>
                      </m:den>
                    </m:f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，故C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正确；速度是一个矢量，其大小表示物体运动的快慢，方向表示物体的运动方向，故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D正确.</a:t>
                </a:r>
                <a:endParaRPr sz="24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QC_5_AS.3_1#0830f2e09?vcp=1&amp;pid=977b043b1&amp;color=0,0,0&amp;vtp=1&amp;bbb=1&amp;hb=1">
                <a:extLst>
                  <a:ext uri="{FF2B5EF4-FFF2-40B4-BE49-F238E27FC236}">
                    <a16:creationId xmlns:a16="http://schemas.microsoft.com/office/drawing/2014/main" id="{009E01A4-A480-4622-9801-6DD193F550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52868"/>
                <a:ext cx="11402568" cy="2180400"/>
              </a:xfrm>
              <a:prstGeom prst="rect">
                <a:avLst/>
              </a:prstGeom>
              <a:blipFill>
                <a:blip r:embed="rId5"/>
                <a:stretch>
                  <a:fillRect l="-1658" r="-1872" b="-8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3762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4_1#cf58c9140?vcp=1&amp;pid=977b043b1&amp;color=0,0,0&amp;vtp=1&amp;bt=1&amp;bbb=1&amp;hb=1">
                <a:extLst>
                  <a:ext uri="{FF2B5EF4-FFF2-40B4-BE49-F238E27FC236}">
                    <a16:creationId xmlns:a16="http://schemas.microsoft.com/office/drawing/2014/main" id="{2AB0D799-1C67-45B9-99D2-6001DE46090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827689"/>
                <a:ext cx="11402568" cy="10333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70C0"/>
                    </a:solidFill>
                    <a:latin typeface="Times New Roman"/>
                    <a:ea typeface="Times New Roman"/>
                    <a:cs typeface="Times New Roman"/>
                  </a:rPr>
                  <a:t>变式1-1</a:t>
                </a:r>
                <a:r>
                  <a:rPr sz="2400" b="1" i="0">
                    <a:solidFill>
                      <a:srgbClr val="0070C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（多选题）甲、乙两质点在同一直线上做匀速运动，取向右为正方向，甲的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速度为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2 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，乙的速度为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−4 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，则可知(</a:t>
                </a: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).</a:t>
                </a:r>
                <a:endParaRPr sz="2400"/>
              </a:p>
            </p:txBody>
          </p:sp>
        </mc:Choice>
        <mc:Fallback>
          <p:sp>
            <p:nvSpPr>
              <p:cNvPr id="2" name="QC_5_BD.4_1#cf58c9140?vcp=1&amp;pid=977b043b1&amp;color=0,0,0&amp;vtp=1&amp;bt=1&amp;bbb=1&amp;hb=1">
                <a:extLst>
                  <a:ext uri="{FF2B5EF4-FFF2-40B4-BE49-F238E27FC236}">
                    <a16:creationId xmlns:a16="http://schemas.microsoft.com/office/drawing/2014/main" id="{2AB0D799-1C67-45B9-99D2-6001DE460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27689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07" b="-177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5_1#cf58c9140.bracket?vcp=1&amp;pid=977b043b1&amp;color=0,0,0&amp;vpa=2&amp;vtp=1&amp;bbb=1">
            <a:extLst>
              <a:ext uri="{FF2B5EF4-FFF2-40B4-BE49-F238E27FC236}">
                <a16:creationId xmlns:a16="http://schemas.microsoft.com/office/drawing/2014/main" id="{0B783CE9-B79C-492B-8E17-2B67EBD3E00C}"/>
              </a:ext>
            </a:extLst>
          </p:cNvPr>
          <p:cNvSpPr>
            <a:spLocks noGrp="1"/>
          </p:cNvSpPr>
          <p:nvPr/>
        </p:nvSpPr>
        <p:spPr>
          <a:xfrm>
            <a:off x="6367749" y="2375059"/>
            <a:ext cx="882650" cy="47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ACD</a:t>
            </a:r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4_2#cf58c9140.choices?vcp=1&amp;pid=977b043b1&amp;color=0,0,0&amp;vtp=1&amp;bbb=1">
                <a:extLst>
                  <a:ext uri="{FF2B5EF4-FFF2-40B4-BE49-F238E27FC236}">
                    <a16:creationId xmlns:a16="http://schemas.microsoft.com/office/drawing/2014/main" id="{ABB5DF49-3A84-4BBC-A615-CDCF346B0F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2861214"/>
                <a:ext cx="11402568" cy="2158302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A.乙的速度大于甲的速度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B.因为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+2&gt;−4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，所以甲的速度大于乙的速度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C.这里正、负号的物理意义是表示质点的运动方向</a:t>
                </a:r>
                <a:endParaRPr sz="2400"/>
              </a:p>
              <a:p>
                <a:pPr>
                  <a:lnSpc>
                    <a:spcPts val="43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D.若甲、乙两质点同时由同一位置出发，则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10 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后甲、乙相距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60 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endParaRPr sz="2400"/>
              </a:p>
            </p:txBody>
          </p:sp>
        </mc:Choice>
        <mc:Fallback>
          <p:sp>
            <p:nvSpPr>
              <p:cNvPr id="4" name="QC_5_BD.4_2#cf58c9140.choices?vcp=1&amp;pid=977b043b1&amp;color=0,0,0&amp;vtp=1&amp;bbb=1">
                <a:extLst>
                  <a:ext uri="{FF2B5EF4-FFF2-40B4-BE49-F238E27FC236}">
                    <a16:creationId xmlns:a16="http://schemas.microsoft.com/office/drawing/2014/main" id="{ABB5DF49-3A84-4BBC-A615-CDCF346B0F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61214"/>
                <a:ext cx="11402568" cy="2158302"/>
              </a:xfrm>
              <a:prstGeom prst="rect">
                <a:avLst/>
              </a:prstGeom>
              <a:blipFill>
                <a:blip r:embed="rId4"/>
                <a:stretch>
                  <a:fillRect l="-1658" b="-8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243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612b0d290?vcp=1&amp;pid=977b043b1&amp;color=0,0,0&amp;vtp=1&amp;bt=1&amp;bbb=1&amp;hb=1">
                <a:extLst>
                  <a:ext uri="{FF2B5EF4-FFF2-40B4-BE49-F238E27FC236}">
                    <a16:creationId xmlns:a16="http://schemas.microsoft.com/office/drawing/2014/main" id="{6F592474-E210-4649-B644-19C3D0885FC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2035620"/>
                <a:ext cx="11402568" cy="27605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难点突破</a:t>
                </a:r>
                <a:endParaRPr sz="2400"/>
              </a:p>
              <a:p>
                <a:pPr algn="ctr">
                  <a:lnSpc>
                    <a:spcPts val="46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对定义式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num>
                      <m:den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的理解</a:t>
                </a:r>
                <a:endParaRPr sz="2400"/>
              </a:p>
              <a:p>
                <a:pPr>
                  <a:lnSpc>
                    <a:spcPts val="46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1.速度的定义采用比值定义法，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 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num>
                      <m:den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不表示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与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之间的数量关系，即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大，表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示物体位置变化快，而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不一定大，二者不成正比关系.</a:t>
                </a:r>
                <a:endParaRPr sz="2400"/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2.式中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是位移，不是路程，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与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具有同一性和对应性.</a:t>
                </a:r>
                <a:endParaRPr sz="2400"/>
              </a:p>
            </p:txBody>
          </p:sp>
        </mc:Choice>
        <mc:Fallback>
          <p:sp>
            <p:nvSpPr>
              <p:cNvPr id="2" name="P_5_BD#612b0d290?vcp=1&amp;pid=977b043b1&amp;color=0,0,0&amp;vtp=1&amp;bt=1&amp;bbb=1&amp;hb=1">
                <a:extLst>
                  <a:ext uri="{FF2B5EF4-FFF2-40B4-BE49-F238E27FC236}">
                    <a16:creationId xmlns:a16="http://schemas.microsoft.com/office/drawing/2014/main" id="{6F592474-E210-4649-B644-19C3D0885F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35620"/>
                <a:ext cx="11402568" cy="2760599"/>
              </a:xfrm>
              <a:prstGeom prst="rect">
                <a:avLst/>
              </a:prstGeom>
              <a:blipFill>
                <a:blip r:embed="rId3"/>
                <a:stretch>
                  <a:fillRect l="-1658" r="-1283" b="-6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568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612b0d290?vcp=1&amp;pid=977b043b1&amp;color=0,0,0&amp;vtp=1&amp;bt=1&amp;bbb=1&amp;hb=1">
            <a:extLst>
              <a:ext uri="{FF2B5EF4-FFF2-40B4-BE49-F238E27FC236}">
                <a16:creationId xmlns:a16="http://schemas.microsoft.com/office/drawing/2014/main" id="{EC401719-262B-4675-B53E-6F4BD96BA129}"/>
              </a:ext>
            </a:extLst>
          </p:cNvPr>
          <p:cNvSpPr>
            <a:spLocks noGrp="1"/>
          </p:cNvSpPr>
          <p:nvPr/>
        </p:nvSpPr>
        <p:spPr>
          <a:xfrm>
            <a:off x="393192" y="1227646"/>
            <a:ext cx="11402568" cy="438619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易错警示</a:t>
            </a:r>
            <a:endParaRPr sz="2400"/>
          </a:p>
          <a:p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关于速度的几个易错点</a:t>
            </a:r>
            <a:endParaRPr sz="2400"/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1.速度既有大小又有方向,是矢量.分析物体的运动速度时,既要计算速度的大小,又</a:t>
            </a:r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要确定速度的方向,不可只关注速度的大小.</a:t>
            </a:r>
            <a:endParaRPr sz="2400"/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2.比较两个速度是否相同时,既要比较其大小是否相等，又要比较其方向是否相同.</a:t>
            </a:r>
            <a:endParaRPr sz="2400"/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3.路程与速度的关系</a:t>
            </a:r>
            <a:endParaRPr sz="2400"/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（1）路程为0时，位移必为0，则速度亦为0；</a:t>
            </a:r>
            <a:endParaRPr sz="2400"/>
          </a:p>
          <a:p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（2）路程不为0时，若位移为0，则速度为0；若位移不为0，则速度不为0.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44404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37D2A87-CFC8-4FAB-8686-E46FD523E223}"/>
              </a:ext>
            </a:extLst>
          </p:cNvPr>
          <p:cNvSpPr>
            <a:spLocks noGrp="1"/>
          </p:cNvSpPr>
          <p:nvPr/>
        </p:nvSpPr>
        <p:spPr>
          <a:xfrm>
            <a:off x="0" y="409575"/>
            <a:ext cx="12192000" cy="19050"/>
          </a:xfrm>
          <a:prstGeom prst="rect">
            <a:avLst/>
          </a:prstGeom>
          <a:solidFill>
            <a:srgbClr val="00A7DF"/>
          </a:solidFill>
          <a:ln w="0">
            <a:solidFill>
              <a:srgbClr val="00A7DF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C6E010-DBCF-41DC-AE90-5C1F9798C204}"/>
              </a:ext>
            </a:extLst>
          </p:cNvPr>
          <p:cNvSpPr>
            <a:spLocks noGrp="1"/>
          </p:cNvSpPr>
          <p:nvPr/>
        </p:nvSpPr>
        <p:spPr>
          <a:xfrm>
            <a:off x="400050" y="1047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2453A8-4305-4D0B-AB10-8AD91A24DBE0}"/>
              </a:ext>
            </a:extLst>
          </p:cNvPr>
          <p:cNvSpPr>
            <a:spLocks noGrp="1"/>
          </p:cNvSpPr>
          <p:nvPr/>
        </p:nvSpPr>
        <p:spPr>
          <a:xfrm>
            <a:off x="7677150" y="1047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77DE7F-1D3C-4624-B0FB-50544599253C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1334750" cy="457200"/>
          </a:xfrm>
          <a:prstGeom prst="rect">
            <a:avLst/>
          </a:prstGeom>
          <a:solidFill>
            <a:srgbClr val="E5F3EB"/>
          </a:solidFill>
          <a:ln w="0">
            <a:solidFill>
              <a:srgbClr val="E5F3E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313DB5-4F57-40B0-B39F-ADE5AB779B24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381125" cy="457200"/>
          </a:xfrm>
          <a:prstGeom prst="rect">
            <a:avLst/>
          </a:prstGeom>
          <a:solidFill>
            <a:srgbClr val="1AAE91"/>
          </a:solidFill>
          <a:ln w="0">
            <a:solidFill>
              <a:srgbClr val="1AAE9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44A79E-D48C-4B93-A9F4-E010A0B3191C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概念辨析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48169C-807C-4019-9B38-746B5BADA463}"/>
              </a:ext>
            </a:extLst>
          </p:cNvPr>
          <p:cNvSpPr>
            <a:spLocks noGrp="1"/>
          </p:cNvSpPr>
          <p:nvPr/>
        </p:nvSpPr>
        <p:spPr>
          <a:xfrm>
            <a:off x="1924050" y="561975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595" lnSpcReduction="10000"/>
          </a:bodyPr>
          <a:lstStyle/>
          <a:p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平均速度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E7D574-05D4-4961-BB5E-43E01277AB1A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105156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判断：描述一段时间内运动快慢时，使用哪一种速度？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93DE64-EF76-4411-8278-148902AC556D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0515600" cy="28575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9581" y="1981200"/>
            <a:ext cx="9672839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0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D42176C5-7C29-4756-A420-6AA51956505F}"/>
              </a:ext>
            </a:extLst>
          </p:cNvPr>
          <p:cNvSpPr>
            <a:spLocks noGrp="1"/>
          </p:cNvSpPr>
          <p:nvPr/>
        </p:nvSpPr>
        <p:spPr>
          <a:xfrm>
            <a:off x="0" y="409575"/>
            <a:ext cx="12192000" cy="19050"/>
          </a:xfrm>
          <a:prstGeom prst="rect">
            <a:avLst/>
          </a:prstGeom>
          <a:solidFill>
            <a:srgbClr val="00A7DF"/>
          </a:solidFill>
          <a:ln w="0">
            <a:solidFill>
              <a:srgbClr val="00A7DF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C1BF8A-2CC3-4645-B29D-8979034F4399}"/>
              </a:ext>
            </a:extLst>
          </p:cNvPr>
          <p:cNvSpPr>
            <a:spLocks noGrp="1"/>
          </p:cNvSpPr>
          <p:nvPr/>
        </p:nvSpPr>
        <p:spPr>
          <a:xfrm>
            <a:off x="400050" y="1047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1D8955-F8D1-405E-B970-7E8C84AD3C76}"/>
              </a:ext>
            </a:extLst>
          </p:cNvPr>
          <p:cNvSpPr>
            <a:spLocks noGrp="1"/>
          </p:cNvSpPr>
          <p:nvPr/>
        </p:nvSpPr>
        <p:spPr>
          <a:xfrm>
            <a:off x="7677150" y="1047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2EE1EE-EFE7-428D-A9FA-9C1B61CA6182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1334750" cy="457200"/>
          </a:xfrm>
          <a:prstGeom prst="rect">
            <a:avLst/>
          </a:prstGeom>
          <a:solidFill>
            <a:srgbClr val="E5F3EB"/>
          </a:solidFill>
          <a:ln w="0">
            <a:solidFill>
              <a:srgbClr val="E5F3E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7A180E-C0D9-4DB9-AFD3-CA44CCCD01BD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381125" cy="457200"/>
          </a:xfrm>
          <a:prstGeom prst="rect">
            <a:avLst/>
          </a:prstGeom>
          <a:solidFill>
            <a:srgbClr val="1AAE91"/>
          </a:solidFill>
          <a:ln w="0">
            <a:solidFill>
              <a:srgbClr val="1AAE9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2AF24C-8FD0-45F5-B5DF-A37DDDE19E3B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概念辨析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AA9538-7EC7-43D8-AE79-43823261ED1E}"/>
              </a:ext>
            </a:extLst>
          </p:cNvPr>
          <p:cNvSpPr>
            <a:spLocks noGrp="1"/>
          </p:cNvSpPr>
          <p:nvPr/>
        </p:nvSpPr>
        <p:spPr>
          <a:xfrm>
            <a:off x="1924050" y="561975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595" lnSpcReduction="10000"/>
          </a:bodyPr>
          <a:lstStyle/>
          <a:p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瞬时速度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DA0FF9-91AF-43E7-B79C-F185C96859C3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105156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汽车速度表显示的是平均速度还是瞬时速度？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3F5C24-267A-481D-A528-B751D5AA1FAF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0515600" cy="28575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850" y="1898556"/>
            <a:ext cx="10782300" cy="405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1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_4#2b747e435?vcp=1&amp;pid=043674d11&amp;color=0,0,0&amp;tib=255,255,255&amp;vtp=1&amp;bt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2b747e435?vcp=1&amp;pid=043674d11&amp;color=255,255,255&amp;vtp=1">
            <a:extLst>
              <a:ext uri="{FF2B5EF4-FFF2-40B4-BE49-F238E27FC236}">
                <a16:creationId xmlns:a16="http://schemas.microsoft.com/office/drawing/2014/main" id="{912AE404-7484-4D84-BCD1-B04432CEE8F3}"/>
              </a:ext>
            </a:extLst>
          </p:cNvPr>
          <p:cNvSpPr>
            <a:spLocks noGrp="1"/>
          </p:cNvSpPr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2800" b="1" i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2</a:t>
            </a:r>
            <a:endParaRPr sz="2800"/>
          </a:p>
        </p:txBody>
      </p:sp>
      <p:sp>
        <p:nvSpPr>
          <p:cNvPr id="4" name="C_4_BD#2b747e435?vcp=1&amp;pid=043674d11&amp;color=0,0,0&amp;vtp=1&amp;bbb=1">
            <a:extLst>
              <a:ext uri="{FF2B5EF4-FFF2-40B4-BE49-F238E27FC236}">
                <a16:creationId xmlns:a16="http://schemas.microsoft.com/office/drawing/2014/main" id="{3C17F4E0-56A4-426B-A057-7CF41DB18E89}"/>
              </a:ext>
            </a:extLst>
          </p:cNvPr>
          <p:cNvSpPr>
            <a:spLocks noGrp="1"/>
          </p:cNvSpPr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ts val="3200"/>
              </a:lnSpc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平均速度</a:t>
            </a:r>
            <a:r>
              <a:rPr sz="26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易错点</a:t>
            </a:r>
            <a:endParaRPr sz="2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883bdc15c?vcp=1&amp;pid=2b747e435&amp;color=0,0,0&amp;vtp=1&amp;bbb=1&amp;hb=1">
                <a:extLst>
                  <a:ext uri="{FF2B5EF4-FFF2-40B4-BE49-F238E27FC236}">
                    <a16:creationId xmlns:a16="http://schemas.microsoft.com/office/drawing/2014/main" id="{342776E2-7059-42C6-97D8-C33F410483D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092200"/>
                <a:ext cx="11402568" cy="27351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ctr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核心总结</a:t>
                </a:r>
                <a:endParaRPr sz="2400"/>
              </a:p>
              <a:p>
                <a:pPr>
                  <a:lnSpc>
                    <a:spcPts val="46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1.定义式：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barPr>
                      <m:e>
                        <m:r>
                          <a:rPr lang="en-US" sz="240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𝑣</m:t>
                        </m:r>
                      </m:e>
                    </m:ba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num>
                      <m:den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2.矢量性：平均速度是矢量，某一段时间内的平均速度方向和该段时间内的位移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方向相同.</a:t>
                </a:r>
                <a:endParaRPr sz="2400"/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3.意义:粗略表征在某段时间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(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或某段位移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)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内运动的快慢.</a:t>
                </a:r>
                <a:endParaRPr sz="2400"/>
              </a:p>
            </p:txBody>
          </p:sp>
        </mc:Choice>
        <mc:Fallback>
          <p:sp>
            <p:nvSpPr>
              <p:cNvPr id="5" name="P_5_BD#883bdc15c?vcp=1&amp;pid=2b747e435&amp;color=0,0,0&amp;vtp=1&amp;bbb=1&amp;hb=1">
                <a:extLst>
                  <a:ext uri="{FF2B5EF4-FFF2-40B4-BE49-F238E27FC236}">
                    <a16:creationId xmlns:a16="http://schemas.microsoft.com/office/drawing/2014/main" id="{342776E2-7059-42C6-97D8-C33F410483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2735199"/>
              </a:xfrm>
              <a:prstGeom prst="rect">
                <a:avLst/>
              </a:prstGeom>
              <a:blipFill>
                <a:blip r:embed="rId4"/>
                <a:stretch>
                  <a:fillRect l="-1658" b="-66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809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713163753?vcp=1&amp;pid=2b747e435&amp;color=0,0,0&amp;vtp=1&amp;bt=1&amp;bbb=1&amp;hb=1">
                <a:extLst>
                  <a:ext uri="{FF2B5EF4-FFF2-40B4-BE49-F238E27FC236}">
                    <a16:creationId xmlns:a16="http://schemas.microsoft.com/office/drawing/2014/main" id="{3CCE886E-684F-4578-AB4F-999A8B10DDB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793335"/>
                <a:ext cx="11402568" cy="32726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易错警示</a:t>
                </a:r>
                <a:endParaRPr sz="2400"/>
              </a:p>
              <a:p>
                <a:pPr algn="ctr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关于平均速度的几个易错点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1.计算平均速度时，切勿将速度的平均值误认为是平均速度，两者是不同的概念，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且通常是不相等的.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2.平均速度是矢量,其方向与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方向一致,而与物体的运动方向（即速度方向）没有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必然关系.</a:t>
                </a:r>
                <a:endParaRPr sz="2400"/>
              </a:p>
            </p:txBody>
          </p:sp>
        </mc:Choice>
        <mc:Fallback>
          <p:sp>
            <p:nvSpPr>
              <p:cNvPr id="2" name="P_5_BD#713163753?vcp=1&amp;pid=2b747e435&amp;color=0,0,0&amp;vtp=1&amp;bt=1&amp;bbb=1&amp;hb=1">
                <a:extLst>
                  <a:ext uri="{FF2B5EF4-FFF2-40B4-BE49-F238E27FC236}">
                    <a16:creationId xmlns:a16="http://schemas.microsoft.com/office/drawing/2014/main" id="{3CCE886E-684F-4578-AB4F-999A8B10DD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9333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2567" b="-5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98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713163753?vcp=1&amp;pid=2b747e435&amp;color=0,0,0&amp;vtp=1&amp;bt=1&amp;bbb=1">
            <a:extLst>
              <a:ext uri="{FF2B5EF4-FFF2-40B4-BE49-F238E27FC236}">
                <a16:creationId xmlns:a16="http://schemas.microsoft.com/office/drawing/2014/main" id="{8319F063-4642-4C5F-99AB-2C040B9D9BA4}"/>
              </a:ext>
            </a:extLst>
          </p:cNvPr>
          <p:cNvSpPr>
            <a:spLocks noGrp="1"/>
          </p:cNvSpPr>
          <p:nvPr/>
        </p:nvSpPr>
        <p:spPr>
          <a:xfrm>
            <a:off x="393192" y="1782636"/>
            <a:ext cx="11402568" cy="326859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方法梳理</a:t>
            </a:r>
            <a:endParaRPr sz="2400"/>
          </a:p>
          <a:p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求平均速度的步骤</a:t>
            </a:r>
            <a:endParaRPr sz="2400"/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1.确定物体运动的过程.</a:t>
            </a:r>
            <a:endParaRPr sz="2400"/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2.确定该运动过程对应的位移和时间.</a:t>
            </a:r>
            <a:endParaRPr sz="2400"/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3.根据平均速度的定义，求平均速度的大小.</a:t>
            </a:r>
            <a:endParaRPr sz="2400"/>
          </a:p>
          <a:p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4.根据位移来确定平均速度的方向.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78027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713163753?vcp=1&amp;pid=2b747e435&amp;color=0,0,0&amp;vtp=1&amp;bt=1&amp;bbb=1">
            <a:extLst>
              <a:ext uri="{FF2B5EF4-FFF2-40B4-BE49-F238E27FC236}">
                <a16:creationId xmlns:a16="http://schemas.microsoft.com/office/drawing/2014/main" id="{299B6E63-610A-4387-B946-FE7AEE7D5840}"/>
              </a:ext>
            </a:extLst>
          </p:cNvPr>
          <p:cNvSpPr>
            <a:spLocks noGrp="1"/>
          </p:cNvSpPr>
          <p:nvPr/>
        </p:nvSpPr>
        <p:spPr>
          <a:xfrm>
            <a:off x="393192" y="910304"/>
            <a:ext cx="11402568" cy="10375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易错警示</a:t>
            </a:r>
            <a:endParaRPr sz="2400"/>
          </a:p>
          <a:p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平均速度和平均速率的比较</a:t>
            </a:r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P_5_BD#713163753?colgroup=6,14,14&amp;vcp=1&amp;pid=2b747e435&amp;color=0,0,0&amp;vtp=1&amp;bbb=1&amp;hb=1"/>
              <p:cNvGraphicFramePr/>
              <p:nvPr/>
            </p:nvGraphicFramePr>
            <p:xfrm>
              <a:off x="393192" y="2083530"/>
              <a:ext cx="11402718" cy="3850196"/>
            </p:xfrm>
            <a:graphic>
              <a:graphicData uri="http://schemas.openxmlformats.org/drawingml/2006/table">
                <a:tbl>
                  <a:tblPr/>
                  <a:tblGrid>
                    <a:gridCol w="59511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8696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841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51743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92633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100"/>
                            </a:lnSpc>
                            <a:buNone/>
                          </a:pP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平均速度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平均速率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0019">
                    <a:tc rowSpan="3"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38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区</a:t>
                          </a:r>
                        </a:p>
                        <a:p>
                          <a:pPr marL="0" lvl="0" indent="0" algn="ctr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别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定义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>
                            <a:lnSpc>
                              <a:spcPts val="60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平均速度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位移</m:t>
                                  </m:r>
                                </m:num>
                                <m:den>
                                  <m:r>
                                    <a:rPr lang="en-US" sz="2400" b="0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时间</m:t>
                                  </m:r>
                                </m:den>
                              </m:f>
                            </m:oMath>
                          </a14:m>
                          <a:r>
                            <a:rPr sz="100" b="0" i="0" kern="0" spc="-99900">
                              <a:solidFill>
                                <a:srgbClr val="FFFFFF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 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l">
                            <a:lnSpc>
                              <a:spcPts val="60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平均速率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路程</m:t>
                                  </m:r>
                                </m:num>
                                <m:den>
                                  <m:r>
                                    <a:rPr lang="en-US" sz="2400" b="0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时间</m:t>
                                  </m:r>
                                </m:den>
                              </m:f>
                            </m:oMath>
                          </a14:m>
                          <a:r>
                            <a:rPr sz="100" b="0" i="0" kern="0" spc="-99900">
                              <a:solidFill>
                                <a:srgbClr val="FFFFFF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 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标矢性</a:t>
                          </a: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SimSun"/>
                              <a:ea typeface="SimSun"/>
                              <a:cs typeface="SimSun"/>
                            </a:rPr>
                            <a:t> 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矢量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标量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物理意义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8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描述一段时间内物体位置变化的</a:t>
                          </a:r>
                        </a:p>
                        <a:p>
                          <a:pPr marL="0" lvl="0" indent="0" algn="l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快慢和方向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l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描述一段时间内物体运动的快慢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74344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联系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8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平均速度的大小一般小于平均速率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，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只有在单方向直线运动中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，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</a:t>
                          </a:r>
                        </a:p>
                        <a:p>
                          <a:pPr marL="0" lvl="0" indent="0" algn="l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均速度的大小才等于平均速率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P_5_BD#713163753?colgroup=6,14,14&amp;vcp=1&amp;pid=2b747e435&amp;color=0,0,0&amp;vtp=1&amp;bbb=1&amp;hb=1"/>
              <p:cNvGraphicFramePr/>
              <p:nvPr/>
            </p:nvGraphicFramePr>
            <p:xfrm>
              <a:off x="393192" y="2083530"/>
              <a:ext cx="11402718" cy="3850196"/>
            </p:xfrm>
            <a:graphic>
              <a:graphicData uri="http://schemas.openxmlformats.org/drawingml/2006/table">
                <a:tbl>
                  <a:tblPr/>
                  <a:tblGrid>
                    <a:gridCol w="59511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8696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50841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51743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74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92633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100"/>
                            </a:lnSpc>
                            <a:buNone/>
                          </a:pP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平均速度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平均速率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0019">
                    <a:tc rowSpan="3"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38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区</a:t>
                          </a:r>
                        </a:p>
                        <a:p>
                          <a:pPr marL="0" lvl="0" indent="0" algn="ctr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别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定义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47487" t="-57333" r="-100397" b="-281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147098" t="-57333" r="-132" b="-281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8856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标矢性</a:t>
                          </a: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SimSun"/>
                              <a:ea typeface="SimSun"/>
                              <a:cs typeface="SimSun"/>
                            </a:rPr>
                            <a:t> 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矢量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标量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74344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物理意义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8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描述一段时间内物体位置变化的</a:t>
                          </a:r>
                        </a:p>
                        <a:p>
                          <a:pPr marL="0" lvl="0" indent="0" algn="l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快慢和方向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l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描述一段时间内物体运动的快慢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74344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6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联系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8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平均速度的大小一般小于平均速率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，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只有在单方向直线运动中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，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</a:t>
                          </a:r>
                        </a:p>
                        <a:p>
                          <a:pPr marL="0" lvl="0" indent="0" algn="l">
                            <a:lnSpc>
                              <a:spcPts val="37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均速度的大小才等于平均速率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20114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6C138D1-EEAA-4791-8D3B-D8372949D680}"/>
              </a:ext>
            </a:extLst>
          </p:cNvPr>
          <p:cNvSpPr>
            <a:spLocks noGrp="1"/>
          </p:cNvSpPr>
          <p:nvPr/>
        </p:nvSpPr>
        <p:spPr>
          <a:xfrm>
            <a:off x="0" y="409575"/>
            <a:ext cx="12192000" cy="19050"/>
          </a:xfrm>
          <a:prstGeom prst="rect">
            <a:avLst/>
          </a:prstGeom>
          <a:solidFill>
            <a:srgbClr val="00A7DF"/>
          </a:solidFill>
          <a:ln w="0">
            <a:solidFill>
              <a:srgbClr val="00A7DF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118745-8A16-4AF9-80A1-A2C987AB6D30}"/>
              </a:ext>
            </a:extLst>
          </p:cNvPr>
          <p:cNvSpPr>
            <a:spLocks noGrp="1"/>
          </p:cNvSpPr>
          <p:nvPr/>
        </p:nvSpPr>
        <p:spPr>
          <a:xfrm>
            <a:off x="400050" y="1047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D30033-9795-45D0-8A79-C08092DA09BF}"/>
              </a:ext>
            </a:extLst>
          </p:cNvPr>
          <p:cNvSpPr>
            <a:spLocks noGrp="1"/>
          </p:cNvSpPr>
          <p:nvPr/>
        </p:nvSpPr>
        <p:spPr>
          <a:xfrm>
            <a:off x="7677150" y="1047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6D593D-D130-4598-B28A-A5E5EBDFCF1F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1334750" cy="457200"/>
          </a:xfrm>
          <a:prstGeom prst="rect">
            <a:avLst/>
          </a:prstGeom>
          <a:solidFill>
            <a:srgbClr val="E5F3EB"/>
          </a:solidFill>
          <a:ln w="0">
            <a:solidFill>
              <a:srgbClr val="E5F3E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05FCD3-C83F-412B-8EBC-4ADC166D1B03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381125" cy="457200"/>
          </a:xfrm>
          <a:prstGeom prst="rect">
            <a:avLst/>
          </a:prstGeom>
          <a:solidFill>
            <a:srgbClr val="1AAE91"/>
          </a:solidFill>
          <a:ln w="0">
            <a:solidFill>
              <a:srgbClr val="1AAE9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CE1B5B-7B44-499C-9AA9-C4714FFFD584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课堂互动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3410A7-F2F1-4B85-9B33-7904D59AE920}"/>
              </a:ext>
            </a:extLst>
          </p:cNvPr>
          <p:cNvSpPr>
            <a:spLocks noGrp="1"/>
          </p:cNvSpPr>
          <p:nvPr/>
        </p:nvSpPr>
        <p:spPr>
          <a:xfrm>
            <a:off x="1924050" y="561975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595" lnSpcReduction="10000"/>
          </a:bodyPr>
          <a:lstStyle/>
          <a:p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读速度表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B84F59-EE03-452F-9689-8D3FA895F3C9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105156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抢答：速度表从 40 km/h 变到 60 km/h，能否据此确定两分钟内的平均速度？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C0E7F8-3EC7-451D-A538-6EA32576670B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0515600" cy="28575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06CCBF-64D6-4FC6-A6E4-3242AACA2392}"/>
              </a:ext>
            </a:extLst>
          </p:cNvPr>
          <p:cNvSpPr>
            <a:spLocks noGrp="1"/>
          </p:cNvSpPr>
          <p:nvPr/>
        </p:nvSpPr>
        <p:spPr>
          <a:xfrm>
            <a:off x="1752600" y="2714625"/>
            <a:ext cx="868680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2325" b="1">
                <a:solidFill>
                  <a:srgbClr val="1E49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4962"/>
                </a:solidFill>
                <a:latin typeface="Microsoft YaHei"/>
                <a:ea typeface="Microsoft YaHei"/>
                <a:cs typeface="Microsoft YaHei"/>
              </a:rPr>
              <a:t>举牌选择：能 / 不能</a:t>
            </a:r>
          </a:p>
          <a:p>
            <a:endParaRPr sz="2325" b="1">
              <a:solidFill>
                <a:srgbClr val="1E4962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2325" b="1">
                <a:solidFill>
                  <a:srgbClr val="1E49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E4962"/>
                </a:solidFill>
                <a:latin typeface="Microsoft YaHei"/>
                <a:ea typeface="Microsoft YaHei"/>
                <a:cs typeface="Microsoft YaHei"/>
              </a:rPr>
              <a:t>说出你的理由：平均速度需要知道这段时间内的位移和所用时间。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DF05C0-853E-4C45-BADE-AC9C5E8FAE12}"/>
              </a:ext>
            </a:extLst>
          </p:cNvPr>
          <p:cNvSpPr>
            <a:spLocks noGrp="1"/>
          </p:cNvSpPr>
          <p:nvPr/>
        </p:nvSpPr>
        <p:spPr>
          <a:xfrm>
            <a:off x="2000250" y="5095875"/>
            <a:ext cx="8191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D96B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D96B16"/>
                </a:solidFill>
                <a:latin typeface="Microsoft YaHei"/>
                <a:ea typeface="Microsoft YaHei"/>
                <a:cs typeface="Microsoft YaHei"/>
              </a:rPr>
              <a:t>提示：速度表在某一时刻的读数反映瞬时速度。</a:t>
            </a:r>
          </a:p>
        </p:txBody>
      </p:sp>
    </p:spTree>
    <p:extLst>
      <p:ext uri="{BB962C8B-B14F-4D97-AF65-F5344CB8AC3E}">
        <p14:creationId xmlns:p14="http://schemas.microsoft.com/office/powerpoint/2010/main" val="973984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_4#6b0fb1775?vcp=1&amp;pid=043674d11&amp;color=0,0,0&amp;tib=255,255,255&amp;vtp=1&amp;bt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6b0fb1775?vcp=1&amp;pid=043674d11&amp;color=255,255,255&amp;vtp=1">
            <a:extLst>
              <a:ext uri="{FF2B5EF4-FFF2-40B4-BE49-F238E27FC236}">
                <a16:creationId xmlns:a16="http://schemas.microsoft.com/office/drawing/2014/main" id="{81196915-B39E-415C-9A83-9C62E107987E}"/>
              </a:ext>
            </a:extLst>
          </p:cNvPr>
          <p:cNvSpPr>
            <a:spLocks noGrp="1"/>
          </p:cNvSpPr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2800" b="1" i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3</a:t>
            </a:r>
            <a:endParaRPr sz="2800"/>
          </a:p>
        </p:txBody>
      </p:sp>
      <p:sp>
        <p:nvSpPr>
          <p:cNvPr id="4" name="C_4_BD#6b0fb1775?vcp=1&amp;pid=043674d11&amp;color=0,0,0&amp;vtp=1&amp;bbb=1">
            <a:extLst>
              <a:ext uri="{FF2B5EF4-FFF2-40B4-BE49-F238E27FC236}">
                <a16:creationId xmlns:a16="http://schemas.microsoft.com/office/drawing/2014/main" id="{DE1E178E-AE40-484D-B3F3-65C6147544CD}"/>
              </a:ext>
            </a:extLst>
          </p:cNvPr>
          <p:cNvSpPr>
            <a:spLocks noGrp="1"/>
          </p:cNvSpPr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ts val="3200"/>
              </a:lnSpc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瞬时速度</a:t>
            </a:r>
            <a:r>
              <a:rPr sz="26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易错点</a:t>
            </a:r>
            <a:endParaRPr sz="2600"/>
          </a:p>
        </p:txBody>
      </p:sp>
      <p:sp>
        <p:nvSpPr>
          <p:cNvPr id="5" name="P_5_BD#af06df6f5?vcp=1&amp;pid=6b0fb1775&amp;color=0,0,0&amp;vtp=1&amp;bbb=1">
            <a:extLst>
              <a:ext uri="{FF2B5EF4-FFF2-40B4-BE49-F238E27FC236}">
                <a16:creationId xmlns:a16="http://schemas.microsoft.com/office/drawing/2014/main" id="{B8763A14-19D1-4102-9304-439028006BEE}"/>
              </a:ext>
            </a:extLst>
          </p:cNvPr>
          <p:cNvSpPr>
            <a:spLocks noGrp="1"/>
          </p:cNvSpPr>
          <p:nvPr/>
        </p:nvSpPr>
        <p:spPr>
          <a:xfrm>
            <a:off x="393192" y="1092200"/>
            <a:ext cx="11402568" cy="8470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35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核心总结</a:t>
            </a:r>
            <a:endParaRPr sz="2400"/>
          </a:p>
          <a:p>
            <a:pPr algn="ctr">
              <a:lnSpc>
                <a:spcPts val="3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平均速度和瞬时速度的比较</a:t>
            </a:r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P_5_BD#af06df6f5?colgroup=4,16,15&amp;vcp=1&amp;pid=6b0fb1775&amp;color=0,0,0&amp;vtp=1&amp;bbb=1&amp;hb=1"/>
              <p:cNvGraphicFramePr/>
              <p:nvPr/>
            </p:nvGraphicFramePr>
            <p:xfrm>
              <a:off x="393192" y="2070100"/>
              <a:ext cx="11356848" cy="4315968"/>
            </p:xfrm>
            <a:graphic>
              <a:graphicData uri="http://schemas.openxmlformats.org/drawingml/2006/table">
                <a:tbl>
                  <a:tblPr/>
                  <a:tblGrid>
                    <a:gridCol w="4754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932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8828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65201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100"/>
                            </a:lnSpc>
                            <a:buNone/>
                          </a:pP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3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平均速度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3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瞬时速度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0336">
                    <a:tc rowSpan="3"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区</a:t>
                          </a:r>
                        </a:p>
                        <a:p>
                          <a:pPr marL="0" lvl="0" indent="0" algn="ctr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别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对应</a:t>
                          </a:r>
                        </a:p>
                        <a:p>
                          <a:pPr marL="0" lvl="0" indent="0" algn="ctr">
                            <a:lnSpc>
                              <a:spcPts val="33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关系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与某一过程中的一段位移或一段时间</a:t>
                          </a:r>
                        </a:p>
                        <a:p>
                          <a:pPr marL="0" lvl="0" indent="0"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对应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与运动过程中的某一位置或某一时</a:t>
                          </a:r>
                        </a:p>
                        <a:p>
                          <a:pPr marL="0" lvl="0" indent="0"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刻对应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0336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物理</a:t>
                          </a:r>
                        </a:p>
                        <a:p>
                          <a:pPr marL="0" lvl="0" indent="0" algn="ctr">
                            <a:lnSpc>
                              <a:spcPts val="33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意义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描述物体在一段位移或一段时间内运</a:t>
                          </a:r>
                        </a:p>
                        <a:p>
                          <a:pPr marL="0" lvl="0" indent="0"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动的快慢和方向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描述物体在某一位置或某一时刻运</a:t>
                          </a:r>
                        </a:p>
                        <a:p>
                          <a:pPr marL="0" lvl="0" indent="0"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动的快慢和方向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1424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3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方向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与对应时间内物体的位移方向相同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与物体所在位置的运动方向相同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558671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3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联系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（1）在公式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𝑣</m:t>
                              </m:r>
                              <m:r>
                                <a:rPr lang="en-US" sz="2400" b="0" i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𝛥</m:t>
                                  </m:r>
                                  <m:r>
                                    <a:rPr lang="en-US" sz="2400" b="0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400" b="0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𝛥</m:t>
                                  </m:r>
                                  <m:r>
                                    <a:rPr lang="en-US" sz="2400" b="0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中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400" b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𝛥</m:t>
                                  </m:r>
                                  <m:r>
                                    <a:rPr lang="en-US" sz="2400" b="0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𝑡</m:t>
                                  </m:r>
                                  <m:r>
                                    <a:rPr lang="en-US" sz="2400" b="0" i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→0</m:t>
                                  </m:r>
                                </m:e>
                              </m:d>
                            </m:oMath>
                          </a14:m>
                          <a:r>
                            <a:rPr sz="100" b="0" i="0" kern="0" spc="-99900">
                              <a:solidFill>
                                <a:srgbClr val="FFFFFF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 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时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，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平均速度即瞬时速度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；</a:t>
                          </a:r>
                          <a:endParaRPr sz="1200" spc="-100"/>
                        </a:p>
                        <a:p>
                          <a:pPr marL="0" indent="0" algn="l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（2）在匀速直线运动中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，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各时刻的瞬时速度都相等</a:t>
                          </a:r>
                          <a:r>
                            <a:rPr sz="2400" b="0" i="0" spc="-10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，</a:t>
                          </a: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所以任意一段时间</a:t>
                          </a:r>
                        </a:p>
                        <a:p>
                          <a:pPr marL="0" lvl="0" indent="0"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内的平均速度等于任一时刻的瞬时速度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P_5_BD#af06df6f5?colgroup=4,16,15&amp;vcp=1&amp;pid=6b0fb1775&amp;color=0,0,0&amp;vtp=1&amp;bbb=1&amp;hb=1"/>
              <p:cNvGraphicFramePr/>
              <p:nvPr/>
            </p:nvGraphicFramePr>
            <p:xfrm>
              <a:off x="393192" y="2070100"/>
              <a:ext cx="11356848" cy="4315968"/>
            </p:xfrm>
            <a:graphic>
              <a:graphicData uri="http://schemas.openxmlformats.org/drawingml/2006/table">
                <a:tbl>
                  <a:tblPr/>
                  <a:tblGrid>
                    <a:gridCol w="4754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09320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8828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65201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100"/>
                            </a:lnSpc>
                            <a:buNone/>
                          </a:pP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3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平均速度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3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瞬时速度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0336">
                    <a:tc rowSpan="3"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区</a:t>
                          </a:r>
                        </a:p>
                        <a:p>
                          <a:pPr marL="0" lvl="0" indent="0" algn="ctr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别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对应</a:t>
                          </a:r>
                        </a:p>
                        <a:p>
                          <a:pPr marL="0" lvl="0" indent="0" algn="ctr">
                            <a:lnSpc>
                              <a:spcPts val="33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关系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与某一过程中的一段位移或一段时间</a:t>
                          </a:r>
                        </a:p>
                        <a:p>
                          <a:pPr marL="0" lvl="0" indent="0"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对应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与运动过程中的某一位置或某一时</a:t>
                          </a:r>
                        </a:p>
                        <a:p>
                          <a:pPr marL="0" lvl="0" indent="0"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刻对应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0336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物理</a:t>
                          </a:r>
                        </a:p>
                        <a:p>
                          <a:pPr marL="0" lvl="0" indent="0" algn="ctr">
                            <a:lnSpc>
                              <a:spcPts val="33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意义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描述物体在一段位移或一段时间内运</a:t>
                          </a:r>
                        </a:p>
                        <a:p>
                          <a:pPr marL="0" lvl="0" indent="0"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动的快慢和方向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>
                            <a:lnSpc>
                              <a:spcPts val="35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描述物体在某一位置或某一时刻运</a:t>
                          </a:r>
                        </a:p>
                        <a:p>
                          <a:pPr marL="0" lvl="0" indent="0"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动的快慢和方向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71424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33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方向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与对应时间内物体的位移方向相同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400"/>
                            </a:lnSpc>
                            <a:buNone/>
                          </a:pPr>
                          <a:r>
                            <a:rPr sz="2400" b="0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与物体所在位置的运动方向相同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558671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ts val="3300"/>
                            </a:lnSpc>
                            <a:buNone/>
                          </a:pPr>
                          <a:r>
                            <a:rPr sz="2400" b="1" i="0">
                              <a:solidFill>
                                <a:srgbClr val="000000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联系</a:t>
                          </a:r>
                          <a:endParaRPr sz="1200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mpd="sng">
                          <a:solidFill>
                            <a:srgbClr val="000000"/>
                          </a:solidFill>
                          <a:prstDash val="solid"/>
                        </a:lnL>
                        <a:lnR w="9525" cmpd="sng">
                          <a:solidFill>
                            <a:srgbClr val="000000"/>
                          </a:solidFill>
                          <a:prstDash val="solid"/>
                        </a:lnR>
                        <a:lnT w="9525" cmpd="sng">
                          <a:solidFill>
                            <a:srgbClr val="000000"/>
                          </a:solidFill>
                          <a:prstDash val="solid"/>
                        </a:lnT>
                        <a:lnB w="9525" cmpd="sng">
                          <a:solidFill>
                            <a:srgbClr val="000000"/>
                          </a:solidFill>
                          <a:prstDash val="solid"/>
                        </a:lnB>
                        <a:blipFill>
                          <a:blip r:embed="rId4"/>
                          <a:stretch>
                            <a:fillRect l="-13928" t="-180469" r="-122" b="-156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26043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0fc1e0ecb?vcp=1&amp;pid=6b0fb1775&amp;color=0,0,0&amp;vtp=1&amp;bt=1&amp;bbb=1&amp;hb=1">
            <a:extLst>
              <a:ext uri="{FF2B5EF4-FFF2-40B4-BE49-F238E27FC236}">
                <a16:creationId xmlns:a16="http://schemas.microsoft.com/office/drawing/2014/main" id="{3AD767D4-B332-4F5B-8F32-5FB7A636D7B1}"/>
              </a:ext>
            </a:extLst>
          </p:cNvPr>
          <p:cNvSpPr>
            <a:spLocks noGrp="1"/>
          </p:cNvSpPr>
          <p:nvPr/>
        </p:nvSpPr>
        <p:spPr>
          <a:xfrm>
            <a:off x="393192" y="683355"/>
            <a:ext cx="11402568" cy="5507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难点突破</a:t>
            </a:r>
            <a:endParaRPr sz="2400"/>
          </a:p>
          <a:p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用极限思想理解瞬时速度</a:t>
            </a:r>
            <a:endParaRPr sz="2400"/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为了精确地描述做变速直线运动的质点运动的快慢和方向，我们可采用无限取微</a:t>
            </a:r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逐渐逼近的方法，具体如下：</a:t>
            </a:r>
            <a:endParaRPr sz="2400"/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1.从质点经过某点起在后面取一小段位移，求出质点在该段位移上的平均速度.</a:t>
            </a:r>
            <a:endParaRPr sz="2400"/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2.从该点起所取的位移越小，质点在该段时间内的速度变化就越小，即质点在该</a:t>
            </a:r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段时间内的运动越趋于匀速直线运动.</a:t>
            </a:r>
            <a:endParaRPr sz="2400"/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3.当位移足够小（或时间足够短）时，质点在这段时间内的运动可以认为是匀速</a:t>
            </a:r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的，求得的平均速度就等于质点通过该点时的速度，即瞬时速度.对变速直线运动，各</a:t>
            </a:r>
          </a:p>
          <a:p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点的瞬时速度是变化的.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09029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0fc1e0ecb?vcp=1&amp;pid=6b0fb1775&amp;color=0,0,0&amp;vtp=1&amp;bt=1&amp;bbb=1&amp;hb=1">
                <a:extLst>
                  <a:ext uri="{FF2B5EF4-FFF2-40B4-BE49-F238E27FC236}">
                    <a16:creationId xmlns:a16="http://schemas.microsoft.com/office/drawing/2014/main" id="{8E83C3B7-D461-4850-9DE3-FD426905A89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2185988"/>
                <a:ext cx="11402568" cy="11176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如图所示，当时间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足够小时，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时刻的瞬时速度等于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时间内的平均速度.即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时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刻的瞬时速度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num>
                      <m:den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  <a:endParaRPr sz="2400"/>
              </a:p>
            </p:txBody>
          </p:sp>
        </mc:Choice>
        <mc:Fallback>
          <p:sp>
            <p:nvSpPr>
              <p:cNvPr id="2" name="P_5_BD#0fc1e0ecb?vcp=1&amp;pid=6b0fb1775&amp;color=0,0,0&amp;vtp=1&amp;bt=1&amp;bbb=1&amp;hb=1">
                <a:extLst>
                  <a:ext uri="{FF2B5EF4-FFF2-40B4-BE49-F238E27FC236}">
                    <a16:creationId xmlns:a16="http://schemas.microsoft.com/office/drawing/2014/main" id="{8E83C3B7-D461-4850-9DE3-FD426905A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85988"/>
                <a:ext cx="11402568" cy="1117600"/>
              </a:xfrm>
              <a:prstGeom prst="rect">
                <a:avLst/>
              </a:prstGeom>
              <a:blipFill>
                <a:blip r:embed="rId3"/>
                <a:stretch>
                  <a:fillRect l="-1658" r="-1016" b="-9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_5_BD#0fc1e0ecb?vcp=1&amp;pid=6b0fb1775&amp;color=0,0,0&amp;tib=255,255,255&amp;vtp=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37176" y="3442335"/>
            <a:ext cx="2514600" cy="44805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P_5_BD#0fc1e0ecb?vcp=1&amp;pid=6b0fb1775&amp;color=0,0,0&amp;vtp=1&amp;bbb=1">
                <a:extLst>
                  <a:ext uri="{FF2B5EF4-FFF2-40B4-BE49-F238E27FC236}">
                    <a16:creationId xmlns:a16="http://schemas.microsoft.com/office/drawing/2014/main" id="{ACED4534-289F-47BA-B02E-8C68E2FC6B9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4026535"/>
                <a:ext cx="11402568" cy="484124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3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［注意］</a:t>
                </a: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所谓的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足够小就是根据具体的实际问题在要求的精度范围内即可.</a:t>
                </a:r>
                <a:endParaRPr sz="2400"/>
              </a:p>
            </p:txBody>
          </p:sp>
        </mc:Choice>
        <mc:Fallback>
          <p:sp>
            <p:nvSpPr>
              <p:cNvPr id="4" name="P_5_BD#0fc1e0ecb?vcp=1&amp;pid=6b0fb1775&amp;color=0,0,0&amp;vtp=1&amp;bbb=1">
                <a:extLst>
                  <a:ext uri="{FF2B5EF4-FFF2-40B4-BE49-F238E27FC236}">
                    <a16:creationId xmlns:a16="http://schemas.microsoft.com/office/drawing/2014/main" id="{ACED4534-289F-47BA-B02E-8C68E2FC6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26535"/>
                <a:ext cx="11402568" cy="484124"/>
              </a:xfrm>
              <a:prstGeom prst="rect">
                <a:avLst/>
              </a:prstGeom>
              <a:blipFill>
                <a:blip r:embed="rId5"/>
                <a:stretch>
                  <a:fillRect t="-1266" b="-379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854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6_1#7d0ac2ba3?vcp=1&amp;pid=2b747e435&amp;color=0,0,0&amp;vtp=1&amp;bt=1&amp;bbb=1&amp;hb=1">
                <a:extLst>
                  <a:ext uri="{FF2B5EF4-FFF2-40B4-BE49-F238E27FC236}">
                    <a16:creationId xmlns:a16="http://schemas.microsoft.com/office/drawing/2014/main" id="{4042F71D-11F3-4C47-AEEB-A28ED6D3C5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710629"/>
                <a:ext cx="11402568" cy="15921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70C0"/>
                    </a:solidFill>
                    <a:latin typeface="Times New Roman"/>
                    <a:ea typeface="Times New Roman"/>
                    <a:cs typeface="Times New Roman"/>
                  </a:rPr>
                  <a:t>考题2</a:t>
                </a:r>
                <a:r>
                  <a:rPr sz="2400" b="1" i="0">
                    <a:solidFill>
                      <a:srgbClr val="0070C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一质点沿直线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𝑂𝑥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方向做变速运动，它离开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𝑂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点的距离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随时间变化的关系为</a:t>
                </a:r>
              </a:p>
              <a:p>
                <a:pPr>
                  <a:lnSpc>
                    <a:spcPts val="44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=5+2</m:t>
                    </m:r>
                    <m:sSup>
                      <m:sSup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e>
                      <m:sup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3</m:t>
                        </m:r>
                      </m:sup>
                    </m:sSup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(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)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，它的速度随时间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变化的关系为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=6</m:t>
                    </m:r>
                    <m:sSup>
                      <m:sSup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e>
                      <m:sup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sup>
                    </m:sSup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(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)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，该质点在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=0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到</a:t>
                </a:r>
              </a:p>
              <a:p>
                <a:pPr>
                  <a:lnSpc>
                    <a:spcPts val="42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=2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间的平均速度和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=2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到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=3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间的平均速度的大小分别为(</a:t>
                </a: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).</a:t>
                </a:r>
                <a:endParaRPr sz="2400"/>
              </a:p>
            </p:txBody>
          </p:sp>
        </mc:Choice>
        <mc:Fallback>
          <p:sp>
            <p:nvSpPr>
              <p:cNvPr id="2" name="QC_5_BD.6_1#7d0ac2ba3?vcp=1&amp;pid=2b747e435&amp;color=0,0,0&amp;vtp=1&amp;bt=1&amp;bbb=1&amp;hb=1">
                <a:extLst>
                  <a:ext uri="{FF2B5EF4-FFF2-40B4-BE49-F238E27FC236}">
                    <a16:creationId xmlns:a16="http://schemas.microsoft.com/office/drawing/2014/main" id="{4042F71D-11F3-4C47-AEEB-A28ED6D3C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10629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4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7_1#7d0ac2ba3.bracket?vcp=1&amp;pid=2b747e435&amp;color=0,0,0&amp;vpa=3&amp;vtp=1">
            <a:extLst>
              <a:ext uri="{FF2B5EF4-FFF2-40B4-BE49-F238E27FC236}">
                <a16:creationId xmlns:a16="http://schemas.microsoft.com/office/drawing/2014/main" id="{83F6DC88-BB48-44C3-9E74-79BA9C667089}"/>
              </a:ext>
            </a:extLst>
          </p:cNvPr>
          <p:cNvSpPr>
            <a:spLocks noGrp="1"/>
          </p:cNvSpPr>
          <p:nvPr/>
        </p:nvSpPr>
        <p:spPr>
          <a:xfrm>
            <a:off x="9407747" y="1816799"/>
            <a:ext cx="423863" cy="47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</a:t>
            </a:r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6_2#7d0ac2ba3.choices?vcp=1&amp;pid=2b747e435&amp;color=0,0,0&amp;vtp=1&amp;bbb=1">
                <a:extLst>
                  <a:ext uri="{FF2B5EF4-FFF2-40B4-BE49-F238E27FC236}">
                    <a16:creationId xmlns:a16="http://schemas.microsoft.com/office/drawing/2014/main" id="{170B76EA-D3CA-4426-BF82-1D829A0BE76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2304224"/>
                <a:ext cx="11402568" cy="102743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>
                  <a:lnSpc>
                    <a:spcPts val="4400"/>
                  </a:lnSpc>
                  <a:buNone/>
                  <a:tabLst>
                    <a:tab pos="5807954" algn="l"/>
                  </a:tabLst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A.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12 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39 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 spc="-1030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	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B.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8 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38 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endParaRPr sz="2400"/>
              </a:p>
              <a:p>
                <a:pPr>
                  <a:lnSpc>
                    <a:spcPts val="4200"/>
                  </a:lnSpc>
                  <a:buNone/>
                  <a:tabLst>
                    <a:tab pos="5807954" algn="l"/>
                  </a:tabLst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C.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12 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19.5 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 spc="-1030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	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D.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8 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13 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endParaRPr sz="2400"/>
              </a:p>
            </p:txBody>
          </p:sp>
        </mc:Choice>
        <mc:Fallback>
          <p:sp>
            <p:nvSpPr>
              <p:cNvPr id="4" name="QC_5_BD.6_2#7d0ac2ba3.choices?vcp=1&amp;pid=2b747e435&amp;color=0,0,0&amp;vtp=1&amp;bbb=1">
                <a:extLst>
                  <a:ext uri="{FF2B5EF4-FFF2-40B4-BE49-F238E27FC236}">
                    <a16:creationId xmlns:a16="http://schemas.microsoft.com/office/drawing/2014/main" id="{170B76EA-D3CA-4426-BF82-1D829A0BE7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04224"/>
                <a:ext cx="11402568" cy="1027430"/>
              </a:xfrm>
              <a:prstGeom prst="rect">
                <a:avLst/>
              </a:prstGeom>
              <a:blipFill>
                <a:blip r:embed="rId4"/>
                <a:stretch>
                  <a:fillRect l="-1658" b="-177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AS.8_1#7d0ac2ba3?vcp=1&amp;pid=2b747e435&amp;color=0,0,0&amp;vtp=1&amp;bbb=1&amp;hb=1">
                <a:extLst>
                  <a:ext uri="{FF2B5EF4-FFF2-40B4-BE49-F238E27FC236}">
                    <a16:creationId xmlns:a16="http://schemas.microsoft.com/office/drawing/2014/main" id="{B3AB86B7-E1F1-4092-A2A7-C70021F26A0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3344354"/>
                <a:ext cx="11402568" cy="27900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[解析]</a:t>
                </a:r>
                <a:r>
                  <a:rPr sz="2400" b="1" i="0">
                    <a:solidFill>
                      <a:srgbClr val="FF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∼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内的位移为</a:t>
                </a:r>
              </a:p>
              <a:p>
                <a:pPr>
                  <a:lnSpc>
                    <a:spcPts val="44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𝚫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𝟏</m:t>
                        </m:r>
                      </m:sub>
                    </m:sSub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−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</m:sub>
                    </m:sSub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=(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𝟓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×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𝟑</m:t>
                        </m:r>
                      </m:sup>
                    </m:sSup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)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−(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𝟓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×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𝟑</m:t>
                        </m:r>
                      </m:sup>
                    </m:sSup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)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𝟏𝟔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</m:oMath>
                </a14:m>
                <a:r>
                  <a:rPr sz="2400" b="1" i="0" kern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；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∼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𝟑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内的位移为</a:t>
                </a:r>
              </a:p>
              <a:p>
                <a:pPr>
                  <a:lnSpc>
                    <a:spcPts val="44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𝚫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𝟑</m:t>
                        </m:r>
                      </m:sub>
                    </m:sSub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−</m:t>
                    </m:r>
                    <m:sSub>
                      <m:sSub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𝒙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=(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𝟓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𝟑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𝟑</m:t>
                        </m:r>
                      </m:sup>
                    </m:sSup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)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−(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𝟓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×</m:t>
                    </m:r>
                    <m:sSup>
                      <m:s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𝟑</m:t>
                        </m:r>
                      </m:sup>
                    </m:sSup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)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𝟑𝟖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∼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时间间隔为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，平</a:t>
                </a:r>
              </a:p>
              <a:p>
                <a:pPr>
                  <a:lnSpc>
                    <a:spcPts val="50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均速度为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𝟏</m:t>
                        </m:r>
                      </m:sub>
                    </m:sSub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𝚫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𝚫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𝒕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𝟖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；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∼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𝟑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时间间隔为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，平均速度为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bar>
                          <m:barPr>
                            <m:pos m:val="top"/>
                            <m:ctrlP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𝒗</m:t>
                            </m:r>
                          </m:e>
                        </m:ba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𝚫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𝚫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𝒕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𝟑𝟖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故B正确.</a:t>
                </a:r>
                <a:endParaRPr sz="2400"/>
              </a:p>
            </p:txBody>
          </p:sp>
        </mc:Choice>
        <mc:Fallback>
          <p:sp>
            <p:nvSpPr>
              <p:cNvPr id="5" name="QC_5_AS.8_1#7d0ac2ba3?vcp=1&amp;pid=2b747e435&amp;color=0,0,0&amp;vtp=1&amp;bbb=1&amp;hb=1">
                <a:extLst>
                  <a:ext uri="{FF2B5EF4-FFF2-40B4-BE49-F238E27FC236}">
                    <a16:creationId xmlns:a16="http://schemas.microsoft.com/office/drawing/2014/main" id="{B3AB86B7-E1F1-4092-A2A7-C70021F26A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44354"/>
                <a:ext cx="11402568" cy="2790000"/>
              </a:xfrm>
              <a:prstGeom prst="rect">
                <a:avLst/>
              </a:prstGeom>
              <a:blipFill>
                <a:blip r:embed="rId5"/>
                <a:stretch>
                  <a:fillRect l="-1658" r="-1551" b="-6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7304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9_1#ad8b9e90c?vcp=1&amp;pid=2b747e435&amp;color=0,0,0&amp;vtp=1&amp;bt=1&amp;bbb=1&amp;hb=1">
                <a:extLst>
                  <a:ext uri="{FF2B5EF4-FFF2-40B4-BE49-F238E27FC236}">
                    <a16:creationId xmlns:a16="http://schemas.microsoft.com/office/drawing/2014/main" id="{5FB1F988-595C-4914-9531-402AE9FA640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275239"/>
                <a:ext cx="11402568" cy="21509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70C0"/>
                    </a:solidFill>
                    <a:latin typeface="Times New Roman"/>
                    <a:ea typeface="Times New Roman"/>
                    <a:cs typeface="Times New Roman"/>
                  </a:rPr>
                  <a:t>变式2-1</a:t>
                </a:r>
                <a:r>
                  <a:rPr sz="2400" b="1" i="0">
                    <a:solidFill>
                      <a:srgbClr val="0070C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（国防安全）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如图所示为我国海警开展的巡航活动路线图，某日上午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7：25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我国海警船从大陆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𝐴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港出发先向东直线行驶一段距离到达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𝐵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处，然后向北行驶一段距离，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于11：25到达小岛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𝐶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处，共历时4小时.已知小岛在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𝐴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港北偏东距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𝐴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100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𝑘𝑚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处，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𝐴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、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𝐶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连线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与正北方向的夹角为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60</m:t>
                        </m:r>
                      </m:e>
                      <m:sup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∘</m:t>
                        </m:r>
                      </m:sup>
                    </m:sSup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，则下列说法正确的是(</a:t>
                </a: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).</a:t>
                </a:r>
                <a:endParaRPr sz="2400"/>
              </a:p>
            </p:txBody>
          </p:sp>
        </mc:Choice>
        <mc:Fallback>
          <p:sp>
            <p:nvSpPr>
              <p:cNvPr id="2" name="QC_5_BD.9_1#ad8b9e90c?vcp=1&amp;pid=2b747e435&amp;color=0,0,0&amp;vtp=1&amp;bt=1&amp;bbb=1&amp;hb=1">
                <a:extLst>
                  <a:ext uri="{FF2B5EF4-FFF2-40B4-BE49-F238E27FC236}">
                    <a16:creationId xmlns:a16="http://schemas.microsoft.com/office/drawing/2014/main" id="{5FB1F988-595C-4914-9531-402AE9FA6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5239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4064" b="-8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0_1#ad8b9e90c.bracket?vcp=1&amp;pid=2b747e435&amp;color=0,0,0&amp;vpa=4&amp;vtp=1">
            <a:extLst>
              <a:ext uri="{FF2B5EF4-FFF2-40B4-BE49-F238E27FC236}">
                <a16:creationId xmlns:a16="http://schemas.microsoft.com/office/drawing/2014/main" id="{8E1AB807-AB94-4AFE-B8A0-7B92ADD0833B}"/>
              </a:ext>
            </a:extLst>
          </p:cNvPr>
          <p:cNvSpPr>
            <a:spLocks noGrp="1"/>
          </p:cNvSpPr>
          <p:nvPr/>
        </p:nvSpPr>
        <p:spPr>
          <a:xfrm>
            <a:off x="7016972" y="2940209"/>
            <a:ext cx="441325" cy="47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</a:t>
            </a:r>
            <a:endParaRPr sz="2400"/>
          </a:p>
        </p:txBody>
      </p:sp>
      <p:pic>
        <p:nvPicPr>
          <p:cNvPr id="9" name="QC_5_BD.9_2#ad8b9e90c?htil=1&amp;vcp=1&amp;pid=2b747e435&amp;color=0,0,0&amp;tib=255,255,255&amp;vtp=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31316" y="3460654"/>
            <a:ext cx="2130552" cy="1600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9_3#ad8b9e90c.choices?htil=1&amp;vcp=1&amp;pid=2b747e435&amp;color=0,0,0&amp;vtp=1&amp;bbb=1">
                <a:extLst>
                  <a:ext uri="{FF2B5EF4-FFF2-40B4-BE49-F238E27FC236}">
                    <a16:creationId xmlns:a16="http://schemas.microsoft.com/office/drawing/2014/main" id="{094B4DE2-B459-4996-9C65-A3B8260350E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3414934"/>
                <a:ext cx="9134856" cy="2158302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A.7：25指的是时间间隔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B.该过程海警船的路程小于位移的大小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C.该过程中海警船的平均速率为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25 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𝑘𝑚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h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endParaRPr sz="2400"/>
              </a:p>
              <a:p>
                <a:pPr>
                  <a:lnSpc>
                    <a:spcPts val="43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D.该过程中海警船的平均速度大小为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25 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𝑘𝑚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h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endParaRPr sz="2400"/>
              </a:p>
            </p:txBody>
          </p:sp>
        </mc:Choice>
        <mc:Fallback>
          <p:sp>
            <p:nvSpPr>
              <p:cNvPr id="5" name="QC_5_BD.9_3#ad8b9e90c.choices?htil=1&amp;vcp=1&amp;pid=2b747e435&amp;color=0,0,0&amp;vtp=1&amp;bbb=1">
                <a:extLst>
                  <a:ext uri="{FF2B5EF4-FFF2-40B4-BE49-F238E27FC236}">
                    <a16:creationId xmlns:a16="http://schemas.microsoft.com/office/drawing/2014/main" id="{094B4DE2-B459-4996-9C65-A3B8260350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4934"/>
                <a:ext cx="9134856" cy="2158302"/>
              </a:xfrm>
              <a:prstGeom prst="rect">
                <a:avLst/>
              </a:prstGeom>
              <a:blipFill>
                <a:blip r:embed="rId5"/>
                <a:stretch>
                  <a:fillRect l="-2069" b="-8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394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11_1#ad8b9e90c?vcp=1&amp;pid=2b747e435&amp;color=0,0,0&amp;vtp=1&amp;bt=1&amp;bbb=1&amp;hb=1">
                <a:extLst>
                  <a:ext uri="{FF2B5EF4-FFF2-40B4-BE49-F238E27FC236}">
                    <a16:creationId xmlns:a16="http://schemas.microsoft.com/office/drawing/2014/main" id="{9CC72171-9FDF-4269-94AA-D037906A1C1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870901"/>
                <a:ext cx="11402568" cy="29718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[解析]</a:t>
                </a:r>
                <a:r>
                  <a:rPr sz="2400" b="1" i="0">
                    <a:solidFill>
                      <a:srgbClr val="FF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𝟕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：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𝟐𝟓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对应时间轴上的一个点，指的是时刻，故A错误；海警船由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𝑨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港运动到小</a:t>
                </a:r>
              </a:p>
              <a:p>
                <a:pPr>
                  <a:lnSpc>
                    <a:spcPts val="51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岛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𝑪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，通过的路程为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𝒔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𝑨𝑩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𝑩𝑪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=(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𝟏𝟎𝟎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×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ad>
                          <m:rad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rad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𝟑</m:t>
                            </m:r>
                          </m:e>
                        </m:rad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𝟏𝟎𝟎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×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𝟏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)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𝐤𝐦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𝟓𝟎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(</m:t>
                    </m:r>
                    <m:rad>
                      <m:rad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rad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𝟑</m:t>
                        </m:r>
                      </m:e>
                    </m:rad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)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𝐤𝐦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，位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移大小为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𝒙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𝑨𝑪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𝟏𝟎𝟎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𝐤𝐦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，可知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𝒔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&gt;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𝒙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，故B错误；该过程中海警船的平均速率为</a:t>
                </a:r>
              </a:p>
              <a:p>
                <a:pPr>
                  <a:lnSpc>
                    <a:spcPts val="51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𝒗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𝒔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𝒕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𝟓𝟎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(</m:t>
                        </m:r>
                        <m:rad>
                          <m:rad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rad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𝟑</m:t>
                            </m:r>
                          </m:e>
                        </m:rad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𝟏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)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𝟒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𝐤𝐦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𝐡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𝟐𝟓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(</m:t>
                        </m:r>
                        <m:rad>
                          <m:rad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rad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𝟑</m:t>
                            </m:r>
                          </m:e>
                        </m:rad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𝟏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)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𝐤𝐦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𝐡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，平均速度大小为</a:t>
                </a:r>
              </a:p>
              <a:p>
                <a:pPr>
                  <a:lnSpc>
                    <a:spcPts val="4400"/>
                  </a:lnSpc>
                  <a:buNone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barPr>
                      <m:e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𝒗</m:t>
                        </m:r>
                      </m:e>
                    </m:ba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𝒙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𝒕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𝟏𝟎𝟎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𝟒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𝐤𝐦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𝐡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𝟐𝟓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𝐤𝐦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𝐡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，故C错误，D正确.</a:t>
                </a:r>
                <a:endParaRPr sz="2400"/>
              </a:p>
            </p:txBody>
          </p:sp>
        </mc:Choice>
        <mc:Fallback>
          <p:sp>
            <p:nvSpPr>
              <p:cNvPr id="2" name="QC_5_AS.11_1#ad8b9e90c?vcp=1&amp;pid=2b747e435&amp;color=0,0,0&amp;vtp=1&amp;bt=1&amp;bbb=1&amp;hb=1">
                <a:extLst>
                  <a:ext uri="{FF2B5EF4-FFF2-40B4-BE49-F238E27FC236}">
                    <a16:creationId xmlns:a16="http://schemas.microsoft.com/office/drawing/2014/main" id="{9CC72171-9FDF-4269-94AA-D037906A1C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70901"/>
                <a:ext cx="11402568" cy="2971800"/>
              </a:xfrm>
              <a:prstGeom prst="rect">
                <a:avLst/>
              </a:prstGeom>
              <a:blipFill>
                <a:blip r:embed="rId3"/>
                <a:stretch>
                  <a:fillRect l="-1658" r="-2086" b="-34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849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C377947E-2C74-442A-8CB2-7C2B671BE73C}"/>
              </a:ext>
            </a:extLst>
          </p:cNvPr>
          <p:cNvSpPr>
            <a:spLocks noGrp="1"/>
          </p:cNvSpPr>
          <p:nvPr/>
        </p:nvSpPr>
        <p:spPr>
          <a:xfrm>
            <a:off x="0" y="409575"/>
            <a:ext cx="12192000" cy="19050"/>
          </a:xfrm>
          <a:prstGeom prst="rect">
            <a:avLst/>
          </a:prstGeom>
          <a:solidFill>
            <a:srgbClr val="00A7DF"/>
          </a:solidFill>
          <a:ln w="0">
            <a:solidFill>
              <a:srgbClr val="00A7DF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1D61D3-C712-4750-BF32-7062A991E030}"/>
              </a:ext>
            </a:extLst>
          </p:cNvPr>
          <p:cNvSpPr>
            <a:spLocks noGrp="1"/>
          </p:cNvSpPr>
          <p:nvPr/>
        </p:nvSpPr>
        <p:spPr>
          <a:xfrm>
            <a:off x="400050" y="1047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5B6427-7DE5-4EF4-B87F-A49B92E4843C}"/>
              </a:ext>
            </a:extLst>
          </p:cNvPr>
          <p:cNvSpPr>
            <a:spLocks noGrp="1"/>
          </p:cNvSpPr>
          <p:nvPr/>
        </p:nvSpPr>
        <p:spPr>
          <a:xfrm>
            <a:off x="7677150" y="1047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AE748F-79E2-4A39-A9E0-9EF92C6CE8F2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1334750" cy="457200"/>
          </a:xfrm>
          <a:prstGeom prst="rect">
            <a:avLst/>
          </a:prstGeom>
          <a:solidFill>
            <a:srgbClr val="E5F3EB"/>
          </a:solidFill>
          <a:ln w="0">
            <a:solidFill>
              <a:srgbClr val="E5F3E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2DF622-0853-4084-821C-8625DCECED07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381125" cy="457200"/>
          </a:xfrm>
          <a:prstGeom prst="rect">
            <a:avLst/>
          </a:prstGeom>
          <a:solidFill>
            <a:srgbClr val="1AAE91"/>
          </a:solidFill>
          <a:ln w="0">
            <a:solidFill>
              <a:srgbClr val="1AAE9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533563-D9A5-4922-B83F-75F18136753B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实验探究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71DA4E-61E7-454D-9ABE-97C1334EF968}"/>
              </a:ext>
            </a:extLst>
          </p:cNvPr>
          <p:cNvSpPr>
            <a:spLocks noGrp="1"/>
          </p:cNvSpPr>
          <p:nvPr/>
        </p:nvSpPr>
        <p:spPr>
          <a:xfrm>
            <a:off x="1924050" y="561975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595" lnSpcReduction="10000"/>
          </a:bodyPr>
          <a:lstStyle/>
          <a:p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测量平均速度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C7B9DA-D096-4296-A584-2C6E4BD5F8FE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105156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操作挑战：先确认哪两个量，再计算纸带上 D 到 G 的平均速度？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C1AE40-0CE7-4805-8399-31BA902971E8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0515600" cy="28575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C7C6BD-2A4F-4D18-8F41-041ADDF41313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2095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测量总思路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61975" y="2009775"/>
            <a:ext cx="6668049" cy="19240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2B9D536-3987-440A-94EE-AFD22A03674C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计算关系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050" y="4411120"/>
            <a:ext cx="5200650" cy="158858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E0210D5-3C38-4BFE-AEC7-925969EAED61}"/>
              </a:ext>
            </a:extLst>
          </p:cNvPr>
          <p:cNvSpPr>
            <a:spLocks noGrp="1"/>
          </p:cNvSpPr>
          <p:nvPr/>
        </p:nvSpPr>
        <p:spPr>
          <a:xfrm>
            <a:off x="6410325" y="409575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时间的测量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38875" y="4486526"/>
            <a:ext cx="5238750" cy="72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08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CDC65AB8-4910-4290-A03C-20C2DAC601A3}"/>
              </a:ext>
            </a:extLst>
          </p:cNvPr>
          <p:cNvSpPr>
            <a:spLocks noGrp="1"/>
          </p:cNvSpPr>
          <p:nvPr/>
        </p:nvSpPr>
        <p:spPr>
          <a:xfrm>
            <a:off x="0" y="409575"/>
            <a:ext cx="12192000" cy="19050"/>
          </a:xfrm>
          <a:prstGeom prst="rect">
            <a:avLst/>
          </a:prstGeom>
          <a:solidFill>
            <a:srgbClr val="00A7DF"/>
          </a:solidFill>
          <a:ln w="0">
            <a:solidFill>
              <a:srgbClr val="00A7DF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496E37-4017-45D5-B2EB-904385BEA040}"/>
              </a:ext>
            </a:extLst>
          </p:cNvPr>
          <p:cNvSpPr>
            <a:spLocks noGrp="1"/>
          </p:cNvSpPr>
          <p:nvPr/>
        </p:nvSpPr>
        <p:spPr>
          <a:xfrm>
            <a:off x="400050" y="1047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010851-BAE8-4652-8F37-0928674C4B6A}"/>
              </a:ext>
            </a:extLst>
          </p:cNvPr>
          <p:cNvSpPr>
            <a:spLocks noGrp="1"/>
          </p:cNvSpPr>
          <p:nvPr/>
        </p:nvSpPr>
        <p:spPr>
          <a:xfrm>
            <a:off x="7677150" y="1047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68766A-ABCE-4BE2-A967-400C9F750DBC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1334750" cy="457200"/>
          </a:xfrm>
          <a:prstGeom prst="rect">
            <a:avLst/>
          </a:prstGeom>
          <a:solidFill>
            <a:srgbClr val="E5F3EB"/>
          </a:solidFill>
          <a:ln w="0">
            <a:solidFill>
              <a:srgbClr val="E5F3E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C5712C-128F-494D-B79B-BCF30461C023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381125" cy="457200"/>
          </a:xfrm>
          <a:prstGeom prst="rect">
            <a:avLst/>
          </a:prstGeom>
          <a:solidFill>
            <a:srgbClr val="1AAE91"/>
          </a:solidFill>
          <a:ln w="0">
            <a:solidFill>
              <a:srgbClr val="1AAE9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3FBBE1-3C7F-4644-93FB-4A7A919DDCF6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实验探究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E9E2C6-5070-486C-A43E-EF6BA706D16F}"/>
              </a:ext>
            </a:extLst>
          </p:cNvPr>
          <p:cNvSpPr>
            <a:spLocks noGrp="1"/>
          </p:cNvSpPr>
          <p:nvPr/>
        </p:nvSpPr>
        <p:spPr>
          <a:xfrm>
            <a:off x="1924050" y="561975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595" lnSpcReduction="10000"/>
          </a:bodyPr>
          <a:lstStyle/>
          <a:p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测量瞬时速度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D7F118-44F8-4A4D-833F-21A21025B1D5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105156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比较 DF 和 DG 两个时间间隔，哪一个更适合近似 E 点瞬时速度？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07FE95-D0A4-4EBB-A72C-A41254428A7A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0515600" cy="28575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B22AA8-4356-491B-AED4-928626062CD8}"/>
              </a:ext>
            </a:extLst>
          </p:cNvPr>
          <p:cNvSpPr>
            <a:spLocks noGrp="1"/>
          </p:cNvSpPr>
          <p:nvPr/>
        </p:nvSpPr>
        <p:spPr>
          <a:xfrm>
            <a:off x="800100" y="173355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测量思路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18030" y="1971675"/>
            <a:ext cx="7155939" cy="1971675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BDCD29B-4BE5-40FE-A23C-3A0083B5762F}"/>
              </a:ext>
            </a:extLst>
          </p:cNvPr>
          <p:cNvSpPr>
            <a:spLocks noGrp="1"/>
          </p:cNvSpPr>
          <p:nvPr/>
        </p:nvSpPr>
        <p:spPr>
          <a:xfrm>
            <a:off x="800100" y="4114800"/>
            <a:ext cx="1714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近似条件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41835" y="4410075"/>
            <a:ext cx="3840979" cy="185737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ADF5EA8-1C4C-4DAE-990F-6B180C7F5B2B}"/>
              </a:ext>
            </a:extLst>
          </p:cNvPr>
          <p:cNvSpPr>
            <a:spLocks noGrp="1"/>
          </p:cNvSpPr>
          <p:nvPr/>
        </p:nvSpPr>
        <p:spPr>
          <a:xfrm>
            <a:off x="6438900" y="41148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26" lnSpcReduction="10000"/>
          </a:bodyPr>
          <a:lstStyle/>
          <a:p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时间的测量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19825" y="4610920"/>
            <a:ext cx="5219700" cy="123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52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a1e091604?vcp=1&amp;pid=f3b076dfc&amp;color=0,0,0&amp;vtp=1&amp;bt=1&amp;bbb=1&amp;hb=1">
                <a:extLst>
                  <a:ext uri="{FF2B5EF4-FFF2-40B4-BE49-F238E27FC236}">
                    <a16:creationId xmlns:a16="http://schemas.microsoft.com/office/drawing/2014/main" id="{507C11F7-6834-48C9-BD08-9762642279E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835912"/>
                <a:ext cx="11402568" cy="15962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2.测量瞬时速度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（1）实验原理：如图所示，当要测量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𝐸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点的瞬时速度时，以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𝐷𝐹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线段所对应的时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间间隔为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，则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𝐷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、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𝐹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两点离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𝐸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点越近，算出的平均速度越接近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𝐸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点的瞬时速度.</a:t>
                </a:r>
                <a:endParaRPr sz="2400"/>
              </a:p>
            </p:txBody>
          </p:sp>
        </mc:Choice>
        <mc:Fallback>
          <p:sp>
            <p:nvSpPr>
              <p:cNvPr id="2" name="P_5_BD#a1e091604?vcp=1&amp;pid=f3b076dfc&amp;color=0,0,0&amp;vtp=1&amp;bt=1&amp;bbb=1&amp;hb=1">
                <a:extLst>
                  <a:ext uri="{FF2B5EF4-FFF2-40B4-BE49-F238E27FC236}">
                    <a16:creationId xmlns:a16="http://schemas.microsoft.com/office/drawing/2014/main" id="{507C11F7-6834-48C9-BD08-9762642279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35912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b="-11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_5_BD#a1e091604?vcp=1&amp;pid=f3b076dfc&amp;color=0,0,0&amp;tib=255,255,255&amp;vtp=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69464" y="3555492"/>
            <a:ext cx="7050024" cy="145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6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_4#f3b076dfc?vcp=1&amp;pid=043674d11&amp;color=0,0,0&amp;tib=255,255,255&amp;vtp=1&amp;bt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f3b076dfc?vcp=1&amp;pid=043674d11&amp;color=255,255,255&amp;vtp=1">
            <a:extLst>
              <a:ext uri="{FF2B5EF4-FFF2-40B4-BE49-F238E27FC236}">
                <a16:creationId xmlns:a16="http://schemas.microsoft.com/office/drawing/2014/main" id="{5EBFC01B-5CA3-4410-B81A-2BC011752097}"/>
              </a:ext>
            </a:extLst>
          </p:cNvPr>
          <p:cNvSpPr>
            <a:spLocks noGrp="1"/>
          </p:cNvSpPr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2800" b="1" i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4</a:t>
            </a:r>
            <a:endParaRPr sz="2800"/>
          </a:p>
        </p:txBody>
      </p:sp>
      <p:sp>
        <p:nvSpPr>
          <p:cNvPr id="4" name="C_4_BD#f3b076dfc?vcp=1&amp;pid=043674d11&amp;color=0,0,0&amp;vtp=1&amp;bbb=1">
            <a:extLst>
              <a:ext uri="{FF2B5EF4-FFF2-40B4-BE49-F238E27FC236}">
                <a16:creationId xmlns:a16="http://schemas.microsoft.com/office/drawing/2014/main" id="{C286A78C-048E-4758-AD53-6CDFA4F29545}"/>
              </a:ext>
            </a:extLst>
          </p:cNvPr>
          <p:cNvSpPr>
            <a:spLocks noGrp="1"/>
          </p:cNvSpPr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ts val="3200"/>
              </a:lnSpc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实验：测量纸带的平均速度和瞬时速度</a:t>
            </a:r>
            <a:r>
              <a:rPr sz="26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难点</a:t>
            </a:r>
            <a:endParaRPr sz="2600"/>
          </a:p>
        </p:txBody>
      </p:sp>
      <p:pic>
        <p:nvPicPr>
          <p:cNvPr id="13" name="P_5_BD#a1e091604?htil=3&amp;vcp=1&amp;pid=f3b076dfc&amp;color=0,0,0&amp;tib=255,255,255&amp;vtp=1&amp;hs=1&amp;hs=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49289" y="1079501"/>
            <a:ext cx="3576892" cy="1021969"/>
          </a:xfrm>
          <a:prstGeom prst="rect">
            <a:avLst/>
          </a:prstGeom>
        </p:spPr>
      </p:pic>
      <p:sp>
        <p:nvSpPr>
          <p:cNvPr id="6" name="P_5_BD#a1e091604?htil=3&amp;vcp=1&amp;pid=f3b076dfc&amp;color=0,0,0&amp;vtp=1&amp;bbb=1&amp;hb=1&amp;hs=1">
            <a:extLst>
              <a:ext uri="{FF2B5EF4-FFF2-40B4-BE49-F238E27FC236}">
                <a16:creationId xmlns:a16="http://schemas.microsoft.com/office/drawing/2014/main" id="{B861B8C3-205D-4D79-A7D6-75F83BC44CBA}"/>
              </a:ext>
            </a:extLst>
          </p:cNvPr>
          <p:cNvSpPr>
            <a:spLocks noGrp="1"/>
          </p:cNvSpPr>
          <p:nvPr/>
        </p:nvSpPr>
        <p:spPr>
          <a:xfrm>
            <a:off x="393192" y="1092200"/>
            <a:ext cx="7616952" cy="103339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核心总结</a:t>
            </a:r>
            <a:endParaRPr sz="2400"/>
          </a:p>
          <a:p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1.测量平均速度</a:t>
            </a:r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P_5_BD#a1e091604?htil=3&amp;vcp=1&amp;pid=f3b076dfc&amp;color=0,0,0&amp;vtp=1&amp;bbb=1&amp;hb=1&amp;hs=1">
                <a:extLst>
                  <a:ext uri="{FF2B5EF4-FFF2-40B4-BE49-F238E27FC236}">
                    <a16:creationId xmlns:a16="http://schemas.microsoft.com/office/drawing/2014/main" id="{9590196F-8CAE-6A15-AF76-1519B2E4A65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5996" y="2125599"/>
                <a:ext cx="11400008" cy="11176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如</a:t>
                </a:r>
                <a:r>
                  <a:rPr sz="2400" b="0" i="0" spc="-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图所示是打点计时器打出的一条纸带.若想计算实验时运动的纸带在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𝐷</m:t>
                    </m:r>
                  </m:oMath>
                </a14:m>
                <a:r>
                  <a:rPr sz="2400" b="0" i="0" spc="-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、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𝐹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 spc="-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两点间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 spc="-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的平均速度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</m:oMath>
                </a14:m>
                <a:r>
                  <a:rPr sz="2400" b="0" i="0" spc="-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,只需测出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𝐷</m:t>
                    </m:r>
                  </m:oMath>
                </a14:m>
                <a:r>
                  <a:rPr sz="2400" b="0" i="0" spc="-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、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𝐹</m:t>
                    </m:r>
                  </m:oMath>
                </a14:m>
                <a:r>
                  <a:rPr sz="2400" b="0" i="0" spc="-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间的位移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2400" b="0" i="0" spc="-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和所用的时间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2400" b="0" i="0" spc="-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,就可以算出平均速度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num>
                      <m:den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 spc="-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  <a:endParaRPr sz="2400" spc="-50"/>
              </a:p>
            </p:txBody>
          </p:sp>
        </mc:Choice>
        <mc:Fallback>
          <p:sp>
            <p:nvSpPr>
              <p:cNvPr id="7" name="P_5_BD#a1e091604?htil=3&amp;vcp=1&amp;pid=f3b076dfc&amp;color=0,0,0&amp;vtp=1&amp;bbb=1&amp;hb=1&amp;hs=1">
                <a:extLst>
                  <a:ext uri="{FF2B5EF4-FFF2-40B4-BE49-F238E27FC236}">
                    <a16:creationId xmlns:a16="http://schemas.microsoft.com/office/drawing/2014/main" id="{9590196F-8CAE-6A15-AF76-1519B2E4A6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125599"/>
                <a:ext cx="11400008" cy="1117600"/>
              </a:xfrm>
              <a:prstGeom prst="rect">
                <a:avLst/>
              </a:prstGeom>
              <a:blipFill>
                <a:blip r:embed="rId5"/>
                <a:stretch>
                  <a:fillRect l="-1658" r="-374" b="-9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598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a1e091604?vcp=1&amp;pid=f3b076dfc&amp;color=0,0,0&amp;vtp=1&amp;bt=1&amp;bbb=1&amp;hb=1">
                <a:extLst>
                  <a:ext uri="{FF2B5EF4-FFF2-40B4-BE49-F238E27FC236}">
                    <a16:creationId xmlns:a16="http://schemas.microsoft.com/office/drawing/2014/main" id="{A66B1BC5-F08F-4C6C-8ADC-D846B6EB1BD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786985"/>
                <a:ext cx="11402568" cy="32726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（2）实验步骤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①从纸带起始点0算起，后面每五个点取一个计数点.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②测量各计数点到起始点0的距离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，记录在下面表格中.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③计算两相邻计数点间的位移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，同时记录对应时间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④根据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和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算出的速度可以代表在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这一区间内任意一点的瞬时速度.将算出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的各计数点的速度值记录在表格中.</a:t>
                </a:r>
                <a:endParaRPr sz="2400"/>
              </a:p>
            </p:txBody>
          </p:sp>
        </mc:Choice>
        <mc:Fallback>
          <p:sp>
            <p:nvSpPr>
              <p:cNvPr id="2" name="P_5_BD#a1e091604?vcp=1&amp;pid=f3b076dfc&amp;color=0,0,0&amp;vtp=1&amp;bt=1&amp;bbb=1&amp;hb=1">
                <a:extLst>
                  <a:ext uri="{FF2B5EF4-FFF2-40B4-BE49-F238E27FC236}">
                    <a16:creationId xmlns:a16="http://schemas.microsoft.com/office/drawing/2014/main" id="{A66B1BC5-F08F-4C6C-8ADC-D846B6EB1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869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1337" b="-5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144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1e030ffc2?vcp=1&amp;pid=f3b076dfc&amp;color=0,0,0&amp;vtp=1&amp;bt=1&amp;bbb=1&amp;hb=1">
                <a:extLst>
                  <a:ext uri="{FF2B5EF4-FFF2-40B4-BE49-F238E27FC236}">
                    <a16:creationId xmlns:a16="http://schemas.microsoft.com/office/drawing/2014/main" id="{DFC4F62C-4EEC-4684-B477-D3865A8EE5B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512665"/>
                <a:ext cx="11402568" cy="38314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名师点拨</a:t>
                </a:r>
                <a:endParaRPr sz="2400"/>
              </a:p>
              <a:p>
                <a:pPr algn="ctr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进行实验数据处理时的注意点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1.单位的确定，应将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𝑐𝑚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转化为国际单位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进行求解.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2.相邻计数点间的时间间隔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𝑇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的确定，一般在纸带上每五个计时点取一个计数点，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此时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𝑇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=0.02×5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=0.1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3.结果是保留几位有效数字还是保留几位小数，若题目中没有明确说明，一般保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留到小数点后两位.</a:t>
                </a:r>
                <a:endParaRPr sz="2400"/>
              </a:p>
            </p:txBody>
          </p:sp>
        </mc:Choice>
        <mc:Fallback>
          <p:sp>
            <p:nvSpPr>
              <p:cNvPr id="2" name="P_5_BD#1e030ffc2?vcp=1&amp;pid=f3b076dfc&amp;color=0,0,0&amp;vtp=1&amp;bt=1&amp;bbb=1&amp;hb=1">
                <a:extLst>
                  <a:ext uri="{FF2B5EF4-FFF2-40B4-BE49-F238E27FC236}">
                    <a16:creationId xmlns:a16="http://schemas.microsoft.com/office/drawing/2014/main" id="{DFC4F62C-4EEC-4684-B477-D3865A8EE5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2665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1551" b="-4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_5_BD#1e030ffc2?htil=5&amp;vcp=1&amp;pid=f3b076dfc&amp;color=0,0,0&amp;tib=255,255,255&amp;vtp=1&amp;hs=1&amp;hs=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50394" y="952055"/>
            <a:ext cx="3493008" cy="804672"/>
          </a:xfrm>
          <a:prstGeom prst="rect">
            <a:avLst/>
          </a:prstGeom>
        </p:spPr>
      </p:pic>
      <p:sp>
        <p:nvSpPr>
          <p:cNvPr id="3" name="P_5_BD#1e030ffc2?htil=5&amp;vcp=1&amp;pid=f3b076dfc&amp;color=0,0,0&amp;vtp=1&amp;bt=1&amp;bbb=1&amp;hb=1&amp;hs=1">
            <a:extLst>
              <a:ext uri="{FF2B5EF4-FFF2-40B4-BE49-F238E27FC236}">
                <a16:creationId xmlns:a16="http://schemas.microsoft.com/office/drawing/2014/main" id="{6CD1D8D7-167C-442A-8700-DB136DEC7C17}"/>
              </a:ext>
            </a:extLst>
          </p:cNvPr>
          <p:cNvSpPr>
            <a:spLocks noGrp="1"/>
          </p:cNvSpPr>
          <p:nvPr/>
        </p:nvSpPr>
        <p:spPr>
          <a:xfrm>
            <a:off x="393192" y="906335"/>
            <a:ext cx="7781544" cy="103759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名师点拨</a:t>
            </a:r>
            <a:endParaRPr sz="2400"/>
          </a:p>
          <a:p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实验方案拓展</a:t>
            </a:r>
            <a:endParaRPr sz="2400"/>
          </a:p>
        </p:txBody>
      </p:sp>
      <p:sp>
        <p:nvSpPr>
          <p:cNvPr id="4" name="P_5_BD#1e030ffc2?vcp=1&amp;pid=f3b076dfc&amp;color=0,0,0&amp;vtp=1&amp;bbb=1&amp;hb=1">
            <a:extLst>
              <a:ext uri="{FF2B5EF4-FFF2-40B4-BE49-F238E27FC236}">
                <a16:creationId xmlns:a16="http://schemas.microsoft.com/office/drawing/2014/main" id="{0324402F-52CA-49D3-A1D9-E8DCD3EB68CB}"/>
              </a:ext>
            </a:extLst>
          </p:cNvPr>
          <p:cNvSpPr>
            <a:spLocks noGrp="1"/>
          </p:cNvSpPr>
          <p:nvPr/>
        </p:nvSpPr>
        <p:spPr>
          <a:xfrm>
            <a:off x="393192" y="4748657"/>
            <a:ext cx="11402568" cy="103339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1.工字钢底座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2.底座调节螺丝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3.定滑轮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4.光电门（连数字计时器）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5.气垫导轨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6.遮</a:t>
            </a:r>
          </a:p>
          <a:p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光条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7.滑块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8.缓冲弹簧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9.连气源</a:t>
            </a:r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1e030ffc2?htil=5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EF4F7DE2-6989-5FB4-82B8-C9AFB49D268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943926"/>
                <a:ext cx="11400008" cy="27940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1.利用光电门测速度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如图所示，当滑块通过光电门时，光电门的数字计时器记录了遮光条通过光电门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的遮光时间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，而遮光条的宽度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𝑑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已知，且非常小，因此遮光时间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非常短，所以可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认为遮光条通过光电门的瞬时速度等于其通过光电门的平均速度，也等于滑块的瞬时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速度，即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num>
                      <m:den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den>
                    </m:f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𝑑</m:t>
                        </m:r>
                      </m:num>
                      <m:den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  <a:endParaRPr sz="2400"/>
              </a:p>
            </p:txBody>
          </p:sp>
        </mc:Choice>
        <mc:Fallback>
          <p:sp>
            <p:nvSpPr>
              <p:cNvPr id="5" name="P_5_BD#1e030ffc2?htil=5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EF4F7DE2-6989-5FB4-82B8-C9AFB49D2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43926"/>
                <a:ext cx="11400008" cy="2794000"/>
              </a:xfrm>
              <a:prstGeom prst="rect">
                <a:avLst/>
              </a:prstGeom>
              <a:blipFill>
                <a:blip r:embed="rId4"/>
                <a:stretch>
                  <a:fillRect l="-1658" r="-535" b="-3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4095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_5_BD#1e030ffc2?htil=6&amp;vcp=1&amp;pid=f3b076dfc&amp;color=0,0,0&amp;tib=255,255,255&amp;vtp=1&amp;hs=1&amp;hs=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27332" y="1730788"/>
            <a:ext cx="2313432" cy="18836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P_5_BD#1e030ffc2?htil=6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7E68837B-8932-413C-8C57-0BEF6F94732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685067"/>
                <a:ext cx="8951976" cy="215519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2.利用频闪照相法测速度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在频闪照相中会用到频闪灯，它每隔相等时间闪光一次，例如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每隔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0.1 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闪光一次，即每秒闪光10次.当物体运动时，利用频闪灯照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明，照相机可以拍摄出该物体每隔相等时间所到达的位置，如下图</a:t>
                </a:r>
                <a:endParaRPr sz="2400"/>
              </a:p>
            </p:txBody>
          </p:sp>
        </mc:Choice>
        <mc:Fallback>
          <p:sp>
            <p:nvSpPr>
              <p:cNvPr id="3" name="P_5_BD#1e030ffc2?htil=6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7E68837B-8932-413C-8C57-0BEF6F9473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85067"/>
                <a:ext cx="8951976" cy="2155190"/>
              </a:xfrm>
              <a:prstGeom prst="rect">
                <a:avLst/>
              </a:prstGeom>
              <a:blipFill>
                <a:blip r:embed="rId4"/>
                <a:stretch>
                  <a:fillRect l="-2112" r="-1771" b="-7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P_5_BD#1e030ffc2?htil=6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8862F90F-4E08-F3B6-5985-34A9FFC8335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5996" y="3883184"/>
                <a:ext cx="11400008" cy="11176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所示.通过这种方法拍摄的照片称为频闪照片.根据拍摄的照片，测量物体运动的位移</a:t>
                </a:r>
              </a:p>
              <a:p>
                <a:pPr>
                  <a:lnSpc>
                    <a:spcPts val="44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，再根据时间间隔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计算得到物体的速度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num>
                      <m:den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𝛥</m:t>
                        </m:r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den>
                    </m:f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  <a:endParaRPr sz="2400"/>
              </a:p>
            </p:txBody>
          </p:sp>
        </mc:Choice>
        <mc:Fallback>
          <p:sp>
            <p:nvSpPr>
              <p:cNvPr id="4" name="P_5_BD#1e030ffc2?htil=6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8862F90F-4E08-F3B6-5985-34A9FFC83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883184"/>
                <a:ext cx="11400008" cy="1117600"/>
              </a:xfrm>
              <a:prstGeom prst="rect">
                <a:avLst/>
              </a:prstGeom>
              <a:blipFill>
                <a:blip r:embed="rId5"/>
                <a:stretch>
                  <a:fillRect l="-1658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8314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B0D989E-D1B6-4443-8388-EAB4CFB10518}"/>
              </a:ext>
            </a:extLst>
          </p:cNvPr>
          <p:cNvSpPr>
            <a:spLocks noGrp="1"/>
          </p:cNvSpPr>
          <p:nvPr/>
        </p:nvSpPr>
        <p:spPr>
          <a:xfrm>
            <a:off x="0" y="409575"/>
            <a:ext cx="12192000" cy="19050"/>
          </a:xfrm>
          <a:prstGeom prst="rect">
            <a:avLst/>
          </a:prstGeom>
          <a:solidFill>
            <a:srgbClr val="00A7DF"/>
          </a:solidFill>
          <a:ln w="0">
            <a:solidFill>
              <a:srgbClr val="00A7DF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2A9971-A106-46DC-86F5-350FB063D71B}"/>
              </a:ext>
            </a:extLst>
          </p:cNvPr>
          <p:cNvSpPr>
            <a:spLocks noGrp="1"/>
          </p:cNvSpPr>
          <p:nvPr/>
        </p:nvSpPr>
        <p:spPr>
          <a:xfrm>
            <a:off x="400050" y="1047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81A955-2567-466C-BE73-59056DE198F2}"/>
              </a:ext>
            </a:extLst>
          </p:cNvPr>
          <p:cNvSpPr>
            <a:spLocks noGrp="1"/>
          </p:cNvSpPr>
          <p:nvPr/>
        </p:nvSpPr>
        <p:spPr>
          <a:xfrm>
            <a:off x="7677150" y="1047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C45771-4DC9-4A43-AA7F-E61EF9A947AC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1334750" cy="457200"/>
          </a:xfrm>
          <a:prstGeom prst="rect">
            <a:avLst/>
          </a:prstGeom>
          <a:solidFill>
            <a:srgbClr val="E5F3EB"/>
          </a:solidFill>
          <a:ln w="0">
            <a:solidFill>
              <a:srgbClr val="E5F3E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D984EF-164C-44EF-A799-D9DE264FDEAF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381125" cy="457200"/>
          </a:xfrm>
          <a:prstGeom prst="rect">
            <a:avLst/>
          </a:prstGeom>
          <a:solidFill>
            <a:srgbClr val="1AAE91"/>
          </a:solidFill>
          <a:ln w="0">
            <a:solidFill>
              <a:srgbClr val="1AAE9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370C02-B399-49D1-BE09-7E1C6919150C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167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拓展实验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12AEF7-0671-44C1-9C9A-16AC7ED33B12}"/>
              </a:ext>
            </a:extLst>
          </p:cNvPr>
          <p:cNvSpPr>
            <a:spLocks noGrp="1"/>
          </p:cNvSpPr>
          <p:nvPr/>
        </p:nvSpPr>
        <p:spPr>
          <a:xfrm>
            <a:off x="1924050" y="561975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595" lnSpcReduction="20000"/>
          </a:bodyPr>
          <a:lstStyle/>
          <a:p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位移传感器测速度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29184E-B4C2-47AD-8B55-6E5D7BD84F60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105156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设备探秘：传感器怎样把小车的位置变化记录到计算机中？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B7D5DD-C37C-4AF9-A14F-07F8C60FF80F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0515600" cy="28575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38450" y="1744467"/>
            <a:ext cx="6515100" cy="480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185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AF71376-F055-4AFB-9B04-CE59BC0F57DA}"/>
              </a:ext>
            </a:extLst>
          </p:cNvPr>
          <p:cNvSpPr>
            <a:spLocks noGrp="1"/>
          </p:cNvSpPr>
          <p:nvPr/>
        </p:nvSpPr>
        <p:spPr>
          <a:xfrm>
            <a:off x="0" y="409575"/>
            <a:ext cx="12192000" cy="19050"/>
          </a:xfrm>
          <a:prstGeom prst="rect">
            <a:avLst/>
          </a:prstGeom>
          <a:solidFill>
            <a:srgbClr val="00A7DF"/>
          </a:solidFill>
          <a:ln w="0">
            <a:solidFill>
              <a:srgbClr val="00A7DF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92B015-DB61-4863-B9D8-25019CE6B093}"/>
              </a:ext>
            </a:extLst>
          </p:cNvPr>
          <p:cNvSpPr>
            <a:spLocks noGrp="1"/>
          </p:cNvSpPr>
          <p:nvPr/>
        </p:nvSpPr>
        <p:spPr>
          <a:xfrm>
            <a:off x="400050" y="1047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1723E4-9A8A-45E6-B27F-8DFF6F79EE5C}"/>
              </a:ext>
            </a:extLst>
          </p:cNvPr>
          <p:cNvSpPr>
            <a:spLocks noGrp="1"/>
          </p:cNvSpPr>
          <p:nvPr/>
        </p:nvSpPr>
        <p:spPr>
          <a:xfrm>
            <a:off x="7677150" y="1047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B59B73-99F3-43D3-B910-1FD3F42469E5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1334750" cy="457200"/>
          </a:xfrm>
          <a:prstGeom prst="rect">
            <a:avLst/>
          </a:prstGeom>
          <a:solidFill>
            <a:srgbClr val="E5F3EB"/>
          </a:solidFill>
          <a:ln w="0">
            <a:solidFill>
              <a:srgbClr val="E5F3E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012C50-D4F4-4EBA-B651-7278F3166937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381125" cy="457200"/>
          </a:xfrm>
          <a:prstGeom prst="rect">
            <a:avLst/>
          </a:prstGeom>
          <a:solidFill>
            <a:srgbClr val="1AAE91"/>
          </a:solidFill>
          <a:ln w="0">
            <a:solidFill>
              <a:srgbClr val="1AAE9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BEAB65-04F6-431C-97C5-5900CC2F3AE7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167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拓展实验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500E23-5DDE-4157-8FB0-DEA4F243E335}"/>
              </a:ext>
            </a:extLst>
          </p:cNvPr>
          <p:cNvSpPr>
            <a:spLocks noGrp="1"/>
          </p:cNvSpPr>
          <p:nvPr/>
        </p:nvSpPr>
        <p:spPr>
          <a:xfrm>
            <a:off x="1924050" y="561975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595" lnSpcReduction="20000"/>
          </a:bodyPr>
          <a:lstStyle/>
          <a:p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位移传感器的工作原理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0B45D0-F811-4D03-AFF2-B4C86FE8749D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105156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观察 P 与 Q：小车移动时，哪一段对应位移 Δx？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AA2BCF-63F5-4CFC-9E59-6EE7DA02539A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0515600" cy="28575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84CF86-DCE0-47B6-A3BB-DAE2415F3E3A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红外线位移传感器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630504-0D2F-476D-83F8-117AB581C876}"/>
              </a:ext>
            </a:extLst>
          </p:cNvPr>
          <p:cNvSpPr>
            <a:spLocks noGrp="1"/>
          </p:cNvSpPr>
          <p:nvPr/>
        </p:nvSpPr>
        <p:spPr>
          <a:xfrm>
            <a:off x="6524625" y="1762125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def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7B70"/>
                </a:solidFill>
                <a:latin typeface="Microsoft YaHei"/>
                <a:ea typeface="Microsoft YaHei"/>
                <a:cs typeface="Microsoft YaHei"/>
              </a:rPr>
              <a:t>超声波位移传感器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5110" y="2095500"/>
            <a:ext cx="5292480" cy="279082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0" y="2098753"/>
            <a:ext cx="5295900" cy="252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0071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FEC7D96-8FB5-47F5-95EB-2425C5F2CA9A}"/>
              </a:ext>
            </a:extLst>
          </p:cNvPr>
          <p:cNvSpPr>
            <a:spLocks noGrp="1"/>
          </p:cNvSpPr>
          <p:nvPr/>
        </p:nvSpPr>
        <p:spPr>
          <a:xfrm>
            <a:off x="0" y="409575"/>
            <a:ext cx="12192000" cy="19050"/>
          </a:xfrm>
          <a:prstGeom prst="rect">
            <a:avLst/>
          </a:prstGeom>
          <a:solidFill>
            <a:srgbClr val="00A7DF"/>
          </a:solidFill>
          <a:ln w="0">
            <a:solidFill>
              <a:srgbClr val="00A7DF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A6E104-EBAA-4A1E-BDCA-73CB8DC48ED1}"/>
              </a:ext>
            </a:extLst>
          </p:cNvPr>
          <p:cNvSpPr>
            <a:spLocks noGrp="1"/>
          </p:cNvSpPr>
          <p:nvPr/>
        </p:nvSpPr>
        <p:spPr>
          <a:xfrm>
            <a:off x="400050" y="1047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《考点同步解读 高中物理 必修第一册 RJ》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479F8D-1D01-4EB9-9BCA-8F7ED2596DE4}"/>
              </a:ext>
            </a:extLst>
          </p:cNvPr>
          <p:cNvSpPr>
            <a:spLocks noGrp="1"/>
          </p:cNvSpPr>
          <p:nvPr/>
        </p:nvSpPr>
        <p:spPr>
          <a:xfrm>
            <a:off x="7677150" y="104775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 lnSpcReduction="10000"/>
          </a:bodyPr>
          <a:lstStyle/>
          <a:p>
            <a:pPr algn="r">
              <a:def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7CC3"/>
                </a:solidFill>
                <a:latin typeface="Microsoft YaHei"/>
                <a:ea typeface="Microsoft YaHei"/>
                <a:cs typeface="Microsoft YaHei"/>
              </a:rPr>
              <a:t>第3讲 位置变化快慢的描述——速度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7FE553-C744-41CA-9192-8E2277C0FD5A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1334750" cy="457200"/>
          </a:xfrm>
          <a:prstGeom prst="rect">
            <a:avLst/>
          </a:prstGeom>
          <a:solidFill>
            <a:srgbClr val="E5F3EB"/>
          </a:solidFill>
          <a:ln w="0">
            <a:solidFill>
              <a:srgbClr val="E5F3E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B9B3B8-B9B3-4D36-8DC1-D4BC09E1F3D8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1381125" cy="457200"/>
          </a:xfrm>
          <a:prstGeom prst="rect">
            <a:avLst/>
          </a:prstGeom>
          <a:solidFill>
            <a:srgbClr val="1AAE91"/>
          </a:solidFill>
          <a:ln w="0">
            <a:solidFill>
              <a:srgbClr val="1AAE9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70BB46-5E30-4D35-9B2E-7B812FCD7196}"/>
              </a:ext>
            </a:extLst>
          </p:cNvPr>
          <p:cNvSpPr>
            <a:spLocks noGrp="1"/>
          </p:cNvSpPr>
          <p:nvPr/>
        </p:nvSpPr>
        <p:spPr>
          <a:xfrm>
            <a:off x="495300" y="600075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167" lnSpcReduction="2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图像建模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FFDE5C-D353-4C60-8A96-F56431356AA0}"/>
              </a:ext>
            </a:extLst>
          </p:cNvPr>
          <p:cNvSpPr>
            <a:spLocks noGrp="1"/>
          </p:cNvSpPr>
          <p:nvPr/>
        </p:nvSpPr>
        <p:spPr>
          <a:xfrm>
            <a:off x="1924050" y="561975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595" lnSpcReduction="20000"/>
          </a:bodyPr>
          <a:lstStyle/>
          <a:p>
            <a:pPr>
              <a:def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速度—时间图像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FBC75C-7589-42CB-82B7-699995C3B7B1}"/>
              </a:ext>
            </a:extLst>
          </p:cNvPr>
          <p:cNvSpPr>
            <a:spLocks noGrp="1"/>
          </p:cNvSpPr>
          <p:nvPr/>
        </p:nvSpPr>
        <p:spPr>
          <a:xfrm>
            <a:off x="838200" y="1123950"/>
            <a:ext cx="1051560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5D71"/>
                </a:solidFill>
                <a:latin typeface="Microsoft YaHei"/>
                <a:ea typeface="Microsoft YaHei"/>
                <a:cs typeface="Microsoft YaHei"/>
              </a:rPr>
              <a:t>画图任务：横轴和纵轴各表示什么？先描点，再判断速度变化规律。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1E9855-D8FC-418B-A491-C9935FA3C82A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0515600" cy="28575"/>
          </a:xfrm>
          <a:prstGeom prst="rect">
            <a:avLst/>
          </a:prstGeom>
          <a:solidFill>
            <a:srgbClr val="F58220"/>
          </a:solidFill>
          <a:ln w="0">
            <a:solidFill>
              <a:srgbClr val="F58220"/>
            </a:solidFill>
          </a:ln>
        </p:spPr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39566" y="1714500"/>
            <a:ext cx="6912868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29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_4#9431d32a3?vcp=1&amp;pid=043674d11&amp;color=0,0,0&amp;tib=255,255,255&amp;vtp=1&amp;bt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9431d32a3?vcp=1&amp;pid=043674d11&amp;color=255,255,255&amp;vtp=1">
            <a:extLst>
              <a:ext uri="{FF2B5EF4-FFF2-40B4-BE49-F238E27FC236}">
                <a16:creationId xmlns:a16="http://schemas.microsoft.com/office/drawing/2014/main" id="{97CE6B78-791B-4E6F-96E2-06251B1288E1}"/>
              </a:ext>
            </a:extLst>
          </p:cNvPr>
          <p:cNvSpPr>
            <a:spLocks noGrp="1"/>
          </p:cNvSpPr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2800" b="1" i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5</a:t>
            </a:r>
            <a:endParaRPr sz="2800"/>
          </a:p>
        </p:txBody>
      </p:sp>
      <p:sp>
        <p:nvSpPr>
          <p:cNvPr id="4" name="C_4_BD#9431d32a3?vcp=1&amp;pid=043674d11&amp;color=0,0,0&amp;vtp=1&amp;bbb=1">
            <a:extLst>
              <a:ext uri="{FF2B5EF4-FFF2-40B4-BE49-F238E27FC236}">
                <a16:creationId xmlns:a16="http://schemas.microsoft.com/office/drawing/2014/main" id="{C905D9EA-F784-4669-A2BA-0B744FB7768D}"/>
              </a:ext>
            </a:extLst>
          </p:cNvPr>
          <p:cNvSpPr>
            <a:spLocks noGrp="1"/>
          </p:cNvSpPr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lnSpc>
                <a:spcPts val="3200"/>
              </a:lnSpc>
              <a:buNone/>
            </a:pP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速度—时间图像</a:t>
            </a:r>
            <a:r>
              <a:rPr sz="26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6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难点</a:t>
            </a:r>
            <a:endParaRPr sz="2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c347f6bbe?vcp=1&amp;pid=9431d32a3&amp;color=0,0,0&amp;vtp=1&amp;bbb=1">
                <a:extLst>
                  <a:ext uri="{FF2B5EF4-FFF2-40B4-BE49-F238E27FC236}">
                    <a16:creationId xmlns:a16="http://schemas.microsoft.com/office/drawing/2014/main" id="{C703F9BC-0822-4744-9CC5-BB4C9084842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092200"/>
                <a:ext cx="11402568" cy="15921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ctr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核心总结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1.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−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图像的物理意义</a:t>
                </a:r>
                <a:endParaRPr sz="2400"/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反映物体运动的速度随时间变化的规律.</a:t>
                </a:r>
                <a:endParaRPr sz="2400"/>
              </a:p>
            </p:txBody>
          </p:sp>
        </mc:Choice>
        <mc:Fallback>
          <p:sp>
            <p:nvSpPr>
              <p:cNvPr id="5" name="P_5_BD#c347f6bbe?vcp=1&amp;pid=9431d32a3&amp;color=0,0,0&amp;vtp=1&amp;bbb=1">
                <a:extLst>
                  <a:ext uri="{FF2B5EF4-FFF2-40B4-BE49-F238E27FC236}">
                    <a16:creationId xmlns:a16="http://schemas.microsoft.com/office/drawing/2014/main" id="{C703F9BC-0822-4744-9CC5-BB4C908484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1592199"/>
              </a:xfrm>
              <a:prstGeom prst="rect">
                <a:avLst/>
              </a:prstGeom>
              <a:blipFill>
                <a:blip r:embed="rId4"/>
                <a:stretch>
                  <a:fillRect b="-118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_5_BD#c347f6bbe?vcp=1&amp;pid=9431d32a3&amp;color=0,0,0&amp;tib=255,255,255&amp;vtp=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65776" y="2806700"/>
            <a:ext cx="2057400" cy="202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261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c347f6bbe?vcp=1&amp;pid=9431d32a3&amp;color=0,0,0&amp;vtp=1&amp;bt=1&amp;bbb=1&amp;hb=1">
                <a:extLst>
                  <a:ext uri="{FF2B5EF4-FFF2-40B4-BE49-F238E27FC236}">
                    <a16:creationId xmlns:a16="http://schemas.microsoft.com/office/drawing/2014/main" id="{674C8F02-FE31-4BBE-BD16-B2C911A9E78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691706"/>
                <a:ext cx="11402568" cy="55037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2.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−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图像的应用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（1）从图像能看出每一时刻对应的瞬时速度，瞬时速度为正，说明物体沿选定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的正方向运动，如图中的1、4、5图线；瞬时速度为负，说明物体沿与选定的正方向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相反的方向运动，如图中的2、3图线.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（2）根据图线形状判断物体的运动性质：若图线平行于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轴，则表示物体做匀速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运动，如图中的1、2图线；若图线不平行于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轴，则表示物体做变速运动，如图中的3、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4、5图线，且倾斜程度越大，表示速度变化越快.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（3）截距：纵轴截距表示初始时刻物体的瞬时速度；横轴截距表示物体速度为0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的时刻.</a:t>
                </a:r>
                <a:endParaRPr sz="2400"/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（4）图像交点：表示两物体的瞬时速度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相同.</a:t>
                </a:r>
                <a:endParaRPr sz="2400"/>
              </a:p>
            </p:txBody>
          </p:sp>
        </mc:Choice>
        <mc:Fallback>
          <p:sp>
            <p:nvSpPr>
              <p:cNvPr id="2" name="P_5_BD#c347f6bbe?vcp=1&amp;pid=9431d32a3&amp;color=0,0,0&amp;vtp=1&amp;bt=1&amp;bbb=1&amp;hb=1">
                <a:extLst>
                  <a:ext uri="{FF2B5EF4-FFF2-40B4-BE49-F238E27FC236}">
                    <a16:creationId xmlns:a16="http://schemas.microsoft.com/office/drawing/2014/main" id="{674C8F02-FE31-4BBE-BD16-B2C911A9E7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91706"/>
                <a:ext cx="11402568" cy="5503799"/>
              </a:xfrm>
              <a:prstGeom prst="rect">
                <a:avLst/>
              </a:prstGeom>
              <a:blipFill>
                <a:blip r:embed="rId3"/>
                <a:stretch>
                  <a:fillRect l="-1658" r="-2995" b="-34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60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f49838d58?vcp=1&amp;pid=9431d32a3&amp;color=0,0,0&amp;vtp=1&amp;bt=1&amp;bbb=1&amp;hb=1">
                <a:extLst>
                  <a:ext uri="{FF2B5EF4-FFF2-40B4-BE49-F238E27FC236}">
                    <a16:creationId xmlns:a16="http://schemas.microsoft.com/office/drawing/2014/main" id="{DFA16D25-44E4-4AE8-94ED-88248B49D4A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715867"/>
                <a:ext cx="11402568" cy="27138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名师点拨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1.确定坐标系横轴、纵轴的单位长度时，要根据数据的最大值及最小值合理选取，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使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−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图像能充满坐标系大部分空间.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2.在坐标中根据测量的实验数据描点.如果有些点难以落在曲线上，应该使它们大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致均匀地分布在曲线两侧.</a:t>
                </a:r>
                <a:endParaRPr sz="2400"/>
              </a:p>
            </p:txBody>
          </p:sp>
        </mc:Choice>
        <mc:Fallback>
          <p:sp>
            <p:nvSpPr>
              <p:cNvPr id="2" name="P_5_BD#f49838d58?vcp=1&amp;pid=9431d32a3&amp;color=0,0,0&amp;vtp=1&amp;bt=1&amp;bbb=1&amp;hb=1">
                <a:extLst>
                  <a:ext uri="{FF2B5EF4-FFF2-40B4-BE49-F238E27FC236}">
                    <a16:creationId xmlns:a16="http://schemas.microsoft.com/office/drawing/2014/main" id="{DFA16D25-44E4-4AE8-94ED-88248B49D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15867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2567" b="-65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_5_BD#f49838d58?htil=9&amp;vcp=1&amp;pid=9431d32a3&amp;color=0,0,0&amp;tib=255,255,255&amp;vtp=1&amp;hs=1&amp;hs=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73337" y="3515136"/>
            <a:ext cx="2194560" cy="15270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P_5_BD#f49838d58?htil=9&amp;vcp=1&amp;pid=9431d32a3&amp;color=0,0,0&amp;vtp=1&amp;bbb=1&amp;hb=1&amp;hs=1">
                <a:extLst>
                  <a:ext uri="{FF2B5EF4-FFF2-40B4-BE49-F238E27FC236}">
                    <a16:creationId xmlns:a16="http://schemas.microsoft.com/office/drawing/2014/main" id="{574956F0-A658-4617-99F4-8DF609B1740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3460273"/>
                <a:ext cx="9070848" cy="15921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拓展延伸</a:t>
                </a:r>
                <a:endParaRPr sz="2400"/>
              </a:p>
              <a:p>
                <a:pPr algn="ctr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根据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−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图像求位移</a:t>
                </a:r>
                <a:endParaRPr sz="2400"/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物体在某段时间内的位移可以用其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−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图线与时间轴所夹的面</a:t>
                </a:r>
                <a:endParaRPr sz="2400"/>
              </a:p>
            </p:txBody>
          </p:sp>
        </mc:Choice>
        <mc:Fallback>
          <p:sp>
            <p:nvSpPr>
              <p:cNvPr id="4" name="P_5_BD#f49838d58?htil=9&amp;vcp=1&amp;pid=9431d32a3&amp;color=0,0,0&amp;vtp=1&amp;bbb=1&amp;hb=1&amp;hs=1">
                <a:extLst>
                  <a:ext uri="{FF2B5EF4-FFF2-40B4-BE49-F238E27FC236}">
                    <a16:creationId xmlns:a16="http://schemas.microsoft.com/office/drawing/2014/main" id="{574956F0-A658-4617-99F4-8DF609B17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60273"/>
                <a:ext cx="9070848" cy="1592199"/>
              </a:xfrm>
              <a:prstGeom prst="rect">
                <a:avLst/>
              </a:prstGeom>
              <a:blipFill>
                <a:blip r:embed="rId5"/>
                <a:stretch>
                  <a:fillRect l="-2083" r="-806" b="-9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f49838d58?htil=9&amp;vcp=1&amp;pid=9431d32a3&amp;color=0,0,0&amp;vtp=1&amp;bbb=1&amp;hb=1&amp;hs=1">
                <a:extLst>
                  <a:ext uri="{FF2B5EF4-FFF2-40B4-BE49-F238E27FC236}">
                    <a16:creationId xmlns:a16="http://schemas.microsoft.com/office/drawing/2014/main" id="{750902D2-FCF8-AFDB-5D4A-6CBEB19412A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5052663"/>
                <a:ext cx="11400008" cy="10374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积来表示（如图中阴影所示）,若包围面积在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轴上面,对应正向位移；若包围面积在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轴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下面,则对应负向位移（第二章会再学习）.</a:t>
                </a:r>
                <a:endParaRPr sz="2400"/>
              </a:p>
            </p:txBody>
          </p:sp>
        </mc:Choice>
        <mc:Fallback>
          <p:sp>
            <p:nvSpPr>
              <p:cNvPr id="5" name="P_5_BD#f49838d58?htil=9&amp;vcp=1&amp;pid=9431d32a3&amp;color=0,0,0&amp;vtp=1&amp;bbb=1&amp;hb=1&amp;hs=1">
                <a:extLst>
                  <a:ext uri="{FF2B5EF4-FFF2-40B4-BE49-F238E27FC236}">
                    <a16:creationId xmlns:a16="http://schemas.microsoft.com/office/drawing/2014/main" id="{750902D2-FCF8-AFDB-5D4A-6CBEB19412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52663"/>
                <a:ext cx="11400008" cy="1037400"/>
              </a:xfrm>
              <a:prstGeom prst="rect">
                <a:avLst/>
              </a:prstGeom>
              <a:blipFill>
                <a:blip r:embed="rId6"/>
                <a:stretch>
                  <a:fillRect l="-1658" r="-1497" b="-170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5972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f49838d58?vcp=1&amp;pid=9431d32a3&amp;color=0,0,0&amp;vtp=1&amp;bt=1&amp;bbb=1">
                <a:extLst>
                  <a:ext uri="{FF2B5EF4-FFF2-40B4-BE49-F238E27FC236}">
                    <a16:creationId xmlns:a16="http://schemas.microsoft.com/office/drawing/2014/main" id="{D2337DA9-BF18-4229-BF62-7959437B49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2063305"/>
                <a:ext cx="11402568" cy="27097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名师点拨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1.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−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图像只能用来描述直线运动.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2.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−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图像描述的是速度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随时间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的变化情况，而不是物体的运动轨迹.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3.图线上某点切线的斜率大小表示物体加速度（下一讲将学到）大小.</a:t>
                </a:r>
                <a:endParaRPr sz="2400"/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4.图线上某点切线斜率的正负表示物体加速度的方向.</a:t>
                </a:r>
                <a:endParaRPr sz="2400"/>
              </a:p>
            </p:txBody>
          </p:sp>
        </mc:Choice>
        <mc:Fallback>
          <p:sp>
            <p:nvSpPr>
              <p:cNvPr id="2" name="P_5_BD#f49838d58?vcp=1&amp;pid=9431d32a3&amp;color=0,0,0&amp;vtp=1&amp;bt=1&amp;bbb=1">
                <a:extLst>
                  <a:ext uri="{FF2B5EF4-FFF2-40B4-BE49-F238E27FC236}">
                    <a16:creationId xmlns:a16="http://schemas.microsoft.com/office/drawing/2014/main" id="{D2337DA9-BF18-4229-BF62-7959437B4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3305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b="-67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60922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QC_5_BD.12_1#e1c176c6d?htil=2&amp;vcp=1&amp;pid=6b0fb1775&amp;color=0,0,0&amp;tib=255,255,255&amp;vtp=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39528" y="1317846"/>
            <a:ext cx="1837944" cy="22037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12_2#e1c176c6d?htil=2&amp;vcp=1&amp;pid=6b0fb1775&amp;color=0,0,0&amp;vtp=1&amp;bt=1&amp;bbb=1&amp;hb=1">
                <a:extLst>
                  <a:ext uri="{FF2B5EF4-FFF2-40B4-BE49-F238E27FC236}">
                    <a16:creationId xmlns:a16="http://schemas.microsoft.com/office/drawing/2014/main" id="{A8209203-FAC1-4531-95E5-1909A941D8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272127"/>
                <a:ext cx="9427464" cy="21509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70C0"/>
                    </a:solidFill>
                    <a:latin typeface="Times New Roman"/>
                    <a:ea typeface="Times New Roman"/>
                    <a:cs typeface="Times New Roman"/>
                  </a:rPr>
                  <a:t>考题3</a:t>
                </a:r>
                <a:r>
                  <a:rPr sz="2400" b="1" i="0">
                    <a:solidFill>
                      <a:srgbClr val="0070C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（交通安全）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如图所示为公路上的指示牌，圆牌上的数字为100，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方牌上标有“前方区间测速，长度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66 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𝑘𝑚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”.一辆汽车通过监测起点和终点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的速度分别为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98 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𝑘𝑚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h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和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90 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𝑘𝑚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h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，通过测速区间的时间为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30 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𝑚𝑖𝑛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.下列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判断正确的是(</a:t>
                </a: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).</a:t>
                </a:r>
                <a:endParaRPr sz="2400"/>
              </a:p>
            </p:txBody>
          </p:sp>
        </mc:Choice>
        <mc:Fallback>
          <p:sp>
            <p:nvSpPr>
              <p:cNvPr id="3" name="QC_5_BD.12_2#e1c176c6d?htil=2&amp;vcp=1&amp;pid=6b0fb1775&amp;color=0,0,0&amp;vtp=1&amp;bt=1&amp;bbb=1&amp;hb=1">
                <a:extLst>
                  <a:ext uri="{FF2B5EF4-FFF2-40B4-BE49-F238E27FC236}">
                    <a16:creationId xmlns:a16="http://schemas.microsoft.com/office/drawing/2014/main" id="{A8209203-FAC1-4531-95E5-1909A941D8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2127"/>
                <a:ext cx="9427464" cy="2150999"/>
              </a:xfrm>
              <a:prstGeom prst="rect">
                <a:avLst/>
              </a:prstGeom>
              <a:blipFill>
                <a:blip r:embed="rId4"/>
                <a:stretch>
                  <a:fillRect l="-2005" r="-4140" b="-84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13_1#e1c176c6d.bracket?vcp=1&amp;pid=6b0fb1775&amp;color=0,0,0&amp;vpa=5&amp;vtp=1">
            <a:extLst>
              <a:ext uri="{FF2B5EF4-FFF2-40B4-BE49-F238E27FC236}">
                <a16:creationId xmlns:a16="http://schemas.microsoft.com/office/drawing/2014/main" id="{5C0DF787-CDCE-4216-B15F-7779E2BF387A}"/>
              </a:ext>
            </a:extLst>
          </p:cNvPr>
          <p:cNvSpPr>
            <a:spLocks noGrp="1"/>
          </p:cNvSpPr>
          <p:nvPr/>
        </p:nvSpPr>
        <p:spPr>
          <a:xfrm>
            <a:off x="2454561" y="2937097"/>
            <a:ext cx="441325" cy="47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2_3#e1c176c6d.choices?htil=2&amp;vcp=1&amp;pid=6b0fb1775&amp;color=0,0,0&amp;vtp=1&amp;bbb=1">
                <a:extLst>
                  <a:ext uri="{FF2B5EF4-FFF2-40B4-BE49-F238E27FC236}">
                    <a16:creationId xmlns:a16="http://schemas.microsoft.com/office/drawing/2014/main" id="{912EFE0A-1E9D-443B-BE6D-A01B0C4E5DF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3411822"/>
                <a:ext cx="9427464" cy="21550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A.全长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66 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𝑘𝑚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属于位移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B.该汽车通过测速区的平均速度大小是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132 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𝑘𝑚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h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C.起点速度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98 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𝑘𝑚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h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属于瞬时速度</a:t>
                </a:r>
                <a:endParaRPr sz="2400"/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D.该汽车在测速区间内没有超速</a:t>
                </a:r>
                <a:endParaRPr sz="2400"/>
              </a:p>
            </p:txBody>
          </p:sp>
        </mc:Choice>
        <mc:Fallback>
          <p:sp>
            <p:nvSpPr>
              <p:cNvPr id="5" name="QC_5_BD.12_3#e1c176c6d.choices?htil=2&amp;vcp=1&amp;pid=6b0fb1775&amp;color=0,0,0&amp;vtp=1&amp;bbb=1">
                <a:extLst>
                  <a:ext uri="{FF2B5EF4-FFF2-40B4-BE49-F238E27FC236}">
                    <a16:creationId xmlns:a16="http://schemas.microsoft.com/office/drawing/2014/main" id="{912EFE0A-1E9D-443B-BE6D-A01B0C4E5D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11822"/>
                <a:ext cx="9427464" cy="2155000"/>
              </a:xfrm>
              <a:prstGeom prst="rect">
                <a:avLst/>
              </a:prstGeom>
              <a:blipFill>
                <a:blip r:embed="rId5"/>
                <a:stretch>
                  <a:fillRect l="-2005" b="-84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15231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14_1#e1c176c6d?vcp=1&amp;pid=6b0fb1775&amp;color=0,0,0&amp;vtp=1&amp;bt=1&amp;bbb=1&amp;hb=1">
                <a:extLst>
                  <a:ext uri="{FF2B5EF4-FFF2-40B4-BE49-F238E27FC236}">
                    <a16:creationId xmlns:a16="http://schemas.microsoft.com/office/drawing/2014/main" id="{00EDB109-B1FC-489A-A4F2-870C6CEDC77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2067370"/>
                <a:ext cx="11402568" cy="27519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[解析]</a:t>
                </a:r>
                <a:r>
                  <a:rPr sz="2400" b="1" i="0">
                    <a:solidFill>
                      <a:srgbClr val="FF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全长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𝟔𝟔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𝐤𝐦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是区间测速路段的实际长度，全长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𝟔𝟔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𝐤𝐦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属于路程，故A错误；平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均速度是位移与时间的比值，由于不知道汽车在该测速区间的位移，所以无法计算平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均速度，故B错误；起点速度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𝟗𝟖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𝐤𝐦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𝐡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属于瞬时速度，故C正确；该汽车在测速区间</a:t>
                </a:r>
              </a:p>
              <a:p>
                <a:pPr>
                  <a:lnSpc>
                    <a:spcPts val="47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内的平均速率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barPr>
                      <m:e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𝒗</m:t>
                        </m:r>
                      </m:e>
                    </m:ba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𝒔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𝒕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𝟔𝟔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 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𝐤𝐦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𝟓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 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𝐡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𝟏𝟑𝟐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𝐤𝐦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𝐡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，测速区间的整段限速为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𝟏𝟎𝟎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𝐤𝐦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𝐡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，所以该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汽车在测速区间内超速，故D错误.</a:t>
                </a:r>
                <a:endParaRPr sz="2400"/>
              </a:p>
            </p:txBody>
          </p:sp>
        </mc:Choice>
        <mc:Fallback>
          <p:sp>
            <p:nvSpPr>
              <p:cNvPr id="2" name="QC_5_AS.14_1#e1c176c6d?vcp=1&amp;pid=6b0fb1775&amp;color=0,0,0&amp;vtp=1&amp;bt=1&amp;bbb=1&amp;hb=1">
                <a:extLst>
                  <a:ext uri="{FF2B5EF4-FFF2-40B4-BE49-F238E27FC236}">
                    <a16:creationId xmlns:a16="http://schemas.microsoft.com/office/drawing/2014/main" id="{00EDB109-B1FC-489A-A4F2-870C6CEDC7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7370"/>
                <a:ext cx="11402568" cy="2751900"/>
              </a:xfrm>
              <a:prstGeom prst="rect">
                <a:avLst/>
              </a:prstGeom>
              <a:blipFill>
                <a:blip r:embed="rId3"/>
                <a:stretch>
                  <a:fillRect l="-1658" r="-1711" b="-66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664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5_1#dfd994bc4?vcp=1&amp;pid=6b0fb1775&amp;color=0,0,0&amp;vtp=1&amp;bt=1&amp;bbb=1&amp;hb=1">
                <a:extLst>
                  <a:ext uri="{FF2B5EF4-FFF2-40B4-BE49-F238E27FC236}">
                    <a16:creationId xmlns:a16="http://schemas.microsoft.com/office/drawing/2014/main" id="{AA547D0D-6E75-4BD5-B350-EEEBDA28F95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504000"/>
                <a:ext cx="11402568" cy="1557274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300"/>
                  </a:lnSpc>
                  <a:buNone/>
                </a:pPr>
                <a:r>
                  <a:rPr sz="2400" b="1" i="0">
                    <a:solidFill>
                      <a:srgbClr val="0070C0"/>
                    </a:solidFill>
                    <a:latin typeface="Times New Roman"/>
                    <a:ea typeface="Times New Roman"/>
                    <a:cs typeface="Times New Roman"/>
                  </a:rPr>
                  <a:t>变式3-1</a:t>
                </a:r>
                <a:r>
                  <a:rPr sz="2400" b="1" i="0">
                    <a:solidFill>
                      <a:srgbClr val="0070C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（体育竞技）</a:t>
                </a:r>
                <a:r>
                  <a:rPr sz="2400" b="0" i="0">
                    <a:solidFill>
                      <a:srgbClr val="1E5A99"/>
                    </a:solidFill>
                    <a:latin typeface="KaiTi"/>
                    <a:ea typeface="KaiTi"/>
                    <a:cs typeface="KaiTi"/>
                  </a:rPr>
                  <a:t>（2026·江西九江一中检测）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为提高运动员百米赛跑的成绩，</a:t>
                </a:r>
              </a:p>
              <a:p>
                <a:pPr>
                  <a:lnSpc>
                    <a:spcPts val="43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教练员分析了运动员跑百米全程的录像，测得运动员在前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7 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内跑了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49 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，第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7 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末到</a:t>
                </a:r>
              </a:p>
              <a:p>
                <a:pPr>
                  <a:lnSpc>
                    <a:spcPts val="41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第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7.1 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末跑了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0.92 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，全程共用时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10 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.下列说法正确的是(</a:t>
                </a: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).</a:t>
                </a:r>
                <a:endParaRPr sz="2400"/>
              </a:p>
            </p:txBody>
          </p:sp>
        </mc:Choice>
        <mc:Fallback>
          <p:sp>
            <p:nvSpPr>
              <p:cNvPr id="2" name="QC_5_BD.15_1#dfd994bc4?vcp=1&amp;pid=6b0fb1775&amp;color=0,0,0&amp;vtp=1&amp;bt=1&amp;bbb=1&amp;hb=1">
                <a:extLst>
                  <a:ext uri="{FF2B5EF4-FFF2-40B4-BE49-F238E27FC236}">
                    <a16:creationId xmlns:a16="http://schemas.microsoft.com/office/drawing/2014/main" id="{AA547D0D-6E75-4BD5-B350-EEEBDA28F9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557274"/>
              </a:xfrm>
              <a:prstGeom prst="rect">
                <a:avLst/>
              </a:prstGeom>
              <a:blipFill>
                <a:blip r:embed="rId3"/>
                <a:stretch>
                  <a:fillRect l="-1658" t="-392" r="-374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6_1#dfd994bc4.bracket?vcp=1&amp;pid=6b0fb1775&amp;color=0,0,0&amp;vpa=6&amp;vtp=1">
            <a:extLst>
              <a:ext uri="{FF2B5EF4-FFF2-40B4-BE49-F238E27FC236}">
                <a16:creationId xmlns:a16="http://schemas.microsoft.com/office/drawing/2014/main" id="{6B68BD91-D31B-46B9-A1D2-01C51152E4CD}"/>
              </a:ext>
            </a:extLst>
          </p:cNvPr>
          <p:cNvSpPr>
            <a:spLocks noGrp="1"/>
          </p:cNvSpPr>
          <p:nvPr/>
        </p:nvSpPr>
        <p:spPr>
          <a:xfrm>
            <a:off x="8207661" y="1580706"/>
            <a:ext cx="441325" cy="46907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41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15_2#dfd994bc4.choices?vcp=1&amp;pid=6b0fb1775&amp;color=0,0,0&amp;vtp=1&amp;bbb=1">
                <a:extLst>
                  <a:ext uri="{FF2B5EF4-FFF2-40B4-BE49-F238E27FC236}">
                    <a16:creationId xmlns:a16="http://schemas.microsoft.com/office/drawing/2014/main" id="{91079E43-7A80-42DC-9481-B70A0773467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2066226"/>
                <a:ext cx="11402568" cy="21169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3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A.运动员在百米赛跑全过程的平均速度大小是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7 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endParaRPr sz="2400"/>
              </a:p>
              <a:p>
                <a:pPr>
                  <a:lnSpc>
                    <a:spcPts val="43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B.运动员在前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7 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内的平均速度大小是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10 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endParaRPr sz="2400"/>
              </a:p>
              <a:p>
                <a:pPr>
                  <a:lnSpc>
                    <a:spcPts val="43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C.运动员在第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7 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末的瞬时速度大小约为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9.2 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endParaRPr sz="2400"/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D.根据本题已知条件，无法估算运动员在第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7 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末的瞬时速度</a:t>
                </a:r>
                <a:endParaRPr sz="2400"/>
              </a:p>
            </p:txBody>
          </p:sp>
        </mc:Choice>
        <mc:Fallback>
          <p:sp>
            <p:nvSpPr>
              <p:cNvPr id="4" name="QC_5_BD.15_2#dfd994bc4.choices?vcp=1&amp;pid=6b0fb1775&amp;color=0,0,0&amp;vtp=1&amp;bbb=1">
                <a:extLst>
                  <a:ext uri="{FF2B5EF4-FFF2-40B4-BE49-F238E27FC236}">
                    <a16:creationId xmlns:a16="http://schemas.microsoft.com/office/drawing/2014/main" id="{91079E43-7A80-42DC-9481-B70A07734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6226"/>
                <a:ext cx="11402568" cy="2116900"/>
              </a:xfrm>
              <a:prstGeom prst="rect">
                <a:avLst/>
              </a:prstGeom>
              <a:blipFill>
                <a:blip r:embed="rId4"/>
                <a:stretch>
                  <a:fillRect l="-1658" t="-288" b="-8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AS.17_1#dfd994bc4?vcp=1&amp;pid=6b0fb1775&amp;color=0,0,0&amp;vtp=1&amp;bbb=1&amp;hb=1">
                <a:extLst>
                  <a:ext uri="{FF2B5EF4-FFF2-40B4-BE49-F238E27FC236}">
                    <a16:creationId xmlns:a16="http://schemas.microsoft.com/office/drawing/2014/main" id="{506A9227-D22E-4462-9271-E8C07ABA56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4187126"/>
                <a:ext cx="11402568" cy="20788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2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[解析]</a:t>
                </a:r>
                <a:r>
                  <a:rPr sz="2400" b="1" i="0">
                    <a:solidFill>
                      <a:srgbClr val="FF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运动员在百米赛跑全过程的平均速度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𝒗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𝚫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𝒙</m:t>
                        </m:r>
                      </m:num>
                      <m:den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𝚫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𝒕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𝟏𝟎𝟎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𝟏𝟎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，A错误；运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动员在前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𝟕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内的平均速度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𝒗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′=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𝚫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𝒙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′</m:t>
                        </m:r>
                      </m:num>
                      <m:den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𝚫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𝒕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′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𝟒𝟗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𝟕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𝟕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，B错误；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𝟕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末到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𝟕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的时间</a:t>
                </a:r>
              </a:p>
              <a:p>
                <a:pPr>
                  <a:lnSpc>
                    <a:spcPts val="42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𝚫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𝒕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，运动员在</a:t>
                </a: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𝚫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𝒕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内的平均速度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barPr>
                      <m:e>
                        <m:r>
                          <a:rPr lang="en-US" sz="240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𝒗</m:t>
                        </m:r>
                      </m:e>
                    </m:ba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𝟗𝟐</m:t>
                        </m:r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𝟏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𝟗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，因</a:t>
                </a: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𝚫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𝒕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较小，故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𝟕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末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的瞬时速度近似等于</a:t>
                </a: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𝚫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𝒕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内的平均速度，D错误，C正确.</a:t>
                </a:r>
                <a:endParaRPr sz="2400"/>
              </a:p>
            </p:txBody>
          </p:sp>
        </mc:Choice>
        <mc:Fallback>
          <p:sp>
            <p:nvSpPr>
              <p:cNvPr id="5" name="QC_5_AS.17_1#dfd994bc4?vcp=1&amp;pid=6b0fb1775&amp;color=0,0,0&amp;vtp=1&amp;bbb=1&amp;hb=1">
                <a:extLst>
                  <a:ext uri="{FF2B5EF4-FFF2-40B4-BE49-F238E27FC236}">
                    <a16:creationId xmlns:a16="http://schemas.microsoft.com/office/drawing/2014/main" id="{506A9227-D22E-4462-9271-E8C07ABA5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87126"/>
                <a:ext cx="11402568" cy="2078800"/>
              </a:xfrm>
              <a:prstGeom prst="rect">
                <a:avLst/>
              </a:prstGeom>
              <a:blipFill>
                <a:blip r:embed="rId5"/>
                <a:stretch>
                  <a:fillRect l="-1658" t="-1760" r="-1390" b="-8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170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QB_5_BD.18_1#b8be922cd?htil=4&amp;vcp=1&amp;pid=f3b076dfc&amp;color=0,0,0&amp;tib=255,255,255&amp;vtp=1&amp;hs=1&amp;hs=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84214" y="949674"/>
            <a:ext cx="2632957" cy="15579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B_5_BD.18_2#b8be922cd?htil=4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B3AA65C3-1F62-4912-82DA-B8AC585F501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962374"/>
                <a:ext cx="8622792" cy="15921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70C0"/>
                    </a:solidFill>
                    <a:latin typeface="Times New Roman"/>
                    <a:ea typeface="Times New Roman"/>
                    <a:cs typeface="Times New Roman"/>
                  </a:rPr>
                  <a:t>考题4</a:t>
                </a:r>
                <a:r>
                  <a:rPr sz="2400" b="1" i="0">
                    <a:solidFill>
                      <a:srgbClr val="0070C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0" i="0">
                    <a:solidFill>
                      <a:srgbClr val="1E5A99"/>
                    </a:solidFill>
                    <a:latin typeface="KaiTi"/>
                    <a:ea typeface="KaiTi"/>
                    <a:cs typeface="KaiTi"/>
                  </a:rPr>
                  <a:t>（2026·湖北武汉一中检测）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如图所示，打点计时器所用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电源的频率为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50 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𝐻𝑧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，某次实验中得到一条纸带，用毫米刻度尺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测出各点间的距离如图所示，则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𝐴𝐶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</m:oMath>
                </a14:m>
                <a:r>
                  <a:rPr sz="240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_____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𝑚𝑚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.那么由此可以算</a:t>
                </a:r>
                <a:endParaRPr sz="2400"/>
              </a:p>
            </p:txBody>
          </p:sp>
        </mc:Choice>
        <mc:Fallback>
          <p:sp>
            <p:nvSpPr>
              <p:cNvPr id="3" name="QB_5_BD.18_2#b8be922cd?htil=4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B3AA65C3-1F62-4912-82DA-B8AC585F50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2374"/>
                <a:ext cx="8622792" cy="1592199"/>
              </a:xfrm>
              <a:prstGeom prst="rect">
                <a:avLst/>
              </a:prstGeom>
              <a:blipFill>
                <a:blip r:embed="rId4"/>
                <a:stretch>
                  <a:fillRect l="-2192" r="-1202" b="-114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B_5_AN.19_1#b8be922cd.blank?vcp=1&amp;pid=f3b076dfc&amp;color=0,0,0&amp;vpa=7&amp;vtp=1&amp;bbb=1">
            <a:extLst>
              <a:ext uri="{FF2B5EF4-FFF2-40B4-BE49-F238E27FC236}">
                <a16:creationId xmlns:a16="http://schemas.microsoft.com/office/drawing/2014/main" id="{20E46F10-B0D4-49B6-A54E-0255964C5359}"/>
              </a:ext>
            </a:extLst>
          </p:cNvPr>
          <p:cNvSpPr>
            <a:spLocks noGrp="1"/>
          </p:cNvSpPr>
          <p:nvPr/>
        </p:nvSpPr>
        <p:spPr>
          <a:xfrm>
            <a:off x="5340254" y="2030443"/>
            <a:ext cx="754063" cy="47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14.0</a:t>
            </a:r>
            <a:endParaRPr sz="2400"/>
          </a:p>
        </p:txBody>
      </p:sp>
      <p:sp>
        <p:nvSpPr>
          <p:cNvPr id="5" name="QB_5_AN.20_1#b8be922cd.blank?vcp=1&amp;pid=f3b076dfc&amp;color=0,0,0&amp;vpa=8&amp;vtp=1&amp;bbb=1">
            <a:extLst>
              <a:ext uri="{FF2B5EF4-FFF2-40B4-BE49-F238E27FC236}">
                <a16:creationId xmlns:a16="http://schemas.microsoft.com/office/drawing/2014/main" id="{FE2B8A08-C91A-43B5-AF5E-6AADEFFCA65C}"/>
              </a:ext>
            </a:extLst>
          </p:cNvPr>
          <p:cNvSpPr>
            <a:spLocks noGrp="1"/>
          </p:cNvSpPr>
          <p:nvPr/>
        </p:nvSpPr>
        <p:spPr>
          <a:xfrm>
            <a:off x="4421981" y="2517743"/>
            <a:ext cx="754063" cy="49765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0.35</a:t>
            </a:r>
            <a:endParaRPr sz="2400"/>
          </a:p>
        </p:txBody>
      </p:sp>
      <p:sp>
        <p:nvSpPr>
          <p:cNvPr id="6" name="QB_5_AN.21_1#b8be922cd.blank?vcp=1&amp;pid=f3b076dfc&amp;color=0,0,0&amp;vpa=9&amp;vtp=1&amp;bbb=1">
            <a:extLst>
              <a:ext uri="{FF2B5EF4-FFF2-40B4-BE49-F238E27FC236}">
                <a16:creationId xmlns:a16="http://schemas.microsoft.com/office/drawing/2014/main" id="{559E59AB-FB56-45F8-8EE3-95C59D83848D}"/>
              </a:ext>
            </a:extLst>
          </p:cNvPr>
          <p:cNvSpPr>
            <a:spLocks noGrp="1"/>
          </p:cNvSpPr>
          <p:nvPr/>
        </p:nvSpPr>
        <p:spPr>
          <a:xfrm>
            <a:off x="9793320" y="2517743"/>
            <a:ext cx="754063" cy="49765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44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0.42</a:t>
            </a:r>
            <a:endParaRPr sz="2400"/>
          </a:p>
        </p:txBody>
      </p:sp>
      <p:sp>
        <p:nvSpPr>
          <p:cNvPr id="7" name="QB_5_AN.22_1#b8be922cd.blank?vcp=1&amp;pid=f3b076dfc&amp;color=0,0,0&amp;vpa=10&amp;vtp=1&amp;bbb=1">
            <a:extLst>
              <a:ext uri="{FF2B5EF4-FFF2-40B4-BE49-F238E27FC236}">
                <a16:creationId xmlns:a16="http://schemas.microsoft.com/office/drawing/2014/main" id="{FCBE775B-EC5E-4507-908B-790075EFE1CC}"/>
              </a:ext>
            </a:extLst>
          </p:cNvPr>
          <p:cNvSpPr>
            <a:spLocks noGrp="1"/>
          </p:cNvSpPr>
          <p:nvPr/>
        </p:nvSpPr>
        <p:spPr>
          <a:xfrm>
            <a:off x="3419760" y="3054952"/>
            <a:ext cx="754063" cy="47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0.35</a:t>
            </a:r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QB_5_AS.23_1#b8be922cd?vcp=1&amp;pid=f3b076dfc&amp;color=0,0,0&amp;vtp=1&amp;bbb=1&amp;hb=1">
                <a:extLst>
                  <a:ext uri="{FF2B5EF4-FFF2-40B4-BE49-F238E27FC236}">
                    <a16:creationId xmlns:a16="http://schemas.microsoft.com/office/drawing/2014/main" id="{70D9913F-5D6D-45D2-B22F-803D76446B1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3585813"/>
                <a:ext cx="11402568" cy="23328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[解析]</a:t>
                </a:r>
                <a:r>
                  <a:rPr sz="2400" b="1" i="0">
                    <a:solidFill>
                      <a:srgbClr val="FF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𝑨𝑪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𝟏𝟒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𝐦𝐦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，可算得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𝑨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、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𝑪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间的平均速度为</a:t>
                </a:r>
              </a:p>
              <a:p>
                <a:pPr>
                  <a:lnSpc>
                    <a:spcPts val="51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𝑨𝑪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𝑻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𝟏𝟒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p>
                          <m:sSup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𝟏𝟎</m:t>
                            </m:r>
                          </m:e>
                          <m:sup>
                            <m:r>
                              <a:rPr lang="en-US" sz="2400" b="1" i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𝟎𝟐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𝟑𝟓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 kern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；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𝑨𝑫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𝟐𝟓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𝐦𝐦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,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𝑨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、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𝑫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间的平均速度为</a:t>
                </a:r>
              </a:p>
              <a:p>
                <a:pPr>
                  <a:lnSpc>
                    <a:spcPts val="51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𝑨𝑫</m:t>
                            </m:r>
                          </m:sub>
                        </m:sSub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𝟑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𝑻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𝟐𝟓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p>
                          <m:sSup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𝟏𝟎</m:t>
                            </m:r>
                          </m:e>
                          <m:sup>
                            <m:r>
                              <a:rPr lang="en-US" sz="2400" b="1" i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𝟑</m:t>
                            </m:r>
                          </m:sup>
                        </m:sSup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𝟑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𝟎𝟐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𝟒𝟐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.对于描述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𝑩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点的瞬时速度来说，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𝑨𝑪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段所取的位移间隔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更小，更能接近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𝑩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点的真实速度，即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𝑩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点的瞬时速度更接近于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𝟑𝟓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  <a:endParaRPr sz="2400"/>
              </a:p>
            </p:txBody>
          </p:sp>
        </mc:Choice>
        <mc:Fallback>
          <p:sp>
            <p:nvSpPr>
              <p:cNvPr id="8" name="QB_5_AS.23_1#b8be922cd?vcp=1&amp;pid=f3b076dfc&amp;color=0,0,0&amp;vtp=1&amp;bbb=1&amp;hb=1">
                <a:extLst>
                  <a:ext uri="{FF2B5EF4-FFF2-40B4-BE49-F238E27FC236}">
                    <a16:creationId xmlns:a16="http://schemas.microsoft.com/office/drawing/2014/main" id="{70D9913F-5D6D-45D2-B22F-803D76446B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85813"/>
                <a:ext cx="11402568" cy="2332800"/>
              </a:xfrm>
              <a:prstGeom prst="rect">
                <a:avLst/>
              </a:prstGeom>
              <a:blipFill>
                <a:blip r:embed="rId5"/>
                <a:stretch>
                  <a:fillRect l="-1658" r="-1925" b="-7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QB_5_BD.18_2#b8be922cd?htil=4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C5A23D81-3C70-644F-BCCB-3D4BE8AF672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2545683"/>
                <a:ext cx="11400008" cy="10333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出纸带在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𝐴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、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𝐶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间的平均速度为</a:t>
                </a:r>
                <a:r>
                  <a:rPr sz="240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_____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，纸带在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𝐴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、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𝐷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间的平均速度为</a:t>
                </a:r>
                <a:r>
                  <a:rPr sz="240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_____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；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𝐵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点的瞬时速度更接近于</a:t>
                </a:r>
                <a:r>
                  <a:rPr sz="240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_____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（计算结果均保留两位小数）.</a:t>
                </a:r>
                <a:endParaRPr sz="2400"/>
              </a:p>
            </p:txBody>
          </p:sp>
        </mc:Choice>
        <mc:Fallback>
          <p:sp>
            <p:nvSpPr>
              <p:cNvPr id="9" name="QB_5_BD.18_2#b8be922cd?htil=4&amp;vcp=1&amp;pid=f3b076dfc&amp;color=0,0,0&amp;vtp=1&amp;bt=1&amp;bbb=1&amp;hb=1&amp;hs=1">
                <a:extLst>
                  <a:ext uri="{FF2B5EF4-FFF2-40B4-BE49-F238E27FC236}">
                    <a16:creationId xmlns:a16="http://schemas.microsoft.com/office/drawing/2014/main" id="{C5A23D81-3C70-644F-BCCB-3D4BE8AF67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45683"/>
                <a:ext cx="11400008" cy="1033399"/>
              </a:xfrm>
              <a:prstGeom prst="rect">
                <a:avLst/>
              </a:prstGeom>
              <a:blipFill>
                <a:blip r:embed="rId6"/>
                <a:stretch>
                  <a:fillRect l="-1658" b="-177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499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4_1#16ba2d2a2?vcp=1&amp;pid=f3b076dfc&amp;color=0,0,0&amp;vtp=1&amp;bt=1&amp;bbb=1&amp;hb=1">
                <a:extLst>
                  <a:ext uri="{FF2B5EF4-FFF2-40B4-BE49-F238E27FC236}">
                    <a16:creationId xmlns:a16="http://schemas.microsoft.com/office/drawing/2014/main" id="{5DF13F81-0708-4DA3-85AE-76E5C57CAA4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172210"/>
                <a:ext cx="11402568" cy="271399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70C0"/>
                    </a:solidFill>
                    <a:latin typeface="Times New Roman"/>
                    <a:ea typeface="Times New Roman"/>
                    <a:cs typeface="Times New Roman"/>
                  </a:rPr>
                  <a:t>变式4-1</a:t>
                </a:r>
                <a:r>
                  <a:rPr sz="2400" b="1" i="0">
                    <a:solidFill>
                      <a:srgbClr val="0070C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用气垫导轨和数字计时器能精确地测量物体的瞬时速度.如图所示，滑块在钩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码的牵引作用下先后通过两个光电门1、2，配套的数字计时器记录了遮光条通过第一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个光电门的时间为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sSub>
                      <m:sSub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e>
                      <m:sub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=0.29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，通过第二个光电门的时间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𝛥</m:t>
                    </m:r>
                    <m:sSub>
                      <m:sSubPr>
                        <m:ctrlPr>
                          <a:rPr lang="en-US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e>
                      <m:sub>
                        <m:r>
                          <a:rPr lang="en-US" sz="2400" b="0" i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=0.11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.已知遮光条的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宽度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𝑑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3.0 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𝑐𝑚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，分别求出滑块通过第一个光电门和第二个光电门的速度大小.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（计算结果保留两位有效数字）</a:t>
                </a:r>
                <a:endParaRPr sz="2400"/>
              </a:p>
            </p:txBody>
          </p:sp>
        </mc:Choice>
        <mc:Fallback>
          <p:sp>
            <p:nvSpPr>
              <p:cNvPr id="2" name="QO_5_BD.24_1#16ba2d2a2?vcp=1&amp;pid=f3b076dfc&amp;color=0,0,0&amp;vtp=1&amp;bt=1&amp;bbb=1&amp;hb=1">
                <a:extLst>
                  <a:ext uri="{FF2B5EF4-FFF2-40B4-BE49-F238E27FC236}">
                    <a16:creationId xmlns:a16="http://schemas.microsoft.com/office/drawing/2014/main" id="{5DF13F81-0708-4DA3-85AE-76E5C57CA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72210"/>
                <a:ext cx="11402568" cy="2713990"/>
              </a:xfrm>
              <a:prstGeom prst="rect">
                <a:avLst/>
              </a:prstGeom>
              <a:blipFill>
                <a:blip r:embed="rId3"/>
                <a:stretch>
                  <a:fillRect l="-1658" r="-802" b="-5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O_5_BD.24_2#16ba2d2a2?vcp=1&amp;pid=f3b076dfc&amp;color=0,0,0&amp;tib=255,255,255&amp;vtp=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5072" y="3985006"/>
            <a:ext cx="4178808" cy="170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218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AN.25_1#16ba2d2a2?vcp=1&amp;pid=f3b076dfc&amp;color=0,0,0&amp;vtp=1&amp;bt=1&amp;bbb=1&amp;hb=1">
                <a:extLst>
                  <a:ext uri="{FF2B5EF4-FFF2-40B4-BE49-F238E27FC236}">
                    <a16:creationId xmlns:a16="http://schemas.microsoft.com/office/drawing/2014/main" id="{DB6D55B0-6023-4493-89DA-1D431B2ACB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617028"/>
                <a:ext cx="11402568" cy="36322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[答案]</a:t>
                </a:r>
                <a:r>
                  <a:rPr sz="2400" b="1" i="0">
                    <a:solidFill>
                      <a:srgbClr val="FF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由于滑块经过光电门时遮光条的挡光时间较短，所以滑块经过光电门时的速度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近似等于遮光条遮光时间内的平均速度.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滑块经过第一个光电门的速度大小</a:t>
                </a:r>
                <a:endParaRPr sz="2400"/>
              </a:p>
              <a:p>
                <a:pPr>
                  <a:lnSpc>
                    <a:spcPts val="55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𝒗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𝟏</m:t>
                        </m:r>
                      </m:sub>
                    </m:sSub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𝒅</m:t>
                        </m:r>
                      </m:num>
                      <m:den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𝚫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𝒕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𝟑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p>
                          <m:sSup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𝟏𝟎</m:t>
                            </m:r>
                          </m:e>
                          <m:sup>
                            <m:r>
                              <a:rPr lang="en-US" sz="2400" b="1" i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𝟐𝟗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≈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滑块经过第二个光电门的速度大小</a:t>
                </a:r>
                <a:endParaRPr sz="2400"/>
              </a:p>
              <a:p>
                <a:pPr>
                  <a:lnSpc>
                    <a:spcPts val="55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𝒗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𝟐</m:t>
                        </m:r>
                      </m:sub>
                    </m:sSub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𝒅</m:t>
                        </m:r>
                      </m:num>
                      <m:den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𝚫</m:t>
                        </m:r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𝒕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𝟑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  <m:r>
                          <a:rPr lang="en-US" sz="2400" b="1" i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p>
                          <m:sSup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𝟏𝟎</m:t>
                            </m:r>
                          </m:e>
                          <m:sup>
                            <m:r>
                              <a:rPr lang="en-US" sz="2400" b="1" i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𝟎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.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𝟏𝟏</m:t>
                        </m:r>
                      </m:den>
                    </m:f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≈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𝟎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𝟐𝟕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  <a:endParaRPr sz="2400"/>
              </a:p>
            </p:txBody>
          </p:sp>
        </mc:Choice>
        <mc:Fallback>
          <p:sp>
            <p:nvSpPr>
              <p:cNvPr id="2" name="QO_5_AN.25_1#16ba2d2a2?vcp=1&amp;pid=f3b076dfc&amp;color=0,0,0&amp;vtp=1&amp;bt=1&amp;bbb=1&amp;hb=1">
                <a:extLst>
                  <a:ext uri="{FF2B5EF4-FFF2-40B4-BE49-F238E27FC236}">
                    <a16:creationId xmlns:a16="http://schemas.microsoft.com/office/drawing/2014/main" id="{DB6D55B0-6023-4493-89DA-1D431B2ACB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17028"/>
                <a:ext cx="11402568" cy="3632200"/>
              </a:xfrm>
              <a:prstGeom prst="rect">
                <a:avLst/>
              </a:prstGeom>
              <a:blipFill>
                <a:blip r:embed="rId3"/>
                <a:stretch>
                  <a:fillRect l="-1658" r="-1658" b="-16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42040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26_1#fad00e9fd?vcp=1&amp;pid=9431d32a3&amp;color=0,0,0&amp;vtp=1&amp;bt=1&amp;bbb=1&amp;hb=1">
            <a:extLst>
              <a:ext uri="{FF2B5EF4-FFF2-40B4-BE49-F238E27FC236}">
                <a16:creationId xmlns:a16="http://schemas.microsoft.com/office/drawing/2014/main" id="{761FE185-15AA-418B-98BE-92050925ACB4}"/>
              </a:ext>
            </a:extLst>
          </p:cNvPr>
          <p:cNvSpPr>
            <a:spLocks noGrp="1"/>
          </p:cNvSpPr>
          <p:nvPr/>
        </p:nvSpPr>
        <p:spPr>
          <a:xfrm>
            <a:off x="393192" y="1545177"/>
            <a:ext cx="11402568" cy="159219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00"/>
              </a:lnSpc>
              <a:buNone/>
            </a:pPr>
            <a:r>
              <a:rPr sz="2400" b="1" i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考题5</a:t>
            </a:r>
            <a:r>
              <a:rPr sz="2400" b="1" i="0">
                <a:solidFill>
                  <a:srgbClr val="0070C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0" i="0">
                <a:solidFill>
                  <a:srgbClr val="1E5A99"/>
                </a:solidFill>
                <a:latin typeface="KaiTi"/>
                <a:ea typeface="KaiTi"/>
                <a:cs typeface="KaiTi"/>
              </a:rPr>
              <a:t>（2026·湖北襄阳四中检测）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（多选题）一可视为质点的物体沿东西方向的水</a:t>
            </a:r>
          </a:p>
          <a:p>
            <a:pPr>
              <a:lnSpc>
                <a:spcPts val="44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平线做直线运动，取向东为正方向，其速度—时间图像如图所示，下列说法正确的是</a:t>
            </a:r>
          </a:p>
          <a:p>
            <a:pPr>
              <a:lnSpc>
                <a:spcPts val="4200"/>
              </a:lnSpc>
              <a:buNone/>
            </a:pP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2400" b="0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i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      </a:t>
            </a:r>
            <a:r>
              <a:rPr sz="24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).</a:t>
            </a:r>
            <a:endParaRPr sz="2400"/>
          </a:p>
        </p:txBody>
      </p:sp>
      <p:sp>
        <p:nvSpPr>
          <p:cNvPr id="3" name="QC_5_AN.27_1#fad00e9fd.bracket?vcp=1&amp;pid=9431d32a3&amp;color=0,0,0&amp;vpa=11&amp;vtp=1&amp;bbb=1">
            <a:extLst>
              <a:ext uri="{FF2B5EF4-FFF2-40B4-BE49-F238E27FC236}">
                <a16:creationId xmlns:a16="http://schemas.microsoft.com/office/drawing/2014/main" id="{B1C03456-A8C8-4EF1-B9CB-9519374F39F2}"/>
              </a:ext>
            </a:extLst>
          </p:cNvPr>
          <p:cNvSpPr>
            <a:spLocks noGrp="1"/>
          </p:cNvSpPr>
          <p:nvPr/>
        </p:nvSpPr>
        <p:spPr>
          <a:xfrm>
            <a:off x="676560" y="2651347"/>
            <a:ext cx="661988" cy="47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AC</a:t>
            </a:r>
            <a:endParaRPr sz="2400"/>
          </a:p>
        </p:txBody>
      </p:sp>
      <p:pic>
        <p:nvPicPr>
          <p:cNvPr id="9" name="QC_5_BD.26_2#fad00e9fd?htil=7&amp;vcp=1&amp;pid=9431d32a3&amp;color=0,0,0&amp;tib=255,255,255&amp;vtp=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6995" y="3184492"/>
            <a:ext cx="3127248" cy="19110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26_3#fad00e9fd.choices?htil=7&amp;vcp=1&amp;pid=9431d32a3&amp;color=0,0,0&amp;vtp=1&amp;bbb=1">
                <a:extLst>
                  <a:ext uri="{FF2B5EF4-FFF2-40B4-BE49-F238E27FC236}">
                    <a16:creationId xmlns:a16="http://schemas.microsoft.com/office/drawing/2014/main" id="{341E6105-BAB7-4288-ADBC-E1BF6F0F86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3138772"/>
                <a:ext cx="8138160" cy="21550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A.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8 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末，物体的速度大小为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6 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，方向向西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B.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2∼4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内，物体处于静止状态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C.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6∼7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内，物体速度方向向西，做加速运动</a:t>
                </a:r>
                <a:endParaRPr sz="2400"/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D.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10∼12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内，物体速度方向向东，做加速运动</a:t>
                </a:r>
                <a:endParaRPr sz="2400"/>
              </a:p>
            </p:txBody>
          </p:sp>
        </mc:Choice>
        <mc:Fallback>
          <p:sp>
            <p:nvSpPr>
              <p:cNvPr id="5" name="QC_5_BD.26_3#fad00e9fd.choices?htil=7&amp;vcp=1&amp;pid=9431d32a3&amp;color=0,0,0&amp;vtp=1&amp;bbb=1">
                <a:extLst>
                  <a:ext uri="{FF2B5EF4-FFF2-40B4-BE49-F238E27FC236}">
                    <a16:creationId xmlns:a16="http://schemas.microsoft.com/office/drawing/2014/main" id="{341E6105-BAB7-4288-ADBC-E1BF6F0F86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8772"/>
                <a:ext cx="8138160" cy="2155000"/>
              </a:xfrm>
              <a:prstGeom prst="rect">
                <a:avLst/>
              </a:prstGeom>
              <a:blipFill>
                <a:blip r:embed="rId4"/>
                <a:stretch>
                  <a:fillRect l="-2322" b="-84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0130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28_1#fad00e9fd?vcp=1&amp;pid=9431d32a3&amp;color=0,0,0&amp;vtp=1&amp;bt=1&amp;bbb=1&amp;hb=1">
                <a:extLst>
                  <a:ext uri="{FF2B5EF4-FFF2-40B4-BE49-F238E27FC236}">
                    <a16:creationId xmlns:a16="http://schemas.microsoft.com/office/drawing/2014/main" id="{32B393F0-19CE-47DE-B1A1-CEAE785BE3B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[解析]</a:t>
                </a:r>
                <a:r>
                  <a:rPr sz="2400" b="1" i="0">
                    <a:solidFill>
                      <a:srgbClr val="FF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由题图知，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𝟖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末，物体的速度为</a:t>
                </a:r>
                <a14:m>
                  <m:oMath xmlns:m="http://schemas.openxmlformats.org/officeDocument/2006/math"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−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𝟔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，则速度大小为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𝟔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，方向向西，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选项A正确；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∼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𝟒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内，物体做匀速直线运动，速度不为0，选项B错误；向东为正方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向，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𝟔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∼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𝟕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内，物体的速度为负值，且绝对值在增大，可知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𝟔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∼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𝟕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内，物体速度方向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向西，做加速运动，选项C正确；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∼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内，物体的速度为负值，且绝对值在减小，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则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𝟏𝟎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∼</m:t>
                    </m:r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𝟏𝟐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内，物体速度方向向西，做减速运动，选项D错误.</a:t>
                </a:r>
                <a:endParaRPr sz="2400"/>
              </a:p>
            </p:txBody>
          </p:sp>
        </mc:Choice>
        <mc:Fallback>
          <p:sp>
            <p:nvSpPr>
              <p:cNvPr id="2" name="QC_5_AS.28_1#fad00e9fd?vcp=1&amp;pid=9431d32a3&amp;color=0,0,0&amp;vtp=1&amp;bt=1&amp;bbb=1&amp;hb=1">
                <a:extLst>
                  <a:ext uri="{FF2B5EF4-FFF2-40B4-BE49-F238E27FC236}">
                    <a16:creationId xmlns:a16="http://schemas.microsoft.com/office/drawing/2014/main" id="{32B393F0-19CE-47DE-B1A1-CEAE785BE3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4064" b="-67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97065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29_1#821495581?vcp=1&amp;pid=9431d32a3&amp;color=0,0,0&amp;vtp=1&amp;bt=1&amp;bbb=1&amp;hb=1">
                <a:extLst>
                  <a:ext uri="{FF2B5EF4-FFF2-40B4-BE49-F238E27FC236}">
                    <a16:creationId xmlns:a16="http://schemas.microsoft.com/office/drawing/2014/main" id="{BCD9633C-79D7-45E7-B5C3-7F2973449E1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1026255"/>
                <a:ext cx="11402568" cy="1033399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0070C0"/>
                    </a:solidFill>
                    <a:latin typeface="Times New Roman"/>
                    <a:ea typeface="Times New Roman"/>
                    <a:cs typeface="Times New Roman"/>
                  </a:rPr>
                  <a:t>变式5-1</a:t>
                </a:r>
                <a:r>
                  <a:rPr sz="2400" b="1" i="0">
                    <a:solidFill>
                      <a:srgbClr val="0070C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（多选题）做直线运动的物体的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𝑣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 −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图像如图所示，下列判断正确的是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(</a:t>
                </a:r>
                <a:r>
                  <a:rPr sz="2400" b="0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000000"/>
                    </a:solidFill>
                    <a:latin typeface="SimSun"/>
                    <a:ea typeface="SimSun"/>
                    <a:cs typeface="SimSun"/>
                  </a:rPr>
                  <a:t>      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).</a:t>
                </a:r>
                <a:endParaRPr sz="2400"/>
              </a:p>
            </p:txBody>
          </p:sp>
        </mc:Choice>
        <mc:Fallback>
          <p:sp>
            <p:nvSpPr>
              <p:cNvPr id="2" name="QC_5_BD.29_1#821495581?vcp=1&amp;pid=9431d32a3&amp;color=0,0,0&amp;vtp=1&amp;bt=1&amp;bbb=1&amp;hb=1">
                <a:extLst>
                  <a:ext uri="{FF2B5EF4-FFF2-40B4-BE49-F238E27FC236}">
                    <a16:creationId xmlns:a16="http://schemas.microsoft.com/office/drawing/2014/main" id="{BCD9633C-79D7-45E7-B5C3-7F2973449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2625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30_1#821495581.bracket?vcp=1&amp;pid=9431d32a3&amp;color=0,0,0&amp;vpa=12&amp;vtp=1&amp;bbb=1">
            <a:extLst>
              <a:ext uri="{FF2B5EF4-FFF2-40B4-BE49-F238E27FC236}">
                <a16:creationId xmlns:a16="http://schemas.microsoft.com/office/drawing/2014/main" id="{93956769-8701-4E7F-A442-E23022BED907}"/>
              </a:ext>
            </a:extLst>
          </p:cNvPr>
          <p:cNvSpPr>
            <a:spLocks noGrp="1"/>
          </p:cNvSpPr>
          <p:nvPr/>
        </p:nvSpPr>
        <p:spPr>
          <a:xfrm>
            <a:off x="651160" y="1573625"/>
            <a:ext cx="865188" cy="47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lnSpc>
                <a:spcPts val="4200"/>
              </a:lnSpc>
              <a:buNone/>
            </a:pPr>
            <a:r>
              <a:rPr sz="2400" b="1" i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BCD</a:t>
            </a:r>
            <a:endParaRPr sz="2400"/>
          </a:p>
        </p:txBody>
      </p:sp>
      <p:pic>
        <p:nvPicPr>
          <p:cNvPr id="10" name="QC_5_BD.29_2#821495581?htil=8&amp;vcp=1&amp;pid=9431d32a3&amp;color=0,0,0&amp;tib=255,255,255&amp;vtp=1&amp;hs=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67062" y="2117184"/>
            <a:ext cx="2441448" cy="19385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29_3#821495581.choices?htil=8&amp;vcp=1&amp;pid=9431d32a3&amp;color=0,0,0&amp;vtp=1&amp;bbb=1&amp;hs=1">
                <a:extLst>
                  <a:ext uri="{FF2B5EF4-FFF2-40B4-BE49-F238E27FC236}">
                    <a16:creationId xmlns:a16="http://schemas.microsoft.com/office/drawing/2014/main" id="{FC073295-B02B-412B-8C57-2409267FCF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2071465"/>
                <a:ext cx="8823960" cy="2158302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A.物体在第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1 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末改变运动方向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B.物体在前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3 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内运动方向不变</a:t>
                </a:r>
                <a:endParaRPr sz="2400"/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C.物体在第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3 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末运动方向改变</a:t>
                </a:r>
                <a:endParaRPr sz="2400"/>
              </a:p>
              <a:p>
                <a:pPr>
                  <a:lnSpc>
                    <a:spcPts val="4300"/>
                  </a:lnSpc>
                  <a:buNone/>
                </a:pPr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D.物体在第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2 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2400" b="0" i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末的速度大小为</a:t>
                </a:r>
                <a14:m>
                  <m:oMath xmlns:m="http://schemas.openxmlformats.org/officeDocument/2006/math"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2 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0" i="0">
                        <a:solidFill>
                          <a:srgbClr val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</m:oMath>
                </a14:m>
                <a:r>
                  <a:rPr sz="100" b="0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endParaRPr sz="2400"/>
              </a:p>
            </p:txBody>
          </p:sp>
        </mc:Choice>
        <mc:Fallback>
          <p:sp>
            <p:nvSpPr>
              <p:cNvPr id="5" name="QC_5_BD.29_3#821495581.choices?htil=8&amp;vcp=1&amp;pid=9431d32a3&amp;color=0,0,0&amp;vtp=1&amp;bbb=1&amp;hs=1">
                <a:extLst>
                  <a:ext uri="{FF2B5EF4-FFF2-40B4-BE49-F238E27FC236}">
                    <a16:creationId xmlns:a16="http://schemas.microsoft.com/office/drawing/2014/main" id="{FC073295-B02B-412B-8C57-2409267FCF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71465"/>
                <a:ext cx="8823960" cy="2158302"/>
              </a:xfrm>
              <a:prstGeom prst="rect">
                <a:avLst/>
              </a:prstGeom>
              <a:blipFill>
                <a:blip r:embed="rId5"/>
                <a:stretch>
                  <a:fillRect l="-2142" b="-8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31_1#821495581?vcp=1&amp;pid=9431d32a3&amp;color=0,0,0&amp;vtp=1&amp;bbb=1&amp;hb=1&amp;hs=1">
                <a:extLst>
                  <a:ext uri="{FF2B5EF4-FFF2-40B4-BE49-F238E27FC236}">
                    <a16:creationId xmlns:a16="http://schemas.microsoft.com/office/drawing/2014/main" id="{3702B391-6BAF-445E-B3A7-29B2163789A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93192" y="4205064"/>
                <a:ext cx="11402568" cy="1596200"/>
              </a:xfrm>
              <a:prstGeom prst="rect">
                <a:avLst/>
              </a:prstGeom>
              <a:noFill/>
            </p:spPr>
            <p:txBody>
              <a:bodyPr wrap="none" lIns="0" tIns="0" rIns="0" bIns="0" anchor="t"/>
              <a:lstStyle/>
              <a:p>
                <a:pPr algn="l"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[解析]</a:t>
                </a:r>
                <a:r>
                  <a:rPr sz="2400" b="1" i="0">
                    <a:solidFill>
                      <a:srgbClr val="FF0000"/>
                    </a:solidFill>
                    <a:latin typeface="SimSun"/>
                    <a:ea typeface="SimSun"/>
                    <a:cs typeface="SimSu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前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𝟑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内物体的速度方向均为正方向，运动方向没有改变，选项A错误，B正确；</a:t>
                </a:r>
              </a:p>
              <a:p>
                <a:pPr>
                  <a:lnSpc>
                    <a:spcPts val="44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由题图可知物体在第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𝟑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末后速度为负，说明物体改变了运动方向，选项C正确；从题</a:t>
                </a:r>
              </a:p>
              <a:p>
                <a:pPr>
                  <a:lnSpc>
                    <a:spcPts val="4200"/>
                  </a:lnSpc>
                  <a:buNone/>
                </a:pP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图中可以看出，物体在第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末的速度大小为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𝟐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𝐦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/</m:t>
                    </m:r>
                    <m:r>
                      <a:rPr lang="en-US" sz="2400" b="1" i="0">
                        <a:solidFill>
                          <a:srgbClr val="FF0000"/>
                        </a:solidFill>
                        <a:latin typeface="Cambria Math"/>
                        <a:ea typeface="Cambria Math"/>
                        <a:cs typeface="Cambria Math"/>
                      </a:rPr>
                      <m:t>𝐬</m:t>
                    </m:r>
                  </m:oMath>
                </a14:m>
                <a:r>
                  <a:rPr sz="100" b="1" i="0" kern="0" spc="-999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sz="2400" b="1" i="0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</a:rPr>
                  <a:t>，选项D正确.</a:t>
                </a:r>
                <a:endParaRPr sz="2400"/>
              </a:p>
            </p:txBody>
          </p:sp>
        </mc:Choice>
        <mc:Fallback>
          <p:sp>
            <p:nvSpPr>
              <p:cNvPr id="6" name="QC_5_AS.31_1#821495581?vcp=1&amp;pid=9431d32a3&amp;color=0,0,0&amp;vtp=1&amp;bbb=1&amp;hb=1&amp;hs=1">
                <a:extLst>
                  <a:ext uri="{FF2B5EF4-FFF2-40B4-BE49-F238E27FC236}">
                    <a16:creationId xmlns:a16="http://schemas.microsoft.com/office/drawing/2014/main" id="{3702B391-6BAF-445E-B3A7-29B2163789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05064"/>
                <a:ext cx="11402568" cy="1596200"/>
              </a:xfrm>
              <a:prstGeom prst="rect">
                <a:avLst/>
              </a:prstGeom>
              <a:blipFill>
                <a:blip r:embed="rId6"/>
                <a:stretch>
                  <a:fillRect l="-1658" r="-3476" b="-11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45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2433</Words>
  <Application>Microsoft Office PowerPoint</Application>
  <DocSecurity>0</DocSecurity>
  <PresentationFormat>宽屏</PresentationFormat>
  <Paragraphs>352</Paragraphs>
  <Slides>46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6" baseType="lpstr">
      <vt:lpstr>SimHei</vt:lpstr>
      <vt:lpstr>KaiTi</vt:lpstr>
      <vt:lpstr>SimSun</vt:lpstr>
      <vt:lpstr>Microsoft YaHei</vt:lpstr>
      <vt:lpstr>Microsoft YaHei</vt:lpstr>
      <vt:lpstr>Arial</vt:lpstr>
      <vt:lpstr>Calibri</vt:lpstr>
      <vt:lpstr>Cambria Math</vt:lpstr>
      <vt:lpstr>Times New Roman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瀚文 孙</cp:lastModifiedBy>
  <cp:revision>1</cp:revision>
  <dcterms:created xsi:type="dcterms:W3CDTF">2026-09-08T05:02:04Z</dcterms:created>
  <dcterms:modified xsi:type="dcterms:W3CDTF">2026-09-09T03:25:58Z</dcterms:modified>
</cp:coreProperties>
</file>