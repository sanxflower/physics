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a0053370904d99" /><Relationship Type="http://schemas.openxmlformats.org/officeDocument/2006/relationships/extended-properties" Target="/docProps/app.xml" Id="R58784e3e460446b4" /><Relationship Type="http://schemas.openxmlformats.org/officeDocument/2006/relationships/officeDocument" Target="/ppt/presentation.xml" Id="R1ae0b8b587c34a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ff7577b4774d92"/>
  </p:sldMasterIdLst>
  <p:notesMasterIdLst>
    <p:notesMasterId xmlns:r="http://schemas.openxmlformats.org/officeDocument/2006/relationships" r:id="Re4c49b8042894466"/>
  </p:notesMasterIdLst>
  <p:sldIdLst>
    <p:sldId xmlns:r="http://schemas.openxmlformats.org/officeDocument/2006/relationships" id="256" r:id="R393cb972636543fe"/>
    <p:sldId xmlns:r="http://schemas.openxmlformats.org/officeDocument/2006/relationships" id="257" r:id="R1d73fb77e45240c8"/>
    <p:sldId xmlns:r="http://schemas.openxmlformats.org/officeDocument/2006/relationships" id="258" r:id="Rd281d261af89453d"/>
    <p:sldId xmlns:r="http://schemas.openxmlformats.org/officeDocument/2006/relationships" id="259" r:id="R06c5a44847b24024"/>
    <p:sldId xmlns:r="http://schemas.openxmlformats.org/officeDocument/2006/relationships" id="260" r:id="Rcf10bba4edfa4c4f"/>
    <p:sldId xmlns:r="http://schemas.openxmlformats.org/officeDocument/2006/relationships" id="261" r:id="R5f8e4bdf6d33427e"/>
    <p:sldId xmlns:r="http://schemas.openxmlformats.org/officeDocument/2006/relationships" id="262" r:id="R0d30873dbe914182"/>
    <p:sldId xmlns:r="http://schemas.openxmlformats.org/officeDocument/2006/relationships" id="263" r:id="R82339448ca854ce5"/>
    <p:sldId xmlns:r="http://schemas.openxmlformats.org/officeDocument/2006/relationships" id="264" r:id="R4ed723feb63f4125"/>
    <p:sldId xmlns:r="http://schemas.openxmlformats.org/officeDocument/2006/relationships" id="265" r:id="R80f147ea9a6c4d6e"/>
    <p:sldId xmlns:r="http://schemas.openxmlformats.org/officeDocument/2006/relationships" id="266" r:id="R6db5ef6dbe4a4660"/>
    <p:sldId xmlns:r="http://schemas.openxmlformats.org/officeDocument/2006/relationships" id="267" r:id="R37c9748fd0474b44"/>
    <p:sldId xmlns:r="http://schemas.openxmlformats.org/officeDocument/2006/relationships" id="268" r:id="R69e4c991c7994e1e"/>
    <p:sldId xmlns:r="http://schemas.openxmlformats.org/officeDocument/2006/relationships" id="269" r:id="R329176eaa9884667"/>
    <p:sldId xmlns:r="http://schemas.openxmlformats.org/officeDocument/2006/relationships" id="270" r:id="R4a5d7d2d4d1642fe"/>
    <p:sldId xmlns:r="http://schemas.openxmlformats.org/officeDocument/2006/relationships" id="271" r:id="R6aacbf7ca1c0411a"/>
    <p:sldId xmlns:r="http://schemas.openxmlformats.org/officeDocument/2006/relationships" id="272" r:id="R497db4fdf1da4fbe"/>
    <p:sldId xmlns:r="http://schemas.openxmlformats.org/officeDocument/2006/relationships" id="273" r:id="R364ff41a42484f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6f85589c0446ec" /><Relationship Type="http://schemas.openxmlformats.org/officeDocument/2006/relationships/slideMaster" Target="/ppt/slideMasters/slideMaster1.xml" Id="Rcfff7577b4774d92" /><Relationship Type="http://schemas.openxmlformats.org/officeDocument/2006/relationships/notesMaster" Target="/ppt/notesMasters/notesMaster1.xml" Id="Re4c49b8042894466" /><Relationship Type="http://schemas.openxmlformats.org/officeDocument/2006/relationships/presProps" Target="/ppt/presProps.xml" Id="R1e8568a685c24c61" /><Relationship Type="http://schemas.openxmlformats.org/officeDocument/2006/relationships/tableStyles" Target="/ppt/tableStyles.xml" Id="R0e8d3fb2514943ff" /><Relationship Type="http://schemas.openxmlformats.org/officeDocument/2006/relationships/slide" Target="/ppt/slides/slide1.xml" Id="R393cb972636543fe" /><Relationship Type="http://schemas.openxmlformats.org/officeDocument/2006/relationships/slide" Target="/ppt/slides/slide2.xml" Id="R1d73fb77e45240c8" /><Relationship Type="http://schemas.openxmlformats.org/officeDocument/2006/relationships/slide" Target="/ppt/slides/slide3.xml" Id="Rd281d261af89453d" /><Relationship Type="http://schemas.openxmlformats.org/officeDocument/2006/relationships/slide" Target="/ppt/slides/slide4.xml" Id="R06c5a44847b24024" /><Relationship Type="http://schemas.openxmlformats.org/officeDocument/2006/relationships/slide" Target="/ppt/slides/slide5.xml" Id="Rcf10bba4edfa4c4f" /><Relationship Type="http://schemas.openxmlformats.org/officeDocument/2006/relationships/slide" Target="/ppt/slides/slide6.xml" Id="R5f8e4bdf6d33427e" /><Relationship Type="http://schemas.openxmlformats.org/officeDocument/2006/relationships/slide" Target="/ppt/slides/slide7.xml" Id="R0d30873dbe914182" /><Relationship Type="http://schemas.openxmlformats.org/officeDocument/2006/relationships/slide" Target="/ppt/slides/slide8.xml" Id="R82339448ca854ce5" /><Relationship Type="http://schemas.openxmlformats.org/officeDocument/2006/relationships/slide" Target="/ppt/slides/slide9.xml" Id="R4ed723feb63f4125" /><Relationship Type="http://schemas.openxmlformats.org/officeDocument/2006/relationships/slide" Target="/ppt/slides/slide10.xml" Id="R80f147ea9a6c4d6e" /><Relationship Type="http://schemas.openxmlformats.org/officeDocument/2006/relationships/slide" Target="/ppt/slides/slide11.xml" Id="R6db5ef6dbe4a4660" /><Relationship Type="http://schemas.openxmlformats.org/officeDocument/2006/relationships/slide" Target="/ppt/slides/slide12.xml" Id="R37c9748fd0474b44" /><Relationship Type="http://schemas.openxmlformats.org/officeDocument/2006/relationships/slide" Target="/ppt/slides/slide13.xml" Id="R69e4c991c7994e1e" /><Relationship Type="http://schemas.openxmlformats.org/officeDocument/2006/relationships/slide" Target="/ppt/slides/slide14.xml" Id="R329176eaa9884667" /><Relationship Type="http://schemas.openxmlformats.org/officeDocument/2006/relationships/slide" Target="/ppt/slides/slide15.xml" Id="R4a5d7d2d4d1642fe" /><Relationship Type="http://schemas.openxmlformats.org/officeDocument/2006/relationships/slide" Target="/ppt/slides/slide16.xml" Id="R6aacbf7ca1c0411a" /><Relationship Type="http://schemas.openxmlformats.org/officeDocument/2006/relationships/slide" Target="/ppt/slides/slide17.xml" Id="R497db4fdf1da4fbe" /><Relationship Type="http://schemas.openxmlformats.org/officeDocument/2006/relationships/slide" Target="/ppt/slides/slide18.xml" Id="R364ff41a42484f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f55f22342048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95a200d40a4fc6" /><Relationship Type="http://schemas.openxmlformats.org/officeDocument/2006/relationships/notesMaster" Target="/ppt/notesMasters/notesMaster1.xml" Id="Rc56e6d7d77194e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4cbc19f295409f" /><Relationship Type="http://schemas.openxmlformats.org/officeDocument/2006/relationships/notesMaster" Target="/ppt/notesMasters/notesMaster1.xml" Id="Rc085889cea104a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771147ea204654" /><Relationship Type="http://schemas.openxmlformats.org/officeDocument/2006/relationships/notesMaster" Target="/ppt/notesMasters/notesMaster1.xml" Id="R03567326786748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137920390e45c1" /><Relationship Type="http://schemas.openxmlformats.org/officeDocument/2006/relationships/notesMaster" Target="/ppt/notesMasters/notesMaster1.xml" Id="Ra7c792dd840045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87808a4ba94bd6" /><Relationship Type="http://schemas.openxmlformats.org/officeDocument/2006/relationships/notesMaster" Target="/ppt/notesMasters/notesMaster1.xml" Id="R1093de877c284f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801df91e334a86" /><Relationship Type="http://schemas.openxmlformats.org/officeDocument/2006/relationships/notesMaster" Target="/ppt/notesMasters/notesMaster1.xml" Id="R5454538f501b40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63b6c6ab7240fd" /><Relationship Type="http://schemas.openxmlformats.org/officeDocument/2006/relationships/notesMaster" Target="/ppt/notesMasters/notesMaster1.xml" Id="R102d4ae1de2349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09550e2f2f4ff3" /><Relationship Type="http://schemas.openxmlformats.org/officeDocument/2006/relationships/notesMaster" Target="/ppt/notesMasters/notesMaster1.xml" Id="Re7480a1937a543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82cac54ef3455a" /><Relationship Type="http://schemas.openxmlformats.org/officeDocument/2006/relationships/notesMaster" Target="/ppt/notesMasters/notesMaster1.xml" Id="Rb45d18a2f7f845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931d0f2247496f" /><Relationship Type="http://schemas.openxmlformats.org/officeDocument/2006/relationships/notesMaster" Target="/ppt/notesMasters/notesMaster1.xml" Id="Re45fa08f65bd45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fd3d8f051c499c" /><Relationship Type="http://schemas.openxmlformats.org/officeDocument/2006/relationships/notesMaster" Target="/ppt/notesMasters/notesMaster1.xml" Id="Rdd46ae8e20b247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40164a0fba4b17" /><Relationship Type="http://schemas.openxmlformats.org/officeDocument/2006/relationships/notesMaster" Target="/ppt/notesMasters/notesMaster1.xml" Id="R50089324432f435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ec77ee51b7545cb" /><Relationship Type="http://schemas.openxmlformats.org/officeDocument/2006/relationships/notesMaster" Target="/ppt/notesMasters/notesMaster1.xml" Id="R7bf6733b7a264d0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ba7d1210faa4c18" /><Relationship Type="http://schemas.openxmlformats.org/officeDocument/2006/relationships/notesMaster" Target="/ppt/notesMasters/notesMaster1.xml" Id="Rf80565b8a3f14c7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079677bb6784812" /><Relationship Type="http://schemas.openxmlformats.org/officeDocument/2006/relationships/notesMaster" Target="/ppt/notesMasters/notesMaster1.xml" Id="Reeda23769b4c447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6a23c9065df4220" /><Relationship Type="http://schemas.openxmlformats.org/officeDocument/2006/relationships/notesMaster" Target="/ppt/notesMasters/notesMaster1.xml" Id="R13316d7a56e04a6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fa0d6054e294fec" /><Relationship Type="http://schemas.openxmlformats.org/officeDocument/2006/relationships/notesMaster" Target="/ppt/notesMasters/notesMaster1.xml" Id="R06a0bbf8b8ba407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c4f57f220f349e6" /><Relationship Type="http://schemas.openxmlformats.org/officeDocument/2006/relationships/notesMaster" Target="/ppt/notesMasters/notesMaster1.xml" Id="R72a80db24c9c41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开场：同一段路，谁先到达？本节用速度定量描述位置变化的快慢。</a:t>
            </a:r>
          </a:p>
          <a:p xmlns:a="http://schemas.openxmlformats.org/drawingml/2006/main">
            <a:r>
              <a:t>教学目标：建立速度、平均速度与瞬时速度的概念，并能读懂简单 v-t 图像。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先展示本节的学习地图。学生能预判本节需要掌握的四组概念。建议让学生在学习单上标记最陌生的一项。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提问：甲、乙通过的位移相同，谁的位置变化更快？学生通常能直接回答甲。追问：若位移、时间都不同，怎样比较？引出比值定义。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强调速度方向就是物体的运动方向。说明 v=Δx/Δt 是定义式，不表示 v 与 Δx 成正比、与 Δt 成反比。资料对应原课件“速度 回归教材”“对定义式的理解”。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让学生独立完成例题，再请一位学生说明“为什么不能只比较位移”。易错点：把位置坐标代替位移，或遗漏速度方向。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请学生判断两辆同样“5 m/s”的小车是否速度相同。答案：若方向相反，速度不相同。原课件中的变式题强调了正负号表示方向。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让学生先独立判断，再同桌说明理由。A 是本节第一处关键辨析。C 是速度定义式的普遍适用性，区别于匀速直线运动中的 v 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原课件将“平均速度”列为独立考点。此页同时引入平均速率，帮助学生在往返问题中区分位移和路程。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强调往返结束时初、末位置相同，因此总位移为零，平均速度为零；总路程为 200 m，因此平均速率为 8 m/s。让学生确认两者分母都是总时间。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追问：汽车仪表盘显示的速度，描述哪一个概念？引出瞬时速度。说明实际测量以很短时间内的平均速度近似瞬时速度。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原课件的实验部分强调：测某两点间平均速度，测量两点间位移和对应时间即可。进一步说明，取目标点附近的短时间区间可以近似该点瞬时速度。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操作演示：严格强调先通电再拉纸带。可提问：从第 1 个点数到第 8 个点，共有几个时间间隔？答案为 7 个，时间 0.14 s。原课件给出电磁打点计时器和电火花计时器的基本使用。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原课件拓展了光电门和频闪照相法。光电门中遮光时间很短，遮光条在这段时间内的平均速度近似滑块经过光电门的瞬时速度。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原课件的“速度—时间图像”部分：图像反映速度随时间的变化。时间轴上方表示沿正方向运动，下方表示沿负方向运动。平行于时间轴表示匀速运动。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先让学生读出 I、II、III 三段的速度方向和变化。提醒：速度变小不等于沿负方向运动，方向要看速度的正负。关于斜率与加速度仅作铺垫，不作本节重点。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可先遮住参考答案，留 2 分钟独立完成。第 1 题检测学生是否能把带符号的位置坐标正确代入位移公式。第 2 题检测正负号的物理意义。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请学生在便签或学习单上作答，作为本节出口条。根据第 1、3 题判断学生对“方向”的理解是否牢固。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用四句话收束全课。布置预习：观察 v-t 图像上图线倾斜程度的不同，下节课研究速度变化快慢的物理量。</a:t>
            </a:r>
          </a:p>
          <a:p xmlns:a="http://schemas.openxmlformats.org/drawingml/2006/main">
            <a:r>
              <a:t>资料参考：用户提供的速度原课件及 1.2 课堂课件的版式风格。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78a4997b454f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97526ddba743ea" /><Relationship Type="http://schemas.openxmlformats.org/officeDocument/2006/relationships/slideLayout" Target="/ppt/slideLayouts/slideLayout1.xml" Id="R7e5ff789dfb840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5ff789dfb840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baf2c6e954c6c" /><Relationship Type="http://schemas.openxmlformats.org/officeDocument/2006/relationships/notesSlide" Target="/ppt/notesSlides/notesSlide1.xml" Id="Re80eb9b0158a4c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6109820204732" /><Relationship Type="http://schemas.openxmlformats.org/officeDocument/2006/relationships/notesSlide" Target="/ppt/notesSlides/notesSlide2.xml" Id="R5306c444b7c44f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fa3da6e9b486e" /><Relationship Type="http://schemas.openxmlformats.org/officeDocument/2006/relationships/notesSlide" Target="/ppt/notesSlides/notesSlide3.xml" Id="R9686ce965bc94a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2fe11a6d847bb" /><Relationship Type="http://schemas.openxmlformats.org/officeDocument/2006/relationships/notesSlide" Target="/ppt/notesSlides/notesSlide4.xml" Id="R650fae95303b41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c39f80518495d" /><Relationship Type="http://schemas.openxmlformats.org/officeDocument/2006/relationships/notesSlide" Target="/ppt/notesSlides/notesSlide5.xml" Id="R8ee36f182ebb46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456b947c04456" /><Relationship Type="http://schemas.openxmlformats.org/officeDocument/2006/relationships/notesSlide" Target="/ppt/notesSlides/notesSlide6.xml" Id="R631b640559034b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58a55148c4787" /><Relationship Type="http://schemas.openxmlformats.org/officeDocument/2006/relationships/notesSlide" Target="/ppt/notesSlides/notesSlide7.xml" Id="Rd370173f06fc49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f3e34848f4636" /><Relationship Type="http://schemas.openxmlformats.org/officeDocument/2006/relationships/notesSlide" Target="/ppt/notesSlides/notesSlide8.xml" Id="R64a1d4b8d3544b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d105b6f7e463a" /><Relationship Type="http://schemas.openxmlformats.org/officeDocument/2006/relationships/notesSlide" Target="/ppt/notesSlides/notesSlide9.xml" Id="R6e8d02e1724d48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c0072b5944700" /><Relationship Type="http://schemas.openxmlformats.org/officeDocument/2006/relationships/notesSlide" Target="/ppt/notesSlides/notesSlide10.xml" Id="R8e4d2a4703ad4d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5d812dc8b4cdf" /><Relationship Type="http://schemas.openxmlformats.org/officeDocument/2006/relationships/notesSlide" Target="/ppt/notesSlides/notesSlide11.xml" Id="R70056c4093f7453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b2e078ff94eb0" /><Relationship Type="http://schemas.openxmlformats.org/officeDocument/2006/relationships/notesSlide" Target="/ppt/notesSlides/notesSlide12.xml" Id="R56ee234cb74646c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350fa1108444b" /><Relationship Type="http://schemas.openxmlformats.org/officeDocument/2006/relationships/notesSlide" Target="/ppt/notesSlides/notesSlide13.xml" Id="R10a8d73bf5074f5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2f58bbead42d7" /><Relationship Type="http://schemas.openxmlformats.org/officeDocument/2006/relationships/notesSlide" Target="/ppt/notesSlides/notesSlide14.xml" Id="R0059b561ec584f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31e5c606e4265" /><Relationship Type="http://schemas.openxmlformats.org/officeDocument/2006/relationships/notesSlide" Target="/ppt/notesSlides/notesSlide15.xml" Id="Rd8b5b27864334fb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8414e6b6b4963" /><Relationship Type="http://schemas.openxmlformats.org/officeDocument/2006/relationships/notesSlide" Target="/ppt/notesSlides/notesSlide16.xml" Id="R8884114ddde641d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7f474caae4c34" /><Relationship Type="http://schemas.openxmlformats.org/officeDocument/2006/relationships/notesSlide" Target="/ppt/notesSlides/notesSlide17.xml" Id="R5075f86da3354af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7963ec7b149ce" /><Relationship Type="http://schemas.openxmlformats.org/officeDocument/2006/relationships/notesSlide" Target="/ppt/notesSlides/notesSlide18.xml" Id="R8249a25a6b124c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0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3C8CB1-231A-4313-8B72-5F6AAB30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F755F-3B77-4177-A6A7-B8428D83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5B8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5B8CF"/>
                </a:solidFill>
                <a:latin typeface="Microsoft YaHei"/>
                <a:ea typeface="Microsoft YaHei"/>
                <a:cs typeface="Microsoft YaHei"/>
              </a:rPr>
              <a:t>高中物理 · 必修第一册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75E722-3304-4716-8945-56014B79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1.3 位置变化快慢的描述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DAC57-F77C-483D-B3DC-DB04368F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速 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BDD05-039B-45DB-8581-F2B2A251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8E5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8E5F5"/>
                </a:solidFill>
                <a:latin typeface="Microsoft YaHei"/>
                <a:ea typeface="Microsoft YaHei"/>
                <a:cs typeface="Microsoft YaHei"/>
              </a:rPr>
              <a:t>把“快慢”说清楚，也把“方向”说清楚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C2A16-E992-48A3-9E69-CA7EB09A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371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479CD-E467-4D04-AFF0-9ADED876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速度 · 平均速度 · 瞬时速度 · 测量 · v-t 图像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0AE6AA-853D-41BF-BA9D-3AFDDF18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911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5B8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AB75F-D678-407B-8755-4F4922DD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00250"/>
            <a:ext cx="0" cy="3390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5B8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9D9A8A-0033-4F8D-AA1C-4BA27AC8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959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20E160-CAC6-4BF6-81A9-6F58945D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5911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0333D-9D69-46BD-86AF-AAD54196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2959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64C1AC-F01C-44A9-8828-5216684D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5911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D45520-098E-43F3-9CFB-E0E55FB6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959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8DA42-17B2-4057-866C-8CE90872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5911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AF920A-DD44-429A-8050-A2E99B04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67300"/>
            <a:ext cx="2000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7237F4-7D8C-4228-B6F8-A3ECEEC4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686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位置变化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4C9F80-EB25-40AA-9DF3-CA0762C4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3EDB8F-1132-460F-B709-4CCE10CC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</p:spTree>
    <p:extLst>
      <p:ext uri="{BB962C8B-B14F-4D97-AF65-F5344CB8AC3E}">
        <p14:creationId xmlns:p14="http://schemas.microsoft.com/office/powerpoint/2010/main" val="11844015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226196-C1F4-47D6-A921-D26172CC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2B432-0191-4612-8F64-A4EC16F7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A5ECB-AD64-429E-9092-CA6029FC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01 · 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D87A1-86C9-4DBC-8078-1E6D17E9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198AE-D348-416F-9353-D4C9A3FC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423C9-684F-432D-936C-000858DC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CC8C6-94AE-44E4-8973-84B57445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C0AEE-B5A8-4D7E-A34D-11E96E4E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这一节课，我们要解决什么？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85F2A6-9CB5-423F-8EC0-DEF34EB6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50292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B87BD9-26DB-46B0-A17F-08F1E7F5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4A2F0-0C5F-4240-BA2F-F58BB1F8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速度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6121E-312E-4E36-9C0E-6A27EABF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用位移与时间的比值描述快慢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74BAB4-8C82-440E-A7CF-35D95AEB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50292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32E688-BE5D-4C0E-80E8-4A8EA183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4E868B-B1EE-452E-91FD-CBDE9B20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平均速度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911DCE-0E66-42E0-B440-FDA383ED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对应一段过程，方向与位移相同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005C6-F996-42F0-8692-371AEE91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71650"/>
            <a:ext cx="50292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52FA61-A156-4814-B874-584071C4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7165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BCB"/>
          </a:solidFill>
          <a:ln xmlns:a="http://schemas.openxmlformats.org/drawingml/2006/main" w="0">
            <a:solidFill>
              <a:srgbClr val="2C7BC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5ABD8F-00B1-4578-9583-69186E0D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00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瞬时速度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644B25-694C-4C2F-A6BE-2ADF1DBE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对应某时刻或某位置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22AFC1-F60F-4BB1-8816-40B55384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1400"/>
            <a:ext cx="50292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4E0A1E-D09A-4A78-918F-36C3BB63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140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883"/>
          </a:solidFill>
          <a:ln xmlns:a="http://schemas.openxmlformats.org/drawingml/2006/main" w="0">
            <a:solidFill>
              <a:srgbClr val="42B88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E00BAE-87A3-406D-A043-EECB760C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10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速度测量与图像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7810C5-270A-44ED-9C7C-17E0B474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672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纸带、光电门、频闪照相和 v-t 图像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455B63-3265-44B1-B34C-7922DB34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065479-C52F-46AD-B7A3-086934A8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核心线索：一段过程用平均速度，一个瞬间用瞬时速度</a:t>
            </a:r>
          </a:p>
        </p:txBody>
      </p:sp>
    </p:spTree>
    <p:extLst>
      <p:ext uri="{BB962C8B-B14F-4D97-AF65-F5344CB8AC3E}">
        <p14:creationId xmlns:p14="http://schemas.microsoft.com/office/powerpoint/2010/main" val="10676496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5FD9A4-0951-4E3B-92A0-B7A65687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5BC09-7584-4868-BB9C-0E6543F9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3BEC5-FFA4-4F26-A28D-CB194DC4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02 · 情境导入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343F7-467D-4301-BDB8-C8E4E519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E7670-1976-4537-8162-FF121A57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6BCCEB-C71B-4158-932B-F8E6ED25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87412-B271-4B4A-B890-FA04FEB8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D69512-7955-46A9-9427-E134C0FD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同样跑 100 m，怎样比较谁更快？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2A562B-7AC7-4042-B34C-3B94FEFE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49530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FA6D21-73FB-41F6-A070-1533E5B6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762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9F27ED-CCAA-4F8F-A158-DF3D6A42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76400"/>
            <a:ext cx="49530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908833-D0D3-45D1-8545-224867DA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76400"/>
            <a:ext cx="762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271211-D4A5-4B5D-83BE-313722B2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24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甲同学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70648D-2172-457A-9AB3-6C492D37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24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乙同学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215D54-6F8D-4664-8BB9-6CEF849A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385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9A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22FB27-36D2-49DD-B4B3-C88BBAEC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385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5B8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815D70-DF32-4147-A933-435AAC27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5337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2C4031-8DEB-4877-8DBC-A1A7D702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5337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7C744C-0198-4080-90A9-A0F3B400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5337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B92600-8F6C-4660-B1C0-A5DC4736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5337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CDE2DC-F3CD-475A-A035-24594D48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48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100 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86A80E-EDDA-468F-92F0-98197B10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48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100 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30AA77-75A4-4AA6-8779-8994496E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用时 16 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3DC795-4565-4ABF-BACD-350DEC98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386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用时 20 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A8B86C-9552-4C70-BDE1-80DC7894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455018-DFB8-4913-90B3-AF870B09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相同位移下，用时更短，位置变化更快。如何把这种比较变成一个物理量？</a:t>
            </a:r>
          </a:p>
        </p:txBody>
      </p:sp>
    </p:spTree>
    <p:extLst>
      <p:ext uri="{BB962C8B-B14F-4D97-AF65-F5344CB8AC3E}">
        <p14:creationId xmlns:p14="http://schemas.microsoft.com/office/powerpoint/2010/main" val="16124229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FB06BD-54F4-49FD-BD62-D1B39934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265CD-8C5D-479F-8637-2275AFB2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C3D1B-B641-4DF4-8E90-F13B8A34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03 · 速度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BF2AA-3AEC-4E67-80FE-D2BDF107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B4053-D008-4D46-A781-0406173F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05B68-7A37-4900-98A8-A76B628E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2020C-57FF-4AE3-B39F-47FA139C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4F10AE-01E9-4116-8A31-B5045B58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速度：位移与发生这段位移所用时间的比值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A95E5-6E25-4E0D-B0B5-3CCDC930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48577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0B72D-AAF1-4288-BF5A-6C8F9921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762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BBC7C-1490-4812-9175-5CF7B1C2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968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速度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6DAFF4-7039-4137-A81A-22522F08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0985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rPr>
              <a:t>v = Δx / Δt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8F59E6-2B93-4C74-9972-BE0AC7DB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76625"/>
            <a:ext cx="361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国际单位：m/s 或 m·s⁻¹</a:t>
            </a:r>
          </a:p>
          <a:p xmlns:a="http://schemas.openxmlformats.org/drawingml/2006/main">
            <a:pPr>
              <a:defRPr sz="157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常用单位：km/h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BCC6F1-E31F-4931-869B-ED793D3A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00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速度既有大小，又有方向，是矢量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F5AD36-CC5C-45C1-A411-99222571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DC8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2235F7-573E-4115-9684-324BA2B6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71875"/>
            <a:ext cx="16954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A2A4A9-015B-477C-BCD6-F4BB0F99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3855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181976-0228-4A31-AB9A-0BA69C5D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3855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BA1F88-C67D-4804-BCB0-6275990F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433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8C522D-0D7B-4C62-9069-C024C8C2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9433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98571A-F32D-488A-A4B9-A709E82E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431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物体从 A 到 B</a:t>
            </a:r>
          </a:p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速度方向：向右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0C4971-A85E-44D6-B3E7-5EC1D70B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E65DB9-3F71-49E7-985B-831B5766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写公式时先说清：Δx 是位移，不是路程；Δt 是与这段位移相对应的时间</a:t>
            </a:r>
          </a:p>
        </p:txBody>
      </p:sp>
    </p:spTree>
    <p:extLst>
      <p:ext uri="{BB962C8B-B14F-4D97-AF65-F5344CB8AC3E}">
        <p14:creationId xmlns:p14="http://schemas.microsoft.com/office/powerpoint/2010/main" val="15652451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C2C7E4-332D-4353-A67E-9278F9F3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AA7AF-4FEB-4081-92FB-A3E5C915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C86DF-5F74-48EA-8221-09600738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04 · 定义式的理解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26696-8F9D-4235-94C4-1F99A004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6C346-4F9E-4B17-A46A-4D80F484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18BBFE-E0CC-41D5-8355-8C97C382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CB772-243E-411B-81C5-95AF294E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4A0BBD-9E82-4A67-A44E-6A064300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同一段过程：位移和时间必须对应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2D20A0-3B4E-41B7-8E84-18DF2FD8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6858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444DE-C451-417D-BC7F-589D22D0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40ECA-6E95-4AFE-A2A7-E64B9385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812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例：质点从 x₁ = 2 m 运动到 x₂ = 14 m，用时 3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7FF760-73ED-472A-9C4C-32AA07A3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62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rPr>
              <a:t>Δx = x₂ − x₁ = 12 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EE1E44-91E9-4BA0-9DF9-54A08D23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76625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rPr>
              <a:t>v = Δx / Δt = 12 / 3 = 4 m/s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857B8B-D0C3-4024-B241-87CA5027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00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方向沿 x 轴正方向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1CF04B-6174-4B58-9A0D-E97DD939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295650" cy="33337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4397E2-13AB-457C-BCAA-8BB5AA7F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CA4C37-E59B-40AD-8D3D-80130D05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193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79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比值定义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5848C0-6BE1-47B0-ADFD-CC9D6D2D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241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Δx 更大</a:t>
            </a:r>
          </a:p>
          <a:p xmlns:a="http://schemas.openxmlformats.org/drawingml/2006/main">
            <a:pPr>
              <a:def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不一定 v 更大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7D256E-F62E-43B4-B6AA-59A8ADDA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147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比较速度时</a:t>
            </a:r>
          </a:p>
          <a:p xmlns:a="http://schemas.openxmlformats.org/drawingml/2006/main">
            <a:pPr>
              <a:defRPr sz="1500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必须同时看 Δx 与 Δt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E7916C-9384-4E91-8243-60808669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0B9600-2FC2-418D-BB00-520B5032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计算顺序：先定过程，再写位移和时间，最后代入公式并写明方向</a:t>
            </a:r>
          </a:p>
        </p:txBody>
      </p:sp>
    </p:spTree>
    <p:extLst>
      <p:ext uri="{BB962C8B-B14F-4D97-AF65-F5344CB8AC3E}">
        <p14:creationId xmlns:p14="http://schemas.microsoft.com/office/powerpoint/2010/main" val="16649952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8B79CF-D392-496C-B4CA-F33F0EE2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B6C51-735E-4B03-B4FE-D3866176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98A74-A0E5-4FF1-8137-34D53625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05 · 速度的方向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DBAE6-AC62-452A-A0A5-90B5FCC8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290BF5-34FC-4D30-94F0-0C41377C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A5DC0-6C78-4F42-BE0A-430FC50A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E344DA-F59A-4CC6-8014-1BE57CFF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124ADE-ACCC-43C4-AF53-39DA6C6D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一维运动中，速度的正负号表示方向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7F56D-DB74-48C3-877E-D078A70B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5143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7CB73-F236-4947-A7DF-99FB89B5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BCB"/>
          </a:solidFill>
          <a:ln xmlns:a="http://schemas.openxmlformats.org/drawingml/2006/main" w="0">
            <a:solidFill>
              <a:srgbClr val="2C7BC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6DD37-CFE1-4092-9285-C0FDFDBF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143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CFA3E8-D2FD-4A48-AB62-088670D6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B65E24-5D57-4167-9D97-34EA20EC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取向右为正方向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29FB65-9241-4203-9763-CFB01CB2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764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取向右为正方向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479E61-593C-4F8B-8501-0DF21E2A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337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DC8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816B37-820E-48F8-B7F0-D2A3BD80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71825"/>
            <a:ext cx="15240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7AC845-12FD-49C3-A6EB-3FB56726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814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609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rPr>
              <a:t>v = + 5 m/s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1CC044-8579-4D5B-A348-E845542A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2481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沿正方向运动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A05C1C-08B0-4EC8-A116-057303F6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337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DC8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9C477D-E266-419B-926D-E4B199DC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71825"/>
            <a:ext cx="1524000" cy="3238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21105F-3E12-451E-B976-3DA1AD67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814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609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rPr>
              <a:t>v = − 5 m/s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1BA604-FBB1-4189-A388-A48A332E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481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沿负方向运动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25C7EC-8D10-4D56-892A-7A6DD8EB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2C62C6-5EC3-4D93-A031-220C663C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“−5 m/s”不是速度大小为负，速度大小为 5 m/s，负号只表示方向</a:t>
            </a:r>
          </a:p>
        </p:txBody>
      </p:sp>
    </p:spTree>
    <p:extLst>
      <p:ext uri="{BB962C8B-B14F-4D97-AF65-F5344CB8AC3E}">
        <p14:creationId xmlns:p14="http://schemas.microsoft.com/office/powerpoint/2010/main" val="2802002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32E0C0-A424-414E-987D-4BD8939F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99880-61A7-45CF-B21E-5ADBF902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9C7D6-90ED-49E5-9200-96DF8261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06 · 课堂辨析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529DB-D444-4B47-81E0-ED0861A1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D15A3-ED08-4BE0-9DCD-2855D79A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1E61D-3B9E-46D6-83FE-546F4727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6A729-1291-40AB-8870-9937CE81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31692E-5612-489A-A2D1-2FEF8D1B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判断：关于速度，哪些说法正确？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58283-B031-4E08-9E4B-01E9C02D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51244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A2DC0-9F00-43A3-BE1B-C72B5EF3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454"/>
          </a:solidFill>
          <a:ln xmlns:a="http://schemas.openxmlformats.org/drawingml/2006/main" w="0">
            <a:solidFill>
              <a:srgbClr val="E9545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E334BB-4DDE-42DD-A784-885196DD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5F9E7B-539B-48B5-8D5F-15ED4287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81200"/>
            <a:ext cx="3790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速度的大小等于路程与时间的比值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223985-DEDE-4148-B46A-5BBE1154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51244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3DE3C-211B-4268-840F-85E373F4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883"/>
          </a:solidFill>
          <a:ln xmlns:a="http://schemas.openxmlformats.org/drawingml/2006/main" w="0">
            <a:solidFill>
              <a:srgbClr val="42B88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127F0F-555F-4827-87DF-27CCF4A4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E247FE-B4F2-4A34-8F2E-9BFD284B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81200"/>
            <a:ext cx="3790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速度是描述物体运动快慢和方向的物理量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F95B36-D013-4FED-9275-F1318622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51244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A2D1E1-0B5F-489C-A574-624683B5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883"/>
          </a:solidFill>
          <a:ln xmlns:a="http://schemas.openxmlformats.org/drawingml/2006/main" w="0">
            <a:solidFill>
              <a:srgbClr val="42B88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9151DD-50DC-4A31-8182-DFFC63AE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CAB2DD-83DA-4F8A-B7EF-81A9F8D0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90950"/>
            <a:ext cx="3790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v = Δx / Δt 适用于任何运动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FB424A-14E2-4D74-9107-0BDB5023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62350"/>
            <a:ext cx="51244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379184-BBAA-4674-AC63-75FBB154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623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883"/>
          </a:solidFill>
          <a:ln xmlns:a="http://schemas.openxmlformats.org/drawingml/2006/main" w="0">
            <a:solidFill>
              <a:srgbClr val="42B88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6FC62D-B0DF-4DFA-A776-330DE5EE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481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C66BD6-1506-47D4-A6CA-BACD9D19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90950"/>
            <a:ext cx="3790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位移为 0 时，平均速度一定为 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759ECB-811C-4F22-B5D9-BE60000C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905D59-EA2E-4224-B984-7BB32A3A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答案：B、C、D。A 中应为“位移”，不是“路程”</a:t>
            </a:r>
          </a:p>
        </p:txBody>
      </p:sp>
    </p:spTree>
    <p:extLst>
      <p:ext uri="{BB962C8B-B14F-4D97-AF65-F5344CB8AC3E}">
        <p14:creationId xmlns:p14="http://schemas.microsoft.com/office/powerpoint/2010/main" val="3766888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0CB291-A435-4CCE-B6A1-D360FB57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FBBAE-CAA8-4809-9E5E-6EA51BAB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ACDFE-740D-42E2-AC18-CC98389D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07 · 平均速度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05519-F7D0-4672-B916-CCAF8E2B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762C2-FB81-4849-A693-523E828E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0BF3E2-BC24-4C98-A2DA-D663A0AA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D5EB0-282F-4332-86FA-0A24907C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F436A-C0A7-439E-A8F5-B740D102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平均速度描述一段过程的平均快慢和方向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D9D37-51D4-47C7-882E-3064966E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4953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94EA9-0B3D-4F70-AD7B-E145B6F0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762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ED56A7-C48E-4E9B-9EBC-F0881E6B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778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平均速度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E24279-565B-4703-884D-F27EB68D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622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rPr>
              <a:t>v̄ = Δx / Δt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F979C2-5214-4C93-9661-177F6353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385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对应一段位移和一段时间</a:t>
            </a:r>
          </a:p>
          <a:p xmlns:a="http://schemas.openxmlformats.org/drawingml/2006/main">
            <a:pPr>
              <a:defRPr sz="157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方向与该段位移方向相同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99F5BE-699A-4C0D-8A36-BEFE9BBE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33550"/>
            <a:ext cx="497205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3214F0-F797-4433-A114-2A0C6C41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33550"/>
            <a:ext cx="762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53315D-5C1F-42C0-BFD8-9821FB97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00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778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平均速率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242A1B-17CA-4F11-A5EE-2AD0A5AC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622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rPr>
              <a:t>平均速率 = 路程 / 时间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42D20B-8EAE-47E4-AAD1-1236079E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38550"/>
            <a:ext cx="3371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只描述平均快慢</a:t>
            </a:r>
          </a:p>
          <a:p xmlns:a="http://schemas.openxmlformats.org/drawingml/2006/main">
            <a:pPr>
              <a:defRPr sz="157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没有方向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3902C9-4088-4C75-A84E-DDED76F7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699CAE-8A45-461A-9DC3-C884D971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平均速度不是“各时刻速度的平均值”，而是“位移与时间的比值”</a:t>
            </a:r>
          </a:p>
        </p:txBody>
      </p:sp>
    </p:spTree>
    <p:extLst>
      <p:ext uri="{BB962C8B-B14F-4D97-AF65-F5344CB8AC3E}">
        <p14:creationId xmlns:p14="http://schemas.microsoft.com/office/powerpoint/2010/main" val="4713247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88ED5F-AB7D-4747-B311-CB250FA0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CB155-3650-4865-A90A-106D82F8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C391BD-6F09-404F-A322-E79D2EF6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08 · 平均速度与平均速率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C923A-57AB-4E30-8D39-1923E923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31791F-29D5-46A9-A3DC-D7A256ED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7C308-5122-4168-9B61-D490386C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0E6369-A6B9-497C-B28A-A4322D08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97C17-EEFF-4FCF-8708-1E1E9408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往返一次：平均速度和平均速率为什么不同？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B58391-2B42-42C9-93F9-2C387F92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623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DC8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2509AD-9E39-47F0-8645-F1474201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0384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D7B85-7150-40AA-8900-F0732F97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0384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66F89D-DA02-475C-A19D-834FEF95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0384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A05B61-9CCB-40A4-AA0D-7B87015F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429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8958A6-7A8B-4C65-B9EE-89F0DFCA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429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087CD3-01C3-4520-B693-94F5BD66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429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22C71B-33C2-4A8D-BB8B-A64AA80C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24150"/>
            <a:ext cx="24765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104D90-03C5-4227-8C3D-BD4A39B9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90900"/>
            <a:ext cx="2476500" cy="2476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C7BCB"/>
          </a:solidFill>
          <a:ln xmlns:a="http://schemas.openxmlformats.org/drawingml/2006/main" w="0">
            <a:solidFill>
              <a:srgbClr val="2C7BC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67B390-DA07-460C-9D7E-D650CEC7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133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去程：100 m，用时 10 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8CA7D6-6FB1-4301-B9F2-C237652F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05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DC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DC8D9"/>
                </a:solidFill>
                <a:latin typeface="Microsoft YaHei"/>
                <a:ea typeface="Microsoft YaHei"/>
                <a:cs typeface="Microsoft YaHei"/>
              </a:rPr>
              <a:t>返程：100 m，用时 15 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4B3A07-AF9E-49C0-8F0F-54FBE8F8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4476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4732EE-7C02-4138-83BB-8300DE83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92706A-3CFC-4BB1-B863-027F6E80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149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平均速度 = 0 / 25 = 0 m/s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110347-6AED-405F-98BD-C6413403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4476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2047D6-E143-43F8-A1D1-2F409040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44D26C-B75E-4DC4-A432-06C1EF3A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149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平均速率 = 200 / 25 = 8 m/s</a:t>
            </a:r>
          </a:p>
        </p:txBody>
      </p:sp>
    </p:spTree>
    <p:extLst>
      <p:ext uri="{BB962C8B-B14F-4D97-AF65-F5344CB8AC3E}">
        <p14:creationId xmlns:p14="http://schemas.microsoft.com/office/powerpoint/2010/main" val="2951355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8A7264-0659-4135-80D6-A80AB2B0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F7724-A358-4914-8A9A-92DF3253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E974B-A770-43E1-9F1D-2D9899F4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09 · 瞬时速度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E6B51-90F4-44DF-BD86-A1046DBC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B9CBC-6A2B-440A-A93D-D6E4862D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D1E99F-3544-49B5-B6BF-EF543EB6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40B52-113F-4CA5-9190-528F33CC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6D6A3-E47E-410D-A0BA-AD825B1A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瞬时速度描述某一时刻或某一位置的运动快慢和方向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6AC7D7-2826-4BF7-B6E5-95E03823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4572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FAEA4D-0FE9-47E0-AB5E-A2B26A99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F89D20-F364-4A34-8284-A027D25A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115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平均速度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9C6449-4252-417E-9EDF-4C84A2C1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对应一段过程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8FB8DB-6345-499A-83FF-20B26525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rPr>
              <a:t>例如：前 5 s 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6693C4-E86E-4FA5-82D1-F12D12B4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33550"/>
            <a:ext cx="4572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CC61AF-AFB4-45CC-9651-C3CF02C0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3355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D95932-2B96-4E36-BF01-4E481B73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38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115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瞬时速度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5ACB82-A196-4BE4-B3DD-A683DACC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67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对应一个时刻或位置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EF464C-46E9-4ACC-A309-2E578375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718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rPr>
              <a:t>例如：第 5 s 末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D9DA6A-3616-43BD-88C5-3A4540EA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5755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C8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E79E9D-15C5-4AEE-A82D-98458136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86100"/>
            <a:ext cx="5143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660B50-C44C-4665-8298-A0A2C144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827E41-8AC0-4242-8048-60221B77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测量瞬时速度的思路：把取样时间缩短到足够小</a:t>
            </a:r>
          </a:p>
        </p:txBody>
      </p:sp>
    </p:spTree>
    <p:extLst>
      <p:ext uri="{BB962C8B-B14F-4D97-AF65-F5344CB8AC3E}">
        <p14:creationId xmlns:p14="http://schemas.microsoft.com/office/powerpoint/2010/main" val="7772734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8C1BE9-B38B-4951-80CE-DF0A4144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4B121-654D-470C-BF8F-D13FD3D1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F1CA2-55D9-4B4C-9EA3-50946EA5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10 · 纸带测量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2FD9F-4784-4DD7-B5F9-9FEAD13C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9A09EC-D3A1-4E6D-B6FF-A1174388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D868B-7BBB-4ADC-AB46-F0B7BACC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BFD29-E20E-412B-AEDA-771E809B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17992-2FF5-495D-957C-0969EE2C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纸带：用一小段时间内的平均速度近似瞬时速度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F1C85F-5565-4A91-87ED-3C39D394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6680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84FE2-5569-4C12-83AC-6F763125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883"/>
          </a:solidFill>
          <a:ln xmlns:a="http://schemas.openxmlformats.org/drawingml/2006/main" w="0">
            <a:solidFill>
              <a:srgbClr val="42B8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FA92AB-63CF-4E3C-BF3C-1EAC85B8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93535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5E8B5"/>
          </a:solidFill>
          <a:ln xmlns:a="http://schemas.openxmlformats.org/drawingml/2006/main" w="9525">
            <a:solidFill>
              <a:srgbClr val="A7C78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B7C0FA-0F65-4AC4-9817-44EC044F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333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C4C"/>
          </a:solidFill>
          <a:ln xmlns:a="http://schemas.openxmlformats.org/drawingml/2006/main" w="0">
            <a:solidFill>
              <a:srgbClr val="152C4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45D882-E0C2-4DB8-BD2F-4B2E82A1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86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502F94-584D-483B-A941-70DDA465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33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C4C"/>
          </a:solidFill>
          <a:ln xmlns:a="http://schemas.openxmlformats.org/drawingml/2006/main" w="0">
            <a:solidFill>
              <a:srgbClr val="152C4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F55F9C-7FDB-4208-9871-90C49E2C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86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76FC1D-A630-4B4B-8075-51B08C56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33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C4C"/>
          </a:solidFill>
          <a:ln xmlns:a="http://schemas.openxmlformats.org/drawingml/2006/main" w="0">
            <a:solidFill>
              <a:srgbClr val="152C4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05C820-6E06-45F7-AA0D-1486D6DE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686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6761C3-8B7F-46B2-84B8-0ACF4CB5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33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C4C"/>
          </a:solidFill>
          <a:ln xmlns:a="http://schemas.openxmlformats.org/drawingml/2006/main" w="0">
            <a:solidFill>
              <a:srgbClr val="152C4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50C844-3B0E-43BF-932F-8C1905D4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686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A9908A-BD2D-4335-A915-4BB3D29F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33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C4C"/>
          </a:solidFill>
          <a:ln xmlns:a="http://schemas.openxmlformats.org/drawingml/2006/main" w="0">
            <a:solidFill>
              <a:srgbClr val="152C4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19A05C-3A45-44CC-9141-A928ED18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F84DB3-67C8-4F33-AFA7-3ABECE5C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333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C4C"/>
          </a:solidFill>
          <a:ln xmlns:a="http://schemas.openxmlformats.org/drawingml/2006/main" w="0">
            <a:solidFill>
              <a:srgbClr val="152C4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F042BA-5DBA-4DDE-B201-6B3DCBFB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86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CA323F-8F03-439D-8C2D-5027F374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33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C4C"/>
          </a:solidFill>
          <a:ln xmlns:a="http://schemas.openxmlformats.org/drawingml/2006/main" w="0">
            <a:solidFill>
              <a:srgbClr val="152C4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E95B7C-E13C-4D5B-A757-87A653B0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686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4C7BE5-40A8-4630-95A6-67AB0101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9431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2C4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4F92D2-D7D4-4B71-8BE4-5E031039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431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2C4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EDD03B-C1FB-4873-87E1-7AD1AD28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695450"/>
            <a:ext cx="22383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2E192B-72C4-4C14-8871-B8C68879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3906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Δx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C5E2BA-9F03-433F-83AF-BF7CF7F0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50863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0795E1-E495-46AE-A268-A8B0B96B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F73439-3430-41A7-8F05-D4457098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13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平均速度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5AFB5A-0E3E-49CE-83C9-A9F82B2D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rPr>
              <a:t>v̄ = Δx / Δt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41176D-0313-40AB-B60D-D822FFCB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14750"/>
            <a:ext cx="50863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999C57-8762-4866-B6FE-73E03532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147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018A49-CE6C-43CA-A4EF-6AC2BA6E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00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13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瞬时速度近似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7958A3-53FC-44CD-87E3-1BEEAD01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767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rPr>
              <a:t>取靠近目标点的更短纸带区间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1B3CB0-8490-4D13-BB86-9E306D92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5609A0-C7FE-4788-8CBB-A5A2EC72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纸带上相邻点间距越大，说明相等时间内位移越大，物体运动越快</a:t>
            </a:r>
          </a:p>
        </p:txBody>
      </p:sp>
    </p:spTree>
    <p:extLst>
      <p:ext uri="{BB962C8B-B14F-4D97-AF65-F5344CB8AC3E}">
        <p14:creationId xmlns:p14="http://schemas.microsoft.com/office/powerpoint/2010/main" val="1094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7138DA-F91A-4B14-838B-C1C9B4ED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B68E5-5197-4E67-90D7-466737F8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01AB30-6643-4AFE-B3BB-AEFF30A5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11 · 实验操作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975962-920E-4942-9759-484FA3F7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0396B-76A9-48AD-999E-039633DF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5764D-E5E9-40E2-AD9F-764C66F8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9F18F-99DF-4FB8-9971-4C87A0AC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A62173-DD3B-469A-A74F-B7F07B0E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打点计时器：先通电，再拉动纸带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FD6462-AA73-4633-A54A-C91FE127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B8C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13F3B-1AB9-4070-887D-70F4CC8C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232791-F1EC-4476-A3F6-6715E6D2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61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固定计时器，正确穿入纸带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4A119-B2F6-4FAC-A25C-6DED978F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81250"/>
            <a:ext cx="628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1ACA2-09AD-40B2-A128-C424092F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288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362715-7FCC-43D4-BC81-DE690F22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288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73A986-A978-4E6B-8EF7-885EBA00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048000"/>
            <a:ext cx="161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接通交流电源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596B68-8A2F-4651-8D57-2B5BFBBF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381250"/>
            <a:ext cx="628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CBDBD5-98C4-4190-9BC6-47BECBB3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288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B8C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416FFD-C820-42D2-A9C0-0E4D6A45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288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BA69B5-6443-459C-95CF-91C3A22F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48000"/>
            <a:ext cx="161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水平拉动纸带，留下清晰点迹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42D7B0-CFC5-4443-BF76-0A967561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81250"/>
            <a:ext cx="628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35921B-9A38-44FC-A4F5-59C8C7CC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288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B8C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DA4F48-9633-4D48-A27F-3563B8E0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288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B1EAC7-E1F2-4321-A025-E8BA7E70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048000"/>
            <a:ext cx="161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关闭电源，测量位移和时间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A3A218-5CE6-4066-8A29-CF791645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76750"/>
            <a:ext cx="92583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A31EBC-AC01-4F12-AAC9-D52E96EA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76750"/>
            <a:ext cx="76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57E453-5C3D-4AE2-9528-F35D4194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4820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若打点频率 f = 50 Hz，则相邻两点时间间隔 T = 1/f = 0.02 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B93C04-40C7-4F1D-A3D3-B2F59BBB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49FD6C-498A-4729-A592-7F7161E2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数点时：n 个点对应 n − 1 个时间间隔</a:t>
            </a:r>
          </a:p>
        </p:txBody>
      </p:sp>
    </p:spTree>
    <p:extLst>
      <p:ext uri="{BB962C8B-B14F-4D97-AF65-F5344CB8AC3E}">
        <p14:creationId xmlns:p14="http://schemas.microsoft.com/office/powerpoint/2010/main" val="20236963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2C07E2-4E51-4481-9C6E-B25ED285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050D9-44E8-4556-8E7D-778589E7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54956-CD46-47D7-B1BD-1947823A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12 · 测量方法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D99083-2BA0-4C24-9645-D1AEF2B3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4A585-D75B-4027-88B3-50D6A7D8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CBDEA-37A6-444E-B322-C5D58E57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35950-C360-4067-9684-2D0FBD18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B91D42-62ED-4F61-B519-9ACD263F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还有哪些方法可以测速度？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69D29-3C81-42B9-928A-D396BD83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3238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35F90-E216-4CF8-A1C1-1528FA89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C51707-AB44-4570-8956-86FE8B52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57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115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光电门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301FC5-4AE5-4AD9-8DD3-9D5A41E0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457200" cy="104775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E0522A-2B9B-4E99-92DC-C37C5F65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57500"/>
            <a:ext cx="457200" cy="104775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B9F88-F097-4B6F-A481-4212F292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62300"/>
            <a:ext cx="609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2AF65F-8C73-4C56-999F-ADB31578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2343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v ≈ d / Δt</a:t>
            </a:r>
          </a:p>
          <a:p xmlns:a="http://schemas.openxmlformats.org/drawingml/2006/main">
            <a:pPr>
              <a:defRPr sz="13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d 为遮光条宽度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8D5B4A-71E1-4A18-9679-A00E8112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3238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F0D94C-A347-41A7-B938-90BF01D6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56B649-5A55-497A-8295-2AC07114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574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115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频闪照相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352AEE-6D42-4460-A5A7-2B237A30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0520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F90B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43B6BD-7756-4A36-9290-B2619DDA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4004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D52925-25BC-4A32-A1CC-851D2CE2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4004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7F593A-E3E8-4BAC-8C41-F250491A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4004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B2CDBA-18B1-4287-84AC-E84E209E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4004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467D65-8620-483A-93FA-8486A0C6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4004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EB3711-67FE-4089-A900-D90B3E84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529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相等时间拍下多个位置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654024-53FD-49E4-879D-F289A3B0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3238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A57996-B726-4057-B64A-3955C15C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883"/>
          </a:solidFill>
          <a:ln xmlns:a="http://schemas.openxmlformats.org/drawingml/2006/main" w="0">
            <a:solidFill>
              <a:srgbClr val="42B88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3D89F9-A724-471E-835F-91F3304A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574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115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共同思路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30F648-B443-4660-A369-73EAFDDA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81300"/>
            <a:ext cx="2362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测量位移</a:t>
            </a:r>
          </a:p>
          <a:p xmlns:a="http://schemas.openxmlformats.org/drawingml/2006/main">
            <a:pPr>
              <a:def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记录对应时间</a:t>
            </a:r>
          </a:p>
          <a:p xmlns:a="http://schemas.openxmlformats.org/drawingml/2006/main">
            <a:pPr>
              <a:def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用 v = Δx / Δt 计算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484A3F-A1BB-4643-80F9-3B14C4E9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2F8F9B-409E-44FF-83AA-3B0C39AD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无论用哪种仪器，核心都是“位移”与“时间”一一对应</a:t>
            </a:r>
          </a:p>
        </p:txBody>
      </p:sp>
    </p:spTree>
    <p:extLst>
      <p:ext uri="{BB962C8B-B14F-4D97-AF65-F5344CB8AC3E}">
        <p14:creationId xmlns:p14="http://schemas.microsoft.com/office/powerpoint/2010/main" val="556613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34B1F4-6722-44B1-AC80-5EEBA416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6B672-B601-4632-BF4D-122935D7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313AFC-C96D-4BE1-9691-10723EFC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13 · 速度—时间图像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73BE2-2471-420A-8BA5-168CE0B3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E19529-C50F-4721-8F41-873C9165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605AA-4D70-4632-A1C0-25F4BE5A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ED47B-6FD1-4EC2-824C-B2AEC333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5C789-31C7-4BAB-886F-5EE2FE56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v-t 图像：速度随时间变化的规律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599CAA-9161-4E49-98D7-4271B3D1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4345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C8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69E804-D97E-4AB2-9F86-68F604D5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90700"/>
            <a:ext cx="0" cy="2952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C8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819C0A-D678-4443-B27F-AAE00C14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76775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640FE0-1714-452D-B150-1BC7890E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752600"/>
            <a:ext cx="133350" cy="1714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5F822C-74BD-42D4-A0F6-67D1ABCE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629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BEB49-F044-4CF5-8FFA-8180FD13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85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B5A05B-D3D1-44A4-8DD7-D8F44FC9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333500" y="2476500"/>
            <a:ext cx="3714750" cy="1581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5B8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7DCD02-A515-4462-8E2A-40381549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7185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9A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B3691F-ED0E-47E8-99CD-8C2C6F5D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00625"/>
            <a:ext cx="371475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2B8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AECE6A-4F34-48C5-88BC-C8D53ACC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43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DC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DC8D9"/>
                </a:solidFill>
                <a:latin typeface="Microsoft YaHei"/>
                <a:ea typeface="Microsoft YaHei"/>
                <a:cs typeface="Microsoft YaHei"/>
              </a:rPr>
              <a:t>速度为正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F669D3-13BF-4606-9E5D-165263E6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194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匀速运动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9E2F47-1E5E-4C28-8EF3-7950F7F2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910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rPr>
              <a:t>速度为负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C3B813-1E74-4712-9F90-5DF623F0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47850"/>
            <a:ext cx="3524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4488FB-3D78-42F7-A086-448BF561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478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92B88A-4E45-4E0E-8036-61FB6E13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336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79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读图先看两件事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20DCF4-D485-4353-9F53-C643CCC1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62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1. 点的纵坐标：某时刻的瞬时速度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2. 图线是否在时间轴上方：速度方向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FFA74A-86F0-41A2-BF79-B74A8312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A69639-580A-4AEC-924B-51E95690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v-t 图像不是运动轨迹，而是速度随时间变化的图像</a:t>
            </a:r>
          </a:p>
        </p:txBody>
      </p:sp>
    </p:spTree>
    <p:extLst>
      <p:ext uri="{BB962C8B-B14F-4D97-AF65-F5344CB8AC3E}">
        <p14:creationId xmlns:p14="http://schemas.microsoft.com/office/powerpoint/2010/main" val="13567478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6E396A-72A6-4AC2-988C-CE2AE9F5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B2F69-0288-44A4-A085-493EC9C3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98053-578F-4358-B857-40F4B3C1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14 · 图像应用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E4212-F4F2-4482-AF6C-AA5BF799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477D9-476D-4DED-8C9C-340557A6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14934-596C-4376-90D5-27C61365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E8EE0-FA50-475D-853D-27F62D17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D19EFD-D967-41CE-8C9A-B8AB2387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从一张 v-t 图像读出哪些信息？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E2BEA-E2DE-4F67-B795-A8613195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C8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12051-5266-47B4-8B1C-4FB443D5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0" cy="2952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C8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29F94E-091B-4690-84AB-85EA3524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695825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5FC65C-C02F-4221-B950-3AA8F56D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771650"/>
            <a:ext cx="133350" cy="1714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35F719-760F-4DCD-BB75-2F3C8ACE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482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602DDB-5296-4193-9B27-26C8575C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04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2B3A1A-E4B1-4B11-9C43-CB4EF27B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9A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D4D08B-CCCA-4688-9B3A-916F29EF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381250" y="2857500"/>
            <a:ext cx="142875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5B8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515643-D68C-4874-A0FC-2C601836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57500"/>
            <a:ext cx="114300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2B8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56A7F5-41E7-47F4-AB8F-7FD8E7B4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90950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14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1AA03C-B3FE-4D0E-91B5-0C5616D1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385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14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DC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DC8D9"/>
                </a:solidFill>
                <a:latin typeface="Microsoft YaHei"/>
                <a:ea typeface="Microsoft YaHei"/>
                <a:cs typeface="Microsoft YaHei"/>
              </a:rPr>
              <a:t>II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EB4D0F-EAEF-4BF0-8C4C-622CDD29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467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14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rPr>
              <a:t>III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95BD9C-5BFA-470F-9781-693847B9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4762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17A9A3-26E8-433C-AA23-C6035F08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52A781-B91E-4C8A-B245-123A9067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050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rPr>
              <a:t>I 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C8ACF9-3D00-45CF-BA9A-2C0213E5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050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速度不变，做匀速直线运动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16E1F0-E0E2-49CB-92DF-F22E2C22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4762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8FAECC-7932-4B59-AFCE-A6AEFD20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DD0ADC-715E-494E-A4AF-2EE00011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718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5B8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5B8CF"/>
                </a:solidFill>
                <a:latin typeface="Microsoft YaHei"/>
                <a:ea typeface="Microsoft YaHei"/>
                <a:cs typeface="Microsoft YaHei"/>
              </a:rPr>
              <a:t>II 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D6133B-2A03-42CC-99A1-837BCC0A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718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速度增大，沿正方向加速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FEF6FC-4CED-4DD7-BBC4-23EBEC52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4762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B49438-62F7-4FAF-BEDE-F4934FF5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883"/>
          </a:solidFill>
          <a:ln xmlns:a="http://schemas.openxmlformats.org/drawingml/2006/main" w="0">
            <a:solidFill>
              <a:srgbClr val="42B88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010F9F-BB91-4DBD-A1BF-A93B87E2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386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rPr>
              <a:t>III 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60BC25-2AA6-4D01-8D18-503F8B9F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386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速度减小，仍沿正方向运动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4BEE31-52CA-4A6D-8225-3BDA19DC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3BE26E-5067-4D3A-B6EB-54253913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图线斜率越大，速度变化越快。斜率的物理意义将在下一节学习</a:t>
            </a:r>
          </a:p>
        </p:txBody>
      </p:sp>
    </p:spTree>
    <p:extLst>
      <p:ext uri="{BB962C8B-B14F-4D97-AF65-F5344CB8AC3E}">
        <p14:creationId xmlns:p14="http://schemas.microsoft.com/office/powerpoint/2010/main" val="59648611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5EF2AF-89F0-4FB6-AAAA-F6B25739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64252-833A-4DDA-9072-4AF87188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6A2B1-2ED2-4985-BD74-D8243CA4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15 · 当堂练习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1C3D0-F72E-4F1F-BCAE-1092540E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44ED22-FE7B-4489-ADE1-27DDD348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38E70B-0AF7-4DC4-B26F-2FA431DC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FD79E2-DFA6-4E82-A572-F0FB5300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B3D36A-EE8F-4BD2-B339-4CE74742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练一练：将“快慢”和“方向”同时说准确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6DE69-6FB0-4F6D-998A-B55126B3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10668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593301-2048-490F-A259-7CBB1A5C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15B440-3A84-4BDF-9606-D0BE02E1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859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1. 物体从 x₁ = −4 m 运动到 x₂ = +8 m，用时 3 s。求平均速度。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9A952A-B978-4E83-B8F9-5DE42D41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提示：先求 Δx，再除以 Δt，最后说明方向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7809C6-AC05-4695-9437-071D9B04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0668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AB9364-E094-4320-BBB8-CE126F30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8296C5-B367-4352-AA7F-E51E2915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2. 物体以 5 m/s 向东运动，若取向东为正方向，速度应写成什么？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6358E8-8045-46AE-A9C1-C933788A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提示：速度的正负号表示方向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58DCFE-EBF0-45D4-A6DC-C5DDC4D2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0668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F034D1-1169-4B56-892C-DBC88CBA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883"/>
          </a:solidFill>
          <a:ln xmlns:a="http://schemas.openxmlformats.org/drawingml/2006/main" w="0">
            <a:solidFill>
              <a:srgbClr val="42B88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AEAF6C-A53D-437F-9A4A-68FE8D9D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72025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参考答案：1. v̄ = 4 m/s，沿 x 轴正方向；2. v = +5 m/s</a:t>
            </a:r>
          </a:p>
        </p:txBody>
      </p:sp>
    </p:spTree>
    <p:extLst>
      <p:ext uri="{BB962C8B-B14F-4D97-AF65-F5344CB8AC3E}">
        <p14:creationId xmlns:p14="http://schemas.microsoft.com/office/powerpoint/2010/main" val="21147835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6694AD-E7C1-48B3-84DD-8BE3A47E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F3788-F1B4-4034-B4CB-5498A662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C46D7-FDB4-4E14-86A4-9F2071B1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16 · 课堂检测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AED6C-76D6-44C8-AEFD-B3499893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3950E-A80E-4055-B160-C002E365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EB754-8024-4BE6-BD69-483DF58C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D8622-3766-4907-9BC0-90C23E65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532A27-1BA9-49D1-BD83-FA917BC0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离开教室前，请完成这三题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AD703-AA4E-4868-B5F7-10A77B06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57350"/>
            <a:ext cx="7239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35B8C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47BA04-1F97-44C7-BC45-F24335B3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57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6FC286-B599-48B7-97D0-4835680B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657350"/>
            <a:ext cx="8858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00DE30-BAE4-45FE-924D-D20CA03F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6573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A2CED6-5AB0-496D-A86A-1C4C9BE2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8097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v = Δx / Δt 中的 Δx 是路程还是位移？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BF4654-F720-435D-B66B-1523A0E8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7239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43272E-06E6-4849-946E-07BFE641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201780-C0C3-4037-AA15-41B540FF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857500"/>
            <a:ext cx="8858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FD6DB4-B752-4D9E-A03F-D4CC531D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8575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D234DB-253B-4384-8C3B-95820979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099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一段往返运动的总位移为 0，平均速度是多少？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5D377F-1FC9-4F2A-9986-0010B1D5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7239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35B8C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98FFC1-3086-445A-968B-C1C928C9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C37D64-6C6A-487D-8F11-D7C10EEC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57650"/>
            <a:ext cx="8858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902058-C82C-4C38-A5AA-1473A171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576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BE57C9-89A4-4135-B302-447B37F9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100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v-t 图像中，图线在时间轴下方说明什么？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ED8637-95FA-4736-9F24-B994BDCD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C6103B-F784-422E-B5F6-6FF7C13E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答案：位移；0；速度为负，物体沿选定正方向的反方向运动</a:t>
            </a:r>
          </a:p>
        </p:txBody>
      </p:sp>
    </p:spTree>
    <p:extLst>
      <p:ext uri="{BB962C8B-B14F-4D97-AF65-F5344CB8AC3E}">
        <p14:creationId xmlns:p14="http://schemas.microsoft.com/office/powerpoint/2010/main" val="12576413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E20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86F4A2-3C8B-466B-8EDD-72E69B3E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596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本节小结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A3A77-5DDB-47D5-B09B-27D8EAE3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F352F-9922-40D4-99F6-940298AC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76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速度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2825E-9A84-4901-B40B-C3178BA2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764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8E5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8E5F5"/>
                </a:solidFill>
                <a:latin typeface="Microsoft YaHei"/>
                <a:ea typeface="Microsoft YaHei"/>
                <a:cs typeface="Microsoft YaHei"/>
              </a:rPr>
              <a:t>v = Δx / Δt，矢量，方向与运动方向相同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A320C-053D-42EB-B681-4358E958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0200C0-FAB0-4968-BA6D-234843CC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86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平均速度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7A09D-1634-4924-9B40-B0D3345D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860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8E5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8E5F5"/>
                </a:solidFill>
                <a:latin typeface="Microsoft YaHei"/>
                <a:ea typeface="Microsoft YaHei"/>
                <a:cs typeface="Microsoft YaHei"/>
              </a:rPr>
              <a:t>描述一段过程，方向与该段位移方向相同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94DE3-91C7-4304-B310-E9FD96C4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BCB"/>
          </a:solidFill>
          <a:ln xmlns:a="http://schemas.openxmlformats.org/drawingml/2006/main" w="0">
            <a:solidFill>
              <a:srgbClr val="2C7BC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A4A5F4-FB3F-44A5-A65A-7D18A780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95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瞬时速度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088994-14F2-46A6-99C8-F2D88083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957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8E5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8E5F5"/>
                </a:solidFill>
                <a:latin typeface="Microsoft YaHei"/>
                <a:ea typeface="Microsoft YaHei"/>
                <a:cs typeface="Microsoft YaHei"/>
              </a:rPr>
              <a:t>描述某时刻或某位置，可由短时平均速度近似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C29FDE-73C1-4A0C-8CED-DAAD72FB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883"/>
          </a:solidFill>
          <a:ln xmlns:a="http://schemas.openxmlformats.org/drawingml/2006/main" w="0">
            <a:solidFill>
              <a:srgbClr val="42B8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CBCCB6-D928-43B1-B795-DB6E75A4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05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测量与图像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A980D9-CFB2-4C79-9353-094915EF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053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8E5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8E5F5"/>
                </a:solidFill>
                <a:latin typeface="Microsoft YaHei"/>
                <a:ea typeface="Microsoft YaHei"/>
                <a:cs typeface="Microsoft YaHei"/>
              </a:rPr>
              <a:t>纸带、光电门、频闪照相；v-t 图像描述速度变化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1795D7-7893-494C-ADF7-5E13A776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704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19D272-5C5D-4B25-93F0-8611D278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下一节：速度变化快慢的描述——加速度</a:t>
            </a:r>
          </a:p>
        </p:txBody>
      </p:sp>
    </p:spTree>
    <p:extLst>
      <p:ext uri="{BB962C8B-B14F-4D97-AF65-F5344CB8AC3E}">
        <p14:creationId xmlns:p14="http://schemas.microsoft.com/office/powerpoint/2010/main" val="9361241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2026-09-08T03:54:58.4590000Z</dcterms:created>
  <dcterms:modified xsi:type="dcterms:W3CDTF">2026-09-08T03:54:58.4600000Z</dcterms:modified>
</coreProperties>
</file>