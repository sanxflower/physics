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c9af69296e41ce" /><Relationship Type="http://schemas.openxmlformats.org/officeDocument/2006/relationships/extended-properties" Target="/docProps/app.xml" Id="R74b53351c41c481c" /><Relationship Type="http://schemas.openxmlformats.org/officeDocument/2006/relationships/officeDocument" Target="/ppt/presentation.xml" Id="R42bcda1ca3dd4b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c2c625f2874e6b"/>
  </p:sldMasterIdLst>
  <p:notesMasterIdLst>
    <p:notesMasterId xmlns:r="http://schemas.openxmlformats.org/officeDocument/2006/relationships" r:id="R642da11face34129"/>
  </p:notesMasterIdLst>
  <p:sldIdLst>
    <p:sldId xmlns:r="http://schemas.openxmlformats.org/officeDocument/2006/relationships" id="256" r:id="R0c4fb675fa2c46c9"/>
    <p:sldId xmlns:r="http://schemas.openxmlformats.org/officeDocument/2006/relationships" id="257" r:id="R8324b79a9a5e4548"/>
    <p:sldId xmlns:r="http://schemas.openxmlformats.org/officeDocument/2006/relationships" id="258" r:id="Re1e122d9f514496e"/>
    <p:sldId xmlns:r="http://schemas.openxmlformats.org/officeDocument/2006/relationships" id="259" r:id="R6cf34882d5f64e5f"/>
    <p:sldId xmlns:r="http://schemas.openxmlformats.org/officeDocument/2006/relationships" id="260" r:id="Raa5d5138a11742d3"/>
    <p:sldId xmlns:r="http://schemas.openxmlformats.org/officeDocument/2006/relationships" id="261" r:id="R90f39fb31be04d27"/>
    <p:sldId xmlns:r="http://schemas.openxmlformats.org/officeDocument/2006/relationships" id="262" r:id="Rb808e05dbbca44ec"/>
    <p:sldId xmlns:r="http://schemas.openxmlformats.org/officeDocument/2006/relationships" id="263" r:id="R959b1107cd1a46d3"/>
    <p:sldId xmlns:r="http://schemas.openxmlformats.org/officeDocument/2006/relationships" id="264" r:id="Rb3fd31d51ca94373"/>
    <p:sldId xmlns:r="http://schemas.openxmlformats.org/officeDocument/2006/relationships" id="265" r:id="Rd5f58ac280074645"/>
    <p:sldId xmlns:r="http://schemas.openxmlformats.org/officeDocument/2006/relationships" id="266" r:id="R4dd40142a9bd4810"/>
    <p:sldId xmlns:r="http://schemas.openxmlformats.org/officeDocument/2006/relationships" id="267" r:id="Rf8d0693a18364e07"/>
    <p:sldId xmlns:r="http://schemas.openxmlformats.org/officeDocument/2006/relationships" id="268" r:id="R916b4d82cdb34afd"/>
    <p:sldId xmlns:r="http://schemas.openxmlformats.org/officeDocument/2006/relationships" id="269" r:id="R88b3128a79c14cce"/>
    <p:sldId xmlns:r="http://schemas.openxmlformats.org/officeDocument/2006/relationships" id="270" r:id="R9a181818e6694999"/>
    <p:sldId xmlns:r="http://schemas.openxmlformats.org/officeDocument/2006/relationships" id="271" r:id="R6e5d08bf38854425"/>
    <p:sldId xmlns:r="http://schemas.openxmlformats.org/officeDocument/2006/relationships" id="272" r:id="Rac207b84ae534fc4"/>
    <p:sldId xmlns:r="http://schemas.openxmlformats.org/officeDocument/2006/relationships" id="273" r:id="R0405b41715c844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c4671bfefe40f4" /><Relationship Type="http://schemas.openxmlformats.org/officeDocument/2006/relationships/slideMaster" Target="/ppt/slideMasters/slideMaster1.xml" Id="R2cc2c625f2874e6b" /><Relationship Type="http://schemas.openxmlformats.org/officeDocument/2006/relationships/notesMaster" Target="/ppt/notesMasters/notesMaster1.xml" Id="R642da11face34129" /><Relationship Type="http://schemas.openxmlformats.org/officeDocument/2006/relationships/presProps" Target="/ppt/presProps.xml" Id="R54eafe37588b400e" /><Relationship Type="http://schemas.openxmlformats.org/officeDocument/2006/relationships/tableStyles" Target="/ppt/tableStyles.xml" Id="R57d28af446c04360" /><Relationship Type="http://schemas.openxmlformats.org/officeDocument/2006/relationships/slide" Target="/ppt/slides/slide1.xml" Id="R0c4fb675fa2c46c9" /><Relationship Type="http://schemas.openxmlformats.org/officeDocument/2006/relationships/slide" Target="/ppt/slides/slide2.xml" Id="R8324b79a9a5e4548" /><Relationship Type="http://schemas.openxmlformats.org/officeDocument/2006/relationships/slide" Target="/ppt/slides/slide3.xml" Id="Re1e122d9f514496e" /><Relationship Type="http://schemas.openxmlformats.org/officeDocument/2006/relationships/slide" Target="/ppt/slides/slide4.xml" Id="R6cf34882d5f64e5f" /><Relationship Type="http://schemas.openxmlformats.org/officeDocument/2006/relationships/slide" Target="/ppt/slides/slide5.xml" Id="Raa5d5138a11742d3" /><Relationship Type="http://schemas.openxmlformats.org/officeDocument/2006/relationships/slide" Target="/ppt/slides/slide6.xml" Id="R90f39fb31be04d27" /><Relationship Type="http://schemas.openxmlformats.org/officeDocument/2006/relationships/slide" Target="/ppt/slides/slide7.xml" Id="Rb808e05dbbca44ec" /><Relationship Type="http://schemas.openxmlformats.org/officeDocument/2006/relationships/slide" Target="/ppt/slides/slide8.xml" Id="R959b1107cd1a46d3" /><Relationship Type="http://schemas.openxmlformats.org/officeDocument/2006/relationships/slide" Target="/ppt/slides/slide9.xml" Id="Rb3fd31d51ca94373" /><Relationship Type="http://schemas.openxmlformats.org/officeDocument/2006/relationships/slide" Target="/ppt/slides/slide10.xml" Id="Rd5f58ac280074645" /><Relationship Type="http://schemas.openxmlformats.org/officeDocument/2006/relationships/slide" Target="/ppt/slides/slide11.xml" Id="R4dd40142a9bd4810" /><Relationship Type="http://schemas.openxmlformats.org/officeDocument/2006/relationships/slide" Target="/ppt/slides/slide12.xml" Id="Rf8d0693a18364e07" /><Relationship Type="http://schemas.openxmlformats.org/officeDocument/2006/relationships/slide" Target="/ppt/slides/slide13.xml" Id="R916b4d82cdb34afd" /><Relationship Type="http://schemas.openxmlformats.org/officeDocument/2006/relationships/slide" Target="/ppt/slides/slide14.xml" Id="R88b3128a79c14cce" /><Relationship Type="http://schemas.openxmlformats.org/officeDocument/2006/relationships/slide" Target="/ppt/slides/slide15.xml" Id="R9a181818e6694999" /><Relationship Type="http://schemas.openxmlformats.org/officeDocument/2006/relationships/slide" Target="/ppt/slides/slide16.xml" Id="R6e5d08bf38854425" /><Relationship Type="http://schemas.openxmlformats.org/officeDocument/2006/relationships/slide" Target="/ppt/slides/slide17.xml" Id="Rac207b84ae534fc4" /><Relationship Type="http://schemas.openxmlformats.org/officeDocument/2006/relationships/slide" Target="/ppt/slides/slide18.xml" Id="R0405b41715c844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a9d3e054c54b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7198522679486a" /><Relationship Type="http://schemas.openxmlformats.org/officeDocument/2006/relationships/notesMaster" Target="/ppt/notesMasters/notesMaster1.xml" Id="Rb0db782c85564c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1e13830b324ad2" /><Relationship Type="http://schemas.openxmlformats.org/officeDocument/2006/relationships/notesMaster" Target="/ppt/notesMasters/notesMaster1.xml" Id="R407cd6c8124e43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17b4f5f7c94833" /><Relationship Type="http://schemas.openxmlformats.org/officeDocument/2006/relationships/notesMaster" Target="/ppt/notesMasters/notesMaster1.xml" Id="Rb39f2df2e7324a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e2c1760811448d" /><Relationship Type="http://schemas.openxmlformats.org/officeDocument/2006/relationships/notesMaster" Target="/ppt/notesMasters/notesMaster1.xml" Id="R0da823550b5244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51675b43d8493a" /><Relationship Type="http://schemas.openxmlformats.org/officeDocument/2006/relationships/notesMaster" Target="/ppt/notesMasters/notesMaster1.xml" Id="Ra4ebc369909649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b0aa85b29748da" /><Relationship Type="http://schemas.openxmlformats.org/officeDocument/2006/relationships/notesMaster" Target="/ppt/notesMasters/notesMaster1.xml" Id="Reec531d3b47141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032386a8624be2" /><Relationship Type="http://schemas.openxmlformats.org/officeDocument/2006/relationships/notesMaster" Target="/ppt/notesMasters/notesMaster1.xml" Id="Ree5795409e4a4a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d3c259625f4085" /><Relationship Type="http://schemas.openxmlformats.org/officeDocument/2006/relationships/notesMaster" Target="/ppt/notesMasters/notesMaster1.xml" Id="R0a3b11b0b80141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8dfeebd9924e1d" /><Relationship Type="http://schemas.openxmlformats.org/officeDocument/2006/relationships/notesMaster" Target="/ppt/notesMasters/notesMaster1.xml" Id="R2c51c05197544e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9fbeefe0214333" /><Relationship Type="http://schemas.openxmlformats.org/officeDocument/2006/relationships/notesMaster" Target="/ppt/notesMasters/notesMaster1.xml" Id="R75620dd55a9d44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d96f3efdad4263" /><Relationship Type="http://schemas.openxmlformats.org/officeDocument/2006/relationships/notesMaster" Target="/ppt/notesMasters/notesMaster1.xml" Id="R2ffde1286ec943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c5a65c4cca41fd" /><Relationship Type="http://schemas.openxmlformats.org/officeDocument/2006/relationships/notesMaster" Target="/ppt/notesMasters/notesMaster1.xml" Id="Radf5d5ac579d41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8f036534ea448a" /><Relationship Type="http://schemas.openxmlformats.org/officeDocument/2006/relationships/notesMaster" Target="/ppt/notesMasters/notesMaster1.xml" Id="Rdd40f6993c9a42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f3ff5abbd04ecd" /><Relationship Type="http://schemas.openxmlformats.org/officeDocument/2006/relationships/notesMaster" Target="/ppt/notesMasters/notesMaster1.xml" Id="R90efdc25c5db4d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d5bafa9bb0429b" /><Relationship Type="http://schemas.openxmlformats.org/officeDocument/2006/relationships/notesMaster" Target="/ppt/notesMasters/notesMaster1.xml" Id="Rde2f8ba1754d4bb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81abce5bcd4f10" /><Relationship Type="http://schemas.openxmlformats.org/officeDocument/2006/relationships/notesMaster" Target="/ppt/notesMasters/notesMaster1.xml" Id="R01bb53565c854e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294b2e493a4b5a" /><Relationship Type="http://schemas.openxmlformats.org/officeDocument/2006/relationships/notesMaster" Target="/ppt/notesMasters/notesMaster1.xml" Id="Rbb67bfdd625045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18cdb83f1b04315" /><Relationship Type="http://schemas.openxmlformats.org/officeDocument/2006/relationships/notesMaster" Target="/ppt/notesMasters/notesMaster1.xml" Id="R1cc59aa3449842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开场：同一段路，谁先到达？本节用速度定量描述位置变化的快慢。</a:t>
            </a:r>
          </a:p>
          <a:p xmlns:a="http://schemas.openxmlformats.org/drawingml/2006/main">
            <a:r>
              <a:t>教学目标：建立速度、平均速度与瞬时速度的概念，并能读懂简单 v-t 图像。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先展示本节的学习地图。学生能预判本节需要掌握的四组概念。建议让学生在学习单上标记最陌生的一项。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提问：甲、乙通过的位移相同，谁的位置变化更快？学生通常能直接回答甲。追问：若位移、时间都不同，怎样比较？引出比值定义。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强调速度方向就是物体的运动方向。说明 v=Δx/Δt 是定义式，不表示 v 与 Δx 成正比、与 Δt 成反比。资料对应原课件“速度 回归教材”“对定义式的理解”。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让学生独立完成例题，再请一位学生说明“为什么不能只比较位移”。易错点：把位置坐标代替位移，或遗漏速度方向。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请学生判断两辆同样“5 m/s”的小车是否速度相同。答案：若方向相反，速度不相同。原课件中的变式题强调了正负号表示方向。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让学生先独立判断，再同桌说明理由。A 是本节第一处关键辨析。C 是速度定义式的普遍适用性，区别于匀速直线运动中的 v 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原课件将“平均速度”列为独立考点。此页同时引入平均速率，帮助学生在往返问题中区分位移和路程。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强调往返结束时初、末位置相同，因此总位移为零，平均速度为零；总路程为 200 m，因此平均速率为 8 m/s。让学生确认两者分母都是总时间。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追问：汽车仪表盘显示的速度，描述哪一个概念？引出瞬时速度。说明实际测量以很短时间内的平均速度近似瞬时速度。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原课件的实验部分强调：测某两点间平均速度，测量两点间位移和对应时间即可。进一步说明，取目标点附近的短时间区间可以近似该点瞬时速度。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操作演示：严格强调先通电再拉纸带。可提问：从第 1 个点数到第 8 个点，共有几个时间间隔？答案为 7 个，时间 0.14 s。原课件给出电磁打点计时器和电火花计时器的基本使用。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原课件拓展了光电门和频闪照相法。光电门中遮光时间很短，遮光条在这段时间内的平均速度近似滑块经过光电门的瞬时速度。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原课件的“速度—时间图像”部分：图像反映速度随时间的变化。时间轴上方表示沿正方向运动，下方表示沿负方向运动。平行于时间轴表示匀速运动。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先让学生读出 I、II、III 三段的速度方向和变化。提醒：速度变小不等于沿负方向运动，方向要看速度的正负。关于斜率与加速度仅作铺垫，不作本节重点。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可先遮住参考答案，留 2 分钟独立完成。第 1 题检测学生是否能把带符号的位置坐标正确代入位移公式。第 2 题检测正负号的物理意义。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请学生在便签或学习单上作答，作为本节出口条。根据第 1、3 题判断学生对“方向”的理解是否牢固。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用四句话收束全课。布置预习：观察 v-t 图像上图线倾斜程度的不同，下节课研究速度变化快慢的物理量。</a:t>
            </a:r>
          </a:p>
          <a:p xmlns:a="http://schemas.openxmlformats.org/drawingml/2006/main">
            <a:r>
              <a:t>资料参考：用户提供的速度原课件及 1.2 课堂课件的版式风格。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资料依据：C:\Users\San\workspace\physics\高中物理\光谷二高\26级-高一\《考点同步解读 高中物理 必修 第一册 RJ（第4版）》图书配套PPT课件\正文\01-第一章 运动的描述\03-第3讲 位置变化快慢的描述——速度.pptx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97d4430c947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c1c7c1c41442c3" /><Relationship Type="http://schemas.openxmlformats.org/officeDocument/2006/relationships/slideLayout" Target="/ppt/slideLayouts/slideLayout1.xml" Id="Rec3d580564af44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3d580564af44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dfcb45ba347d1" /><Relationship Type="http://schemas.openxmlformats.org/officeDocument/2006/relationships/notesSlide" Target="/ppt/notesSlides/notesSlide1.xml" Id="Rabdf23bebf6b4e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1ecc524fb4960" /><Relationship Type="http://schemas.openxmlformats.org/officeDocument/2006/relationships/notesSlide" Target="/ppt/notesSlides/notesSlide2.xml" Id="Re30ed7f136404c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df61f3c894d76" /><Relationship Type="http://schemas.openxmlformats.org/officeDocument/2006/relationships/notesSlide" Target="/ppt/notesSlides/notesSlide3.xml" Id="R1ea6a5b79e6e4a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ef4c234904493" /><Relationship Type="http://schemas.openxmlformats.org/officeDocument/2006/relationships/notesSlide" Target="/ppt/notesSlides/notesSlide4.xml" Id="R6eb547a6287945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d72ebdd0148e1" /><Relationship Type="http://schemas.openxmlformats.org/officeDocument/2006/relationships/notesSlide" Target="/ppt/notesSlides/notesSlide5.xml" Id="Reea28c457db742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b20eaf0e1442b" /><Relationship Type="http://schemas.openxmlformats.org/officeDocument/2006/relationships/notesSlide" Target="/ppt/notesSlides/notesSlide6.xml" Id="Rac2dc758fc5c4d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b4dad1fe84b01" /><Relationship Type="http://schemas.openxmlformats.org/officeDocument/2006/relationships/notesSlide" Target="/ppt/notesSlides/notesSlide7.xml" Id="R8314e0c9f44e4f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6cdde8a3641a0" /><Relationship Type="http://schemas.openxmlformats.org/officeDocument/2006/relationships/notesSlide" Target="/ppt/notesSlides/notesSlide8.xml" Id="R9da25fbab4ef49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44ce32a894560" /><Relationship Type="http://schemas.openxmlformats.org/officeDocument/2006/relationships/notesSlide" Target="/ppt/notesSlides/notesSlide9.xml" Id="R85391d2c501849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6dee98b9a407f" /><Relationship Type="http://schemas.openxmlformats.org/officeDocument/2006/relationships/notesSlide" Target="/ppt/notesSlides/notesSlide10.xml" Id="Rcda3f873cd424e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9621db4d14c60" /><Relationship Type="http://schemas.openxmlformats.org/officeDocument/2006/relationships/notesSlide" Target="/ppt/notesSlides/notesSlide11.xml" Id="R006c7666e81a4e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696581d7e4ea4" /><Relationship Type="http://schemas.openxmlformats.org/officeDocument/2006/relationships/notesSlide" Target="/ppt/notesSlides/notesSlide12.xml" Id="Rf565999825a241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9b97e0fc541eb" /><Relationship Type="http://schemas.openxmlformats.org/officeDocument/2006/relationships/notesSlide" Target="/ppt/notesSlides/notesSlide13.xml" Id="R9da855c056bd40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2e58c5a874653" /><Relationship Type="http://schemas.openxmlformats.org/officeDocument/2006/relationships/notesSlide" Target="/ppt/notesSlides/notesSlide14.xml" Id="Rb5b63f2c991746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b0028c04b429c" /><Relationship Type="http://schemas.openxmlformats.org/officeDocument/2006/relationships/notesSlide" Target="/ppt/notesSlides/notesSlide15.xml" Id="Rd70421e2dcf945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aa58b274c48be" /><Relationship Type="http://schemas.openxmlformats.org/officeDocument/2006/relationships/notesSlide" Target="/ppt/notesSlides/notesSlide16.xml" Id="Rd848b596f4964f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9b806fb814afc" /><Relationship Type="http://schemas.openxmlformats.org/officeDocument/2006/relationships/notesSlide" Target="/ppt/notesSlides/notesSlide17.xml" Id="R91a2b568160444a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64b6eb1d54fae" /><Relationship Type="http://schemas.openxmlformats.org/officeDocument/2006/relationships/notesSlide" Target="/ppt/notesSlides/notesSlide18.xml" Id="R65bc21fbf64740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0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AC23C-4425-42A3-8707-1BFFB067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11AC1-416F-4A51-A416-C1DF1528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5B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5B8CF"/>
                </a:solidFill>
                <a:latin typeface="Microsoft YaHei"/>
                <a:ea typeface="Microsoft YaHei"/>
                <a:cs typeface="Microsoft YaHei"/>
              </a:rPr>
              <a:t>高中物理 · 必修第一册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C1D27-E6DD-4DC4-890A-83A0188A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1.3 位置变化快慢的描述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3ED4A-D692-437E-8F3A-5FFD0701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 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48AB0-E185-4312-A897-E5668AFD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rPr>
              <a:t>把“快慢”说清楚，也把“方向”说清楚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72484-FF5A-4E10-82B9-7AA83AD1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371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D612E-809F-4F25-BB20-09B921FC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速度 · 平均速度 · 瞬时速度 · 测量 · v-t 图像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F4E4C-261A-4CB6-A38A-51A2197D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91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B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66EF6-4A63-4D47-8ABA-F6D0EBAD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B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DF68C-19E1-4E01-8A87-CCF2824B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959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3F580-BEEA-4B68-BBB3-003ADE44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911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6EBC7-2A56-4631-96C0-A694687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2959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3A189-F588-401F-B591-7D8ECD71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5911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923C7-686F-42BD-A7E7-0C5F52C1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959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10380-9A8B-4834-ACCF-D6249DB4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5911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044D0-90DD-4DEE-A5F5-3E47E331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67300"/>
            <a:ext cx="2000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CC674-4B17-441B-953A-593E713B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86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位置变化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ADF3D6-CC3C-48C2-89A1-EF871ACE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25644-28BA-438E-B12C-26A22EA4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</p:spTree>
    <p:extLst>
      <p:ext uri="{BB962C8B-B14F-4D97-AF65-F5344CB8AC3E}">
        <p14:creationId xmlns:p14="http://schemas.microsoft.com/office/powerpoint/2010/main" val="15801486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6EAB73-17B8-4525-92AE-63D9FB5D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DFE61-5B46-49C8-8612-63D025E8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88F18-156D-4E8C-B570-703EB98A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01 · 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7EE9E-D5E6-47DC-914F-2EB97AD9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5D7EB-0B1F-4F3C-887B-DFD831B0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2F113-543D-4732-8DD8-07EC1530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C24AF-8F91-499A-B61F-E2DBEEE9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BADAF-7BF2-43C8-823F-38E4F2BB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这一节课，我们要解决什么？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BD58A-CEDC-4A19-BFE9-3FAD43E9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5029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48038-2E24-4C79-BD60-5C1B68F4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AB440-C514-4136-BB27-7F340DC0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3BD11-01EE-448B-B8BD-3BD3721C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用位移与时间的比值描述快慢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DD09A-5D72-431F-921C-21B9596F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5029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1873D-56DF-4BE8-A9F0-86770963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8B398-A209-42F8-8E2C-9EE702ED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9BF0B-8D86-42C0-9AEA-9E4731A0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对应一段过程，方向与位移相同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48111-1C65-48E7-9274-E9618850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71650"/>
            <a:ext cx="5029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64ADD-77FF-4018-9FC0-AC1ABE9F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716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CB"/>
          </a:solidFill>
          <a:ln xmlns:a="http://schemas.openxmlformats.org/drawingml/2006/main" w="0">
            <a:solidFill>
              <a:srgbClr val="2C7BC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34F7C-C9DE-4EF0-9C94-609B3F69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瞬时速度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866C9-13E2-489E-A45E-246AA63D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对应某时刻或某位置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F981F1-7F17-4401-85D9-3052615B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5029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61C4E7-A66A-4178-987E-1A51A33D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9831D-22BB-4CD6-8537-1F119C87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0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速度测量与图像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C78641-DB91-4E63-97AB-9AED95E0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67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纸带、光电门、频闪照相和 v-t 图像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9A2A26-2154-415A-A796-F150A483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B201C3-E8CC-48D6-841C-B2F4582A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核心线索：一段过程用平均速度，一个瞬间用瞬时速度</a:t>
            </a:r>
          </a:p>
        </p:txBody>
      </p:sp>
    </p:spTree>
    <p:extLst>
      <p:ext uri="{BB962C8B-B14F-4D97-AF65-F5344CB8AC3E}">
        <p14:creationId xmlns:p14="http://schemas.microsoft.com/office/powerpoint/2010/main" val="1758368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9CCDCC-7F24-48ED-906E-AF416165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6A344-50FB-439A-958F-10D6AAB4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27B60-CA5A-488D-ACFD-E829FA13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02 · 情境导入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AE146-D3B7-4452-8FDB-929C4931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A524A-2E2E-4687-9EB3-854C29C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67004-2F92-4DF8-A15F-118F1249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EF411-A7EA-4B66-9D5C-D3983B12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44E92-91CC-4292-97DD-F771D858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同样跑 100 m，怎样比较谁更快？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63FAA-C783-4851-BF84-B05621F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4953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89104-DC3E-4A97-A1CD-440A347A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762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24892-E19A-45ED-8473-5197B0EF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4953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38C42-0B5C-4BC5-BE24-959CB292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762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27957-4E32-450D-B242-1E76BFAF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甲同学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4F3A8-7E33-4C15-B6B0-C7CF35E6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24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乙同学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34859-CDC5-4341-827E-8BD8F668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9A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3222A-055A-44C0-BC09-4BF50097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5B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2491E9-123A-42F2-A14D-A87CF889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5337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6D0693-BF8F-498C-A4A1-4D594B3E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337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9E534-7EB5-454E-8D1E-98CA2FCF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5337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77DB2-B4C5-48A3-91C0-468F9DEB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5337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358BC7-C555-48EF-AB9F-A9EBDEB3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100 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9579B1-D221-4D98-9CEF-B5A3A8CA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100 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DFABA0-AB3E-4BC7-8ADF-FC8165A8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用时 16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10B217-B2B9-46BE-9AB5-CFD51902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386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用时 20 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B63B36-A2F7-4B4B-A94A-4133941C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E8C4C1-01BD-4637-9E3F-F1F8335E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相同位移下，用时更短，位置变化更快。如何把这种比较变成一个物理量？</a:t>
            </a:r>
          </a:p>
        </p:txBody>
      </p:sp>
    </p:spTree>
    <p:extLst>
      <p:ext uri="{BB962C8B-B14F-4D97-AF65-F5344CB8AC3E}">
        <p14:creationId xmlns:p14="http://schemas.microsoft.com/office/powerpoint/2010/main" val="1216807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5153EB-2BF7-433A-A7A1-38AD8C0A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C8AA0-B9B4-41A0-9BF6-1D56EEBE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F8680-A479-45FC-8445-3756B51C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03 · 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BB2B5-BF0B-4E19-B149-75516CF7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10576-D9EA-4733-8125-4D7F6199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D8570-69FF-4B73-B71C-09241137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47FE4-2E75-4333-B603-0A692C25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CBBB5-2232-4CD1-BEAD-C29A7739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速度：位移与发生这段位移所用时间的比值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C1C47-28F5-48C1-9A2D-C5414AF7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4857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482F3-CB3B-48FA-BB3A-C009A153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721C8-126B-42B6-B4E9-92A0AA4D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968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5DE10-DC70-44C1-9188-AE743ECD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98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v = Δx / Δt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40BCB-4BC1-4E0E-A461-A3625612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76625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国际单位：m/s 或 m·s⁻¹</a:t>
            </a:r>
          </a:p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常用单位：km/h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258E5-A0C1-4B41-9C0A-A7FAF50C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00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速度既有大小，又有方向，是矢量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D6827-D113-44D1-8B12-78387661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DC8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82B7B-FE60-4989-9F4E-A06DF777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71875"/>
            <a:ext cx="16954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8E146-E350-4097-A6D7-400AD485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508AB6-0D7C-4351-8611-129B0630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385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AE9F61-8B01-4B42-90FD-6E864FEA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23B17-5A6C-40D3-B884-845ADFC7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943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6282CA-24CE-4EA8-B59C-7BC6817C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物体从 A 到 B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速度方向：向右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36BB0D-A04B-4D9E-935A-9A5C37C8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CE54C-CBE2-4235-8026-A16FA0FD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写公式时先说清：Δx 是位移，不是路程；Δt 是与这段位移相对应的时间</a:t>
            </a:r>
          </a:p>
        </p:txBody>
      </p:sp>
    </p:spTree>
    <p:extLst>
      <p:ext uri="{BB962C8B-B14F-4D97-AF65-F5344CB8AC3E}">
        <p14:creationId xmlns:p14="http://schemas.microsoft.com/office/powerpoint/2010/main" val="8144880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EAC21-7B6A-4C1C-BE21-F0BD8624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391DD-6AFA-46EA-AEA2-5EECF2B5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26540-00CC-4D43-8659-45CF673F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04 · 定义式的理解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E8F8A-B40F-44D8-83BF-EF4C7B04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B0D78-FEE1-4521-853F-B58B1933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9C93A-6D53-41A2-9380-CD819A9A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EC611-67C9-4479-B4EF-26E9EA2A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BDBE6-390B-4BEF-8132-630117D5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同一段过程：位移和时间必须对应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80B80-B11A-46E8-A20B-16E9B07B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6858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4E7D1-5178-4B44-8A84-D1FD88BF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EA0BC-B7FD-40BE-AEAE-23F0328B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例：质点从 x₁ = 2 m 运动到 x₂ = 14 m，用时 3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E753D-8491-4DAF-9399-76319962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62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Δx = x₂ − x₁ = 12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A821F-E5DE-4531-9DE1-AACB1457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7662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v = Δx / Δt = 12 / 3 = 4 m/s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C9B98-40B6-41D6-8577-07BB649F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方向沿 x 轴正方向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E1CE3-2549-47DD-956C-263CAA23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295650" cy="33337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D6F96-0944-4DA6-8D18-79293CA4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5AF3D-4ED2-480A-ADE7-08DDCDFF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19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79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比值定义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C5B1B-6C76-45A2-AE66-E2628798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Δx 更大</a:t>
            </a:r>
          </a:p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不一定 v 更大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C3D39-F5ED-46F4-9FE0-178B8357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比较速度时</a:t>
            </a:r>
          </a:p>
          <a:p xmlns:a="http://schemas.openxmlformats.org/drawingml/2006/main">
            <a:pPr>
              <a:defRPr sz="15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必须同时看 Δx 与 Δt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B72C52-16CD-4992-89A5-2871AC79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83573-B503-4915-9E14-86EA878B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计算顺序：先定过程，再写位移和时间，最后代入公式并写明方向</a:t>
            </a:r>
          </a:p>
        </p:txBody>
      </p:sp>
    </p:spTree>
    <p:extLst>
      <p:ext uri="{BB962C8B-B14F-4D97-AF65-F5344CB8AC3E}">
        <p14:creationId xmlns:p14="http://schemas.microsoft.com/office/powerpoint/2010/main" val="15407939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FBDD2A-57A9-4642-8B1D-13581792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910FC-CBA6-4C15-AE4C-8BA600DC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E925A-3112-47A3-AF1D-2891FE22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05 · 速度的方向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D21FB-4BC4-42E6-A825-A0F38730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29AB9-24BB-4E85-A8F9-EB296FAA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2BC13-11C9-4380-95D6-DD477F5F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5A3D0-4484-4927-841B-759F5D3C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887D8-15F3-456A-8710-6302B66F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一维运动中，速度的正负号表示方向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3ED6A-47AD-499E-BDF2-2FEE03AD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143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B95CE-BE26-4AC7-87A1-A74DEEB4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CB"/>
          </a:solidFill>
          <a:ln xmlns:a="http://schemas.openxmlformats.org/drawingml/2006/main" w="0">
            <a:solidFill>
              <a:srgbClr val="2C7BC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B7333-7029-459A-AC61-B95C89E5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143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3D88C-E3AF-4065-9CCF-D854FC4D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68655-0996-49C7-B7A6-7162D1B7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取向右为正方向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B6E59-FE75-40FC-A15B-819A6F5A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取向右为正方向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A2D63-EB28-4908-88B6-662D3BDB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DC8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00432-478C-49D5-B2D7-B7E58EB1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71825"/>
            <a:ext cx="1524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9652B-2E20-46A9-A215-DD70CEF1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814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609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v = + 5 m/s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DC871-79DC-46A1-9233-84A6F57B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481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沿正方向运动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45C87D-753A-4270-84AE-7B9F394E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337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DC8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BF9E12-B6A1-4A78-BD2D-192A488C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71825"/>
            <a:ext cx="1524000" cy="3238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762833-F457-4844-868B-C2DFFEAE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609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v = − 5 m/s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36706-9E25-4480-9FC5-7C21BDC6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481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沿负方向运动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6F43D-B19E-441C-A01D-0C7E3354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1E730-3B43-42DB-8E39-1DABFEAD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“−5 m/s”不是速度大小为负，速度大小为 5 m/s，负号只表示方向</a:t>
            </a:r>
          </a:p>
        </p:txBody>
      </p:sp>
    </p:spTree>
    <p:extLst>
      <p:ext uri="{BB962C8B-B14F-4D97-AF65-F5344CB8AC3E}">
        <p14:creationId xmlns:p14="http://schemas.microsoft.com/office/powerpoint/2010/main" val="9471889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FC4439-BB2F-45D6-8BC9-DA22377C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A2062-6EB8-452E-8D2C-4A9CBF93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D87E7-CF76-4EB6-89D2-2D2F0E8E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06 · 课堂辨析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1893A-141D-4386-BDD3-9E2D7D79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0E143-1187-49F8-A7C1-7E676DC3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5AD22-0E3D-477D-97DF-D6B36DFD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0E8F3-C559-46E6-A583-E883E701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73B62-63A6-4866-B842-6D38CB86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判断：关于速度，哪些说法正确？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FAAEB-4A7E-4AFF-942A-B388E8D9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1244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9202E-709F-4DF0-9CCE-F530EAB9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454"/>
          </a:solidFill>
          <a:ln xmlns:a="http://schemas.openxmlformats.org/drawingml/2006/main" w="0">
            <a:solidFill>
              <a:srgbClr val="E9545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05B5A-AB46-4AAE-B2A8-4002C0F7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7D6F3-8318-4E41-BEF5-FEBAD789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8120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速度的大小等于路程与时间的比值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DF6A5-BEBE-4742-B3D5-AF4CD12D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1244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2DA8B-A548-4C84-BD48-D7E7D14D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B9054-207B-4AC6-86EE-1E9BB5C3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91EDD-F479-4F34-A3FE-B8FA4ADD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8120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速度是描述物体运动快慢和方向的物理量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29311-2A89-4EE2-BC5B-F09D4FE5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51244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515A41-7B4A-4933-836D-A6B24983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BCAE5-23DC-4B24-97A3-4D402FF8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8F396-AC5B-49D8-B17F-BE7F726B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v = Δx / Δt 适用于任何运动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850FDA-A66F-404A-9C72-10368037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51244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47AD00-C787-433E-9CF0-D49C3C30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078C24-71A0-4C70-B83E-0BF918B8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35797-517E-4DA2-B9A8-D48806BB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9095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位移为 0 时，平均速度一定为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98A98C-57A0-4284-8C05-AA992702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720407-AF6D-4D39-9CDF-B8082FC0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答案：B、C、D。A 中应为“位移”，不是“路程”</a:t>
            </a:r>
          </a:p>
        </p:txBody>
      </p:sp>
    </p:spTree>
    <p:extLst>
      <p:ext uri="{BB962C8B-B14F-4D97-AF65-F5344CB8AC3E}">
        <p14:creationId xmlns:p14="http://schemas.microsoft.com/office/powerpoint/2010/main" val="461467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3D6534-3A35-46F2-8D57-41E4F0F2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128B5-E11E-4114-8978-4F4C1F6C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27EFB-D172-4408-95C1-DB647589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07 · 平均速度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4BA63-09B0-4F7B-BCC0-F85DD8EF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29A44-FB9C-4103-87F0-34A8B513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7A94D-9E45-469D-975B-93865339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2950B-A71D-4A93-9D31-B3325F5E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49B23-8DE5-48FF-84CB-A2402F94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平均速度描述一段过程的平均快慢和方向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B227A-0266-4DD1-A796-D71EBF32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4953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2FBD2-F60F-4C01-B5D8-EE57E3B9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762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BF148-B220-452C-B688-F4B0E52C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77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8B09F-581F-4A79-ADD4-5E53E5D2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622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v̄ = Δx / Δt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77BEE-2D1D-4B2D-ADD7-78AFBBA6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对应一段位移和一段时间</a:t>
            </a:r>
          </a:p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方向与该段位移方向相同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58877-28BC-435F-8896-25C8018F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33550"/>
            <a:ext cx="497205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B5510-11B3-467C-84D8-EB3294E9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33550"/>
            <a:ext cx="762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8CD67-E6AE-4953-A062-1A6FC9BA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77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F7FC7-942C-4886-A1C2-35A096BD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62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平均速率 = 路程 / 时间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847AC-16C8-4D8D-8D55-FBCC1A8D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38550"/>
            <a:ext cx="337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只描述平均快慢</a:t>
            </a:r>
          </a:p>
          <a:p xmlns:a="http://schemas.openxmlformats.org/drawingml/2006/main">
            <a:pPr>
              <a:def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没有方向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172F6-D734-4BEF-A6D4-325AA7A5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8100F-9546-4119-98BD-3CDCA66B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平均速度不是“各时刻速度的平均值”，而是“位移与时间的比值”</a:t>
            </a:r>
          </a:p>
        </p:txBody>
      </p:sp>
    </p:spTree>
    <p:extLst>
      <p:ext uri="{BB962C8B-B14F-4D97-AF65-F5344CB8AC3E}">
        <p14:creationId xmlns:p14="http://schemas.microsoft.com/office/powerpoint/2010/main" val="3478559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7263FE-FA15-459D-A0D1-F6811CF7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71B0E-B3E2-463A-A79A-EAAFE309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E79BB-1797-4743-AF86-BFCE8544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08 · 平均速度与平均速率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84654-4256-44E0-9BC5-F03DE929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32AB2-3F95-44B3-ADDF-55286DC0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75472-F9DD-4977-8780-789A05A4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B2DD7-E24E-47EE-9CD5-3FCFABDE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749F3-B542-4986-8B87-ED5460D9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往返一次：平均速度和平均速率为什么不同？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B5340-4462-4A51-813B-A05D42FE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DC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0B846-C860-4B95-8749-E9EA4788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384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76691-7815-4096-8BC9-38AEA0EC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384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DD1FE-1571-4871-8337-C2E09137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0384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36F5D-AE74-4FE3-B14F-A175A766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429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53369-1B1B-4636-A070-BB5E687B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429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1A1B8-6327-4757-AF9F-6F5AF3C1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429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9C093-8CDF-49B8-85D5-ECE64509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24765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D256F-280A-4E18-8A96-FC6147F0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90900"/>
            <a:ext cx="2476500" cy="2476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C7BCB"/>
          </a:solidFill>
          <a:ln xmlns:a="http://schemas.openxmlformats.org/drawingml/2006/main" w="0">
            <a:solidFill>
              <a:srgbClr val="2C7BC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8F8FB-7A93-46C9-A71D-FEA5BA5F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33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去程：100 m，用时 10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FD9E2-75C1-459E-A2EA-117F5755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05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rPr>
              <a:t>返程：100 m，用时 15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27ABE-1DAC-48D8-B2C8-2CEFC0CD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4476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6DFB7-5785-48B2-92C5-53C88B8A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A00A94-89A7-4EC3-B20E-F372EC85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14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平均速度 = 0 / 25 = 0 m/s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874BE-A014-492B-A5AD-7113001B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476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EFB280-7224-40C5-8151-40C304B0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7FF48-020A-4454-9A42-7CE53CD0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4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平均速率 = 200 / 25 = 8 m/s</a:t>
            </a:r>
          </a:p>
        </p:txBody>
      </p:sp>
    </p:spTree>
    <p:extLst>
      <p:ext uri="{BB962C8B-B14F-4D97-AF65-F5344CB8AC3E}">
        <p14:creationId xmlns:p14="http://schemas.microsoft.com/office/powerpoint/2010/main" val="4421929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EA6288-0D00-438E-9DD0-34E0B8C1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D7828-1382-43C0-9B1C-D5AA1FE2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C71C3-49F3-438B-A1A7-B4416F7B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09 · 瞬时速度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4B976-83FB-4B62-94EE-46C2F228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FED5A-69D1-49A4-914F-D57B53FA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06B68-D097-47DA-AD58-D83A606A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1AA70-5810-462E-B55A-C04CAF4C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757CA-452C-4059-A04C-E4FBD859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瞬时速度描述某一时刻或某一位置的运动快慢和方向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BD830-88C2-4208-83C9-7B93E146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4572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9E522-2ADE-4D5E-8548-A32B065E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8481A-8D9A-4AC6-B1D6-26D8CAF4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1E06E-3FD6-4466-9EA1-A9570ED9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对应一段过程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AC256-D314-4C48-821B-1CE5FAA5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例如：前 5 s 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1E1C9-D784-4445-9AB7-2C902AA2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33550"/>
            <a:ext cx="4572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C17BA-1EE3-4F65-9DF6-EFA63E7D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3355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7CABC-9794-459D-8238-26E4059A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瞬时速度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CC8FD-CA75-4451-BDF8-E407BF61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67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对应一个时刻或位置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41FC3-9E4E-4312-AC03-3E938FE8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71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例如：第 5 s 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B16A5A-E505-4F02-97AA-5B6F546F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C8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ECFB6F-1B79-4B66-9260-AA7A7E2A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86100"/>
            <a:ext cx="514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82BC87-F90E-459B-B38E-ABCFEFDA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790C6-842D-46F1-A753-4E8C22BF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测量瞬时速度的思路：把取样时间缩短到足够小</a:t>
            </a:r>
          </a:p>
        </p:txBody>
      </p:sp>
    </p:spTree>
    <p:extLst>
      <p:ext uri="{BB962C8B-B14F-4D97-AF65-F5344CB8AC3E}">
        <p14:creationId xmlns:p14="http://schemas.microsoft.com/office/powerpoint/2010/main" val="1890123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E6337C-83A2-4265-8F47-43776F3B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C56BA-3746-4103-9299-362BABBE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BEAE1-0167-4E57-9CDB-F217B98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10 · 纸带测量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086FC-C983-4C80-B34A-191EF95D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01CA7-95F8-46AA-9AEE-C49AE0CC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A3492-4E41-48D7-9308-18CE9AFB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37123-3FE4-4E60-97B0-2389C59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8896B-9FC7-4D37-A3F4-109C799B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纸带：用一小段时间内的平均速度近似瞬时速度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E28BD-3281-4B6E-9E8A-BC8EE82B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739CF-5417-4EDA-AAB7-AD21A2F5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6A4C9-D7F9-4DEE-8DC6-F70B4F6E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3535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5E8B5"/>
          </a:solidFill>
          <a:ln xmlns:a="http://schemas.openxmlformats.org/drawingml/2006/main" w="9525">
            <a:solidFill>
              <a:srgbClr val="A7C78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4D658-C510-4FF8-BA62-785F059D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0D4E9-296A-4609-93D3-68F24A0B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306FEB-8439-4E6A-AE14-19F2D2E0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FDF90-3CA9-45CC-8933-B860F7B2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9BAFB-EDA1-45D1-933D-27C5D560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23870-A019-496D-8155-9B262AC5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6D39A-E66B-47DC-BC2A-231943A6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0F741-394D-4D21-B524-ADE7C090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E5D51-208B-4939-A86C-FCA89E97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D23EFD-05E0-44DF-86B4-7A00B2B6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260A0-6AC7-41C1-B610-44E72583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54A8D3-3C0E-4722-9A53-8845056D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B3864-94C7-4D9E-8F68-6959A878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C4C"/>
          </a:solidFill>
          <a:ln xmlns:a="http://schemas.openxmlformats.org/drawingml/2006/main" w="0">
            <a:solidFill>
              <a:srgbClr val="152C4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1930B-70A9-439A-927B-93E01C1E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686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86F224-91B5-4357-9D79-D5E6956E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43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2C4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52465C-8CF1-46C5-A9D8-8EA931A1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2C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99F3DC-8C79-4897-89C0-95F1E26C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695450"/>
            <a:ext cx="2238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CF5C5C-0619-4060-B768-4111AF74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3906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Δx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4639BC-39EB-44C0-8BA6-EA992A1E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50863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25F52B-76FB-4446-8EFB-EA4FFC1F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225392-288A-43AF-886A-6C4471C0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平均速度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7665D4-5F15-4FE1-90F9-62DC4772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v̄ = Δx / Δt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37954E-7B11-471B-84AA-5578BEF5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50863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A83AF0-0DE2-4153-9DBB-EC06C89D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960099-1C85-4022-97B0-A3C637AB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00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瞬时速度近似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E9A2ED-8486-496C-93AD-CD51AD88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C7BCB"/>
                </a:solidFill>
                <a:latin typeface="Microsoft YaHei"/>
                <a:ea typeface="Microsoft YaHei"/>
                <a:cs typeface="Microsoft YaHei"/>
              </a:rPr>
              <a:t>取靠近目标点的更短纸带区间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77303C-71FA-4154-902C-511C1B0B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CED756-DB3C-4351-B796-5243BF04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纸带上相邻点间距越大，说明相等时间内位移越大，物体运动越快</a:t>
            </a:r>
          </a:p>
        </p:txBody>
      </p:sp>
    </p:spTree>
    <p:extLst>
      <p:ext uri="{BB962C8B-B14F-4D97-AF65-F5344CB8AC3E}">
        <p14:creationId xmlns:p14="http://schemas.microsoft.com/office/powerpoint/2010/main" val="12594046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E0DB59-112D-4153-9AF8-41656E73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1A697-2BFE-49FD-AD5E-93310167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289E2-51EB-4B15-B345-BD04DC3F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11 · 实验操作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F6F92-0C5B-4F22-B7CB-33519BB3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37830-EFC9-428D-826D-E29E411A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A62A2-E670-42BF-91AC-98753ED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88EB0-C780-4597-AE86-B461FA43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B196C-1CBE-4DB1-865D-E7DD4905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打点计时器：先通电，再拉动纸带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67413-BF6C-457B-8830-0379E3CA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ED370-CAB2-4D72-897F-ACDEE966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4A1DE-459C-4F72-8D21-A92A2E81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固定计时器，正确穿入纸带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5CFCD-02B3-44A2-906C-820B37C8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8125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D49D7-D7E5-4D26-B50A-155DD47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28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B9EAF-08E8-4AF0-8083-A3768081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28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80A3D-8FFE-43B3-B1E9-7BBD28E4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04800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接通交流电源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0269A-F4E5-4EA6-A9C4-0CC9CFA1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8125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BE654-4537-470A-8F9C-26A7FCC9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28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3EA19-79A6-45F1-B469-7E5781F4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28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55028-4A80-44B3-8BD6-6F5A920D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4800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水平拉动纸带，留下清晰点迹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86261-BE41-4596-84C9-1F62A621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C4C9B0-2E60-4C83-BCDB-6DEA59FA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288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9F0B9-AB97-4676-ACFF-BF96DDF4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28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C47D40-A6F0-4768-AFFA-C191E96E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4800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关闭电源，测量位移和时间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606A84-2A9B-4D23-9F51-3599EFE3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92583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86B56A-0258-4B83-82B9-FCA9AA6A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F496E9-46C0-4A6A-95E5-3C469E00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482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若打点频率 f = 50 Hz，则相邻两点时间间隔 T = 1/f = 0.02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5F1760-0D11-46E3-AFDB-F21E14C1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433B69-BF21-474E-8171-C19F6D7A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数点时：n 个点对应 n − 1 个时间间隔</a:t>
            </a:r>
          </a:p>
        </p:txBody>
      </p:sp>
    </p:spTree>
    <p:extLst>
      <p:ext uri="{BB962C8B-B14F-4D97-AF65-F5344CB8AC3E}">
        <p14:creationId xmlns:p14="http://schemas.microsoft.com/office/powerpoint/2010/main" val="20768152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412016-3741-4E55-A676-19A829A3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67A4B-4059-432B-B4D5-86768091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41575-BF20-4CB9-B09B-96C4FE6A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12 · 测量方法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76C4A-459E-4326-925F-10CA51CC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62DCE-8E41-4275-B85C-A0360D0C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9702F-7513-4140-B2E9-8414540A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1C7AA-39CC-40E1-AEAA-957A1217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A23E8-36C9-4B07-9934-8D4A56D1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还有哪些方法可以测速度？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A47BE-864A-46F1-9E47-56DCCDED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4690C-CC9E-4B7F-AFCB-C710287D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5789E-4E69-499D-83C2-411E213D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光电门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AF2A1-D70C-408C-8975-EC53765C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457200" cy="104775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64F96-FDF8-47AF-A2C5-8546D1B0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57500"/>
            <a:ext cx="457200" cy="104775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96C36-5258-451C-8DAD-59504C22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62300"/>
            <a:ext cx="60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729EF-5497-4373-93A3-CF6AF1A8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2343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v ≈ d / Δt</a:t>
            </a:r>
          </a:p>
          <a:p xmlns:a="http://schemas.openxmlformats.org/drawingml/2006/main">
            <a:pPr>
              <a:def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d 为遮光条宽度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49F9C-24FE-4B09-9408-CA9551AB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B4EAC-AD77-4239-BC86-A098A3E8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DAE71-3125-4F36-BF31-954CB2A3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频闪照相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15492-5C74-4890-9B2B-24DCDCFC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052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90B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EFA4C-006E-4AAF-B170-A978B75D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4004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3E25F-6601-44B1-833F-DFA5040E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004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461D9D-91FC-4B38-890A-7EA67E15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4004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59EEE-3100-4104-9357-FEFFA027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004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5A180B-5E2A-4EFA-A3FB-1731F5BA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4004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0C99C7-444B-425C-BB58-A93906EE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529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相等时间拍下多个位置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CBD0AD-E2F6-4D9C-B60A-EDD83964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45A819-D47A-4D25-B032-F100FACD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AE6F21-B006-45F5-AEE5-C6D2B74D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115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共同思路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90ECBF-D3B3-4F78-B2C0-074599EB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362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测量位移</a:t>
            </a:r>
          </a:p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记录对应时间</a:t>
            </a:r>
          </a:p>
          <a:p xmlns:a="http://schemas.openxmlformats.org/drawingml/2006/main">
            <a:pPr>
              <a:def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用 v = Δx / Δt 计算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879BA6-9B57-439C-9ED5-6B74CA5C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003825-1E35-4C11-9360-2BEC9469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无论用哪种仪器，核心都是“位移”与“时间”一一对应</a:t>
            </a:r>
          </a:p>
        </p:txBody>
      </p:sp>
    </p:spTree>
    <p:extLst>
      <p:ext uri="{BB962C8B-B14F-4D97-AF65-F5344CB8AC3E}">
        <p14:creationId xmlns:p14="http://schemas.microsoft.com/office/powerpoint/2010/main" val="10524836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4ACACD-D33C-4F0F-8094-1B58056F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AF9DD-316A-46EB-B9D5-ED1EE014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923C2-1DDD-44E0-9BFB-CF3D5857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13 · 速度—时间图像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92722-AB43-4B6C-8D90-945BCD4A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270D1-34E4-4347-AD0E-4A92FE16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1FFC7-B781-425D-A71A-B1D0B539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B8393-D518-4E25-9996-EFA47EA1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884F1-EA51-495F-89B7-6E36B42E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v-t 图像：速度随时间变化的规律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4AD06-313F-4C95-87C9-E073441C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C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BA002-6588-4449-B5A8-E1389E70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C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0605E-1070-4A65-AAF4-20E5DB04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76775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A250C-6BDC-4F32-B6D0-83C781C8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752600"/>
            <a:ext cx="133350" cy="171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DB2B1-F13F-4594-9966-D71BAE77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29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29986-BD4F-49B6-8DFB-9AF636E9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85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67345-86AB-421D-869E-A4A2E9BF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3714750" cy="158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B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260B0-68B3-4D56-A8E7-5615D006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718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9A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6315D-E944-40CE-94F5-5FDE2A61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37147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2B8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F1481-5CFC-47A0-BE13-7612AAB4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rPr>
              <a:t>速度为正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CD6112-3728-4A01-9B19-1DEF914F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19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匀速运动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00967-89B1-48A6-9288-E894CDD7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910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速度为负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6294D-0A9F-495B-9B29-D03A04ED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47850"/>
            <a:ext cx="3524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E74FDD-636E-4F17-8A90-2CAC85FE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478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D855A-A6D7-4705-AF87-9558A8C3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3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79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读图先看两件事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189B7-B3B0-4985-A9D5-18C19A4E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1. 点的纵坐标：某时刻的瞬时速度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2. 图线是否在时间轴上方：速度方向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0C921-757B-416C-9A41-DBABE8D5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5FDF1A-D5C3-418D-9268-1BC2292A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v-t 图像不是运动轨迹，而是速度随时间变化的图像</a:t>
            </a:r>
          </a:p>
        </p:txBody>
      </p:sp>
    </p:spTree>
    <p:extLst>
      <p:ext uri="{BB962C8B-B14F-4D97-AF65-F5344CB8AC3E}">
        <p14:creationId xmlns:p14="http://schemas.microsoft.com/office/powerpoint/2010/main" val="7432380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B9CD57-8A21-4FCB-B6DD-2D7C1022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C97E1-A49C-464D-AB64-DF93B52D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7F3F2-8F59-4FDA-BFEF-4C0E0893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14 · 图像应用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D54A5-027F-425C-906F-D97F018D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48707-F3B8-40B9-AADC-9C497CC1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B929F-B83E-478B-A89C-064E9353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A8BFD-84EC-4D8A-9CBC-8FF3822E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19B09-5E72-4F8E-BF7E-7CD7C4CB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从一张 v-t 图像读出哪些信息？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A871D-39AC-41E2-8AF6-F86A0F23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C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6BB49-70B7-4EDB-8241-A97C2880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C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DC766-4099-4A16-9481-5E8BC52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95825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3F87B-8689-497C-A605-EBD27B0F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771650"/>
            <a:ext cx="133350" cy="171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5DC8D9"/>
          </a:solidFill>
          <a:ln xmlns:a="http://schemas.openxmlformats.org/drawingml/2006/main" w="0">
            <a:solidFill>
              <a:srgbClr val="5DC8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6BE85-5355-4A50-9D9A-FA033350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482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9A9AA-1AB6-4E3D-9C8E-5DAFFFA7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04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611CE-F02C-4ABB-B090-DAD11E9B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9A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4561D-ADD2-4192-B9C5-823CF9AA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57500"/>
            <a:ext cx="142875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B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290E0-DE82-47A4-ABCF-BD0666EA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57500"/>
            <a:ext cx="114300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2B8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BA7DB0-8DB8-4D5E-A9A0-2DC29CD7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40C38-4382-47DD-AD13-EBAB5690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C8D9"/>
                </a:solidFill>
                <a:latin typeface="Microsoft YaHei"/>
                <a:ea typeface="Microsoft YaHei"/>
                <a:cs typeface="Microsoft YaHei"/>
              </a:rPr>
              <a:t>II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897F8-9F31-426B-9E04-7674CB63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67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III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5133DC-3610-4642-97A3-C28A8673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762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1A2406-3034-442C-B538-D8B0E1E7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88E2E4-6B44-47E9-8C55-C3E16D22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05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I 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D0B168-1AC6-47A3-B232-45B09CC4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速度不变，做匀速直线运动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FC8119-744D-4424-BA7D-5BEB3531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4762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F90263-9A14-4DCB-9D29-4EBE3782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BE647E-219B-4B26-8F65-A29CEA0D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5B8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5B8CF"/>
                </a:solidFill>
                <a:latin typeface="Microsoft YaHei"/>
                <a:ea typeface="Microsoft YaHei"/>
                <a:cs typeface="Microsoft YaHei"/>
              </a:rPr>
              <a:t>II 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224BAD-8802-4D81-B8B0-1979F9BA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速度增大，沿正方向加速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FEDE12-FAC2-4113-8451-6517BEDD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762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02882B-FC07-4273-A956-FC996C29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DEEACF-ECB8-4A04-A63F-022F2E7E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38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III 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AF06EC-CF41-49AF-9F8B-2A0C59E3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386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速度减小，仍沿正方向运动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B50AC-54EB-4356-A791-69932DB2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FE127E-5C70-42E0-AAC6-E5B8D416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图线斜率越大，速度变化越快。斜率的物理意义将在下一节学习</a:t>
            </a:r>
          </a:p>
        </p:txBody>
      </p:sp>
    </p:spTree>
    <p:extLst>
      <p:ext uri="{BB962C8B-B14F-4D97-AF65-F5344CB8AC3E}">
        <p14:creationId xmlns:p14="http://schemas.microsoft.com/office/powerpoint/2010/main" val="9914440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45097-EA25-4401-B463-E20643F0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41298-57DC-47D4-A7DA-E174A8FD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76A12-75C9-4BBB-8C09-9A8AB178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15 · 当堂练习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C252B-3AA5-4205-B177-28DC45EB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4D163-D6C1-4B00-8E2F-1E0AE89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5A023-1E74-45AC-B46B-363A072C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0F837-CA0A-4517-AED3-E6A264E7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192BC-5766-4EC1-ACA5-D3CDFEC5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练一练：将“快慢”和“方向”同时说准确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D0E8D-60FD-47C0-BEE8-2F66C2A9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0668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E98F3-49ED-4A30-9598-D5E691A3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81742-0E22-4CE7-BC36-2864AB4B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1. 物体从 x₁ = −4 m 运动到 x₂ = +8 m，用时 3 s。求平均速度。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885C1-2FFF-405E-928C-2FD98533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提示：先求 Δx，再除以 Δt，最后说明方向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DF77F-B9B4-4F3B-8975-856AB4A7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0668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54D55-9FA5-499E-9D5A-ADAF2D9A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3A29A-EC08-473F-B5E4-7D7786C3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2. 物体以 5 m/s 向东运动，若取向东为正方向，速度应写成什么？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1BE838-5103-4A68-BFBD-A647EA3A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提示：速度的正负号表示方向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36D8D-7112-4CD5-A0CB-0BA3B3F2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668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6CB66-EC87-4449-86ED-1EA5E840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3C4B3-1DCF-498D-9F42-C5BBED78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720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参考答案：1. v̄ = 4 m/s，沿 x 轴正方向；2. v = +5 m/s</a:t>
            </a:r>
          </a:p>
        </p:txBody>
      </p:sp>
    </p:spTree>
    <p:extLst>
      <p:ext uri="{BB962C8B-B14F-4D97-AF65-F5344CB8AC3E}">
        <p14:creationId xmlns:p14="http://schemas.microsoft.com/office/powerpoint/2010/main" val="10324886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227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70983A-5CDC-4E38-A1EE-5402B268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4D8F5-D9D2-42F5-ABE1-BB731C20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5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555ED-4C56-4EAC-BB35-29EAD23E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16 · 课堂检测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5B41C-695C-4A7E-8C13-77ECD09B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B4FD9-77E2-4E2E-B63A-EDCB9483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6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D7790-32FA-4CB9-86FA-B4AA28FB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9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光谷二高  高一年级物理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0DF1C-3FD5-4188-B921-7A9EFEA5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291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CCBE0"/>
                </a:solidFill>
                <a:latin typeface="Microsoft YaHei"/>
                <a:ea typeface="Microsoft YaHei"/>
                <a:cs typeface="Microsoft YaHei"/>
              </a:rPr>
              <a:t>第一章 运动的描述 · 1.3 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0A7CD-A298-4AFB-A24F-5D7E4080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7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离开教室前，请完成这三题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ED937-0837-4B95-AB72-5FB5BD04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7239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77B8E-5F22-4F24-A53C-C9FE2637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05D41-DD30-4522-B597-CA7B74CF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657350"/>
            <a:ext cx="8858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242B0-C50B-4996-BF59-2F7FBFAB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6573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E05C5-4B5C-4DB9-BB66-4DBBBE85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097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v = Δx / Δt 中的 Δx 是路程还是位移？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AC1A9-604F-41C3-81CF-77CC6160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7239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9A3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B974D-D19C-4A44-8F90-0DC8C0DB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EB40C-FB53-48B6-8253-9C7FDA8A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57500"/>
            <a:ext cx="8858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E4890-147D-48B5-BB79-ED550B99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575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C4DDD-931E-486C-B20D-FCC4B632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099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一段往返运动的总位移为 0，平均速度是多少？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678BF-355B-40FC-A67A-03A3BAB7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7239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35B8C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1DCF5-3C95-48ED-BA81-9D821175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12DCC-55EE-491C-880B-19B7510B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57650"/>
            <a:ext cx="8858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5FA68E-7551-47D6-87FB-94B0E822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576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511D0-84EB-41C2-9A85-A827E16C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100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C4C"/>
                </a:solidFill>
                <a:latin typeface="Microsoft YaHei"/>
                <a:ea typeface="Microsoft YaHei"/>
                <a:cs typeface="Microsoft YaHei"/>
              </a:rPr>
              <a:t>v-t 图像中，图线在时间轴下方说明什么？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6C6589-3A62-4F68-B34E-4D7A4F24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601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F5"/>
          </a:solidFill>
          <a:ln xmlns:a="http://schemas.openxmlformats.org/drawingml/2006/main" w="9525">
            <a:solidFill>
              <a:srgbClr val="FFD5C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0E3187-1891-47A3-9F5E-4FE52AC9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916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95454"/>
                </a:solidFill>
                <a:latin typeface="Microsoft YaHei"/>
                <a:ea typeface="Microsoft YaHei"/>
                <a:cs typeface="Microsoft YaHei"/>
              </a:rPr>
              <a:t>答案：位移；0；速度为负，物体沿选定正方向的反方向运动</a:t>
            </a:r>
          </a:p>
        </p:txBody>
      </p:sp>
    </p:spTree>
    <p:extLst>
      <p:ext uri="{BB962C8B-B14F-4D97-AF65-F5344CB8AC3E}">
        <p14:creationId xmlns:p14="http://schemas.microsoft.com/office/powerpoint/2010/main" val="18302236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E20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19860-8DFC-469C-80D1-278949F1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本节小结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7B86C-F66E-47C0-AB4F-B812FCFC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8CF"/>
          </a:solidFill>
          <a:ln xmlns:a="http://schemas.openxmlformats.org/drawingml/2006/main" w="0">
            <a:solidFill>
              <a:srgbClr val="35B8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A12A1-14B6-4524-BA7B-D3AB8662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76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3843C-944A-4AB0-A25B-D0C131EC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64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rPr>
              <a:t>v = Δx / Δt，矢量，方向与运动方向相同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4E2A8-D6A2-46CA-8CD9-F0606568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65F22-7361-4E2D-AB2B-4E46BE74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平均速度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F5887-C5AE-4E0B-B986-22F48113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60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rPr>
              <a:t>描述一段过程，方向与该段位移方向相同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2BF43-B579-4A72-B6BF-50AF34C9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CB"/>
          </a:solidFill>
          <a:ln xmlns:a="http://schemas.openxmlformats.org/drawingml/2006/main" w="0">
            <a:solidFill>
              <a:srgbClr val="2C7BC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BDFF1-7873-4391-AA3C-363C095C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95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瞬时速度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4839B-5659-48F0-A978-74CC907C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95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rPr>
              <a:t>描述某时刻或某位置，可由短时平均速度近似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6C065-5E2E-499B-B749-F5B024B9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solidFill>
              <a:srgbClr val="42B8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A256E-2D20-4C07-B426-E9D97945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测量与图像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B908C8-468D-4610-8ADA-388174D9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E5F5"/>
                </a:solidFill>
                <a:latin typeface="Microsoft YaHei"/>
                <a:ea typeface="Microsoft YaHei"/>
                <a:cs typeface="Microsoft YaHei"/>
              </a:rPr>
              <a:t>纸带、光电门、频闪照相；v-t 图像描述速度变化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C6D4A-33D1-41E8-98BF-C7155BC7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704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3D"/>
          </a:solidFill>
          <a:ln xmlns:a="http://schemas.openxmlformats.org/drawingml/2006/main" w="0">
            <a:solidFill>
              <a:srgbClr val="FF9A3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68D08-DCB5-419E-A5D2-3FFC84C4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D05A"/>
                </a:solidFill>
                <a:latin typeface="Microsoft YaHei"/>
                <a:ea typeface="Microsoft YaHei"/>
                <a:cs typeface="Microsoft YaHei"/>
              </a:rPr>
              <a:t>下一节：速度变化快慢的描述——加速度</a:t>
            </a:r>
          </a:p>
        </p:txBody>
      </p:sp>
    </p:spTree>
    <p:extLst>
      <p:ext uri="{BB962C8B-B14F-4D97-AF65-F5344CB8AC3E}">
        <p14:creationId xmlns:p14="http://schemas.microsoft.com/office/powerpoint/2010/main" val="18010584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2026-09-08T03:51:51.0730000Z</dcterms:created>
  <dcterms:modified xsi:type="dcterms:W3CDTF">2026-09-08T03:51:51.0730000Z</dcterms:modified>
</coreProperties>
</file>