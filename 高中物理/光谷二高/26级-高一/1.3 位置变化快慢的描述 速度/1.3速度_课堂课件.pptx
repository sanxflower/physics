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f3847b63a24207" /><Relationship Type="http://schemas.openxmlformats.org/officeDocument/2006/relationships/extended-properties" Target="/docProps/app.xml" Id="R7d16278da0794713" /><Relationship Type="http://schemas.openxmlformats.org/officeDocument/2006/relationships/officeDocument" Target="/ppt/presentation.xml" Id="R30d76e128c724c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c1f31ab7a44f5d"/>
  </p:sldMasterIdLst>
  <p:notesMasterIdLst>
    <p:notesMasterId xmlns:r="http://schemas.openxmlformats.org/officeDocument/2006/relationships" r:id="Re588b7f775704bec"/>
  </p:notesMasterIdLst>
  <p:sldIdLst>
    <p:sldId xmlns:r="http://schemas.openxmlformats.org/officeDocument/2006/relationships" id="256" r:id="R0586e422bf434923"/>
    <p:sldId xmlns:r="http://schemas.openxmlformats.org/officeDocument/2006/relationships" id="257" r:id="R9b4cf41268c14430"/>
    <p:sldId xmlns:r="http://schemas.openxmlformats.org/officeDocument/2006/relationships" id="258" r:id="Rab61efa507aa4705"/>
    <p:sldId xmlns:r="http://schemas.openxmlformats.org/officeDocument/2006/relationships" id="259" r:id="R0b602fba8f3c465a"/>
    <p:sldId xmlns:r="http://schemas.openxmlformats.org/officeDocument/2006/relationships" id="260" r:id="R9c0616f8211c4208"/>
    <p:sldId xmlns:r="http://schemas.openxmlformats.org/officeDocument/2006/relationships" id="261" r:id="Rdd32267050d24638"/>
    <p:sldId xmlns:r="http://schemas.openxmlformats.org/officeDocument/2006/relationships" id="262" r:id="Rad22ad75c89942a0"/>
    <p:sldId xmlns:r="http://schemas.openxmlformats.org/officeDocument/2006/relationships" id="263" r:id="Rc349300b61974cc8"/>
    <p:sldId xmlns:r="http://schemas.openxmlformats.org/officeDocument/2006/relationships" id="264" r:id="R7dd39e87685540a1"/>
    <p:sldId xmlns:r="http://schemas.openxmlformats.org/officeDocument/2006/relationships" id="265" r:id="Rad10ceaa80db4b69"/>
    <p:sldId xmlns:r="http://schemas.openxmlformats.org/officeDocument/2006/relationships" id="266" r:id="Rbea1c50dd4b34d7a"/>
    <p:sldId xmlns:r="http://schemas.openxmlformats.org/officeDocument/2006/relationships" id="267" r:id="R9aa0ca0231aa447f"/>
    <p:sldId xmlns:r="http://schemas.openxmlformats.org/officeDocument/2006/relationships" id="268" r:id="R104373e046794bb2"/>
    <p:sldId xmlns:r="http://schemas.openxmlformats.org/officeDocument/2006/relationships" id="269" r:id="Rfda81b4e54114274"/>
    <p:sldId xmlns:r="http://schemas.openxmlformats.org/officeDocument/2006/relationships" id="270" r:id="R5803b18da637465e"/>
    <p:sldId xmlns:r="http://schemas.openxmlformats.org/officeDocument/2006/relationships" id="271" r:id="R2b0c45d3d5c84819"/>
    <p:sldId xmlns:r="http://schemas.openxmlformats.org/officeDocument/2006/relationships" id="272" r:id="R1077844423874f7e"/>
    <p:sldId xmlns:r="http://schemas.openxmlformats.org/officeDocument/2006/relationships" id="273" r:id="R6df49e47332e4f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36e3b56df749d4" /><Relationship Type="http://schemas.openxmlformats.org/officeDocument/2006/relationships/slideMaster" Target="/ppt/slideMasters/slideMaster1.xml" Id="Recc1f31ab7a44f5d" /><Relationship Type="http://schemas.openxmlformats.org/officeDocument/2006/relationships/notesMaster" Target="/ppt/notesMasters/notesMaster1.xml" Id="Re588b7f775704bec" /><Relationship Type="http://schemas.openxmlformats.org/officeDocument/2006/relationships/presProps" Target="/ppt/presProps.xml" Id="Rcce04fd346684453" /><Relationship Type="http://schemas.openxmlformats.org/officeDocument/2006/relationships/tableStyles" Target="/ppt/tableStyles.xml" Id="R05b7b688bbb040c0" /><Relationship Type="http://schemas.openxmlformats.org/officeDocument/2006/relationships/slide" Target="/ppt/slides/slide1.xml" Id="R0586e422bf434923" /><Relationship Type="http://schemas.openxmlformats.org/officeDocument/2006/relationships/slide" Target="/ppt/slides/slide2.xml" Id="R9b4cf41268c14430" /><Relationship Type="http://schemas.openxmlformats.org/officeDocument/2006/relationships/slide" Target="/ppt/slides/slide3.xml" Id="Rab61efa507aa4705" /><Relationship Type="http://schemas.openxmlformats.org/officeDocument/2006/relationships/slide" Target="/ppt/slides/slide4.xml" Id="R0b602fba8f3c465a" /><Relationship Type="http://schemas.openxmlformats.org/officeDocument/2006/relationships/slide" Target="/ppt/slides/slide5.xml" Id="R9c0616f8211c4208" /><Relationship Type="http://schemas.openxmlformats.org/officeDocument/2006/relationships/slide" Target="/ppt/slides/slide6.xml" Id="Rdd32267050d24638" /><Relationship Type="http://schemas.openxmlformats.org/officeDocument/2006/relationships/slide" Target="/ppt/slides/slide7.xml" Id="Rad22ad75c89942a0" /><Relationship Type="http://schemas.openxmlformats.org/officeDocument/2006/relationships/slide" Target="/ppt/slides/slide8.xml" Id="Rc349300b61974cc8" /><Relationship Type="http://schemas.openxmlformats.org/officeDocument/2006/relationships/slide" Target="/ppt/slides/slide9.xml" Id="R7dd39e87685540a1" /><Relationship Type="http://schemas.openxmlformats.org/officeDocument/2006/relationships/slide" Target="/ppt/slides/slide10.xml" Id="Rad10ceaa80db4b69" /><Relationship Type="http://schemas.openxmlformats.org/officeDocument/2006/relationships/slide" Target="/ppt/slides/slide11.xml" Id="Rbea1c50dd4b34d7a" /><Relationship Type="http://schemas.openxmlformats.org/officeDocument/2006/relationships/slide" Target="/ppt/slides/slide12.xml" Id="R9aa0ca0231aa447f" /><Relationship Type="http://schemas.openxmlformats.org/officeDocument/2006/relationships/slide" Target="/ppt/slides/slide13.xml" Id="R104373e046794bb2" /><Relationship Type="http://schemas.openxmlformats.org/officeDocument/2006/relationships/slide" Target="/ppt/slides/slide14.xml" Id="Rfda81b4e54114274" /><Relationship Type="http://schemas.openxmlformats.org/officeDocument/2006/relationships/slide" Target="/ppt/slides/slide15.xml" Id="R5803b18da637465e" /><Relationship Type="http://schemas.openxmlformats.org/officeDocument/2006/relationships/slide" Target="/ppt/slides/slide16.xml" Id="R2b0c45d3d5c84819" /><Relationship Type="http://schemas.openxmlformats.org/officeDocument/2006/relationships/slide" Target="/ppt/slides/slide17.xml" Id="R1077844423874f7e" /><Relationship Type="http://schemas.openxmlformats.org/officeDocument/2006/relationships/slide" Target="/ppt/slides/slide18.xml" Id="R6df49e47332e4f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a97cdf9b5942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395d5799c64af9" /><Relationship Type="http://schemas.openxmlformats.org/officeDocument/2006/relationships/notesMaster" Target="/ppt/notesMasters/notesMaster1.xml" Id="Recb66629277c44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37fcc5971e4878" /><Relationship Type="http://schemas.openxmlformats.org/officeDocument/2006/relationships/notesMaster" Target="/ppt/notesMasters/notesMaster1.xml" Id="R6fa343acb34f43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61c7855f7241dd" /><Relationship Type="http://schemas.openxmlformats.org/officeDocument/2006/relationships/notesMaster" Target="/ppt/notesMasters/notesMaster1.xml" Id="Rc420c27e749044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c487cda00444a3" /><Relationship Type="http://schemas.openxmlformats.org/officeDocument/2006/relationships/notesMaster" Target="/ppt/notesMasters/notesMaster1.xml" Id="Rd76d8f067c3043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a09d481d324168" /><Relationship Type="http://schemas.openxmlformats.org/officeDocument/2006/relationships/notesMaster" Target="/ppt/notesMasters/notesMaster1.xml" Id="Re81507abe69f4e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f34de21fa44a11" /><Relationship Type="http://schemas.openxmlformats.org/officeDocument/2006/relationships/notesMaster" Target="/ppt/notesMasters/notesMaster1.xml" Id="Rafb2900e3fe94f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b8ed5cdf5145d1" /><Relationship Type="http://schemas.openxmlformats.org/officeDocument/2006/relationships/notesMaster" Target="/ppt/notesMasters/notesMaster1.xml" Id="R62d0286ea51e43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d1358f54834370" /><Relationship Type="http://schemas.openxmlformats.org/officeDocument/2006/relationships/notesMaster" Target="/ppt/notesMasters/notesMaster1.xml" Id="R6323caf3865545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75a34c7f3c4b58" /><Relationship Type="http://schemas.openxmlformats.org/officeDocument/2006/relationships/notesMaster" Target="/ppt/notesMasters/notesMaster1.xml" Id="R0c6efea841b143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f23e3c88f04547" /><Relationship Type="http://schemas.openxmlformats.org/officeDocument/2006/relationships/notesMaster" Target="/ppt/notesMasters/notesMaster1.xml" Id="Rddc27254cb204d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7d41fdda904ede" /><Relationship Type="http://schemas.openxmlformats.org/officeDocument/2006/relationships/notesMaster" Target="/ppt/notesMasters/notesMaster1.xml" Id="R985e551c073047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d8c81c34444b2a" /><Relationship Type="http://schemas.openxmlformats.org/officeDocument/2006/relationships/notesMaster" Target="/ppt/notesMasters/notesMaster1.xml" Id="R64369b7046d045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d80df0ac624891" /><Relationship Type="http://schemas.openxmlformats.org/officeDocument/2006/relationships/notesMaster" Target="/ppt/notesMasters/notesMaster1.xml" Id="Rf41c2a4ba10f41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89a4b009754bfb" /><Relationship Type="http://schemas.openxmlformats.org/officeDocument/2006/relationships/notesMaster" Target="/ppt/notesMasters/notesMaster1.xml" Id="Re67ed7b62c0749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87b132cb92470f" /><Relationship Type="http://schemas.openxmlformats.org/officeDocument/2006/relationships/notesMaster" Target="/ppt/notesMasters/notesMaster1.xml" Id="Rc9f419f99ad548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005dd74dd344ae" /><Relationship Type="http://schemas.openxmlformats.org/officeDocument/2006/relationships/notesMaster" Target="/ppt/notesMasters/notesMaster1.xml" Id="Rfc8dd611ccdb46b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8b9cfb45584230" /><Relationship Type="http://schemas.openxmlformats.org/officeDocument/2006/relationships/notesMaster" Target="/ppt/notesMasters/notesMaster1.xml" Id="R862ab98be88840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e187321594497d" /><Relationship Type="http://schemas.openxmlformats.org/officeDocument/2006/relationships/notesMaster" Target="/ppt/notesMasters/notesMaster1.xml" Id="Rc48f9046e31749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开场：同一段路，谁先到达？本节用速度定量描述位置变化的快慢。</a:t>
            </a:r>
          </a:p>
          <a:p xmlns:a="http://schemas.openxmlformats.org/drawingml/2006/main">
            <a:r>
              <a:t>教学目标：建立速度、平均速度与瞬时速度的概念，并能读懂简单 v-t 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先展示本节的学习地图。学生能预判本节需要掌握的四组概念。建议让学生在学习单上标记最陌生的一项。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提问：甲、乙通过的位移相同，谁的位置变化更快？学生通常能直接回答甲。追问：若位移、时间都不同，怎样比较？引出比值定义。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强调速度方向就是物体的运动方向。说明 v=Δx/Δt 是定义式，不表示 v 与 Δx 成正比、与 Δt 成反比。资料对应原课件“速度 回归教材”“对定义式的理解”。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让学生独立完成例题，再请一位学生说明“为什么不能只比较位移”。易错点：把位置坐标代替位移，或遗漏速度方向。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请学生判断两辆同样“5 m/s”的小车是否速度相同。答案：若方向相反，速度不相同。原课件中的变式题强调了正负号表示方向。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让学生先独立判断，再同桌说明理由。A 是本节第一处关键辨析。C 是速度定义式的普遍适用性，区别于匀速直线运动中的 v 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原课件将“平均速度”列为独立考点。此页同时引入平均速率，帮助学生在往返问题中区分位移和路程。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强调往返结束时初、末位置相同，因此总位移为零，平均速度为零；总路程为 200 m，因此平均速率为 8 m/s。让学生确认两者分母都是总时间。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追问：汽车仪表盘显示的速度，描述哪一个概念？引出瞬时速度。说明实际测量以很短时间内的平均速度近似瞬时速度。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原课件的实验部分强调：测某两点间平均速度，测量两点间位移和对应时间即可。进一步说明，取目标点附近的短时间区间可以近似该点瞬时速度。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操作演示：严格强调先通电再拉纸带。可提问：从第 1 个点数到第 8 个点，共有几个时间间隔？答案为 7 个，时间 0.14 s。原课件给出电磁打点计时器和电火花计时器的基本使用。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原课件拓展了光电门和频闪照相法。光电门中遮光时间很短，遮光条在这段时间内的平均速度近似滑块经过光电门的瞬时速度。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原课件的“速度—时间图像”部分：图像反映速度随时间的变化。时间轴上方表示沿正方向运动，下方表示沿负方向运动。平行于时间轴表示匀速运动。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先让学生读出 I、II、III 三段的速度方向和变化。提醒：速度变小不等于沿负方向运动，方向要看速度的正负。关于斜率与加速度仅作铺垫，不作本节重点。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可先遮住参考答案，留 2 分钟独立完成。第 1 题检测学生是否能把带符号的位置坐标正确代入位移公式。第 2 题检测正负号的物理意义。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请学生在便签或学习单上作答，作为本节出口条。根据第 1、3 题判断学生对“方向”的理解是否牢固。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用四句话收束全课。布置预习：观察 v-t 图像上图线倾斜程度的不同，下节课研究速度变化快慢的物理量。</a:t>
            </a:r>
          </a:p>
          <a:p xmlns:a="http://schemas.openxmlformats.org/drawingml/2006/main">
            <a:r>
              <a:t>资料参考：用户提供的速度原课件及 1.2 课堂课件的版式风格。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c6e138f794e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b863c5d4fc4096" /><Relationship Type="http://schemas.openxmlformats.org/officeDocument/2006/relationships/slideLayout" Target="/ppt/slideLayouts/slideLayout1.xml" Id="R081eb163adfe42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1eb163adfe42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0ea31d5d840ac" /><Relationship Type="http://schemas.openxmlformats.org/officeDocument/2006/relationships/notesSlide" Target="/ppt/notesSlides/notesSlide1.xml" Id="Rb71991073f2a4f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ce7436db94870" /><Relationship Type="http://schemas.openxmlformats.org/officeDocument/2006/relationships/notesSlide" Target="/ppt/notesSlides/notesSlide2.xml" Id="Re63c48ed114c4c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36703ba0746fb" /><Relationship Type="http://schemas.openxmlformats.org/officeDocument/2006/relationships/notesSlide" Target="/ppt/notesSlides/notesSlide3.xml" Id="Rf337e996c7894a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97a6abf7d4822" /><Relationship Type="http://schemas.openxmlformats.org/officeDocument/2006/relationships/notesSlide" Target="/ppt/notesSlides/notesSlide4.xml" Id="R000e52423f2640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6fef888854709" /><Relationship Type="http://schemas.openxmlformats.org/officeDocument/2006/relationships/notesSlide" Target="/ppt/notesSlides/notesSlide5.xml" Id="Rd216fc513b7a41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2ae8ca8e6420d" /><Relationship Type="http://schemas.openxmlformats.org/officeDocument/2006/relationships/notesSlide" Target="/ppt/notesSlides/notesSlide6.xml" Id="Recbe2931b94f4e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0795f19c640d8" /><Relationship Type="http://schemas.openxmlformats.org/officeDocument/2006/relationships/notesSlide" Target="/ppt/notesSlides/notesSlide7.xml" Id="R09524f1f793b43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09cb1d8e44965" /><Relationship Type="http://schemas.openxmlformats.org/officeDocument/2006/relationships/notesSlide" Target="/ppt/notesSlides/notesSlide8.xml" Id="R9f00a4ddd6364d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e9886979d4cd3" /><Relationship Type="http://schemas.openxmlformats.org/officeDocument/2006/relationships/notesSlide" Target="/ppt/notesSlides/notesSlide9.xml" Id="R663f12fbf1754d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0995b4c284dd2" /><Relationship Type="http://schemas.openxmlformats.org/officeDocument/2006/relationships/notesSlide" Target="/ppt/notesSlides/notesSlide10.xml" Id="R42eedf677d7d49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4bcf8ad7d4c80" /><Relationship Type="http://schemas.openxmlformats.org/officeDocument/2006/relationships/notesSlide" Target="/ppt/notesSlides/notesSlide11.xml" Id="Rbd25e76096874b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18c6e8b3a463f" /><Relationship Type="http://schemas.openxmlformats.org/officeDocument/2006/relationships/notesSlide" Target="/ppt/notesSlides/notesSlide12.xml" Id="R3c0f39a1f61b4a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5a589e97b41cc" /><Relationship Type="http://schemas.openxmlformats.org/officeDocument/2006/relationships/notesSlide" Target="/ppt/notesSlides/notesSlide13.xml" Id="R6861d534b0f24b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2d58104b74407" /><Relationship Type="http://schemas.openxmlformats.org/officeDocument/2006/relationships/notesSlide" Target="/ppt/notesSlides/notesSlide14.xml" Id="R6f7a0519ea2e4c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211c0b900403f" /><Relationship Type="http://schemas.openxmlformats.org/officeDocument/2006/relationships/notesSlide" Target="/ppt/notesSlides/notesSlide15.xml" Id="R1acadc2e28e443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18e516fbd4087" /><Relationship Type="http://schemas.openxmlformats.org/officeDocument/2006/relationships/notesSlide" Target="/ppt/notesSlides/notesSlide16.xml" Id="Rdcb008428813428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df78e86ae4b18" /><Relationship Type="http://schemas.openxmlformats.org/officeDocument/2006/relationships/notesSlide" Target="/ppt/notesSlides/notesSlide17.xml" Id="Rc74c79b8c79246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cbe1540094558" /><Relationship Type="http://schemas.openxmlformats.org/officeDocument/2006/relationships/notesSlide" Target="/ppt/notesSlides/notesSlide18.xml" Id="Rde8e9c9e1e484b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0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68DE4-239F-4BCA-98F1-40DE407D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44F80-8D2B-44C3-BEE5-545C4B7D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5B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5B8CF"/>
                </a:solidFill>
                <a:latin typeface="Microsoft YaHei"/>
                <a:ea typeface="Microsoft YaHei"/>
                <a:cs typeface="Microsoft YaHei"/>
              </a:rPr>
              <a:t>高中物理 · 必修第一册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66829-36D7-4572-990E-DF02D20C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1.3 位置变化快慢的描述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F11E1-F8B5-4A8B-A088-222BA495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 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B3DB9-E105-4FE3-8D90-968B6791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把“快慢”说清楚，也把“方向”说清楚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33EA3-B98C-4DF1-B5D5-DAFCA1BB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21BA2-D569-4312-9840-06CFE26A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速度 · 平均速度 · 瞬时速度 · 测量 · v-t 图像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00B05-5B69-49FF-A1EA-5EA508CC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91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B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B5478-42A1-4A57-B85B-61E80597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B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D10B8-6D03-4043-94CF-5F3394AA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95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73864-7962-4F6D-9334-694A8175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911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74D4E-B6E1-41F3-9105-4F2C9DFF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295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F4787-8B68-4A03-B625-3378C784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5911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0FE9D-6801-4142-8670-F2BCA2BB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95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85344-6340-43F6-B988-227F9BBC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5911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24006-84CB-42FC-9E97-370BB741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67300"/>
            <a:ext cx="2000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07C51-32E4-401C-961F-730D4948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86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位置变化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F93DB-3245-4123-A3C1-2D5215C3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A8E55-F626-44A5-9E09-4430193C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</p:spTree>
    <p:extLst>
      <p:ext uri="{BB962C8B-B14F-4D97-AF65-F5344CB8AC3E}">
        <p14:creationId xmlns:p14="http://schemas.microsoft.com/office/powerpoint/2010/main" val="10910929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F40865-BAE0-4B4D-BA3D-71E0E2A6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F3F42-5A23-43DF-B6FF-004A456D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B62DC-A14F-4ABC-BB6E-9A9A986E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01 · 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8FFD0-5A9A-48BA-A1BC-CFCC6695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30384-7BFE-4326-9C8D-712B2848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1A111-F8C1-4C79-8BE0-409FFEDF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45262-0D89-477C-9C69-A599A589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807C9-D1D5-4308-B68D-7E394C43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这一节课，我们要解决什么？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D3BCF-AC79-4895-BBF9-074CD31B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5029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E7802-9A1D-4D75-AEDB-303FC0D2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C5DA4-E0C9-49F1-B703-C18FA42B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3F80A-7D10-48C6-A242-4E2F72B7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用位移与时间的比值描述快慢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4C055-34F8-44AA-836A-5176D3A7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5029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390B4-24B8-45F1-B950-C937A7B3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CCAE7-AC1C-4374-9154-3680D02E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4C6FC-D6C2-4838-BEE9-FAC9BE24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对应一段过程，方向与位移相同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D6397-B000-499A-AE49-F83E505B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71650"/>
            <a:ext cx="5029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812E8-9CD3-410D-A2E9-40685329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716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CB"/>
          </a:solidFill>
          <a:ln xmlns:a="http://schemas.openxmlformats.org/drawingml/2006/main" w="0">
            <a:solidFill>
              <a:srgbClr val="2C7BC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369ADE-9064-491A-9D5C-57BC5FD1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瞬时速度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B8B1A-1129-4EAC-B2BB-CEB03315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对应某时刻或某位置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AECBE-2612-4543-92CF-4DB516E0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5029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2A002-685F-4EAB-9E62-6DEDE4FE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F21E28-B64D-4173-B064-7AB01E4A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速度测量与图像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34CE7-89C0-4BAE-9745-00AEF8CB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67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纸带、光电门、频闪照相和 v-t 图像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26BAAB-DB2A-4C9F-BC38-FF297FAD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7BFB6-035F-4948-9AD7-07F49F86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核心线索：一段过程用平均速度，一个瞬间用瞬时速度</a:t>
            </a:r>
          </a:p>
        </p:txBody>
      </p:sp>
    </p:spTree>
    <p:extLst>
      <p:ext uri="{BB962C8B-B14F-4D97-AF65-F5344CB8AC3E}">
        <p14:creationId xmlns:p14="http://schemas.microsoft.com/office/powerpoint/2010/main" val="20825127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32049C-FE2A-4BAD-AA7B-82F1166F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57B1B-6EF8-4508-AE0E-883C2B91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F16E6-B05E-4644-BC0F-405161E4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02 · 情境导入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0E651-B743-4E4C-8108-2EFB7B12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8F9FC-614A-4AC6-9481-4906834E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D110C-490A-478D-BB07-A266D0D8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370A2-4543-48D1-A1EA-AA702C44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39876-B442-4001-9DA4-F5450FB1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同样跑 100 m，怎样比较谁更快？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45684-34F4-4353-B773-6923B846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953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D9A85-0DC3-4202-8648-8329FBD5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5950C-CC4B-4603-956B-57D69AA5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4953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6E3D1-B751-4F6F-8A4C-1B64486F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858C5-83BD-416A-BFE0-77E11CD0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甲同学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405CE-71D4-4FF8-9630-50E30CA0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24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乙同学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874DE-CE97-402A-96D3-47E2FBFA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9A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92CA6-D997-473D-8A00-7AFB3061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B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53B0D-00A7-4B9C-8E19-34EE5A70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5337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8AA73-379C-43B7-B809-3D9E4E85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337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6C2A9-0270-49AE-A1DB-3277852D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5337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400F8-20BB-4F35-96CA-364B1525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5337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FAE14-43EC-462D-9E7D-664FC289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100 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53672-26BE-41CC-91C5-A03BB661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100 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A5A2BC-29EA-435C-8293-16B713CA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用时 16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1D629B-5474-4230-8B22-51282A58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386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用时 20 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17EB3D-EF86-46BC-9FC8-6AA6205E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A5A68-A1C6-4466-BE7E-FC0D8C4D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相同位移下，用时更短，位置变化更快。如何把这种比较变成一个物理量？</a:t>
            </a:r>
          </a:p>
        </p:txBody>
      </p:sp>
    </p:spTree>
    <p:extLst>
      <p:ext uri="{BB962C8B-B14F-4D97-AF65-F5344CB8AC3E}">
        <p14:creationId xmlns:p14="http://schemas.microsoft.com/office/powerpoint/2010/main" val="20226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92473-44D5-4891-8F65-1A279552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DD9FA-7316-4384-A4FC-F87707DA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AC560-262A-4097-AB42-7D2DCA71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03 · 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766CD-547D-4434-9F4C-6F5E46DC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9D820-AD3B-4BA9-895D-85D0596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5FE0D-78E9-406D-BC25-AE5702D6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F311A-1406-49DE-A89D-D4AD962C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30422-E93B-42C0-B755-8B392CED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速度：位移与发生这段位移所用时间的比值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C6D19-A04A-45F9-90BF-7F3F9859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857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23860-04E9-41F1-A05A-C7E40823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F5281-9285-4E2F-BDF0-B48A8FE4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96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5011F-8232-40CF-A468-46638701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98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v = Δx / Δt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77C1E-ABAA-4A61-95EF-BDE40D9B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76625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国际单位：m/s 或 m·s⁻¹</a:t>
            </a:r>
          </a:p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常用单位：km/h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4334C-EB01-4B98-A25F-4E4D3BF2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0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速度既有大小，又有方向，是矢量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83D65-C1C5-40E5-912E-6FD2DC11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DC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4E148-5CFD-4419-B716-176F2111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71875"/>
            <a:ext cx="16954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268AE-85D9-4603-822B-15CB0A57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F3B36-2188-4CC6-9038-68FCAAFF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385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4C271-D29E-429F-9710-D601C3AD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6FAF5-7C35-4A7B-A9D1-470BC94B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943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3D40F-D123-450D-BFF0-20ECAFC4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物体从 A 到 B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速度方向：向右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46E124-7CA0-4234-B663-B6EB9224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37ADE-8A49-4A12-BC23-90F617C2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写公式时先说清：Δx 是位移，不是路程；Δt 是与这段位移相对应的时间</a:t>
            </a:r>
          </a:p>
        </p:txBody>
      </p:sp>
    </p:spTree>
    <p:extLst>
      <p:ext uri="{BB962C8B-B14F-4D97-AF65-F5344CB8AC3E}">
        <p14:creationId xmlns:p14="http://schemas.microsoft.com/office/powerpoint/2010/main" val="277928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E57BE-8BDB-4CEC-BFC0-61DC63A9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FCA7C-6295-47EB-9B69-E84FC677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3C85E-62C8-47E3-9085-829EDC37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04 · 定义式的理解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8BBBE-2FBA-446F-A455-9996FAE2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6A1BA-FF18-40BE-9829-ABA95EC4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10C98-3586-44C5-B95F-921EC831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86270-7550-46CA-97E0-8DEF47EA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4DC78-878D-4D4F-806D-0363E663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同一段过程：位移和时间必须对应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6C97C-EF03-4F3C-A75C-0136A84F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6858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B575E-4BEC-4D79-AB5B-BC3403E0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90DA5-11B9-4162-ABEA-C225F732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例：质点从 x₁ = 2 m 运动到 x₂ = 14 m，用时 3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D6D5C-797F-48E2-99C0-530514E5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62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Δx = x₂ − x₁ = 12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33172-500C-4A8D-85CE-845BFD3E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7662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v = Δx / Δt = 12 / 3 = 4 m/s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70286-664F-4D64-AD44-D676E3A3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方向沿 x 轴正方向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7A07A-B1A1-44BD-B51D-95407CB7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295650" cy="33337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15CDF-4F38-4BB3-8B59-B57CC357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AC710-E456-483A-9527-711CAA7F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比值定义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45EB6-600C-4BAD-9FAA-C87C89AD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Δx 更大</a:t>
            </a:r>
          </a:p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不一定 v 更大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D006D-B857-4DB9-9287-6451837F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比较速度时</a:t>
            </a:r>
          </a:p>
          <a:p xmlns:a="http://schemas.openxmlformats.org/drawingml/2006/main">
            <a:pPr>
              <a:defRPr sz="15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必须同时看 Δx 与 Δt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4BF53-2392-4F01-AD36-1AE77177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89C8F-AF24-484F-9A6C-8C4AD972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计算顺序：先定过程，再写位移和时间，最后代入公式并写明方向</a:t>
            </a:r>
          </a:p>
        </p:txBody>
      </p:sp>
    </p:spTree>
    <p:extLst>
      <p:ext uri="{BB962C8B-B14F-4D97-AF65-F5344CB8AC3E}">
        <p14:creationId xmlns:p14="http://schemas.microsoft.com/office/powerpoint/2010/main" val="1859284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A241E2-936B-4FF5-9C32-C10168BA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C51B1-1052-40B1-A1D0-E47346D0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C23AB-884F-43A2-A1D8-E589F3EF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05 · 速度的方向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C5D6D-3E42-461B-83FD-A3488851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B5B2C-E83A-4822-A43F-CEBD3B21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AE25F-318E-4CB8-B43C-E7D7FBE1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432C5-8F44-42C0-9686-2335FB37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CAE5A-43C8-4A1D-AB38-A53D339E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一维运动中，速度的正负号表示方向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8E69C-7B54-4404-8D32-3D18E2B0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143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48D1E-3E8C-4CB2-BCE9-C8352588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CB"/>
          </a:solidFill>
          <a:ln xmlns:a="http://schemas.openxmlformats.org/drawingml/2006/main" w="0">
            <a:solidFill>
              <a:srgbClr val="2C7BC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95A16-2FBD-4956-8CA3-9FA45C1E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143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3C550-0484-4D52-A2EF-3E90E1D5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A1AD3-7326-483F-BB54-B3483E99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取向右为正方向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89D20-1241-4B68-BCED-42E0C81E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取向右为正方向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BCFB1-68AA-433A-979A-FF432604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DC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4AA8C-F924-4ADF-90F1-C6078C16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71825"/>
            <a:ext cx="1524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3A3B4-A2B5-4E7E-BC09-AB61A436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814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609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v = + 5 m/s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382C4-D66D-4959-AC98-4F15D9EA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481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沿正方向运动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2BC79F-47D3-4744-8343-BDAF8013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337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DC8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F4499-9183-4579-B5F3-E13E441B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71825"/>
            <a:ext cx="1524000" cy="3238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9DDFF-A788-42F2-B2AB-31C8ACE2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609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v = − 5 m/s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4B5B82-87C9-4C47-BE69-51D2877E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481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沿负方向运动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0F42F-9D85-44AA-8C76-79D00309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27F8A0-00BA-43DD-B181-0D97BC43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“−5 m/s”不是速度大小为负，速度大小为 5 m/s，负号只表示方向</a:t>
            </a:r>
          </a:p>
        </p:txBody>
      </p:sp>
    </p:spTree>
    <p:extLst>
      <p:ext uri="{BB962C8B-B14F-4D97-AF65-F5344CB8AC3E}">
        <p14:creationId xmlns:p14="http://schemas.microsoft.com/office/powerpoint/2010/main" val="801997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0AD8B3-FB3E-4D63-A92B-2F6C1DFF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FB8D9-A391-40F1-9505-B6CEE3B2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B1184-9BC8-4A2A-A73A-79742B0B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06 · 课堂辨析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052B1-E87D-45FB-852A-20E24825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027F3-54A3-49FF-B7B2-E605494E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E7668-4111-4DD5-A3B3-A2901D2C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BF45A-53DD-4915-800B-29CD6EED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B2491-78CC-4F90-B5F8-13DCEEC7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判断：关于速度，哪些说法正确？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37B1B-6278-4F5B-8FA7-08B0EABD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1244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BD0A6-2E34-47A6-9239-2D042080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454"/>
          </a:solidFill>
          <a:ln xmlns:a="http://schemas.openxmlformats.org/drawingml/2006/main" w="0">
            <a:solidFill>
              <a:srgbClr val="E9545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1D70F-BAA5-4FC3-B607-E3D9B102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82676-FB61-4AA2-8901-54C07136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速度的大小等于路程与时间的比值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564D4-F088-4824-B8AC-5D667783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1244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78142-7BFF-421E-A791-F605E03C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5DDAE-4C3F-4389-8198-3CDE049D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19A40-E5B6-4AEC-B880-562678F9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8120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速度是描述物体运动快慢和方向的物理量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EC28E-6224-4A29-A677-1407E555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51244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8C620-C061-4A54-AC8C-08F5377F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1D204-C5A7-49A8-A78E-F8690601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A1A04-770F-4EFD-A6BB-EC4B9ACC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v = Δx / Δt 适用于任何运动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657B0-ED86-4F9B-B652-204432BA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51244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662DE-4FD9-4B14-AAF8-BC6E14F4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BC51F-84CC-4FDC-ADB2-96A47C99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08CB47-73D6-4498-9524-E341D2B6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9095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位移为 0 时，平均速度一定为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496592-01CD-4AE4-BFA8-BE398916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DBF3BD-94DF-4EC0-BECC-D8880478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答案：B、C、D。A 中应为“位移”，不是“路程”</a:t>
            </a:r>
          </a:p>
        </p:txBody>
      </p:sp>
    </p:spTree>
    <p:extLst>
      <p:ext uri="{BB962C8B-B14F-4D97-AF65-F5344CB8AC3E}">
        <p14:creationId xmlns:p14="http://schemas.microsoft.com/office/powerpoint/2010/main" val="10840138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B0A8A-5829-49F9-B159-3AF66441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0DA23-00B4-4A00-889D-7D5B6C68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741EB-3585-479E-BCE8-F26E7AB7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07 · 平均速度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A42C8-BCA0-49A8-BF88-B71CDC8E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EC22D-FAE6-4BFA-B880-7F515FC5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61D8D-DA04-4472-BA49-2638A6D5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CF3E5-D269-4CB0-AE63-C6726AAB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4E94A-FDBA-488C-87A6-66196180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平均速度描述一段过程的平均快慢和方向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FF815-090A-437D-828E-93CAAB46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953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32B85-2DF9-41B8-B853-8F28651D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762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7B980-1571-4E4A-9119-3F513F0A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E15A9-3F10-4BBC-9D32-408E8B62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622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v̄ = Δx / Δt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F9877-8FE7-4635-8E11-BFC048B8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对应一段位移和一段时间</a:t>
            </a:r>
          </a:p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方向与该段位移方向相同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12AEE-6D63-497F-9602-EC10C270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497205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8E347-33EF-45E6-969B-DE185D44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762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F34D1-71E0-416B-A295-95289FB8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464EC-0449-45EA-BC8B-854014E4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62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平均速率 = 路程 / 时间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F2A04-7982-4E1B-BE59-DAF90155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38550"/>
            <a:ext cx="337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只描述平均快慢</a:t>
            </a:r>
          </a:p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没有方向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AAE76-9816-48C9-8C7C-7FEA7485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8FE09-19EA-49EA-8288-5B83D62D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平均速度不是“各时刻速度的平均值”，而是“位移与时间的比值”</a:t>
            </a:r>
          </a:p>
        </p:txBody>
      </p:sp>
    </p:spTree>
    <p:extLst>
      <p:ext uri="{BB962C8B-B14F-4D97-AF65-F5344CB8AC3E}">
        <p14:creationId xmlns:p14="http://schemas.microsoft.com/office/powerpoint/2010/main" val="3913333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9022E-C810-4C87-9557-C50D1A8E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900AE-BD5B-4337-8BE2-007F30DE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3A9F3-84B2-4D46-AB91-F675410E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08 · 平均速度与平均速率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0471E-F16E-4CBE-B7D6-A292F9B9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5A84E-FEE9-4E33-88A4-4E40FAE0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9BD04-7B31-4ECD-982D-107C2FC8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E44F3-2EF4-48A2-AB61-40312C22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F28C5-99ED-4399-8FF2-92F4B3F3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往返一次：平均速度和平均速率为什么不同？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B22BB-E967-4525-BF0B-F19177EC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DC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ECB59-B74A-44EB-B6DF-E3726479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38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DE957-F664-43D1-8F1C-DA6C2952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38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610F7-B774-4BFB-94C5-CEC5A488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038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B3020-855E-4760-AAAD-FF789DCC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29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86F29-815F-442C-8661-FA38A3B1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429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318E7-3FAB-429B-A480-58867126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429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2DADD-3C31-47F1-B0AE-8E21FF90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24765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2211E-2E63-43BB-8F0A-11A79FD6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90900"/>
            <a:ext cx="247650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C7BCB"/>
          </a:solidFill>
          <a:ln xmlns:a="http://schemas.openxmlformats.org/drawingml/2006/main" w="0">
            <a:solidFill>
              <a:srgbClr val="2C7BC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091829-1072-4506-8F4D-87FE16D9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33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去程：100 m，用时 10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C1A789-B8FA-48DA-83C7-177E771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05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rPr>
              <a:t>返程：100 m，用时 15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5A0E9-03A0-41B6-B1CB-958E57B0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4476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E011C-2907-4CC5-98D3-4A7774C8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C5D54-7E06-48EA-80A9-98FCB176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14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 = 0 / 25 = 0 m/s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6E7F6-088F-43DA-8F51-8C39550E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476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5337DC-979C-4D91-B0B4-29EB95DF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17F81-0CA9-49D2-97DD-0BDE07CD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平均速率 = 200 / 25 = 8 m/s</a:t>
            </a:r>
          </a:p>
        </p:txBody>
      </p:sp>
    </p:spTree>
    <p:extLst>
      <p:ext uri="{BB962C8B-B14F-4D97-AF65-F5344CB8AC3E}">
        <p14:creationId xmlns:p14="http://schemas.microsoft.com/office/powerpoint/2010/main" val="10503705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2119FA-C3BE-4113-AD26-002F0B8B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E28D4-41C8-48A3-BC69-DEE48DA9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389E4-1ABA-4F92-8CF0-F811EDE5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09 · 瞬时速度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59573-EC48-4680-A908-9A2D0DAA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1B0AC-E752-4840-943D-DBCFFEE6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FABEB-7DDE-43A8-A423-05A2A8A5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BA625-DB2D-4582-8F8F-349B9A3E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CEA66-7F84-4A8A-9204-DB9B61CE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瞬时速度描述某一时刻或某一位置的运动快慢和方向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7EC9E-918F-4A9A-AF13-264B5339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572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7F236-DD34-4DF6-A975-3EC649F9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05C29-280B-4598-ADAE-59D6AF3F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02A52-2212-46F0-B06C-54C73A5C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对应一段过程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6C5E8-4A90-4E59-AB6D-B3EA1106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例如：前 5 s 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8EA7D-8199-4C20-813C-9EB6BC84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4572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C6D48-47B5-4DA7-AD45-54FC8ABB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ADFA4-AD81-4D42-A523-C225CD0F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瞬时速度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8001F-0B50-4CB0-9E27-819377B0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对应一个时刻或位置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2497B-6198-448A-B8DC-DB1743F3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71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例如：第 5 s 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A1E17-D1AE-4078-9E23-BE5A9ECE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C8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AA071-9906-479C-83BF-2F37E4A6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8610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AF9EC-6F99-4C33-9BF2-887C64B7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2A1D0-6B08-4402-AB9D-F1E9CD12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测量瞬时速度的思路：把取样时间缩短到足够小</a:t>
            </a:r>
          </a:p>
        </p:txBody>
      </p:sp>
    </p:spTree>
    <p:extLst>
      <p:ext uri="{BB962C8B-B14F-4D97-AF65-F5344CB8AC3E}">
        <p14:creationId xmlns:p14="http://schemas.microsoft.com/office/powerpoint/2010/main" val="17380043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ABE58C-FD2B-4B22-B99E-F9BD699A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91FAE-4231-4944-8179-7E8413AB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B4A3E-7035-477F-9CB6-1E428CBF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10 · 纸带测量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37706-6F94-4645-90AB-16128108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9906D-012C-4F36-BA04-B92759A9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A474C-8740-4885-85DC-7D68C06F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F05B7-8214-4FEB-9A9A-B593AA31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26932-9A04-4569-9EB2-A89F368F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纸带：用一小段时间内的平均速度近似瞬时速度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AC4A1-0B80-465A-8024-C53F7F00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445DA-5CDB-4980-9769-B1A15B57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E0662-9C84-4DD7-A780-FC4E6E8E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3535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5E8B5"/>
          </a:solidFill>
          <a:ln xmlns:a="http://schemas.openxmlformats.org/drawingml/2006/main" w="9525">
            <a:solidFill>
              <a:srgbClr val="A7C78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73E42-E76B-4C05-B59C-1DF970AC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9135C-63B8-491E-9E78-67F03F17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4DD11-CE2B-4E95-A911-27627CDD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5D898-0ED3-452E-881C-D7473D9C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9AE26-D8BA-48DE-AA98-509884CB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6C06F-32C9-4525-9D42-E63C5938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AD109-6359-4793-B54C-7433CC65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8352B-0963-4B57-BDC9-C3923E03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02303-C62E-417F-B3E2-9713587D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C12C5-A7A7-467C-83DD-08499738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CA238A-74BB-4C75-AA2B-48E973E7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2BECC8-DE68-4546-8CD9-429BA46C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53C5DA-89CD-4A1D-94FE-D6CB87FF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135C5C-D9BC-453E-B3CF-F26A9534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6774B-0086-4644-8C74-EC66DD13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43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C4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4C30E6-BF6F-4B9E-9C07-6A6F6697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C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F913C1-C952-483A-927B-498A1BFE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95450"/>
            <a:ext cx="2238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A0660C-6506-45D8-9704-83E34032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3906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Δx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C3E2EF-70C0-4D78-BEC2-870679D6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50863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9853B2-1ECD-44E8-9071-DB9EE5A2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5EFDA9-FB0A-45B4-BFB6-A37364A7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2F3FD9-91B2-40EA-9BE7-68CFB6EC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v̄ = Δx / Δt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91DDF3-BD75-4FB1-AF83-A498F9EB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50863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BA4FC0-D103-4547-A3FA-6A8BBE9F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2F528A-4F31-4933-8C65-516F995D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00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瞬时速度近似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8B6066-F40E-4063-B8B0-8E71C0A1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取靠近目标点的更短纸带区间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DEBAA3-739C-41AE-BB62-18642C59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082747-F03D-46D6-B962-5955195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纸带上相邻点间距越大，说明相等时间内位移越大，物体运动越快</a:t>
            </a:r>
          </a:p>
        </p:txBody>
      </p:sp>
    </p:spTree>
    <p:extLst>
      <p:ext uri="{BB962C8B-B14F-4D97-AF65-F5344CB8AC3E}">
        <p14:creationId xmlns:p14="http://schemas.microsoft.com/office/powerpoint/2010/main" val="8852443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D507B-B1C4-4C2D-B28E-1968811B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9B547-B170-4F23-80AA-68A86EFD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21080-002A-404F-B2D8-E2F2B59B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11 · 实验操作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7BB98-DD46-4C10-AB67-C46AD15F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9F1B6-9741-4FF6-BDA6-3B63CA71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4450D-510D-44BE-A974-BCD2D254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9B6F6-47C2-4244-A2DB-CB6CC3C5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578E8-B016-468D-A408-49741F2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打点计时器：先通电，再拉动纸带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C06AF-E26F-4CEC-BFD0-85A2E184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CF229-41F9-4E69-A12A-C7B07B65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B94B7-6581-4E9F-B278-BA57AA3A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固定计时器，正确穿入纸带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04E45-66DA-40D2-A33F-55ED535B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5D293-83B9-4AA2-9AE7-4D8EF017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28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3C1F0-C8D6-43F4-A925-323DDAC5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28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5A1F4-9552-49F7-9470-CF1D32A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0480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接通交流电源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D3582-8392-42D2-8C8B-066EC8BA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8125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A0DE1-8506-488F-A72E-2F920934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28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C58F8-9CF6-4038-B845-9578EBE7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28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2FC74-A8A8-462A-AF8A-CD40E029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480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水平拉动纸带，留下清晰点迹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53008-A972-4DCB-98D9-CE6F86C3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869E0-0741-4A47-AC07-B98764A2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28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AEA01-6EC5-461B-A752-FF444D21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28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FC5519-B128-41C0-A4EF-E41B14BE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480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关闭电源，测量位移和时间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A6016-F917-475F-8536-4E6ECA14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92583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907303-B6A4-4977-8550-39167631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4AE3C4-D5B6-441D-9DAE-EAC2C408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482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若打点频率 f = 50 Hz，则相邻两点时间间隔 T = 1/f = 0.02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06B8E4-0F32-47A7-BC9B-FCF348A0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E75DC6-A265-465D-ADF3-CEF07F34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数点时：n 个点对应 n − 1 个时间间隔</a:t>
            </a:r>
          </a:p>
        </p:txBody>
      </p:sp>
    </p:spTree>
    <p:extLst>
      <p:ext uri="{BB962C8B-B14F-4D97-AF65-F5344CB8AC3E}">
        <p14:creationId xmlns:p14="http://schemas.microsoft.com/office/powerpoint/2010/main" val="2833703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7ED8CD-0C6B-47F7-B686-F18FF63D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B470F-8E26-429E-92DB-20D07EC2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40B83-BEB4-4780-928D-1B3780A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12 · 测量方法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222E4-7527-4E4A-B653-B07E2849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DCB7B-1769-4842-8AFA-272AA99C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9AF24-4CF4-4C72-B6D2-329630A3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F9789-356F-4186-AC2F-8D7DE297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717F1-3C6C-483C-ABBA-B270912D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还有哪些方法可以测速度？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1128F-7F85-41AF-89EE-5B04CC0A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1FCBB-3963-4923-AD35-7F9D4546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CACC2-B0D9-4B70-8E1A-4B2B398E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光电门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06E5A-4595-42C2-9C3D-20F84A4E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457200" cy="104775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1B3CB-F8B8-4D27-AB9D-4AF14931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457200" cy="104775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7350E-2524-437D-B7FC-1B75A0A2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62300"/>
            <a:ext cx="60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70E05-AFC8-4F89-812A-B3B35C68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v ≈ d / Δt</a:t>
            </a:r>
          </a:p>
          <a:p xmlns:a="http://schemas.openxmlformats.org/drawingml/2006/main">
            <a:pPr>
              <a:def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d 为遮光条宽度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7633E-A472-4E61-9FCA-E597A723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A8D1A-EC09-4DA5-8F5B-598A0721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7C6BF-44C5-4E31-B3AE-1E2AC9A4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频闪照相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CDC16-BA93-45AA-96FA-6121F672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90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D21E3-2F13-42BA-981A-90AE5A5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C1B40-9899-49B2-BC9C-84A5A368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23337-BD94-4D4C-8DD4-37A4B549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73982-96C2-460B-93FF-1D9B4F4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F46FDC-D712-4A80-8F5B-8471BA19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A96C38-6173-4D2F-9DC5-51C0713B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529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相等时间拍下多个位置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CEA99-4E58-47D8-A7ED-7D2BF5D5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74FFEB-0135-47B8-AF9A-707C2D54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90E228-FAAB-484D-B1F0-FF4C65B4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共同思路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0955DA-4EC6-4856-8898-AF75DD8E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测量位移</a:t>
            </a:r>
          </a:p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记录对应时间</a:t>
            </a:r>
          </a:p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用 v = Δx / Δt 计算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646479-A956-4B0C-B358-0AA3CDAB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97586E-D893-4C3B-8257-11F3A481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无论用哪种仪器，核心都是“位移”与“时间”一一对应</a:t>
            </a:r>
          </a:p>
        </p:txBody>
      </p:sp>
    </p:spTree>
    <p:extLst>
      <p:ext uri="{BB962C8B-B14F-4D97-AF65-F5344CB8AC3E}">
        <p14:creationId xmlns:p14="http://schemas.microsoft.com/office/powerpoint/2010/main" val="3463478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2C2ACA-1556-4430-AA8D-73226622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A3508-D7AB-4572-93C7-B76D99AE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167A1-454C-403D-B7DD-751F0D1C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13 · 速度—时间图像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34848-C48A-497D-8720-F292ECBA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D7193-0286-48E6-86A7-28EF3985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3FB1B-2C25-4A20-84A8-84B5B6B8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A0C4E-EF4E-4C9E-9735-8063900F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8E9DB-5256-422A-8E1F-BB861D21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v-t 图像：速度随时间变化的规律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E39D7-66EB-44CC-99EE-048834FD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C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99292-5529-4A17-90B1-115EDDD7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C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C0F97-3983-4C3F-8FC2-BD357CF1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76775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B38A4-96F5-4C3E-A6A0-4D78D431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752600"/>
            <a:ext cx="133350" cy="171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A6FC6-F087-48E9-AB18-238BA60A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29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44A1B-0BD8-496B-BE15-59C5755A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85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1A7F1-9CE6-4D02-9307-D2286D4A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3714750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B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11C81-6DAA-483E-86FC-328C53C9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9A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E0BFB-2F0E-4BCE-B85C-8EB7BBB1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371475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B8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E32788-D7E7-4AD1-B495-04349F36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rPr>
              <a:t>速度为正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AD5C7-0AD6-4B91-A8AA-EA4616CD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匀速运动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8C5D6A-985C-42C3-96F4-441B9F8C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91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速度为负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4C834-3B92-4BAB-A262-08C28C0E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47850"/>
            <a:ext cx="3524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41665-D9D7-4187-829F-D1C8456E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478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286EC-3376-4E86-92D2-3C532FF6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读图先看两件事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61E7BF-1ECA-49C3-AF62-BCA49B33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1. 点的纵坐标：某时刻的瞬时速度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2. 图线是否在时间轴上方：速度方向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887247-D8BF-4531-BCD1-9A21A6BF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E11244-894A-47C8-A237-5DF454B5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v-t 图像不是运动轨迹，而是速度随时间变化的图像</a:t>
            </a:r>
          </a:p>
        </p:txBody>
      </p:sp>
    </p:spTree>
    <p:extLst>
      <p:ext uri="{BB962C8B-B14F-4D97-AF65-F5344CB8AC3E}">
        <p14:creationId xmlns:p14="http://schemas.microsoft.com/office/powerpoint/2010/main" val="13257458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9405EC-70EA-4329-9FCF-1990B0A5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25BBE-8E5E-442F-91C2-4C2BF1E7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4DABC-BEA9-4658-BF5D-CC852A0E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14 · 图像应用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07C86-D6DF-4C2A-8057-D6577E20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DBFA2-C632-453E-A162-2B388A6D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E3104-E683-4304-B8E0-612FEA4B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A4764-2279-4FDA-A193-E0996DC3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CA455-EE58-481E-A24B-98D086BD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从一张 v-t 图像读出哪些信息？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7B8E2-2B90-4D0F-8084-A1B9D623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C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01989-9416-490B-BA45-ACDA8C04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C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DE78E-6ED6-4936-9C54-CF9159B2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95825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655A6-C35F-41B6-A71F-09167695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771650"/>
            <a:ext cx="133350" cy="171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E06CE-E7FE-4F37-AC04-366ABC34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48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2C76B-418F-443F-830E-B414473D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04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D1F19-39EA-465B-983F-661609CF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9A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DD6B3-D654-430A-AD21-392AA68A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142875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B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E4FE1-C57D-4387-A453-9BF6DF77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57500"/>
            <a:ext cx="114300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B8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BAF0A-78FD-4362-A416-B8B0743E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107BB-81C4-4C00-8BBF-45B0A1F8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rPr>
              <a:t>II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31B0F-3BEC-4723-8AD4-FC477969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67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III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DC3B8-541E-447C-AD03-6D8DC36F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762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47215-9E10-4E3B-BF6F-5953B9A8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243E1-6CEC-4DE5-86FE-DEEF7084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05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I 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AB1EC-E395-45A8-828C-EFE2D095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速度不变，做匀速直线运动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71D08-A638-40C3-BE8D-69E9C9E9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4762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596413-EDD9-4C61-B6C3-85DD2F10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6756D8-C1E0-4B3D-8EF7-0A2C4E04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5B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5B8CF"/>
                </a:solidFill>
                <a:latin typeface="Microsoft YaHei"/>
                <a:ea typeface="Microsoft YaHei"/>
                <a:cs typeface="Microsoft YaHei"/>
              </a:rPr>
              <a:t>II 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64A12F-A8F0-4B9B-A5D4-4ADD0D83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速度增大，沿正方向加速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0CB65F-9431-4EF3-BFAF-39C61C68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762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8CD51B-38E6-425E-ABFF-325ACA03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25C252-93A3-4EFB-BC84-C5345B14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38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III 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4F5CB4-D052-4300-BC76-0284E652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速度减小，仍沿正方向运动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239932-44AC-43CA-87B2-A6B71843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D315AF-A454-400D-A07C-3137CF44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图线斜率越大，速度变化越快。斜率的物理意义将在下一节学习</a:t>
            </a:r>
          </a:p>
        </p:txBody>
      </p:sp>
    </p:spTree>
    <p:extLst>
      <p:ext uri="{BB962C8B-B14F-4D97-AF65-F5344CB8AC3E}">
        <p14:creationId xmlns:p14="http://schemas.microsoft.com/office/powerpoint/2010/main" val="990906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D017EB-8942-4735-86CE-521F2AAB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93C5D-07EF-440B-A5F8-4561A0A6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C963B-0728-45E4-AC38-F9CA2E05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15 · 当堂练习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E3F04-2854-48DA-AC70-074EEC02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47170-32F4-421B-9012-5DBECF97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0680B-8812-4FF6-B421-90D7D395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9BF36-6CCA-49C8-AE72-7417923F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23C29-FEA8-4C94-AF90-5AC3AA63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练一练：将“快慢”和“方向”同时说准确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28EFD-AF64-4DEC-807F-AF487A39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668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2AAD6-CE88-43D1-9C64-2B6B8AAB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42D98-096B-4A61-90F5-F18E80EC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1. 物体从 x₁ = −4 m 运动到 x₂ = +8 m，用时 3 s。求平均速度。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FA184-D18E-4D4D-AFC8-9A5F7A26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提示：先求 Δx，再除以 Δt，最后说明方向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0F1F3-3707-45EE-9851-5F3CCB2F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668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67F24-7498-4940-9D7B-048F4748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A97EB-94AC-4398-BA7F-348DC37C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2. 物体以 5 m/s 向东运动，若取向东为正方向，速度应写成什么？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C1B47-714D-48D0-9055-4B0582C2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提示：速度的正负号表示方向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6187F-6D37-42C5-99C2-C2F8DBAB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66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9825E-C73A-4501-B4DA-2A84FA7A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B130C-C567-40C9-96F5-545AF5F5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720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参考答案：1. v̄ = 4 m/s，沿 x 轴正方向；2. v = +5 m/s</a:t>
            </a:r>
          </a:p>
        </p:txBody>
      </p:sp>
    </p:spTree>
    <p:extLst>
      <p:ext uri="{BB962C8B-B14F-4D97-AF65-F5344CB8AC3E}">
        <p14:creationId xmlns:p14="http://schemas.microsoft.com/office/powerpoint/2010/main" val="11067214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39F3FC-E543-4291-8A03-4D1C78D9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F6A79-37CE-4FD5-9F61-2F742850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CB08B-2BA6-4B7A-9C92-D4964A5F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16 · 课堂检测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DCF6E-718F-411F-9849-F898BDD3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A497B-EA0C-4A08-A2AC-4CDEB1A3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1CB69-163D-4988-99F4-C744960E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51502-1D90-4064-BCC4-A701D898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BCF5B-6733-422C-998B-49000200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离开教室前，请完成这三题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5616F-D28F-4817-BC7A-6F48CC44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7239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65B75-48E7-4D1E-B096-7745AA46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C4019-4E92-44BF-916D-A79F5A9C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57350"/>
            <a:ext cx="8858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CC4C8-0A16-481B-B946-42717637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573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F7E8E-052D-44E6-918D-13C51638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097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v = Δx / Δt 中的 Δx 是路程还是位移？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57CC7-A46E-4E0D-B06E-78B7487B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7239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C9680-1482-47C3-9738-079C1883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F4A25-7704-4F0B-B6ED-A829A816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57500"/>
            <a:ext cx="8858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FCF63-1A67-462F-AD9E-4DB9CD18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57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97FF2B-6C34-4718-81BD-47FA77D2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099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一段往返运动的总位移为 0，平均速度是多少？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02129-883F-49A5-ABDF-39BA5A4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7239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0B476-4250-4602-8918-F69725A1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888AE-7C1E-4626-BF93-99BE73CE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57650"/>
            <a:ext cx="8858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E7AF1-FAEE-4194-9BA1-DA71F142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576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6EB5D3-E3A2-438D-B745-1FEA99DF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100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v-t 图像中，图线在时间轴下方说明什么？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D00AD3-E8D6-4EAF-AB2E-273C7FA6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DC1E22-D1E6-4645-A04B-2244018E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答案：位移；0；速度为负，物体沿选定正方向的反方向运动</a:t>
            </a:r>
          </a:p>
        </p:txBody>
      </p:sp>
    </p:spTree>
    <p:extLst>
      <p:ext uri="{BB962C8B-B14F-4D97-AF65-F5344CB8AC3E}">
        <p14:creationId xmlns:p14="http://schemas.microsoft.com/office/powerpoint/2010/main" val="16500134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20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2456C-3BFB-43FE-B57D-7E810C19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本节小结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BF32B-0EA9-4135-A998-03D357BF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48F29-D985-4364-BAEA-B6C6E7B9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76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F9CEC-7DED-4AC7-BFDC-A138DCA9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v = Δx / Δt，矢量，方向与运动方向相同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F42AC-9FAF-4AF5-BD8F-01950194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090F2-6E6E-4FF8-A76B-9D1319CF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29F51-CB81-4938-9075-92B18E7C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描述一段过程，方向与该段位移方向相同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8F0BF-C08C-4D8B-8E82-EC11BC76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CB"/>
          </a:solidFill>
          <a:ln xmlns:a="http://schemas.openxmlformats.org/drawingml/2006/main" w="0">
            <a:solidFill>
              <a:srgbClr val="2C7BC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31AA9-D02A-41A6-90CC-299C0E10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瞬时速度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9C647-61FF-40EB-8992-78FB47B4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95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描述某时刻或某位置，可由短时平均速度近似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7EF70-953F-445E-B5A5-7ABFE075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A0F4D-554F-455A-AC77-CBC67077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测量与图像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D63EA-C9A3-4B00-B7A7-349D8AE6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纸带、光电门、频闪照相；v-t 图像描述速度变化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5D084-760E-4213-AE81-CC0BA80F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704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34A77-48DD-430B-A9B0-AA25C413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下一节：速度变化快慢的描述——加速度</a:t>
            </a:r>
          </a:p>
        </p:txBody>
      </p:sp>
    </p:spTree>
    <p:extLst>
      <p:ext uri="{BB962C8B-B14F-4D97-AF65-F5344CB8AC3E}">
        <p14:creationId xmlns:p14="http://schemas.microsoft.com/office/powerpoint/2010/main" val="754738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2026-09-08T03:47:15.7000000Z</dcterms:created>
  <dcterms:modified xsi:type="dcterms:W3CDTF">2026-09-08T03:47:15.7000000Z</dcterms:modified>
</coreProperties>
</file>