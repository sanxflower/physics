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90" r:id="rId2"/>
    <p:sldId id="291" r:id="rId3"/>
    <p:sldId id="257" r:id="rId4"/>
    <p:sldId id="258" r:id="rId5"/>
    <p:sldId id="259" r:id="rId6"/>
    <p:sldId id="266" r:id="rId7"/>
    <p:sldId id="260" r:id="rId8"/>
    <p:sldId id="261" r:id="rId9"/>
    <p:sldId id="292" r:id="rId10"/>
    <p:sldId id="262" r:id="rId11"/>
    <p:sldId id="263" r:id="rId12"/>
    <p:sldId id="267" r:id="rId13"/>
    <p:sldId id="269" r:id="rId14"/>
    <p:sldId id="272" r:id="rId15"/>
    <p:sldId id="273" r:id="rId16"/>
    <p:sldId id="274" r:id="rId17"/>
    <p:sldId id="275" r:id="rId18"/>
    <p:sldId id="276" r:id="rId19"/>
    <p:sldId id="293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0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19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4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b06fd9fa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第7讲 匀变速直线运动的位移与时间的关系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10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F94AAD5-E872-1591-1B05-B6B02B5E0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45" y="165222"/>
            <a:ext cx="11578309" cy="25156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6DD19BA-C36F-8873-FF2A-7ADB005C2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765" y="3429000"/>
            <a:ext cx="6361198" cy="236179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814EDE4-2BC5-6C0A-419E-5645B1D574F2}"/>
              </a:ext>
            </a:extLst>
          </p:cNvPr>
          <p:cNvSpPr txBox="1"/>
          <p:nvPr/>
        </p:nvSpPr>
        <p:spPr>
          <a:xfrm>
            <a:off x="846894" y="2761052"/>
            <a:ext cx="670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）求汽车开始刹车之后的</a:t>
            </a:r>
            <a:r>
              <a:rPr lang="en-US" altLang="zh-CN" sz="2400" dirty="0"/>
              <a:t>2s</a:t>
            </a:r>
            <a:r>
              <a:rPr lang="zh-CN" altLang="en-US" sz="2400" dirty="0"/>
              <a:t>及</a:t>
            </a:r>
            <a:r>
              <a:rPr lang="en-US" altLang="zh-CN" sz="2400" dirty="0"/>
              <a:t>4s</a:t>
            </a:r>
            <a:r>
              <a:rPr lang="zh-CN" altLang="en-US" sz="2400" dirty="0"/>
              <a:t>的速度。</a:t>
            </a:r>
          </a:p>
        </p:txBody>
      </p:sp>
    </p:spTree>
    <p:extLst>
      <p:ext uri="{BB962C8B-B14F-4D97-AF65-F5344CB8AC3E}">
        <p14:creationId xmlns:p14="http://schemas.microsoft.com/office/powerpoint/2010/main" val="1322913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B48741-BC5D-66B6-C044-CF291E798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54" y="272781"/>
            <a:ext cx="11449434" cy="411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0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b06fd9fae.fixed?vcp=1&amp;pid=efd683a8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b06fd9fae.fixed?vcp=1&amp;pid=efd683a8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第7讲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匀变速直线运动的位移与时间的关系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b06fd9fae?lid=6e863552c&amp;cid=6e863552c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b06fd9fae?lid=27f7b9436&amp;cid=27f7b9436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6e863552c?vcp=1&amp;pid=b06fd9fae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4_BD#7574393b5?colgroup=16,4,1,13&amp;vcp=1&amp;pid=6e863552c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482769"/>
              </p:ext>
            </p:extLst>
          </p:nvPr>
        </p:nvGraphicFramePr>
        <p:xfrm>
          <a:off x="393192" y="1181100"/>
          <a:ext cx="11347704" cy="3479928"/>
        </p:xfrm>
        <a:graphic>
          <a:graphicData uri="http://schemas.openxmlformats.org/drawingml/2006/table">
            <a:tbl>
              <a:tblPr/>
              <a:tblGrid>
                <a:gridCol w="507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5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27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</a:t>
                      </a:r>
                    </a:p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识</a:t>
                      </a:r>
                    </a:p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</a:t>
                      </a:r>
                    </a:p>
                    <a:p>
                      <a:pPr marL="0" lvl="0" indent="0"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 hangingPunct="0">
                        <a:lnSpc>
                          <a:spcPct val="150000"/>
                        </a:lnSpc>
                      </a:pPr>
                      <a:endParaRPr lang="en-US" altLang="zh-CN" sz="900" spc="0" dirty="0"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匀变速直线运动的位移公式及应用.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15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.匀变速直线运动的速度与位移的关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系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15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.匀变速直线运动在实际情境中的应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用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.（★★★）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00"/>
                        </a:lnSpc>
                      </a:pP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00"/>
                        </a:lnSpc>
                      </a:pP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_4_BD#7574393b5.table_image?tii=1&amp;vcp=1&amp;pid=6e863552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30668" y="1281843"/>
            <a:ext cx="4005072" cy="230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5ac47fa83?vcp=1&amp;pid=ea19a0985&amp;color=0,0,0&amp;vtp=1&amp;bt=1&amp;bbb=1"/>
          <p:cNvSpPr/>
          <p:nvPr/>
        </p:nvSpPr>
        <p:spPr>
          <a:xfrm>
            <a:off x="393192" y="585501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匀变速直线运动位移的推导</a:t>
            </a:r>
            <a:endParaRPr lang="en-US" altLang="zh-CN" sz="2400" dirty="0"/>
          </a:p>
        </p:txBody>
      </p:sp>
      <p:pic>
        <p:nvPicPr>
          <p:cNvPr id="3" name="P_5_BD#5ac47fa83?vcp=1&amp;pid=ea19a0985&amp;color=0,0,0&amp;tib=255,255,255&amp;vtp=1" descr="preencoded.pn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6383" b="25342"/>
          <a:stretch>
            <a:fillRect/>
          </a:stretch>
        </p:blipFill>
        <p:spPr>
          <a:xfrm>
            <a:off x="266017" y="4166963"/>
            <a:ext cx="4896726" cy="226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5_BD#5ac47fa83?vcp=1&amp;pid=ea19a0985&amp;color=0,0,0&amp;tib=255,255,255&amp;vtp=1" descr="preencoded.png">
            <a:extLst>
              <a:ext uri="{FF2B5EF4-FFF2-40B4-BE49-F238E27FC236}">
                <a16:creationId xmlns:a16="http://schemas.microsoft.com/office/drawing/2014/main" id="{5A0FE423-BD7F-A3A4-6ACB-9F85045DDB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4385"/>
          <a:stretch>
            <a:fillRect/>
          </a:stretch>
        </p:blipFill>
        <p:spPr>
          <a:xfrm>
            <a:off x="6094475" y="4039303"/>
            <a:ext cx="4276907" cy="277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5_BD#5ac47fa83?vcp=1&amp;pid=ea19a0985&amp;color=0,0,0&amp;tib=255,255,255&amp;vtp=1" descr="preencoded.png">
            <a:extLst>
              <a:ext uri="{FF2B5EF4-FFF2-40B4-BE49-F238E27FC236}">
                <a16:creationId xmlns:a16="http://schemas.microsoft.com/office/drawing/2014/main" id="{D2B3A502-B1C7-4905-1028-4398D5E12E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6808" b="43655"/>
          <a:stretch>
            <a:fillRect/>
          </a:stretch>
        </p:blipFill>
        <p:spPr>
          <a:xfrm>
            <a:off x="5912448" y="1603146"/>
            <a:ext cx="5073562" cy="250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P_5_BD#5ac47fa83?vcp=1&amp;pid=ea19a0985&amp;color=0,0,0&amp;tib=255,255,255&amp;vtp=1" descr="preencoded.png">
            <a:extLst>
              <a:ext uri="{FF2B5EF4-FFF2-40B4-BE49-F238E27FC236}">
                <a16:creationId xmlns:a16="http://schemas.microsoft.com/office/drawing/2014/main" id="{EF3C05FC-3368-CF59-4557-3506FA10CB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79213"/>
          <a:stretch>
            <a:fillRect/>
          </a:stretch>
        </p:blipFill>
        <p:spPr>
          <a:xfrm>
            <a:off x="608714" y="1672793"/>
            <a:ext cx="4404400" cy="231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27f7b9436?vcp=1&amp;pid=b06fd9fae&amp;color=0,112,192&amp;mp=1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ea19a0985?vcp=1&amp;pid=27f7b9436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ea19a0985?vcp=1&amp;pid=27f7b9436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ea19a0985?vcp=1&amp;pid=27f7b9436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匀变速直线运动的位移（微元法、极限思想）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_5#fe5340e63?vcp=1&amp;pid=ea19a0985&amp;color=0,0,0&amp;vtp=1&amp;bbb=1&amp;hb=1"/>
              <p:cNvSpPr/>
              <p:nvPr/>
            </p:nvSpPr>
            <p:spPr>
              <a:xfrm>
                <a:off x="393192" y="1778000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.做匀速直线运动的物体，在时间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，其数值大小正好是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</a:t>
                </a:r>
                <a:r>
                  <a:rPr lang="en-US" altLang="zh-CN" sz="1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&gt;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下面的矩形面积大小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，如图甲所示.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P_5#fe5340e63?vcp=1&amp;pid=ea19a098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1551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_5_BD#fe5340e63?iti=1&amp;htil=1&amp;vcp=1&amp;pid=ea19a0985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07008" y="3492500"/>
            <a:ext cx="2176272" cy="15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P_5_BD#fe5340e63?iti=2&amp;htil=1&amp;vcp=1&amp;pid=ea19a0985&amp;color=0,0,0&amp;tib=255,255,255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85232" y="3510788"/>
            <a:ext cx="1618488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P_5_BD#fe5340e63?iti=3&amp;htil=1&amp;vcp=1&amp;pid=ea19a0985&amp;color=0,0,0&amp;tib=255,255,255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60536" y="3501644"/>
            <a:ext cx="2075688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10" name="P_5_BD#fe5340e63?iti=1&amp;htil=1&amp;vcp=1&amp;pid=ea19a0985&amp;color=0,0,0&amp;vtp=1"/>
          <p:cNvSpPr/>
          <p:nvPr/>
        </p:nvSpPr>
        <p:spPr>
          <a:xfrm>
            <a:off x="2108613" y="5128260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甲</a:t>
            </a:r>
            <a:endParaRPr lang="en-US" altLang="zh-CN" sz="2400" dirty="0"/>
          </a:p>
        </p:txBody>
      </p:sp>
      <p:sp>
        <p:nvSpPr>
          <p:cNvPr id="11" name="P_5_BD#fe5340e63?iti=2&amp;htil=1&amp;vcp=1&amp;pid=ea19a0985&amp;color=0,0,0&amp;vtp=1"/>
          <p:cNvSpPr/>
          <p:nvPr/>
        </p:nvSpPr>
        <p:spPr>
          <a:xfrm>
            <a:off x="5907945" y="5128260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乙</a:t>
            </a:r>
            <a:endParaRPr lang="en-US" altLang="zh-CN" sz="2400" dirty="0"/>
          </a:p>
        </p:txBody>
      </p:sp>
      <p:sp>
        <p:nvSpPr>
          <p:cNvPr id="12" name="P_5_BD#fe5340e63?iti=3&amp;htil=1&amp;vcp=1&amp;pid=ea19a0985&amp;color=0,0,0&amp;vtp=1"/>
          <p:cNvSpPr/>
          <p:nvPr/>
        </p:nvSpPr>
        <p:spPr>
          <a:xfrm>
            <a:off x="9711849" y="5128260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丙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fe5340e63?vcp=1&amp;pid=ea19a0985&amp;color=0,0,0&amp;mp=1&amp;vtp=1&amp;bt=1&amp;bbb=1&amp;hb=1"/>
              <p:cNvSpPr/>
              <p:nvPr/>
            </p:nvSpPr>
            <p:spPr>
              <a:xfrm>
                <a:off x="393192" y="180603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2.做匀变速直线运动的物体，在时间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内的位移的数值等于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图线下方的梯形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𝑂𝐴𝑃𝑄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的面积，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如图乙所示.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3.对匀变速直线运动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图像的理解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如果一个物体的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图像如图丙所示，图线与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轴围成两个三角形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，面积分别为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时间内的总位移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移为正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，位移为负.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fe5340e63?vcp=1&amp;pid=ea19a0985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0603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FF4ECB-49C8-C91B-A569-360A765FE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75" y="96335"/>
            <a:ext cx="11541487" cy="44158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F0D93B5-660D-B7B5-524E-9734B5D12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737" y="4512143"/>
            <a:ext cx="46196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62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_1#be8ebe6cb?htil=2&amp;vcp=1&amp;pid=ea19a0985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61114" y="1324831"/>
            <a:ext cx="2295144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C_5_BD.1_2#be8ebe6cb?htil=2&amp;vcp=1&amp;pid=ea19a0985&amp;color=0,0,0&amp;vtp=1&amp;bt=1&amp;bbb=1&amp;hb=1&amp;hs=1"/>
              <p:cNvSpPr/>
              <p:nvPr/>
            </p:nvSpPr>
            <p:spPr>
              <a:xfrm>
                <a:off x="393192" y="1279112"/>
                <a:ext cx="897940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（体育竞技）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（2026·湖北黄冈中学教学检测）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男子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3米跳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板跳水比赛中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，从运动员离开跳板开始计时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，跳水过程中可视为质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点的运动员的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图像如图所示，运动员的轨迹视为直线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，取竖直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向下为正方向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C_5_BD.1_2#be8ebe6cb?htil=2&amp;vcp=1&amp;pid=ea19a098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9112"/>
                <a:ext cx="8979408" cy="2150999"/>
              </a:xfrm>
              <a:prstGeom prst="rect">
                <a:avLst/>
              </a:prstGeom>
              <a:blipFill>
                <a:blip r:embed="rId4"/>
                <a:stretch>
                  <a:fillRect l="-2105" r="-1765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2_1#be8ebe6cb.bracket?vcp=1&amp;pid=ea19a0985&amp;color=0,0,0&amp;vpa=1&amp;vtp=1"/>
          <p:cNvSpPr/>
          <p:nvPr/>
        </p:nvSpPr>
        <p:spPr>
          <a:xfrm>
            <a:off x="4969160" y="294408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1_3#be8ebe6cb.choices?htil=2&amp;vcp=1&amp;pid=ea19a0985&amp;color=0,0,0&amp;vtp=1&amp;bbb=1&amp;hs=1"/>
              <p:cNvSpPr/>
              <p:nvPr/>
            </p:nvSpPr>
            <p:spPr>
              <a:xfrm>
                <a:off x="393192" y="3411061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A.运动员在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内加速度逐渐增大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时开始上浮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1_3#be8ebe6cb.choices?htil=2&amp;vcp=1&amp;pid=ea19a0985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061"/>
                <a:ext cx="11402568" cy="2158302"/>
              </a:xfrm>
              <a:prstGeom prst="rect">
                <a:avLst/>
              </a:prstGeom>
              <a:blipFill>
                <a:blip r:embed="rId5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AS.3_1#be8ebe6cb?htil=3&amp;vcp=1&amp;pid=ea19a0985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68213" y="1218565"/>
            <a:ext cx="2295144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C_5_AS.3_2#be8ebe6cb?htil=3&amp;vcp=1&amp;pid=ea19a0985&amp;color=0,0,0&amp;vtp=1&amp;bt=1&amp;bbb=1&amp;hb=1&amp;hs=1"/>
              <p:cNvSpPr/>
              <p:nvPr/>
            </p:nvSpPr>
            <p:spPr>
              <a:xfrm>
                <a:off x="393192" y="1172845"/>
                <a:ext cx="897940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图像的斜率代表加速度,根据图像可知，在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，图像的斜率在减小，加速度减小，故A错误；在题干中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，设向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下为正方向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，由图像得,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内运动员向上运动，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C_5_AS.3_2#be8ebe6cb?htil=3&amp;vcp=1&amp;pid=ea19a098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2845"/>
                <a:ext cx="8979408" cy="1596200"/>
              </a:xfrm>
              <a:prstGeom prst="rect">
                <a:avLst/>
              </a:prstGeom>
              <a:blipFill>
                <a:blip r:embed="rId4"/>
                <a:stretch>
                  <a:fillRect l="-2105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5_AS.3_2#be8ebe6cb?htil=3&amp;vcp=1&amp;pid=ea19a0985&amp;color=0,0,0&amp;vtp=1&amp;bt=1&amp;bbb=1&amp;hb=1&amp;hs=1">
                <a:extLst>
                  <a:ext uri="{FF2B5EF4-FFF2-40B4-BE49-F238E27FC236}">
                    <a16:creationId xmlns:a16="http://schemas.microsoft.com/office/drawing/2014/main" id="{9DDF0C24-7E77-B9D1-103E-E11A2025EA92}"/>
                  </a:ext>
                </a:extLst>
              </p:cNvPr>
              <p:cNvSpPr/>
              <p:nvPr/>
            </p:nvSpPr>
            <p:spPr>
              <a:xfrm>
                <a:off x="393192" y="2766441"/>
                <a:ext cx="11400008" cy="2794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末入水，故B错误；在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，图线与时间轴围成图形的面积代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表位移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的曲线与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轴围成的面积代表其位移，如图所示将曲线部分的两个端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点用直线连接起来，三角形的面积表示的位移为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，实际曲线所围成图形的面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积小于三角形的面积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，所以运动员在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内的位移小于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；运动员在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内做匀变速直线运动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5_AS.3_2#be8ebe6cb?htil=3&amp;vcp=1&amp;pid=ea19a0985&amp;color=0,0,0&amp;vtp=1&amp;bt=1&amp;bbb=1&amp;hb=1&amp;hs=1">
                <a:extLst>
                  <a:ext uri="{FF2B5EF4-FFF2-40B4-BE49-F238E27FC236}">
                    <a16:creationId xmlns:a16="http://schemas.microsoft.com/office/drawing/2014/main" id="{9DDF0C24-7E77-B9D1-103E-E11A2025E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66441"/>
                <a:ext cx="11400008" cy="2794000"/>
              </a:xfrm>
              <a:prstGeom prst="rect">
                <a:avLst/>
              </a:prstGeom>
              <a:blipFill>
                <a:blip r:embed="rId5"/>
                <a:stretch>
                  <a:fillRect l="-1658" r="-1604" b="-371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5ac47fa83?htil=4&amp;vcp=1&amp;pid=ea19a0985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04109" y="1009872"/>
            <a:ext cx="1856232" cy="176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_5_BD#5ac47fa83?htil=4&amp;vcp=1&amp;pid=ea19a0985&amp;color=0,0,0&amp;vtp=1&amp;bt=1&amp;bbb=1&amp;hb=1&amp;hs=1"/>
              <p:cNvSpPr/>
              <p:nvPr/>
            </p:nvSpPr>
            <p:spPr>
              <a:xfrm>
                <a:off x="393192" y="964152"/>
                <a:ext cx="940917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关于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“面积”的两点说明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.在任何形式的直线运动的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,图线与时间轴所围的面积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都代表物体的位移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P_5_BD#5ac47fa83?htil=4&amp;vcp=1&amp;pid=ea19a098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4152"/>
                <a:ext cx="9409176" cy="2155000"/>
              </a:xfrm>
              <a:prstGeom prst="rect">
                <a:avLst/>
              </a:prstGeom>
              <a:blipFill>
                <a:blip r:embed="rId4"/>
                <a:stretch>
                  <a:fillRect l="-2009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5_BD#5ac47fa83?vcp=1&amp;pid=ea19a0985&amp;color=0,0,0&amp;vtp=1&amp;bbb=1&amp;hs=1"/>
              <p:cNvSpPr/>
              <p:nvPr/>
            </p:nvSpPr>
            <p:spPr>
              <a:xfrm>
                <a:off x="393192" y="3162459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spc="-5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2.物体的位移等于所有正、负面积的代数和，</a:t>
                </a:r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而路程则等于所有面积的绝对值之和.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延伸拓展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图像呈曲线时，表明物体做非匀变速运动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，可通过虚构直线引入匀变速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直线运动进行面积的对比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，从而获取位移的大小关系.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.通过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图像所围面积的总和（不再分上正下负,全部为正），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获取路程数据.</a:t>
                </a:r>
                <a:endParaRPr lang="en-US" altLang="zh-CN" sz="2400" spc="-50" dirty="0"/>
              </a:p>
            </p:txBody>
          </p:sp>
        </mc:Choice>
        <mc:Fallback xmlns="">
          <p:sp>
            <p:nvSpPr>
              <p:cNvPr id="4" name="P_5_BD#5ac47fa83?vcp=1&amp;pid=ea19a0985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62459"/>
                <a:ext cx="11402568" cy="2709799"/>
              </a:xfrm>
              <a:prstGeom prst="rect">
                <a:avLst/>
              </a:prstGeom>
              <a:blipFill>
                <a:blip r:embed="rId5"/>
                <a:stretch>
                  <a:fillRect l="-1658" r="-1016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e98ea8257?vcp=1&amp;pid=27f7b9436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e98ea8257?vcp=1&amp;pid=27f7b9436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e98ea8257?vcp=1&amp;pid=27f7b9436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匀变速直线运动位移公式的应用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#4686d70e9?vcp=1&amp;pid=e98ea8257&amp;color=0,0,0&amp;vtp=1&amp;bbb=1&amp;hb=1"/>
              <p:cNvSpPr/>
              <p:nvPr/>
            </p:nvSpPr>
            <p:spPr>
              <a:xfrm>
                <a:off x="393192" y="1092200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.匀变速直线运动的位移公式为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，式中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表示初速度，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</a:t>
                </a:r>
                <a:r>
                  <a:rPr lang="en-US" altLang="zh-CN" sz="1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&gt;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表示加速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表示时间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.初速度为0的匀加速直线运动的位移公式为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.在匀变速直线运动位移公式中,矢量符号规定一般取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方向为正方向.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#4686d70e9?vcp=1&amp;pid=e98ea8257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2709799"/>
              </a:xfrm>
              <a:prstGeom prst="rect">
                <a:avLst/>
              </a:prstGeom>
              <a:blipFill>
                <a:blip r:embed="rId4"/>
                <a:stretch>
                  <a:fillRect l="-1658" r="-267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P_5_BD#4686d70e9?colgroup=12,23&amp;vcp=1&amp;pid=e98ea8257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018923"/>
                  </p:ext>
                </p:extLst>
              </p:nvPr>
            </p:nvGraphicFramePr>
            <p:xfrm>
              <a:off x="393192" y="3933063"/>
              <a:ext cx="11365992" cy="1995424"/>
            </p:xfrm>
            <a:graphic>
              <a:graphicData uri="http://schemas.openxmlformats.org/drawingml/2006/table">
                <a:tbl>
                  <a:tblPr/>
                  <a:tblGrid>
                    <a:gridCol w="3959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066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若物体做匀加速直线运动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同向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取正值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若物体做匀减速直线运动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反向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取负值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若位移的计算结果为正值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说明这段时间内位移的方向与规定的正方向相同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若位移的计算结果为负值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说明这段时间内位移的方向与规定的正方向相反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P_5_BD#4686d70e9?colgroup=12,23&amp;vcp=1&amp;pid=e98ea8257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018923"/>
                  </p:ext>
                </p:extLst>
              </p:nvPr>
            </p:nvGraphicFramePr>
            <p:xfrm>
              <a:off x="393192" y="3933063"/>
              <a:ext cx="11365992" cy="1995424"/>
            </p:xfrm>
            <a:graphic>
              <a:graphicData uri="http://schemas.openxmlformats.org/drawingml/2006/table">
                <a:tbl>
                  <a:tblPr/>
                  <a:tblGrid>
                    <a:gridCol w="3959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066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若物体做匀加速直线运动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580" t="-1220" r="-165" b="-3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若物体做匀减速直线运动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580" t="-101220" r="-165" b="-2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若位移的计算结果为正值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说明这段时间内位移的方向与规定的正方向相同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若位移的计算结果为负值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说明这段时间内位移的方向与规定的正方向相反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0_1#be2785752?htil=6&amp;vcp=1&amp;pid=e98ea8257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42496" y="1320958"/>
            <a:ext cx="2414016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C_5_BD.10_2#be2785752?htil=6&amp;vcp=1&amp;pid=e98ea8257&amp;color=0,0,0&amp;vtp=1&amp;bt=1&amp;bbb=1&amp;hb=1"/>
              <p:cNvSpPr/>
              <p:nvPr/>
            </p:nvSpPr>
            <p:spPr>
              <a:xfrm>
                <a:off x="393192" y="1275239"/>
                <a:ext cx="8851392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（图像信息）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一辆小车（视为质点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）沿某一方向做直线运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，其位置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的变化图像如图中的实线所示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，实线与虚线组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成开口向上的抛物线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，抛物线的顶点坐标为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(−5,0)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轴的交点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坐标为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(0,25)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C_5_BD.10_2#be2785752?htil=6&amp;vcp=1&amp;pid=e98ea825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5239"/>
                <a:ext cx="8851392" cy="2150999"/>
              </a:xfrm>
              <a:prstGeom prst="rect">
                <a:avLst/>
              </a:prstGeom>
              <a:blipFill>
                <a:blip r:embed="rId4"/>
                <a:stretch>
                  <a:fillRect l="-2135" r="-1860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11_1#be2785752.bracket?vcp=1&amp;pid=e98ea8257&amp;color=0,0,0&amp;vpa=4&amp;vtp=1"/>
          <p:cNvSpPr/>
          <p:nvPr/>
        </p:nvSpPr>
        <p:spPr>
          <a:xfrm>
            <a:off x="4888199" y="2940209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10_3#be2785752.choices?htil=6&amp;vcp=1&amp;pid=e98ea8257&amp;color=0,0,0&amp;vtp=1&amp;bbb=1"/>
              <p:cNvSpPr/>
              <p:nvPr/>
            </p:nvSpPr>
            <p:spPr>
              <a:xfrm>
                <a:off x="393192" y="3414934"/>
                <a:ext cx="8851392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A.小车做匀加速运动，且加速度大小为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.小车的初速度大小为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时刻小车的速度大小为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内，小车的位移大小为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10_3#be2785752.choices?htil=6&amp;vcp=1&amp;pid=e98ea825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4934"/>
                <a:ext cx="8851392" cy="2158302"/>
              </a:xfrm>
              <a:prstGeom prst="rect">
                <a:avLst/>
              </a:prstGeom>
              <a:blipFill>
                <a:blip r:embed="rId5"/>
                <a:stretch>
                  <a:fillRect l="-2135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12_1#be2785752?vcp=1&amp;pid=e98ea8257&amp;color=0,0,0&amp;vtp=1&amp;bt=1&amp;bbb=1&amp;hb=1"/>
              <p:cNvSpPr/>
              <p:nvPr/>
            </p:nvSpPr>
            <p:spPr>
              <a:xfrm>
                <a:off x="393192" y="1552512"/>
                <a:ext cx="11402568" cy="3361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设题图中抛物线方程为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，变化得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.由此可见，小车做匀加速直线运动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可知初始位置坐标为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，初速度的大小为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，A错误，B正确；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时刻小车的速度大小为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，位置坐标为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时间内，小车的位移大小为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，C、D错误.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12_1#be2785752?vcp=1&amp;pid=e98ea825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52512"/>
                <a:ext cx="11402568" cy="3361500"/>
              </a:xfrm>
              <a:prstGeom prst="rect">
                <a:avLst/>
              </a:prstGeom>
              <a:blipFill>
                <a:blip r:embed="rId3"/>
                <a:stretch>
                  <a:fillRect l="-1658" r="-4385" b="-54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5bdcf1262?vcp=1&amp;pid=e98ea8257&amp;color=0,0,0&amp;vtp=1&amp;bt=1&amp;bbb=1&amp;hb=1"/>
              <p:cNvSpPr/>
              <p:nvPr/>
            </p:nvSpPr>
            <p:spPr>
              <a:xfrm>
                <a:off x="393192" y="615093"/>
                <a:ext cx="11402568" cy="561873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拓展延伸</a:t>
                </a:r>
                <a:endParaRPr lang="en-US" altLang="zh-CN" sz="2400" dirty="0"/>
              </a:p>
              <a:p>
                <a:pPr algn="ctr"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对位移公式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的理解与应用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.公式的矢量性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该公式是矢量式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，公式中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均是矢量.应用公式解题时，先规定正方向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根据正方向明确式中各量的正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、负值.一般情况下，规定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的方向为正方向.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.公式的拓展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，这就是初速度为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0的匀变速直线运动的位移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公式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的二次方成正比.</a:t>
                </a:r>
                <a:endParaRPr lang="en-US" altLang="zh-CN" sz="2400" dirty="0"/>
              </a:p>
              <a:p>
                <a:pPr latinLnBrk="1">
                  <a:lnSpc>
                    <a:spcPts val="5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，这是已知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时求匀变速直线运动的位移公式.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5bdcf1262?vcp=1&amp;pid=e98ea825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15093"/>
                <a:ext cx="11402568" cy="5618734"/>
              </a:xfrm>
              <a:prstGeom prst="rect">
                <a:avLst/>
              </a:prstGeom>
              <a:blipFill>
                <a:blip r:embed="rId3"/>
                <a:stretch>
                  <a:fillRect l="-1658" r="-1604" b="-18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5bdcf1262?htil=7&amp;vcp=1&amp;pid=e98ea8257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0718" y="847915"/>
            <a:ext cx="3392424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_5_BD#5bdcf1262?htil=7&amp;vcp=1&amp;pid=e98ea8257&amp;color=0,0,0&amp;vtp=1&amp;bt=1&amp;bbb=1&amp;hb=1&amp;hs=1"/>
              <p:cNvSpPr/>
              <p:nvPr/>
            </p:nvSpPr>
            <p:spPr>
              <a:xfrm>
                <a:off x="393192" y="802195"/>
                <a:ext cx="7872984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教材拓展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匀变速直线运动的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.图线形状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：由匀变速直线运动的位移公式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P_5_BD#5bdcf1262?htil=7&amp;vcp=1&amp;pid=e98ea8257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02195"/>
                <a:ext cx="7872984" cy="1592199"/>
              </a:xfrm>
              <a:prstGeom prst="rect">
                <a:avLst/>
              </a:prstGeom>
              <a:blipFill>
                <a:blip r:embed="rId4"/>
                <a:stretch>
                  <a:fillRect l="-2401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5_BD#5bdcf1262?vcp=1&amp;pid=e98ea8257&amp;color=0,0,0&amp;vtp=1&amp;bbb=1&amp;hb=1"/>
              <p:cNvSpPr/>
              <p:nvPr/>
            </p:nvSpPr>
            <p:spPr>
              <a:xfrm>
                <a:off x="393192" y="3106928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2.若坐标原点处图线的切线斜率不为0，则意味着开始计时时刻质点的速度不为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0. 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我们可以在图像上寻找两组坐标值代入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，即可求得质点的初速度和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.某时刻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对应的纵坐标值不一定是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时间内的位移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，要看零时刻质点的初始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位置是否为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5_BD#5bdcf1262?vcp=1&amp;pid=e98ea8257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06928"/>
                <a:ext cx="11402568" cy="2713800"/>
              </a:xfrm>
              <a:prstGeom prst="rect">
                <a:avLst/>
              </a:prstGeom>
              <a:blipFill>
                <a:blip r:embed="rId5"/>
                <a:stretch>
                  <a:fillRect l="-1658" r="-588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5bdcf1262?htil=7&amp;vcp=1&amp;pid=e98ea8257&amp;color=0,0,0&amp;vtp=1&amp;bt=1&amp;bbb=1&amp;hb=1&amp;hs=1">
                <a:extLst>
                  <a:ext uri="{FF2B5EF4-FFF2-40B4-BE49-F238E27FC236}">
                    <a16:creationId xmlns:a16="http://schemas.microsoft.com/office/drawing/2014/main" id="{01F80989-5361-F29E-2987-59901E3775C6}"/>
                  </a:ext>
                </a:extLst>
              </p:cNvPr>
              <p:cNvSpPr/>
              <p:nvPr/>
            </p:nvSpPr>
            <p:spPr>
              <a:xfrm>
                <a:off x="395996" y="2395792"/>
                <a:ext cx="11400008" cy="71018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图线是一个二次函数图线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5bdcf1262?htil=7&amp;vcp=1&amp;pid=e98ea8257&amp;color=0,0,0&amp;vtp=1&amp;bt=1&amp;bbb=1&amp;hb=1&amp;hs=1">
                <a:extLst>
                  <a:ext uri="{FF2B5EF4-FFF2-40B4-BE49-F238E27FC236}">
                    <a16:creationId xmlns:a16="http://schemas.microsoft.com/office/drawing/2014/main" id="{01F80989-5361-F29E-2987-59901E3775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395792"/>
                <a:ext cx="11400008" cy="710184"/>
              </a:xfrm>
              <a:prstGeom prst="rect">
                <a:avLst/>
              </a:prstGeom>
              <a:blipFill>
                <a:blip r:embed="rId6"/>
                <a:stretch>
                  <a:fillRect b="-14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b2881cb5b?vcp=1&amp;pid=27f7b9436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b2881cb5b?vcp=1&amp;pid=27f7b9436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b2881cb5b?vcp=1&amp;pid=27f7b9436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匀变速直线运动速度与位移的关系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fdcbcb8cb?vcp=1&amp;pid=b2881cb5b&amp;color=0,0,0&amp;vtp=1&amp;bbb=1"/>
              <p:cNvSpPr/>
              <p:nvPr/>
            </p:nvSpPr>
            <p:spPr>
              <a:xfrm>
                <a:off x="393192" y="1092200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.匀变速直线运动速度与位移的关系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式中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分别表示物体运动位移为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的末速度和初速度，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为加速度.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.符号规定：一般规定初速度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的方向为正方向，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取正值.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对匀加速直线运动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对匀减速直线运动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fdcbcb8cb?vcp=1&amp;pid=b2881cb5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3268599"/>
              </a:xfrm>
              <a:prstGeom prst="rect">
                <a:avLst/>
              </a:prstGeom>
              <a:blipFill>
                <a:blip r:embed="rId4"/>
                <a:stretch>
                  <a:fillRect b="-578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4907B2-517C-ED9C-4E88-E1BBEB50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18" y="192238"/>
            <a:ext cx="11130314" cy="518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8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18_1#00d82420b?vcp=1&amp;pid=b2881cb5b&amp;color=0,0,0&amp;vtp=1&amp;bt=1&amp;bbb=1&amp;hb=1"/>
              <p:cNvSpPr/>
              <p:nvPr/>
            </p:nvSpPr>
            <p:spPr>
              <a:xfrm>
                <a:off x="393192" y="1132364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（生活情境）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如图，汽车匀加速经过笔直的公路边的等间距的树木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.设车头经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过第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1棵树时的速度为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,经过第4棵树时的速度为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,则它经过第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2棵树时的速度为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18_1#00d82420b?vcp=1&amp;pid=b2881cb5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32364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802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5_BD.18_2#00d82420b?vcp=1&amp;pid=b2881cb5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20440" y="2852960"/>
            <a:ext cx="5157216" cy="52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5_AN.19_1#00d82420b.bracket?vcp=1&amp;pid=b2881cb5b&amp;color=0,0,0&amp;vpa=5&amp;vtp=1"/>
          <p:cNvSpPr/>
          <p:nvPr/>
        </p:nvSpPr>
        <p:spPr>
          <a:xfrm>
            <a:off x="625760" y="2238534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18_3#00d82420b.choices?vcp=1&amp;pid=b2881cb5b&amp;color=0,0,0&amp;vtp=1&amp;bbb=1"/>
              <p:cNvSpPr/>
              <p:nvPr/>
            </p:nvSpPr>
            <p:spPr>
              <a:xfrm>
                <a:off x="393192" y="3513360"/>
                <a:ext cx="11402568" cy="825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500"/>
                  </a:lnSpc>
                  <a:tabLst>
                    <a:tab pos="2662677" algn="l"/>
                    <a:tab pos="5655554" algn="l"/>
                    <a:tab pos="87754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  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  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  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+2</m:t>
                            </m:r>
                            <m:sSup>
                              <m:s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18_3#00d82420b.choices?vcp=1&amp;pid=b2881cb5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13360"/>
                <a:ext cx="11402568" cy="825500"/>
              </a:xfrm>
              <a:prstGeom prst="rect">
                <a:avLst/>
              </a:prstGeom>
              <a:blipFill>
                <a:blip r:embed="rId5"/>
                <a:stretch>
                  <a:fillRect l="-1658" b="-58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AS.20_1#00d82420b?vcp=1&amp;pid=b2881cb5b&amp;color=0,0,0&amp;vtp=1&amp;bbb=1&amp;hb=1"/>
              <p:cNvSpPr/>
              <p:nvPr/>
            </p:nvSpPr>
            <p:spPr>
              <a:xfrm>
                <a:off x="393192" y="4338860"/>
                <a:ext cx="11402568" cy="13926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设两棵树之间的距离为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，设车头经过第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2棵树时的</a:t>
                </a:r>
              </a:p>
              <a:p>
                <a:pPr latinLnBrk="1">
                  <a:lnSpc>
                    <a:spcPts val="6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sSubSup>
                              <m:sSubSupPr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𝟎</m:t>
                                </m:r>
                              </m:sub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，故选C.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AS.20_1#00d82420b?vcp=1&amp;pid=b2881cb5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38860"/>
                <a:ext cx="11402568" cy="1392619"/>
              </a:xfrm>
              <a:prstGeom prst="rect">
                <a:avLst/>
              </a:prstGeom>
              <a:blipFill>
                <a:blip r:embed="rId6"/>
                <a:stretch>
                  <a:fillRect l="-1658" b="-43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393fa71a0?htil=8&amp;vcp=1&amp;pid=b2881cb5b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69050" y="1314196"/>
            <a:ext cx="3566160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P_5_BD#393fa71a0?htil=8&amp;vcp=1&amp;pid=b2881cb5b&amp;color=0,0,0&amp;vtp=1&amp;bt=1&amp;bbb=1&amp;hs=1"/>
          <p:cNvSpPr/>
          <p:nvPr/>
        </p:nvSpPr>
        <p:spPr>
          <a:xfrm>
            <a:off x="393192" y="1268476"/>
            <a:ext cx="7708392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方法梳理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.公式的推导</a:t>
            </a:r>
            <a:endParaRPr lang="en-US" altLang="zh-CN" sz="2400" dirty="0"/>
          </a:p>
        </p:txBody>
      </p:sp>
      <p:sp>
        <p:nvSpPr>
          <p:cNvPr id="4" name="P_5_BD#393fa71a0?htil=8&amp;vcp=1&amp;pid=b2881cb5b&amp;color=0,0,0&amp;vtp=1&amp;bbb=1&amp;hs=1"/>
          <p:cNvSpPr/>
          <p:nvPr/>
        </p:nvSpPr>
        <p:spPr>
          <a:xfrm>
            <a:off x="393192" y="2364613"/>
            <a:ext cx="7708392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2.理解要点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1）该公式仅适用于匀变速直线运动.</a:t>
            </a:r>
            <a:endParaRPr lang="en-US" altLang="zh-CN" sz="2400" dirty="0"/>
          </a:p>
        </p:txBody>
      </p:sp>
      <p:sp>
        <p:nvSpPr>
          <p:cNvPr id="5" name="P_5_BD#393fa71a0?vcp=1&amp;pid=b2881cb5b&amp;color=0,0,0&amp;vtp=1&amp;bbb=1&amp;hs=1"/>
          <p:cNvSpPr/>
          <p:nvPr/>
        </p:nvSpPr>
        <p:spPr>
          <a:xfrm>
            <a:off x="393192" y="3453955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（2）各量之间的关系及意义如下图所示.</a:t>
            </a:r>
            <a:endParaRPr lang="en-US" altLang="zh-CN" sz="2400" dirty="0"/>
          </a:p>
        </p:txBody>
      </p:sp>
      <p:pic>
        <p:nvPicPr>
          <p:cNvPr id="6" name="P_5_BD#393fa71a0?vcp=1&amp;pid=b2881cb5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10328" y="4069207"/>
            <a:ext cx="2368296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393fa71a0?vcp=1&amp;pid=b2881cb5b&amp;color=0,0,0&amp;mp=1&amp;vtp=1&amp;bt=1&amp;bbb=1&amp;hb=1"/>
              <p:cNvSpPr/>
              <p:nvPr/>
            </p:nvSpPr>
            <p:spPr>
              <a:xfrm>
                <a:off x="393192" y="1789367"/>
                <a:ext cx="11402568" cy="328187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.物体做加速运动时，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取正值；做减速运动时，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取负值.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，说明物体的位移方向与初速度的方向相同；位移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，说明物体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的位移方向与初速度的方向相反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.特殊情况：当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时，公式简化为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，公式简化为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393fa71a0?vcp=1&amp;pid=b2881cb5b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89367"/>
                <a:ext cx="11402568" cy="3281871"/>
              </a:xfrm>
              <a:prstGeom prst="rect">
                <a:avLst/>
              </a:prstGeom>
              <a:blipFill>
                <a:blip r:embed="rId3"/>
                <a:stretch>
                  <a:fillRect l="-1658" b="-557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d7077749e?vcp=1&amp;pid=27f7b9436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d7077749e?vcp=1&amp;pid=27f7b9436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4" name="C_4_BD#d7077749e?vcp=1&amp;pid=27f7b9436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刹车模型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398aa78c1?vcp=1&amp;pid=d7077749e&amp;color=0,0,0&amp;vtp=1&amp;bbb=1&amp;hb=1"/>
              <p:cNvSpPr/>
              <p:nvPr/>
            </p:nvSpPr>
            <p:spPr>
              <a:xfrm>
                <a:off x="393192" y="1092200"/>
                <a:ext cx="11402568" cy="53204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汽车刹车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、飞机降落后在跑道上滑行等都可简化为单方向的匀减速直线运动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速度减小到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0后，就停止运动，不可能倒过来做反向运动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，所以运动的最长时间为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,最大距离为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在计算这类运动的位移时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，应先计算出速度减小到0所用的时间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，再与题中所给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进行比较.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，则不能用题目所给的时间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求解位移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，应按刹车后停下来所经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历的时间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进行计算.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，说明经过时间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运动还没有停止，则应用题目所给的时间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直接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求解位移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398aa78c1?vcp=1&amp;pid=d7077749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5320475"/>
              </a:xfrm>
              <a:prstGeom prst="rect">
                <a:avLst/>
              </a:prstGeom>
              <a:blipFill>
                <a:blip r:embed="rId4"/>
                <a:stretch>
                  <a:fillRect l="-1658" r="-1444" b="-34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BD.21_1#6db7c8192?vcp=1&amp;pid=d7077749e&amp;color=0,0,0&amp;vtp=1&amp;bt=1&amp;bbb=1&amp;hb=1"/>
              <p:cNvSpPr/>
              <p:nvPr/>
            </p:nvSpPr>
            <p:spPr>
              <a:xfrm>
                <a:off x="393192" y="579723"/>
                <a:ext cx="11402568" cy="10368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［教材改编题］（易错题）一辆汽车刹车前速度为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，刹车时获得的加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，求：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BD.21_1#6db7c8192?vcp=1&amp;pid=d7077749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9723"/>
                <a:ext cx="11402568" cy="1036828"/>
              </a:xfrm>
              <a:prstGeom prst="rect">
                <a:avLst/>
              </a:prstGeom>
              <a:blipFill>
                <a:blip r:embed="rId3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6_BD.22_1#f2a7dcc61?vcp=1&amp;pid=6db7c8192&amp;color=0,0,0&amp;vtp=1&amp;bbb=1"/>
              <p:cNvSpPr/>
              <p:nvPr/>
            </p:nvSpPr>
            <p:spPr>
              <a:xfrm>
                <a:off x="393192" y="1681892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（1）汽车开始刹车后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内滑行的距离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6_BD.22_1#f2a7dcc61?vcp=1&amp;pid=6db7c819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81892"/>
                <a:ext cx="11402568" cy="488125"/>
              </a:xfrm>
              <a:prstGeom prst="rect">
                <a:avLst/>
              </a:prstGeom>
              <a:blipFill>
                <a:blip r:embed="rId4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QO_6_AS.23_1#f2a7dcc61?vcp=1&amp;pid=6db7c8192&amp;color=0,0,0&amp;vtp=1&amp;bbb=1&amp;hb=1"/>
              <p:cNvSpPr/>
              <p:nvPr/>
            </p:nvSpPr>
            <p:spPr>
              <a:xfrm>
                <a:off x="393192" y="2170144"/>
                <a:ext cx="11402568" cy="3949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先求汽车从开始刹车到停下来所经历的时间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.由题意知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，初速度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,末速度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,以初速度方向为正方向，由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及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说明汽车刹车后经过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停下来，因此汽车开始刹车后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.根据位移公式得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O_6_AS.23_1#f2a7dcc61?vcp=1&amp;pid=6db7c819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70144"/>
                <a:ext cx="11402568" cy="3949700"/>
              </a:xfrm>
              <a:prstGeom prst="rect">
                <a:avLst/>
              </a:prstGeom>
              <a:blipFill>
                <a:blip r:embed="rId5"/>
                <a:stretch>
                  <a:fillRect l="-1658" b="-262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6_BD.24_1#658b67dfc?vcp=1&amp;pid=6db7c8192&amp;color=0,0,0&amp;vtp=1&amp;bt=1&amp;bbb=1"/>
              <p:cNvSpPr/>
              <p:nvPr/>
            </p:nvSpPr>
            <p:spPr>
              <a:xfrm>
                <a:off x="393192" y="1341755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（2）汽车从开始刹车到滑行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的距离所经历的时间.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6_BD.24_1#658b67dfc?vcp=1&amp;pid=6db7c8192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41755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6_AS.25_1#658b67dfc?vcp=1&amp;pid=6db7c8192&amp;color=0,0,0&amp;vtp=1&amp;bbb=1"/>
              <p:cNvSpPr/>
              <p:nvPr/>
            </p:nvSpPr>
            <p:spPr>
              <a:xfrm>
                <a:off x="393192" y="1841246"/>
                <a:ext cx="11402568" cy="162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根据位移公式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汽车总刹车时间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,很显然,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不合题意，应舍去.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6_AS.25_1#658b67dfc?vcp=1&amp;pid=6db7c819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41246"/>
                <a:ext cx="11402568" cy="1621600"/>
              </a:xfrm>
              <a:prstGeom prst="rect">
                <a:avLst/>
              </a:prstGeom>
              <a:blipFill>
                <a:blip r:embed="rId4"/>
                <a:stretch>
                  <a:fillRect l="-1658" b="-112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QO_6_BD.26_1#0dda64a90?vcp=1&amp;pid=6db7c8192&amp;color=0,0,0&amp;vtp=1&amp;bbb=1"/>
              <p:cNvSpPr/>
              <p:nvPr/>
            </p:nvSpPr>
            <p:spPr>
              <a:xfrm>
                <a:off x="393192" y="3518979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（3）汽车静止前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内滑行的距离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O_6_BD.26_1#0dda64a90?vcp=1&amp;pid=6db7c819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18979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O_6_AS.27_1#0dda64a90?vcp=1&amp;pid=6db7c8192&amp;color=0,0,0&amp;vtp=1&amp;bbb=1&amp;hb=1"/>
              <p:cNvSpPr/>
              <p:nvPr/>
            </p:nvSpPr>
            <p:spPr>
              <a:xfrm>
                <a:off x="393192" y="4007231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时，汽车的速度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，故最后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内位移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O_6_AS.27_1#0dda64a90?vcp=1&amp;pid=6db7c819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07231"/>
                <a:ext cx="11402568" cy="1117600"/>
              </a:xfrm>
              <a:prstGeom prst="rect">
                <a:avLst/>
              </a:prstGeom>
              <a:blipFill>
                <a:blip r:embed="rId6"/>
                <a:stretch>
                  <a:fillRect l="-1658" r="-588" b="-92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28_1#00ee9d6d1?vcp=1&amp;pid=d7077749e&amp;color=0,0,0&amp;vtp=1&amp;bt=1&amp;bbb=1&amp;hb=1"/>
              <p:cNvSpPr/>
              <p:nvPr/>
            </p:nvSpPr>
            <p:spPr>
              <a:xfrm>
                <a:off x="393192" y="1827689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（易错题）（多选题）一辆车以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的速度做匀速直线运动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，某时刻开始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以恒定的加速度刹车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28_1#00ee9d6d1?vcp=1&amp;pid=d7077749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27689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321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9_1#00ee9d6d1.bracket?vcp=1&amp;pid=d7077749e&amp;color=0,0,0&amp;vpa=6&amp;vtp=1&amp;bbb=1"/>
          <p:cNvSpPr/>
          <p:nvPr/>
        </p:nvSpPr>
        <p:spPr>
          <a:xfrm>
            <a:off x="8618823" y="2375059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5_BD.28_2#00ee9d6d1.choices?vcp=1&amp;pid=d7077749e&amp;color=0,0,0&amp;vtp=1&amp;bbb=1"/>
              <p:cNvSpPr/>
              <p:nvPr/>
            </p:nvSpPr>
            <p:spPr>
              <a:xfrm>
                <a:off x="393192" y="2861214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A.汽车刹车时的加速度大小为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内汽车的位移为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.汽车运动过程中，在最后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内发生的位移为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5_BD.28_2#00ee9d6d1.choices?vcp=1&amp;pid=d7077749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61214"/>
                <a:ext cx="11402568" cy="2158302"/>
              </a:xfrm>
              <a:prstGeom prst="rect">
                <a:avLst/>
              </a:prstGeom>
              <a:blipFill>
                <a:blip r:embed="rId4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30_1#00ee9d6d1?vcp=1&amp;pid=d7077749e&amp;color=0,0,0&amp;vtp=1&amp;bt=1&amp;bbb=1&amp;hb=1"/>
              <p:cNvSpPr/>
              <p:nvPr/>
            </p:nvSpPr>
            <p:spPr>
              <a:xfrm>
                <a:off x="393192" y="1135158"/>
                <a:ext cx="11402568" cy="44179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由题意知汽车的初速度为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内位移为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汽车刹车时的加速度为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；汽车从开始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刹车到停止所需的时间为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=|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内的位移等于汽车在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5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内的刹车位移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，汽车在第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内的平均速度等于汽车在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时的瞬时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，则汽车在第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第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第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由逆向思维可得，</a:t>
                </a:r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汽车运动过程中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，在最后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内发生的位移为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最后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=|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最后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30_1#00ee9d6d1?vcp=1&amp;pid=d7077749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35158"/>
                <a:ext cx="11402568" cy="4417949"/>
              </a:xfrm>
              <a:prstGeom prst="rect">
                <a:avLst/>
              </a:prstGeom>
              <a:blipFill>
                <a:blip r:embed="rId3"/>
                <a:stretch>
                  <a:fillRect l="-1658" r="-1658" b="-248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6c92b720d?vcp=1&amp;pid=d7077749e&amp;color=0,0,0&amp;vtp=1&amp;bt=1&amp;bbb=1&amp;hb=1"/>
          <p:cNvSpPr/>
          <p:nvPr/>
        </p:nvSpPr>
        <p:spPr>
          <a:xfrm>
            <a:off x="393192" y="2080355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方法梳理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“逆向思维法”就是沿着物理过程发生的相反方向，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根据结果探索原因的思维方式，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即把运动过程的末态当成初态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、初态当成末态进行反向研究的方法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，该方法一般用于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末态已知的情况或末态很容易确定的情况，如匀减速直线运动可看成加速度相同的匀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加速直线运动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6c92b720d?vcp=1&amp;pid=d7077749e&amp;color=0,0,0&amp;vtp=1&amp;bt=1&amp;bbb=1&amp;hb=1"/>
              <p:cNvSpPr/>
              <p:nvPr/>
            </p:nvSpPr>
            <p:spPr>
              <a:xfrm>
                <a:off x="393192" y="1046544"/>
                <a:ext cx="11402568" cy="4610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延伸拓展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（1）问还可这样求解：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:endParaRPr lang="en-US" altLang="zh-CN" sz="2400" dirty="0"/>
              </a:p>
              <a:p>
                <a:pPr latinLnBrk="1">
                  <a:lnSpc>
                    <a:spcPts val="5500"/>
                  </a:lnSpc>
                </a:pPr>
                <a:r>
                  <a:rPr lang="en-US" altLang="zh-CN" sz="2400" b="0" i="0" kern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0−</m:t>
                        </m:r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25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2×(−10)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=31.25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（3）问采用逆向思维法.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把汽车减速到速度为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0的过程看作初速度为0的匀加速直线运动的逆过程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，则汽车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的加速度做初速度为0的匀加速运动，在第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内的位移大小即所求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×10×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6c92b720d?vcp=1&amp;pid=d7077749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46544"/>
                <a:ext cx="11402568" cy="4610100"/>
              </a:xfrm>
              <a:prstGeom prst="rect">
                <a:avLst/>
              </a:prstGeom>
              <a:blipFill>
                <a:blip r:embed="rId3"/>
                <a:stretch>
                  <a:fillRect l="-1658" r="-535" b="-224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1712</Words>
  <Application>Microsoft Office PowerPoint</Application>
  <PresentationFormat>宽屏</PresentationFormat>
  <Paragraphs>217</Paragraphs>
  <Slides>29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SimHei</vt:lpstr>
      <vt:lpstr>KaiTi</vt:lpstr>
      <vt:lpstr>SimSun</vt:lpstr>
      <vt:lpstr>微软雅黑</vt:lpstr>
      <vt:lpstr>Arial</vt:lpstr>
      <vt:lpstr>Calibri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瀚文 孙</cp:lastModifiedBy>
  <cp:revision>4</cp:revision>
  <dcterms:created xsi:type="dcterms:W3CDTF">2026-05-25T08:16:40Z</dcterms:created>
  <dcterms:modified xsi:type="dcterms:W3CDTF">2026-09-19T13:41:25Z</dcterms:modified>
  <cp:category/>
  <cp:contentStatus/>
</cp:coreProperties>
</file>