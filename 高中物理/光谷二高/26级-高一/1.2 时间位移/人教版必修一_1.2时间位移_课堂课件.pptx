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473952"/>
            <a:ext cx="11356848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51052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人教版高中物理 必修一 · 第一章 运动的描述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 w="12700">
            <a:solidFill>
              <a:srgbClr val="0C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-914400" y="4251960"/>
            <a:ext cx="6400800" cy="3108960"/>
          </a:xfrm>
          <a:prstGeom prst="arc">
            <a:avLst/>
          </a:prstGeom>
          <a:solidFill>
            <a:srgbClr val="0C1B2A">
              <a:alpha val="0"/>
            </a:srgbClr>
          </a:solidFill>
          <a:ln w="38100">
            <a:solidFill>
              <a:srgbClr val="2B7A78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0">
            <a:off x="4937760" y="-1645920"/>
            <a:ext cx="8229600" cy="5486400"/>
          </a:xfrm>
          <a:prstGeom prst="arc">
            <a:avLst/>
          </a:prstGeom>
          <a:solidFill>
            <a:srgbClr val="0C1B2A">
              <a:alpha val="0"/>
            </a:srgbClr>
          </a:solidFill>
          <a:ln w="25400">
            <a:solidFill>
              <a:srgbClr val="4FB3BF">
                <a:alpha val="7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713232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6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高中物理 · 必修一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371600"/>
            <a:ext cx="192024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4C9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011680"/>
            <a:ext cx="7132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 位移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871216"/>
            <a:ext cx="74980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6E4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把“运动”说清楚：它在何时、何处、改变了多少？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3822192"/>
            <a:ext cx="1664208" cy="310896"/>
          </a:xfrm>
          <a:prstGeom prst="roundRect">
            <a:avLst>
              <a:gd name="adj" fmla="val 4411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840480"/>
            <a:ext cx="166420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 · 时间间隔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3822192"/>
            <a:ext cx="1901952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42032" y="3840480"/>
            <a:ext cx="190195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· 路程 · 位移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0288" y="3822192"/>
            <a:ext cx="1572768" cy="310896"/>
          </a:xfrm>
          <a:prstGeom prst="roundRect">
            <a:avLst>
              <a:gd name="adj" fmla="val 44118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0288" y="3840480"/>
            <a:ext cx="15727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x–t 图像 · 测量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" y="5175504"/>
            <a:ext cx="64008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70992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67004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2592324" y="5097780"/>
            <a:ext cx="155448" cy="155448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3016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59028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555040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472684" y="5097780"/>
            <a:ext cx="155448" cy="155448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5056632"/>
            <a:ext cx="0" cy="237744"/>
          </a:xfrm>
          <a:prstGeom prst="line">
            <a:avLst/>
          </a:prstGeom>
          <a:noFill/>
          <a:ln w="12700">
            <a:solidFill>
              <a:srgbClr val="B5D5D7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2514600" y="5449824"/>
            <a:ext cx="10058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9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点：时刻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81728" y="544982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D7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段：时间间隔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6181344"/>
            <a:ext cx="51206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FB5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授课对象：高一 · 人教版教材第1章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一节课的“描述工具箱”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先分清概念，再用图像和实验把变化量化。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85216" y="1783080"/>
            <a:ext cx="5074920" cy="1161288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47672"/>
            <a:ext cx="621792" cy="411480"/>
          </a:xfrm>
          <a:prstGeom prst="roundRect">
            <a:avLst>
              <a:gd name="adj" fmla="val 22222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93392"/>
            <a:ext cx="621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72768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时刻和时间间隔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时刻是一个“点”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时间间隔是一段“过程”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5074920" cy="1161288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47672"/>
            <a:ext cx="621792" cy="411480"/>
          </a:xfrm>
          <a:prstGeom prst="roundRect">
            <a:avLst>
              <a:gd name="adj" fmla="val 22222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93392"/>
            <a:ext cx="621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1947672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位置和位移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13432"/>
            <a:ext cx="3840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坐标系描述位置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位移描述位置的变化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3291840"/>
            <a:ext cx="5074920" cy="1161288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456432"/>
            <a:ext cx="621792" cy="411480"/>
          </a:xfrm>
          <a:prstGeom prst="roundRect">
            <a:avLst>
              <a:gd name="adj" fmla="val 22222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502152"/>
            <a:ext cx="621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时间–位移图像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3822192"/>
            <a:ext cx="3840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x–t 图像观察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位置随时间的变化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36208" y="3291840"/>
            <a:ext cx="5074920" cy="1161288"/>
          </a:xfrm>
          <a:prstGeom prst="roundRect">
            <a:avLst>
              <a:gd name="adj" fmla="val 1181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456432"/>
            <a:ext cx="621792" cy="411480"/>
          </a:xfrm>
          <a:prstGeom prst="roundRect">
            <a:avLst>
              <a:gd name="adj" fmla="val 22222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502152"/>
            <a:ext cx="6217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3456432"/>
            <a:ext cx="3840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位移和时间的测量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822192"/>
            <a:ext cx="3840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打点计时器、频闪照相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把“点”和“段”读出来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" y="4983480"/>
            <a:ext cx="11018520" cy="841248"/>
          </a:xfrm>
          <a:prstGeom prst="roundRect">
            <a:avLst>
              <a:gd name="adj" fmla="val 15217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5129784"/>
            <a:ext cx="10058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贯穿主线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847088" y="5129784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同一辆车：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52928" y="5102352"/>
            <a:ext cx="713232" cy="310896"/>
          </a:xfrm>
          <a:prstGeom prst="roundRect">
            <a:avLst>
              <a:gd name="adj" fmla="val 44118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52928" y="5120640"/>
            <a:ext cx="71323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21024" y="5248656"/>
            <a:ext cx="420624" cy="0"/>
          </a:xfrm>
          <a:prstGeom prst="line">
            <a:avLst/>
          </a:prstGeom>
          <a:noFill/>
          <a:ln w="1270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33088" y="5102352"/>
            <a:ext cx="713232" cy="310896"/>
          </a:xfrm>
          <a:prstGeom prst="roundRect">
            <a:avLst>
              <a:gd name="adj" fmla="val 44118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33088" y="5120640"/>
            <a:ext cx="71323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在哪？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01184" y="5248656"/>
            <a:ext cx="420624" cy="0"/>
          </a:xfrm>
          <a:prstGeom prst="line">
            <a:avLst/>
          </a:prstGeom>
          <a:noFill/>
          <a:ln w="1270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31536" y="5102352"/>
            <a:ext cx="1051560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31536" y="5120640"/>
            <a:ext cx="1051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变了多少？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65392" y="5248656"/>
            <a:ext cx="420624" cy="0"/>
          </a:xfrm>
          <a:prstGeom prst="line">
            <a:avLst/>
          </a:prstGeom>
          <a:noFill/>
          <a:ln w="1270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077456" y="5102352"/>
            <a:ext cx="868680" cy="310896"/>
          </a:xfrm>
          <a:prstGeom prst="roundRect">
            <a:avLst>
              <a:gd name="adj" fmla="val 4411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77456" y="5120640"/>
            <a:ext cx="8686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怎么测？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" y="5916168"/>
            <a:ext cx="10607040" cy="26517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课堂目标：能用“时刻/时间间隔、路程/位移、标量/矢量”准确表达运动。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问题：如何描述汽车的位置变化？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以“驶过北京长安街的汽车”为例，先从语言走向物理量。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00784"/>
            <a:ext cx="5532120" cy="431596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938528"/>
            <a:ext cx="48920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要描述物体位置随时间的变化，至少要回答三个问题：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" y="2706624"/>
            <a:ext cx="329184" cy="329184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2752344"/>
            <a:ext cx="29260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2688336"/>
            <a:ext cx="1325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什么时候？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24328" y="2697480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用“时刻”或“时间间隔”说清楚。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" y="3547872"/>
            <a:ext cx="329184" cy="32918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" y="3593592"/>
            <a:ext cx="29260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529584"/>
            <a:ext cx="1325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在哪里？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24328" y="3538728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建立坐标系，用位置坐标表示。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" y="4389120"/>
            <a:ext cx="329184" cy="32918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" y="4434840"/>
            <a:ext cx="29260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4370832"/>
            <a:ext cx="1325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变化多少？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624328" y="4379976"/>
            <a:ext cx="30175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用路程、位移描述变化。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5257800"/>
            <a:ext cx="4892040" cy="484632"/>
          </a:xfrm>
          <a:prstGeom prst="roundRect">
            <a:avLst>
              <a:gd name="adj" fmla="val 22642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4984" y="5376672"/>
            <a:ext cx="4572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本节主线：时刻 / 时间间隔 → 位置 / 位移 → 图像 → 测量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1700784"/>
            <a:ext cx="5120640" cy="4315968"/>
          </a:xfrm>
          <a:prstGeom prst="roundRect">
            <a:avLst>
              <a:gd name="adj" fmla="val 3390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3408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教材示例 · 批注逻辑（局部截图）</a:t>
            </a:r>
            <a:endParaRPr lang="en-US" sz="1300" dirty="0"/>
          </a:p>
        </p:txBody>
      </p:sp>
      <p:pic>
        <p:nvPicPr>
          <p:cNvPr id="24" name="Image 0" descr="C:\Users\San\workspace\physics\ppt_assets\教材批注_intro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08" y="2139696"/>
            <a:ext cx="3657600" cy="1828800"/>
          </a:xfrm>
          <a:prstGeom prst="rect">
            <a:avLst/>
          </a:prstGeom>
        </p:spPr>
      </p:pic>
      <p:pic>
        <p:nvPicPr>
          <p:cNvPr id="25" name="Image 1" descr="C:\Users\San\workspace\physics\ppt_assets\教材批注_introTi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4087368"/>
            <a:ext cx="3657600" cy="193852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748272" y="5843016"/>
            <a:ext cx="44805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上：问题情境与本节主线　下：时刻 / 时间间隔时间轴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 · 时刻和时间间隔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时刻是点，时间间隔是段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“上午8时上课，8时45分下课”中，两个“8时”是时刻，45 min 是时间间隔。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19072"/>
            <a:ext cx="4864608" cy="431596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956816"/>
            <a:ext cx="1042416" cy="310896"/>
          </a:xfrm>
          <a:prstGeom prst="roundRect">
            <a:avLst>
              <a:gd name="adj" fmla="val 44118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975104"/>
            <a:ext cx="1042416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 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1975104"/>
            <a:ext cx="292608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一个瞬间：状态量的标记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73836" y="2619756"/>
            <a:ext cx="82296" cy="82296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3856" y="2514600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例如：8:00 开始上课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3836" y="2921508"/>
            <a:ext cx="82296" cy="82296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33856" y="2816352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时间轴上用“点”表示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73836" y="3223260"/>
            <a:ext cx="82296" cy="82296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3118104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回答“什么时候”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9536" y="4078224"/>
            <a:ext cx="1508760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" y="4096512"/>
            <a:ext cx="1508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 Δt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23744" y="4096512"/>
            <a:ext cx="242316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一段过程：两个时刻之间的长度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73836" y="4741164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33856" y="4636008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例如：8:00–8:45 = 45 min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73836" y="5042916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33856" y="4937760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时间轴上用“线段”表示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73836" y="5344668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3856" y="5239512"/>
            <a:ext cx="38679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回答“经历了多久”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779008" y="1719072"/>
            <a:ext cx="5788152" cy="4315968"/>
          </a:xfrm>
          <a:prstGeom prst="roundRect">
            <a:avLst>
              <a:gd name="adj" fmla="val 3390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62472" y="1965960"/>
            <a:ext cx="2834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时间轴：点与段的区别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81928" y="3108960"/>
            <a:ext cx="4462272" cy="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81928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6208776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39712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 txBox="1"/>
          <p:nvPr/>
        </p:nvSpPr>
        <p:spPr>
          <a:xfrm>
            <a:off x="6766560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97496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 txBox="1"/>
          <p:nvPr/>
        </p:nvSpPr>
        <p:spPr>
          <a:xfrm>
            <a:off x="7324344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55280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7882128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13064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8439912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70848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 txBox="1"/>
          <p:nvPr/>
        </p:nvSpPr>
        <p:spPr>
          <a:xfrm>
            <a:off x="8997696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28632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9555480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186416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10113264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744200" y="3035808"/>
            <a:ext cx="0" cy="146304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 txBox="1"/>
          <p:nvPr/>
        </p:nvSpPr>
        <p:spPr>
          <a:xfrm>
            <a:off x="10671048" y="3209544"/>
            <a:ext cx="14630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817352" y="2990088"/>
            <a:ext cx="411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/ 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306056" y="3017520"/>
            <a:ext cx="182880" cy="182880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11512" y="3017520"/>
            <a:ext cx="182880" cy="182880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59752" y="3401568"/>
            <a:ext cx="4846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8:00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656064" y="3401568"/>
            <a:ext cx="4846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8:45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24928" y="3913632"/>
            <a:ext cx="2423160" cy="0"/>
          </a:xfrm>
          <a:prstGeom prst="line">
            <a:avLst/>
          </a:prstGeom>
          <a:noFill/>
          <a:ln w="635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52" name="Text 50"/>
          <p:cNvSpPr txBox="1"/>
          <p:nvPr/>
        </p:nvSpPr>
        <p:spPr>
          <a:xfrm>
            <a:off x="8101584" y="4059936"/>
            <a:ext cx="129844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Δt = 45 min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812280" y="4690872"/>
            <a:ext cx="1188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9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点：时刻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217152" y="4690872"/>
            <a:ext cx="15544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段：时间间隔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99632" y="5276088"/>
            <a:ext cx="4919472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55080" y="5376672"/>
            <a:ext cx="4572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提醒：日常语言中的“时间”，要结合上下文判断含义。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位置和位移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坐标系：把“在哪里”变成一个数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一维直线运动通常选运动直线为 x 轴；坐标系三要素：原点、正方向、单位长度。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85216" y="1719072"/>
            <a:ext cx="6638544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坐标系三要素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24871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596896"/>
            <a:ext cx="15361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原点 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7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从哪里开始量？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24871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96896"/>
            <a:ext cx="15361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正方向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增大的方向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487168"/>
            <a:ext cx="1700784" cy="804672"/>
          </a:xfrm>
          <a:prstGeom prst="roundRect">
            <a:avLst>
              <a:gd name="adj" fmla="val 13636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2896" y="2596896"/>
            <a:ext cx="1536192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单位长度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每一格代表多少米？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712464"/>
            <a:ext cx="438912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例：以高考场馆为 O，向东为正方向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60704" y="4745736"/>
            <a:ext cx="5257800" cy="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070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58648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11226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63804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16382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68960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21538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474116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26694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79272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318504" y="4681728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6373368" y="4636008"/>
            <a:ext cx="502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/ m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" y="4361688"/>
            <a:ext cx="2743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513832" y="4361688"/>
            <a:ext cx="10789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东（正方向）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95928" y="4654296"/>
            <a:ext cx="182880" cy="182880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965192"/>
            <a:ext cx="25603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30952" y="4654296"/>
            <a:ext cx="182880" cy="182880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02352" y="4992624"/>
            <a:ext cx="7863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= +30 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70048" y="4654296"/>
            <a:ext cx="182880" cy="1828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14016" y="4992624"/>
            <a:ext cx="822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= −20 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0" y="1719072"/>
            <a:ext cx="4069080" cy="4407408"/>
          </a:xfrm>
          <a:prstGeom prst="roundRect">
            <a:avLst>
              <a:gd name="adj" fmla="val 3596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63256" y="1947672"/>
            <a:ext cx="1920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教材批注对照</a:t>
            </a:r>
            <a:endParaRPr lang="en-US" sz="1400" dirty="0"/>
          </a:p>
        </p:txBody>
      </p:sp>
      <p:pic>
        <p:nvPicPr>
          <p:cNvPr id="41" name="Image 0" descr="C:\Users\San\workspace\physics\ppt_assets\教材批注_coord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2" y="2340864"/>
            <a:ext cx="3547872" cy="2212848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7763256" y="4764024"/>
            <a:ext cx="3493008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= 物体在某时刻所在的空间点。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754112" y="5138928"/>
            <a:ext cx="3547872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882128" y="5294376"/>
            <a:ext cx="3291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批注强调：坐标系 = 原点 + 正方向 + 单位长度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位置和位移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路程与位移：路径不同，变化可相同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位移只由初、末位置决定；路程取决于运动轨迹的长度。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76072" y="1719072"/>
            <a:ext cx="534924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同一位移，不同路程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133856" y="2752344"/>
            <a:ext cx="201168" cy="201168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090672"/>
            <a:ext cx="8229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A（初）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65776" y="4709160"/>
            <a:ext cx="201168" cy="201168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2896" y="5047488"/>
            <a:ext cx="841248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B（末）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98448" y="2907792"/>
            <a:ext cx="3822192" cy="1847088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307592" y="3822192"/>
            <a:ext cx="263347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Δx：A → B 的有向线段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98448" y="2907792"/>
            <a:ext cx="576072" cy="-548640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874520" y="2359152"/>
            <a:ext cx="704088" cy="402336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2578608" y="2761488"/>
            <a:ext cx="-155448" cy="914400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423160" y="3675888"/>
            <a:ext cx="822960" cy="548640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246120" y="4224528"/>
            <a:ext cx="594360" cy="-402336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840480" y="3822192"/>
            <a:ext cx="694944" cy="585216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535424" y="4407408"/>
            <a:ext cx="566928" cy="329184"/>
          </a:xfrm>
          <a:prstGeom prst="line">
            <a:avLst/>
          </a:prstGeom>
          <a:noFill/>
          <a:ln w="27940">
            <a:solidFill>
              <a:srgbClr val="4FB3B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240280" y="2249424"/>
            <a:ext cx="23317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路程 s：沿轨迹的总长度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" y="5449824"/>
            <a:ext cx="4681728" cy="384048"/>
          </a:xfrm>
          <a:prstGeom prst="roundRect">
            <a:avLst>
              <a:gd name="adj" fmla="val 23810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0704" y="5550408"/>
            <a:ext cx="438912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结论：s ≥ |Δx|；回到原点时 Δx = 0，但 s ≠ 0。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9632" y="1719072"/>
            <a:ext cx="5367528" cy="4343400"/>
          </a:xfrm>
          <a:prstGeom prst="roundRect">
            <a:avLst>
              <a:gd name="adj" fmla="val 3368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教材路线图 · 批注对照</a:t>
            </a:r>
            <a:endParaRPr lang="en-US" sz="1600" dirty="0"/>
          </a:p>
        </p:txBody>
      </p:sp>
      <p:pic>
        <p:nvPicPr>
          <p:cNvPr id="26" name="Image 0" descr="C:\Users\San\workspace\physics\ppt_assets\教材批注_rou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2340864"/>
            <a:ext cx="4828032" cy="349300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565392" y="5870448"/>
            <a:ext cx="46451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路径不同，但初、末位置相同 → 位移相同。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位置和位移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标量与矢量：有没有方向？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批注强调：标量只有大小；矢量既有大小又有方向。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1764792"/>
            <a:ext cx="5266944" cy="4133088"/>
          </a:xfrm>
          <a:prstGeom prst="roundRect">
            <a:avLst>
              <a:gd name="adj" fmla="val 3540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1072" y="1764792"/>
            <a:ext cx="5266944" cy="4133088"/>
          </a:xfrm>
          <a:prstGeom prst="roundRect">
            <a:avLst>
              <a:gd name="adj" fmla="val 3540"/>
            </a:avLst>
          </a:prstGeom>
          <a:solidFill>
            <a:srgbClr val="EAF4F3"/>
          </a:solidFill>
          <a:ln w="12700">
            <a:solidFill>
              <a:srgbClr val="C6E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41832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 scalar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468880"/>
            <a:ext cx="25603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只有大小，没有方向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37844" y="3076956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97864" y="2971800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路程 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37844" y="3378708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97864" y="3273552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t、温度 T、质量 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7844" y="3680460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97864" y="3575304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比较大小：直接比较数值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例如：s = 10 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11112" y="2066544"/>
            <a:ext cx="21945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矢量 vector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2468880"/>
            <a:ext cx="26517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既有大小，又有方向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07124" y="3076956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67144" y="2971800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Δx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07124" y="3378708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67144" y="3273552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 v、力 F（后续学习）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07124" y="3680460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67144" y="3575304"/>
            <a:ext cx="3776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比较大小：比较绝对值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12280" y="5230368"/>
            <a:ext cx="3063240" cy="0"/>
          </a:xfrm>
          <a:prstGeom prst="line">
            <a:avLst/>
          </a:prstGeom>
          <a:noFill/>
          <a:ln w="50800">
            <a:solidFill>
              <a:srgbClr val="2B7A78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955280" y="5394960"/>
            <a:ext cx="5943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5394960"/>
            <a:ext cx="107899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 |Δx|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002536" y="5705856"/>
            <a:ext cx="813816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48840" y="5751576"/>
            <a:ext cx="781812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判断口诀：题目问“走了多远”→路程；问“位置变了多少、朝哪边”→位移。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 · 位置和位移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直线运动的位移：Δx = x₂ − x₁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坐标差自带正负号：正负表示方向，绝对值表示大小。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03504" y="1719072"/>
            <a:ext cx="6720840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907792"/>
            <a:ext cx="5486400" cy="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2412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57276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12140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7004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21868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76732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431596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86460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41324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96188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510528" y="2843784"/>
            <a:ext cx="0" cy="128016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6565392" y="2798064"/>
            <a:ext cx="50292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/ 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13048" y="2404872"/>
            <a:ext cx="1920240" cy="0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21608" y="2816352"/>
            <a:ext cx="182880" cy="182880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41848" y="2816352"/>
            <a:ext cx="182880" cy="18288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85032" y="3182112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x₁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605272" y="3182112"/>
            <a:ext cx="2560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x₂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511296" y="2066544"/>
            <a:ext cx="5943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初位置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49824" y="2066544"/>
            <a:ext cx="5943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末位置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04288" y="3886200"/>
            <a:ext cx="3474720" cy="685800"/>
          </a:xfrm>
          <a:prstGeom prst="roundRect">
            <a:avLst>
              <a:gd name="adj" fmla="val 16000"/>
            </a:avLst>
          </a:prstGeom>
          <a:solidFill>
            <a:srgbClr val="EAF4F3"/>
          </a:solidFill>
          <a:ln w="12700">
            <a:solidFill>
              <a:srgbClr val="C6E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42032" y="4014216"/>
            <a:ext cx="299923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Δx = x₂ − x₁</a:t>
            </a:r>
            <a:endParaRPr lang="en-US" sz="2700" dirty="0"/>
          </a:p>
        </p:txBody>
      </p:sp>
      <p:sp>
        <p:nvSpPr>
          <p:cNvPr id="29" name="Text 27"/>
          <p:cNvSpPr txBox="1"/>
          <p:nvPr/>
        </p:nvSpPr>
        <p:spPr>
          <a:xfrm>
            <a:off x="1965960" y="4919472"/>
            <a:ext cx="434340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Δx &gt; 0：向 x 轴正方向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Δx &lt; 0：向 x 轴负方向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635240" y="1719072"/>
            <a:ext cx="3931920" cy="4370832"/>
          </a:xfrm>
          <a:prstGeom prst="roundRect">
            <a:avLst>
              <a:gd name="adj" fmla="val 3721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36992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思考与试论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936992" y="2542032"/>
            <a:ext cx="3054096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物体从 A 点运动到 B 点：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xₐ = 5 m，xᵦ = 2 m。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936992" y="3538728"/>
            <a:ext cx="3054096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代入：Δx = 2 − 5 = −3 m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大小：|Δx| = 3 m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方向：沿 x 轴负方向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891272" y="5102352"/>
            <a:ext cx="312724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19288" y="5230368"/>
            <a:ext cx="2871216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计算位移时，坐标必须带符号。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时间–位移图像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x–t 图像：把“位置随时间变化”画出来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横轴是时间 t，纵轴是位置 x；每一个点代表一个时刻的位置。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12648" y="1719072"/>
            <a:ext cx="6547104" cy="44256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读图三步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532888"/>
            <a:ext cx="292608" cy="292608"/>
          </a:xfrm>
          <a:prstGeom prst="ellipse">
            <a:avLst/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587752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523744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找点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2496312"/>
            <a:ext cx="4526280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 t，向上作垂线，与曲线交点的纵坐标就是 x。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319272"/>
            <a:ext cx="292608" cy="292608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374136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3310128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看线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084832" y="3282696"/>
            <a:ext cx="4526280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斜率表示速度：越陡，速度大小越大。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105656"/>
            <a:ext cx="292608" cy="292608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160520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096512"/>
            <a:ext cx="7315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比变化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084832" y="4069080"/>
            <a:ext cx="4526280" cy="429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同一时刻纵坐标相同 → 位置相同；水平线 → 静止。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77824" y="5074920"/>
            <a:ext cx="5760720" cy="685800"/>
          </a:xfrm>
          <a:prstGeom prst="roundRect">
            <a:avLst>
              <a:gd name="adj" fmla="val 16000"/>
            </a:avLst>
          </a:prstGeom>
          <a:solidFill>
            <a:srgbClr val="EAF4F3"/>
          </a:solidFill>
          <a:ln w="12700">
            <a:solidFill>
              <a:srgbClr val="C6E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60704" y="5257800"/>
            <a:ext cx="53949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注意：x–t 图像不是物体运动轨迹，它只描述位置和时间的关系。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43216" y="1719072"/>
            <a:ext cx="4123944" cy="4425696"/>
          </a:xfrm>
          <a:prstGeom prst="roundRect">
            <a:avLst>
              <a:gd name="adj" fmla="val 3548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35824" y="1965960"/>
            <a:ext cx="1005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65008" y="4754880"/>
            <a:ext cx="2880360" cy="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65008" y="4754880"/>
            <a:ext cx="0" cy="-242316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1018520" y="4654296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37576" y="2103120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83296" y="4736592"/>
            <a:ext cx="384048" cy="-54864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467344" y="4681728"/>
            <a:ext cx="365760" cy="-182880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8833104" y="4498848"/>
            <a:ext cx="384048" cy="-329184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217152" y="4169664"/>
            <a:ext cx="411480" cy="-420624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628632" y="3749040"/>
            <a:ext cx="356616" cy="-566928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985248" y="3182112"/>
            <a:ext cx="384048" cy="-603504"/>
          </a:xfrm>
          <a:prstGeom prst="line">
            <a:avLst/>
          </a:prstGeom>
          <a:noFill/>
          <a:ln w="3810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8083296" y="4736592"/>
            <a:ext cx="2322576" cy="0"/>
          </a:xfrm>
          <a:prstGeom prst="line">
            <a:avLst/>
          </a:prstGeom>
          <a:noFill/>
          <a:ln w="3175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9034272" y="4892040"/>
            <a:ext cx="502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B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静止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674352" y="2907792"/>
            <a:ext cx="109728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加速（斜率变大）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070848" y="5303520"/>
            <a:ext cx="80467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x–t 图像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时间–位移图像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从图像读运动：同一坐标系里的五条线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先看“点”与“交点”，再看“斜率”。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03504" y="1719072"/>
            <a:ext cx="6876288" cy="4453128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5266944"/>
            <a:ext cx="5120640" cy="0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43584" y="5266944"/>
            <a:ext cx="0" cy="-3163824"/>
          </a:xfrm>
          <a:prstGeom prst="line">
            <a:avLst/>
          </a:prstGeom>
          <a:noFill/>
          <a:ln w="22860">
            <a:solidFill>
              <a:srgbClr val="0C1B2A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437376" y="5166360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1874520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84832" y="5212080"/>
            <a:ext cx="0" cy="109728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2011680" y="533095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5212080"/>
            <a:ext cx="0" cy="109728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2852928" y="533095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67328" y="5212080"/>
            <a:ext cx="0" cy="109728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3694176" y="533095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08576" y="5212080"/>
            <a:ext cx="0" cy="109728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4535424" y="533095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9824" y="5212080"/>
            <a:ext cx="0" cy="109728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5376672" y="5330952"/>
            <a:ext cx="164592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33856" y="4572000"/>
            <a:ext cx="109728" cy="0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896112" y="4471416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33856" y="3931920"/>
            <a:ext cx="109728" cy="0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896112" y="3831336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33856" y="3291840"/>
            <a:ext cx="109728" cy="0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896112" y="3191256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33856" y="2651760"/>
            <a:ext cx="109728" cy="0"/>
          </a:xfrm>
          <a:prstGeom prst="line">
            <a:avLst/>
          </a:prstGeom>
          <a:noFill/>
          <a:ln w="12700">
            <a:solidFill>
              <a:srgbClr val="0C1B2A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 txBox="1"/>
          <p:nvPr/>
        </p:nvSpPr>
        <p:spPr>
          <a:xfrm>
            <a:off x="896112" y="2551176"/>
            <a:ext cx="1828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84832" y="5212080"/>
            <a:ext cx="1874520" cy="-2560320"/>
          </a:xfrm>
          <a:prstGeom prst="line">
            <a:avLst/>
          </a:prstGeom>
          <a:noFill/>
          <a:ln w="3429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4041648" y="2523744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43584" y="4526280"/>
            <a:ext cx="4224528" cy="-1115568"/>
          </a:xfrm>
          <a:prstGeom prst="line">
            <a:avLst/>
          </a:prstGeom>
          <a:noFill/>
          <a:ln w="30480">
            <a:solidFill>
              <a:srgbClr val="2B7A78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5449824" y="3246120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43584" y="4443984"/>
            <a:ext cx="4224528" cy="0"/>
          </a:xfrm>
          <a:prstGeom prst="line">
            <a:avLst/>
          </a:prstGeom>
          <a:noFill/>
          <a:ln w="30480">
            <a:solidFill>
              <a:srgbClr val="4FB3BF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 txBox="1"/>
          <p:nvPr/>
        </p:nvSpPr>
        <p:spPr>
          <a:xfrm>
            <a:off x="5504688" y="4325112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FB3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43584" y="5212080"/>
            <a:ext cx="2468880" cy="-914400"/>
          </a:xfrm>
          <a:prstGeom prst="line">
            <a:avLst/>
          </a:prstGeom>
          <a:noFill/>
          <a:ln w="30480">
            <a:solidFill>
              <a:srgbClr val="3F76A8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3794760" y="4142232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7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43584" y="5212080"/>
            <a:ext cx="2468880" cy="-1828800"/>
          </a:xfrm>
          <a:prstGeom prst="line">
            <a:avLst/>
          </a:prstGeom>
          <a:noFill/>
          <a:ln w="30480">
            <a:solidFill>
              <a:srgbClr val="C75C5C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712464" y="3383280"/>
            <a:ext cx="1463040" cy="1115568"/>
          </a:xfrm>
          <a:prstGeom prst="line">
            <a:avLst/>
          </a:prstGeom>
          <a:noFill/>
          <a:ln w="30480">
            <a:solidFill>
              <a:srgbClr val="C75C5C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 txBox="1"/>
          <p:nvPr/>
        </p:nvSpPr>
        <p:spPr>
          <a:xfrm>
            <a:off x="3657600" y="3127248"/>
            <a:ext cx="2194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799832" y="1719072"/>
            <a:ext cx="3749040" cy="4453128"/>
          </a:xfrm>
          <a:prstGeom prst="roundRect">
            <a:avLst>
              <a:gd name="adj" fmla="val 3902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92440" y="1984248"/>
            <a:ext cx="1417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读图任务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8161020" y="2711196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21040" y="2606040"/>
            <a:ext cx="281635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 t=3，哪两物体位置相同？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161020" y="3012948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1040" y="2907792"/>
            <a:ext cx="281635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哪条线表示静止？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161020" y="3314700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1040" y="3209544"/>
            <a:ext cx="281635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谁的速度方向发生改变？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161020" y="3616452"/>
            <a:ext cx="82296" cy="82296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21040" y="3511296"/>
            <a:ext cx="281635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哪条线斜率最大，速度最大？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065008" y="4782312"/>
            <a:ext cx="3154680" cy="841248"/>
          </a:xfrm>
          <a:prstGeom prst="roundRect">
            <a:avLst>
              <a:gd name="adj" fmla="val 13043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66176" y="4956048"/>
            <a:ext cx="274320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答题句式：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“看 t=… 的竖线，与…线交点的 x 值…”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位移和时间的测量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把连续运动“切成一格一格”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实验的核心：用已知时间间隔标记位置，再从点迹读出位移。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2461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048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167128"/>
            <a:ext cx="4754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秒表 + 刻度尺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81912" y="2514600"/>
            <a:ext cx="21488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适合较慢、易观察的运动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828800"/>
            <a:ext cx="32461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2048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2167128"/>
            <a:ext cx="4754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76672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 / 电火花打点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76672" y="2514600"/>
            <a:ext cx="21488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固定频率，纸带上留下点迹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1828800"/>
            <a:ext cx="3246120" cy="1847088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2048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22208" y="2167128"/>
            <a:ext cx="47548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71432" y="2084832"/>
            <a:ext cx="21031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频闪照相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2514600"/>
            <a:ext cx="21488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等时间间隔连续曝光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一条“数据链”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86384" y="4663440"/>
            <a:ext cx="2057400" cy="310896"/>
          </a:xfrm>
          <a:prstGeom prst="roundRect">
            <a:avLst>
              <a:gd name="adj" fmla="val 4411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4681728"/>
            <a:ext cx="2057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已知频率 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16936" y="4818888"/>
            <a:ext cx="420624" cy="0"/>
          </a:xfrm>
          <a:prstGeom prst="line">
            <a:avLst/>
          </a:prstGeom>
          <a:noFill/>
          <a:ln w="1524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529584" y="4663440"/>
            <a:ext cx="2057400" cy="310896"/>
          </a:xfrm>
          <a:prstGeom prst="roundRect">
            <a:avLst>
              <a:gd name="adj" fmla="val 44118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9584" y="4681728"/>
            <a:ext cx="2057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时间间隔 Δt = 1/f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0136" y="4818888"/>
            <a:ext cx="420624" cy="0"/>
          </a:xfrm>
          <a:prstGeom prst="line">
            <a:avLst/>
          </a:prstGeom>
          <a:noFill/>
          <a:ln w="1524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72784" y="4663440"/>
            <a:ext cx="2057400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2784" y="4681728"/>
            <a:ext cx="2057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点迹间距 Δx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03336" y="4818888"/>
            <a:ext cx="420624" cy="0"/>
          </a:xfrm>
          <a:prstGeom prst="line">
            <a:avLst/>
          </a:prstGeom>
          <a:noFill/>
          <a:ln w="15240">
            <a:solidFill>
              <a:srgbClr val="6B7C85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15984" y="4663440"/>
            <a:ext cx="2057400" cy="310896"/>
          </a:xfrm>
          <a:prstGeom prst="roundRect">
            <a:avLst>
              <a:gd name="adj" fmla="val 44118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15984" y="4681728"/>
            <a:ext cx="2057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判断运动状态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623560"/>
            <a:ext cx="10716768" cy="384048"/>
          </a:xfrm>
          <a:prstGeom prst="roundRect">
            <a:avLst>
              <a:gd name="adj" fmla="val 23810"/>
            </a:avLst>
          </a:prstGeom>
          <a:solidFill>
            <a:srgbClr val="E8F1F2"/>
          </a:solidFill>
          <a:ln w="12700">
            <a:solidFill>
              <a:srgbClr val="E8F1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" y="5715000"/>
            <a:ext cx="102870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实验思维：先确定“时间单位”，再用刻度把“位移”量出来。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位移和时间的测量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两种打点计时器：同频率，不同“落点方式”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Hz 时，每隔 0.02 s 打一点：T = 1/f。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19072"/>
            <a:ext cx="5532120" cy="4407408"/>
          </a:xfrm>
          <a:prstGeom prst="roundRect">
            <a:avLst>
              <a:gd name="adj" fmla="val 3320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47672"/>
            <a:ext cx="2514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电磁打点计时器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1051560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414016"/>
            <a:ext cx="10515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 8 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84832" y="2395728"/>
            <a:ext cx="850392" cy="310896"/>
          </a:xfrm>
          <a:prstGeom prst="roundRect">
            <a:avLst>
              <a:gd name="adj" fmla="val 44118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84832" y="2414016"/>
            <a:ext cx="8503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Hz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54096" y="2395728"/>
            <a:ext cx="1371600" cy="310896"/>
          </a:xfrm>
          <a:prstGeom prst="roundRect">
            <a:avLst>
              <a:gd name="adj" fmla="val 44118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54096" y="2414016"/>
            <a:ext cx="1371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= 0.02 s/点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" y="3044952"/>
            <a:ext cx="4526280" cy="1344168"/>
          </a:xfrm>
          <a:prstGeom prst="roundRect">
            <a:avLst>
              <a:gd name="adj" fmla="val 8163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8448" y="3685032"/>
            <a:ext cx="3803904" cy="164592"/>
          </a:xfrm>
          <a:prstGeom prst="rect">
            <a:avLst/>
          </a:prstGeom>
          <a:solidFill>
            <a:srgbClr val="B7C8CC"/>
          </a:solidFill>
          <a:ln w="12700">
            <a:solidFill>
              <a:srgbClr val="B7C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36192" y="3401568"/>
            <a:ext cx="0" cy="420624"/>
          </a:xfrm>
          <a:prstGeom prst="line">
            <a:avLst/>
          </a:prstGeom>
          <a:noFill/>
          <a:ln w="33020">
            <a:solidFill>
              <a:srgbClr val="E98A5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463040" y="3282696"/>
            <a:ext cx="146304" cy="14630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3236976"/>
            <a:ext cx="1078992" cy="429768"/>
          </a:xfrm>
          <a:prstGeom prst="rect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93392" y="3337560"/>
            <a:ext cx="84124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33088" y="3236976"/>
            <a:ext cx="475488" cy="475488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4059936"/>
            <a:ext cx="20116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线圈 + 永久磁铁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727448"/>
            <a:ext cx="2697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电火花打点计时器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129784"/>
            <a:ext cx="44805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原理相同：以固定频率记录时刻；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纸带上留下电火花和墨粉点。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1719072"/>
            <a:ext cx="5120640" cy="4407408"/>
          </a:xfrm>
          <a:prstGeom prst="roundRect">
            <a:avLst>
              <a:gd name="adj" fmla="val 3320"/>
            </a:avLst>
          </a:prstGeom>
          <a:solidFill>
            <a:srgbClr val="EDF4F4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9984" y="1947672"/>
            <a:ext cx="2423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教材器材图 · 批注要点</a:t>
            </a:r>
            <a:endParaRPr lang="en-US" sz="1400" dirty="0"/>
          </a:p>
        </p:txBody>
      </p:sp>
      <p:pic>
        <p:nvPicPr>
          <p:cNvPr id="26" name="Image 0" descr="C:\Users\San\workspace\physics\ppt_assets\教材批注_timer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2313432"/>
            <a:ext cx="4526280" cy="312724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757416" y="5733288"/>
            <a:ext cx="448056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纸带上的每个点，都对应一个确定的时刻。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位移和时间的测量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频闪照相：等时间间隔的“连续定格”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频闪灯按固定频率闪光；同一张照片上出现物体在不同时刻的位置。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12648" y="1719072"/>
            <a:ext cx="6903720" cy="43891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47672"/>
            <a:ext cx="1417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位置序列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24128" y="4224528"/>
            <a:ext cx="5806440" cy="0"/>
          </a:xfrm>
          <a:prstGeom prst="line">
            <a:avLst/>
          </a:prstGeom>
          <a:noFill/>
          <a:ln w="17780">
            <a:solidFill>
              <a:srgbClr val="6B7C85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79576" y="4105656"/>
            <a:ext cx="237744" cy="23774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35608" y="3840480"/>
            <a:ext cx="365760" cy="0"/>
          </a:xfrm>
          <a:prstGeom prst="line">
            <a:avLst/>
          </a:prstGeom>
          <a:noFill/>
          <a:ln w="1778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19656" y="4105656"/>
            <a:ext cx="237744" cy="237744"/>
          </a:xfrm>
          <a:prstGeom prst="ellipse">
            <a:avLst/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83080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3840480"/>
            <a:ext cx="484632" cy="0"/>
          </a:xfrm>
          <a:prstGeom prst="line">
            <a:avLst/>
          </a:prstGeom>
          <a:noFill/>
          <a:ln w="1778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78608" y="4105656"/>
            <a:ext cx="237744" cy="23774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42032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3840480"/>
            <a:ext cx="640080" cy="0"/>
          </a:xfrm>
          <a:prstGeom prst="line">
            <a:avLst/>
          </a:prstGeom>
          <a:noFill/>
          <a:ln w="1778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93008" y="4105656"/>
            <a:ext cx="237744" cy="23774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56432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3840480"/>
            <a:ext cx="795528" cy="0"/>
          </a:xfrm>
          <a:prstGeom prst="line">
            <a:avLst/>
          </a:prstGeom>
          <a:noFill/>
          <a:ln w="1778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62856" y="4105656"/>
            <a:ext cx="237744" cy="23774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18888" y="3840480"/>
            <a:ext cx="786384" cy="0"/>
          </a:xfrm>
          <a:prstGeom prst="line">
            <a:avLst/>
          </a:prstGeom>
          <a:noFill/>
          <a:ln w="17780">
            <a:solidFill>
              <a:srgbClr val="E98A5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23560" y="4105656"/>
            <a:ext cx="237744" cy="237744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86984" y="4498848"/>
            <a:ext cx="31089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5065776"/>
            <a:ext cx="5669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点距越来越大 → 相同时间内位移变大 → 速度变大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2651760"/>
            <a:ext cx="1143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闪光频率 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40280" y="2779776"/>
            <a:ext cx="3108960" cy="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063240" y="2596896"/>
            <a:ext cx="1417320" cy="310896"/>
          </a:xfrm>
          <a:prstGeom prst="roundRect">
            <a:avLst>
              <a:gd name="adj" fmla="val 44118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63240" y="2615184"/>
            <a:ext cx="14173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每隔 Δt = 1/f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663440" y="2651760"/>
            <a:ext cx="987552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曝光一次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836408" y="1719072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EAF4F3"/>
          </a:solidFill>
          <a:ln w="12700">
            <a:solidFill>
              <a:srgbClr val="C6E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1987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如何读图？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79308" y="2738628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39328" y="2633472"/>
            <a:ext cx="2633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先数点：点与点之间的时间相同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179308" y="3040380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39328" y="2935224"/>
            <a:ext cx="2633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再量距：用刻度尺测 Δx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179308" y="3342132"/>
            <a:ext cx="82296" cy="82296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39328" y="3236976"/>
            <a:ext cx="263347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最后比较：Δx/Δt 反映快慢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101584" y="4782312"/>
            <a:ext cx="3163824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C6E3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66176" y="4956048"/>
            <a:ext cx="283464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照片能记录“在哪里”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也能推出“运动多快”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 · 位移和时间的测量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实验：从纸带点迹读出位移和时间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建议让学生先设计记录表，再开始测量。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12648" y="1719072"/>
            <a:ext cx="6675120" cy="4425696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96112" y="2560320"/>
            <a:ext cx="274320" cy="2743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2606040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2551176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固定装置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542032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打点计时器与长木板稳定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33272" y="2852928"/>
            <a:ext cx="0" cy="237744"/>
          </a:xfrm>
          <a:prstGeom prst="line">
            <a:avLst/>
          </a:prstGeom>
          <a:noFill/>
          <a:ln w="1778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96112" y="3136392"/>
            <a:ext cx="274320" cy="2743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3182112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127248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安装纸带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3118104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纸带穿过限位孔，接在小车上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33272" y="3429000"/>
            <a:ext cx="0" cy="237744"/>
          </a:xfrm>
          <a:prstGeom prst="line">
            <a:avLst/>
          </a:prstGeom>
          <a:noFill/>
          <a:ln w="1778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96112" y="3712464"/>
            <a:ext cx="274320" cy="274320"/>
          </a:xfrm>
          <a:prstGeom prst="ellipse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3758184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" y="3703320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打点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724912" y="3694176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先接通电源，再拉动纸带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33272" y="4005072"/>
            <a:ext cx="0" cy="237744"/>
          </a:xfrm>
          <a:prstGeom prst="line">
            <a:avLst/>
          </a:prstGeom>
          <a:noFill/>
          <a:ln w="1778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96112" y="4288536"/>
            <a:ext cx="274320" cy="274320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" y="4334256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4279392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数点与计时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4270248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个点 → t = (n−1)×0.02 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33272" y="4581144"/>
            <a:ext cx="0" cy="237744"/>
          </a:xfrm>
          <a:prstGeom prst="line">
            <a:avLst/>
          </a:prstGeom>
          <a:noFill/>
          <a:ln w="1778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96112" y="4864608"/>
            <a:ext cx="274320" cy="274320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4910328"/>
            <a:ext cx="201168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353312" y="4855464"/>
            <a:ext cx="13258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量位移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724912" y="4846320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刻度尺量起始点到第 n 点的 xₙ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1719072"/>
            <a:ext cx="3977640" cy="4425696"/>
          </a:xfrm>
          <a:prstGeom prst="roundRect">
            <a:avLst>
              <a:gd name="adj" fmla="val 3678"/>
            </a:avLst>
          </a:prstGeom>
          <a:solidFill>
            <a:srgbClr val="FFF5D9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82128" y="1965960"/>
            <a:ext cx="1325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点迹示意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110728" y="3218688"/>
            <a:ext cx="2926080" cy="0"/>
          </a:xfrm>
          <a:prstGeom prst="line">
            <a:avLst/>
          </a:prstGeom>
          <a:noFill/>
          <a:ln w="15240">
            <a:solidFill>
              <a:srgbClr val="6B7C85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188452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74736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444484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30768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855964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842248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496044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482328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428732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415016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1663172" y="3159252"/>
            <a:ext cx="118872" cy="118872"/>
          </a:xfrm>
          <a:prstGeom prst="ellipse">
            <a:avLst/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649456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412480" y="3803904"/>
            <a:ext cx="22402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8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相邻点距逐渐变大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275320" y="4169664"/>
            <a:ext cx="260604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相同时间内位移变大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运动越来越快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028432" y="5047488"/>
            <a:ext cx="3063240" cy="521208"/>
          </a:xfrm>
          <a:prstGeom prst="roundRect">
            <a:avLst>
              <a:gd name="adj" fmla="val 17544"/>
            </a:avLst>
          </a:prstGeom>
          <a:solidFill>
            <a:srgbClr val="FFFFFF"/>
          </a:solidFill>
          <a:ln w="12700">
            <a:solidFill>
              <a:srgbClr val="F6E4A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183880" y="5202936"/>
            <a:ext cx="2743200" cy="1920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误差来源：电压过低、振针过高、纸带松弛。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9184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7A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 · 小结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12648"/>
            <a:ext cx="89611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把四句话带出教室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30352" y="1115568"/>
            <a:ext cx="107899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用一句话、一张图、一个公式，完成知识闭环。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08176"/>
            <a:ext cx="11155680" cy="0"/>
          </a:xfrm>
          <a:prstGeom prst="line">
            <a:avLst/>
          </a:prstGeom>
          <a:noFill/>
          <a:ln w="12700">
            <a:solidFill>
              <a:srgbClr val="C9D8D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85800" y="1810512"/>
            <a:ext cx="4956048" cy="1124712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993392"/>
            <a:ext cx="530352" cy="438912"/>
          </a:xfrm>
          <a:prstGeom prst="roundRect">
            <a:avLst>
              <a:gd name="adj" fmla="val 20833"/>
            </a:avLst>
          </a:prstGeom>
          <a:solidFill>
            <a:srgbClr val="F4C95D"/>
          </a:solidFill>
          <a:ln w="12700">
            <a:solidFill>
              <a:srgbClr val="F4C9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12264"/>
            <a:ext cx="5303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 &amp; 时间间隔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81912" y="2340864"/>
            <a:ext cx="37490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时刻是点；时间间隔是段。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810512"/>
            <a:ext cx="4956048" cy="1124712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28232" y="1993392"/>
            <a:ext cx="530352" cy="438912"/>
          </a:xfrm>
          <a:prstGeom prst="roundRect">
            <a:avLst>
              <a:gd name="adj" fmla="val 20833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8232" y="2112264"/>
            <a:ext cx="5303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41464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&amp; 位移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41464" y="2340864"/>
            <a:ext cx="37490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位置要靠坐标系；位移 Δx=x₂−x₁，带方向。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319272"/>
            <a:ext cx="4956048" cy="1124712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02152"/>
            <a:ext cx="530352" cy="438912"/>
          </a:xfrm>
          <a:prstGeom prst="roundRect">
            <a:avLst>
              <a:gd name="adj" fmla="val 20833"/>
            </a:avLst>
          </a:prstGeom>
          <a:solidFill>
            <a:srgbClr val="4FB3BF"/>
          </a:solidFill>
          <a:ln w="12700">
            <a:solidFill>
              <a:srgbClr val="4FB3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621024"/>
            <a:ext cx="5303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81912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x–t 图像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81912" y="3849624"/>
            <a:ext cx="37490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 t、纵 x；斜率表示速度，交点表示同一位置。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45352" y="3319272"/>
            <a:ext cx="4956048" cy="1124712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8232" y="3502152"/>
            <a:ext cx="530352" cy="438912"/>
          </a:xfrm>
          <a:prstGeom prst="roundRect">
            <a:avLst>
              <a:gd name="adj" fmla="val 20833"/>
            </a:avLst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8232" y="3621024"/>
            <a:ext cx="530352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41464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C1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141464" y="3849624"/>
            <a:ext cx="37490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C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Hz → 0.02 s/点；数点得时间，量距得位移。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5800" y="5065776"/>
            <a:ext cx="10561320" cy="749808"/>
          </a:xfrm>
          <a:prstGeom prst="roundRect">
            <a:avLst>
              <a:gd name="adj" fmla="val 17073"/>
            </a:avLst>
          </a:prstGeom>
          <a:solidFill>
            <a:srgbClr val="0C1B2A"/>
          </a:solidFill>
          <a:ln w="12700">
            <a:solidFill>
              <a:srgbClr val="0C1B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5257800"/>
            <a:ext cx="9601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C9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出口题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5221224"/>
            <a:ext cx="6080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物体从 x₁=+8 m 运动到 x₂=−4 m：位移是多少？方向如何？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5559552"/>
            <a:ext cx="60807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BDE0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Δx = −4 − (+8) = −12 m，方向沿 x 轴负方向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997696" y="5303520"/>
            <a:ext cx="1353312" cy="310896"/>
          </a:xfrm>
          <a:prstGeom prst="roundRect">
            <a:avLst>
              <a:gd name="adj" fmla="val 44118"/>
            </a:avLst>
          </a:prstGeom>
          <a:solidFill>
            <a:srgbClr val="E98A5B"/>
          </a:solidFill>
          <a:ln w="12700">
            <a:solidFill>
              <a:srgbClr val="E98A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997696" y="5321808"/>
            <a:ext cx="135331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下节课：速度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C8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物理教学课件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1.2 时间 位移</dc:title>
  <dc:subject>人教版高中物理必修一 1.2 时间 位移</dc:subject>
  <dc:creator>高中物理课堂</dc:creator>
  <cp:lastModifiedBy>高中物理课堂</cp:lastModifiedBy>
  <cp:revision>1</cp:revision>
  <dcterms:created xsi:type="dcterms:W3CDTF">2026-09-02T04:25:18Z</dcterms:created>
  <dcterms:modified xsi:type="dcterms:W3CDTF">2026-09-02T04:25:18Z</dcterms:modified>
</cp:coreProperties>
</file>