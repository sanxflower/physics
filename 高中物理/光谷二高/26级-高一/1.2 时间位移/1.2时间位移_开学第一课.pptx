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240"/>
          </a:solidFill>
          <a:ln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B7C7"/>
          </a:solidFill>
          <a:ln>
            <a:solidFill>
              <a:srgbClr val="2D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4937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2DB7C7"/>
                </a:solidFill>
                <a:latin typeface="Microsoft YaHei"/>
              </a:rPr>
              <a:t>高中物理 · 必修第一册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758952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icrosoft YaHei"/>
              </a:rPr>
              <a:t>1.2 时间和位移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40280"/>
            <a:ext cx="8046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0" i="0">
                <a:solidFill>
                  <a:srgbClr val="D2E6F4"/>
                </a:solidFill>
                <a:latin typeface="Microsoft YaHei"/>
              </a:rPr>
              <a:t>把“什么时候、在哪里、走了多远”说清楚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2971800"/>
            <a:ext cx="3840480" cy="0"/>
          </a:xfrm>
          <a:prstGeom prst="line">
            <a:avLst/>
          </a:prstGeom>
          <a:ln w="50800">
            <a:solidFill>
              <a:srgbClr val="F29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3246120"/>
            <a:ext cx="5669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BECDDC"/>
                </a:solidFill>
                <a:latin typeface="Microsoft YaHei"/>
              </a:rPr>
              <a:t>开学第一课 · 建模、读图与实验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589520" y="5394960"/>
            <a:ext cx="3657600" cy="0"/>
          </a:xfrm>
          <a:prstGeom prst="line">
            <a:avLst/>
          </a:prstGeom>
          <a:ln w="25400">
            <a:solidFill>
              <a:srgbClr val="2D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589520" y="2011680"/>
            <a:ext cx="0" cy="3383280"/>
          </a:xfrm>
          <a:prstGeom prst="line">
            <a:avLst/>
          </a:prstGeom>
          <a:ln w="25400">
            <a:solidFill>
              <a:srgbClr val="2D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507224" y="5312664"/>
            <a:ext cx="164592" cy="164592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5532120"/>
            <a:ext cx="228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O</a:t>
            </a:r>
          </a:p>
        </p:txBody>
      </p:sp>
      <p:sp>
        <p:nvSpPr>
          <p:cNvPr id="13" name="Oval 12"/>
          <p:cNvSpPr/>
          <p:nvPr/>
        </p:nvSpPr>
        <p:spPr>
          <a:xfrm>
            <a:off x="8604504" y="5312664"/>
            <a:ext cx="164592" cy="164592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5532120"/>
            <a:ext cx="228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10250424" y="5312664"/>
            <a:ext cx="164592" cy="164592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22992" y="5532120"/>
            <a:ext cx="228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1737360"/>
            <a:ext cx="32004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F7CB4A"/>
                </a:solidFill>
                <a:latin typeface="Microsoft YaHei"/>
              </a:rPr>
              <a:t>时间轴 × 坐标轴 × 纸带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51052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565392"/>
            <a:ext cx="7315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4C5D7"/>
                </a:solidFill>
                <a:latin typeface="Microsoft YaHei"/>
              </a:rPr>
              <a:t>光谷二高 · 高一年级物理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56032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5303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7CB4A"/>
                </a:solidFill>
                <a:latin typeface="Microsoft YaHei"/>
              </a:rPr>
              <a:t>01 · 情境导入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12648"/>
            <a:ext cx="100584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Microsoft YaHei"/>
              </a:rPr>
              <a:t>如果要准确描述一辆车的运动，我们需要什么？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教材批注_intro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72768"/>
            <a:ext cx="4800600" cy="4434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15000" y="1645920"/>
            <a:ext cx="5715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15000" y="1645920"/>
            <a:ext cx="73152" cy="1143000"/>
          </a:xfrm>
          <a:prstGeom prst="roundRect">
            <a:avLst>
              <a:gd name="adj" fmla="val 8000"/>
            </a:avLst>
          </a:prstGeom>
          <a:solidFill>
            <a:srgbClr val="2DB7C7"/>
          </a:solidFill>
          <a:ln>
            <a:solidFill>
              <a:srgbClr val="2D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810512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2DB7C7"/>
                </a:solidFill>
                <a:latin typeface="Microsoft YaHei"/>
              </a:rPr>
              <a:t>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10512"/>
            <a:ext cx="47548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12240"/>
                </a:solidFill>
                <a:latin typeface="Microsoft YaHei"/>
              </a:rPr>
              <a:t>先问两个问题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267712"/>
            <a:ext cx="5257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12C3A"/>
                </a:solidFill>
                <a:latin typeface="Microsoft YaHei"/>
              </a:rPr>
              <a:t>① 在什么时候？ ② 在哪里？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297180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15000" y="2971800"/>
            <a:ext cx="73152" cy="1920240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3136392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F2923D"/>
                </a:solidFill>
                <a:latin typeface="Microsoft YaHei"/>
              </a:rPr>
              <a:t>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136392"/>
            <a:ext cx="1737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12240"/>
                </a:solidFill>
                <a:latin typeface="Microsoft YaHei"/>
              </a:rPr>
              <a:t>时间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593592"/>
            <a:ext cx="224028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12C3A"/>
                </a:solidFill>
                <a:latin typeface="Microsoft YaHei"/>
              </a:rPr>
              <a:t>一个瞬间
还是一段过程？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97180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32520" y="2971800"/>
            <a:ext cx="73152" cy="1920240"/>
          </a:xfrm>
          <a:prstGeom prst="roundRect">
            <a:avLst>
              <a:gd name="adj" fmla="val 8000"/>
            </a:avLst>
          </a:prstGeom>
          <a:solidFill>
            <a:srgbClr val="1D6FBF"/>
          </a:solidFill>
          <a:ln>
            <a:solidFill>
              <a:srgbClr val="1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3136392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1D6FBF"/>
                </a:solidFill>
                <a:latin typeface="Microsoft YaHei"/>
              </a:rPr>
              <a:t>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136392"/>
            <a:ext cx="1737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12240"/>
                </a:solidFill>
                <a:latin typeface="Microsoft YaHei"/>
              </a:rPr>
              <a:t>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593592"/>
            <a:ext cx="224028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12C3A"/>
                </a:solidFill>
                <a:latin typeface="Microsoft YaHei"/>
              </a:rPr>
              <a:t>需要参考系
和坐标来表达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5303520"/>
            <a:ext cx="5715000" cy="566928"/>
          </a:xfrm>
          <a:prstGeom prst="roundRect">
            <a:avLst>
              <a:gd name="adj" fmla="val 8000"/>
            </a:avLst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25312" y="5468112"/>
            <a:ext cx="53035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112240"/>
                </a:solidFill>
                <a:latin typeface="Microsoft YaHei"/>
              </a:rPr>
              <a:t>本节主线：生活语言 → 坐标语言 → 图像语言 → 实验数据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51052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565392"/>
            <a:ext cx="7315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4C5D7"/>
                </a:solidFill>
                <a:latin typeface="Microsoft YaHei"/>
              </a:rPr>
              <a:t>第一章 运动的描述 · 1.2 时间和位移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56032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5303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7CB4A"/>
                </a:solidFill>
                <a:latin typeface="Microsoft YaHei"/>
              </a:rPr>
              <a:t>02 · 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12648"/>
            <a:ext cx="100584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Microsoft YaHei"/>
              </a:rPr>
              <a:t>今天下课时，你应该能做到这四件事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737360"/>
            <a:ext cx="251460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1993392"/>
            <a:ext cx="777240" cy="777240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176272"/>
            <a:ext cx="777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35808"/>
            <a:ext cx="20574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900" b="1" i="0">
                <a:solidFill>
                  <a:srgbClr val="112240"/>
                </a:solidFill>
                <a:latin typeface="Microsoft YaHei"/>
              </a:rPr>
              <a:t>辨析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66160"/>
            <a:ext cx="196596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0" i="0">
                <a:solidFill>
                  <a:srgbClr val="212C3A"/>
                </a:solidFill>
                <a:latin typeface="Microsoft YaHei"/>
              </a:rPr>
              <a:t>时刻 vs 时间间隔
路程 vs 位移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4617720"/>
            <a:ext cx="1691640" cy="0"/>
          </a:xfrm>
          <a:prstGeom prst="line">
            <a:avLst/>
          </a:prstGeom>
          <a:ln w="38100">
            <a:solidFill>
              <a:srgbClr val="F29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737360"/>
            <a:ext cx="251460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9120" y="1993392"/>
            <a:ext cx="777240" cy="777240"/>
          </a:xfrm>
          <a:prstGeom prst="ellipse">
            <a:avLst/>
          </a:prstGeom>
          <a:solidFill>
            <a:srgbClr val="1D6FBF"/>
          </a:solidFill>
          <a:ln>
            <a:solidFill>
              <a:srgbClr val="1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176272"/>
            <a:ext cx="777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035808"/>
            <a:ext cx="20574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900" b="1" i="0">
                <a:solidFill>
                  <a:srgbClr val="112240"/>
                </a:solidFill>
                <a:latin typeface="Microsoft YaHei"/>
              </a:rPr>
              <a:t>建模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566160"/>
            <a:ext cx="196596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0" i="0">
                <a:solidFill>
                  <a:srgbClr val="212C3A"/>
                </a:solidFill>
                <a:latin typeface="Microsoft YaHei"/>
              </a:rPr>
              <a:t>建立一维坐标系
读写位置坐标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4617720"/>
            <a:ext cx="1691640" cy="0"/>
          </a:xfrm>
          <a:prstGeom prst="line">
            <a:avLst/>
          </a:prstGeom>
          <a:ln w="38100">
            <a:solidFill>
              <a:srgbClr val="1D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55080" y="1737360"/>
            <a:ext cx="251460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23760" y="1993392"/>
            <a:ext cx="777240" cy="777240"/>
          </a:xfrm>
          <a:prstGeom prst="ellipse">
            <a:avLst/>
          </a:prstGeom>
          <a:solidFill>
            <a:srgbClr val="2DB7C7"/>
          </a:solidFill>
          <a:ln>
            <a:solidFill>
              <a:srgbClr val="2D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176272"/>
            <a:ext cx="777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035808"/>
            <a:ext cx="20574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900" b="1" i="0">
                <a:solidFill>
                  <a:srgbClr val="112240"/>
                </a:solidFill>
                <a:latin typeface="Microsoft YaHei"/>
              </a:rPr>
              <a:t>读图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566160"/>
            <a:ext cx="196596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0" i="0">
                <a:solidFill>
                  <a:srgbClr val="212C3A"/>
                </a:solidFill>
                <a:latin typeface="Microsoft YaHei"/>
              </a:rPr>
              <a:t>从 x-t 图像读位置、相遇
理解斜率与速度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66560" y="4617720"/>
            <a:ext cx="1691640" cy="0"/>
          </a:xfrm>
          <a:prstGeom prst="line">
            <a:avLst/>
          </a:prstGeom>
          <a:ln w="38100">
            <a:solidFill>
              <a:srgbClr val="2DB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89720" y="1737360"/>
            <a:ext cx="251460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0" y="1993392"/>
            <a:ext cx="777240" cy="777240"/>
          </a:xfrm>
          <a:prstGeom prst="ellipse">
            <a:avLst/>
          </a:prstGeom>
          <a:solidFill>
            <a:srgbClr val="37A674"/>
          </a:solidFill>
          <a:ln>
            <a:solidFill>
              <a:srgbClr val="37A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2176272"/>
            <a:ext cx="777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035808"/>
            <a:ext cx="20574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900" b="1" i="0">
                <a:solidFill>
                  <a:srgbClr val="112240"/>
                </a:solidFill>
                <a:latin typeface="Microsoft YaHei"/>
              </a:rPr>
              <a:t>测量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3566160"/>
            <a:ext cx="196596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0" i="0">
                <a:solidFill>
                  <a:srgbClr val="212C3A"/>
                </a:solidFill>
                <a:latin typeface="Microsoft YaHei"/>
              </a:rPr>
              <a:t>会算打点时间
会读纸带位移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01200" y="4617720"/>
            <a:ext cx="1691640" cy="0"/>
          </a:xfrm>
          <a:prstGeom prst="line">
            <a:avLst/>
          </a:prstGeom>
          <a:ln w="38100">
            <a:solidFill>
              <a:srgbClr val="37A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05840" y="5596128"/>
            <a:ext cx="101498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 i="0">
                <a:solidFill>
                  <a:srgbClr val="112240"/>
                </a:solidFill>
                <a:latin typeface="Microsoft YaHei"/>
              </a:rPr>
              <a:t>一条原则：先规定参考系与正方向，再描述物理量。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51052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565392"/>
            <a:ext cx="7315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4C5D7"/>
                </a:solidFill>
                <a:latin typeface="Microsoft YaHei"/>
              </a:rPr>
              <a:t>第一章 运动的描述 · 1.2 时间和位移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56032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5303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7CB4A"/>
                </a:solidFill>
                <a:latin typeface="Microsoft YaHei"/>
              </a:rPr>
              <a:t>03 · 时间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12648"/>
            <a:ext cx="100584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Microsoft YaHei"/>
              </a:rPr>
              <a:t>时刻是“点”，时间间隔是“线段”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572768"/>
            <a:ext cx="4572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BECDDC"/>
                </a:solidFill>
                <a:latin typeface="Microsoft YaHei"/>
              </a:rPr>
              <a:t>时间轴：箭头表示时间增大的方向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0120" y="2834640"/>
            <a:ext cx="9921240" cy="0"/>
          </a:xfrm>
          <a:prstGeom prst="line">
            <a:avLst/>
          </a:prstGeom>
          <a:ln w="25400">
            <a:solidFill>
              <a:srgbClr val="112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88720" y="2615184"/>
            <a:ext cx="0" cy="438912"/>
          </a:xfrm>
          <a:prstGeom prst="line">
            <a:avLst/>
          </a:prstGeom>
          <a:ln w="25400">
            <a:solidFill>
              <a:srgbClr val="112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267712"/>
            <a:ext cx="7315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8:00</a:t>
            </a:r>
          </a:p>
        </p:txBody>
      </p:sp>
      <p:sp>
        <p:nvSpPr>
          <p:cNvPr id="11" name="Oval 10"/>
          <p:cNvSpPr/>
          <p:nvPr/>
        </p:nvSpPr>
        <p:spPr>
          <a:xfrm>
            <a:off x="1115568" y="2761488"/>
            <a:ext cx="146304" cy="146304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532120" y="2615184"/>
            <a:ext cx="0" cy="438912"/>
          </a:xfrm>
          <a:prstGeom prst="line">
            <a:avLst/>
          </a:prstGeom>
          <a:ln w="25400">
            <a:solidFill>
              <a:srgbClr val="112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66359" y="2267712"/>
            <a:ext cx="7315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8:45</a:t>
            </a:r>
          </a:p>
        </p:txBody>
      </p:sp>
      <p:sp>
        <p:nvSpPr>
          <p:cNvPr id="14" name="Oval 13"/>
          <p:cNvSpPr/>
          <p:nvPr/>
        </p:nvSpPr>
        <p:spPr>
          <a:xfrm>
            <a:off x="5458968" y="2761488"/>
            <a:ext cx="146304" cy="146304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875520" y="2615184"/>
            <a:ext cx="0" cy="438912"/>
          </a:xfrm>
          <a:prstGeom prst="line">
            <a:avLst/>
          </a:prstGeom>
          <a:ln w="25400">
            <a:solidFill>
              <a:srgbClr val="112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509760" y="2267712"/>
            <a:ext cx="7315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9:00</a:t>
            </a:r>
          </a:p>
        </p:txBody>
      </p:sp>
      <p:sp>
        <p:nvSpPr>
          <p:cNvPr id="17" name="Oval 16"/>
          <p:cNvSpPr/>
          <p:nvPr/>
        </p:nvSpPr>
        <p:spPr>
          <a:xfrm>
            <a:off x="9802368" y="2761488"/>
            <a:ext cx="146304" cy="146304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188720" y="3474720"/>
            <a:ext cx="4343400" cy="0"/>
          </a:xfrm>
          <a:prstGeom prst="line">
            <a:avLst/>
          </a:prstGeom>
          <a:ln w="101600">
            <a:solidFill>
              <a:srgbClr val="F29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103120" y="3703320"/>
            <a:ext cx="2926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F2923D"/>
                </a:solidFill>
                <a:latin typeface="Microsoft YaHei"/>
              </a:rPr>
              <a:t>8:00—8:45：45 min（时间间隔）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572000"/>
            <a:ext cx="48920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572000"/>
            <a:ext cx="73152" cy="1188720"/>
          </a:xfrm>
          <a:prstGeom prst="roundRect">
            <a:avLst>
              <a:gd name="adj" fmla="val 8000"/>
            </a:avLst>
          </a:prstGeom>
          <a:solidFill>
            <a:srgbClr val="1D6FBF"/>
          </a:solidFill>
          <a:ln>
            <a:solidFill>
              <a:srgbClr val="1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736592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1D6FBF"/>
                </a:solidFill>
                <a:latin typeface="Microsoft YaHei"/>
              </a:rPr>
              <a:t>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36592"/>
            <a:ext cx="3931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12240"/>
                </a:solidFill>
                <a:latin typeface="Microsoft YaHei"/>
              </a:rPr>
              <a:t>时刻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193792"/>
            <a:ext cx="44348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12C3A"/>
                </a:solidFill>
                <a:latin typeface="Microsoft YaHei"/>
              </a:rPr>
              <a:t>某一瞬间；状态量；没有“长短”
例：8时上课、8时45分下课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572000"/>
            <a:ext cx="48920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4572000"/>
            <a:ext cx="73152" cy="1188720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736592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F2923D"/>
                </a:solidFill>
                <a:latin typeface="Microsoft YaHei"/>
              </a:rPr>
              <a:t>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59" y="4736592"/>
            <a:ext cx="3931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12240"/>
                </a:solidFill>
                <a:latin typeface="Microsoft YaHei"/>
              </a:rPr>
              <a:t>时间间隔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193792"/>
            <a:ext cx="44348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12C3A"/>
                </a:solidFill>
                <a:latin typeface="Microsoft YaHei"/>
              </a:rPr>
              <a:t>两个时刻之间的一段过程；有长短
例：从8时到8时45分，共45 min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51052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6565392"/>
            <a:ext cx="7315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4C5D7"/>
                </a:solidFill>
                <a:latin typeface="Microsoft YaHei"/>
              </a:rPr>
              <a:t>第一章 运动的描述 · 1.2 时间和位移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56032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5303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7CB4A"/>
                </a:solidFill>
                <a:latin typeface="Microsoft YaHei"/>
              </a:rPr>
              <a:t>04 · 课堂辨析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12648"/>
            <a:ext cx="100584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Microsoft YaHei"/>
              </a:rPr>
              <a:t>把日常表达“翻译”成物理语言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600200"/>
            <a:ext cx="10652760" cy="786384"/>
          </a:xfrm>
          <a:prstGeom prst="roundRect">
            <a:avLst>
              <a:gd name="adj" fmla="val 8000"/>
            </a:avLst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19202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112240"/>
                </a:solidFill>
                <a:latin typeface="Microsoft YaHei"/>
              </a:rPr>
              <a:t>第4 s末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764792"/>
            <a:ext cx="1508760" cy="384048"/>
          </a:xfrm>
          <a:prstGeom prst="roundRect">
            <a:avLst>
              <a:gd name="adj" fmla="val 8000"/>
            </a:avLst>
          </a:prstGeom>
          <a:solidFill>
            <a:srgbClr val="1D6FBF"/>
          </a:solidFill>
          <a:ln>
            <a:solidFill>
              <a:srgbClr val="1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837943"/>
            <a:ext cx="1508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时刻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783080"/>
            <a:ext cx="5715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212C3A"/>
                </a:solidFill>
                <a:latin typeface="Microsoft YaHei"/>
              </a:rPr>
              <a:t>与第5 s初是同一时刻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24328"/>
            <a:ext cx="10652760" cy="786384"/>
          </a:xfrm>
          <a:prstGeom prst="roundRect">
            <a:avLst>
              <a:gd name="adj" fmla="val 8000"/>
            </a:avLst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807208"/>
            <a:ext cx="19202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112240"/>
                </a:solidFill>
                <a:latin typeface="Microsoft YaHei"/>
              </a:rPr>
              <a:t>第5 s内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788920"/>
            <a:ext cx="1508760" cy="384048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2862072"/>
            <a:ext cx="1508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时间间隔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807208"/>
            <a:ext cx="5715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212C3A"/>
                </a:solidFill>
                <a:latin typeface="Microsoft YaHei"/>
              </a:rPr>
              <a:t>从第4 s初到第5 s末，共1 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48456"/>
            <a:ext cx="10652760" cy="786384"/>
          </a:xfrm>
          <a:prstGeom prst="roundRect">
            <a:avLst>
              <a:gd name="adj" fmla="val 8000"/>
            </a:avLst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831336"/>
            <a:ext cx="19202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112240"/>
                </a:solidFill>
                <a:latin typeface="Microsoft YaHei"/>
              </a:rPr>
              <a:t>前3 s内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3813048"/>
            <a:ext cx="1508760" cy="384048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3886200"/>
            <a:ext cx="1508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时间间隔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831336"/>
            <a:ext cx="5715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212C3A"/>
                </a:solidFill>
                <a:latin typeface="Microsoft YaHei"/>
              </a:rPr>
              <a:t>从0时刻到第3 s末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72584"/>
            <a:ext cx="10652760" cy="786384"/>
          </a:xfrm>
          <a:prstGeom prst="roundRect">
            <a:avLst>
              <a:gd name="adj" fmla="val 8000"/>
            </a:avLst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855464"/>
            <a:ext cx="19202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112240"/>
                </a:solidFill>
                <a:latin typeface="Microsoft YaHei"/>
              </a:rPr>
              <a:t>第5 s末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4837176"/>
            <a:ext cx="1508760" cy="384048"/>
          </a:xfrm>
          <a:prstGeom prst="roundRect">
            <a:avLst>
              <a:gd name="adj" fmla="val 8000"/>
            </a:avLst>
          </a:prstGeom>
          <a:solidFill>
            <a:srgbClr val="1D6FBF"/>
          </a:solidFill>
          <a:ln>
            <a:solidFill>
              <a:srgbClr val="1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4910328"/>
            <a:ext cx="1508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时刻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4855464"/>
            <a:ext cx="5715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212C3A"/>
                </a:solidFill>
                <a:latin typeface="Microsoft YaHei"/>
              </a:rPr>
              <a:t>时间轴上用一个点表示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06440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D64C4C"/>
                </a:solidFill>
                <a:latin typeface="Microsoft YaHei"/>
              </a:rPr>
              <a:t>口诀：看到“某时刻 / 初 / 末”先想点；看到“经过 / 用时 / 内”先想线段。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51052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6565392"/>
            <a:ext cx="7315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4C5D7"/>
                </a:solidFill>
                <a:latin typeface="Microsoft YaHei"/>
              </a:rPr>
              <a:t>第一章 运动的描述 · 1.2 时间和位移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56032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5303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7CB4A"/>
                </a:solidFill>
                <a:latin typeface="Microsoft YaHei"/>
              </a:rPr>
              <a:t>05 · 空间描述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12648"/>
            <a:ext cx="100584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Microsoft YaHei"/>
              </a:rPr>
              <a:t>位置不是“感觉”，而是坐标系中的一个数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645920"/>
            <a:ext cx="5486400" cy="4251960"/>
          </a:xfrm>
          <a:prstGeom prst="roundRect">
            <a:avLst>
              <a:gd name="adj" fmla="val 8000"/>
            </a:avLst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29260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112240"/>
                </a:solidFill>
                <a:latin typeface="Microsoft YaHei"/>
              </a:rPr>
              <a:t>一维坐标系三要素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34440" y="4023360"/>
            <a:ext cx="4480560" cy="0"/>
          </a:xfrm>
          <a:prstGeom prst="line">
            <a:avLst/>
          </a:prstGeom>
          <a:ln w="25400">
            <a:solidFill>
              <a:srgbClr val="112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17320" y="3813048"/>
            <a:ext cx="0" cy="420624"/>
          </a:xfrm>
          <a:prstGeom prst="line">
            <a:avLst/>
          </a:prstGeom>
          <a:ln w="25400">
            <a:solidFill>
              <a:srgbClr val="112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05840" y="4315968"/>
            <a:ext cx="8229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0" i="0">
                <a:solidFill>
                  <a:srgbClr val="112240"/>
                </a:solidFill>
                <a:latin typeface="Microsoft YaHei"/>
              </a:rPr>
              <a:t>−20 m</a:t>
            </a:r>
          </a:p>
        </p:txBody>
      </p:sp>
      <p:sp>
        <p:nvSpPr>
          <p:cNvPr id="12" name="Oval 11"/>
          <p:cNvSpPr/>
          <p:nvPr/>
        </p:nvSpPr>
        <p:spPr>
          <a:xfrm>
            <a:off x="1335024" y="3941063"/>
            <a:ext cx="164592" cy="164592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3108960" y="3813048"/>
            <a:ext cx="0" cy="420624"/>
          </a:xfrm>
          <a:prstGeom prst="line">
            <a:avLst/>
          </a:prstGeom>
          <a:ln w="25400">
            <a:solidFill>
              <a:srgbClr val="112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697479" y="4315968"/>
            <a:ext cx="8229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0" i="0">
                <a:solidFill>
                  <a:srgbClr val="112240"/>
                </a:solidFill>
                <a:latin typeface="Microsoft YaHei"/>
              </a:rPr>
              <a:t>O / 0</a:t>
            </a:r>
          </a:p>
        </p:txBody>
      </p:sp>
      <p:sp>
        <p:nvSpPr>
          <p:cNvPr id="15" name="Oval 14"/>
          <p:cNvSpPr/>
          <p:nvPr/>
        </p:nvSpPr>
        <p:spPr>
          <a:xfrm>
            <a:off x="3026664" y="3941063"/>
            <a:ext cx="164592" cy="164592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074920" y="3813048"/>
            <a:ext cx="0" cy="420624"/>
          </a:xfrm>
          <a:prstGeom prst="line">
            <a:avLst/>
          </a:prstGeom>
          <a:ln w="25400">
            <a:solidFill>
              <a:srgbClr val="112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63440" y="4315968"/>
            <a:ext cx="8229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0" i="0">
                <a:solidFill>
                  <a:srgbClr val="112240"/>
                </a:solidFill>
                <a:latin typeface="Microsoft YaHei"/>
              </a:rPr>
              <a:t>+30 m</a:t>
            </a:r>
          </a:p>
        </p:txBody>
      </p:sp>
      <p:sp>
        <p:nvSpPr>
          <p:cNvPr id="18" name="Oval 17"/>
          <p:cNvSpPr/>
          <p:nvPr/>
        </p:nvSpPr>
        <p:spPr>
          <a:xfrm>
            <a:off x="4992624" y="3941063"/>
            <a:ext cx="164592" cy="164592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1188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F2923D"/>
                </a:solidFill>
                <a:latin typeface="Microsoft YaHei"/>
              </a:rPr>
              <a:t>原点 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800600"/>
            <a:ext cx="14630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1D6FBF"/>
                </a:solidFill>
                <a:latin typeface="Microsoft YaHei"/>
              </a:rPr>
              <a:t>正方向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800600"/>
            <a:ext cx="12801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37A674"/>
                </a:solidFill>
                <a:latin typeface="Microsoft YaHei"/>
              </a:rPr>
              <a:t>单位长度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1645920"/>
            <a:ext cx="46634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29400" y="1645920"/>
            <a:ext cx="73152" cy="1280160"/>
          </a:xfrm>
          <a:prstGeom prst="roundRect">
            <a:avLst>
              <a:gd name="adj" fmla="val 8000"/>
            </a:avLst>
          </a:prstGeom>
          <a:solidFill>
            <a:srgbClr val="1D6FBF"/>
          </a:solidFill>
          <a:ln>
            <a:solidFill>
              <a:srgbClr val="1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810512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1D6FBF"/>
                </a:solidFill>
                <a:latin typeface="Microsoft YaHei"/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1810512"/>
            <a:ext cx="37033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12240"/>
                </a:solidFill>
                <a:latin typeface="Microsoft YaHei"/>
              </a:rPr>
              <a:t>位置 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267712"/>
            <a:ext cx="4206240" cy="5029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12C3A"/>
                </a:solidFill>
                <a:latin typeface="Microsoft YaHei"/>
              </a:rPr>
              <a:t>物体在某时刻所处的空间点
用该点的坐标表示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3182112"/>
            <a:ext cx="46634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29400" y="3182112"/>
            <a:ext cx="73152" cy="1280160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3346704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F2923D"/>
                </a:solidFill>
                <a:latin typeface="Microsoft YaHei"/>
              </a:rPr>
              <a:t>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346704"/>
            <a:ext cx="37033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12240"/>
                </a:solidFill>
                <a:latin typeface="Microsoft YaHei"/>
              </a:rPr>
              <a:t>例：岗亭为原点，向东为正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803904"/>
            <a:ext cx="4206240" cy="5029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12C3A"/>
                </a:solidFill>
                <a:latin typeface="Microsoft YaHei"/>
              </a:rPr>
              <a:t>x=+30 m：岗亭以东30 m
x=−20 m：岗亭以西20 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4800600"/>
            <a:ext cx="4663440" cy="868680"/>
          </a:xfrm>
          <a:prstGeom prst="roundRect">
            <a:avLst>
              <a:gd name="adj" fmla="val 8000"/>
            </a:avLst>
          </a:prstGeom>
          <a:solidFill>
            <a:srgbClr val="FFF8E7"/>
          </a:solidFill>
          <a:ln>
            <a:solidFill>
              <a:srgbClr val="F7D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5074920"/>
            <a:ext cx="4114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212C3A"/>
                </a:solidFill>
                <a:latin typeface="Microsoft YaHei"/>
              </a:rPr>
              <a:t>正方向是人为规定的，关键是“先规定，再使用”。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651052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8640" y="6565392"/>
            <a:ext cx="7315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4C5D7"/>
                </a:solidFill>
                <a:latin typeface="Microsoft YaHei"/>
              </a:rPr>
              <a:t>第一章 运动的描述 · 1.2 时间和位移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56032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5303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7CB4A"/>
                </a:solidFill>
                <a:latin typeface="Microsoft YaHei"/>
              </a:rPr>
              <a:t>06 · 路程与位移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12648"/>
            <a:ext cx="100584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Microsoft YaHei"/>
              </a:rPr>
              <a:t>路线可以不同，初末位置决定的位移只有一个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600200"/>
            <a:ext cx="416052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559552"/>
            <a:ext cx="3611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112240"/>
                </a:solidFill>
                <a:latin typeface="Microsoft YaHei"/>
              </a:rPr>
              <a:t>教材路线图：北京 → 重庆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828800"/>
            <a:ext cx="1097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初位置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4663440"/>
            <a:ext cx="1097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末位置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9320" y="2148840"/>
            <a:ext cx="4297680" cy="2651760"/>
          </a:xfrm>
          <a:prstGeom prst="line">
            <a:avLst/>
          </a:prstGeom>
          <a:ln w="38100">
            <a:solidFill>
              <a:srgbClr val="1D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989320" y="1691640"/>
            <a:ext cx="1463040" cy="457200"/>
          </a:xfrm>
          <a:prstGeom prst="line">
            <a:avLst/>
          </a:prstGeom>
          <a:ln w="38100">
            <a:solidFill>
              <a:srgbClr val="F29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52360" y="1691640"/>
            <a:ext cx="2834640" cy="3108960"/>
          </a:xfrm>
          <a:prstGeom prst="line">
            <a:avLst/>
          </a:prstGeom>
          <a:ln w="38100">
            <a:solidFill>
              <a:srgbClr val="F29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89320" y="2148840"/>
            <a:ext cx="2103120" cy="3108960"/>
          </a:xfrm>
          <a:prstGeom prst="line">
            <a:avLst/>
          </a:prstGeom>
          <a:ln w="38100">
            <a:solidFill>
              <a:srgbClr val="37A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092440" y="4800600"/>
            <a:ext cx="2194560" cy="457200"/>
          </a:xfrm>
          <a:prstGeom prst="line">
            <a:avLst/>
          </a:prstGeom>
          <a:ln w="38100">
            <a:solidFill>
              <a:srgbClr val="37A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909560" y="2743200"/>
            <a:ext cx="1325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1D6FBF"/>
                </a:solidFill>
                <a:latin typeface="Microsoft YaHei"/>
              </a:rPr>
              <a:t>位移 Δx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886200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F2923D"/>
                </a:solidFill>
                <a:latin typeface="Microsoft YaHei"/>
              </a:rPr>
              <a:t>路程 s₁ / s₂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5486400"/>
            <a:ext cx="6035040" cy="502920"/>
          </a:xfrm>
          <a:prstGeom prst="roundRect">
            <a:avLst>
              <a:gd name="adj" fmla="val 8000"/>
            </a:avLst>
          </a:prstGeom>
          <a:solidFill>
            <a:srgbClr val="ECF7FF"/>
          </a:solidFill>
          <a:ln>
            <a:solidFill>
              <a:srgbClr val="BE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5632704"/>
            <a:ext cx="55778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1D6FBF"/>
                </a:solidFill>
                <a:latin typeface="Microsoft YaHei"/>
              </a:rPr>
              <a:t>位移与路径无关；路程随路线改变，且 s ≥ |Δx|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51052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565392"/>
            <a:ext cx="7315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4C5D7"/>
                </a:solidFill>
                <a:latin typeface="Microsoft YaHei"/>
              </a:rPr>
              <a:t>第一章 运动的描述 · 1.2 时间和位移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56032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5303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7CB4A"/>
                </a:solidFill>
                <a:latin typeface="Microsoft YaHei"/>
              </a:rPr>
              <a:t>07 · 标量与矢量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12648"/>
            <a:ext cx="100584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Microsoft YaHei"/>
              </a:rPr>
              <a:t>数字之外，还要问一句：方向呢？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691640"/>
            <a:ext cx="498348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73152" cy="3520440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56232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F2923D"/>
                </a:solidFill>
                <a:latin typeface="Microsoft YaHei"/>
              </a:rPr>
              <a:t>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56232"/>
            <a:ext cx="4023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12240"/>
                </a:solidFill>
                <a:latin typeface="Microsoft YaHei"/>
              </a:rPr>
              <a:t>标量 Scalar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13432"/>
            <a:ext cx="4526280" cy="2743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12C3A"/>
                </a:solidFill>
                <a:latin typeface="Microsoft YaHei"/>
              </a:rPr>
              <a:t>只有大小，没有方向
路程 s · 温度 · 质量 · 时间
路程恒有 s≥0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91640"/>
            <a:ext cx="498348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73152" cy="3520440"/>
          </a:xfrm>
          <a:prstGeom prst="roundRect">
            <a:avLst>
              <a:gd name="adj" fmla="val 8000"/>
            </a:avLst>
          </a:prstGeom>
          <a:solidFill>
            <a:srgbClr val="1D6FBF"/>
          </a:solidFill>
          <a:ln>
            <a:solidFill>
              <a:srgbClr val="1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856232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1D6FBF"/>
                </a:solidFill>
                <a:latin typeface="Microsoft YaHei"/>
              </a:rPr>
              <a:t>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56232"/>
            <a:ext cx="4023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12240"/>
                </a:solidFill>
                <a:latin typeface="Microsoft YaHei"/>
              </a:rPr>
              <a:t>矢量 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313432"/>
            <a:ext cx="4526280" cy="2743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12C3A"/>
                </a:solidFill>
                <a:latin typeface="Microsoft YaHei"/>
              </a:rPr>
              <a:t>既有大小，又有方向
位移 Δx · 速度 · 力
一维中：正负号表示方向，
绝对值表示大小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5623560"/>
            <a:ext cx="9784080" cy="512064"/>
          </a:xfrm>
          <a:prstGeom prst="roundRect">
            <a:avLst>
              <a:gd name="adj" fmla="val 8000"/>
            </a:avLst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5779008"/>
            <a:ext cx="93268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D64C4C"/>
                </a:solidFill>
                <a:latin typeface="Microsoft YaHei"/>
              </a:rPr>
              <a:t>Δx = −3 m 不是“负的长度”，而是：大小 3 m，方向沿 x 轴负方向。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51052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65392"/>
            <a:ext cx="7315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4C5D7"/>
                </a:solidFill>
                <a:latin typeface="Microsoft YaHei"/>
              </a:rPr>
              <a:t>第一章 运动的描述 · 1.2 时间和位移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56032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5303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7CB4A"/>
                </a:solidFill>
                <a:latin typeface="Microsoft YaHei"/>
              </a:rPr>
              <a:t>08 · 直线位移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12648"/>
            <a:ext cx="100584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Microsoft YaHei"/>
              </a:rPr>
              <a:t>位移 = 末位置坐标 − 初位置坐标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691640"/>
            <a:ext cx="6629400" cy="4297680"/>
          </a:xfrm>
          <a:prstGeom prst="roundRect">
            <a:avLst>
              <a:gd name="adj" fmla="val 8000"/>
            </a:avLst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0058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2DB7C7"/>
                </a:solidFill>
                <a:latin typeface="Microsoft YaHei"/>
              </a:rPr>
              <a:t>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423160"/>
            <a:ext cx="55778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3200" b="1" i="0">
                <a:solidFill>
                  <a:srgbClr val="112240"/>
                </a:solidFill>
                <a:latin typeface="Microsoft YaHei"/>
              </a:rPr>
              <a:t>Δx = x₂ − x₁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71600" y="3840480"/>
            <a:ext cx="5349240" cy="0"/>
          </a:xfrm>
          <a:prstGeom prst="line">
            <a:avLst/>
          </a:prstGeom>
          <a:ln w="25400">
            <a:solidFill>
              <a:srgbClr val="112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11680" y="3566160"/>
            <a:ext cx="0" cy="548640"/>
          </a:xfrm>
          <a:prstGeom prst="line">
            <a:avLst/>
          </a:prstGeom>
          <a:ln w="25400">
            <a:solidFill>
              <a:srgbClr val="112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911096" y="3739896"/>
            <a:ext cx="201168" cy="201168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4315968"/>
            <a:ext cx="10972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F2923D"/>
                </a:solidFill>
                <a:latin typeface="Microsoft YaHei"/>
              </a:rPr>
              <a:t>A
x₁=+5 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03520" y="3566160"/>
            <a:ext cx="0" cy="548640"/>
          </a:xfrm>
          <a:prstGeom prst="line">
            <a:avLst/>
          </a:prstGeom>
          <a:ln w="25400">
            <a:solidFill>
              <a:srgbClr val="112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202936" y="3739896"/>
            <a:ext cx="201168" cy="201168"/>
          </a:xfrm>
          <a:prstGeom prst="ellipse">
            <a:avLst/>
          </a:prstGeom>
          <a:solidFill>
            <a:srgbClr val="1D6FBF"/>
          </a:solidFill>
          <a:ln>
            <a:solidFill>
              <a:srgbClr val="1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4315968"/>
            <a:ext cx="10972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1D6FBF"/>
                </a:solidFill>
                <a:latin typeface="Microsoft YaHei"/>
              </a:rPr>
              <a:t>B
x₂=+2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257800"/>
            <a:ext cx="55778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000" b="1" i="0">
                <a:solidFill>
                  <a:srgbClr val="D64C4C"/>
                </a:solidFill>
                <a:latin typeface="Microsoft YaHei"/>
              </a:rPr>
              <a:t>Δx = 2 − 5 = −3 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69164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18120" y="1691640"/>
            <a:ext cx="73152" cy="1234440"/>
          </a:xfrm>
          <a:prstGeom prst="roundRect">
            <a:avLst>
              <a:gd name="adj" fmla="val 8000"/>
            </a:avLst>
          </a:prstGeom>
          <a:solidFill>
            <a:srgbClr val="D64C4C"/>
          </a:solidFill>
          <a:ln>
            <a:solidFill>
              <a:srgbClr val="D6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856232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D64C4C"/>
                </a:solidFill>
                <a:latin typeface="Microsoft YaHei"/>
              </a:rPr>
              <a:t>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856232"/>
            <a:ext cx="260603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12240"/>
                </a:solidFill>
                <a:latin typeface="Microsoft YaHei"/>
              </a:rPr>
              <a:t>方向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313432"/>
            <a:ext cx="31089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12C3A"/>
                </a:solidFill>
                <a:latin typeface="Microsoft YaHei"/>
              </a:rPr>
              <a:t>Δx&lt;0：沿 x 轴负方向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320040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18120" y="3200400"/>
            <a:ext cx="73152" cy="1234440"/>
          </a:xfrm>
          <a:prstGeom prst="roundRect">
            <a:avLst>
              <a:gd name="adj" fmla="val 8000"/>
            </a:avLst>
          </a:prstGeom>
          <a:solidFill>
            <a:srgbClr val="37A674"/>
          </a:solidFill>
          <a:ln>
            <a:solidFill>
              <a:srgbClr val="37A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364992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37A674"/>
                </a:solidFill>
                <a:latin typeface="Microsoft YaHei"/>
              </a:rPr>
              <a:t>| |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364992"/>
            <a:ext cx="260603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12240"/>
                </a:solidFill>
                <a:latin typeface="Microsoft YaHei"/>
              </a:rPr>
              <a:t>大小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822191"/>
            <a:ext cx="31089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12C3A"/>
                </a:solidFill>
                <a:latin typeface="Microsoft YaHei"/>
              </a:rPr>
              <a:t>|Δx|=3 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470916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18120" y="4709160"/>
            <a:ext cx="73152" cy="1234440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4873752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F2923D"/>
                </a:solidFill>
                <a:latin typeface="Microsoft YaHei"/>
              </a:rPr>
              <a:t>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873752"/>
            <a:ext cx="260603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12240"/>
                </a:solidFill>
                <a:latin typeface="Microsoft YaHei"/>
              </a:rPr>
              <a:t>提醒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330952"/>
            <a:ext cx="31089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12C3A"/>
                </a:solidFill>
                <a:latin typeface="Microsoft YaHei"/>
              </a:rPr>
              <a:t>坐标要带正负号
顺序不能颠倒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51052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565392"/>
            <a:ext cx="7315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4C5D7"/>
                </a:solidFill>
                <a:latin typeface="Microsoft YaHei"/>
              </a:rPr>
              <a:t>第一章 运动的描述 · 1.2 时间和位移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56032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5303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7CB4A"/>
                </a:solidFill>
                <a:latin typeface="Microsoft YaHei"/>
              </a:rPr>
              <a:t>09 · 练一练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12648"/>
            <a:ext cx="100584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Microsoft YaHei"/>
              </a:rPr>
              <a:t>先画坐标轴，再写“末 − 初”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645920"/>
            <a:ext cx="10652760" cy="1005840"/>
          </a:xfrm>
          <a:prstGeom prst="roundRect">
            <a:avLst>
              <a:gd name="adj" fmla="val 8000"/>
            </a:avLst>
          </a:prstGeom>
          <a:solidFill>
            <a:srgbClr val="FFF8E7"/>
          </a:solidFill>
          <a:ln>
            <a:solidFill>
              <a:srgbClr val="F6D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104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000" b="1" i="0">
                <a:solidFill>
                  <a:srgbClr val="112240"/>
                </a:solidFill>
                <a:latin typeface="Microsoft YaHei"/>
              </a:rPr>
              <a:t>物体从 x₁ = −4 m 运动到 x₂ = +6 m，求位移及方向。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43000" y="3886200"/>
            <a:ext cx="9738360" cy="0"/>
          </a:xfrm>
          <a:prstGeom prst="line">
            <a:avLst/>
          </a:prstGeom>
          <a:ln w="25400">
            <a:solidFill>
              <a:srgbClr val="112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3611880"/>
            <a:ext cx="0" cy="548640"/>
          </a:xfrm>
          <a:prstGeom prst="line">
            <a:avLst/>
          </a:prstGeom>
          <a:ln w="25400">
            <a:solidFill>
              <a:srgbClr val="112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916936" y="3785615"/>
            <a:ext cx="201168" cy="201168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297680"/>
            <a:ext cx="914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F2923D"/>
                </a:solidFill>
                <a:latin typeface="Microsoft YaHei"/>
              </a:rPr>
              <a:t>−4 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83879" y="3611880"/>
            <a:ext cx="0" cy="548640"/>
          </a:xfrm>
          <a:prstGeom prst="line">
            <a:avLst/>
          </a:prstGeom>
          <a:ln w="25400">
            <a:solidFill>
              <a:srgbClr val="112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083296" y="3785615"/>
            <a:ext cx="201168" cy="201168"/>
          </a:xfrm>
          <a:prstGeom prst="ellipse">
            <a:avLst/>
          </a:prstGeom>
          <a:solidFill>
            <a:srgbClr val="1D6FBF"/>
          </a:solidFill>
          <a:ln>
            <a:solidFill>
              <a:srgbClr val="1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4297680"/>
            <a:ext cx="914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1D6FBF"/>
                </a:solidFill>
                <a:latin typeface="Microsoft YaHei"/>
              </a:rPr>
              <a:t>+6 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17520" y="3127248"/>
            <a:ext cx="5166359" cy="0"/>
          </a:xfrm>
          <a:prstGeom prst="line">
            <a:avLst/>
          </a:prstGeom>
          <a:ln w="50800">
            <a:solidFill>
              <a:srgbClr val="D64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68880" y="4983480"/>
            <a:ext cx="71323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300" b="1" i="0">
                <a:solidFill>
                  <a:srgbClr val="D64C4C"/>
                </a:solidFill>
                <a:latin typeface="Microsoft YaHei"/>
              </a:rPr>
              <a:t>Δx = (+6) − (−4) = +10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577840"/>
            <a:ext cx="63093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112240"/>
                </a:solidFill>
                <a:latin typeface="Microsoft YaHei"/>
              </a:rPr>
              <a:t>方向：沿 x 轴正方向；大小：10 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51052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65392"/>
            <a:ext cx="7315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4C5D7"/>
                </a:solidFill>
                <a:latin typeface="Microsoft YaHei"/>
              </a:rPr>
              <a:t>第一章 运动的描述 · 1.2 时间和位移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56032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5303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7CB4A"/>
                </a:solidFill>
                <a:latin typeface="Microsoft YaHei"/>
              </a:rPr>
              <a:t>10 · X-T 图像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12648"/>
            <a:ext cx="100584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Microsoft YaHei"/>
              </a:rPr>
              <a:t>把“位置随时间变化”画出来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600200"/>
            <a:ext cx="6629400" cy="4526280"/>
          </a:xfrm>
          <a:prstGeom prst="roundRect">
            <a:avLst>
              <a:gd name="adj" fmla="val 8000"/>
            </a:avLst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417320" y="5486400"/>
            <a:ext cx="5486400" cy="0"/>
          </a:xfrm>
          <a:prstGeom prst="line">
            <a:avLst/>
          </a:prstGeom>
          <a:ln w="25400">
            <a:solidFill>
              <a:srgbClr val="112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417320" y="1965960"/>
            <a:ext cx="0" cy="3520440"/>
          </a:xfrm>
          <a:prstGeom prst="line">
            <a:avLst/>
          </a:prstGeom>
          <a:ln w="25400">
            <a:solidFill>
              <a:srgbClr val="112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331720" y="5422392"/>
            <a:ext cx="0" cy="128016"/>
          </a:xfrm>
          <a:prstGeom prst="line">
            <a:avLst/>
          </a:prstGeom>
          <a:ln w="12700">
            <a:solidFill>
              <a:srgbClr val="DA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46120" y="5422392"/>
            <a:ext cx="0" cy="128016"/>
          </a:xfrm>
          <a:prstGeom prst="line">
            <a:avLst/>
          </a:prstGeom>
          <a:ln w="12700">
            <a:solidFill>
              <a:srgbClr val="DA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60520" y="5422392"/>
            <a:ext cx="0" cy="128016"/>
          </a:xfrm>
          <a:prstGeom prst="line">
            <a:avLst/>
          </a:prstGeom>
          <a:ln w="12700">
            <a:solidFill>
              <a:srgbClr val="DA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74920" y="5422392"/>
            <a:ext cx="0" cy="128016"/>
          </a:xfrm>
          <a:prstGeom prst="line">
            <a:avLst/>
          </a:prstGeom>
          <a:ln w="12700">
            <a:solidFill>
              <a:srgbClr val="DA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89320" y="5422392"/>
            <a:ext cx="0" cy="128016"/>
          </a:xfrm>
          <a:prstGeom prst="line">
            <a:avLst/>
          </a:prstGeom>
          <a:ln w="12700">
            <a:solidFill>
              <a:srgbClr val="DA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62456" y="4572000"/>
            <a:ext cx="109728" cy="0"/>
          </a:xfrm>
          <a:prstGeom prst="line">
            <a:avLst/>
          </a:prstGeom>
          <a:ln w="12700">
            <a:solidFill>
              <a:srgbClr val="DA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62456" y="3657600"/>
            <a:ext cx="109728" cy="0"/>
          </a:xfrm>
          <a:prstGeom prst="line">
            <a:avLst/>
          </a:prstGeom>
          <a:ln w="12700">
            <a:solidFill>
              <a:srgbClr val="DA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62456" y="2743200"/>
            <a:ext cx="109728" cy="0"/>
          </a:xfrm>
          <a:prstGeom prst="line">
            <a:avLst/>
          </a:prstGeom>
          <a:ln w="12700">
            <a:solidFill>
              <a:srgbClr val="DA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20840" y="55961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112240"/>
                </a:solidFill>
                <a:latin typeface="Microsoft YaHei"/>
              </a:rPr>
              <a:t>t /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182880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112240"/>
                </a:solidFill>
                <a:latin typeface="Microsoft YaHei"/>
              </a:rPr>
              <a:t>x / m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417320" y="4114800"/>
            <a:ext cx="1508760" cy="777240"/>
          </a:xfrm>
          <a:prstGeom prst="line">
            <a:avLst/>
          </a:prstGeom>
          <a:ln w="38100">
            <a:solidFill>
              <a:srgbClr val="1D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926080" y="3154680"/>
            <a:ext cx="2011680" cy="960120"/>
          </a:xfrm>
          <a:prstGeom prst="line">
            <a:avLst/>
          </a:prstGeom>
          <a:ln w="38100">
            <a:solidFill>
              <a:srgbClr val="1D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37760" y="3154680"/>
            <a:ext cx="1600200" cy="640080"/>
          </a:xfrm>
          <a:prstGeom prst="line">
            <a:avLst/>
          </a:prstGeom>
          <a:ln w="38100">
            <a:solidFill>
              <a:srgbClr val="F29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843784" y="4032504"/>
            <a:ext cx="164592" cy="164592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35808" y="3950208"/>
            <a:ext cx="274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F2923D"/>
                </a:solidFill>
                <a:latin typeface="Microsoft YaHei"/>
              </a:rPr>
              <a:t>A</a:t>
            </a:r>
          </a:p>
        </p:txBody>
      </p:sp>
      <p:sp>
        <p:nvSpPr>
          <p:cNvPr id="25" name="Oval 24"/>
          <p:cNvSpPr/>
          <p:nvPr/>
        </p:nvSpPr>
        <p:spPr>
          <a:xfrm>
            <a:off x="4855464" y="3072384"/>
            <a:ext cx="164592" cy="164592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47488" y="2990088"/>
            <a:ext cx="274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F2923D"/>
                </a:solidFill>
                <a:latin typeface="Microsoft YaHei"/>
              </a:rPr>
              <a:t>B</a:t>
            </a:r>
          </a:p>
        </p:txBody>
      </p:sp>
      <p:sp>
        <p:nvSpPr>
          <p:cNvPr id="27" name="Oval 26"/>
          <p:cNvSpPr/>
          <p:nvPr/>
        </p:nvSpPr>
        <p:spPr>
          <a:xfrm>
            <a:off x="6455664" y="3712464"/>
            <a:ext cx="164592" cy="164592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3630168"/>
            <a:ext cx="274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F2923D"/>
                </a:solidFill>
                <a:latin typeface="Microsoft YaHei"/>
              </a:rPr>
              <a:t>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164592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18120" y="1645920"/>
            <a:ext cx="73152" cy="1097280"/>
          </a:xfrm>
          <a:prstGeom prst="roundRect">
            <a:avLst>
              <a:gd name="adj" fmla="val 8000"/>
            </a:avLst>
          </a:prstGeom>
          <a:solidFill>
            <a:srgbClr val="1D6FBF"/>
          </a:solidFill>
          <a:ln>
            <a:solidFill>
              <a:srgbClr val="1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1810512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1D6FBF"/>
                </a:solidFill>
                <a:latin typeface="Microsoft YaHei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1810512"/>
            <a:ext cx="260603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12240"/>
                </a:solidFill>
                <a:latin typeface="Microsoft YaHei"/>
              </a:rPr>
              <a:t>点 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2267712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12C3A"/>
                </a:solidFill>
                <a:latin typeface="Microsoft YaHei"/>
              </a:rPr>
              <a:t>某时刻、某位置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0" y="297180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818120" y="2971800"/>
            <a:ext cx="73152" cy="1097280"/>
          </a:xfrm>
          <a:prstGeom prst="roundRect">
            <a:avLst>
              <a:gd name="adj" fmla="val 8000"/>
            </a:avLst>
          </a:prstGeom>
          <a:solidFill>
            <a:srgbClr val="2DB7C7"/>
          </a:solidFill>
          <a:ln>
            <a:solidFill>
              <a:srgbClr val="2D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136392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2DB7C7"/>
                </a:solidFill>
                <a:latin typeface="Microsoft YaHei"/>
              </a:rPr>
              <a:t>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3136392"/>
            <a:ext cx="260603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12240"/>
                </a:solidFill>
                <a:latin typeface="Microsoft YaHei"/>
              </a:rPr>
              <a:t>斜率 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3593592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12C3A"/>
                </a:solidFill>
                <a:latin typeface="Microsoft YaHei"/>
              </a:rPr>
              <a:t>k=Δx/Δt，表示速度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8120" y="429768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818120" y="4297680"/>
            <a:ext cx="73152" cy="1097280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4462272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F2923D"/>
                </a:solidFill>
                <a:latin typeface="Microsoft YaHei"/>
              </a:rPr>
              <a:t>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4462272"/>
            <a:ext cx="260603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12240"/>
                </a:solidFill>
                <a:latin typeface="Microsoft YaHei"/>
              </a:rPr>
              <a:t>拐点 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4919472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12C3A"/>
                </a:solidFill>
                <a:latin typeface="Microsoft YaHei"/>
              </a:rPr>
              <a:t>运动方向可能发生改变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5650992"/>
            <a:ext cx="3474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D64C4C"/>
                </a:solidFill>
                <a:latin typeface="Microsoft YaHei"/>
              </a:rPr>
              <a:t>注意：x-t 图像不是物体在空间中的运动轨迹。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48640" y="651052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48640" y="6565392"/>
            <a:ext cx="7315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4C5D7"/>
                </a:solidFill>
                <a:latin typeface="Microsoft YaHei"/>
              </a:rPr>
              <a:t>第一章 运动的描述 · 1.2 时间和位移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56032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5303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7CB4A"/>
                </a:solidFill>
                <a:latin typeface="Microsoft YaHei"/>
              </a:rPr>
              <a:t>11 · 读图任务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12648"/>
            <a:ext cx="100584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Microsoft YaHei"/>
              </a:rPr>
              <a:t>四个信息点，读懂一张 x-t 图像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78308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73152" cy="1417320"/>
          </a:xfrm>
          <a:prstGeom prst="roundRect">
            <a:avLst>
              <a:gd name="adj" fmla="val 8000"/>
            </a:avLst>
          </a:prstGeom>
          <a:solidFill>
            <a:srgbClr val="1D6FBF"/>
          </a:solidFill>
          <a:ln>
            <a:solidFill>
              <a:srgbClr val="1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4297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12240"/>
                </a:solidFill>
                <a:latin typeface="Microsoft YaHei"/>
              </a:rPr>
              <a:t>① 纵截距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41448"/>
            <a:ext cx="43891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212C3A"/>
                </a:solidFill>
                <a:latin typeface="Microsoft YaHei"/>
              </a:rPr>
              <a:t>t=0 时的初始位置 x₀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783080"/>
            <a:ext cx="73152" cy="1417320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011680"/>
            <a:ext cx="4297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12240"/>
                </a:solidFill>
                <a:latin typeface="Microsoft YaHei"/>
              </a:rPr>
              <a:t>② 横截距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441448"/>
            <a:ext cx="43891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212C3A"/>
                </a:solidFill>
                <a:latin typeface="Microsoft YaHei"/>
              </a:rPr>
              <a:t>到达 x=0 的时刻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5760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657600"/>
            <a:ext cx="73152" cy="1417320"/>
          </a:xfrm>
          <a:prstGeom prst="roundRect">
            <a:avLst>
              <a:gd name="adj" fmla="val 8000"/>
            </a:avLst>
          </a:prstGeom>
          <a:solidFill>
            <a:srgbClr val="37A674"/>
          </a:solidFill>
          <a:ln>
            <a:solidFill>
              <a:srgbClr val="37A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86200"/>
            <a:ext cx="4297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12240"/>
                </a:solidFill>
                <a:latin typeface="Microsoft YaHei"/>
              </a:rPr>
              <a:t>③ 交点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315968"/>
            <a:ext cx="43891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212C3A"/>
                </a:solidFill>
                <a:latin typeface="Microsoft YaHei"/>
              </a:rPr>
              <a:t>同一时刻、同一位置——相遇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65760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3657600"/>
            <a:ext cx="73152" cy="1417320"/>
          </a:xfrm>
          <a:prstGeom prst="roundRect">
            <a:avLst>
              <a:gd name="adj" fmla="val 8000"/>
            </a:avLst>
          </a:prstGeom>
          <a:solidFill>
            <a:srgbClr val="2DB7C7"/>
          </a:solidFill>
          <a:ln>
            <a:solidFill>
              <a:srgbClr val="2D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886200"/>
            <a:ext cx="4297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12240"/>
                </a:solidFill>
                <a:latin typeface="Microsoft YaHei"/>
              </a:rPr>
              <a:t>④ 斜率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315968"/>
            <a:ext cx="43891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212C3A"/>
                </a:solidFill>
                <a:latin typeface="Microsoft YaHei"/>
              </a:rPr>
              <a:t>正负看方向，绝对值看快慢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880" y="5669280"/>
            <a:ext cx="9555480" cy="438912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>
            <a:solidFill>
              <a:srgbClr val="F5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5797296"/>
            <a:ext cx="90068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D64C4C"/>
                </a:solidFill>
                <a:latin typeface="Microsoft YaHei"/>
              </a:rPr>
              <a:t>同一时刻比较“位置”，同一物体比较“斜率”。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51052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565392"/>
            <a:ext cx="7315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4C5D7"/>
                </a:solidFill>
                <a:latin typeface="Microsoft YaHei"/>
              </a:rPr>
              <a:t>第一章 运动的描述 · 1.2 时间和位移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56032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5303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7CB4A"/>
                </a:solidFill>
                <a:latin typeface="Microsoft YaHei"/>
              </a:rPr>
              <a:t>12 · 测量运动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12648"/>
            <a:ext cx="100584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Microsoft YaHei"/>
              </a:rPr>
              <a:t>用“固定时间间隔 + 位置记录”捕捉运动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600200"/>
            <a:ext cx="3749039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5010912"/>
            <a:ext cx="3346704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112240"/>
                </a:solidFill>
                <a:latin typeface="Microsoft YaHei"/>
              </a:rPr>
              <a:t>教材实物图：电磁 / 电火花打点计时器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691640"/>
            <a:ext cx="2971800" cy="1874519"/>
          </a:xfrm>
          <a:prstGeom prst="roundRect">
            <a:avLst>
              <a:gd name="adj" fmla="val 8000"/>
            </a:avLst>
          </a:prstGeom>
          <a:solidFill>
            <a:srgbClr val="192C4E"/>
          </a:solidFill>
          <a:ln>
            <a:solidFill>
              <a:srgbClr val="466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02352" y="1993392"/>
            <a:ext cx="2468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 i="0">
                <a:solidFill>
                  <a:srgbClr val="F7CB4A"/>
                </a:solidFill>
                <a:latin typeface="Microsoft YaHei"/>
              </a:rPr>
              <a:t>共同原理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2352" y="2514600"/>
            <a:ext cx="246888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icrosoft YaHei"/>
              </a:rPr>
              <a:t>相同时间间隔
连续留下点迹
点间距离反映位移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9164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691640"/>
            <a:ext cx="73152" cy="1600200"/>
          </a:xfrm>
          <a:prstGeom prst="roundRect">
            <a:avLst>
              <a:gd name="adj" fmla="val 8000"/>
            </a:avLst>
          </a:prstGeom>
          <a:solidFill>
            <a:srgbClr val="1D6FBF"/>
          </a:solidFill>
          <a:ln>
            <a:solidFill>
              <a:srgbClr val="1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856232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1D6FBF"/>
                </a:solidFill>
                <a:latin typeface="Microsoft YaHei"/>
              </a:rPr>
              <a:t>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856232"/>
            <a:ext cx="2286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12240"/>
                </a:solidFill>
                <a:latin typeface="Microsoft YaHei"/>
              </a:rPr>
              <a:t>电磁打点计时器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313432"/>
            <a:ext cx="27889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12C3A"/>
                </a:solidFill>
                <a:latin typeface="Microsoft YaHei"/>
              </a:rPr>
              <a:t>约8 V 交流 · 复写纸
50 Hz → T=0.02 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61188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3611880"/>
            <a:ext cx="73152" cy="1600200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3776472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F2923D"/>
                </a:solidFill>
                <a:latin typeface="Microsoft YaHei"/>
              </a:rPr>
              <a:t>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776472"/>
            <a:ext cx="2286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12240"/>
                </a:solidFill>
                <a:latin typeface="Microsoft YaHei"/>
              </a:rPr>
              <a:t>电火花计时器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233672"/>
            <a:ext cx="27889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12C3A"/>
                </a:solidFill>
                <a:latin typeface="Microsoft YaHei"/>
              </a:rPr>
              <a:t>220 V 交流 · 墨粉纸
50 Hz → T=0.02 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406908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ECF7FF"/>
          </a:solidFill>
          <a:ln>
            <a:solidFill>
              <a:srgbClr val="BE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4370832"/>
            <a:ext cx="25146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1D6FBF"/>
                </a:solidFill>
                <a:latin typeface="Microsoft YaHei"/>
              </a:rPr>
              <a:t>频闪照相：固定频率闪光，
一张照片记录多个位置。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760720"/>
            <a:ext cx="10058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YaHei"/>
              </a:rPr>
              <a:t>测量的核心：把“看不见的时间”变成“数得出的点”。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51052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565392"/>
            <a:ext cx="7315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4C5D7"/>
                </a:solidFill>
                <a:latin typeface="Microsoft YaHei"/>
              </a:rPr>
              <a:t>第一章 运动的描述 · 1.2 时间和位移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56032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5303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7CB4A"/>
                </a:solidFill>
                <a:latin typeface="Microsoft YaHei"/>
              </a:rPr>
              <a:t>13 · 仪器比较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12648"/>
            <a:ext cx="100584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Microsoft YaHei"/>
              </a:rPr>
              <a:t>两种打点计时器：周期相同，留下点迹的方式不同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737360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11095"/>
            <a:ext cx="17373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仪器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737360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9" y="1911095"/>
            <a:ext cx="23774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电源与频率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73736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911095"/>
            <a:ext cx="1554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打点周期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737360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911095"/>
            <a:ext cx="3749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介质 / 点迹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423160"/>
            <a:ext cx="18288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679191"/>
            <a:ext cx="168249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212C3A"/>
                </a:solidFill>
                <a:latin typeface="Microsoft YaHei"/>
              </a:rPr>
              <a:t>电磁打点计时器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2423160"/>
            <a:ext cx="24688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53512" y="2679191"/>
            <a:ext cx="232257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212C3A"/>
                </a:solidFill>
                <a:latin typeface="Microsoft YaHei"/>
              </a:rPr>
              <a:t>约8 V 交流，50 Hz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242316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2679191"/>
            <a:ext cx="14996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212C3A"/>
                </a:solidFill>
                <a:latin typeface="Microsoft YaHei"/>
              </a:rPr>
              <a:t>0.02 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423160"/>
            <a:ext cx="3840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62672" y="2679191"/>
            <a:ext cx="369417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212C3A"/>
                </a:solidFill>
                <a:latin typeface="Microsoft YaHei"/>
              </a:rPr>
              <a:t>振针在复写纸上连续打点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423160"/>
            <a:ext cx="73152" cy="868680"/>
          </a:xfrm>
          <a:prstGeom prst="rect">
            <a:avLst/>
          </a:prstGeom>
          <a:solidFill>
            <a:srgbClr val="1D6FBF"/>
          </a:solidFill>
          <a:ln>
            <a:solidFill>
              <a:srgbClr val="1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520439"/>
            <a:ext cx="18288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3776472"/>
            <a:ext cx="168249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212C3A"/>
                </a:solidFill>
                <a:latin typeface="Microsoft YaHei"/>
              </a:rPr>
              <a:t>电火花计时器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360" y="3520439"/>
            <a:ext cx="24688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53512" y="3776472"/>
            <a:ext cx="232257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212C3A"/>
                </a:solidFill>
                <a:latin typeface="Microsoft YaHei"/>
              </a:rPr>
              <a:t>220 V 交流，50 Hz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23560" y="3520439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96712" y="3776472"/>
            <a:ext cx="149961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212C3A"/>
                </a:solidFill>
                <a:latin typeface="Microsoft YaHei"/>
              </a:rPr>
              <a:t>0.02 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3520439"/>
            <a:ext cx="3840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62672" y="3776472"/>
            <a:ext cx="369417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212C3A"/>
                </a:solidFill>
                <a:latin typeface="Microsoft YaHei"/>
              </a:rPr>
              <a:t>电火花在墨粉纸上留下点迹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520439"/>
            <a:ext cx="73152" cy="868680"/>
          </a:xfrm>
          <a:prstGeom prst="rect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" y="4983480"/>
            <a:ext cx="10652760" cy="777240"/>
          </a:xfrm>
          <a:prstGeom prst="roundRect">
            <a:avLst>
              <a:gd name="adj" fmla="val 8000"/>
            </a:avLst>
          </a:prstGeom>
          <a:solidFill>
            <a:srgbClr val="ECF7FF"/>
          </a:solidFill>
          <a:ln>
            <a:solidFill>
              <a:srgbClr val="BE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230368"/>
            <a:ext cx="98755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300" b="1" i="0">
                <a:solidFill>
                  <a:srgbClr val="1D6FBF"/>
                </a:solidFill>
                <a:latin typeface="Microsoft YaHei"/>
              </a:rPr>
              <a:t>T = 1/f = 1/50 s = 0.02 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51052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565392"/>
            <a:ext cx="7315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4C5D7"/>
                </a:solidFill>
                <a:latin typeface="Microsoft YaHei"/>
              </a:rPr>
              <a:t>第一章 运动的描述 · 1.2 时间和位移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56032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5303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7CB4A"/>
                </a:solidFill>
                <a:latin typeface="Microsoft YaHei"/>
              </a:rPr>
              <a:t>14 · 纸带实验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12648"/>
            <a:ext cx="100584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Microsoft YaHei"/>
              </a:rPr>
              <a:t>规范操作：先通电，再拉动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0" y="1874519"/>
            <a:ext cx="822960" cy="822960"/>
          </a:xfrm>
          <a:prstGeom prst="ellipse">
            <a:avLst/>
          </a:prstGeom>
          <a:solidFill>
            <a:srgbClr val="1D6FBF"/>
          </a:solidFill>
          <a:ln>
            <a:solidFill>
              <a:srgbClr val="1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93976"/>
            <a:ext cx="8229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2286000"/>
            <a:ext cx="594360" cy="0"/>
          </a:xfrm>
          <a:prstGeom prst="line">
            <a:avLst/>
          </a:prstGeom>
          <a:ln w="38100">
            <a:solidFill>
              <a:srgbClr val="DA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926080"/>
            <a:ext cx="20116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112240"/>
                </a:solidFill>
                <a:latin typeface="Microsoft YaHei"/>
              </a:rPr>
              <a:t>固定仪器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01568"/>
            <a:ext cx="20116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212C3A"/>
                </a:solidFill>
                <a:latin typeface="Microsoft YaHei"/>
              </a:rPr>
              <a:t>穿好纸带</a:t>
            </a:r>
          </a:p>
        </p:txBody>
      </p:sp>
      <p:sp>
        <p:nvSpPr>
          <p:cNvPr id="12" name="Oval 11"/>
          <p:cNvSpPr/>
          <p:nvPr/>
        </p:nvSpPr>
        <p:spPr>
          <a:xfrm>
            <a:off x="3337560" y="1874519"/>
            <a:ext cx="822960" cy="822960"/>
          </a:xfrm>
          <a:prstGeom prst="ellipse">
            <a:avLst/>
          </a:prstGeom>
          <a:solidFill>
            <a:srgbClr val="2DB7C7"/>
          </a:solidFill>
          <a:ln>
            <a:solidFill>
              <a:srgbClr val="2D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093976"/>
            <a:ext cx="8229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60520" y="2286000"/>
            <a:ext cx="594360" cy="0"/>
          </a:xfrm>
          <a:prstGeom prst="line">
            <a:avLst/>
          </a:prstGeom>
          <a:ln w="38100">
            <a:solidFill>
              <a:srgbClr val="DA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88920" y="2926080"/>
            <a:ext cx="20116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112240"/>
                </a:solidFill>
                <a:latin typeface="Microsoft YaHei"/>
              </a:rPr>
              <a:t>安装纸带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401568"/>
            <a:ext cx="20116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212C3A"/>
                </a:solidFill>
                <a:latin typeface="Microsoft YaHei"/>
              </a:rPr>
              <a:t>压在复写纸/墨粉纸下</a:t>
            </a:r>
          </a:p>
        </p:txBody>
      </p:sp>
      <p:sp>
        <p:nvSpPr>
          <p:cNvPr id="17" name="Oval 16"/>
          <p:cNvSpPr/>
          <p:nvPr/>
        </p:nvSpPr>
        <p:spPr>
          <a:xfrm>
            <a:off x="5577840" y="1874519"/>
            <a:ext cx="822960" cy="822960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2093976"/>
            <a:ext cx="8229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0" y="2286000"/>
            <a:ext cx="594360" cy="0"/>
          </a:xfrm>
          <a:prstGeom prst="line">
            <a:avLst/>
          </a:prstGeom>
          <a:ln w="38100">
            <a:solidFill>
              <a:srgbClr val="DA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0" y="2926080"/>
            <a:ext cx="20116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112240"/>
                </a:solidFill>
                <a:latin typeface="Microsoft YaHei"/>
              </a:rPr>
              <a:t>接通电源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401568"/>
            <a:ext cx="20116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212C3A"/>
                </a:solidFill>
                <a:latin typeface="Microsoft YaHei"/>
              </a:rPr>
              <a:t>稳定后水平拉动</a:t>
            </a:r>
          </a:p>
        </p:txBody>
      </p:sp>
      <p:sp>
        <p:nvSpPr>
          <p:cNvPr id="22" name="Oval 21"/>
          <p:cNvSpPr/>
          <p:nvPr/>
        </p:nvSpPr>
        <p:spPr>
          <a:xfrm>
            <a:off x="7818120" y="1874519"/>
            <a:ext cx="822960" cy="822960"/>
          </a:xfrm>
          <a:prstGeom prst="ellipse">
            <a:avLst/>
          </a:prstGeom>
          <a:solidFill>
            <a:srgbClr val="37A674"/>
          </a:solidFill>
          <a:ln>
            <a:solidFill>
              <a:srgbClr val="37A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2093976"/>
            <a:ext cx="8229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41080" y="2286000"/>
            <a:ext cx="594360" cy="0"/>
          </a:xfrm>
          <a:prstGeom prst="line">
            <a:avLst/>
          </a:prstGeom>
          <a:ln w="38100">
            <a:solidFill>
              <a:srgbClr val="DA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69480" y="2926080"/>
            <a:ext cx="20116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112240"/>
                </a:solidFill>
                <a:latin typeface="Microsoft YaHei"/>
              </a:rPr>
              <a:t>断电取带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401568"/>
            <a:ext cx="20116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212C3A"/>
                </a:solidFill>
                <a:latin typeface="Microsoft YaHei"/>
              </a:rPr>
              <a:t>选清晰点作起点</a:t>
            </a:r>
          </a:p>
        </p:txBody>
      </p:sp>
      <p:sp>
        <p:nvSpPr>
          <p:cNvPr id="27" name="Oval 26"/>
          <p:cNvSpPr/>
          <p:nvPr/>
        </p:nvSpPr>
        <p:spPr>
          <a:xfrm>
            <a:off x="10058400" y="1874519"/>
            <a:ext cx="822960" cy="822960"/>
          </a:xfrm>
          <a:prstGeom prst="ellipse">
            <a:avLst/>
          </a:prstGeom>
          <a:solidFill>
            <a:srgbClr val="D64C4C"/>
          </a:solidFill>
          <a:ln>
            <a:solidFill>
              <a:srgbClr val="D6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2093976"/>
            <a:ext cx="8229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926080"/>
            <a:ext cx="20116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112240"/>
                </a:solidFill>
                <a:latin typeface="Microsoft YaHei"/>
              </a:rPr>
              <a:t>测量记录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401568"/>
            <a:ext cx="20116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212C3A"/>
                </a:solidFill>
                <a:latin typeface="Microsoft YaHei"/>
              </a:rPr>
              <a:t>尺量位移，表格记数据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4160520"/>
            <a:ext cx="29718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51560" y="5257800"/>
            <a:ext cx="10058400" cy="804672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>
            <a:solidFill>
              <a:srgbClr val="F5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5513832"/>
            <a:ext cx="9509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700" b="1" i="0">
                <a:solidFill>
                  <a:srgbClr val="D64C4C"/>
                </a:solidFill>
                <a:latin typeface="Microsoft YaHei"/>
              </a:rPr>
              <a:t>关键提醒：电源应先接通再拉纸带；纸带要水平、点迹要清晰。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651052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8640" y="6565392"/>
            <a:ext cx="7315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4C5D7"/>
                </a:solidFill>
                <a:latin typeface="Microsoft YaHei"/>
              </a:rPr>
              <a:t>第一章 运动的描述 · 1.2 时间和位移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56032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5303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7CB4A"/>
                </a:solidFill>
                <a:latin typeface="Microsoft YaHei"/>
              </a:rPr>
              <a:t>15 · 数据处理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12648"/>
            <a:ext cx="100584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Microsoft YaHei"/>
              </a:rPr>
              <a:t>数出 n 个点，只有 n−1 个时间间隔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691640"/>
            <a:ext cx="6629400" cy="4251960"/>
          </a:xfrm>
          <a:prstGeom prst="roundRect">
            <a:avLst>
              <a:gd name="adj" fmla="val 8000"/>
            </a:avLst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2286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12240"/>
                </a:solidFill>
                <a:latin typeface="Microsoft YaHei"/>
              </a:rPr>
              <a:t>纸带点迹（示意）</a:t>
            </a:r>
          </a:p>
        </p:txBody>
      </p:sp>
      <p:sp>
        <p:nvSpPr>
          <p:cNvPr id="9" name="Oval 8"/>
          <p:cNvSpPr/>
          <p:nvPr/>
        </p:nvSpPr>
        <p:spPr>
          <a:xfrm>
            <a:off x="1325880" y="3794760"/>
            <a:ext cx="146304" cy="146304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4069080"/>
            <a:ext cx="228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 i="0">
                <a:solidFill>
                  <a:srgbClr val="647485"/>
                </a:solidFill>
                <a:latin typeface="Microsoft YaHei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039112" y="3749040"/>
            <a:ext cx="146304" cy="146304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93392" y="4069080"/>
            <a:ext cx="228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 i="0">
                <a:solidFill>
                  <a:srgbClr val="647485"/>
                </a:solidFill>
                <a:latin typeface="Microsoft YaHei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752344" y="3703320"/>
            <a:ext cx="146304" cy="146304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06624" y="4069080"/>
            <a:ext cx="228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 i="0">
                <a:solidFill>
                  <a:srgbClr val="647485"/>
                </a:solidFill>
                <a:latin typeface="Microsoft YaHei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3465576" y="3657600"/>
            <a:ext cx="146304" cy="146304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9856" y="4069080"/>
            <a:ext cx="228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 i="0">
                <a:solidFill>
                  <a:srgbClr val="647485"/>
                </a:solidFill>
                <a:latin typeface="Microsoft YaHei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4178808" y="3611880"/>
            <a:ext cx="146304" cy="146304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33088" y="4069080"/>
            <a:ext cx="228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 i="0">
                <a:solidFill>
                  <a:srgbClr val="647485"/>
                </a:solidFill>
                <a:latin typeface="Microsoft YaHe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4892040" y="3566160"/>
            <a:ext cx="146304" cy="146304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4069080"/>
            <a:ext cx="228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 i="0">
                <a:solidFill>
                  <a:srgbClr val="647485"/>
                </a:solidFill>
                <a:latin typeface="Microsoft YaHei"/>
              </a:rPr>
              <a:t>6</a:t>
            </a:r>
          </a:p>
        </p:txBody>
      </p:sp>
      <p:sp>
        <p:nvSpPr>
          <p:cNvPr id="21" name="Oval 20"/>
          <p:cNvSpPr/>
          <p:nvPr/>
        </p:nvSpPr>
        <p:spPr>
          <a:xfrm>
            <a:off x="5605272" y="3520440"/>
            <a:ext cx="146304" cy="146304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59552" y="4069080"/>
            <a:ext cx="228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 i="0">
                <a:solidFill>
                  <a:srgbClr val="647485"/>
                </a:solidFill>
                <a:latin typeface="Microsoft YaHei"/>
              </a:rPr>
              <a:t>7</a:t>
            </a:r>
          </a:p>
        </p:txBody>
      </p:sp>
      <p:sp>
        <p:nvSpPr>
          <p:cNvPr id="23" name="Oval 22"/>
          <p:cNvSpPr/>
          <p:nvPr/>
        </p:nvSpPr>
        <p:spPr>
          <a:xfrm>
            <a:off x="6318504" y="3474720"/>
            <a:ext cx="146304" cy="146304"/>
          </a:xfrm>
          <a:prstGeom prst="ellipse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4" y="4069080"/>
            <a:ext cx="228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 i="0">
                <a:solidFill>
                  <a:srgbClr val="647485"/>
                </a:solidFill>
                <a:latin typeface="Microsoft YaHei"/>
              </a:rPr>
              <a:t>8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472184" y="3858768"/>
            <a:ext cx="566928" cy="0"/>
          </a:xfrm>
          <a:prstGeom prst="line">
            <a:avLst/>
          </a:prstGeom>
          <a:ln w="12700">
            <a:solidFill>
              <a:srgbClr val="1D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85416" y="3858768"/>
            <a:ext cx="566928" cy="0"/>
          </a:xfrm>
          <a:prstGeom prst="line">
            <a:avLst/>
          </a:prstGeom>
          <a:ln w="12700">
            <a:solidFill>
              <a:srgbClr val="1D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898648" y="3858768"/>
            <a:ext cx="566928" cy="0"/>
          </a:xfrm>
          <a:prstGeom prst="line">
            <a:avLst/>
          </a:prstGeom>
          <a:ln w="12700">
            <a:solidFill>
              <a:srgbClr val="1D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11880" y="3858768"/>
            <a:ext cx="566928" cy="0"/>
          </a:xfrm>
          <a:prstGeom prst="line">
            <a:avLst/>
          </a:prstGeom>
          <a:ln w="12700">
            <a:solidFill>
              <a:srgbClr val="1D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325112" y="3858768"/>
            <a:ext cx="566928" cy="0"/>
          </a:xfrm>
          <a:prstGeom prst="line">
            <a:avLst/>
          </a:prstGeom>
          <a:ln w="12700">
            <a:solidFill>
              <a:srgbClr val="1D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38344" y="3858768"/>
            <a:ext cx="566928" cy="0"/>
          </a:xfrm>
          <a:prstGeom prst="line">
            <a:avLst/>
          </a:prstGeom>
          <a:ln w="12700">
            <a:solidFill>
              <a:srgbClr val="1D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751576" y="3858768"/>
            <a:ext cx="566928" cy="0"/>
          </a:xfrm>
          <a:prstGeom prst="line">
            <a:avLst/>
          </a:prstGeom>
          <a:ln w="12700">
            <a:solidFill>
              <a:srgbClr val="1D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011680" y="4572000"/>
            <a:ext cx="35661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900" b="1" i="0">
                <a:solidFill>
                  <a:srgbClr val="1D6FBF"/>
                </a:solidFill>
                <a:latin typeface="Microsoft YaHei"/>
              </a:rPr>
              <a:t>8 个点 → 7 个间隔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1691640"/>
            <a:ext cx="35661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818120" y="1691640"/>
            <a:ext cx="73152" cy="1188720"/>
          </a:xfrm>
          <a:prstGeom prst="roundRect">
            <a:avLst>
              <a:gd name="adj" fmla="val 8000"/>
            </a:avLst>
          </a:prstGeom>
          <a:solidFill>
            <a:srgbClr val="1D6FBF"/>
          </a:solidFill>
          <a:ln>
            <a:solidFill>
              <a:srgbClr val="1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1856232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1D6FBF"/>
                </a:solidFill>
                <a:latin typeface="Microsoft YaHei"/>
              </a:rPr>
              <a:t>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1856232"/>
            <a:ext cx="260603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12240"/>
                </a:solidFill>
                <a:latin typeface="Microsoft YaHei"/>
              </a:rPr>
              <a:t>时间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2313432"/>
            <a:ext cx="31089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12C3A"/>
                </a:solidFill>
                <a:latin typeface="Microsoft YaHei"/>
              </a:rPr>
              <a:t>t=(n−1)T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18120" y="3108960"/>
            <a:ext cx="35661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818120" y="3108960"/>
            <a:ext cx="73152" cy="1188720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3273552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F2923D"/>
                </a:solidFill>
                <a:latin typeface="Microsoft YaHei"/>
              </a:rPr>
              <a:t>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3273552"/>
            <a:ext cx="260603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12240"/>
                </a:solidFill>
                <a:latin typeface="Microsoft YaHei"/>
              </a:rPr>
              <a:t>本例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3730752"/>
            <a:ext cx="31089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12C3A"/>
                </a:solidFill>
                <a:latin typeface="Microsoft YaHei"/>
              </a:rPr>
              <a:t>(8−1)×0.02=0.14 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18120" y="4526280"/>
            <a:ext cx="35661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818120" y="4526280"/>
            <a:ext cx="73152" cy="1188720"/>
          </a:xfrm>
          <a:prstGeom prst="roundRect">
            <a:avLst>
              <a:gd name="adj" fmla="val 8000"/>
            </a:avLst>
          </a:prstGeom>
          <a:solidFill>
            <a:srgbClr val="37A674"/>
          </a:solidFill>
          <a:ln>
            <a:solidFill>
              <a:srgbClr val="37A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0" y="4690872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 i="0">
                <a:solidFill>
                  <a:srgbClr val="37A674"/>
                </a:solidFill>
                <a:latin typeface="Microsoft YaHei"/>
              </a:rPr>
              <a:t>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4690872"/>
            <a:ext cx="260603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12240"/>
                </a:solidFill>
                <a:latin typeface="Microsoft YaHei"/>
              </a:rPr>
              <a:t>位移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5148072"/>
            <a:ext cx="31089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12C3A"/>
                </a:solidFill>
                <a:latin typeface="Microsoft YaHei"/>
              </a:rPr>
              <a:t>用刻度尺量起点到终点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48640" y="651052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48640" y="6565392"/>
            <a:ext cx="7315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4C5D7"/>
                </a:solidFill>
                <a:latin typeface="Microsoft YaHei"/>
              </a:rPr>
              <a:t>第一章 运动的描述 · 1.2 时间和位移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56032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5303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7CB4A"/>
                </a:solidFill>
                <a:latin typeface="Microsoft YaHei"/>
              </a:rPr>
              <a:t>16 · 实验记录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12648"/>
            <a:ext cx="100584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Microsoft YaHei"/>
              </a:rPr>
              <a:t>原始数据要如实记录，异常现象要能解释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1691640"/>
            <a:ext cx="1600200" cy="50292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56231"/>
            <a:ext cx="1545336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终点点号 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69164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0632" y="1856231"/>
            <a:ext cx="1636776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间隔数 n−1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691640"/>
            <a:ext cx="1600200" cy="50292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856231"/>
            <a:ext cx="1545336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时间 t/s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91640"/>
            <a:ext cx="1600200" cy="50292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856231"/>
            <a:ext cx="1545336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位移 x₀/m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6916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856231"/>
            <a:ext cx="2596896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备注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221992"/>
            <a:ext cx="16002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2221992"/>
            <a:ext cx="16916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2221992"/>
            <a:ext cx="16002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2221992"/>
            <a:ext cx="16002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66760" y="2221992"/>
            <a:ext cx="26517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386584"/>
            <a:ext cx="1600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212C3A"/>
                </a:solidFill>
                <a:latin typeface="Microsoft Ya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386584"/>
            <a:ext cx="1691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212C3A"/>
                </a:solidFill>
                <a:latin typeface="Microsoft Ya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386584"/>
            <a:ext cx="1600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212C3A"/>
                </a:solidFill>
                <a:latin typeface="Microsoft YaHei"/>
              </a:rPr>
              <a:t>0.02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2788920"/>
            <a:ext cx="16002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0" y="2788920"/>
            <a:ext cx="16916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2788920"/>
            <a:ext cx="16002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2788920"/>
            <a:ext cx="16002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66760" y="2788920"/>
            <a:ext cx="26517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953512"/>
            <a:ext cx="1600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212C3A"/>
                </a:solidFill>
                <a:latin typeface="Microsoft Ya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2953512"/>
            <a:ext cx="1691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212C3A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2953512"/>
            <a:ext cx="1600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212C3A"/>
                </a:solidFill>
                <a:latin typeface="Microsoft YaHei"/>
              </a:rPr>
              <a:t>0.04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3355848"/>
            <a:ext cx="16002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0" y="3355848"/>
            <a:ext cx="16916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17720" y="3355848"/>
            <a:ext cx="16002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92240" y="3355848"/>
            <a:ext cx="16002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6760" y="3355848"/>
            <a:ext cx="26517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3520440"/>
            <a:ext cx="1600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212C3A"/>
                </a:solidFill>
                <a:latin typeface="Microsoft YaHe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520440"/>
            <a:ext cx="1691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212C3A"/>
                </a:solidFill>
                <a:latin typeface="Microsoft YaHe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3520440"/>
            <a:ext cx="1600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 i="0">
                <a:solidFill>
                  <a:srgbClr val="212C3A"/>
                </a:solidFill>
                <a:latin typeface="Microsoft YaHei"/>
              </a:rPr>
              <a:t>0.06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617720"/>
            <a:ext cx="15544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D64C4C"/>
                </a:solidFill>
                <a:latin typeface="Microsoft YaHei"/>
              </a:rPr>
              <a:t>点迹模糊？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60320" y="464515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D64C4C"/>
          </a:solidFill>
          <a:ln>
            <a:solidFill>
              <a:srgbClr val="D6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88920" y="4553712"/>
            <a:ext cx="30632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YaHei"/>
              </a:rPr>
              <a:t>电压过低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75120" y="464515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D64C4C"/>
          </a:solidFill>
          <a:ln>
            <a:solidFill>
              <a:srgbClr val="D6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3720" y="4553712"/>
            <a:ext cx="30632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YaHei"/>
              </a:rPr>
              <a:t>振针过高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60320" y="5212080"/>
            <a:ext cx="109728" cy="109728"/>
          </a:xfrm>
          <a:prstGeom prst="roundRect">
            <a:avLst>
              <a:gd name="adj" fmla="val 8000"/>
            </a:avLst>
          </a:prstGeom>
          <a:solidFill>
            <a:srgbClr val="D64C4C"/>
          </a:solidFill>
          <a:ln>
            <a:solidFill>
              <a:srgbClr val="D6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88920" y="5120640"/>
            <a:ext cx="30632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YaHei"/>
              </a:rPr>
              <a:t>纸带过松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75120" y="5212080"/>
            <a:ext cx="109728" cy="109728"/>
          </a:xfrm>
          <a:prstGeom prst="roundRect">
            <a:avLst>
              <a:gd name="adj" fmla="val 8000"/>
            </a:avLst>
          </a:prstGeom>
          <a:solidFill>
            <a:srgbClr val="D64C4C"/>
          </a:solidFill>
          <a:ln>
            <a:solidFill>
              <a:srgbClr val="D6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03720" y="5120640"/>
            <a:ext cx="30632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YaHei"/>
              </a:rPr>
              <a:t>纸带未压好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48640" y="651052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48640" y="6565392"/>
            <a:ext cx="7315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4C5D7"/>
                </a:solidFill>
                <a:latin typeface="Microsoft YaHei"/>
              </a:rPr>
              <a:t>第一章 运动的描述 · 1.2 时间和位移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56032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5303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7CB4A"/>
                </a:solidFill>
                <a:latin typeface="Microsoft YaHei"/>
              </a:rPr>
              <a:t>17 · 知识结构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12648"/>
            <a:ext cx="100584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Microsoft YaHei"/>
              </a:rPr>
              <a:t>从“时间”到“位移”，再到“图像与实验”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201168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76272"/>
            <a:ext cx="1645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700" b="1" i="0">
                <a:solidFill>
                  <a:srgbClr val="F2923D"/>
                </a:solidFill>
                <a:latin typeface="Microsoft YaHei"/>
              </a:rP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78608"/>
            <a:ext cx="17007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0" i="0">
                <a:solidFill>
                  <a:srgbClr val="212C3A"/>
                </a:solidFill>
                <a:latin typeface="Microsoft YaHei"/>
              </a:rPr>
              <a:t>时刻 · 时间间隔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201168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176272"/>
            <a:ext cx="1645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700" b="1" i="0">
                <a:solidFill>
                  <a:srgbClr val="1D6FBF"/>
                </a:solidFill>
                <a:latin typeface="Microsoft YaHei"/>
              </a:rPr>
              <a:t>空间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578608"/>
            <a:ext cx="17007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0" i="0">
                <a:solidFill>
                  <a:srgbClr val="212C3A"/>
                </a:solidFill>
                <a:latin typeface="Microsoft YaHei"/>
              </a:rPr>
              <a:t>坐标系 · 位置 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01168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D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60" y="2176272"/>
            <a:ext cx="1645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700" b="1" i="0">
                <a:solidFill>
                  <a:srgbClr val="2DB7C7"/>
                </a:solidFill>
                <a:latin typeface="Microsoft YaHei"/>
              </a:rPr>
              <a:t>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578608"/>
            <a:ext cx="17007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0" i="0">
                <a:solidFill>
                  <a:srgbClr val="212C3A"/>
                </a:solidFill>
                <a:latin typeface="Microsoft YaHei"/>
              </a:rPr>
              <a:t>路程 s · 位移 Δx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01168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37A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2176272"/>
            <a:ext cx="1645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700" b="1" i="0">
                <a:solidFill>
                  <a:srgbClr val="37A674"/>
                </a:solidFill>
                <a:latin typeface="Microsoft YaHei"/>
              </a:rPr>
              <a:t>图像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2578608"/>
            <a:ext cx="17007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0" i="0">
                <a:solidFill>
                  <a:srgbClr val="212C3A"/>
                </a:solidFill>
                <a:latin typeface="Microsoft YaHei"/>
              </a:rPr>
              <a:t>x-t · 斜率=速度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43484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6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4599431"/>
            <a:ext cx="1645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700" b="1" i="0">
                <a:solidFill>
                  <a:srgbClr val="D64C4C"/>
                </a:solidFill>
                <a:latin typeface="Microsoft YaHei"/>
              </a:rPr>
              <a:t>测量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5001768"/>
            <a:ext cx="170078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0" i="0">
                <a:solidFill>
                  <a:srgbClr val="212C3A"/>
                </a:solidFill>
                <a:latin typeface="Microsoft YaHei"/>
              </a:rPr>
              <a:t>频闪 · 打点纸带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24912" y="2578608"/>
            <a:ext cx="402336" cy="0"/>
          </a:xfrm>
          <a:prstGeom prst="line">
            <a:avLst/>
          </a:prstGeom>
          <a:ln w="25400">
            <a:solidFill>
              <a:srgbClr val="DA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56632" y="2578608"/>
            <a:ext cx="402336" cy="0"/>
          </a:xfrm>
          <a:prstGeom prst="line">
            <a:avLst/>
          </a:prstGeom>
          <a:ln w="25400">
            <a:solidFill>
              <a:srgbClr val="DA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88352" y="2578608"/>
            <a:ext cx="402336" cy="0"/>
          </a:xfrm>
          <a:prstGeom prst="line">
            <a:avLst/>
          </a:prstGeom>
          <a:ln w="25400">
            <a:solidFill>
              <a:srgbClr val="DA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257800" y="3172968"/>
            <a:ext cx="1143000" cy="1216152"/>
          </a:xfrm>
          <a:prstGeom prst="line">
            <a:avLst/>
          </a:prstGeom>
          <a:ln w="25400">
            <a:solidFill>
              <a:srgbClr val="DA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26280" y="3172968"/>
            <a:ext cx="320040" cy="1216152"/>
          </a:xfrm>
          <a:prstGeom prst="line">
            <a:avLst/>
          </a:prstGeom>
          <a:ln w="25400">
            <a:solidFill>
              <a:srgbClr val="DA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05840" y="5779008"/>
            <a:ext cx="10058400" cy="438912"/>
          </a:xfrm>
          <a:prstGeom prst="roundRect">
            <a:avLst>
              <a:gd name="adj" fmla="val 8000"/>
            </a:avLst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5897880"/>
            <a:ext cx="9601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112240"/>
                </a:solidFill>
                <a:latin typeface="Microsoft YaHei"/>
              </a:rPr>
              <a:t>一条原则：先规定参考系和正方向，再描述物理量。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51052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565392"/>
            <a:ext cx="7315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4C5D7"/>
                </a:solidFill>
                <a:latin typeface="Microsoft YaHei"/>
              </a:rPr>
              <a:t>第一章 运动的描述 · 1.2 时间和位移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56032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5303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7CB4A"/>
                </a:solidFill>
                <a:latin typeface="Microsoft YaHei"/>
              </a:rPr>
              <a:t>18 · 出口条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12648"/>
            <a:ext cx="100584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Microsoft YaHei"/>
              </a:rPr>
              <a:t>离开教室前，请完成这 5 个小问题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68680" y="1627632"/>
            <a:ext cx="10469880" cy="530352"/>
          </a:xfrm>
          <a:prstGeom prst="roundRect">
            <a:avLst>
              <a:gd name="adj" fmla="val 8000"/>
            </a:avLst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773936"/>
            <a:ext cx="9921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212C3A"/>
                </a:solidFill>
                <a:latin typeface="Microsoft YaHei"/>
              </a:rPr>
              <a:t>① “第6 s末”和“第7 s初”是同一时刻吗？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04872"/>
            <a:ext cx="10469880" cy="530352"/>
          </a:xfrm>
          <a:prstGeom prst="roundRect">
            <a:avLst>
              <a:gd name="adj" fmla="val 8000"/>
            </a:avLst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551176"/>
            <a:ext cx="9921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212C3A"/>
                </a:solidFill>
                <a:latin typeface="Microsoft YaHei"/>
              </a:rPr>
              <a:t>② x₁=−4 m 到 x₂=+6 m，位移是多少？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182112"/>
            <a:ext cx="10469880" cy="530352"/>
          </a:xfrm>
          <a:prstGeom prst="roundRect">
            <a:avLst>
              <a:gd name="adj" fmla="val 8000"/>
            </a:avLst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328416"/>
            <a:ext cx="9921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212C3A"/>
                </a:solidFill>
                <a:latin typeface="Microsoft YaHei"/>
              </a:rPr>
              <a:t>③ 绕一周回到原点，路程与位移分别怎样？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959352"/>
            <a:ext cx="10469880" cy="530352"/>
          </a:xfrm>
          <a:prstGeom prst="roundRect">
            <a:avLst>
              <a:gd name="adj" fmla="val 8000"/>
            </a:avLst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105656"/>
            <a:ext cx="9921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212C3A"/>
                </a:solidFill>
                <a:latin typeface="Microsoft YaHei"/>
              </a:rPr>
              <a:t>④ x-t 图像交点、斜率分别表示什么？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736592"/>
            <a:ext cx="10469880" cy="530352"/>
          </a:xfrm>
          <a:prstGeom prst="roundRect">
            <a:avLst>
              <a:gd name="adj" fmla="val 8000"/>
            </a:avLst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882896"/>
            <a:ext cx="9921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212C3A"/>
                </a:solidFill>
                <a:latin typeface="Microsoft YaHei"/>
              </a:rPr>
              <a:t>⑤ 数到第8个点，50 Hz，经历多长时间？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5669280"/>
            <a:ext cx="9738360" cy="457200"/>
          </a:xfrm>
          <a:prstGeom prst="roundRect">
            <a:avLst>
              <a:gd name="adj" fmla="val 8000"/>
            </a:avLst>
          </a:prstGeom>
          <a:solidFill>
            <a:srgbClr val="ECF7FF"/>
          </a:solidFill>
          <a:ln>
            <a:solidFill>
              <a:srgbClr val="BE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5797296"/>
            <a:ext cx="9372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1D6FBF"/>
                </a:solidFill>
                <a:latin typeface="Microsoft YaHei"/>
              </a:rPr>
              <a:t>答案关键词：是；+10 m；s&gt;0、Δx=0；相遇、速度；0.14 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51052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65392"/>
            <a:ext cx="7315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4C5D7"/>
                </a:solidFill>
                <a:latin typeface="Microsoft YaHei"/>
              </a:rPr>
              <a:t>第一章 运动的描述 · 1.2 时间和位移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240"/>
          </a:solidFill>
          <a:ln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2923D"/>
          </a:solidFill>
          <a:ln>
            <a:solidFill>
              <a:srgbClr val="F29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80467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F7CB4A"/>
                </a:solidFill>
                <a:latin typeface="Microsoft YaHei"/>
              </a:rPr>
              <a:t>课后延伸 · 把生活拍成一张 x-t 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859536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YaHei"/>
              </a:rPr>
              <a:t>用手机固定时间间隔拍摄小球或玩具车的运动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3840480"/>
            <a:ext cx="256032" cy="256032"/>
          </a:xfrm>
          <a:prstGeom prst="ellipse">
            <a:avLst/>
          </a:prstGeom>
          <a:solidFill>
            <a:srgbClr val="2DB7C7"/>
          </a:solidFill>
          <a:ln>
            <a:solidFill>
              <a:srgbClr val="2D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170432" y="3968496"/>
            <a:ext cx="1371600" cy="0"/>
          </a:xfrm>
          <a:prstGeom prst="line">
            <a:avLst/>
          </a:prstGeom>
          <a:ln w="25400">
            <a:solidFill>
              <a:srgbClr val="5D9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560320" y="3648119"/>
            <a:ext cx="256032" cy="256032"/>
          </a:xfrm>
          <a:prstGeom prst="ellipse">
            <a:avLst/>
          </a:prstGeom>
          <a:solidFill>
            <a:srgbClr val="2DB7C7"/>
          </a:solidFill>
          <a:ln>
            <a:solidFill>
              <a:srgbClr val="2D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816352" y="3776135"/>
            <a:ext cx="1371600" cy="0"/>
          </a:xfrm>
          <a:prstGeom prst="line">
            <a:avLst/>
          </a:prstGeom>
          <a:ln w="25400">
            <a:solidFill>
              <a:srgbClr val="5D9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206240" y="3632614"/>
            <a:ext cx="256032" cy="256032"/>
          </a:xfrm>
          <a:prstGeom prst="ellipse">
            <a:avLst/>
          </a:prstGeom>
          <a:solidFill>
            <a:srgbClr val="2DB7C7"/>
          </a:solidFill>
          <a:ln>
            <a:solidFill>
              <a:srgbClr val="2D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462272" y="3760630"/>
            <a:ext cx="1371600" cy="0"/>
          </a:xfrm>
          <a:prstGeom prst="line">
            <a:avLst/>
          </a:prstGeom>
          <a:ln w="25400">
            <a:solidFill>
              <a:srgbClr val="5D9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852160" y="3808219"/>
            <a:ext cx="256032" cy="256032"/>
          </a:xfrm>
          <a:prstGeom prst="ellipse">
            <a:avLst/>
          </a:prstGeom>
          <a:solidFill>
            <a:srgbClr val="2DB7C7"/>
          </a:solidFill>
          <a:ln>
            <a:solidFill>
              <a:srgbClr val="2D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108192" y="3936235"/>
            <a:ext cx="1371600" cy="0"/>
          </a:xfrm>
          <a:prstGeom prst="line">
            <a:avLst/>
          </a:prstGeom>
          <a:ln w="25400">
            <a:solidFill>
              <a:srgbClr val="5D9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498079" y="4013485"/>
            <a:ext cx="256032" cy="256032"/>
          </a:xfrm>
          <a:prstGeom prst="ellipse">
            <a:avLst/>
          </a:prstGeom>
          <a:solidFill>
            <a:srgbClr val="2DB7C7"/>
          </a:solidFill>
          <a:ln>
            <a:solidFill>
              <a:srgbClr val="2D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754111" y="4141501"/>
            <a:ext cx="1371600" cy="0"/>
          </a:xfrm>
          <a:prstGeom prst="line">
            <a:avLst/>
          </a:prstGeom>
          <a:ln w="25400">
            <a:solidFill>
              <a:srgbClr val="5D9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144000" y="4059690"/>
            <a:ext cx="256032" cy="256032"/>
          </a:xfrm>
          <a:prstGeom prst="ellipse">
            <a:avLst/>
          </a:prstGeom>
          <a:solidFill>
            <a:srgbClr val="2DB7C7"/>
          </a:solidFill>
          <a:ln>
            <a:solidFill>
              <a:srgbClr val="2D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14400" y="5120640"/>
            <a:ext cx="9966960" cy="0"/>
          </a:xfrm>
          <a:prstGeom prst="line">
            <a:avLst/>
          </a:prstGeom>
          <a:ln w="25400">
            <a:solidFill>
              <a:srgbClr val="5D9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14400" y="2880360"/>
            <a:ext cx="0" cy="2240280"/>
          </a:xfrm>
          <a:prstGeom prst="line">
            <a:avLst/>
          </a:prstGeom>
          <a:ln w="25400">
            <a:solidFill>
              <a:srgbClr val="5D97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700" b="0" i="0">
                <a:solidFill>
                  <a:srgbClr val="CDE1F0"/>
                </a:solidFill>
                <a:latin typeface="Microsoft YaHei"/>
              </a:rPr>
              <a:t>下节课：用纸带实验数据，与照片数据“对照验证”。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510528"/>
            <a:ext cx="11064240" cy="0"/>
          </a:xfrm>
          <a:prstGeom prst="line">
            <a:avLst/>
          </a:prstGeom>
          <a:ln w="12700">
            <a:solidFill>
              <a:srgbClr val="43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565392"/>
            <a:ext cx="7315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4C5D7"/>
                </a:solidFill>
                <a:latin typeface="Microsoft YaHei"/>
              </a:rPr>
              <a:t>光谷二高 · 高一年级物理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