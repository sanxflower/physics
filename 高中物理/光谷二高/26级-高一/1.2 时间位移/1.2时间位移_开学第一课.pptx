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4937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2DB7C7"/>
                </a:solidFill>
                <a:latin typeface="Microsoft YaHei"/>
              </a:rPr>
              <a:t>高中物理 · 必修第一册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758952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>1.2 时间和位移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40280"/>
            <a:ext cx="8046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000" b="0" i="0">
                <a:solidFill>
                  <a:srgbClr val="D2E6F4"/>
                </a:solidFill>
                <a:latin typeface="Microsoft YaHei"/>
              </a:rPr>
              <a:t>把“什么时候、在哪里、走了多远”说清楚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71800"/>
            <a:ext cx="3840480" cy="0"/>
          </a:xfrm>
          <a:prstGeom prst="line">
            <a:avLst/>
          </a:prstGeom>
          <a:ln w="50800">
            <a:solidFill>
              <a:srgbClr val="F29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246120"/>
            <a:ext cx="56692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BECDDC"/>
                </a:solidFill>
                <a:latin typeface="Microsoft YaHei"/>
              </a:rPr>
              <a:t>开学第一课 · 建模、读图与实验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589520" y="5394960"/>
            <a:ext cx="3657600" cy="0"/>
          </a:xfrm>
          <a:prstGeom prst="line">
            <a:avLst/>
          </a:prstGeom>
          <a:ln w="25400">
            <a:solidFill>
              <a:srgbClr val="2DB7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589520" y="2011680"/>
            <a:ext cx="0" cy="3383280"/>
          </a:xfrm>
          <a:prstGeom prst="line">
            <a:avLst/>
          </a:prstGeom>
          <a:ln w="25400">
            <a:solidFill>
              <a:srgbClr val="2DB7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7507224" y="5312664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5532120"/>
            <a:ext cx="228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O</a:t>
            </a:r>
          </a:p>
        </p:txBody>
      </p:sp>
      <p:sp>
        <p:nvSpPr>
          <p:cNvPr id="13" name="Oval 12"/>
          <p:cNvSpPr/>
          <p:nvPr/>
        </p:nvSpPr>
        <p:spPr>
          <a:xfrm>
            <a:off x="8604504" y="5312664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5532120"/>
            <a:ext cx="228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A</a:t>
            </a:r>
          </a:p>
        </p:txBody>
      </p:sp>
      <p:sp>
        <p:nvSpPr>
          <p:cNvPr id="15" name="Oval 14"/>
          <p:cNvSpPr/>
          <p:nvPr/>
        </p:nvSpPr>
        <p:spPr>
          <a:xfrm>
            <a:off x="10250424" y="5312664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22992" y="5532120"/>
            <a:ext cx="228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1737360"/>
            <a:ext cx="32004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F7CB4A"/>
                </a:solidFill>
                <a:latin typeface="Microsoft YaHei"/>
              </a:rPr>
              <a:t>时间轴 × 坐标轴 × 纸带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光谷二高 · 高一年级物理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01 · 情境导入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如果要准确描述一辆车的运动，我们需要什么？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02</a:t>
            </a:r>
          </a:p>
        </p:txBody>
      </p:sp>
      <p:pic>
        <p:nvPicPr>
          <p:cNvPr id="6" name="Picture 5" descr="教材批注_intro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72768"/>
            <a:ext cx="4800600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15000" y="1645920"/>
            <a:ext cx="5715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15000" y="1645920"/>
            <a:ext cx="73152" cy="1143000"/>
          </a:xfrm>
          <a:prstGeom prst="roundRect">
            <a:avLst>
              <a:gd name="adj" fmla="val 8000"/>
            </a:avLst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81051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2DB7C7"/>
                </a:solidFill>
                <a:latin typeface="Microsoft YaHei"/>
              </a:rPr>
              <a:t>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10512"/>
            <a:ext cx="47548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先问两个问题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267712"/>
            <a:ext cx="5257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① 在什么时候？ ② 在哪里？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2971800"/>
            <a:ext cx="26974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15000" y="2971800"/>
            <a:ext cx="73152" cy="192024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13639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2923D"/>
                </a:solidFill>
                <a:latin typeface="Microsoft YaHei"/>
              </a:rPr>
              <a:t>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136392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时间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593592"/>
            <a:ext cx="2240280" cy="1143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一个瞬间
还是一段过程？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2971800"/>
            <a:ext cx="26974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32520" y="2971800"/>
            <a:ext cx="73152" cy="1920240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313639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1D6FBF"/>
                </a:solidFill>
                <a:latin typeface="Microsoft YaHei"/>
              </a:rPr>
              <a:t>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136392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593592"/>
            <a:ext cx="2240280" cy="1143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需要参考系
和坐标来表达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0" y="5303520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25312" y="5468112"/>
            <a:ext cx="53035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1" i="0">
                <a:solidFill>
                  <a:srgbClr val="112240"/>
                </a:solidFill>
                <a:latin typeface="Microsoft YaHei"/>
              </a:rPr>
              <a:t>本节主线：生活语言 → 坐标语言 → 图像语言 → 实验数据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02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今天下课时，你应该能做到这四件事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251460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1993392"/>
            <a:ext cx="777240" cy="777240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176272"/>
            <a:ext cx="7772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35808"/>
            <a:ext cx="20574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900" b="1" i="0">
                <a:solidFill>
                  <a:srgbClr val="112240"/>
                </a:solidFill>
                <a:latin typeface="Microsoft YaHei"/>
              </a:rPr>
              <a:t>辨析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1965960" cy="8229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0" i="0">
                <a:solidFill>
                  <a:srgbClr val="212C3A"/>
                </a:solidFill>
                <a:latin typeface="Microsoft YaHei"/>
              </a:rPr>
              <a:t>时刻 vs 时间间隔
路程 vs 位移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80" y="4617720"/>
            <a:ext cx="1691640" cy="0"/>
          </a:xfrm>
          <a:prstGeom prst="line">
            <a:avLst/>
          </a:prstGeom>
          <a:ln w="38100">
            <a:solidFill>
              <a:srgbClr val="F29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20440" y="1737360"/>
            <a:ext cx="251460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9120" y="1993392"/>
            <a:ext cx="777240" cy="777240"/>
          </a:xfrm>
          <a:prstGeom prst="ellipse">
            <a:avLst/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76272"/>
            <a:ext cx="7772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035808"/>
            <a:ext cx="20574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900" b="1" i="0">
                <a:solidFill>
                  <a:srgbClr val="112240"/>
                </a:solidFill>
                <a:latin typeface="Microsoft YaHei"/>
              </a:rPr>
              <a:t>建模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566160"/>
            <a:ext cx="1965960" cy="8229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0" i="0">
                <a:solidFill>
                  <a:srgbClr val="212C3A"/>
                </a:solidFill>
                <a:latin typeface="Microsoft YaHei"/>
              </a:rPr>
              <a:t>建立一维坐标系
读写位置坐标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4617720"/>
            <a:ext cx="1691640" cy="0"/>
          </a:xfrm>
          <a:prstGeom prst="line">
            <a:avLst/>
          </a:prstGeom>
          <a:ln w="381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55080" y="1737360"/>
            <a:ext cx="251460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0" y="1993392"/>
            <a:ext cx="777240" cy="777240"/>
          </a:xfrm>
          <a:prstGeom prst="ellipse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2176272"/>
            <a:ext cx="7772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035808"/>
            <a:ext cx="20574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900" b="1" i="0">
                <a:solidFill>
                  <a:srgbClr val="112240"/>
                </a:solidFill>
                <a:latin typeface="Microsoft YaHei"/>
              </a:rPr>
              <a:t>读图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566160"/>
            <a:ext cx="1965960" cy="8229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0" i="0">
                <a:solidFill>
                  <a:srgbClr val="212C3A"/>
                </a:solidFill>
                <a:latin typeface="Microsoft YaHei"/>
              </a:rPr>
              <a:t>从 x-t 图像读位置、相遇
理解斜率与速度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66560" y="4617720"/>
            <a:ext cx="1691640" cy="0"/>
          </a:xfrm>
          <a:prstGeom prst="line">
            <a:avLst/>
          </a:prstGeom>
          <a:ln w="38100">
            <a:solidFill>
              <a:srgbClr val="2DB7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89720" y="1737360"/>
            <a:ext cx="251460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0" y="1993392"/>
            <a:ext cx="777240" cy="777240"/>
          </a:xfrm>
          <a:prstGeom prst="ellipse">
            <a:avLst/>
          </a:prstGeom>
          <a:solidFill>
            <a:srgbClr val="37A674"/>
          </a:solidFill>
          <a:ln>
            <a:solidFill>
              <a:srgbClr val="37A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2176272"/>
            <a:ext cx="77724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035808"/>
            <a:ext cx="20574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900" b="1" i="0">
                <a:solidFill>
                  <a:srgbClr val="112240"/>
                </a:solidFill>
                <a:latin typeface="Microsoft YaHei"/>
              </a:rPr>
              <a:t>测量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3566160"/>
            <a:ext cx="1965960" cy="8229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0" i="0">
                <a:solidFill>
                  <a:srgbClr val="212C3A"/>
                </a:solidFill>
                <a:latin typeface="Microsoft YaHei"/>
              </a:rPr>
              <a:t>会算打点时间
会读纸带位移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601200" y="4617720"/>
            <a:ext cx="1691640" cy="0"/>
          </a:xfrm>
          <a:prstGeom prst="line">
            <a:avLst/>
          </a:prstGeom>
          <a:ln w="38100">
            <a:solidFill>
              <a:srgbClr val="37A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05840" y="5596128"/>
            <a:ext cx="101498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 i="0">
                <a:solidFill>
                  <a:srgbClr val="112240"/>
                </a:solidFill>
                <a:latin typeface="Microsoft YaHei"/>
              </a:rPr>
              <a:t>一条原则：先规定参考系与正方向，再描述物理量。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03 · 时间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时刻是“点”，时间间隔是“线段”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72768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647485"/>
                </a:solidFill>
                <a:latin typeface="Microsoft YaHei"/>
              </a:rPr>
              <a:t>时间轴：箭头表示时间增大的方向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60120" y="2834640"/>
            <a:ext cx="9921240" cy="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88720" y="2615184"/>
            <a:ext cx="0" cy="438912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267712"/>
            <a:ext cx="7315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12240"/>
                </a:solidFill>
                <a:latin typeface="Microsoft YaHei"/>
              </a:rPr>
              <a:t>8:00</a:t>
            </a:r>
          </a:p>
        </p:txBody>
      </p:sp>
      <p:sp>
        <p:nvSpPr>
          <p:cNvPr id="10" name="Oval 9"/>
          <p:cNvSpPr/>
          <p:nvPr/>
        </p:nvSpPr>
        <p:spPr>
          <a:xfrm>
            <a:off x="1115568" y="2761488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532120" y="2615184"/>
            <a:ext cx="0" cy="438912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66359" y="2267712"/>
            <a:ext cx="7315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12240"/>
                </a:solidFill>
                <a:latin typeface="Microsoft YaHei"/>
              </a:rPr>
              <a:t>8:45</a:t>
            </a:r>
          </a:p>
        </p:txBody>
      </p:sp>
      <p:sp>
        <p:nvSpPr>
          <p:cNvPr id="13" name="Oval 12"/>
          <p:cNvSpPr/>
          <p:nvPr/>
        </p:nvSpPr>
        <p:spPr>
          <a:xfrm>
            <a:off x="5458968" y="2761488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875520" y="2615184"/>
            <a:ext cx="0" cy="438912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09760" y="2267712"/>
            <a:ext cx="7315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12240"/>
                </a:solidFill>
                <a:latin typeface="Microsoft YaHei"/>
              </a:rPr>
              <a:t>9:00</a:t>
            </a:r>
          </a:p>
        </p:txBody>
      </p:sp>
      <p:sp>
        <p:nvSpPr>
          <p:cNvPr id="16" name="Oval 15"/>
          <p:cNvSpPr/>
          <p:nvPr/>
        </p:nvSpPr>
        <p:spPr>
          <a:xfrm>
            <a:off x="9802368" y="2761488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474720"/>
            <a:ext cx="4343400" cy="0"/>
          </a:xfrm>
          <a:prstGeom prst="line">
            <a:avLst/>
          </a:prstGeom>
          <a:ln w="101600">
            <a:solidFill>
              <a:srgbClr val="F29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03120" y="3703320"/>
            <a:ext cx="29260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1" i="0">
                <a:solidFill>
                  <a:srgbClr val="F2923D"/>
                </a:solidFill>
                <a:latin typeface="Microsoft YaHei"/>
              </a:rPr>
              <a:t>8:00—8:45：45 min（时间间隔）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572000"/>
            <a:ext cx="48920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73152" cy="1188720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3659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1D6FBF"/>
                </a:solidFill>
                <a:latin typeface="Microsoft YaHei"/>
              </a:rPr>
              <a:t>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736592"/>
            <a:ext cx="3931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时刻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44348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某一瞬间；状态量；没有“长短”
例：8时上课、8时45分下课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48920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17920" y="4572000"/>
            <a:ext cx="73152" cy="118872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73659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2923D"/>
                </a:solidFill>
                <a:latin typeface="Microsoft YaHei"/>
              </a:rPr>
              <a:t>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4736592"/>
            <a:ext cx="3931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时间间隔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193792"/>
            <a:ext cx="44348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两个时刻之间的一段过程；有长短
例：从8时到8时45分，共45 min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04 · 课堂辨析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把日常表达“翻译”成物理语言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652760" cy="786384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9202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 i="0">
                <a:solidFill>
                  <a:srgbClr val="112240"/>
                </a:solidFill>
                <a:latin typeface="Microsoft YaHei"/>
              </a:rPr>
              <a:t>第4 s末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764792"/>
            <a:ext cx="1508760" cy="384048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837943"/>
            <a:ext cx="15087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时刻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783080"/>
            <a:ext cx="5715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与第5 s初是同一时刻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24328"/>
            <a:ext cx="10652760" cy="786384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07208"/>
            <a:ext cx="19202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 i="0">
                <a:solidFill>
                  <a:srgbClr val="112240"/>
                </a:solidFill>
                <a:latin typeface="Microsoft YaHei"/>
              </a:rPr>
              <a:t>第5 s内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788920"/>
            <a:ext cx="1508760" cy="384048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862072"/>
            <a:ext cx="15087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时间间隔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07208"/>
            <a:ext cx="5715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从第4 s初到第5 s末，共1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648456"/>
            <a:ext cx="10652760" cy="786384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831336"/>
            <a:ext cx="19202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 i="0">
                <a:solidFill>
                  <a:srgbClr val="112240"/>
                </a:solidFill>
                <a:latin typeface="Microsoft YaHei"/>
              </a:rPr>
              <a:t>前3 s内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3813048"/>
            <a:ext cx="1508760" cy="384048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886200"/>
            <a:ext cx="15087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时间间隔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3831336"/>
            <a:ext cx="5715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从0时刻到第3 s末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72584"/>
            <a:ext cx="10652760" cy="786384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855464"/>
            <a:ext cx="19202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 i="0">
                <a:solidFill>
                  <a:srgbClr val="112240"/>
                </a:solidFill>
                <a:latin typeface="Microsoft YaHei"/>
              </a:rPr>
              <a:t>第5 s末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4837176"/>
            <a:ext cx="1508760" cy="384048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10328"/>
            <a:ext cx="15087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时刻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855464"/>
            <a:ext cx="5715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时间轴上用一个点表示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806440"/>
            <a:ext cx="104241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D64C4C"/>
                </a:solidFill>
                <a:latin typeface="Microsoft YaHei"/>
              </a:rPr>
              <a:t>口诀：看到“某时刻 / 初 / 末”先想点；看到“经过 / 用时 / 内”先想线段。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05 · 空间描述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位置不是“感觉”，而是坐标系中的一个数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251960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19"/>
            <a:ext cx="29260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000" b="1" i="0">
                <a:solidFill>
                  <a:srgbClr val="112240"/>
                </a:solidFill>
                <a:latin typeface="Microsoft YaHei"/>
              </a:rPr>
              <a:t>一维坐标系三要素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34440" y="4023360"/>
            <a:ext cx="4480560" cy="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17320" y="3813048"/>
            <a:ext cx="0" cy="420624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05840" y="4315968"/>
            <a:ext cx="8229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 i="0">
                <a:solidFill>
                  <a:srgbClr val="112240"/>
                </a:solidFill>
                <a:latin typeface="Microsoft YaHei"/>
              </a:rPr>
              <a:t>−20 m</a:t>
            </a:r>
          </a:p>
        </p:txBody>
      </p:sp>
      <p:sp>
        <p:nvSpPr>
          <p:cNvPr id="11" name="Oval 10"/>
          <p:cNvSpPr/>
          <p:nvPr/>
        </p:nvSpPr>
        <p:spPr>
          <a:xfrm>
            <a:off x="1335024" y="3941063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108960" y="3813048"/>
            <a:ext cx="0" cy="420624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97479" y="4315968"/>
            <a:ext cx="8229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 i="0">
                <a:solidFill>
                  <a:srgbClr val="112240"/>
                </a:solidFill>
                <a:latin typeface="Microsoft YaHei"/>
              </a:rPr>
              <a:t>O / 0</a:t>
            </a:r>
          </a:p>
        </p:txBody>
      </p:sp>
      <p:sp>
        <p:nvSpPr>
          <p:cNvPr id="14" name="Oval 13"/>
          <p:cNvSpPr/>
          <p:nvPr/>
        </p:nvSpPr>
        <p:spPr>
          <a:xfrm>
            <a:off x="3026664" y="3941063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074920" y="3813048"/>
            <a:ext cx="0" cy="420624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663440" y="4315968"/>
            <a:ext cx="8229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 i="0">
                <a:solidFill>
                  <a:srgbClr val="112240"/>
                </a:solidFill>
                <a:latin typeface="Microsoft YaHei"/>
              </a:rPr>
              <a:t>+30 m</a:t>
            </a:r>
          </a:p>
        </p:txBody>
      </p:sp>
      <p:sp>
        <p:nvSpPr>
          <p:cNvPr id="17" name="Oval 16"/>
          <p:cNvSpPr/>
          <p:nvPr/>
        </p:nvSpPr>
        <p:spPr>
          <a:xfrm>
            <a:off x="4992624" y="3941063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11887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F2923D"/>
                </a:solidFill>
                <a:latin typeface="Microsoft YaHei"/>
              </a:rPr>
              <a:t>原点 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800600"/>
            <a:ext cx="1463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1D6FBF"/>
                </a:solidFill>
                <a:latin typeface="Microsoft YaHei"/>
              </a:rPr>
              <a:t>正方向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800600"/>
            <a:ext cx="12801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37A674"/>
                </a:solidFill>
                <a:latin typeface="Microsoft YaHei"/>
              </a:rPr>
              <a:t>单位长度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645920"/>
            <a:ext cx="46634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29400" y="1645920"/>
            <a:ext cx="73152" cy="1280160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181051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1D6FBF"/>
                </a:solidFill>
                <a:latin typeface="Microsoft YaHei"/>
              </a:rPr>
              <a:t>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1810512"/>
            <a:ext cx="37033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位置 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267712"/>
            <a:ext cx="4206240" cy="502919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物体在某时刻所处的空间点
用该点的坐标表示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3182112"/>
            <a:ext cx="46634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29400" y="3182112"/>
            <a:ext cx="73152" cy="128016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3346704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2923D"/>
                </a:solidFill>
                <a:latin typeface="Microsoft YaHei"/>
              </a:rPr>
              <a:t>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346704"/>
            <a:ext cx="37033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例：岗亭为原点，向东为正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803904"/>
            <a:ext cx="4206240" cy="502919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x=+30 m：岗亭以东30 m
x=−20 m：岗亭以西20 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4800600"/>
            <a:ext cx="4663440" cy="868680"/>
          </a:xfrm>
          <a:prstGeom prst="roundRect">
            <a:avLst>
              <a:gd name="adj" fmla="val 8000"/>
            </a:avLst>
          </a:prstGeom>
          <a:solidFill>
            <a:srgbClr val="FFF8E7"/>
          </a:solidFill>
          <a:ln>
            <a:solidFill>
              <a:srgbClr val="F7DD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5074920"/>
            <a:ext cx="41148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212C3A"/>
                </a:solidFill>
                <a:latin typeface="Microsoft YaHei"/>
              </a:rPr>
              <a:t>正方向是人为规定的，关键是“先规定，再使用”。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06 · 路程与位移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路线可以不同，初末位置决定的位移只有一个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 i="0">
                <a:solidFill>
                  <a:srgbClr val="112240"/>
                </a:solidFill>
                <a:latin typeface="Microsoft YaHei"/>
              </a:rPr>
              <a:t>北京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443484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 i="0">
                <a:solidFill>
                  <a:srgbClr val="112240"/>
                </a:solidFill>
                <a:latin typeface="Microsoft YaHei"/>
              </a:rPr>
              <a:t>重庆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0200" y="2286000"/>
            <a:ext cx="8915400" cy="2286000"/>
          </a:xfrm>
          <a:prstGeom prst="line">
            <a:avLst/>
          </a:prstGeom>
          <a:ln w="381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600200" y="1600200"/>
            <a:ext cx="2057400" cy="685800"/>
          </a:xfrm>
          <a:prstGeom prst="line">
            <a:avLst/>
          </a:prstGeom>
          <a:ln w="38100">
            <a:solidFill>
              <a:srgbClr val="F29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657600" y="1600200"/>
            <a:ext cx="6858000" cy="2971800"/>
          </a:xfrm>
          <a:prstGeom prst="line">
            <a:avLst/>
          </a:prstGeom>
          <a:ln w="38100">
            <a:solidFill>
              <a:srgbClr val="F29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00200" y="2286000"/>
            <a:ext cx="2971800" cy="2926080"/>
          </a:xfrm>
          <a:prstGeom prst="line">
            <a:avLst/>
          </a:prstGeom>
          <a:ln w="38100">
            <a:solidFill>
              <a:srgbClr val="37A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572000" y="4572000"/>
            <a:ext cx="5943600" cy="640080"/>
          </a:xfrm>
          <a:prstGeom prst="line">
            <a:avLst/>
          </a:prstGeom>
          <a:ln w="38100">
            <a:solidFill>
              <a:srgbClr val="37A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97680" y="2834640"/>
            <a:ext cx="24688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1" i="0">
                <a:solidFill>
                  <a:srgbClr val="1D6FBF"/>
                </a:solidFill>
                <a:latin typeface="Microsoft YaHei"/>
              </a:rPr>
              <a:t>直线距离 ≈ 1300 km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486400"/>
            <a:ext cx="4663440" cy="502920"/>
          </a:xfrm>
          <a:prstGeom prst="roundRect">
            <a:avLst>
              <a:gd name="adj" fmla="val 8000"/>
            </a:avLst>
          </a:prstGeom>
          <a:solidFill>
            <a:srgbClr val="ECF7FF"/>
          </a:solidFill>
          <a:ln>
            <a:solidFill>
              <a:srgbClr val="BE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41848"/>
            <a:ext cx="42976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D6FBF"/>
                </a:solidFill>
                <a:latin typeface="Microsoft YaHei"/>
              </a:rPr>
              <a:t>位移 Δx：由初位置指向末位置，与路径无关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5486400"/>
            <a:ext cx="4663440" cy="502920"/>
          </a:xfrm>
          <a:prstGeom prst="roundRect">
            <a:avLst>
              <a:gd name="adj" fmla="val 8000"/>
            </a:avLst>
          </a:prstGeom>
          <a:solidFill>
            <a:srgbClr val="FFF6EC"/>
          </a:solidFill>
          <a:ln>
            <a:solidFill>
              <a:srgbClr val="F6D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641848"/>
            <a:ext cx="42976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F2923D"/>
                </a:solidFill>
                <a:latin typeface="Microsoft YaHei"/>
              </a:rPr>
              <a:t>路程 s：运动轨迹的长度，路径越绕通常越长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07 · 标量与矢量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数字之外，还要问一句：方向呢？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98348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73152" cy="352044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5623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2923D"/>
                </a:solidFill>
                <a:latin typeface="Microsoft YaHei"/>
              </a:rPr>
              <a:t>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56232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标量 Scalar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13432"/>
            <a:ext cx="4526280" cy="2743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只有大小，没有方向
路程 s · 温度 · 质量 · 时间
路程恒有 s≥0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91640"/>
            <a:ext cx="498348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1691640"/>
            <a:ext cx="73152" cy="3520440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85623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1D6FBF"/>
                </a:solidFill>
                <a:latin typeface="Microsoft YaHei"/>
              </a:rPr>
              <a:t>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856232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矢量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13432"/>
            <a:ext cx="4526280" cy="2743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既有大小，又有方向
位移 Δx · 速度 · 力
一维中：正负号表示方向，
绝对值表示大小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5623560"/>
            <a:ext cx="9784080" cy="512064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5779008"/>
            <a:ext cx="932688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D64C4C"/>
                </a:solidFill>
                <a:latin typeface="Microsoft YaHei"/>
              </a:rPr>
              <a:t>Δx = −3 m 不是“负的长度”，而是：大小 3 m，方向沿 x 轴负方向。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08 · 直线位移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位移 = 末位置坐标 − 初位置坐标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6629400" cy="4297680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10058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 i="0">
                <a:solidFill>
                  <a:srgbClr val="2DB7C7"/>
                </a:solidFill>
                <a:latin typeface="Microsoft YaHei"/>
              </a:rPr>
              <a:t>公式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55778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3200" b="1" i="0">
                <a:solidFill>
                  <a:srgbClr val="112240"/>
                </a:solidFill>
                <a:latin typeface="Microsoft YaHei"/>
              </a:rPr>
              <a:t>Δx = x₂ − x₁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71600" y="3840480"/>
            <a:ext cx="5349240" cy="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11680" y="3566160"/>
            <a:ext cx="0" cy="54864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911096" y="3739896"/>
            <a:ext cx="201168" cy="201168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4315968"/>
            <a:ext cx="10972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1" i="0">
                <a:solidFill>
                  <a:srgbClr val="F2923D"/>
                </a:solidFill>
                <a:latin typeface="Microsoft YaHei"/>
              </a:rPr>
              <a:t>A
x₁=+5 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03520" y="3566160"/>
            <a:ext cx="0" cy="54864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202936" y="3739896"/>
            <a:ext cx="201168" cy="201168"/>
          </a:xfrm>
          <a:prstGeom prst="ellipse">
            <a:avLst/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315968"/>
            <a:ext cx="10972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1" i="0">
                <a:solidFill>
                  <a:srgbClr val="1D6FBF"/>
                </a:solidFill>
                <a:latin typeface="Microsoft YaHei"/>
              </a:rPr>
              <a:t>B
x₂=+2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5257800"/>
            <a:ext cx="55778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000" b="1" i="0">
                <a:solidFill>
                  <a:srgbClr val="D64C4C"/>
                </a:solidFill>
                <a:latin typeface="Microsoft YaHei"/>
              </a:rPr>
              <a:t>Δx = 2 − 5 = −3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69164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18120" y="1691640"/>
            <a:ext cx="73152" cy="1234440"/>
          </a:xfrm>
          <a:prstGeom prst="roundRect">
            <a:avLst>
              <a:gd name="adj" fmla="val 8000"/>
            </a:avLst>
          </a:prstGeom>
          <a:solidFill>
            <a:srgbClr val="D64C4C"/>
          </a:solidFill>
          <a:ln>
            <a:solidFill>
              <a:srgbClr val="D6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5623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D64C4C"/>
                </a:solidFill>
                <a:latin typeface="Microsoft YaHei"/>
              </a:rP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85623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方向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313432"/>
            <a:ext cx="310896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Δx&lt;0：沿 x 轴负方向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20040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8120" y="3200400"/>
            <a:ext cx="73152" cy="1234440"/>
          </a:xfrm>
          <a:prstGeom prst="roundRect">
            <a:avLst>
              <a:gd name="adj" fmla="val 8000"/>
            </a:avLst>
          </a:prstGeom>
          <a:solidFill>
            <a:srgbClr val="37A674"/>
          </a:solidFill>
          <a:ln>
            <a:solidFill>
              <a:srgbClr val="37A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336499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37A674"/>
                </a:solidFill>
                <a:latin typeface="Microsoft YaHei"/>
              </a:rPr>
              <a:t>| |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6499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大小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822191"/>
            <a:ext cx="310896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|Δx|=3 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470916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818120" y="4709160"/>
            <a:ext cx="73152" cy="123444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487375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2923D"/>
                </a:solidFill>
                <a:latin typeface="Microsoft YaHei"/>
              </a:rPr>
              <a:t>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87375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提醒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330952"/>
            <a:ext cx="310896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坐标要带正负号
顺序不能颠倒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09 · 练一练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先画坐标轴，再写“末 − 初”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10652760" cy="1005840"/>
          </a:xfrm>
          <a:prstGeom prst="roundRect">
            <a:avLst>
              <a:gd name="adj" fmla="val 8000"/>
            </a:avLst>
          </a:prstGeom>
          <a:solidFill>
            <a:srgbClr val="FFF8E7"/>
          </a:solidFill>
          <a:ln>
            <a:solidFill>
              <a:srgbClr val="F6D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0104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000" b="1" i="0">
                <a:solidFill>
                  <a:srgbClr val="112240"/>
                </a:solidFill>
                <a:latin typeface="Microsoft YaHei"/>
              </a:rPr>
              <a:t>物体从 x₁ = −4 m 运动到 x₂ = +6 m，求位移及方向。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43000" y="3886200"/>
            <a:ext cx="9738360" cy="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017520" y="3611880"/>
            <a:ext cx="0" cy="54864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916936" y="3785615"/>
            <a:ext cx="201168" cy="201168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4297680"/>
            <a:ext cx="914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F2923D"/>
                </a:solidFill>
                <a:latin typeface="Microsoft YaHei"/>
              </a:rPr>
              <a:t>−4 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83879" y="3611880"/>
            <a:ext cx="0" cy="54864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083296" y="3785615"/>
            <a:ext cx="201168" cy="201168"/>
          </a:xfrm>
          <a:prstGeom prst="ellipse">
            <a:avLst/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4297680"/>
            <a:ext cx="914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1D6FBF"/>
                </a:solidFill>
                <a:latin typeface="Microsoft YaHei"/>
              </a:rPr>
              <a:t>+6 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7520" y="3127248"/>
            <a:ext cx="5166359" cy="0"/>
          </a:xfrm>
          <a:prstGeom prst="line">
            <a:avLst/>
          </a:prstGeom>
          <a:ln w="50800">
            <a:solidFill>
              <a:srgbClr val="D64C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468880" y="4983480"/>
            <a:ext cx="7132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300" b="1" i="0">
                <a:solidFill>
                  <a:srgbClr val="D64C4C"/>
                </a:solidFill>
                <a:latin typeface="Microsoft YaHei"/>
              </a:rPr>
              <a:t>Δx = (+6) − (−4) = +10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577840"/>
            <a:ext cx="63093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112240"/>
                </a:solidFill>
                <a:latin typeface="Microsoft YaHei"/>
              </a:rPr>
              <a:t>方向：沿 x 轴正方向；大小：10 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10 · X-T 图像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把“位置随时间变化”画出来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6629400" cy="4526280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417320" y="5486400"/>
            <a:ext cx="5486400" cy="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417320" y="1965960"/>
            <a:ext cx="0" cy="3520440"/>
          </a:xfrm>
          <a:prstGeom prst="line">
            <a:avLst/>
          </a:prstGeom>
          <a:ln w="25400">
            <a:solidFill>
              <a:srgbClr val="112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331720" y="5422392"/>
            <a:ext cx="0" cy="128016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46120" y="5422392"/>
            <a:ext cx="0" cy="128016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160520" y="5422392"/>
            <a:ext cx="0" cy="128016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74920" y="5422392"/>
            <a:ext cx="0" cy="128016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89320" y="5422392"/>
            <a:ext cx="0" cy="128016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62456" y="4572000"/>
            <a:ext cx="109728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62456" y="3657600"/>
            <a:ext cx="109728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62456" y="2743200"/>
            <a:ext cx="109728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20840" y="5596128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 i="0">
                <a:solidFill>
                  <a:srgbClr val="112240"/>
                </a:solidFill>
                <a:latin typeface="Microsoft YaHei"/>
              </a:rPr>
              <a:t>t /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2880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 i="0">
                <a:solidFill>
                  <a:srgbClr val="112240"/>
                </a:solidFill>
                <a:latin typeface="Microsoft YaHei"/>
              </a:rPr>
              <a:t>x / 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417320" y="4114800"/>
            <a:ext cx="1508760" cy="777240"/>
          </a:xfrm>
          <a:prstGeom prst="line">
            <a:avLst/>
          </a:prstGeom>
          <a:ln w="381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926080" y="3154680"/>
            <a:ext cx="2011680" cy="960120"/>
          </a:xfrm>
          <a:prstGeom prst="line">
            <a:avLst/>
          </a:prstGeom>
          <a:ln w="381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37760" y="3154680"/>
            <a:ext cx="1600200" cy="640080"/>
          </a:xfrm>
          <a:prstGeom prst="line">
            <a:avLst/>
          </a:prstGeom>
          <a:ln w="38100">
            <a:solidFill>
              <a:srgbClr val="F29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843784" y="4032504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35808" y="3950208"/>
            <a:ext cx="2743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F2923D"/>
                </a:solidFill>
                <a:latin typeface="Microsoft YaHei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4855464" y="3072384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47488" y="2990088"/>
            <a:ext cx="2743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F2923D"/>
                </a:solidFill>
                <a:latin typeface="Microsoft YaHei"/>
              </a:rPr>
              <a:t>B</a:t>
            </a:r>
          </a:p>
        </p:txBody>
      </p:sp>
      <p:sp>
        <p:nvSpPr>
          <p:cNvPr id="26" name="Oval 25"/>
          <p:cNvSpPr/>
          <p:nvPr/>
        </p:nvSpPr>
        <p:spPr>
          <a:xfrm>
            <a:off x="6455664" y="3712464"/>
            <a:ext cx="164592" cy="164592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47688" y="3630168"/>
            <a:ext cx="2743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F2923D"/>
                </a:solidFill>
                <a:latin typeface="Microsoft YaHei"/>
              </a:rPr>
              <a:t>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18120" y="164592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18120" y="1645920"/>
            <a:ext cx="73152" cy="1097280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181051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1D6FBF"/>
                </a:solidFill>
                <a:latin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181051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点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267712"/>
            <a:ext cx="3108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某时刻、某位置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2971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818120" y="2971800"/>
            <a:ext cx="73152" cy="1097280"/>
          </a:xfrm>
          <a:prstGeom prst="roundRect">
            <a:avLst>
              <a:gd name="adj" fmla="val 8000"/>
            </a:avLst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313639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2DB7C7"/>
                </a:solidFill>
                <a:latin typeface="Microsoft YaHei"/>
              </a:rPr>
              <a:t>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313639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斜率 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593592"/>
            <a:ext cx="3108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k=Δx/Δt，表示速度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18120" y="429768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18120" y="4297680"/>
            <a:ext cx="73152" cy="109728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446227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2923D"/>
                </a:solidFill>
                <a:latin typeface="Microsoft YaHei"/>
              </a:rPr>
              <a:t>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446227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拐点 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919472"/>
            <a:ext cx="3108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运动方向可能发生改变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650992"/>
            <a:ext cx="34747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D64C4C"/>
                </a:solidFill>
                <a:latin typeface="Microsoft YaHei"/>
              </a:rPr>
              <a:t>注意：x-t 图像不是物体在空间中的运动轨迹。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11 · 读图任务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四个信息点，读懂一张 x-t 图像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4983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73152" cy="1417320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4297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 i="0">
                <a:solidFill>
                  <a:srgbClr val="112240"/>
                </a:solidFill>
                <a:latin typeface="Microsoft YaHei"/>
              </a:rPr>
              <a:t>① 纵截距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41448"/>
            <a:ext cx="43891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212C3A"/>
                </a:solidFill>
                <a:latin typeface="Microsoft YaHei"/>
              </a:rPr>
              <a:t>t=0 时的初始位置 x₀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783080"/>
            <a:ext cx="4983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783080"/>
            <a:ext cx="73152" cy="141732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11680"/>
            <a:ext cx="4297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 i="0">
                <a:solidFill>
                  <a:srgbClr val="112240"/>
                </a:solidFill>
                <a:latin typeface="Microsoft YaHei"/>
              </a:rPr>
              <a:t>② 横截距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441448"/>
            <a:ext cx="43891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212C3A"/>
                </a:solidFill>
                <a:latin typeface="Microsoft YaHei"/>
              </a:rPr>
              <a:t>到达 x=0 的时刻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57600"/>
            <a:ext cx="4983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657600"/>
            <a:ext cx="73152" cy="1417320"/>
          </a:xfrm>
          <a:prstGeom prst="roundRect">
            <a:avLst>
              <a:gd name="adj" fmla="val 8000"/>
            </a:avLst>
          </a:prstGeom>
          <a:solidFill>
            <a:srgbClr val="37A674"/>
          </a:solidFill>
          <a:ln>
            <a:solidFill>
              <a:srgbClr val="37A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886200"/>
            <a:ext cx="4297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 i="0">
                <a:solidFill>
                  <a:srgbClr val="112240"/>
                </a:solidFill>
                <a:latin typeface="Microsoft YaHei"/>
              </a:rPr>
              <a:t>③ 交点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15968"/>
            <a:ext cx="43891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212C3A"/>
                </a:solidFill>
                <a:latin typeface="Microsoft YaHei"/>
              </a:rPr>
              <a:t>同一时刻、同一位置——相遇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657600"/>
            <a:ext cx="4983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657600"/>
            <a:ext cx="73152" cy="1417320"/>
          </a:xfrm>
          <a:prstGeom prst="roundRect">
            <a:avLst>
              <a:gd name="adj" fmla="val 8000"/>
            </a:avLst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886200"/>
            <a:ext cx="4297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 i="0">
                <a:solidFill>
                  <a:srgbClr val="112240"/>
                </a:solidFill>
                <a:latin typeface="Microsoft YaHei"/>
              </a:rPr>
              <a:t>④ 斜率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315968"/>
            <a:ext cx="43891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212C3A"/>
                </a:solidFill>
                <a:latin typeface="Microsoft YaHei"/>
              </a:rPr>
              <a:t>正负看方向，绝对值看快慢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25880" y="5669280"/>
            <a:ext cx="9555480" cy="438912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>
            <a:solidFill>
              <a:srgbClr val="F5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5797296"/>
            <a:ext cx="90068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D64C4C"/>
                </a:solidFill>
                <a:latin typeface="Microsoft YaHei"/>
              </a:rPr>
              <a:t>同一时刻比较“位置”，同一物体比较“斜率”。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12 · 测量运动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用“固定时间间隔 + 位置记录”捕捉运动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32461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73152" cy="3566160"/>
          </a:xfrm>
          <a:prstGeom prst="roundRect">
            <a:avLst>
              <a:gd name="adj" fmla="val 8000"/>
            </a:avLst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5623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2DB7C7"/>
                </a:solidFill>
                <a:latin typeface="Microsoft YaHei"/>
              </a:rPr>
              <a:t>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56232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频闪照相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13432"/>
            <a:ext cx="2788920" cy="2788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每秒闪光10次
同一张照片留下多个位置
时间间隔由频率决定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691640"/>
            <a:ext cx="32461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0" y="1691640"/>
            <a:ext cx="73152" cy="3566160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85623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1D6FBF"/>
                </a:solidFill>
                <a:latin typeface="Microsoft YaHei"/>
              </a:rPr>
              <a:t>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856232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电磁打点计时器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313432"/>
            <a:ext cx="2788920" cy="2788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约8 V 交流
振针 + 复写纸
50 Hz → T=0.02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691640"/>
            <a:ext cx="32461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691640"/>
            <a:ext cx="73152" cy="356616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5623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2923D"/>
                </a:solidFill>
                <a:latin typeface="Microsoft YaHei"/>
              </a:rPr>
              <a:t>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1856232"/>
            <a:ext cx="22860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电火花计时器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313432"/>
            <a:ext cx="2788920" cy="2788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220 V 交流
电火花 + 墨粉纸
50 Hz → T=0.02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715000"/>
            <a:ext cx="100584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 i="0">
                <a:solidFill>
                  <a:srgbClr val="112240"/>
                </a:solidFill>
                <a:latin typeface="Microsoft YaHei"/>
              </a:rPr>
              <a:t>共同原理：相同时间间隔，在纸带上连续留下点迹，点间距离反映位移。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13 · 仪器比较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两种打点计时器：周期相同，留下点迹的方式不同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11095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仪器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737360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79" y="1911095"/>
            <a:ext cx="23774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电源与频率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737360"/>
            <a:ext cx="1645920" cy="566928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911095"/>
            <a:ext cx="15544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打点周期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1737360"/>
            <a:ext cx="3840480" cy="566928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911095"/>
            <a:ext cx="37490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介质 / 点迹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423160"/>
            <a:ext cx="18288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2679191"/>
            <a:ext cx="16824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212C3A"/>
                </a:solidFill>
                <a:latin typeface="Microsoft YaHei"/>
              </a:rPr>
              <a:t>电磁打点计时器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423160"/>
            <a:ext cx="24688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2679191"/>
            <a:ext cx="232257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约8 V 交流，50 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242316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96712" y="2679191"/>
            <a:ext cx="149961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0.02 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2423160"/>
            <a:ext cx="3840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2" y="2679191"/>
            <a:ext cx="369417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振针在复写纸上连续打点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2423160"/>
            <a:ext cx="73152" cy="868680"/>
          </a:xfrm>
          <a:prstGeom prst="rect">
            <a:avLst/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20439"/>
            <a:ext cx="18288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3776472"/>
            <a:ext cx="168249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212C3A"/>
                </a:solidFill>
                <a:latin typeface="Microsoft YaHei"/>
              </a:rPr>
              <a:t>电火花计时器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3520439"/>
            <a:ext cx="24688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3776472"/>
            <a:ext cx="232257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220 V 交流，50 Hz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3520439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3776472"/>
            <a:ext cx="149961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0.02 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0" y="3520439"/>
            <a:ext cx="38404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62672" y="3776472"/>
            <a:ext cx="3694176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电火花在墨粉纸上留下点迹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0439"/>
            <a:ext cx="73152" cy="868680"/>
          </a:xfrm>
          <a:prstGeom prst="rect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" y="4983480"/>
            <a:ext cx="10652760" cy="777240"/>
          </a:xfrm>
          <a:prstGeom prst="roundRect">
            <a:avLst>
              <a:gd name="adj" fmla="val 8000"/>
            </a:avLst>
          </a:prstGeom>
          <a:solidFill>
            <a:srgbClr val="ECF7FF"/>
          </a:solidFill>
          <a:ln>
            <a:solidFill>
              <a:srgbClr val="BE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230368"/>
            <a:ext cx="98755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300" b="1" i="0">
                <a:solidFill>
                  <a:srgbClr val="1D6FBF"/>
                </a:solidFill>
                <a:latin typeface="Microsoft YaHei"/>
              </a:rPr>
              <a:t>T = 1/f = 1/50 s = 0.02 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14 · 纸带实验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规范操作：先通电，再拉动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874519"/>
            <a:ext cx="822960" cy="822960"/>
          </a:xfrm>
          <a:prstGeom prst="ellipse">
            <a:avLst/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2093976"/>
            <a:ext cx="8229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48840" y="2286000"/>
            <a:ext cx="594360" cy="0"/>
          </a:xfrm>
          <a:prstGeom prst="line">
            <a:avLst/>
          </a:prstGeom>
          <a:ln w="381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9260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112240"/>
                </a:solidFill>
                <a:latin typeface="Microsoft YaHei"/>
              </a:rPr>
              <a:t>固定仪器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01568"/>
            <a:ext cx="20116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穿好纸带</a:t>
            </a:r>
          </a:p>
        </p:txBody>
      </p:sp>
      <p:sp>
        <p:nvSpPr>
          <p:cNvPr id="11" name="Oval 10"/>
          <p:cNvSpPr/>
          <p:nvPr/>
        </p:nvSpPr>
        <p:spPr>
          <a:xfrm>
            <a:off x="3566160" y="1874519"/>
            <a:ext cx="822960" cy="822960"/>
          </a:xfrm>
          <a:prstGeom prst="ellipse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093976"/>
            <a:ext cx="8229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89120" y="2286000"/>
            <a:ext cx="594360" cy="0"/>
          </a:xfrm>
          <a:prstGeom prst="line">
            <a:avLst/>
          </a:prstGeom>
          <a:ln w="381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017520" y="29260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112240"/>
                </a:solidFill>
                <a:latin typeface="Microsoft YaHei"/>
              </a:rPr>
              <a:t>安装纸带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401568"/>
            <a:ext cx="20116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压在复写纸/墨粉纸下</a:t>
            </a:r>
          </a:p>
        </p:txBody>
      </p:sp>
      <p:sp>
        <p:nvSpPr>
          <p:cNvPr id="16" name="Oval 15"/>
          <p:cNvSpPr/>
          <p:nvPr/>
        </p:nvSpPr>
        <p:spPr>
          <a:xfrm>
            <a:off x="5806440" y="1874519"/>
            <a:ext cx="822960" cy="822960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2093976"/>
            <a:ext cx="8229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2286000"/>
            <a:ext cx="594360" cy="0"/>
          </a:xfrm>
          <a:prstGeom prst="line">
            <a:avLst/>
          </a:prstGeom>
          <a:ln w="381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257800" y="29260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112240"/>
                </a:solidFill>
                <a:latin typeface="Microsoft YaHei"/>
              </a:rPr>
              <a:t>接通电源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401568"/>
            <a:ext cx="20116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稳定后水平拉动</a:t>
            </a:r>
          </a:p>
        </p:txBody>
      </p:sp>
      <p:sp>
        <p:nvSpPr>
          <p:cNvPr id="21" name="Oval 20"/>
          <p:cNvSpPr/>
          <p:nvPr/>
        </p:nvSpPr>
        <p:spPr>
          <a:xfrm>
            <a:off x="8046720" y="1874519"/>
            <a:ext cx="822960" cy="822960"/>
          </a:xfrm>
          <a:prstGeom prst="ellipse">
            <a:avLst/>
          </a:prstGeom>
          <a:solidFill>
            <a:srgbClr val="37A674"/>
          </a:solidFill>
          <a:ln>
            <a:solidFill>
              <a:srgbClr val="37A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093976"/>
            <a:ext cx="8229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69680" y="2286000"/>
            <a:ext cx="594360" cy="0"/>
          </a:xfrm>
          <a:prstGeom prst="line">
            <a:avLst/>
          </a:prstGeom>
          <a:ln w="381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98080" y="29260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112240"/>
                </a:solidFill>
                <a:latin typeface="Microsoft YaHei"/>
              </a:rPr>
              <a:t>断电取带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3401568"/>
            <a:ext cx="20116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选清晰点作起点</a:t>
            </a:r>
          </a:p>
        </p:txBody>
      </p:sp>
      <p:sp>
        <p:nvSpPr>
          <p:cNvPr id="26" name="Oval 25"/>
          <p:cNvSpPr/>
          <p:nvPr/>
        </p:nvSpPr>
        <p:spPr>
          <a:xfrm>
            <a:off x="10287000" y="1874519"/>
            <a:ext cx="822960" cy="822960"/>
          </a:xfrm>
          <a:prstGeom prst="ellipse">
            <a:avLst/>
          </a:prstGeom>
          <a:solidFill>
            <a:srgbClr val="D64C4C"/>
          </a:solidFill>
          <a:ln>
            <a:solidFill>
              <a:srgbClr val="D6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093976"/>
            <a:ext cx="8229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29260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112240"/>
                </a:solidFill>
                <a:latin typeface="Microsoft YaHei"/>
              </a:rPr>
              <a:t>测量记录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3401568"/>
            <a:ext cx="20116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尺量位移，表格记数据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4800600"/>
            <a:ext cx="10058400" cy="82296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>
            <a:solidFill>
              <a:srgbClr val="F5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5065776"/>
            <a:ext cx="95097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800" b="1" i="0">
                <a:solidFill>
                  <a:srgbClr val="D64C4C"/>
                </a:solidFill>
                <a:latin typeface="Microsoft YaHei"/>
              </a:rPr>
              <a:t>关键提醒：电源应先接通再拉纸带；纸带要水平、点迹要清晰。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15 · 数据处理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数出 n 个点，只有 n−1 个时间间隔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6629400" cy="4251960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纸带点迹（示意）</a:t>
            </a:r>
          </a:p>
        </p:txBody>
      </p:sp>
      <p:sp>
        <p:nvSpPr>
          <p:cNvPr id="8" name="Oval 7"/>
          <p:cNvSpPr/>
          <p:nvPr/>
        </p:nvSpPr>
        <p:spPr>
          <a:xfrm>
            <a:off x="1325880" y="3794760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069080"/>
            <a:ext cx="228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647485"/>
                </a:solidFill>
                <a:latin typeface="Microsoft YaHei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2039112" y="3749040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93392" y="4069080"/>
            <a:ext cx="228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647485"/>
                </a:solidFill>
                <a:latin typeface="Microsoft YaHei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2752344" y="3703320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6624" y="4069080"/>
            <a:ext cx="228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647485"/>
                </a:solidFill>
                <a:latin typeface="Microsoft YaHei"/>
              </a:rPr>
              <a:t>3</a:t>
            </a:r>
          </a:p>
        </p:txBody>
      </p:sp>
      <p:sp>
        <p:nvSpPr>
          <p:cNvPr id="14" name="Oval 13"/>
          <p:cNvSpPr/>
          <p:nvPr/>
        </p:nvSpPr>
        <p:spPr>
          <a:xfrm>
            <a:off x="3465576" y="3657600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4069080"/>
            <a:ext cx="228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647485"/>
                </a:solidFill>
                <a:latin typeface="Microsoft YaHei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4178808" y="3611880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069080"/>
            <a:ext cx="228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647485"/>
                </a:solidFill>
                <a:latin typeface="Microsoft YaHei"/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4892040" y="3566160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4069080"/>
            <a:ext cx="228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647485"/>
                </a:solidFill>
                <a:latin typeface="Microsoft YaHei"/>
              </a:rPr>
              <a:t>6</a:t>
            </a:r>
          </a:p>
        </p:txBody>
      </p:sp>
      <p:sp>
        <p:nvSpPr>
          <p:cNvPr id="20" name="Oval 19"/>
          <p:cNvSpPr/>
          <p:nvPr/>
        </p:nvSpPr>
        <p:spPr>
          <a:xfrm>
            <a:off x="5605272" y="3520440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4069080"/>
            <a:ext cx="228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647485"/>
                </a:solidFill>
                <a:latin typeface="Microsoft YaHei"/>
              </a:rPr>
              <a:t>7</a:t>
            </a:r>
          </a:p>
        </p:txBody>
      </p:sp>
      <p:sp>
        <p:nvSpPr>
          <p:cNvPr id="22" name="Oval 21"/>
          <p:cNvSpPr/>
          <p:nvPr/>
        </p:nvSpPr>
        <p:spPr>
          <a:xfrm>
            <a:off x="6318504" y="3474720"/>
            <a:ext cx="146304" cy="146304"/>
          </a:xfrm>
          <a:prstGeom prst="ellipse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2784" y="4069080"/>
            <a:ext cx="228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647485"/>
                </a:solidFill>
                <a:latin typeface="Microsoft YaHei"/>
              </a:rPr>
              <a:t>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472184" y="3858768"/>
            <a:ext cx="566928" cy="0"/>
          </a:xfrm>
          <a:prstGeom prst="line">
            <a:avLst/>
          </a:prstGeom>
          <a:ln w="127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185416" y="3858768"/>
            <a:ext cx="566928" cy="0"/>
          </a:xfrm>
          <a:prstGeom prst="line">
            <a:avLst/>
          </a:prstGeom>
          <a:ln w="127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898648" y="3858768"/>
            <a:ext cx="566928" cy="0"/>
          </a:xfrm>
          <a:prstGeom prst="line">
            <a:avLst/>
          </a:prstGeom>
          <a:ln w="127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611880" y="3858768"/>
            <a:ext cx="566928" cy="0"/>
          </a:xfrm>
          <a:prstGeom prst="line">
            <a:avLst/>
          </a:prstGeom>
          <a:ln w="127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325112" y="3858768"/>
            <a:ext cx="566928" cy="0"/>
          </a:xfrm>
          <a:prstGeom prst="line">
            <a:avLst/>
          </a:prstGeom>
          <a:ln w="127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38344" y="3858768"/>
            <a:ext cx="566928" cy="0"/>
          </a:xfrm>
          <a:prstGeom prst="line">
            <a:avLst/>
          </a:prstGeom>
          <a:ln w="127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751576" y="3858768"/>
            <a:ext cx="566928" cy="0"/>
          </a:xfrm>
          <a:prstGeom prst="line">
            <a:avLst/>
          </a:prstGeom>
          <a:ln w="12700">
            <a:solidFill>
              <a:srgbClr val="1D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011680" y="4572000"/>
            <a:ext cx="35661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900" b="1" i="0">
                <a:solidFill>
                  <a:srgbClr val="1D6FBF"/>
                </a:solidFill>
                <a:latin typeface="Microsoft YaHei"/>
              </a:rPr>
              <a:t>8 个点 → 7 个间隔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18120" y="169164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818120" y="1691640"/>
            <a:ext cx="73152" cy="1188720"/>
          </a:xfrm>
          <a:prstGeom prst="roundRect">
            <a:avLst>
              <a:gd name="adj" fmla="val 8000"/>
            </a:avLst>
          </a:prstGeom>
          <a:solidFill>
            <a:srgbClr val="1D6FB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185623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1D6FBF"/>
                </a:solidFill>
                <a:latin typeface="Microsoft YaHei"/>
              </a:rPr>
              <a:t>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185623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时间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313432"/>
            <a:ext cx="3108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t=(n−1)T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18120" y="310896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18120" y="3108960"/>
            <a:ext cx="73152" cy="1188720"/>
          </a:xfrm>
          <a:prstGeom prst="roundRect">
            <a:avLst>
              <a:gd name="adj" fmla="val 8000"/>
            </a:avLst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327355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F2923D"/>
                </a:solidFill>
                <a:latin typeface="Microsoft YaHei"/>
              </a:rPr>
              <a:t>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327355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本例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730752"/>
            <a:ext cx="3108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(8−1)×0.02=0.14 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8120" y="452628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818120" y="4526280"/>
            <a:ext cx="73152" cy="1188720"/>
          </a:xfrm>
          <a:prstGeom prst="roundRect">
            <a:avLst>
              <a:gd name="adj" fmla="val 8000"/>
            </a:avLst>
          </a:prstGeom>
          <a:solidFill>
            <a:srgbClr val="37A674"/>
          </a:solidFill>
          <a:ln>
            <a:solidFill>
              <a:srgbClr val="37A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4690872"/>
            <a:ext cx="4572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200" b="1" i="0">
                <a:solidFill>
                  <a:srgbClr val="37A674"/>
                </a:solidFill>
                <a:latin typeface="Microsoft YaHei"/>
              </a:rPr>
              <a:t>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4690872"/>
            <a:ext cx="2606039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112240"/>
                </a:solidFill>
                <a:latin typeface="Microsoft YaHei"/>
              </a:rPr>
              <a:t>位移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5148072"/>
            <a:ext cx="3108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212C3A"/>
                </a:solidFill>
                <a:latin typeface="Microsoft YaHei"/>
              </a:rPr>
              <a:t>用刻度尺量起点到终点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16 · 实验记录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原始数据要如实记录，异常现象要能解释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56231"/>
            <a:ext cx="1545336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终点点号 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69164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0632" y="1856231"/>
            <a:ext cx="1636776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间隔数 n−1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69164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856231"/>
            <a:ext cx="1545336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时间 t/s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9164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856231"/>
            <a:ext cx="1545336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位移 x₀/m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6916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192" y="1856231"/>
            <a:ext cx="2596896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221992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2221992"/>
            <a:ext cx="1691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7720" y="2221992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2221992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2221992"/>
            <a:ext cx="26517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2386584"/>
            <a:ext cx="1600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386584"/>
            <a:ext cx="16916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386584"/>
            <a:ext cx="1600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0.02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2788920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788920"/>
            <a:ext cx="1691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17720" y="2788920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2788920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66760" y="2788920"/>
            <a:ext cx="26517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2953512"/>
            <a:ext cx="1600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53512"/>
            <a:ext cx="16916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2953512"/>
            <a:ext cx="1600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0.04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355848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355848"/>
            <a:ext cx="1691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17720" y="3355848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92240" y="3355848"/>
            <a:ext cx="16002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6760" y="3355848"/>
            <a:ext cx="26517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520440"/>
            <a:ext cx="1600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20440"/>
            <a:ext cx="16916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7720" y="3520440"/>
            <a:ext cx="1600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0" i="0">
                <a:solidFill>
                  <a:srgbClr val="212C3A"/>
                </a:solidFill>
                <a:latin typeface="Microsoft YaHei"/>
              </a:rPr>
              <a:t>0.06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617720"/>
            <a:ext cx="1554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 i="0">
                <a:solidFill>
                  <a:srgbClr val="D64C4C"/>
                </a:solidFill>
                <a:latin typeface="Microsoft YaHei"/>
              </a:rPr>
              <a:t>点迹模糊？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60320" y="4645152"/>
            <a:ext cx="109728" cy="109728"/>
          </a:xfrm>
          <a:prstGeom prst="roundRect">
            <a:avLst>
              <a:gd name="adj" fmla="val 8000"/>
            </a:avLst>
          </a:prstGeom>
          <a:solidFill>
            <a:srgbClr val="D64C4C"/>
          </a:solidFill>
          <a:ln>
            <a:solidFill>
              <a:srgbClr val="D6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88920" y="4553712"/>
            <a:ext cx="30632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212C3A"/>
                </a:solidFill>
                <a:latin typeface="Microsoft YaHei"/>
              </a:rPr>
              <a:t>电压过低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75120" y="4645152"/>
            <a:ext cx="109728" cy="109728"/>
          </a:xfrm>
          <a:prstGeom prst="roundRect">
            <a:avLst>
              <a:gd name="adj" fmla="val 8000"/>
            </a:avLst>
          </a:prstGeom>
          <a:solidFill>
            <a:srgbClr val="D64C4C"/>
          </a:solidFill>
          <a:ln>
            <a:solidFill>
              <a:srgbClr val="D6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4553712"/>
            <a:ext cx="30632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212C3A"/>
                </a:solidFill>
                <a:latin typeface="Microsoft YaHei"/>
              </a:rPr>
              <a:t>振针过高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60320" y="5212080"/>
            <a:ext cx="109728" cy="109728"/>
          </a:xfrm>
          <a:prstGeom prst="roundRect">
            <a:avLst>
              <a:gd name="adj" fmla="val 8000"/>
            </a:avLst>
          </a:prstGeom>
          <a:solidFill>
            <a:srgbClr val="D64C4C"/>
          </a:solidFill>
          <a:ln>
            <a:solidFill>
              <a:srgbClr val="D6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88920" y="5120640"/>
            <a:ext cx="30632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212C3A"/>
                </a:solidFill>
                <a:latin typeface="Microsoft YaHei"/>
              </a:rPr>
              <a:t>纸带过松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5212080"/>
            <a:ext cx="109728" cy="109728"/>
          </a:xfrm>
          <a:prstGeom prst="roundRect">
            <a:avLst>
              <a:gd name="adj" fmla="val 8000"/>
            </a:avLst>
          </a:prstGeom>
          <a:solidFill>
            <a:srgbClr val="D64C4C"/>
          </a:solidFill>
          <a:ln>
            <a:solidFill>
              <a:srgbClr val="D6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03720" y="5120640"/>
            <a:ext cx="30632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212C3A"/>
                </a:solidFill>
                <a:latin typeface="Microsoft YaHei"/>
              </a:rPr>
              <a:t>纸带未压好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17 · 知识结构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从“时间”到“位移”，再到“图像与实验”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76272"/>
            <a:ext cx="1645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 i="0">
                <a:solidFill>
                  <a:srgbClr val="F2923D"/>
                </a:solidFill>
                <a:latin typeface="Microsoft YaHei"/>
              </a:rPr>
              <a:t>时间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578608"/>
            <a:ext cx="1700784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 i="0">
                <a:solidFill>
                  <a:srgbClr val="212C3A"/>
                </a:solidFill>
                <a:latin typeface="Microsoft YaHei"/>
              </a:rPr>
              <a:t>时刻 · 时间间隔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20116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1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176272"/>
            <a:ext cx="1645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 i="0">
                <a:solidFill>
                  <a:srgbClr val="1D6FBF"/>
                </a:solidFill>
                <a:latin typeface="Microsoft YaHei"/>
              </a:rPr>
              <a:t>空间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2578608"/>
            <a:ext cx="1700784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 i="0">
                <a:solidFill>
                  <a:srgbClr val="212C3A"/>
                </a:solidFill>
                <a:latin typeface="Microsoft YaHei"/>
              </a:rPr>
              <a:t>坐标系 · 位置 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20116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0" y="2176272"/>
            <a:ext cx="1645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 i="0">
                <a:solidFill>
                  <a:srgbClr val="2DB7C7"/>
                </a:solidFill>
                <a:latin typeface="Microsoft YaHei"/>
              </a:rPr>
              <a:t>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96128" y="2578608"/>
            <a:ext cx="1700784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 i="0">
                <a:solidFill>
                  <a:srgbClr val="212C3A"/>
                </a:solidFill>
                <a:latin typeface="Microsoft YaHei"/>
              </a:rPr>
              <a:t>路程 s · 位移 Δx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201168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37A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2176272"/>
            <a:ext cx="1645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 i="0">
                <a:solidFill>
                  <a:srgbClr val="37A674"/>
                </a:solidFill>
                <a:latin typeface="Microsoft YaHei"/>
              </a:rPr>
              <a:t>图像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578608"/>
            <a:ext cx="1700784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 i="0">
                <a:solidFill>
                  <a:srgbClr val="212C3A"/>
                </a:solidFill>
                <a:latin typeface="Microsoft YaHei"/>
              </a:rPr>
              <a:t>x-t · 斜率=速度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43484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599431"/>
            <a:ext cx="1645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 i="0">
                <a:solidFill>
                  <a:srgbClr val="D64C4C"/>
                </a:solidFill>
                <a:latin typeface="Microsoft YaHei"/>
              </a:rPr>
              <a:t>测量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5001768"/>
            <a:ext cx="1700784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 i="0">
                <a:solidFill>
                  <a:srgbClr val="212C3A"/>
                </a:solidFill>
                <a:latin typeface="Microsoft YaHei"/>
              </a:rPr>
              <a:t>频闪 · 打点纸带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24912" y="2578608"/>
            <a:ext cx="402336" cy="0"/>
          </a:xfrm>
          <a:prstGeom prst="line">
            <a:avLst/>
          </a:prstGeom>
          <a:ln w="254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56632" y="2578608"/>
            <a:ext cx="402336" cy="0"/>
          </a:xfrm>
          <a:prstGeom prst="line">
            <a:avLst/>
          </a:prstGeom>
          <a:ln w="254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88352" y="2578608"/>
            <a:ext cx="402336" cy="0"/>
          </a:xfrm>
          <a:prstGeom prst="line">
            <a:avLst/>
          </a:prstGeom>
          <a:ln w="254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5257800" y="3172968"/>
            <a:ext cx="1143000" cy="1216152"/>
          </a:xfrm>
          <a:prstGeom prst="line">
            <a:avLst/>
          </a:prstGeom>
          <a:ln w="254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26280" y="3172968"/>
            <a:ext cx="320040" cy="1216152"/>
          </a:xfrm>
          <a:prstGeom prst="line">
            <a:avLst/>
          </a:prstGeom>
          <a:ln w="254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5840" y="5779008"/>
            <a:ext cx="10058400" cy="438912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5897880"/>
            <a:ext cx="9601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112240"/>
                </a:solidFill>
                <a:latin typeface="Microsoft YaHei"/>
              </a:rPr>
              <a:t>一条原则：先规定参考系和正方向，再描述物理量。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3832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 i="0">
                <a:solidFill>
                  <a:srgbClr val="2DB7C7"/>
                </a:solidFill>
                <a:latin typeface="Microsoft YaHei"/>
              </a:rPr>
              <a:t>18 · 出口条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 i="0">
                <a:solidFill>
                  <a:srgbClr val="112240"/>
                </a:solidFill>
                <a:latin typeface="Microsoft YaHei"/>
              </a:rPr>
              <a:t>离开教室前，请完成这 5 个小问题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384048"/>
            <a:ext cx="5486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1000" b="0" i="0">
                <a:solidFill>
                  <a:srgbClr val="647485"/>
                </a:solidFill>
                <a:latin typeface="Microsoft YaHe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27632"/>
            <a:ext cx="10469880" cy="530352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73936"/>
            <a:ext cx="99212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① “第6 s末”和“第7 s初”是同一时刻吗？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404872"/>
            <a:ext cx="10469880" cy="530352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551176"/>
            <a:ext cx="99212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② x₁=−4 m 到 x₂=+6 m，位移是多少？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82112"/>
            <a:ext cx="10469880" cy="530352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28416"/>
            <a:ext cx="99212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③ 绕一周回到原点，路程与位移分别怎样？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59352"/>
            <a:ext cx="10469880" cy="530352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105656"/>
            <a:ext cx="99212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④ x-t 图像交点、斜率分别表示什么？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736592"/>
            <a:ext cx="10469880" cy="530352"/>
          </a:xfrm>
          <a:prstGeom prst="roundRect">
            <a:avLst>
              <a:gd name="adj" fmla="val 8000"/>
            </a:avLst>
          </a:prstGeom>
          <a:solidFill>
            <a:srgbClr val="F0F6FB"/>
          </a:solidFill>
          <a:ln>
            <a:solidFill>
              <a:srgbClr val="F0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882896"/>
            <a:ext cx="99212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212C3A"/>
                </a:solidFill>
                <a:latin typeface="Microsoft YaHei"/>
              </a:rPr>
              <a:t>⑤ 数到第8个点，50 Hz，经历多长时间？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34440" y="5669280"/>
            <a:ext cx="9738360" cy="457200"/>
          </a:xfrm>
          <a:prstGeom prst="roundRect">
            <a:avLst>
              <a:gd name="adj" fmla="val 8000"/>
            </a:avLst>
          </a:prstGeom>
          <a:solidFill>
            <a:srgbClr val="ECF7FF"/>
          </a:solidFill>
          <a:ln>
            <a:solidFill>
              <a:srgbClr val="BE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5797296"/>
            <a:ext cx="93726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D6FBF"/>
                </a:solidFill>
                <a:latin typeface="Microsoft YaHei"/>
              </a:rPr>
              <a:t>答案关键词：是；+10 m；s&gt;0、Δx=0；相遇、速度；0.14 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第一章 运动的描述 · 1.2 时间和位移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240"/>
          </a:solidFill>
          <a:ln>
            <a:solidFill>
              <a:srgbClr val="11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2923D"/>
          </a:solidFill>
          <a:ln>
            <a:solidFill>
              <a:srgbClr val="F29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80467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000" b="1" i="0">
                <a:solidFill>
                  <a:srgbClr val="F7CB4A"/>
                </a:solidFill>
                <a:latin typeface="Microsoft YaHei"/>
              </a:rPr>
              <a:t>课后延伸 · 把生活拍成一张 x-t 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859536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Microsoft YaHei"/>
              </a:rPr>
              <a:t>用手机固定时间间隔拍摄小球或玩具车的运动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3840480"/>
            <a:ext cx="256032" cy="256032"/>
          </a:xfrm>
          <a:prstGeom prst="ellipse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170432" y="3968496"/>
            <a:ext cx="1371600" cy="0"/>
          </a:xfrm>
          <a:prstGeom prst="line">
            <a:avLst/>
          </a:prstGeom>
          <a:ln w="25400">
            <a:solidFill>
              <a:srgbClr val="5D97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560320" y="3648119"/>
            <a:ext cx="256032" cy="256032"/>
          </a:xfrm>
          <a:prstGeom prst="ellipse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816352" y="3776135"/>
            <a:ext cx="1371600" cy="0"/>
          </a:xfrm>
          <a:prstGeom prst="line">
            <a:avLst/>
          </a:prstGeom>
          <a:ln w="25400">
            <a:solidFill>
              <a:srgbClr val="5D97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206240" y="3632614"/>
            <a:ext cx="256032" cy="256032"/>
          </a:xfrm>
          <a:prstGeom prst="ellipse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462272" y="3760630"/>
            <a:ext cx="1371600" cy="0"/>
          </a:xfrm>
          <a:prstGeom prst="line">
            <a:avLst/>
          </a:prstGeom>
          <a:ln w="25400">
            <a:solidFill>
              <a:srgbClr val="5D97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852160" y="3808219"/>
            <a:ext cx="256032" cy="256032"/>
          </a:xfrm>
          <a:prstGeom prst="ellipse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108192" y="3936235"/>
            <a:ext cx="1371600" cy="0"/>
          </a:xfrm>
          <a:prstGeom prst="line">
            <a:avLst/>
          </a:prstGeom>
          <a:ln w="25400">
            <a:solidFill>
              <a:srgbClr val="5D97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498079" y="4013485"/>
            <a:ext cx="256032" cy="256032"/>
          </a:xfrm>
          <a:prstGeom prst="ellipse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754111" y="4141501"/>
            <a:ext cx="1371600" cy="0"/>
          </a:xfrm>
          <a:prstGeom prst="line">
            <a:avLst/>
          </a:prstGeom>
          <a:ln w="25400">
            <a:solidFill>
              <a:srgbClr val="5D97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44000" y="4059690"/>
            <a:ext cx="256032" cy="256032"/>
          </a:xfrm>
          <a:prstGeom prst="ellipse">
            <a:avLst/>
          </a:prstGeom>
          <a:solidFill>
            <a:srgbClr val="2DB7C7"/>
          </a:solidFill>
          <a:ln>
            <a:solidFill>
              <a:srgbClr val="2DB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14400" y="5120640"/>
            <a:ext cx="9966960" cy="0"/>
          </a:xfrm>
          <a:prstGeom prst="line">
            <a:avLst/>
          </a:prstGeom>
          <a:ln w="25400">
            <a:solidFill>
              <a:srgbClr val="5D97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14400" y="2880360"/>
            <a:ext cx="0" cy="2240280"/>
          </a:xfrm>
          <a:prstGeom prst="line">
            <a:avLst/>
          </a:prstGeom>
          <a:ln w="25400">
            <a:solidFill>
              <a:srgbClr val="5D97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5806440"/>
            <a:ext cx="102412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0" i="0">
                <a:solidFill>
                  <a:srgbClr val="CDE1F0"/>
                </a:solidFill>
                <a:latin typeface="Microsoft YaHei"/>
              </a:rPr>
              <a:t>下节课：用纸带实验数据，与照片数据“对照验证”。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510528"/>
            <a:ext cx="11064240" cy="0"/>
          </a:xfrm>
          <a:prstGeom prst="line">
            <a:avLst/>
          </a:prstGeom>
          <a:ln w="12700">
            <a:solidFill>
              <a:srgbClr val="DA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65392"/>
            <a:ext cx="73152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647485"/>
                </a:solidFill>
                <a:latin typeface="Microsoft YaHei"/>
              </a:rPr>
              <a:t>光谷二高 · 高一年级物理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