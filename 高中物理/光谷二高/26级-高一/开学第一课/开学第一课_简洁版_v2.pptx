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6"/>
          </a:solidFill>
          <a:ln>
            <a:solidFill>
              <a:srgbClr val="09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914400"/>
            <a:ext cx="2286000" cy="2286000"/>
          </a:xfrm>
          <a:prstGeom prst="ellipse">
            <a:avLst/>
          </a:prstGeom>
          <a:solidFill>
            <a:srgbClr val="26C5DC"/>
          </a:solidFill>
          <a:ln>
            <a:solidFill>
              <a:srgbClr val="26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2011680"/>
            <a:ext cx="1097280" cy="1097280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79" y="3840480"/>
            <a:ext cx="914400" cy="914400"/>
          </a:xfrm>
          <a:prstGeom prst="ellipse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6400800" y="1463040"/>
            <a:ext cx="4572000" cy="3840480"/>
          </a:xfrm>
          <a:prstGeom prst="line">
            <a:avLst/>
          </a:prstGeom>
          <a:ln w="20320">
            <a:solidFill>
              <a:srgbClr val="4168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583680" y="2743200"/>
            <a:ext cx="4663440" cy="2834640"/>
          </a:xfrm>
          <a:prstGeom prst="line">
            <a:avLst/>
          </a:prstGeom>
          <a:ln w="20320">
            <a:solidFill>
              <a:srgbClr val="4168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315200" y="5120640"/>
            <a:ext cx="3383280" cy="91440"/>
          </a:xfrm>
          <a:prstGeom prst="line">
            <a:avLst/>
          </a:prstGeom>
          <a:ln w="20320">
            <a:solidFill>
              <a:srgbClr val="4168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932688"/>
            <a:ext cx="6217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200" b="1">
                <a:solidFill>
                  <a:srgbClr val="F8FBFD"/>
                </a:solidFill>
                <a:latin typeface="Microsoft YaHei"/>
              </a:rPr>
              <a:t>开学第一课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1874519"/>
            <a:ext cx="62179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26C5DC"/>
                </a:solidFill>
                <a:latin typeface="Microsoft YaHei"/>
              </a:rPr>
              <a:t>从“我不会物理”
到“我能解释现象”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6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BED5E0"/>
                </a:solidFill>
                <a:latin typeface="Microsoft YaHei"/>
              </a:rPr>
              <a:t>高一新生 · 40分钟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17720"/>
            <a:ext cx="5943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8FBFD"/>
                </a:solidFill>
                <a:latin typeface="Microsoft YaHei"/>
              </a:rPr>
              <a:t>看清现象  ·  说出理由  ·  写完整过程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8932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DB7C6"/>
                </a:solidFill>
                <a:latin typeface="Microsoft YaHei"/>
              </a:rPr>
              <a:t>刘老师  | 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59893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9DB7C6"/>
                </a:solidFill>
                <a:latin typeface="Microsoft YaHei"/>
              </a:rPr>
              <a:t>目录 01 · 开场与约定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C5DC"/>
                </a:solidFill>
                <a:latin typeface="Microsoft YaHei"/>
              </a:rPr>
              <a:t>课程目录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91426"/>
                </a:solidFill>
                <a:latin typeface="Microsoft YaHei"/>
              </a:rPr>
              <a:t>今天，我们沿着五个部分认识高中物理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A94"/>
                </a:solidFill>
                <a:latin typeface="Microsoft YaHei"/>
              </a:rPr>
              <a:t>02  /  开学第一课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2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68680" y="1572768"/>
            <a:ext cx="438912" cy="438912"/>
          </a:xfrm>
          <a:prstGeom prst="ellipse">
            <a:avLst/>
          </a:prstGeom>
          <a:solidFill>
            <a:srgbClr val="26C5DC"/>
          </a:solidFill>
          <a:ln>
            <a:solidFill>
              <a:srgbClr val="26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64208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91426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54480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开场与约定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554480"/>
            <a:ext cx="5943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77A94"/>
                </a:solidFill>
                <a:latin typeface="Microsoft YaHei"/>
              </a:rPr>
              <a:t>认识彼此，建立安全的课堂氛围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377440"/>
            <a:ext cx="438912" cy="438912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68880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91426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359152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物理从哪里开始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359152"/>
            <a:ext cx="5943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77A94"/>
                </a:solidFill>
                <a:latin typeface="Microsoft YaHei"/>
              </a:rPr>
              <a:t>从生活现象进入物理问题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182112"/>
            <a:ext cx="438912" cy="438912"/>
          </a:xfrm>
          <a:prstGeom prst="ellipse">
            <a:avLst/>
          </a:prstGeom>
          <a:solidFill>
            <a:srgbClr val="87CAAB"/>
          </a:solidFill>
          <a:ln>
            <a:solidFill>
              <a:srgbClr val="87CA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73552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91426"/>
                </a:solidFill>
                <a:latin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163824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初中基础 → 高中地图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163824"/>
            <a:ext cx="5943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77A94"/>
                </a:solidFill>
                <a:latin typeface="Microsoft YaHei"/>
              </a:rPr>
              <a:t>先回顾，再看高中主线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86784"/>
            <a:ext cx="438912" cy="438912"/>
          </a:xfrm>
          <a:prstGeom prst="ellipse">
            <a:avLst/>
          </a:prstGeom>
          <a:solidFill>
            <a:srgbClr val="BCA6E6"/>
          </a:solidFill>
          <a:ln>
            <a:solidFill>
              <a:srgbClr val="BCA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078224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91426"/>
                </a:solidFill>
                <a:latin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968496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学习方法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968496"/>
            <a:ext cx="5943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77A94"/>
                </a:solidFill>
                <a:latin typeface="Microsoft YaHei"/>
              </a:rPr>
              <a:t>费曼法 + 三分钟小老师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FFA17B"/>
          </a:solidFill>
          <a:ln>
            <a:solidFill>
              <a:srgbClr val="FFA1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882896"/>
            <a:ext cx="438912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091426"/>
                </a:solidFill>
                <a:latin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773168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高一上任务与行动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4773168"/>
            <a:ext cx="5943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77A94"/>
                </a:solidFill>
                <a:latin typeface="Microsoft YaHei"/>
              </a:rPr>
              <a:t>数学工具、习惯与出口条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A94"/>
                </a:solidFill>
                <a:latin typeface="Microsoft YaHei"/>
              </a:rPr>
              <a:t>目录总览 · 5 个部分 / 14 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C5DC"/>
                </a:solidFill>
                <a:latin typeface="Microsoft YaHei"/>
              </a:rPr>
              <a:t>先认识彼此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91426"/>
                </a:solidFill>
                <a:latin typeface="Microsoft YaHei"/>
              </a:rPr>
              <a:t>三条课堂约定，让“不会”成为起点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A94"/>
                </a:solidFill>
                <a:latin typeface="Microsoft YaHei"/>
              </a:rPr>
              <a:t>03  /  开学第一课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2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822960" y="1901952"/>
            <a:ext cx="228600" cy="228600"/>
          </a:xfrm>
          <a:prstGeom prst="ellipse">
            <a:avLst/>
          </a:prstGeom>
          <a:solidFill>
            <a:srgbClr val="26C5DC"/>
          </a:solidFill>
          <a:ln>
            <a:solidFill>
              <a:srgbClr val="26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182880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允许不会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139696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A94"/>
                </a:solidFill>
                <a:latin typeface="Microsoft YaHei"/>
              </a:rPr>
              <a:t>不会是起点，不是结论。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136392"/>
            <a:ext cx="228600" cy="228600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06324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先想再问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374136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A94"/>
                </a:solidFill>
                <a:latin typeface="Microsoft YaHei"/>
              </a:rPr>
              <a:t>先说现象、办法，再说卡点。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370832"/>
            <a:ext cx="228600" cy="228600"/>
          </a:xfrm>
          <a:prstGeom prst="ellipse">
            <a:avLst/>
          </a:prstGeom>
          <a:solidFill>
            <a:srgbClr val="87CAAB"/>
          </a:solidFill>
          <a:ln>
            <a:solidFill>
              <a:srgbClr val="87CA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4297680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用证据说话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4608576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A94"/>
                </a:solidFill>
                <a:latin typeface="Microsoft YaHei"/>
              </a:rPr>
              <a:t>答案要有依据、过程和单位。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783080"/>
            <a:ext cx="4754880" cy="3474720"/>
          </a:xfrm>
          <a:prstGeom prst="roundRect">
            <a:avLst>
              <a:gd name="adj" fmla="val 12000"/>
            </a:avLst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2103120"/>
            <a:ext cx="3840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91426"/>
                </a:solidFill>
                <a:latin typeface="Microsoft YaHei"/>
              </a:rPr>
              <a:t>今天请写下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0" y="2788920"/>
            <a:ext cx="274320" cy="274320"/>
          </a:xfrm>
          <a:prstGeom prst="ellipse">
            <a:avLst/>
          </a:prstGeom>
          <a:solidFill>
            <a:srgbClr val="26C5DC"/>
          </a:solidFill>
          <a:ln>
            <a:solidFill>
              <a:srgbClr val="26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9480" y="2743200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8273E"/>
                </a:solidFill>
                <a:latin typeface="Microsoft YaHei"/>
              </a:rPr>
              <a:t>姓名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0" y="3474720"/>
            <a:ext cx="274320" cy="274320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3429000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8273E"/>
                </a:solidFill>
                <a:latin typeface="Microsoft YaHei"/>
              </a:rPr>
              <a:t>初中最熟悉的内容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0" y="4160520"/>
            <a:ext cx="274320" cy="274320"/>
          </a:xfrm>
          <a:prstGeom prst="ellipse">
            <a:avLst/>
          </a:prstGeom>
          <a:solidFill>
            <a:srgbClr val="87CAAB"/>
          </a:solidFill>
          <a:ln>
            <a:solidFill>
              <a:srgbClr val="87CA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114800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8273E"/>
                </a:solidFill>
                <a:latin typeface="Microsoft YaHei"/>
              </a:rPr>
              <a:t>对高中物理最担心的事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A94"/>
                </a:solidFill>
                <a:latin typeface="Microsoft YaHei"/>
              </a:rPr>
              <a:t>目录 01 · 开场与约定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C5DC"/>
                </a:solidFill>
                <a:latin typeface="Microsoft YaHei"/>
              </a:rPr>
              <a:t>破冰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91426"/>
                </a:solidFill>
                <a:latin typeface="Microsoft YaHei"/>
              </a:rPr>
              <a:t>物理，藏在每一个“为什么”里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A94"/>
                </a:solidFill>
                <a:latin typeface="Microsoft YaHei"/>
              </a:rPr>
              <a:t>04  /  开学第一课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2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874519"/>
            <a:ext cx="3246120" cy="3474720"/>
          </a:xfrm>
          <a:prstGeom prst="roundRect">
            <a:avLst>
              <a:gd name="adj" fmla="val 12000"/>
            </a:avLst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1" y="2148840"/>
            <a:ext cx="685800" cy="685800"/>
          </a:xfrm>
          <a:prstGeom prst="ellipse">
            <a:avLst/>
          </a:prstGeom>
          <a:solidFill>
            <a:srgbClr val="26C5DC"/>
          </a:solidFill>
          <a:ln>
            <a:solidFill>
              <a:srgbClr val="26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67128"/>
            <a:ext cx="685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91426"/>
                </a:solidFill>
                <a:latin typeface="Microsoft YaHei"/>
              </a:rPr>
              <a:t>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063240"/>
            <a:ext cx="2651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8273E"/>
                </a:solidFill>
                <a:latin typeface="Microsoft YaHei"/>
              </a:rPr>
              <a:t>启动 / 刹车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3611880"/>
            <a:ext cx="2651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677A94"/>
                </a:solidFill>
                <a:latin typeface="Microsoft YaHei"/>
              </a:rPr>
              <a:t>人为什么会前仰后仰？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736592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6C5DC"/>
                </a:solidFill>
                <a:latin typeface="Microsoft YaHei"/>
              </a:rPr>
              <a:t>先提出问题，不急着回答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44568" y="1874519"/>
            <a:ext cx="3246120" cy="3474720"/>
          </a:xfrm>
          <a:prstGeom prst="roundRect">
            <a:avLst>
              <a:gd name="adj" fmla="val 12000"/>
            </a:avLst>
          </a:prstGeom>
          <a:solidFill>
            <a:srgbClr val="FFF7E4"/>
          </a:solidFill>
          <a:ln>
            <a:solidFill>
              <a:srgbClr val="FFF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00600" y="2148840"/>
            <a:ext cx="685800" cy="685800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167128"/>
            <a:ext cx="685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91426"/>
                </a:solidFill>
                <a:latin typeface="Microsoft YaHei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063240"/>
            <a:ext cx="2651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8273E"/>
                </a:solidFill>
                <a:latin typeface="Microsoft YaHei"/>
              </a:rPr>
              <a:t>滚动距离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611880"/>
            <a:ext cx="2651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677A94"/>
                </a:solidFill>
                <a:latin typeface="Microsoft YaHei"/>
              </a:rPr>
              <a:t>地板和草地，哪里停得更快？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4736592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C247"/>
                </a:solidFill>
                <a:latin typeface="Microsoft YaHei"/>
              </a:rPr>
              <a:t>先提出问题，不急着回答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11896" y="1874519"/>
            <a:ext cx="3246120" cy="3474720"/>
          </a:xfrm>
          <a:prstGeom prst="roundRect">
            <a:avLst>
              <a:gd name="adj" fmla="val 12000"/>
            </a:avLst>
          </a:prstGeom>
          <a:solidFill>
            <a:srgbClr val="E5F7F0"/>
          </a:solidFill>
          <a:ln>
            <a:solidFill>
              <a:srgbClr val="E5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67928" y="2148840"/>
            <a:ext cx="685800" cy="685800"/>
          </a:xfrm>
          <a:prstGeom prst="ellipse">
            <a:avLst/>
          </a:prstGeom>
          <a:solidFill>
            <a:srgbClr val="87CAAB"/>
          </a:solidFill>
          <a:ln>
            <a:solidFill>
              <a:srgbClr val="87CA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67928" y="2167128"/>
            <a:ext cx="685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1">
                <a:solidFill>
                  <a:srgbClr val="091426"/>
                </a:solidFill>
                <a:latin typeface="Microsoft YaHei"/>
              </a:rPr>
              <a:t>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7928" y="3063240"/>
            <a:ext cx="2651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18273E"/>
                </a:solidFill>
                <a:latin typeface="Microsoft YaHei"/>
              </a:rPr>
              <a:t>电梯启动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7928" y="3611880"/>
            <a:ext cx="2651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677A94"/>
                </a:solidFill>
                <a:latin typeface="Microsoft YaHei"/>
              </a:rPr>
              <a:t>为什么刚启动会有“失重感”？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7928" y="4736592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87CAAB"/>
                </a:solidFill>
                <a:latin typeface="Microsoft YaHei"/>
              </a:rPr>
              <a:t>先提出问题，不急着回答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A94"/>
                </a:solidFill>
                <a:latin typeface="Microsoft YaHei"/>
              </a:rPr>
              <a:t>目录 02 · 物理从哪里开始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6"/>
          </a:solidFill>
          <a:ln>
            <a:solidFill>
              <a:srgbClr val="09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C5DC"/>
                </a:solidFill>
                <a:latin typeface="Microsoft YaHei"/>
              </a:rPr>
              <a:t>学习路线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9144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8FBFD"/>
                </a:solidFill>
                <a:latin typeface="Microsoft YaHei"/>
              </a:rPr>
              <a:t>高中物理学习 = 一条可重复的路线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4572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B7D3DE"/>
                </a:solidFill>
                <a:latin typeface="Microsoft YaHei"/>
              </a:rPr>
              <a:t>每一步都能留下证据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96B6C5"/>
                </a:solidFill>
                <a:latin typeface="Microsoft YaHei"/>
              </a:rPr>
              <a:t>05  /  开学第一课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743200"/>
            <a:ext cx="822960" cy="822960"/>
          </a:xfrm>
          <a:prstGeom prst="ellipse">
            <a:avLst/>
          </a:prstGeom>
          <a:solidFill>
            <a:srgbClr val="26C5DC"/>
          </a:solidFill>
          <a:ln>
            <a:solidFill>
              <a:srgbClr val="26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89504"/>
            <a:ext cx="822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91426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" y="37947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BFD"/>
                </a:solidFill>
                <a:latin typeface="Microsoft YaHei"/>
              </a:rPr>
              <a:t>观察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" y="416052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1CCD9"/>
                </a:solidFill>
                <a:latin typeface="Microsoft YaHei"/>
              </a:rPr>
              <a:t>看到什么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45919" y="3154680"/>
            <a:ext cx="886969" cy="0"/>
          </a:xfrm>
          <a:prstGeom prst="line">
            <a:avLst/>
          </a:prstGeom>
          <a:ln w="25400">
            <a:solidFill>
              <a:srgbClr val="5D8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651760" y="2743200"/>
            <a:ext cx="822960" cy="822960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2889504"/>
            <a:ext cx="822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9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9" y="37947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BFD"/>
                </a:solidFill>
                <a:latin typeface="Microsoft YaHei"/>
              </a:rPr>
              <a:t>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79" y="416052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1CCD9"/>
                </a:solidFill>
                <a:latin typeface="Microsoft YaHei"/>
              </a:rPr>
              <a:t>想知道什么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20439" y="3154680"/>
            <a:ext cx="886969" cy="0"/>
          </a:xfrm>
          <a:prstGeom prst="line">
            <a:avLst/>
          </a:prstGeom>
          <a:ln w="25400">
            <a:solidFill>
              <a:srgbClr val="5D8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526279" y="2743200"/>
            <a:ext cx="822960" cy="822960"/>
          </a:xfrm>
          <a:prstGeom prst="ellipse">
            <a:avLst/>
          </a:prstGeom>
          <a:solidFill>
            <a:srgbClr val="A0D8B8"/>
          </a:solidFill>
          <a:ln>
            <a:solidFill>
              <a:srgbClr val="A0D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2889504"/>
            <a:ext cx="822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91426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399" y="37947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BFD"/>
                </a:solidFill>
                <a:latin typeface="Microsoft YaHei"/>
              </a:rPr>
              <a:t>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9" y="416052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1CCD9"/>
                </a:solidFill>
                <a:latin typeface="Microsoft YaHei"/>
              </a:rPr>
              <a:t>先忽略什么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394959" y="3154680"/>
            <a:ext cx="886968" cy="0"/>
          </a:xfrm>
          <a:prstGeom prst="line">
            <a:avLst/>
          </a:prstGeom>
          <a:ln w="25400">
            <a:solidFill>
              <a:srgbClr val="5D8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400799" y="2743200"/>
            <a:ext cx="822960" cy="822960"/>
          </a:xfrm>
          <a:prstGeom prst="ellipse">
            <a:avLst/>
          </a:prstGeom>
          <a:solidFill>
            <a:srgbClr val="BEAAEB"/>
          </a:solidFill>
          <a:ln>
            <a:solidFill>
              <a:srgbClr val="BEA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2889504"/>
            <a:ext cx="822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91426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19" y="37947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BFD"/>
                </a:solidFill>
                <a:latin typeface="Microsoft YaHei"/>
              </a:rPr>
              <a:t>规律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19" y="416052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1CCD9"/>
                </a:solidFill>
                <a:latin typeface="Microsoft YaHei"/>
              </a:rPr>
              <a:t>关系是什么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269479" y="3154680"/>
            <a:ext cx="886968" cy="0"/>
          </a:xfrm>
          <a:prstGeom prst="line">
            <a:avLst/>
          </a:prstGeom>
          <a:ln w="25400">
            <a:solidFill>
              <a:srgbClr val="5D8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275319" y="2743200"/>
            <a:ext cx="822960" cy="822960"/>
          </a:xfrm>
          <a:prstGeom prst="ellipse">
            <a:avLst/>
          </a:prstGeom>
          <a:solidFill>
            <a:srgbClr val="FF9F7B"/>
          </a:solidFill>
          <a:ln>
            <a:solidFill>
              <a:srgbClr val="FF9F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19" y="2889504"/>
            <a:ext cx="822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91426"/>
                </a:solidFill>
                <a:latin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7947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BFD"/>
                </a:solidFill>
                <a:latin typeface="Microsoft YaHei"/>
              </a:rPr>
              <a:t>证据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16052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1CCD9"/>
                </a:solidFill>
                <a:latin typeface="Microsoft YaHei"/>
              </a:rPr>
              <a:t>如何检验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143999" y="3154680"/>
            <a:ext cx="886968" cy="0"/>
          </a:xfrm>
          <a:prstGeom prst="line">
            <a:avLst/>
          </a:prstGeom>
          <a:ln w="25400">
            <a:solidFill>
              <a:srgbClr val="5D84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149840" y="2743200"/>
            <a:ext cx="822960" cy="822960"/>
          </a:xfrm>
          <a:prstGeom prst="ellipse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0" y="2889504"/>
            <a:ext cx="822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091426"/>
                </a:solidFill>
                <a:latin typeface="Microsoft YaHe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37947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8FBFD"/>
                </a:solidFill>
                <a:latin typeface="Microsoft YaHei"/>
              </a:rPr>
              <a:t>表达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38360" y="4160520"/>
            <a:ext cx="1645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1CCD9"/>
                </a:solidFill>
                <a:latin typeface="Microsoft YaHei"/>
              </a:rPr>
              <a:t>能否讲清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66928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C247"/>
                </a:solidFill>
                <a:latin typeface="Microsoft YaHei"/>
              </a:rPr>
              <a:t>遇到难题，就把它拆回上一步。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A94"/>
                </a:solidFill>
                <a:latin typeface="Microsoft YaHei"/>
              </a:rPr>
              <a:t>目录 02 · 物理从哪里开始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C5DC"/>
                </a:solidFill>
                <a:latin typeface="Microsoft YaHei"/>
              </a:rPr>
              <a:t>知识回顾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91426"/>
                </a:solidFill>
                <a:latin typeface="Microsoft YaHei"/>
              </a:rPr>
              <a:t>先回顾初中物理：五个熟悉的领域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A94"/>
                </a:solidFill>
                <a:latin typeface="Microsoft YaHei"/>
              </a:rPr>
              <a:t>06  /  开学第一课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2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68680" y="1737360"/>
            <a:ext cx="3200400" cy="1143000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737360"/>
            <a:ext cx="109728" cy="1143000"/>
          </a:xfrm>
          <a:prstGeom prst="rect">
            <a:avLst/>
          </a:prstGeom>
          <a:solidFill>
            <a:srgbClr val="26C5DC"/>
          </a:solidFill>
          <a:ln>
            <a:solidFill>
              <a:srgbClr val="26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920240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6C5DC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194560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机械运动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32888"/>
            <a:ext cx="2651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A94"/>
                </a:solidFill>
                <a:latin typeface="Microsoft YaHei"/>
              </a:rPr>
              <a:t>位置 · 路程 · 时间 · 速度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737360"/>
            <a:ext cx="3200400" cy="1143000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7720" y="1737360"/>
            <a:ext cx="109728" cy="1143000"/>
          </a:xfrm>
          <a:prstGeom prst="rect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920240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C247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194560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力与运动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532888"/>
            <a:ext cx="2651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A94"/>
                </a:solidFill>
                <a:latin typeface="Microsoft YaHei"/>
              </a:rPr>
              <a:t>重力 · 弹力 · 摩擦力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59" y="1737360"/>
            <a:ext cx="3200400" cy="1143000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59" y="1737360"/>
            <a:ext cx="109728" cy="1143000"/>
          </a:xfrm>
          <a:prstGeom prst="rect">
            <a:avLst/>
          </a:prstGeom>
          <a:solidFill>
            <a:srgbClr val="87CAAB"/>
          </a:solidFill>
          <a:ln>
            <a:solidFill>
              <a:srgbClr val="87CA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1920240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87CAAB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194560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声光热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532888"/>
            <a:ext cx="2651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A94"/>
                </a:solidFill>
                <a:latin typeface="Microsoft YaHei"/>
              </a:rPr>
              <a:t>传播 · 反射折射 · 温度热量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429000"/>
            <a:ext cx="3200400" cy="1143000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3429000"/>
            <a:ext cx="109728" cy="1143000"/>
          </a:xfrm>
          <a:prstGeom prst="rect">
            <a:avLst/>
          </a:prstGeom>
          <a:solidFill>
            <a:srgbClr val="BCA6E6"/>
          </a:solidFill>
          <a:ln>
            <a:solidFill>
              <a:srgbClr val="BCA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611880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BCA6E6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886200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电与磁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224528"/>
            <a:ext cx="2651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A94"/>
                </a:solidFill>
                <a:latin typeface="Microsoft YaHei"/>
              </a:rPr>
              <a:t>电路 · 电流电压电阻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7720" y="3429000"/>
            <a:ext cx="3200400" cy="1143000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17720" y="3429000"/>
            <a:ext cx="109728" cy="1143000"/>
          </a:xfrm>
          <a:prstGeom prst="rect">
            <a:avLst/>
          </a:prstGeom>
          <a:solidFill>
            <a:srgbClr val="FFA17B"/>
          </a:solidFill>
          <a:ln>
            <a:solidFill>
              <a:srgbClr val="FFA1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3611880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A17B"/>
                </a:solidFill>
                <a:latin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3886200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能量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4224528"/>
            <a:ext cx="2651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A94"/>
                </a:solidFill>
                <a:latin typeface="Microsoft YaHei"/>
              </a:rPr>
              <a:t>功 · 功率 · 机械能转化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715000"/>
            <a:ext cx="10058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91426"/>
                </a:solidFill>
                <a:latin typeface="Microsoft YaHei"/>
              </a:rPr>
              <a:t>这些内容回答“现象是什么、规律怎样用”。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A94"/>
                </a:solidFill>
                <a:latin typeface="Microsoft YaHei"/>
              </a:rPr>
              <a:t>目录 03 · 初中基础 → 高中地图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C5DC"/>
                </a:solidFill>
                <a:latin typeface="Microsoft YaHei"/>
              </a:rPr>
              <a:t>知识地图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91426"/>
                </a:solidFill>
                <a:latin typeface="Microsoft YaHei"/>
              </a:rPr>
              <a:t>再看高中物理：沿着六条主线展开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A94"/>
                </a:solidFill>
                <a:latin typeface="Microsoft YaHei"/>
              </a:rPr>
              <a:t>07  /  开学第一课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2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737360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37360"/>
            <a:ext cx="109728" cy="1325880"/>
          </a:xfrm>
          <a:prstGeom prst="rect">
            <a:avLst/>
          </a:prstGeom>
          <a:solidFill>
            <a:srgbClr val="26C5DC"/>
          </a:solidFill>
          <a:ln>
            <a:solidFill>
              <a:srgbClr val="26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3852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6C5DC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1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运动的描述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578608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A94"/>
                </a:solidFill>
                <a:latin typeface="Microsoft YaHei"/>
              </a:rPr>
              <a:t>位移 · 速度 · 加速度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79" y="1737360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79" y="1737360"/>
            <a:ext cx="109728" cy="1325880"/>
          </a:xfrm>
          <a:prstGeom prst="rect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599" y="193852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C247"/>
                </a:solidFill>
                <a:latin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599" y="2221991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相互作用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599" y="2578608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A94"/>
                </a:solidFill>
                <a:latin typeface="Microsoft YaHei"/>
              </a:rPr>
              <a:t>力 · 牛顿定律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19" y="1737360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19" y="1737360"/>
            <a:ext cx="109728" cy="1325880"/>
          </a:xfrm>
          <a:prstGeom prst="rect">
            <a:avLst/>
          </a:prstGeom>
          <a:solidFill>
            <a:srgbClr val="87CAAB"/>
          </a:solidFill>
          <a:ln>
            <a:solidFill>
              <a:srgbClr val="87CA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93852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87CAAB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221991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曲线与引力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578608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A94"/>
                </a:solidFill>
                <a:latin typeface="Microsoft YaHei"/>
              </a:rPr>
              <a:t>平抛 · 圆周 · 天体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611879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611879"/>
            <a:ext cx="109728" cy="1325880"/>
          </a:xfrm>
          <a:prstGeom prst="rect">
            <a:avLst/>
          </a:prstGeom>
          <a:solidFill>
            <a:srgbClr val="BCA6E6"/>
          </a:solidFill>
          <a:ln>
            <a:solidFill>
              <a:srgbClr val="BCA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381304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BCA6E6"/>
                </a:solidFill>
                <a:latin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096511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能量与动量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4453128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A94"/>
                </a:solidFill>
                <a:latin typeface="Microsoft YaHei"/>
              </a:rPr>
              <a:t>功 · 守恒 · 碰撞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79" y="3611879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26279" y="3611879"/>
            <a:ext cx="109728" cy="1325880"/>
          </a:xfrm>
          <a:prstGeom prst="rect">
            <a:avLst/>
          </a:prstGeom>
          <a:solidFill>
            <a:srgbClr val="FFA17B"/>
          </a:solidFill>
          <a:ln>
            <a:solidFill>
              <a:srgbClr val="FFA1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599" y="381304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A17B"/>
                </a:solidFill>
                <a:latin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599" y="4096511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电场与电路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599" y="4453128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A94"/>
                </a:solidFill>
                <a:latin typeface="Microsoft YaHei"/>
              </a:rPr>
              <a:t>电荷 · 电势 · 电流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75319" y="3611879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F7FAFC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75319" y="3611879"/>
            <a:ext cx="109728" cy="1325880"/>
          </a:xfrm>
          <a:prstGeom prst="rect">
            <a:avLst/>
          </a:prstGeom>
          <a:solidFill>
            <a:srgbClr val="83ADDF"/>
          </a:solidFill>
          <a:ln>
            <a:solidFill>
              <a:srgbClr val="83AD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381304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83ADDF"/>
                </a:solidFill>
                <a:latin typeface="Microsoft Ya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4096511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8273E"/>
                </a:solidFill>
                <a:latin typeface="Microsoft YaHei"/>
              </a:rPr>
              <a:t>磁场与近代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4453128"/>
            <a:ext cx="2651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77A94"/>
                </a:solidFill>
                <a:latin typeface="Microsoft YaHei"/>
              </a:rPr>
              <a:t>电磁感应 · 波 · 原子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A94"/>
                </a:solidFill>
                <a:latin typeface="Microsoft YaHei"/>
              </a:rPr>
              <a:t>目录 03 · 初中基础 → 高中地图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C5DC"/>
                </a:solidFill>
                <a:latin typeface="Microsoft YaHei"/>
              </a:rPr>
              <a:t>台阶变高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91426"/>
                </a:solidFill>
                <a:latin typeface="Microsoft YaHei"/>
              </a:rPr>
              <a:t>初中与高中：不是换语言，而是多了模型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A94"/>
                </a:solidFill>
                <a:latin typeface="Microsoft YaHei"/>
              </a:rPr>
              <a:t>08  /  开学第一课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2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97280" y="164592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677A94"/>
                </a:solidFill>
                <a:latin typeface="Microsoft YaHei"/>
              </a:rPr>
              <a:t>初中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645920"/>
            <a:ext cx="2743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6C5DC"/>
                </a:solidFill>
                <a:latin typeface="Microsoft YaHei"/>
              </a:rPr>
              <a:t>高中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40280"/>
            <a:ext cx="3017520" cy="502920"/>
          </a:xfrm>
          <a:prstGeom prst="roundRect">
            <a:avLst>
              <a:gd name="adj" fmla="val 12000"/>
            </a:avLst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0" y="2240280"/>
            <a:ext cx="3017520" cy="502920"/>
          </a:xfrm>
          <a:prstGeom prst="roundRect">
            <a:avLst>
              <a:gd name="adj" fmla="val 12000"/>
            </a:avLst>
          </a:prstGeom>
          <a:solidFill>
            <a:srgbClr val="E8F8FA"/>
          </a:solidFill>
          <a:ln>
            <a:solidFill>
              <a:srgbClr val="E8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28600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3E"/>
                </a:solidFill>
                <a:latin typeface="Microsoft YaHei"/>
              </a:rPr>
              <a:t>现象直观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28600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3E"/>
                </a:solidFill>
                <a:latin typeface="Microsoft YaHei"/>
              </a:rPr>
              <a:t>先建模，再分析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51960" y="2496312"/>
            <a:ext cx="2788920" cy="0"/>
          </a:xfrm>
          <a:prstGeom prst="line">
            <a:avLst/>
          </a:prstGeom>
          <a:ln w="19050">
            <a:solidFill>
              <a:srgbClr val="677A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2999232"/>
            <a:ext cx="3017520" cy="502920"/>
          </a:xfrm>
          <a:prstGeom prst="roundRect">
            <a:avLst>
              <a:gd name="adj" fmla="val 12000"/>
            </a:avLst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0" y="2999232"/>
            <a:ext cx="3017520" cy="502920"/>
          </a:xfrm>
          <a:prstGeom prst="roundRect">
            <a:avLst>
              <a:gd name="adj" fmla="val 12000"/>
            </a:avLst>
          </a:prstGeom>
          <a:solidFill>
            <a:srgbClr val="E8F8FA"/>
          </a:solidFill>
          <a:ln>
            <a:solidFill>
              <a:srgbClr val="E8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044952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3E"/>
                </a:solidFill>
                <a:latin typeface="Microsoft YaHei"/>
              </a:rPr>
              <a:t>代入公式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044952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3E"/>
                </a:solidFill>
                <a:latin typeface="Microsoft YaHei"/>
              </a:rPr>
              <a:t>函数、方程、向量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51960" y="3255264"/>
            <a:ext cx="2788920" cy="0"/>
          </a:xfrm>
          <a:prstGeom prst="line">
            <a:avLst/>
          </a:prstGeom>
          <a:ln w="19050">
            <a:solidFill>
              <a:srgbClr val="677A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4400" y="3758184"/>
            <a:ext cx="3017520" cy="502920"/>
          </a:xfrm>
          <a:prstGeom prst="roundRect">
            <a:avLst>
              <a:gd name="adj" fmla="val 12000"/>
            </a:avLst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0" y="3758184"/>
            <a:ext cx="3017520" cy="502920"/>
          </a:xfrm>
          <a:prstGeom prst="roundRect">
            <a:avLst>
              <a:gd name="adj" fmla="val 12000"/>
            </a:avLst>
          </a:prstGeom>
          <a:solidFill>
            <a:srgbClr val="E8F8FA"/>
          </a:solidFill>
          <a:ln>
            <a:solidFill>
              <a:srgbClr val="E8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803904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3E"/>
                </a:solidFill>
                <a:latin typeface="Microsoft YaHei"/>
              </a:rPr>
              <a:t>条件直接给出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803904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3E"/>
                </a:solidFill>
                <a:latin typeface="Microsoft YaHei"/>
              </a:rPr>
              <a:t>从题干提取条件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251960" y="4014216"/>
            <a:ext cx="2788920" cy="0"/>
          </a:xfrm>
          <a:prstGeom prst="line">
            <a:avLst/>
          </a:prstGeom>
          <a:ln w="19050">
            <a:solidFill>
              <a:srgbClr val="677A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4400" y="4517136"/>
            <a:ext cx="3017520" cy="502920"/>
          </a:xfrm>
          <a:prstGeom prst="roundRect">
            <a:avLst>
              <a:gd name="adj" fmla="val 12000"/>
            </a:avLst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0" y="4517136"/>
            <a:ext cx="3017520" cy="502920"/>
          </a:xfrm>
          <a:prstGeom prst="roundRect">
            <a:avLst>
              <a:gd name="adj" fmla="val 12000"/>
            </a:avLst>
          </a:prstGeom>
          <a:solidFill>
            <a:srgbClr val="E8F8FA"/>
          </a:solidFill>
          <a:ln>
            <a:solidFill>
              <a:srgbClr val="E8F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562855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3E"/>
                </a:solidFill>
                <a:latin typeface="Microsoft YaHei"/>
              </a:rPr>
              <a:t>看结果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562855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3E"/>
                </a:solidFill>
                <a:latin typeface="Microsoft YaHei"/>
              </a:rPr>
              <a:t>查过程、单位、意义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51960" y="4773168"/>
            <a:ext cx="2788920" cy="0"/>
          </a:xfrm>
          <a:prstGeom prst="line">
            <a:avLst/>
          </a:prstGeom>
          <a:ln w="19050">
            <a:solidFill>
              <a:srgbClr val="677A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97280" y="5715000"/>
            <a:ext cx="9875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91426"/>
                </a:solidFill>
                <a:latin typeface="Microsoft YaHei"/>
              </a:rPr>
              <a:t>数学暂时薄弱可以补；关键是愿意画图、写步骤、问清每个量。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A94"/>
                </a:solidFill>
                <a:latin typeface="Microsoft YaHei"/>
              </a:rPr>
              <a:t>目录 03 · 初中基础 → 高中地图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C5DC"/>
                </a:solidFill>
                <a:latin typeface="Microsoft YaHei"/>
              </a:rPr>
              <a:t>核心方法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91426"/>
                </a:solidFill>
                <a:latin typeface="Microsoft YaHei"/>
              </a:rPr>
              <a:t>费曼学习法：把“会做”变成“会讲”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A94"/>
                </a:solidFill>
                <a:latin typeface="Microsoft YaHei"/>
              </a:rPr>
              <a:t>09  /  开学第一课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2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422392" y="2770632"/>
            <a:ext cx="1316736" cy="1316736"/>
          </a:xfrm>
          <a:prstGeom prst="ellipse">
            <a:avLst/>
          </a:prstGeom>
          <a:solidFill>
            <a:srgbClr val="091426"/>
          </a:solidFill>
          <a:ln>
            <a:solidFill>
              <a:srgbClr val="09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3044952"/>
            <a:ext cx="1188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8FBFD"/>
                </a:solidFill>
                <a:latin typeface="Microsoft YaHei"/>
              </a:rPr>
              <a:t>真正
学会</a:t>
            </a:r>
          </a:p>
        </p:txBody>
      </p:sp>
      <p:sp>
        <p:nvSpPr>
          <p:cNvPr id="9" name="Oval 8"/>
          <p:cNvSpPr/>
          <p:nvPr/>
        </p:nvSpPr>
        <p:spPr>
          <a:xfrm>
            <a:off x="1920240" y="1828800"/>
            <a:ext cx="566928" cy="566928"/>
          </a:xfrm>
          <a:prstGeom prst="ellipse">
            <a:avLst/>
          </a:prstGeom>
          <a:solidFill>
            <a:srgbClr val="26C5DC"/>
          </a:solidFill>
          <a:ln>
            <a:solidFill>
              <a:srgbClr val="26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938528"/>
            <a:ext cx="5669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91426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1810512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273E"/>
                </a:solidFill>
                <a:latin typeface="Microsoft YaHei"/>
              </a:rPr>
              <a:t>选小概念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0048" y="2121408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77A94"/>
                </a:solidFill>
                <a:latin typeface="Microsoft YaHei"/>
              </a:rPr>
              <a:t>只讲一个点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1828800"/>
            <a:ext cx="566928" cy="566928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938528"/>
            <a:ext cx="5669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91426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1810512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273E"/>
                </a:solidFill>
                <a:latin typeface="Microsoft YaHei"/>
              </a:rPr>
              <a:t>用自己的话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2121408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77A94"/>
                </a:solidFill>
                <a:latin typeface="Microsoft YaHei"/>
              </a:rPr>
              <a:t>像讲给小学生</a:t>
            </a:r>
          </a:p>
        </p:txBody>
      </p:sp>
      <p:sp>
        <p:nvSpPr>
          <p:cNvPr id="17" name="Oval 16"/>
          <p:cNvSpPr/>
          <p:nvPr/>
        </p:nvSpPr>
        <p:spPr>
          <a:xfrm>
            <a:off x="1920240" y="4572000"/>
            <a:ext cx="566928" cy="566928"/>
          </a:xfrm>
          <a:prstGeom prst="ellipse">
            <a:avLst/>
          </a:prstGeom>
          <a:solidFill>
            <a:srgbClr val="87CAAB"/>
          </a:solidFill>
          <a:ln>
            <a:solidFill>
              <a:srgbClr val="87CA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4681728"/>
            <a:ext cx="5669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91426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" y="4553712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273E"/>
                </a:solidFill>
                <a:latin typeface="Microsoft YaHei"/>
              </a:rPr>
              <a:t>找出卡点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4864608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77A94"/>
                </a:solidFill>
                <a:latin typeface="Microsoft YaHei"/>
              </a:rPr>
              <a:t>回看资料</a:t>
            </a:r>
          </a:p>
        </p:txBody>
      </p:sp>
      <p:sp>
        <p:nvSpPr>
          <p:cNvPr id="21" name="Oval 20"/>
          <p:cNvSpPr/>
          <p:nvPr/>
        </p:nvSpPr>
        <p:spPr>
          <a:xfrm>
            <a:off x="8138160" y="4572000"/>
            <a:ext cx="566928" cy="566928"/>
          </a:xfrm>
          <a:prstGeom prst="ellipse">
            <a:avLst/>
          </a:prstGeom>
          <a:solidFill>
            <a:srgbClr val="BCA6E6"/>
          </a:solidFill>
          <a:ln>
            <a:solidFill>
              <a:srgbClr val="BCA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4681728"/>
            <a:ext cx="56692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91426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8" y="4553712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8273E"/>
                </a:solidFill>
                <a:latin typeface="Microsoft YaHei"/>
              </a:rPr>
              <a:t>简化举例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4864608"/>
            <a:ext cx="2651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77A94"/>
                </a:solidFill>
                <a:latin typeface="Microsoft YaHei"/>
              </a:rPr>
              <a:t>再讲一遍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88920" y="2103120"/>
            <a:ext cx="2560320" cy="731520"/>
          </a:xfrm>
          <a:prstGeom prst="line">
            <a:avLst/>
          </a:prstGeom>
          <a:ln w="17780">
            <a:solidFill>
              <a:srgbClr val="677A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812280" y="2103120"/>
            <a:ext cx="1417320" cy="731520"/>
          </a:xfrm>
          <a:prstGeom prst="line">
            <a:avLst/>
          </a:prstGeom>
          <a:ln w="17780">
            <a:solidFill>
              <a:srgbClr val="677A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6812280" y="4023360"/>
            <a:ext cx="1417320" cy="960120"/>
          </a:xfrm>
          <a:prstGeom prst="line">
            <a:avLst/>
          </a:prstGeom>
          <a:ln w="17780">
            <a:solidFill>
              <a:srgbClr val="677A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2788920" y="4023360"/>
            <a:ext cx="2560320" cy="960120"/>
          </a:xfrm>
          <a:prstGeom prst="line">
            <a:avLst/>
          </a:prstGeom>
          <a:ln w="17780">
            <a:solidFill>
              <a:srgbClr val="677A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21792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A94"/>
                </a:solidFill>
                <a:latin typeface="Microsoft YaHei"/>
              </a:rPr>
              <a:t>目录 04 · 学习方法｜卡住不是失败，卡点就是下一步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C5DC"/>
                </a:solidFill>
                <a:latin typeface="Microsoft YaHei"/>
              </a:rPr>
              <a:t>示范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91426"/>
                </a:solidFill>
                <a:latin typeface="Microsoft YaHei"/>
              </a:rPr>
              <a:t>概念卡：用“速度”练习说清楚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A94"/>
                </a:solidFill>
                <a:latin typeface="Microsoft YaHei"/>
              </a:rPr>
              <a:t>10  /  开学第一课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2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691640"/>
            <a:ext cx="5486400" cy="4251960"/>
          </a:xfrm>
          <a:prstGeom prst="roundRect">
            <a:avLst>
              <a:gd name="adj" fmla="val 12000"/>
            </a:avLst>
          </a:prstGeom>
          <a:solidFill>
            <a:srgbClr val="FAFCFD"/>
          </a:solidFill>
          <a:ln>
            <a:solidFill>
              <a:srgbClr val="D2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65960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091426"/>
                </a:solidFill>
                <a:latin typeface="Microsoft YaHei"/>
              </a:rPr>
              <a:t>概念讲解卡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560320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77A94"/>
                </a:solidFill>
                <a:latin typeface="Microsoft YaHei"/>
              </a:rPr>
              <a:t>我解释的概念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560320"/>
            <a:ext cx="3154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8273E"/>
                </a:solidFill>
                <a:latin typeface="Microsoft YaHei"/>
              </a:rPr>
              <a:t>速度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06040" y="2971800"/>
            <a:ext cx="3200400" cy="0"/>
          </a:xfrm>
          <a:prstGeom prst="line">
            <a:avLst/>
          </a:prstGeom>
          <a:ln w="12700">
            <a:solidFill>
              <a:srgbClr val="DC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97280" y="3273552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77A94"/>
                </a:solidFill>
                <a:latin typeface="Microsoft YaHei"/>
              </a:rPr>
              <a:t>用自己的话说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3273552"/>
            <a:ext cx="3154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8273E"/>
                </a:solidFill>
                <a:latin typeface="Microsoft YaHei"/>
              </a:rPr>
              <a:t>单位时间内位移的变化快慢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6040" y="3685032"/>
            <a:ext cx="3200400" cy="0"/>
          </a:xfrm>
          <a:prstGeom prst="line">
            <a:avLst/>
          </a:prstGeom>
          <a:ln w="12700">
            <a:solidFill>
              <a:srgbClr val="DC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97280" y="3986783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77A94"/>
                </a:solidFill>
                <a:latin typeface="Microsoft YaHei"/>
              </a:rPr>
              <a:t>生活例子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986783"/>
            <a:ext cx="3154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8273E"/>
                </a:solidFill>
                <a:latin typeface="Microsoft YaHei"/>
              </a:rPr>
              <a:t>2 s 向东 10 m，再 2 s 向西 10 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06040" y="4398264"/>
            <a:ext cx="3200400" cy="0"/>
          </a:xfrm>
          <a:prstGeom prst="line">
            <a:avLst/>
          </a:prstGeom>
          <a:ln w="12700">
            <a:solidFill>
              <a:srgbClr val="DC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97280" y="4700016"/>
            <a:ext cx="1463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77A94"/>
                </a:solidFill>
                <a:latin typeface="Microsoft YaHei"/>
              </a:rPr>
              <a:t>容易混淆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700016"/>
            <a:ext cx="3154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8273E"/>
                </a:solidFill>
                <a:latin typeface="Microsoft YaHei"/>
              </a:rPr>
              <a:t>速率：路程/时间；速度：位移/时间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06040" y="5111496"/>
            <a:ext cx="3200400" cy="0"/>
          </a:xfrm>
          <a:prstGeom prst="line">
            <a:avLst/>
          </a:prstGeom>
          <a:ln w="12700">
            <a:solidFill>
              <a:srgbClr val="DCE7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0" y="1828800"/>
            <a:ext cx="4206240" cy="3474720"/>
          </a:xfrm>
          <a:prstGeom prst="roundRect">
            <a:avLst>
              <a:gd name="adj" fmla="val 12000"/>
            </a:avLst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2148840"/>
            <a:ext cx="3291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91426"/>
                </a:solidFill>
                <a:latin typeface="Microsoft YaHei"/>
              </a:rPr>
              <a:t>固定表达模板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788920"/>
            <a:ext cx="3291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18273E"/>
                </a:solidFill>
                <a:latin typeface="Microsoft YaHei"/>
              </a:rPr>
              <a:t>我研究的是____
它表示____
例如____
容易和____混淆，区别是____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754880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6C5DC"/>
                </a:solidFill>
                <a:latin typeface="Microsoft YaHei"/>
              </a:rPr>
              <a:t>30 秒讲清：是什么 · 例子 · 易错点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A94"/>
                </a:solidFill>
                <a:latin typeface="Microsoft YaHei"/>
              </a:rPr>
              <a:t>目录 04 · 学习方法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C5DC"/>
                </a:solidFill>
                <a:latin typeface="Microsoft YaHei"/>
              </a:rPr>
              <a:t>课堂练习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91426"/>
                </a:solidFill>
                <a:latin typeface="Microsoft YaHei"/>
              </a:rPr>
              <a:t>三分钟小老师：准备—讲解—追问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A94"/>
                </a:solidFill>
                <a:latin typeface="Microsoft YaHei"/>
              </a:rPr>
              <a:t>11  /  开学第一课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2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14400" y="1874519"/>
            <a:ext cx="914400" cy="914400"/>
          </a:xfrm>
          <a:prstGeom prst="ellipse">
            <a:avLst/>
          </a:prstGeom>
          <a:solidFill>
            <a:srgbClr val="26C5DC"/>
          </a:solidFill>
          <a:ln>
            <a:solidFill>
              <a:srgbClr val="26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91426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3E"/>
                </a:solidFill>
                <a:latin typeface="Microsoft YaHei"/>
              </a:rPr>
              <a:t>1 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79" y="3456432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677A94"/>
                </a:solidFill>
                <a:latin typeface="Microsoft YaHei"/>
              </a:rPr>
              <a:t>分工列提纲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2331720"/>
            <a:ext cx="2148840" cy="0"/>
          </a:xfrm>
          <a:prstGeom prst="line">
            <a:avLst/>
          </a:prstGeom>
          <a:ln w="19050">
            <a:solidFill>
              <a:srgbClr val="677A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617720" y="1874519"/>
            <a:ext cx="914400" cy="914400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084831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91426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06324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3E"/>
                </a:solidFill>
                <a:latin typeface="Microsoft YaHei"/>
              </a:rPr>
              <a:t>1 分钟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456432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677A94"/>
                </a:solidFill>
                <a:latin typeface="Microsoft YaHei"/>
              </a:rPr>
              <a:t>一人讲解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23560" y="2331720"/>
            <a:ext cx="2148840" cy="0"/>
          </a:xfrm>
          <a:prstGeom prst="line">
            <a:avLst/>
          </a:prstGeom>
          <a:ln w="19050">
            <a:solidFill>
              <a:srgbClr val="677A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321040" y="1874519"/>
            <a:ext cx="914400" cy="914400"/>
          </a:xfrm>
          <a:prstGeom prst="ellipse">
            <a:avLst/>
          </a:prstGeom>
          <a:solidFill>
            <a:srgbClr val="87CAAB"/>
          </a:solidFill>
          <a:ln>
            <a:solidFill>
              <a:srgbClr val="87CA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084831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091426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06324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73E"/>
                </a:solidFill>
                <a:latin typeface="Microsoft YaHei"/>
              </a:rPr>
              <a:t>1 分钟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3456432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677A94"/>
                </a:solidFill>
                <a:latin typeface="Microsoft YaHei"/>
              </a:rPr>
              <a:t>接受追问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4572000"/>
            <a:ext cx="1014984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DC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681728"/>
            <a:ext cx="9601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091426"/>
                </a:solidFill>
                <a:latin typeface="Microsoft YaHei"/>
              </a:rPr>
              <a:t>练习示例：解释“惯性”——公交车刹车时身体前倾；易错点：惯性不是力。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A94"/>
                </a:solidFill>
                <a:latin typeface="Microsoft YaHei"/>
              </a:rPr>
              <a:t>目录 04 · 学习方法｜主题：速度 / 惯性 / 摩擦力 / 电流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C5DC"/>
                </a:solidFill>
                <a:latin typeface="Microsoft YaHei"/>
              </a:rPr>
              <a:t>本学期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91426"/>
                </a:solidFill>
                <a:latin typeface="Microsoft YaHei"/>
              </a:rPr>
              <a:t>高一上：先完成两件重要的事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A94"/>
                </a:solidFill>
                <a:latin typeface="Microsoft YaHei"/>
              </a:rPr>
              <a:t>12  /  开学第一课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2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" y="1737360"/>
            <a:ext cx="4937760" cy="3474720"/>
          </a:xfrm>
          <a:prstGeom prst="roundRect">
            <a:avLst>
              <a:gd name="adj" fmla="val 12000"/>
            </a:avLst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57400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6C5DC"/>
                </a:solidFill>
                <a:latin typeface="Microsoft YaHei"/>
              </a:rPr>
              <a:t>任务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487168"/>
            <a:ext cx="3474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91426"/>
                </a:solidFill>
                <a:latin typeface="Microsoft YaHei"/>
              </a:rPr>
              <a:t>思维方式转变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200400"/>
            <a:ext cx="374903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18273E"/>
                </a:solidFill>
                <a:latin typeface="Microsoft YaHei"/>
              </a:rPr>
              <a:t>从“等答案”
到“先提出模型和理由”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737360"/>
            <a:ext cx="4937760" cy="347472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2057400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C247"/>
                </a:solidFill>
                <a:latin typeface="Microsoft YaHei"/>
              </a:rPr>
              <a:t>任务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487168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091426"/>
                </a:solidFill>
                <a:latin typeface="Microsoft YaHei"/>
              </a:rPr>
              <a:t>补齐够用的数学工具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0" y="3127248"/>
            <a:ext cx="219456" cy="219456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3063240"/>
            <a:ext cx="1783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8273E"/>
                </a:solidFill>
                <a:latin typeface="Microsoft YaHei"/>
              </a:rPr>
              <a:t>正负数、分数与公式变形</a:t>
            </a:r>
          </a:p>
        </p:txBody>
      </p:sp>
      <p:sp>
        <p:nvSpPr>
          <p:cNvPr id="16" name="Oval 15"/>
          <p:cNvSpPr/>
          <p:nvPr/>
        </p:nvSpPr>
        <p:spPr>
          <a:xfrm>
            <a:off x="9006840" y="3127248"/>
            <a:ext cx="219456" cy="219456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3063240"/>
            <a:ext cx="1783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8273E"/>
                </a:solidFill>
                <a:latin typeface="Microsoft YaHei"/>
              </a:rPr>
              <a:t>单位换算与数量级估算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0" y="3694176"/>
            <a:ext cx="219456" cy="219456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3630168"/>
            <a:ext cx="1783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8273E"/>
                </a:solidFill>
                <a:latin typeface="Microsoft YaHei"/>
              </a:rPr>
              <a:t>一次方程：从文字列式</a:t>
            </a:r>
          </a:p>
        </p:txBody>
      </p:sp>
      <p:sp>
        <p:nvSpPr>
          <p:cNvPr id="20" name="Oval 19"/>
          <p:cNvSpPr/>
          <p:nvPr/>
        </p:nvSpPr>
        <p:spPr>
          <a:xfrm>
            <a:off x="9006840" y="3694176"/>
            <a:ext cx="219456" cy="219456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3630168"/>
            <a:ext cx="1783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8273E"/>
                </a:solidFill>
                <a:latin typeface="Microsoft YaHei"/>
              </a:rPr>
              <a:t>坐标、图像与斜率直觉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0" y="4261104"/>
            <a:ext cx="219456" cy="219456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4197096"/>
            <a:ext cx="1783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8273E"/>
                </a:solidFill>
                <a:latin typeface="Microsoft YaHei"/>
              </a:rPr>
              <a:t>标量/矢量与同一直线加减</a:t>
            </a:r>
          </a:p>
        </p:txBody>
      </p:sp>
      <p:sp>
        <p:nvSpPr>
          <p:cNvPr id="24" name="Oval 23"/>
          <p:cNvSpPr/>
          <p:nvPr/>
        </p:nvSpPr>
        <p:spPr>
          <a:xfrm>
            <a:off x="9006840" y="4261104"/>
            <a:ext cx="219456" cy="219456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4197096"/>
            <a:ext cx="17830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18273E"/>
                </a:solidFill>
                <a:latin typeface="Microsoft YaHei"/>
              </a:rPr>
              <a:t>直角三角形求水平/竖直分量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91426"/>
                </a:solidFill>
                <a:latin typeface="Microsoft YaHei"/>
              </a:rPr>
              <a:t>每周 1–2 个小专题；学一点，用一次，再讲给别人听。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A94"/>
                </a:solidFill>
                <a:latin typeface="Microsoft YaHei"/>
              </a:rPr>
              <a:t>目录 05 · 高一上任务与行动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D"/>
          </a:solidFill>
          <a:ln>
            <a:solidFill>
              <a:srgbClr val="F8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C5DC"/>
                </a:solidFill>
                <a:latin typeface="Microsoft YaHei"/>
              </a:rPr>
              <a:t>带走行动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424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091426"/>
                </a:solidFill>
                <a:latin typeface="Microsoft YaHei"/>
              </a:rPr>
              <a:t>从本周开始，固定一个小动作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77A94"/>
                </a:solidFill>
                <a:latin typeface="Microsoft YaHei"/>
              </a:rPr>
              <a:t>13  /  开学第一课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1234440"/>
            <a:ext cx="10972800" cy="0"/>
          </a:xfrm>
          <a:prstGeom prst="line">
            <a:avLst/>
          </a:prstGeom>
          <a:ln w="12700">
            <a:solidFill>
              <a:srgbClr val="D2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783080"/>
            <a:ext cx="3154680" cy="1417320"/>
          </a:xfrm>
          <a:prstGeom prst="roundRect">
            <a:avLst>
              <a:gd name="adj" fmla="val 12000"/>
            </a:avLst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91426"/>
                </a:solidFill>
                <a:latin typeface="Microsoft YaHei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514600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8273E"/>
                </a:solidFill>
                <a:latin typeface="Microsoft YaHei"/>
              </a:rPr>
              <a:t>10 分钟：读标题，圈 1 个不懂词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783080"/>
            <a:ext cx="3154680" cy="1417320"/>
          </a:xfrm>
          <a:prstGeom prst="roundRect">
            <a:avLst>
              <a:gd name="adj" fmla="val 12000"/>
            </a:avLst>
          </a:prstGeom>
          <a:solidFill>
            <a:srgbClr val="FFF8E8"/>
          </a:solidFill>
          <a:ln>
            <a:solidFill>
              <a:srgbClr val="FFF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201168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91426"/>
                </a:solidFill>
                <a:latin typeface="Microsoft YaHei"/>
              </a:rPr>
              <a:t>课中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514600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8273E"/>
                </a:solidFill>
                <a:latin typeface="Microsoft YaHei"/>
              </a:rPr>
              <a:t>先听思路，再记关键式子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783080"/>
            <a:ext cx="3154680" cy="1417320"/>
          </a:xfrm>
          <a:prstGeom prst="roundRect">
            <a:avLst>
              <a:gd name="adj" fmla="val 12000"/>
            </a:avLst>
          </a:prstGeom>
          <a:solidFill>
            <a:srgbClr val="E5F7F0"/>
          </a:solidFill>
          <a:ln>
            <a:solidFill>
              <a:srgbClr val="E5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01168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91426"/>
                </a:solidFill>
                <a:latin typeface="Microsoft YaHei"/>
              </a:rPr>
              <a:t>课后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514600"/>
            <a:ext cx="2651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8273E"/>
                </a:solidFill>
                <a:latin typeface="Microsoft YaHei"/>
              </a:rPr>
              <a:t>少量基础题 + 一次错题复盘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023360"/>
            <a:ext cx="10149840" cy="1234440"/>
          </a:xfrm>
          <a:prstGeom prst="roundRect">
            <a:avLst>
              <a:gd name="adj" fmla="val 12000"/>
            </a:avLst>
          </a:prstGeom>
          <a:solidFill>
            <a:srgbClr val="091426"/>
          </a:solidFill>
          <a:ln>
            <a:solidFill>
              <a:srgbClr val="09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4279392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6C5DC"/>
                </a:solidFill>
                <a:latin typeface="Microsoft YaHei"/>
              </a:rPr>
              <a:t>出口条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261104"/>
            <a:ext cx="8138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8FBFD"/>
                </a:solidFill>
                <a:latin typeface="Microsoft YaHei"/>
              </a:rPr>
              <a:t>今天我知道了：____    我仍然困惑：____    本周我坚持：____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091426"/>
                </a:solidFill>
                <a:latin typeface="Microsoft YaHei"/>
              </a:rPr>
              <a:t>请选择一项，写在你的本子上。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A94"/>
                </a:solidFill>
                <a:latin typeface="Microsoft YaHei"/>
              </a:rPr>
              <a:t>目录 05 · 高一上任务与行动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6"/>
          </a:solidFill>
          <a:ln>
            <a:solidFill>
              <a:srgbClr val="09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1097280"/>
            <a:ext cx="1554480" cy="1554480"/>
          </a:xfrm>
          <a:prstGeom prst="ellipse">
            <a:avLst/>
          </a:prstGeom>
          <a:solidFill>
            <a:srgbClr val="26C5DC"/>
          </a:solidFill>
          <a:ln>
            <a:solidFill>
              <a:srgbClr val="26C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2377440"/>
            <a:ext cx="594360" cy="594360"/>
          </a:xfrm>
          <a:prstGeom prst="ellipse">
            <a:avLst/>
          </a:prstGeom>
          <a:solidFill>
            <a:srgbClr val="FFC247"/>
          </a:solidFill>
          <a:ln>
            <a:solidFill>
              <a:srgbClr val="FFC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6583680" y="2103120"/>
            <a:ext cx="4480560" cy="3108960"/>
          </a:xfrm>
          <a:prstGeom prst="line">
            <a:avLst/>
          </a:prstGeom>
          <a:ln w="19050">
            <a:solidFill>
              <a:srgbClr val="456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83680" y="5212080"/>
            <a:ext cx="3566160" cy="182880"/>
          </a:xfrm>
          <a:prstGeom prst="line">
            <a:avLst/>
          </a:prstGeom>
          <a:ln w="19050">
            <a:solidFill>
              <a:srgbClr val="456F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1051560"/>
            <a:ext cx="5029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500" b="1">
                <a:solidFill>
                  <a:srgbClr val="F8FBFD"/>
                </a:solidFill>
                <a:latin typeface="Microsoft YaHei"/>
              </a:rPr>
              <a:t>从今天开始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5212080" cy="1965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26C5DC"/>
                </a:solidFill>
                <a:latin typeface="Microsoft YaHei"/>
              </a:rPr>
              <a:t>看清现象
说出理由
写完整过程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800600"/>
            <a:ext cx="6400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F8FBFD"/>
                </a:solidFill>
                <a:latin typeface="Microsoft YaHei"/>
              </a:rPr>
              <a:t>每周多懂一个概念，多改正一个错误，
你就在进步。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98932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FC247"/>
                </a:solidFill>
                <a:latin typeface="Microsoft YaHei"/>
              </a:rPr>
              <a:t>欢迎来到物理的世界。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384048"/>
            <a:ext cx="12801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96B6C5"/>
                </a:solidFill>
                <a:latin typeface="Microsoft YaHei"/>
              </a:rPr>
              <a:t>14  /  开学第一课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36576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77A94"/>
                </a:solidFill>
                <a:latin typeface="Microsoft YaHei"/>
              </a:rPr>
              <a:t>目录 05 · 高一上任务与行动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