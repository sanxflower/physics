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0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1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0"/>
            <a:ext cx="46021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69480" y="0"/>
            <a:ext cx="438912" cy="6858000"/>
          </a:xfrm>
          <a:prstGeom prst="rect">
            <a:avLst/>
          </a:prstGeom>
          <a:solidFill>
            <a:srgbClr val="23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6035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FFFFFC"/>
                </a:solidFill>
                <a:latin typeface="Microsoft YaHei"/>
              </a:rPr>
              <a:t>开学第一课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47088"/>
            <a:ext cx="59436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EFB757"/>
                </a:solidFill>
                <a:latin typeface="Microsoft YaHei"/>
              </a:rPr>
              <a:t>物理，从“我能做到”开始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880360"/>
            <a:ext cx="53035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>
                <a:solidFill>
                  <a:srgbClr val="E2E8E4"/>
                </a:solidFill>
                <a:latin typeface="Microsoft YaHei"/>
              </a:rPr>
              <a:t>欢迎来到高中物理。
我们一起把好奇，变成看得见的理解。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4160520"/>
            <a:ext cx="822960" cy="54864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4352544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FFFFFC"/>
                </a:solidFill>
                <a:latin typeface="Microsoft YaHei"/>
              </a:rPr>
              <a:t>刘老师  ·  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144768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B4C2BF"/>
                </a:solidFill>
                <a:latin typeface="Microsoft YaHei"/>
              </a:rPr>
              <a:t>26级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F7579"/>
                </a:solidFill>
                <a:latin typeface="Microsoft YaHei"/>
              </a:rPr>
              <a:t>01 · 先认识物理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233038"/>
                </a:solidFill>
                <a:latin typeface="Microsoft YaHei"/>
              </a:rPr>
              <a:t>欢迎来到物理的世界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594360" cy="54864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5F6968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5F6968"/>
                </a:solidFill>
                <a:latin typeface="Microsoft YaHei"/>
              </a:rPr>
              <a:t>光谷二高 · 高一物理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6583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233038"/>
                </a:solidFill>
                <a:latin typeface="Microsoft YaHei"/>
              </a:rPr>
              <a:t>你以为物理很远？其实它一直在身边。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3401568" cy="324612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2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31720"/>
            <a:ext cx="3401568" cy="1874519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877824" y="4462272"/>
            <a:ext cx="384048" cy="384048"/>
          </a:xfrm>
          <a:prstGeom prst="ellipse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489704"/>
            <a:ext cx="3840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FFFC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07408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233038"/>
                </a:solidFill>
                <a:latin typeface="Microsoft YaHei"/>
              </a:rPr>
              <a:t>抬头看天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73168"/>
            <a:ext cx="248716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F6968"/>
                </a:solidFill>
                <a:latin typeface="Microsoft YaHei"/>
              </a:rPr>
              <a:t>为什么天空会变色？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2331720"/>
            <a:ext cx="3401568" cy="324612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3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2331720"/>
            <a:ext cx="3401568" cy="1874519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4681728" y="4462272"/>
            <a:ext cx="384048" cy="384048"/>
          </a:xfrm>
          <a:prstGeom prst="ellipse">
            <a:avLst/>
          </a:prstGeom>
          <a:solidFill>
            <a:srgbClr val="2F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4489704"/>
            <a:ext cx="3840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FFFC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4407408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233038"/>
                </a:solidFill>
                <a:latin typeface="Microsoft YaHei"/>
              </a:rPr>
              <a:t>脚下有路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4773168"/>
            <a:ext cx="248716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F6968"/>
                </a:solidFill>
                <a:latin typeface="Microsoft YaHei"/>
              </a:rPr>
              <a:t>为什么车会停下来？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2331720"/>
            <a:ext cx="3401568" cy="324612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1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331720"/>
            <a:ext cx="3401568" cy="1874519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8485632" y="4462272"/>
            <a:ext cx="384048" cy="384048"/>
          </a:xfrm>
          <a:prstGeom prst="ellipse">
            <a:avLst/>
          </a:prstGeom>
          <a:solidFill>
            <a:srgbClr val="EFB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4489704"/>
            <a:ext cx="3840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FFFC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4407408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233038"/>
                </a:solidFill>
                <a:latin typeface="Microsoft YaHei"/>
              </a:rPr>
              <a:t>手里有光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4773168"/>
            <a:ext cx="248716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F6968"/>
                </a:solidFill>
                <a:latin typeface="Microsoft YaHei"/>
              </a:rPr>
              <a:t>为什么手机会亮？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925312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2F7579"/>
                </a:solidFill>
                <a:latin typeface="Microsoft YaHei"/>
              </a:rPr>
              <a:t>今天不比谁会做题，先比谁敢提出一个“为什么”。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8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F7579"/>
                </a:solidFill>
                <a:latin typeface="Microsoft YaHei"/>
              </a:rPr>
              <a:t>02 · 认识老师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233038"/>
                </a:solidFill>
                <a:latin typeface="Microsoft YaHei"/>
              </a:rPr>
              <a:t>先不急着讲公式，先认识我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594360" cy="54864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5F6968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5F6968"/>
                </a:solidFill>
                <a:latin typeface="Microsoft YaHei"/>
              </a:rPr>
              <a:t>光谷二高 · 高一物理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3977639" cy="416052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0704" y="2121408"/>
            <a:ext cx="914400" cy="914400"/>
          </a:xfrm>
          <a:prstGeom prst="ellipse">
            <a:avLst/>
          </a:prstGeom>
          <a:solidFill>
            <a:srgbClr val="2F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313432"/>
            <a:ext cx="914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 i="0">
                <a:solidFill>
                  <a:srgbClr val="FFFFFC"/>
                </a:solidFill>
                <a:latin typeface="Microsoft YaHei"/>
              </a:rPr>
              <a:t>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219456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233038"/>
                </a:solidFill>
                <a:latin typeface="Microsoft YaHei"/>
              </a:rPr>
              <a:t>刘老师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633472"/>
            <a:ext cx="22402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6968"/>
                </a:solidFill>
                <a:latin typeface="Microsoft YaHei"/>
              </a:rPr>
              <a:t>高中物理教师
喜欢把复杂的事讲清楚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767328"/>
            <a:ext cx="3182112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>
                <a:solidFill>
                  <a:srgbClr val="233038"/>
                </a:solidFill>
                <a:latin typeface="Microsoft YaHei"/>
              </a:rPr>
              <a:t>“看一个人做了什么，
不看一个人说了什么。
相处久了，你会知道我是怎样的人。”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938528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233038"/>
                </a:solidFill>
                <a:latin typeface="Microsoft YaHei"/>
              </a:rPr>
              <a:t>我的三个承诺</a:t>
            </a:r>
          </a:p>
        </p:txBody>
      </p:sp>
      <p:sp>
        <p:nvSpPr>
          <p:cNvPr id="14" name="Oval 13"/>
          <p:cNvSpPr/>
          <p:nvPr/>
        </p:nvSpPr>
        <p:spPr>
          <a:xfrm>
            <a:off x="5257800" y="2542032"/>
            <a:ext cx="457200" cy="457200"/>
          </a:xfrm>
          <a:prstGeom prst="ellipse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263347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560320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233038"/>
                </a:solidFill>
                <a:latin typeface="Microsoft YaHei"/>
              </a:rPr>
              <a:t>讲清楚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862072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F6968"/>
                </a:solidFill>
                <a:latin typeface="Microsoft YaHei"/>
              </a:rPr>
              <a:t>每个概念都有生活里的入口。</a:t>
            </a:r>
          </a:p>
        </p:txBody>
      </p:sp>
      <p:sp>
        <p:nvSpPr>
          <p:cNvPr id="18" name="Oval 17"/>
          <p:cNvSpPr/>
          <p:nvPr/>
        </p:nvSpPr>
        <p:spPr>
          <a:xfrm>
            <a:off x="5257800" y="3566160"/>
            <a:ext cx="457200" cy="457200"/>
          </a:xfrm>
          <a:prstGeom prst="ellipse">
            <a:avLst/>
          </a:prstGeom>
          <a:solidFill>
            <a:srgbClr val="2F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3657600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584448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233038"/>
                </a:solidFill>
                <a:latin typeface="Microsoft YaHei"/>
              </a:rPr>
              <a:t>一起试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88620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F6968"/>
                </a:solidFill>
                <a:latin typeface="Microsoft YaHei"/>
              </a:rPr>
              <a:t>允许猜错，鼓励再试一次。</a:t>
            </a:r>
          </a:p>
        </p:txBody>
      </p:sp>
      <p:sp>
        <p:nvSpPr>
          <p:cNvPr id="22" name="Oval 21"/>
          <p:cNvSpPr/>
          <p:nvPr/>
        </p:nvSpPr>
        <p:spPr>
          <a:xfrm>
            <a:off x="5257800" y="4590288"/>
            <a:ext cx="457200" cy="457200"/>
          </a:xfrm>
          <a:prstGeom prst="ellipse">
            <a:avLst/>
          </a:prstGeom>
          <a:solidFill>
            <a:srgbClr val="EFB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4681727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4608575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233038"/>
                </a:solidFill>
                <a:latin typeface="Microsoft YaHei"/>
              </a:rPr>
              <a:t>看见你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910327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F6968"/>
                </a:solidFill>
                <a:latin typeface="Microsoft YaHei"/>
              </a:rPr>
              <a:t>关注每一次认真，而不只是一张分数单。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F7579"/>
                </a:solidFill>
                <a:latin typeface="Microsoft YaHei"/>
              </a:rPr>
              <a:t>03 · 物理是什么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233038"/>
                </a:solidFill>
                <a:latin typeface="Microsoft YaHei"/>
              </a:rPr>
              <a:t>把好奇，变成可以解释的答案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594360" cy="54864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5F6968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5F6968"/>
                </a:solidFill>
                <a:latin typeface="Microsoft YaHei"/>
              </a:rPr>
              <a:t>光谷二高 · 高一物理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00784"/>
            <a:ext cx="9601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233038"/>
                </a:solidFill>
                <a:latin typeface="Microsoft YaHei"/>
              </a:rPr>
              <a:t>物理不是“背公式比赛”，而是一种观察世界的语言。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514600"/>
            <a:ext cx="3246120" cy="2304288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84832" y="2816352"/>
            <a:ext cx="822960" cy="822960"/>
          </a:xfrm>
          <a:prstGeom prst="ellipse">
            <a:avLst/>
          </a:prstGeom>
          <a:solidFill>
            <a:srgbClr val="2F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2" y="3017520"/>
            <a:ext cx="822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FFFFFC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3803904"/>
            <a:ext cx="260604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233038"/>
                </a:solidFill>
                <a:latin typeface="Microsoft YaHei"/>
              </a:rPr>
              <a:t>看见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4224528"/>
            <a:ext cx="25786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5F6968"/>
                </a:solidFill>
                <a:latin typeface="Microsoft YaHei"/>
              </a:rPr>
              <a:t>从现象出发，先描述清楚。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514600"/>
            <a:ext cx="3246120" cy="2304288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33872" y="2816352"/>
            <a:ext cx="822960" cy="822960"/>
          </a:xfrm>
          <a:prstGeom prst="ellipse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3017520"/>
            <a:ext cx="822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FFFFFC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3803904"/>
            <a:ext cx="260604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233038"/>
                </a:solidFill>
                <a:latin typeface="Microsoft YaHei"/>
              </a:rPr>
              <a:t>想清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4224528"/>
            <a:ext cx="25786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5F6968"/>
                </a:solidFill>
                <a:latin typeface="Microsoft YaHei"/>
              </a:rPr>
              <a:t>用模型抓住最重要的关系。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59" y="2514600"/>
            <a:ext cx="3246120" cy="2304288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82911" y="2816352"/>
            <a:ext cx="822960" cy="822960"/>
          </a:xfrm>
          <a:prstGeom prst="ellipse">
            <a:avLst/>
          </a:prstGeom>
          <a:solidFill>
            <a:srgbClr val="EFB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2911" y="3017520"/>
            <a:ext cx="822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FFFFFC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799" y="3803904"/>
            <a:ext cx="260604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233038"/>
                </a:solidFill>
                <a:latin typeface="Microsoft YaHei"/>
              </a:rPr>
              <a:t>说出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5943" y="4224528"/>
            <a:ext cx="25786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5F6968"/>
                </a:solidFill>
                <a:latin typeface="Microsoft YaHei"/>
              </a:rPr>
              <a:t>用图、式子和语言讲明白。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687568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 i="0">
                <a:solidFill>
                  <a:srgbClr val="2F7579"/>
                </a:solidFill>
                <a:latin typeface="Microsoft YaHei"/>
              </a:rPr>
              <a:t>今天的关键词：好奇  ·  证据  ·  解释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E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F7579"/>
                </a:solidFill>
                <a:latin typeface="Microsoft YaHei"/>
              </a:rPr>
              <a:t>04 · 从初中到高中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233038"/>
                </a:solidFill>
                <a:latin typeface="Microsoft YaHei"/>
              </a:rPr>
              <a:t>你不是“从零开始”，而是在升级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594360" cy="54864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5F6968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5F6968"/>
                </a:solidFill>
                <a:latin typeface="Microsoft YaHei"/>
              </a:rPr>
              <a:t>光谷二高 · 高一物理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233038"/>
                </a:solidFill>
                <a:latin typeface="Microsoft YaHei"/>
              </a:rPr>
              <a:t>初中积累的是直觉；高中要把直觉变成模型。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4617720" cy="269748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697480"/>
            <a:ext cx="1828800" cy="310896"/>
          </a:xfrm>
          <a:prstGeom prst="roundRect">
            <a:avLst/>
          </a:prstGeom>
          <a:solidFill>
            <a:srgbClr val="FA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724912"/>
            <a:ext cx="168249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E08541"/>
                </a:solidFill>
                <a:latin typeface="Microsoft YaHei"/>
              </a:rPr>
              <a:t>初中：先认识现象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33038"/>
                </a:solidFill>
                <a:latin typeface="Microsoft YaHei"/>
              </a:rPr>
              <a:t>·  力可以改变运动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39896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33038"/>
                </a:solidFill>
                <a:latin typeface="Microsoft YaHei"/>
              </a:rPr>
              <a:t>·  电路能让灯泡发光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33672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33038"/>
                </a:solidFill>
                <a:latin typeface="Microsoft YaHei"/>
              </a:rPr>
              <a:t>·  光会反射、折射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50992" y="3246120"/>
            <a:ext cx="914400" cy="685800"/>
          </a:xfrm>
          <a:prstGeom prst="rightArrow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12280" y="2423160"/>
            <a:ext cx="4617720" cy="269748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86600" y="2697480"/>
            <a:ext cx="1828800" cy="310896"/>
          </a:xfrm>
          <a:prstGeom prst="roundRect">
            <a:avLst/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9752" y="2724912"/>
            <a:ext cx="168249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2F7579"/>
                </a:solidFill>
                <a:latin typeface="Microsoft YaHei"/>
              </a:rPr>
              <a:t>高中：用模型解释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246120"/>
            <a:ext cx="3840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33038"/>
                </a:solidFill>
                <a:latin typeface="Microsoft YaHei"/>
              </a:rPr>
              <a:t>·  受力图 → 运动规律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39896"/>
            <a:ext cx="3840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33038"/>
                </a:solidFill>
                <a:latin typeface="Microsoft YaHei"/>
              </a:rPr>
              <a:t>·  能量观点 → 变化过程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233672"/>
            <a:ext cx="3840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33038"/>
                </a:solidFill>
                <a:latin typeface="Microsoft YaHei"/>
              </a:rPr>
              <a:t>·  图像与方程 → 定量预测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742432"/>
            <a:ext cx="106984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E08541"/>
                </a:solidFill>
                <a:latin typeface="Microsoft YaHei"/>
              </a:rPr>
              <a:t>升级不是变难，而是让你的解释更有力量。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F7579"/>
                </a:solidFill>
                <a:latin typeface="Microsoft YaHei"/>
              </a:rPr>
              <a:t>05 · 高中物理地图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233038"/>
                </a:solidFill>
                <a:latin typeface="Microsoft YaHei"/>
              </a:rPr>
              <a:t>四条主线，带你看懂更大的世界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594360" cy="54864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5F6968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5F6968"/>
                </a:solidFill>
                <a:latin typeface="Microsoft YaHei"/>
              </a:rPr>
              <a:t>光谷二高 · 高一物理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82496"/>
            <a:ext cx="9144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233038"/>
                </a:solidFill>
                <a:latin typeface="Microsoft YaHei"/>
              </a:rPr>
              <a:t>我们会从“运动”出发，走到“能量、波、电与磁”。</a:t>
            </a:r>
          </a:p>
        </p:txBody>
      </p:sp>
      <p:sp>
        <p:nvSpPr>
          <p:cNvPr id="8" name="Oval 7"/>
          <p:cNvSpPr/>
          <p:nvPr/>
        </p:nvSpPr>
        <p:spPr>
          <a:xfrm>
            <a:off x="1691640" y="2560320"/>
            <a:ext cx="1051560" cy="1051560"/>
          </a:xfrm>
          <a:prstGeom prst="ellipse">
            <a:avLst/>
          </a:prstGeom>
          <a:solidFill>
            <a:srgbClr val="2F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2862072"/>
            <a:ext cx="10515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FFFFFC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67912"/>
            <a:ext cx="2697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233038"/>
                </a:solidFill>
                <a:latin typeface="Microsoft YaHei"/>
              </a:rPr>
              <a:t>运动与力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325112"/>
            <a:ext cx="2651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5F6968"/>
                </a:solidFill>
                <a:latin typeface="Microsoft YaHei"/>
              </a:rPr>
              <a:t>位移 · 速度 · 牛顿定律</a:t>
            </a:r>
          </a:p>
        </p:txBody>
      </p:sp>
      <p:sp>
        <p:nvSpPr>
          <p:cNvPr id="12" name="Chevron 11"/>
          <p:cNvSpPr/>
          <p:nvPr/>
        </p:nvSpPr>
        <p:spPr>
          <a:xfrm>
            <a:off x="3108960" y="2916936"/>
            <a:ext cx="384048" cy="411480"/>
          </a:xfrm>
          <a:prstGeom prst="chevron">
            <a:avLst/>
          </a:prstGeom>
          <a:solidFill>
            <a:srgbClr val="BEC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07992" y="2560320"/>
            <a:ext cx="1051560" cy="1051560"/>
          </a:xfrm>
          <a:prstGeom prst="ellipse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862072"/>
            <a:ext cx="10515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FFFFFC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867912"/>
            <a:ext cx="2697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233038"/>
                </a:solidFill>
                <a:latin typeface="Microsoft YaHei"/>
              </a:rPr>
              <a:t>能量与动量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4325112"/>
            <a:ext cx="2651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5F6968"/>
                </a:solidFill>
                <a:latin typeface="Microsoft YaHei"/>
              </a:rPr>
              <a:t>功 · 功率 · 守恒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5312" y="2916936"/>
            <a:ext cx="384048" cy="411480"/>
          </a:xfrm>
          <a:prstGeom prst="chevron">
            <a:avLst/>
          </a:prstGeom>
          <a:solidFill>
            <a:srgbClr val="BEC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24344" y="2560320"/>
            <a:ext cx="1051560" cy="1051560"/>
          </a:xfrm>
          <a:prstGeom prst="ellipse">
            <a:avLst/>
          </a:prstGeom>
          <a:solidFill>
            <a:srgbClr val="EFB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24344" y="2862072"/>
            <a:ext cx="10515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FFFFFC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3867912"/>
            <a:ext cx="2697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233038"/>
                </a:solidFill>
                <a:latin typeface="Microsoft YaHei"/>
              </a:rPr>
              <a:t>波与光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4325112"/>
            <a:ext cx="2651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5F6968"/>
                </a:solidFill>
                <a:latin typeface="Microsoft YaHei"/>
              </a:rPr>
              <a:t>振动 · 声音 · 光的传播</a:t>
            </a:r>
          </a:p>
        </p:txBody>
      </p:sp>
      <p:sp>
        <p:nvSpPr>
          <p:cNvPr id="22" name="Chevron 21"/>
          <p:cNvSpPr/>
          <p:nvPr/>
        </p:nvSpPr>
        <p:spPr>
          <a:xfrm>
            <a:off x="8741664" y="2916936"/>
            <a:ext cx="384048" cy="411480"/>
          </a:xfrm>
          <a:prstGeom prst="chevron">
            <a:avLst/>
          </a:prstGeom>
          <a:solidFill>
            <a:srgbClr val="BEC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40696" y="2560320"/>
            <a:ext cx="1051560" cy="1051560"/>
          </a:xfrm>
          <a:prstGeom prst="ellipse">
            <a:avLst/>
          </a:prstGeom>
          <a:solidFill>
            <a:srgbClr val="7B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0696" y="2862072"/>
            <a:ext cx="10515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FFFFFC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867912"/>
            <a:ext cx="2697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233038"/>
                </a:solidFill>
                <a:latin typeface="Microsoft YaHei"/>
              </a:rPr>
              <a:t>电与磁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7" y="4325112"/>
            <a:ext cx="2651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5F6968"/>
                </a:solidFill>
                <a:latin typeface="Microsoft YaHei"/>
              </a:rPr>
              <a:t>电场 · 电路 · 磁场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715000"/>
            <a:ext cx="106984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2F7579"/>
                </a:solidFill>
                <a:latin typeface="Microsoft YaHei"/>
              </a:rPr>
              <a:t>每一章都在回答同一个问题：世界为什么会这样？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8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F7579"/>
                </a:solidFill>
                <a:latin typeface="Microsoft YaHei"/>
              </a:rPr>
              <a:t>06 · 学习方式升级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233038"/>
                </a:solidFill>
                <a:latin typeface="Microsoft YaHei"/>
              </a:rPr>
              <a:t>高中物理的“三个变化”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594360" cy="54864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5F6968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5F6968"/>
                </a:solidFill>
                <a:latin typeface="Microsoft YaHei"/>
              </a:rPr>
              <a:t>光谷二高 · 高一物理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79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C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92807"/>
            <a:ext cx="2743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233038"/>
                </a:solidFill>
                <a:latin typeface="Microsoft YaHei"/>
              </a:rPr>
              <a:t>从现象到模型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1920239"/>
            <a:ext cx="6309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5F6968"/>
                </a:solidFill>
                <a:latin typeface="Microsoft YaHei"/>
              </a:rPr>
              <a:t>看到“车刹停” → 画出受力图 → 找到规律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108960"/>
            <a:ext cx="548640" cy="548640"/>
          </a:xfrm>
          <a:prstGeom prst="ellipse">
            <a:avLst/>
          </a:prstGeom>
          <a:solidFill>
            <a:srgbClr val="2F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C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127248"/>
            <a:ext cx="2743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233038"/>
                </a:solidFill>
                <a:latin typeface="Microsoft YaHei"/>
              </a:rPr>
              <a:t>从一步到链条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154679"/>
            <a:ext cx="6309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5F6968"/>
                </a:solidFill>
                <a:latin typeface="Microsoft YaHei"/>
              </a:rPr>
              <a:t>读题 → 选规律 → 列关系 → 检查结果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343400"/>
            <a:ext cx="548640" cy="548640"/>
          </a:xfrm>
          <a:prstGeom prst="ellipse">
            <a:avLst/>
          </a:prstGeom>
          <a:solidFill>
            <a:srgbClr val="EFB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C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361688"/>
            <a:ext cx="2743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233038"/>
                </a:solidFill>
                <a:latin typeface="Microsoft YaHei"/>
              </a:rPr>
              <a:t>从会做 to 会解释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89120"/>
            <a:ext cx="6309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5F6968"/>
                </a:solidFill>
                <a:latin typeface="Microsoft YaHei"/>
              </a:rPr>
              <a:t>不仅写答案，还要说清“为什么这样做”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577840"/>
            <a:ext cx="10058400" cy="621792"/>
          </a:xfrm>
          <a:prstGeom prst="rect">
            <a:avLst/>
          </a:prstGeom>
          <a:solidFill>
            <a:srgbClr val="2F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733288"/>
            <a:ext cx="969264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FFFFFC"/>
                </a:solidFill>
                <a:latin typeface="Microsoft YaHei"/>
              </a:rPr>
              <a:t>不会很正常；愿意把“不会”拆成一个个小问题，就会越来越会。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F7579"/>
                </a:solidFill>
                <a:latin typeface="Microsoft YaHei"/>
              </a:rPr>
              <a:t>07 · 现在就试试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233038"/>
                </a:solidFill>
                <a:latin typeface="Microsoft YaHei"/>
              </a:rPr>
              <a:t>小挑战：球为什么会落下？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594360" cy="54864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5F6968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5F6968"/>
                </a:solidFill>
                <a:latin typeface="Microsoft YaHei"/>
              </a:rPr>
              <a:t>光谷二高 · 高一物理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8961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233038"/>
                </a:solidFill>
                <a:latin typeface="Microsoft YaHei"/>
              </a:rPr>
              <a:t>先别急着背“重力”，请你用一句话描述看到的现象。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95728"/>
            <a:ext cx="4709160" cy="269748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1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596896"/>
            <a:ext cx="1691640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07792" y="2816352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2F7579"/>
                </a:solidFill>
                <a:latin typeface="Microsoft YaHei"/>
              </a:rPr>
              <a:t>你观察到：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3218688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233038"/>
                </a:solidFill>
                <a:latin typeface="Microsoft YaHei"/>
              </a:rPr>
              <a:t>球离开手后
位置越来越低
最后停在地面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60604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233038"/>
                </a:solidFill>
                <a:latin typeface="Microsoft YaHei"/>
              </a:rPr>
              <a:t>下一步，你会选哪一个模型？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246120"/>
            <a:ext cx="4846320" cy="50292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99632" y="3337560"/>
            <a:ext cx="320040" cy="320040"/>
          </a:xfrm>
          <a:prstGeom prst="ellipse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3410712"/>
            <a:ext cx="32004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FFFFFC"/>
                </a:solidFill>
                <a:latin typeface="Microsoft YaHe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355848"/>
            <a:ext cx="374903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3038"/>
                </a:solidFill>
                <a:latin typeface="Microsoft YaHei"/>
              </a:rPr>
              <a:t>有一个向下的作用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931920"/>
            <a:ext cx="4846320" cy="50292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99632" y="4023359"/>
            <a:ext cx="320040" cy="320040"/>
          </a:xfrm>
          <a:prstGeom prst="ellipse">
            <a:avLst/>
          </a:prstGeom>
          <a:solidFill>
            <a:srgbClr val="91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4096511"/>
            <a:ext cx="32004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FFFFFC"/>
                </a:solidFill>
                <a:latin typeface="Microsoft YaHe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041648"/>
            <a:ext cx="374903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3038"/>
                </a:solidFill>
                <a:latin typeface="Microsoft YaHei"/>
              </a:rPr>
              <a:t>球自己想往下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4617720"/>
            <a:ext cx="4846320" cy="50292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99632" y="4709159"/>
            <a:ext cx="320040" cy="320040"/>
          </a:xfrm>
          <a:prstGeom prst="ellipse">
            <a:avLst/>
          </a:prstGeom>
          <a:solidFill>
            <a:srgbClr val="2F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4782312"/>
            <a:ext cx="32004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FFFFFC"/>
                </a:solidFill>
                <a:latin typeface="Microsoft YaHe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727448"/>
            <a:ext cx="374903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3038"/>
                </a:solidFill>
                <a:latin typeface="Microsoft YaHei"/>
              </a:rPr>
              <a:t>先观察，再用证据判断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715000"/>
            <a:ext cx="106984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E08541"/>
                </a:solidFill>
                <a:latin typeface="Microsoft YaHei"/>
              </a:rPr>
              <a:t>物理的第一步：把“我觉得”变成“我观察到”。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E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F7579"/>
                </a:solidFill>
                <a:latin typeface="Microsoft YaHei"/>
              </a:rPr>
              <a:t>08 · 做题不迷路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233038"/>
                </a:solidFill>
                <a:latin typeface="Microsoft YaHei"/>
              </a:rPr>
              <a:t>物理四步法：每一步都能拿分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594360" cy="54864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5F6968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5F6968"/>
                </a:solidFill>
                <a:latin typeface="Microsoft YaHei"/>
              </a:rPr>
              <a:t>光谷二高 · 高一物理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2514600" cy="297180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63624" y="2615184"/>
            <a:ext cx="868680" cy="868680"/>
          </a:xfrm>
          <a:prstGeom prst="ellipse">
            <a:avLst/>
          </a:prstGeom>
          <a:solidFill>
            <a:srgbClr val="2F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63624" y="2852928"/>
            <a:ext cx="868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 i="0">
                <a:solidFill>
                  <a:srgbClr val="FFFFFC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30752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233038"/>
                </a:solidFill>
                <a:latin typeface="Microsoft YaHei"/>
              </a:rPr>
              <a:t>读题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4224528"/>
            <a:ext cx="19202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5F6968"/>
                </a:solidFill>
                <a:latin typeface="Microsoft YaHei"/>
              </a:rPr>
              <a:t>圈出对象、条件、所求</a:t>
            </a:r>
          </a:p>
        </p:txBody>
      </p:sp>
      <p:sp>
        <p:nvSpPr>
          <p:cNvPr id="12" name="Chevron 11"/>
          <p:cNvSpPr/>
          <p:nvPr/>
        </p:nvSpPr>
        <p:spPr>
          <a:xfrm>
            <a:off x="3291839" y="3364992"/>
            <a:ext cx="274320" cy="365760"/>
          </a:xfrm>
          <a:prstGeom prst="chevron">
            <a:avLst/>
          </a:prstGeom>
          <a:solidFill>
            <a:srgbClr val="BEC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84448" y="2240280"/>
            <a:ext cx="2514600" cy="297180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8264" y="2615184"/>
            <a:ext cx="868680" cy="868680"/>
          </a:xfrm>
          <a:prstGeom prst="ellipse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2852928"/>
            <a:ext cx="868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 i="0">
                <a:solidFill>
                  <a:srgbClr val="FFFFFC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730752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233038"/>
                </a:solidFill>
                <a:latin typeface="Microsoft YaHei"/>
              </a:rPr>
              <a:t>画图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4224528"/>
            <a:ext cx="19202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5F6968"/>
                </a:solidFill>
                <a:latin typeface="Microsoft YaHei"/>
              </a:rPr>
              <a:t>受力图 / 过程图 / 坐标轴</a:t>
            </a:r>
          </a:p>
        </p:txBody>
      </p:sp>
      <p:sp>
        <p:nvSpPr>
          <p:cNvPr id="18" name="Chevron 17"/>
          <p:cNvSpPr/>
          <p:nvPr/>
        </p:nvSpPr>
        <p:spPr>
          <a:xfrm>
            <a:off x="6126479" y="3364992"/>
            <a:ext cx="274320" cy="365760"/>
          </a:xfrm>
          <a:prstGeom prst="chevron">
            <a:avLst/>
          </a:prstGeom>
          <a:solidFill>
            <a:srgbClr val="BEC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9088" y="2240280"/>
            <a:ext cx="2514600" cy="297180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32904" y="2615184"/>
            <a:ext cx="868680" cy="868680"/>
          </a:xfrm>
          <a:prstGeom prst="ellipse">
            <a:avLst/>
          </a:prstGeom>
          <a:solidFill>
            <a:srgbClr val="EFB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2904" y="2852928"/>
            <a:ext cx="868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 i="0">
                <a:solidFill>
                  <a:srgbClr val="FFFFFC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730752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233038"/>
                </a:solidFill>
                <a:latin typeface="Microsoft YaHei"/>
              </a:rPr>
              <a:t>建模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1696" y="4224528"/>
            <a:ext cx="19202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5F6968"/>
                </a:solidFill>
                <a:latin typeface="Microsoft YaHei"/>
              </a:rPr>
              <a:t>选规律，写出关系式</a:t>
            </a:r>
          </a:p>
        </p:txBody>
      </p:sp>
      <p:sp>
        <p:nvSpPr>
          <p:cNvPr id="24" name="Chevron 23"/>
          <p:cNvSpPr/>
          <p:nvPr/>
        </p:nvSpPr>
        <p:spPr>
          <a:xfrm>
            <a:off x="8961120" y="3364992"/>
            <a:ext cx="274320" cy="365760"/>
          </a:xfrm>
          <a:prstGeom prst="chevron">
            <a:avLst/>
          </a:prstGeom>
          <a:solidFill>
            <a:srgbClr val="BEC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53728" y="2240280"/>
            <a:ext cx="2514600" cy="297180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67544" y="2615184"/>
            <a:ext cx="868680" cy="868680"/>
          </a:xfrm>
          <a:prstGeom prst="ellipse">
            <a:avLst/>
          </a:prstGeom>
          <a:solidFill>
            <a:srgbClr val="7B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67544" y="2852928"/>
            <a:ext cx="868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 i="0">
                <a:solidFill>
                  <a:srgbClr val="FFFFFC"/>
                </a:solidFill>
                <a:latin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730752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233038"/>
                </a:solidFill>
                <a:latin typeface="Microsoft YaHei"/>
              </a:rPr>
              <a:t>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4224528"/>
            <a:ext cx="19202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5F6968"/>
                </a:solidFill>
                <a:latin typeface="Microsoft YaHei"/>
              </a:rPr>
              <a:t>单位、方向、数量级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779008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2F7579"/>
                </a:solidFill>
                <a:latin typeface="Microsoft YaHei"/>
              </a:rPr>
              <a:t>先把流程做对，再把速度做快。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F7579"/>
                </a:solidFill>
                <a:latin typeface="Microsoft YaHei"/>
              </a:rPr>
              <a:t>09 · 记笔记有方法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233038"/>
                </a:solidFill>
                <a:latin typeface="Microsoft YaHei"/>
              </a:rPr>
              <a:t>康奈尔笔记：让“听懂”留下来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594360" cy="54864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5F6968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5F6968"/>
                </a:solidFill>
                <a:latin typeface="Microsoft YaHei"/>
              </a:rPr>
              <a:t>光谷二高 · 高一物理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6492240" cy="4041648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148840"/>
            <a:ext cx="6035040" cy="566928"/>
          </a:xfrm>
          <a:prstGeom prst="rect">
            <a:avLst/>
          </a:prstGeom>
          <a:solidFill>
            <a:srgbClr val="E0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313432"/>
            <a:ext cx="5577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2F7579"/>
                </a:solidFill>
                <a:latin typeface="Microsoft YaHei"/>
              </a:rPr>
              <a:t>主题：速度与位移的区别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852928"/>
            <a:ext cx="1828800" cy="2212848"/>
          </a:xfrm>
          <a:prstGeom prst="rect">
            <a:avLst/>
          </a:prstGeom>
          <a:solidFill>
            <a:srgbClr val="FA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63240"/>
            <a:ext cx="146304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E08541"/>
                </a:solidFill>
                <a:latin typeface="Microsoft YaHei"/>
              </a:rPr>
              <a:t>关键词
速度？
位移？
方向？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9504" y="2852928"/>
            <a:ext cx="4151376" cy="2212848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063240"/>
            <a:ext cx="3703320" cy="1627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3038"/>
                </a:solidFill>
                <a:latin typeface="Microsoft YaHei"/>
              </a:rPr>
              <a:t>课堂记录
例：跑一圈回到原点，路程不为零，位移可能为零。
我的疑问：为什么？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103120"/>
            <a:ext cx="29260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233038"/>
                </a:solidFill>
                <a:latin typeface="Microsoft YaHei"/>
              </a:rPr>
              <a:t>课后 1 分钟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761488"/>
            <a:ext cx="384048" cy="384048"/>
          </a:xfrm>
          <a:prstGeom prst="ellipse">
            <a:avLst/>
          </a:prstGeom>
          <a:solidFill>
            <a:srgbClr val="2F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843784"/>
            <a:ext cx="38404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FFFFFC"/>
                </a:solidFill>
                <a:latin typeface="Microsoft YaHe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798064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33038"/>
                </a:solidFill>
                <a:latin typeface="Microsoft YaHei"/>
              </a:rPr>
              <a:t>合上书复述一句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566160"/>
            <a:ext cx="384048" cy="384048"/>
          </a:xfrm>
          <a:prstGeom prst="ellipse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648456"/>
            <a:ext cx="38404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FFFFFC"/>
                </a:solidFill>
                <a:latin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602736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33038"/>
                </a:solidFill>
                <a:latin typeface="Microsoft YaHei"/>
              </a:rPr>
              <a:t>写下一个疑问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370832"/>
            <a:ext cx="384048" cy="384048"/>
          </a:xfrm>
          <a:prstGeom prst="ellipse">
            <a:avLst/>
          </a:prstGeom>
          <a:solidFill>
            <a:srgbClr val="EFB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453128"/>
            <a:ext cx="38404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FFFFFC"/>
                </a:solidFill>
                <a:latin typeface="Microsoft YaHe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4407408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33038"/>
                </a:solidFill>
                <a:latin typeface="Microsoft YaHei"/>
              </a:rPr>
              <a:t>标记一个易错点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F7579"/>
                </a:solidFill>
                <a:latin typeface="Microsoft YaHei"/>
              </a:rPr>
              <a:t>10 · 一周一小步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233038"/>
                </a:solidFill>
                <a:latin typeface="Microsoft YaHei"/>
              </a:rPr>
              <a:t>预习—听课—复习：把努力放在关键处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594360" cy="54864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5F6968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5F6968"/>
                </a:solidFill>
                <a:latin typeface="Microsoft YaHei"/>
              </a:rPr>
              <a:t>光谷二高 · 高一物理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74519"/>
            <a:ext cx="10378440" cy="841248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74519"/>
            <a:ext cx="146304" cy="841248"/>
          </a:xfrm>
          <a:prstGeom prst="rect">
            <a:avLst/>
          </a:prstGeom>
          <a:solidFill>
            <a:srgbClr val="2F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039112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233038"/>
                </a:solidFill>
                <a:latin typeface="Microsoft YaHei"/>
              </a:rPr>
              <a:t>课前 5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057400"/>
            <a:ext cx="6903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5F6968"/>
                </a:solidFill>
                <a:latin typeface="Microsoft YaHei"/>
              </a:rPr>
              <a:t>看标题、看图、写下一个“我想知道”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008376"/>
            <a:ext cx="10378440" cy="841248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3008376"/>
            <a:ext cx="146304" cy="841248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172968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233038"/>
                </a:solidFill>
                <a:latin typeface="Microsoft YaHei"/>
              </a:rPr>
              <a:t>课上 45 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191256"/>
            <a:ext cx="6903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5F6968"/>
                </a:solidFill>
                <a:latin typeface="Microsoft YaHei"/>
              </a:rPr>
              <a:t>眼睛看过程，手写关键，嘴巴说理由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142231"/>
            <a:ext cx="10378440" cy="841248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4142231"/>
            <a:ext cx="146304" cy="841248"/>
          </a:xfrm>
          <a:prstGeom prst="rect">
            <a:avLst/>
          </a:prstGeom>
          <a:solidFill>
            <a:srgbClr val="EFB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306823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233038"/>
                </a:solidFill>
                <a:latin typeface="Microsoft YaHei"/>
              </a:rPr>
              <a:t>课后 10 分钟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325112"/>
            <a:ext cx="6903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5F6968"/>
                </a:solidFill>
                <a:latin typeface="Microsoft YaHei"/>
              </a:rPr>
              <a:t>复述今天一个概念，订正一道题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705856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 i="0">
                <a:solidFill>
                  <a:srgbClr val="E08541"/>
                </a:solidFill>
                <a:latin typeface="Microsoft YaHei"/>
              </a:rPr>
              <a:t>不追求一次全会，追求每次都比上次多懂一点。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8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F7579"/>
                </a:solidFill>
                <a:latin typeface="Microsoft YaHei"/>
              </a:rPr>
              <a:t>11 · 高一上学期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233038"/>
                </a:solidFill>
                <a:latin typeface="Microsoft YaHei"/>
              </a:rPr>
              <a:t>我们的任务：先把“底盘”装稳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594360" cy="54864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5F6968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5F6968"/>
                </a:solidFill>
                <a:latin typeface="Microsoft YaHei"/>
              </a:rPr>
              <a:t>光谷二高 · 高一物理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65960"/>
            <a:ext cx="4983480" cy="128016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5" y="2313432"/>
            <a:ext cx="566928" cy="566928"/>
          </a:xfrm>
          <a:prstGeom prst="ellipse">
            <a:avLst/>
          </a:prstGeom>
          <a:solidFill>
            <a:srgbClr val="2F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2468880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21991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233038"/>
                </a:solidFill>
                <a:latin typeface="Microsoft YaHei"/>
              </a:rPr>
              <a:t>思维转变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24328"/>
            <a:ext cx="35661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F6968"/>
                </a:solidFill>
                <a:latin typeface="Microsoft YaHei"/>
              </a:rPr>
              <a:t>从“等老师讲”到“我先试试看”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965960"/>
            <a:ext cx="4983480" cy="128016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74536" y="2313432"/>
            <a:ext cx="566928" cy="566928"/>
          </a:xfrm>
          <a:prstGeom prst="ellipse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2468880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221991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233038"/>
                </a:solidFill>
                <a:latin typeface="Microsoft YaHei"/>
              </a:rPr>
              <a:t>数学工具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624328"/>
            <a:ext cx="35661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F6968"/>
                </a:solidFill>
                <a:latin typeface="Microsoft YaHei"/>
              </a:rPr>
              <a:t>代数、比例、图像：够用就好，边学边补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03320"/>
            <a:ext cx="4983480" cy="128016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415" y="4050791"/>
            <a:ext cx="566928" cy="566928"/>
          </a:xfrm>
          <a:prstGeom prst="ellipse">
            <a:avLst/>
          </a:prstGeom>
          <a:solidFill>
            <a:srgbClr val="EFB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4206240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9593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233038"/>
                </a:solidFill>
                <a:latin typeface="Microsoft YaHei"/>
              </a:rPr>
              <a:t>兴趣养成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361688"/>
            <a:ext cx="35661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F6968"/>
                </a:solidFill>
                <a:latin typeface="Microsoft YaHei"/>
              </a:rPr>
              <a:t>每周留一个问题，去生活里找答案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3703320"/>
            <a:ext cx="4983480" cy="128016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74536" y="4050791"/>
            <a:ext cx="566928" cy="566928"/>
          </a:xfrm>
          <a:prstGeom prst="ellipse">
            <a:avLst/>
          </a:prstGeom>
          <a:solidFill>
            <a:srgbClr val="7B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4206240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9593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233038"/>
                </a:solidFill>
                <a:latin typeface="Microsoft YaHei"/>
              </a:rPr>
              <a:t>习惯成形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361688"/>
            <a:ext cx="35661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F6968"/>
                </a:solidFill>
                <a:latin typeface="Microsoft YaHei"/>
              </a:rPr>
              <a:t>笔记、作业、订正：做成可重复的流程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797296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2F7579"/>
                </a:solidFill>
                <a:latin typeface="Microsoft YaHei"/>
              </a:rPr>
              <a:t>基础一般并不等于上限低；方法对了，进步会很快。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F7579"/>
                </a:solidFill>
                <a:latin typeface="Microsoft YaHei"/>
              </a:rPr>
              <a:t>12 · 我们的约定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233038"/>
                </a:solidFill>
                <a:latin typeface="Microsoft YaHei"/>
              </a:rPr>
              <a:t>一起把课堂变成“敢于试错”的地方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594360" cy="54864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5F6968"/>
                </a:solidFill>
                <a:latin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5F6968"/>
                </a:solidFill>
                <a:latin typeface="Microsoft YaHei"/>
              </a:rPr>
              <a:t>光谷二高 · 高一物理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1874519"/>
            <a:ext cx="393192" cy="393192"/>
          </a:xfrm>
          <a:prstGeom prst="ellipse">
            <a:avLst/>
          </a:prstGeom>
          <a:solidFill>
            <a:srgbClr val="2F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393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Microsoft Ya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92807"/>
            <a:ext cx="9326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FFFFFC"/>
                </a:solidFill>
                <a:latin typeface="Microsoft YaHei"/>
              </a:rPr>
              <a:t>敢提问：问题越具体，进步越快。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542032"/>
            <a:ext cx="393192" cy="393192"/>
          </a:xfrm>
          <a:prstGeom prst="ellipse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3472"/>
            <a:ext cx="393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Microsoft Ya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560320"/>
            <a:ext cx="9326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FFFFFC"/>
                </a:solidFill>
                <a:latin typeface="Microsoft YaHei"/>
              </a:rPr>
              <a:t>先思考：给自己 30 秒，再看答案。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209544"/>
            <a:ext cx="393192" cy="393192"/>
          </a:xfrm>
          <a:prstGeom prst="ellipse">
            <a:avLst/>
          </a:prstGeom>
          <a:solidFill>
            <a:srgbClr val="EFB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00984"/>
            <a:ext cx="393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227832"/>
            <a:ext cx="9326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FFFFFC"/>
                </a:solidFill>
                <a:latin typeface="Microsoft YaHei"/>
              </a:rPr>
              <a:t>做完整：概念、图像、计算都不跳步。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877056"/>
            <a:ext cx="393192" cy="393192"/>
          </a:xfrm>
          <a:prstGeom prst="ellipse">
            <a:avLst/>
          </a:prstGeom>
          <a:solidFill>
            <a:srgbClr val="7B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68496"/>
            <a:ext cx="393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895344"/>
            <a:ext cx="9326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FFFFFC"/>
                </a:solidFill>
                <a:latin typeface="Microsoft YaHei"/>
              </a:rPr>
              <a:t>能复盘：错题不是标签，是下一次的提示。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544568"/>
            <a:ext cx="393192" cy="393192"/>
          </a:xfrm>
          <a:prstGeom prst="ellipse">
            <a:avLst/>
          </a:prstGeom>
          <a:solidFill>
            <a:srgbClr val="2F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636007"/>
            <a:ext cx="393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Microsoft Ya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562855"/>
            <a:ext cx="9326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FFFFFC"/>
                </a:solidFill>
                <a:latin typeface="Microsoft YaHei"/>
              </a:rPr>
              <a:t>会调节：稳定的节奏，比偶尔的爆发更可靠。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5650992"/>
            <a:ext cx="10424160" cy="685800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843016"/>
            <a:ext cx="9966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>
                <a:solidFill>
                  <a:srgbClr val="FFFFFC"/>
                </a:solidFill>
                <a:latin typeface="Microsoft YaHei"/>
              </a:rPr>
              <a:t>把每一次弄懂，变成下一次自信。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F7579"/>
                </a:solidFill>
                <a:latin typeface="Microsoft YaHei"/>
              </a:rPr>
              <a:t>13 · 下课前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233038"/>
                </a:solidFill>
                <a:latin typeface="Microsoft YaHei"/>
              </a:rPr>
              <a:t>带走一个问题，也带走一点信心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594360" cy="54864"/>
          </a:xfrm>
          <a:prstGeom prst="rect">
            <a:avLst/>
          </a:prstGeom>
          <a:solidFill>
            <a:srgbClr val="E08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5F6968"/>
                </a:solidFill>
                <a:latin typeface="Microsoft Ya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5F6968"/>
                </a:solidFill>
                <a:latin typeface="Microsoft YaHei"/>
              </a:rPr>
              <a:t>光谷二高 · 高一物理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233038"/>
                </a:solidFill>
                <a:latin typeface="Microsoft YaHei"/>
              </a:rPr>
              <a:t>请在纸上写下：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4160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2F7579"/>
                </a:solidFill>
                <a:latin typeface="Microsoft YaHei"/>
              </a:rPr>
              <a:t>我今天发现的一个物理现象：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57860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5F6968"/>
                </a:solidFill>
                <a:latin typeface="Microsoft YaHei"/>
              </a:rPr>
              <a:t>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11296"/>
            <a:ext cx="4160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2F7579"/>
                </a:solidFill>
                <a:latin typeface="Microsoft YaHei"/>
              </a:rPr>
              <a:t>我最想弄懂的一个问题：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511296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5F6968"/>
                </a:solidFill>
                <a:latin typeface="Microsoft YaHei"/>
              </a:rPr>
              <a:t>______________________________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43983"/>
            <a:ext cx="4160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2F7579"/>
                </a:solidFill>
                <a:latin typeface="Microsoft YaHei"/>
              </a:rPr>
              <a:t>我愿意坚持的一件小事：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4443983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5F6968"/>
                </a:solidFill>
                <a:latin typeface="Microsoft YaHei"/>
              </a:rPr>
              <a:t>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87568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100" b="1" i="0">
                <a:solidFill>
                  <a:srgbClr val="E08541"/>
                </a:solidFill>
                <a:latin typeface="Microsoft YaHei"/>
              </a:rPr>
              <a:t>物理很大，但我们从一个问题开始。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开学第一课｜物理，从“我能做到”开始</dc:title>
  <dc:subject>高一物理开学第一课</dc:subject>
  <dc:creator>刘老师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