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6"/>
          </a:solidFill>
          <a:ln>
            <a:solidFill>
              <a:srgbClr val="09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914400"/>
            <a:ext cx="2286000" cy="2286000"/>
          </a:xfrm>
          <a:prstGeom prst="ellipse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2011680"/>
            <a:ext cx="1097280" cy="1097280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79" y="3840480"/>
            <a:ext cx="914400" cy="914400"/>
          </a:xfrm>
          <a:prstGeom prst="ellipse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6400800" y="1463040"/>
            <a:ext cx="4572000" cy="3840480"/>
          </a:xfrm>
          <a:prstGeom prst="line">
            <a:avLst/>
          </a:prstGeom>
          <a:ln w="20320">
            <a:solidFill>
              <a:srgbClr val="416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583680" y="2743200"/>
            <a:ext cx="4663440" cy="2834640"/>
          </a:xfrm>
          <a:prstGeom prst="line">
            <a:avLst/>
          </a:prstGeom>
          <a:ln w="20320">
            <a:solidFill>
              <a:srgbClr val="416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5120640"/>
            <a:ext cx="3383280" cy="91440"/>
          </a:xfrm>
          <a:prstGeom prst="line">
            <a:avLst/>
          </a:prstGeom>
          <a:ln w="20320">
            <a:solidFill>
              <a:srgbClr val="416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932688"/>
            <a:ext cx="6217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200" b="1">
                <a:solidFill>
                  <a:srgbClr val="F8FBFD"/>
                </a:solidFill>
                <a:latin typeface="Microsoft YaHei"/>
              </a:rPr>
              <a:t>开学第一课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62179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26C5DC"/>
                </a:solidFill>
                <a:latin typeface="Microsoft YaHei"/>
              </a:rPr>
              <a:t>从“我不会物理”
到“我能解释现象”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6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ED5E0"/>
                </a:solidFill>
                <a:latin typeface="Microsoft YaHei"/>
              </a:rPr>
              <a:t>高一新生 · 40分钟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17720"/>
            <a:ext cx="5943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8FBFD"/>
                </a:solidFill>
                <a:latin typeface="Microsoft YaHei"/>
              </a:rPr>
              <a:t>看清现象  ·  说出理由  ·  写完整过程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DB7C6"/>
                </a:solidFill>
                <a:latin typeface="Microsoft YaHei"/>
              </a:rPr>
              <a:t>刘老师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先认识彼此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三条课堂约定，让“不会”成为起点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02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22960" y="1901952"/>
            <a:ext cx="228600" cy="228600"/>
          </a:xfrm>
          <a:prstGeom prst="ellipse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182880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允许不会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139696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不会是起点，不是结论。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136392"/>
            <a:ext cx="228600" cy="228600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06324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先想再问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374136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先说现象、办法，再说卡点。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370832"/>
            <a:ext cx="228600" cy="228600"/>
          </a:xfrm>
          <a:prstGeom prst="ellipse">
            <a:avLst/>
          </a:prstGeom>
          <a:solidFill>
            <a:srgbClr val="87CAAB"/>
          </a:solidFill>
          <a:ln>
            <a:solidFill>
              <a:srgbClr val="87C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29768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用证据说话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608576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答案要有依据、过程和单位。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83080"/>
            <a:ext cx="4754880" cy="34747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2103120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91426"/>
                </a:solidFill>
                <a:latin typeface="Microsoft YaHei"/>
              </a:rPr>
              <a:t>今天请写下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0" y="2788920"/>
            <a:ext cx="274320" cy="274320"/>
          </a:xfrm>
          <a:prstGeom prst="ellipse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274320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8273E"/>
                </a:solidFill>
                <a:latin typeface="Microsoft YaHei"/>
              </a:rPr>
              <a:t>姓名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0" y="3474720"/>
            <a:ext cx="274320" cy="274320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342900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8273E"/>
                </a:solidFill>
                <a:latin typeface="Microsoft YaHei"/>
              </a:rPr>
              <a:t>初中最熟悉的内容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4160520"/>
            <a:ext cx="274320" cy="274320"/>
          </a:xfrm>
          <a:prstGeom prst="ellipse">
            <a:avLst/>
          </a:prstGeom>
          <a:solidFill>
            <a:srgbClr val="87CAAB"/>
          </a:solidFill>
          <a:ln>
            <a:solidFill>
              <a:srgbClr val="87C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11480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8273E"/>
                </a:solidFill>
                <a:latin typeface="Microsoft YaHei"/>
              </a:rPr>
              <a:t>对高中物理最担心的事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高中物理 · 光谷二高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破冰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物理，藏在每一个“为什么”里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03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874519"/>
            <a:ext cx="3246120" cy="34747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1" y="2148840"/>
            <a:ext cx="685800" cy="685800"/>
          </a:xfrm>
          <a:prstGeom prst="ellipse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67128"/>
            <a:ext cx="685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91426"/>
                </a:solidFill>
                <a:latin typeface="Microsoft YaHei"/>
              </a:rPr>
              <a:t>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063240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8273E"/>
                </a:solidFill>
                <a:latin typeface="Microsoft YaHei"/>
              </a:rPr>
              <a:t>启动 / 刹车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611880"/>
            <a:ext cx="2651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677A94"/>
                </a:solidFill>
                <a:latin typeface="Microsoft YaHei"/>
              </a:rPr>
              <a:t>人为什么会前仰后仰？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73659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6C5DC"/>
                </a:solidFill>
                <a:latin typeface="Microsoft YaHei"/>
              </a:rPr>
              <a:t>先提出问题，不急着回答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44568" y="1874519"/>
            <a:ext cx="3246120" cy="3474720"/>
          </a:xfrm>
          <a:prstGeom prst="roundRect">
            <a:avLst>
              <a:gd name="adj" fmla="val 12000"/>
            </a:avLst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00600" y="2148840"/>
            <a:ext cx="685800" cy="685800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167128"/>
            <a:ext cx="685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91426"/>
                </a:solidFill>
                <a:latin typeface="Microsoft YaHe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063240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8273E"/>
                </a:solidFill>
                <a:latin typeface="Microsoft YaHei"/>
              </a:rPr>
              <a:t>滚动距离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611880"/>
            <a:ext cx="2651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677A94"/>
                </a:solidFill>
                <a:latin typeface="Microsoft YaHei"/>
              </a:rPr>
              <a:t>地板和草地，哪里停得更快？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73659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C247"/>
                </a:solidFill>
                <a:latin typeface="Microsoft YaHei"/>
              </a:rPr>
              <a:t>先提出问题，不急着回答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11896" y="1874519"/>
            <a:ext cx="3246120" cy="3474720"/>
          </a:xfrm>
          <a:prstGeom prst="roundRect">
            <a:avLst>
              <a:gd name="adj" fmla="val 12000"/>
            </a:avLst>
          </a:prstGeom>
          <a:solidFill>
            <a:srgbClr val="E5F7F0"/>
          </a:solidFill>
          <a:ln>
            <a:solidFill>
              <a:srgbClr val="E5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67928" y="2148840"/>
            <a:ext cx="685800" cy="685800"/>
          </a:xfrm>
          <a:prstGeom prst="ellipse">
            <a:avLst/>
          </a:prstGeom>
          <a:solidFill>
            <a:srgbClr val="87CAAB"/>
          </a:solidFill>
          <a:ln>
            <a:solidFill>
              <a:srgbClr val="87C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67928" y="2167128"/>
            <a:ext cx="685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91426"/>
                </a:solidFill>
                <a:latin typeface="Microsoft YaHei"/>
              </a:rPr>
              <a:t>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3063240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8273E"/>
                </a:solidFill>
                <a:latin typeface="Microsoft YaHei"/>
              </a:rPr>
              <a:t>手机数据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3611880"/>
            <a:ext cx="2651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677A94"/>
                </a:solidFill>
                <a:latin typeface="Microsoft YaHei"/>
              </a:rPr>
              <a:t>“加速度”“功率”是什么意思？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473659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7CAAB"/>
                </a:solidFill>
                <a:latin typeface="Microsoft YaHei"/>
              </a:rPr>
              <a:t>先提出问题，不急着回答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高中物理 · 从现象开始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6"/>
          </a:solidFill>
          <a:ln>
            <a:solidFill>
              <a:srgbClr val="09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学习路线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8FBFD"/>
                </a:solidFill>
                <a:latin typeface="Microsoft YaHei"/>
              </a:rPr>
              <a:t>物理学习 = 一条可重复的路线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7D3DE"/>
                </a:solidFill>
                <a:latin typeface="Microsoft YaHei"/>
              </a:rPr>
              <a:t>每一步都能留下证据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96B6C5"/>
                </a:solidFill>
                <a:latin typeface="Microsoft YaHei"/>
              </a:rPr>
              <a:t>04  /  开学第一课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743200"/>
            <a:ext cx="822960" cy="822960"/>
          </a:xfrm>
          <a:prstGeom prst="ellipse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89504"/>
            <a:ext cx="822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91426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37947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D"/>
                </a:solidFill>
                <a:latin typeface="Microsoft YaHei"/>
              </a:rPr>
              <a:t>观察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" y="416052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1CCD9"/>
                </a:solidFill>
                <a:latin typeface="Microsoft YaHei"/>
              </a:rPr>
              <a:t>看到什么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45919" y="3154680"/>
            <a:ext cx="886969" cy="0"/>
          </a:xfrm>
          <a:prstGeom prst="line">
            <a:avLst/>
          </a:prstGeom>
          <a:ln w="25400">
            <a:solidFill>
              <a:srgbClr val="5D8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651760" y="2743200"/>
            <a:ext cx="822960" cy="822960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889504"/>
            <a:ext cx="822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9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37947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D"/>
                </a:solidFill>
                <a:latin typeface="Microsoft YaHei"/>
              </a:rPr>
              <a:t>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79" y="416052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1CCD9"/>
                </a:solidFill>
                <a:latin typeface="Microsoft YaHei"/>
              </a:rPr>
              <a:t>想知道什么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20439" y="3154680"/>
            <a:ext cx="886969" cy="0"/>
          </a:xfrm>
          <a:prstGeom prst="line">
            <a:avLst/>
          </a:prstGeom>
          <a:ln w="25400">
            <a:solidFill>
              <a:srgbClr val="5D8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526279" y="2743200"/>
            <a:ext cx="822960" cy="822960"/>
          </a:xfrm>
          <a:prstGeom prst="ellipse">
            <a:avLst/>
          </a:prstGeom>
          <a:solidFill>
            <a:srgbClr val="A0D8B8"/>
          </a:solidFill>
          <a:ln>
            <a:solidFill>
              <a:srgbClr val="A0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2889504"/>
            <a:ext cx="822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91426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37947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D"/>
                </a:solidFill>
                <a:latin typeface="Microsoft YaHei"/>
              </a:rPr>
              <a:t>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9" y="416052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1CCD9"/>
                </a:solidFill>
                <a:latin typeface="Microsoft YaHei"/>
              </a:rPr>
              <a:t>先忽略什么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94959" y="3154680"/>
            <a:ext cx="886968" cy="0"/>
          </a:xfrm>
          <a:prstGeom prst="line">
            <a:avLst/>
          </a:prstGeom>
          <a:ln w="25400">
            <a:solidFill>
              <a:srgbClr val="5D8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00799" y="2743200"/>
            <a:ext cx="822960" cy="822960"/>
          </a:xfrm>
          <a:prstGeom prst="ellipse">
            <a:avLst/>
          </a:prstGeom>
          <a:solidFill>
            <a:srgbClr val="BEAAEB"/>
          </a:solidFill>
          <a:ln>
            <a:solidFill>
              <a:srgbClr val="BE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2889504"/>
            <a:ext cx="822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91426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19" y="37947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D"/>
                </a:solidFill>
                <a:latin typeface="Microsoft YaHei"/>
              </a:rPr>
              <a:t>规律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19" y="416052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1CCD9"/>
                </a:solidFill>
                <a:latin typeface="Microsoft YaHei"/>
              </a:rPr>
              <a:t>关系是什么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69479" y="3154680"/>
            <a:ext cx="886968" cy="0"/>
          </a:xfrm>
          <a:prstGeom prst="line">
            <a:avLst/>
          </a:prstGeom>
          <a:ln w="25400">
            <a:solidFill>
              <a:srgbClr val="5D8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275319" y="2743200"/>
            <a:ext cx="822960" cy="822960"/>
          </a:xfrm>
          <a:prstGeom prst="ellipse">
            <a:avLst/>
          </a:prstGeom>
          <a:solidFill>
            <a:srgbClr val="FF9F7B"/>
          </a:solidFill>
          <a:ln>
            <a:solidFill>
              <a:srgbClr val="FF9F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2889504"/>
            <a:ext cx="822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91426"/>
                </a:solidFill>
                <a:latin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7947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D"/>
                </a:solidFill>
                <a:latin typeface="Microsoft YaHei"/>
              </a:rPr>
              <a:t>证据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16052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1CCD9"/>
                </a:solidFill>
                <a:latin typeface="Microsoft YaHei"/>
              </a:rPr>
              <a:t>如何检验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3999" y="3154680"/>
            <a:ext cx="886968" cy="0"/>
          </a:xfrm>
          <a:prstGeom prst="line">
            <a:avLst/>
          </a:prstGeom>
          <a:ln w="25400">
            <a:solidFill>
              <a:srgbClr val="5D8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149840" y="2743200"/>
            <a:ext cx="822960" cy="822960"/>
          </a:xfrm>
          <a:prstGeom prst="ellipse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2889504"/>
            <a:ext cx="822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91426"/>
                </a:solidFill>
                <a:latin typeface="Microsoft YaHe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37947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D"/>
                </a:solidFill>
                <a:latin typeface="Microsoft YaHei"/>
              </a:rPr>
              <a:t>表达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416052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1CCD9"/>
                </a:solidFill>
                <a:latin typeface="Microsoft YaHei"/>
              </a:rPr>
              <a:t>能否讲清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C247"/>
                </a:solidFill>
                <a:latin typeface="Microsoft YaHei"/>
              </a:rPr>
              <a:t>遇到难题，就把它拆回上一步。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高中物理 · 先看清，再求解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知识地图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高中物理，沿着六条主线展开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05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73736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109728" cy="1325880"/>
          </a:xfrm>
          <a:prstGeom prst="rect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3852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6C5DC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1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运动的描述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78608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位移 · 速度 · 加速度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79" y="173736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79" y="1737360"/>
            <a:ext cx="109728" cy="1325880"/>
          </a:xfrm>
          <a:prstGeom prst="rect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599" y="193852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C247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599" y="2221991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相互作用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599" y="2578608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力 · 牛顿定律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19" y="173736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19" y="1737360"/>
            <a:ext cx="109728" cy="1325880"/>
          </a:xfrm>
          <a:prstGeom prst="rect">
            <a:avLst/>
          </a:prstGeom>
          <a:solidFill>
            <a:srgbClr val="87CAAB"/>
          </a:solidFill>
          <a:ln>
            <a:solidFill>
              <a:srgbClr val="87C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3852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7CAAB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221991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曲线与引力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578608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平抛 · 圆周 · 天体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611879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611879"/>
            <a:ext cx="109728" cy="1325880"/>
          </a:xfrm>
          <a:prstGeom prst="rect">
            <a:avLst/>
          </a:prstGeom>
          <a:solidFill>
            <a:srgbClr val="BCA6E6"/>
          </a:solidFill>
          <a:ln>
            <a:solidFill>
              <a:srgbClr val="BCA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81304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BCA6E6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096511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能量与动量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453128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功 · 守恒 · 碰撞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79" y="3611879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26279" y="3611879"/>
            <a:ext cx="109728" cy="1325880"/>
          </a:xfrm>
          <a:prstGeom prst="rect">
            <a:avLst/>
          </a:prstGeom>
          <a:solidFill>
            <a:srgbClr val="FFA17B"/>
          </a:solidFill>
          <a:ln>
            <a:solidFill>
              <a:srgbClr val="FFA1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599" y="381304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A17B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599" y="4096511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电场与电路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599" y="4453128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电荷 · 电势 · 电流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19" y="3611879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75319" y="3611879"/>
            <a:ext cx="109728" cy="1325880"/>
          </a:xfrm>
          <a:prstGeom prst="rect">
            <a:avLst/>
          </a:prstGeom>
          <a:solidFill>
            <a:srgbClr val="83ADDF"/>
          </a:solidFill>
          <a:ln>
            <a:solidFill>
              <a:srgbClr val="83AD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381304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3ADDF"/>
                </a:solidFill>
                <a:latin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096511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磁场与近代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4453128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电磁感应 · 波 · 原子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不必背目录，先记住“定义—建模—列式—检查”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台阶变高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初中与高中：不是换语言，而是多了模型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06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" y="16459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677A94"/>
                </a:solidFill>
                <a:latin typeface="Microsoft YaHei"/>
              </a:rPr>
              <a:t>初中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6459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6C5DC"/>
                </a:solidFill>
                <a:latin typeface="Microsoft YaHei"/>
              </a:rPr>
              <a:t>高中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40280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2240280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E8F8FA"/>
          </a:solidFill>
          <a:ln>
            <a:solidFill>
              <a:srgbClr val="E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8600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现象直观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28600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先建模，再分析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51960" y="2496312"/>
            <a:ext cx="2788920" cy="0"/>
          </a:xfrm>
          <a:prstGeom prst="line">
            <a:avLst/>
          </a:prstGeom>
          <a:ln w="1905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2999232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2999232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E8F8FA"/>
          </a:solidFill>
          <a:ln>
            <a:solidFill>
              <a:srgbClr val="E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044952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代入公式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044952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函数、方程、向量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51960" y="3255264"/>
            <a:ext cx="2788920" cy="0"/>
          </a:xfrm>
          <a:prstGeom prst="line">
            <a:avLst/>
          </a:prstGeom>
          <a:ln w="1905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3758184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0" y="3758184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E8F8FA"/>
          </a:solidFill>
          <a:ln>
            <a:solidFill>
              <a:srgbClr val="E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803904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条件直接给出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803904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从题干提取条件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51960" y="4014216"/>
            <a:ext cx="2788920" cy="0"/>
          </a:xfrm>
          <a:prstGeom prst="line">
            <a:avLst/>
          </a:prstGeom>
          <a:ln w="1905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" y="4517136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0" y="4517136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E8F8FA"/>
          </a:solidFill>
          <a:ln>
            <a:solidFill>
              <a:srgbClr val="E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562855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看结果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562855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查过程、单位、意义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51960" y="4773168"/>
            <a:ext cx="2788920" cy="0"/>
          </a:xfrm>
          <a:prstGeom prst="line">
            <a:avLst/>
          </a:prstGeom>
          <a:ln w="1905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97280" y="5715000"/>
            <a:ext cx="9875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91426"/>
                </a:solidFill>
                <a:latin typeface="Microsoft YaHei"/>
              </a:rPr>
              <a:t>数学暂时薄弱可以补；关键是愿意画图、写步骤、问清每个量。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高中物理 · 光谷二高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核心方法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费曼学习法：把“会做”变成“会讲”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07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422392" y="2770632"/>
            <a:ext cx="1316736" cy="1316736"/>
          </a:xfrm>
          <a:prstGeom prst="ellipse">
            <a:avLst/>
          </a:prstGeom>
          <a:solidFill>
            <a:srgbClr val="091426"/>
          </a:solidFill>
          <a:ln>
            <a:solidFill>
              <a:srgbClr val="09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3044952"/>
            <a:ext cx="1188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BFD"/>
                </a:solidFill>
                <a:latin typeface="Microsoft YaHei"/>
              </a:rPr>
              <a:t>真正
学会</a:t>
            </a:r>
          </a:p>
        </p:txBody>
      </p:sp>
      <p:sp>
        <p:nvSpPr>
          <p:cNvPr id="9" name="Oval 8"/>
          <p:cNvSpPr/>
          <p:nvPr/>
        </p:nvSpPr>
        <p:spPr>
          <a:xfrm>
            <a:off x="1920240" y="1828800"/>
            <a:ext cx="566928" cy="566928"/>
          </a:xfrm>
          <a:prstGeom prst="ellipse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938528"/>
            <a:ext cx="5669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91426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181051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73E"/>
                </a:solidFill>
                <a:latin typeface="Microsoft YaHei"/>
              </a:rPr>
              <a:t>选小概念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212140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77A94"/>
                </a:solidFill>
                <a:latin typeface="Microsoft YaHei"/>
              </a:rPr>
              <a:t>只讲一个点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1828800"/>
            <a:ext cx="566928" cy="566928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938528"/>
            <a:ext cx="5669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91426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181051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73E"/>
                </a:solidFill>
                <a:latin typeface="Microsoft YaHei"/>
              </a:rPr>
              <a:t>用自己的话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212140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77A94"/>
                </a:solidFill>
                <a:latin typeface="Microsoft YaHei"/>
              </a:rPr>
              <a:t>像讲给小学生</a:t>
            </a:r>
          </a:p>
        </p:txBody>
      </p:sp>
      <p:sp>
        <p:nvSpPr>
          <p:cNvPr id="17" name="Oval 16"/>
          <p:cNvSpPr/>
          <p:nvPr/>
        </p:nvSpPr>
        <p:spPr>
          <a:xfrm>
            <a:off x="1920240" y="4572000"/>
            <a:ext cx="566928" cy="566928"/>
          </a:xfrm>
          <a:prstGeom prst="ellipse">
            <a:avLst/>
          </a:prstGeom>
          <a:solidFill>
            <a:srgbClr val="87CAAB"/>
          </a:solidFill>
          <a:ln>
            <a:solidFill>
              <a:srgbClr val="87C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681728"/>
            <a:ext cx="5669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91426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455371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73E"/>
                </a:solidFill>
                <a:latin typeface="Microsoft YaHei"/>
              </a:rPr>
              <a:t>找出卡点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486460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77A94"/>
                </a:solidFill>
                <a:latin typeface="Microsoft YaHei"/>
              </a:rPr>
              <a:t>回看资料</a:t>
            </a:r>
          </a:p>
        </p:txBody>
      </p:sp>
      <p:sp>
        <p:nvSpPr>
          <p:cNvPr id="21" name="Oval 20"/>
          <p:cNvSpPr/>
          <p:nvPr/>
        </p:nvSpPr>
        <p:spPr>
          <a:xfrm>
            <a:off x="8138160" y="4572000"/>
            <a:ext cx="566928" cy="566928"/>
          </a:xfrm>
          <a:prstGeom prst="ellipse">
            <a:avLst/>
          </a:prstGeom>
          <a:solidFill>
            <a:srgbClr val="BCA6E6"/>
          </a:solidFill>
          <a:ln>
            <a:solidFill>
              <a:srgbClr val="BCA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681728"/>
            <a:ext cx="5669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91426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455371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73E"/>
                </a:solidFill>
                <a:latin typeface="Microsoft YaHei"/>
              </a:rPr>
              <a:t>简化举例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486460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77A94"/>
                </a:solidFill>
                <a:latin typeface="Microsoft YaHei"/>
              </a:rPr>
              <a:t>再讲一遍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88920" y="2103120"/>
            <a:ext cx="2560320" cy="731520"/>
          </a:xfrm>
          <a:prstGeom prst="line">
            <a:avLst/>
          </a:prstGeom>
          <a:ln w="1778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812280" y="2103120"/>
            <a:ext cx="1417320" cy="731520"/>
          </a:xfrm>
          <a:prstGeom prst="line">
            <a:avLst/>
          </a:prstGeom>
          <a:ln w="1778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6812280" y="4023360"/>
            <a:ext cx="1417320" cy="960120"/>
          </a:xfrm>
          <a:prstGeom prst="line">
            <a:avLst/>
          </a:prstGeom>
          <a:ln w="1778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788920" y="4023360"/>
            <a:ext cx="2560320" cy="960120"/>
          </a:xfrm>
          <a:prstGeom prst="line">
            <a:avLst/>
          </a:prstGeom>
          <a:ln w="1778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卡住不是失败，卡点就是下一步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示范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概念卡：用“速度”练习说清楚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08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691640"/>
            <a:ext cx="5486400" cy="4251960"/>
          </a:xfrm>
          <a:prstGeom prst="roundRect">
            <a:avLst>
              <a:gd name="adj" fmla="val 12000"/>
            </a:avLst>
          </a:prstGeom>
          <a:solidFill>
            <a:srgbClr val="FAFCFD"/>
          </a:solidFill>
          <a:ln>
            <a:solidFill>
              <a:srgbClr val="D2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91426"/>
                </a:solidFill>
                <a:latin typeface="Microsoft YaHei"/>
              </a:rPr>
              <a:t>概念讲解卡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77A94"/>
                </a:solidFill>
                <a:latin typeface="Microsoft YaHei"/>
              </a:rPr>
              <a:t>我解释的概念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560320"/>
            <a:ext cx="3154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273E"/>
                </a:solidFill>
                <a:latin typeface="Microsoft YaHei"/>
              </a:rPr>
              <a:t>速度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06040" y="2971800"/>
            <a:ext cx="3200400" cy="0"/>
          </a:xfrm>
          <a:prstGeom prst="line">
            <a:avLst/>
          </a:prstGeom>
          <a:ln w="12700">
            <a:solidFill>
              <a:srgbClr val="DC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97280" y="3273552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77A94"/>
                </a:solidFill>
                <a:latin typeface="Microsoft YaHei"/>
              </a:rPr>
              <a:t>用自己的话说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3273552"/>
            <a:ext cx="3154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8273E"/>
                </a:solidFill>
                <a:latin typeface="Microsoft YaHei"/>
              </a:rPr>
              <a:t>单位时间内位移的变化快慢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40" y="3685032"/>
            <a:ext cx="3200400" cy="0"/>
          </a:xfrm>
          <a:prstGeom prst="line">
            <a:avLst/>
          </a:prstGeom>
          <a:ln w="12700">
            <a:solidFill>
              <a:srgbClr val="DC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97280" y="3986783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77A94"/>
                </a:solidFill>
                <a:latin typeface="Microsoft YaHei"/>
              </a:rPr>
              <a:t>生活例子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986783"/>
            <a:ext cx="3154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8273E"/>
                </a:solidFill>
                <a:latin typeface="Microsoft YaHei"/>
              </a:rPr>
              <a:t>向东 10 m，再向西 10 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06040" y="4398264"/>
            <a:ext cx="3200400" cy="0"/>
          </a:xfrm>
          <a:prstGeom prst="line">
            <a:avLst/>
          </a:prstGeom>
          <a:ln w="12700">
            <a:solidFill>
              <a:srgbClr val="DC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97280" y="4700016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77A94"/>
                </a:solidFill>
                <a:latin typeface="Microsoft YaHei"/>
              </a:rPr>
              <a:t>容易混淆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700016"/>
            <a:ext cx="3154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8273E"/>
                </a:solidFill>
                <a:latin typeface="Microsoft YaHei"/>
              </a:rPr>
              <a:t>速度 ≠ 速率（有无方向）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06040" y="5111496"/>
            <a:ext cx="3200400" cy="0"/>
          </a:xfrm>
          <a:prstGeom prst="line">
            <a:avLst/>
          </a:prstGeom>
          <a:ln w="12700">
            <a:solidFill>
              <a:srgbClr val="DC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0" y="1828800"/>
            <a:ext cx="4206240" cy="34747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14884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91426"/>
                </a:solidFill>
                <a:latin typeface="Microsoft YaHei"/>
              </a:rPr>
              <a:t>固定表达模板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788920"/>
            <a:ext cx="3291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8273E"/>
                </a:solidFill>
                <a:latin typeface="Microsoft YaHei"/>
              </a:rPr>
              <a:t>我研究的是____
它表示____
例如____
容易和____混淆，区别是____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754880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6C5DC"/>
                </a:solidFill>
                <a:latin typeface="Microsoft YaHei"/>
              </a:rPr>
              <a:t>30 秒讲清：是什么 · 例子 · 易错点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高中物理 · 光谷二高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课堂练习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三分钟小老师：准备—讲解—追问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09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14400" y="1874519"/>
            <a:ext cx="914400" cy="914400"/>
          </a:xfrm>
          <a:prstGeom prst="ellipse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91426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1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79" y="3456432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677A94"/>
                </a:solidFill>
                <a:latin typeface="Microsoft YaHei"/>
              </a:rPr>
              <a:t>分工列提纲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2331720"/>
            <a:ext cx="2148840" cy="0"/>
          </a:xfrm>
          <a:prstGeom prst="line">
            <a:avLst/>
          </a:prstGeom>
          <a:ln w="1905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617720" y="1874519"/>
            <a:ext cx="914400" cy="914400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84831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9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06324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1 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456432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677A94"/>
                </a:solidFill>
                <a:latin typeface="Microsoft YaHei"/>
              </a:rPr>
              <a:t>一人讲解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23560" y="2331720"/>
            <a:ext cx="2148840" cy="0"/>
          </a:xfrm>
          <a:prstGeom prst="line">
            <a:avLst/>
          </a:prstGeom>
          <a:ln w="1905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321040" y="1874519"/>
            <a:ext cx="914400" cy="914400"/>
          </a:xfrm>
          <a:prstGeom prst="ellipse">
            <a:avLst/>
          </a:prstGeom>
          <a:solidFill>
            <a:srgbClr val="87CAAB"/>
          </a:solidFill>
          <a:ln>
            <a:solidFill>
              <a:srgbClr val="87C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084831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91426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06324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1 分钟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3456432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677A94"/>
                </a:solidFill>
                <a:latin typeface="Microsoft YaHei"/>
              </a:rPr>
              <a:t>接受追问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572000"/>
            <a:ext cx="1014984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846320"/>
            <a:ext cx="9601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91426"/>
                </a:solidFill>
                <a:latin typeface="Microsoft YaHei"/>
              </a:rPr>
              <a:t>达标只看三项：概念准确  ·  例子对应  ·  说清一个易错点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主题可选：速度 · 惯性 · 摩擦力 · 电流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本学期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高一上：先完成两件重要的事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10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737360"/>
            <a:ext cx="4937760" cy="34747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6C5DC"/>
                </a:solidFill>
                <a:latin typeface="Microsoft YaHei"/>
              </a:rPr>
              <a:t>任务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487168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91426"/>
                </a:solidFill>
                <a:latin typeface="Microsoft YaHei"/>
              </a:rPr>
              <a:t>思维方式转变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200400"/>
            <a:ext cx="374903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8273E"/>
                </a:solidFill>
                <a:latin typeface="Microsoft YaHei"/>
              </a:rPr>
              <a:t>从“等答案”
到“先提出模型和理由”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737360"/>
            <a:ext cx="4937760" cy="347472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057400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C247"/>
                </a:solidFill>
                <a:latin typeface="Microsoft YaHei"/>
              </a:rPr>
              <a:t>任务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487168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91426"/>
                </a:solidFill>
                <a:latin typeface="Microsoft YaHei"/>
              </a:rPr>
              <a:t>补齐够用的数学工具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0" y="3246120"/>
            <a:ext cx="256032" cy="256032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200400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273E"/>
                </a:solidFill>
                <a:latin typeface="Microsoft YaHei"/>
              </a:rPr>
              <a:t>数与式 / 单位</a:t>
            </a:r>
          </a:p>
        </p:txBody>
      </p:sp>
      <p:sp>
        <p:nvSpPr>
          <p:cNvPr id="16" name="Oval 15"/>
          <p:cNvSpPr/>
          <p:nvPr/>
        </p:nvSpPr>
        <p:spPr>
          <a:xfrm>
            <a:off x="9006840" y="3246120"/>
            <a:ext cx="256032" cy="256032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3200400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273E"/>
                </a:solidFill>
                <a:latin typeface="Microsoft YaHei"/>
              </a:rPr>
              <a:t>比例 / 方程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0" y="4023359"/>
            <a:ext cx="256032" cy="256032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3977639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273E"/>
                </a:solidFill>
                <a:latin typeface="Microsoft YaHei"/>
              </a:rPr>
              <a:t>坐标 / 图像</a:t>
            </a:r>
          </a:p>
        </p:txBody>
      </p:sp>
      <p:sp>
        <p:nvSpPr>
          <p:cNvPr id="20" name="Oval 19"/>
          <p:cNvSpPr/>
          <p:nvPr/>
        </p:nvSpPr>
        <p:spPr>
          <a:xfrm>
            <a:off x="9006840" y="4023359"/>
            <a:ext cx="256032" cy="256032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3977639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273E"/>
                </a:solidFill>
                <a:latin typeface="Microsoft YaHei"/>
              </a:rPr>
              <a:t>向量 / 三角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91426"/>
                </a:solidFill>
                <a:latin typeface="Microsoft YaHei"/>
              </a:rPr>
              <a:t>每周 1–2 个小专题；学一点，用一次，再讲给别人听。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高中物理 · 光谷二高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带走行动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从本周开始，固定一个小动作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11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783080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91426"/>
                </a:solidFill>
                <a:latin typeface="Microsoft YaHei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8273E"/>
                </a:solidFill>
                <a:latin typeface="Microsoft YaHei"/>
              </a:rPr>
              <a:t>10 分钟：读标题，圈 1 个不懂词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783080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0116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91426"/>
                </a:solidFill>
                <a:latin typeface="Microsoft YaHei"/>
              </a:rPr>
              <a:t>课中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51460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8273E"/>
                </a:solidFill>
                <a:latin typeface="Microsoft YaHei"/>
              </a:rPr>
              <a:t>先听思路，再记关键式子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783080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E5F7F0"/>
          </a:solidFill>
          <a:ln>
            <a:solidFill>
              <a:srgbClr val="E5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0116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91426"/>
                </a:solidFill>
                <a:latin typeface="Microsoft YaHei"/>
              </a:rPr>
              <a:t>课后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51460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8273E"/>
                </a:solidFill>
                <a:latin typeface="Microsoft YaHei"/>
              </a:rPr>
              <a:t>少量基础题 + 一次错题复盘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23360"/>
            <a:ext cx="10149840" cy="1234440"/>
          </a:xfrm>
          <a:prstGeom prst="roundRect">
            <a:avLst>
              <a:gd name="adj" fmla="val 12000"/>
            </a:avLst>
          </a:prstGeom>
          <a:solidFill>
            <a:srgbClr val="091426"/>
          </a:solidFill>
          <a:ln>
            <a:solidFill>
              <a:srgbClr val="09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279392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6C5DC"/>
                </a:solidFill>
                <a:latin typeface="Microsoft YaHei"/>
              </a:rPr>
              <a:t>出口条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261104"/>
            <a:ext cx="8138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8FBFD"/>
                </a:solidFill>
                <a:latin typeface="Microsoft YaHei"/>
              </a:rPr>
              <a:t>今天我知道了：____    我仍然困惑：____    本周我坚持：____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91426"/>
                </a:solidFill>
                <a:latin typeface="Microsoft YaHei"/>
              </a:rPr>
              <a:t>请选择一项，写在你的本子上。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高中物理 · 光谷二高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6"/>
          </a:solidFill>
          <a:ln>
            <a:solidFill>
              <a:srgbClr val="09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1097280"/>
            <a:ext cx="1554480" cy="1554480"/>
          </a:xfrm>
          <a:prstGeom prst="ellipse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2377440"/>
            <a:ext cx="594360" cy="594360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6583680" y="2103120"/>
            <a:ext cx="4480560" cy="3108960"/>
          </a:xfrm>
          <a:prstGeom prst="line">
            <a:avLst/>
          </a:prstGeom>
          <a:ln w="19050">
            <a:solidFill>
              <a:srgbClr val="456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0" y="5212080"/>
            <a:ext cx="3566160" cy="182880"/>
          </a:xfrm>
          <a:prstGeom prst="line">
            <a:avLst/>
          </a:prstGeom>
          <a:ln w="19050">
            <a:solidFill>
              <a:srgbClr val="456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05156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F8FBFD"/>
                </a:solidFill>
                <a:latin typeface="Microsoft YaHei"/>
              </a:rPr>
              <a:t>从今天开始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5212080" cy="1965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6C5DC"/>
                </a:solidFill>
                <a:latin typeface="Microsoft YaHei"/>
              </a:rPr>
              <a:t>看清现象
说出理由
写完整过程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006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F8FBFD"/>
                </a:solidFill>
                <a:latin typeface="Microsoft YaHei"/>
              </a:rPr>
              <a:t>每周多懂一个概念，多改正一个错误，
你就在进步。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98932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C247"/>
                </a:solidFill>
                <a:latin typeface="Microsoft YaHei"/>
              </a:rPr>
              <a:t>欢迎来到物理的世界。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96B6C5"/>
                </a:solidFill>
                <a:latin typeface="Microsoft YaHei"/>
              </a:rPr>
              <a:t>12  /  开学第一课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